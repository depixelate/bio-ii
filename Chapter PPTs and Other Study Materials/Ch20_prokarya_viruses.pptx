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sldIdLst>
    <p:sldId id="256" r:id="rId9"/>
    <p:sldId id="262" r:id="rId10"/>
    <p:sldId id="263" r:id="rId11"/>
    <p:sldId id="265" r:id="rId12"/>
    <p:sldId id="266" r:id="rId13"/>
    <p:sldId id="267" r:id="rId14"/>
    <p:sldId id="268" r:id="rId15"/>
    <p:sldId id="269" r:id="rId16"/>
    <p:sldId id="270" r:id="rId17"/>
    <p:sldId id="271" r:id="rId18"/>
    <p:sldId id="288" r:id="rId19"/>
    <p:sldId id="285" r:id="rId20"/>
    <p:sldId id="286" r:id="rId21"/>
    <p:sldId id="292" r:id="rId22"/>
    <p:sldId id="293" r:id="rId23"/>
    <p:sldId id="294" r:id="rId24"/>
    <p:sldId id="295" r:id="rId25"/>
    <p:sldId id="296" r:id="rId26"/>
    <p:sldId id="297" r:id="rId27"/>
    <p:sldId id="308" r:id="rId28"/>
    <p:sldId id="299" r:id="rId29"/>
    <p:sldId id="300" r:id="rId30"/>
    <p:sldId id="301" r:id="rId31"/>
    <p:sldId id="302" r:id="rId32"/>
    <p:sldId id="303" r:id="rId33"/>
    <p:sldId id="304" r:id="rId34"/>
    <p:sldId id="305" r:id="rId35"/>
    <p:sldId id="306" r:id="rId36"/>
    <p:sldId id="307" r:id="rId37"/>
    <p:sldId id="316" r:id="rId38"/>
    <p:sldId id="317" r:id="rId39"/>
    <p:sldId id="318" r:id="rId40"/>
    <p:sldId id="319" r:id="rId41"/>
    <p:sldId id="320" r:id="rId42"/>
    <p:sldId id="321" r:id="rId43"/>
    <p:sldId id="322" r:id="rId44"/>
    <p:sldId id="323" r:id="rId45"/>
    <p:sldId id="324" r:id="rId46"/>
    <p:sldId id="325" r:id="rId47"/>
    <p:sldId id="326" r:id="rId48"/>
    <p:sldId id="327" r:id="rId49"/>
    <p:sldId id="328" r:id="rId50"/>
    <p:sldId id="329" r:id="rId51"/>
    <p:sldId id="330" r:id="rId52"/>
    <p:sldId id="264" r:id="rId53"/>
    <p:sldId id="259" r:id="rId54"/>
    <p:sldId id="335" r:id="rId55"/>
    <p:sldId id="336" r:id="rId56"/>
    <p:sldId id="272" r:id="rId57"/>
    <p:sldId id="340" r:id="rId58"/>
    <p:sldId id="273" r:id="rId59"/>
    <p:sldId id="274" r:id="rId60"/>
    <p:sldId id="275" r:id="rId61"/>
    <p:sldId id="276" r:id="rId62"/>
    <p:sldId id="277" r:id="rId63"/>
    <p:sldId id="337" r:id="rId64"/>
    <p:sldId id="338" r:id="rId65"/>
    <p:sldId id="278" r:id="rId66"/>
    <p:sldId id="310" r:id="rId67"/>
    <p:sldId id="314" r:id="rId6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262"/>
            <p14:sldId id="263"/>
            <p14:sldId id="265"/>
            <p14:sldId id="266"/>
            <p14:sldId id="267"/>
            <p14:sldId id="268"/>
            <p14:sldId id="269"/>
            <p14:sldId id="270"/>
            <p14:sldId id="271"/>
            <p14:sldId id="288"/>
            <p14:sldId id="285"/>
            <p14:sldId id="286"/>
            <p14:sldId id="292"/>
            <p14:sldId id="293"/>
            <p14:sldId id="294"/>
            <p14:sldId id="295"/>
            <p14:sldId id="296"/>
            <p14:sldId id="297"/>
            <p14:sldId id="308"/>
            <p14:sldId id="299"/>
            <p14:sldId id="300"/>
            <p14:sldId id="301"/>
            <p14:sldId id="302"/>
            <p14:sldId id="303"/>
            <p14:sldId id="304"/>
            <p14:sldId id="305"/>
            <p14:sldId id="306"/>
            <p14:sldId id="307"/>
            <p14:sldId id="316"/>
            <p14:sldId id="317"/>
            <p14:sldId id="318"/>
            <p14:sldId id="319"/>
            <p14:sldId id="320"/>
            <p14:sldId id="321"/>
            <p14:sldId id="322"/>
            <p14:sldId id="323"/>
            <p14:sldId id="324"/>
            <p14:sldId id="325"/>
            <p14:sldId id="326"/>
            <p14:sldId id="327"/>
            <p14:sldId id="328"/>
            <p14:sldId id="329"/>
            <p14:sldId id="330"/>
            <p14:sldId id="264"/>
          </p14:sldIdLst>
        </p14:section>
        <p14:section name="Appendix: Image Descriptions for Unsighted Students" id="{190CAB3E-E7E3-4FE1-933B-0DC940C329C4}">
          <p14:sldIdLst>
            <p14:sldId id="259"/>
            <p14:sldId id="335"/>
            <p14:sldId id="336"/>
            <p14:sldId id="272"/>
            <p14:sldId id="340"/>
            <p14:sldId id="273"/>
            <p14:sldId id="274"/>
            <p14:sldId id="275"/>
            <p14:sldId id="276"/>
            <p14:sldId id="277"/>
            <p14:sldId id="337"/>
            <p14:sldId id="338"/>
            <p14:sldId id="278"/>
            <p14:sldId id="310"/>
            <p14:sldId id="3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6229" autoAdjust="0"/>
  </p:normalViewPr>
  <p:slideViewPr>
    <p:cSldViewPr snapToGrid="0">
      <p:cViewPr varScale="1">
        <p:scale>
          <a:sx n="107" d="100"/>
          <a:sy n="107" d="100"/>
        </p:scale>
        <p:origin x="1884" y="102"/>
      </p:cViewPr>
      <p:guideLst/>
    </p:cSldViewPr>
  </p:slideViewPr>
  <p:outlineViewPr>
    <p:cViewPr>
      <p:scale>
        <a:sx n="33" d="100"/>
        <a:sy n="33" d="100"/>
      </p:scale>
      <p:origin x="0" y="-37890"/>
    </p:cViewPr>
  </p:outlineViewPr>
  <p:notesTextViewPr>
    <p:cViewPr>
      <p:scale>
        <a:sx n="1" d="1"/>
        <a:sy n="1" d="1"/>
      </p:scale>
      <p:origin x="0" y="0"/>
    </p:cViewPr>
  </p:notesTextViewPr>
  <p:sorterViewPr>
    <p:cViewPr>
      <p:scale>
        <a:sx n="100" d="100"/>
        <a:sy n="100" d="100"/>
      </p:scale>
      <p:origin x="0" y="-1645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7" Type="http://schemas.openxmlformats.org/officeDocument/2006/relationships/slideMaster" Target="slideMasters/slideMaster7.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slide" Target="slides/slide58.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dirty="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dirty="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dirty="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dirty="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dirty="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slide" Target="slide54.xml"/><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slide" Target="slide5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slide" Target="slide29.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slide" Target="slide4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6"/>
            <a:ext cx="4572000" cy="1129393"/>
          </a:xfrm>
        </p:spPr>
        <p:txBody>
          <a:bodyPr/>
          <a:lstStyle/>
          <a:p>
            <a:r>
              <a:rPr lang="en-US" altLang="en-US" dirty="0"/>
              <a:t>Biology</a:t>
            </a:r>
            <a:endParaRPr lang="en-IN" dirty="0"/>
          </a:p>
        </p:txBody>
      </p:sp>
      <p:sp>
        <p:nvSpPr>
          <p:cNvPr id="5" name="Text Placeholder 2">
            <a:extLst>
              <a:ext uri="{FF2B5EF4-FFF2-40B4-BE49-F238E27FC236}">
                <a16:creationId xmlns:a16="http://schemas.microsoft.com/office/drawing/2014/main" id="{0870AA8A-D98D-4EB3-81F3-3373CF2A34CB}"/>
              </a:ext>
            </a:extLst>
          </p:cNvPr>
          <p:cNvSpPr>
            <a:spLocks noGrp="1"/>
          </p:cNvSpPr>
          <p:nvPr>
            <p:ph type="subTitle" idx="1"/>
          </p:nvPr>
        </p:nvSpPr>
        <p:spPr>
          <a:xfrm>
            <a:off x="4454771" y="2273103"/>
            <a:ext cx="4689229" cy="1011381"/>
          </a:xfrm>
        </p:spPr>
        <p:txBody>
          <a:bodyPr/>
          <a:lstStyle/>
          <a:p>
            <a:r>
              <a:rPr lang="en-US" altLang="en-US" sz="1800" dirty="0">
                <a:solidFill>
                  <a:schemeClr val="tx1"/>
                </a:solidFill>
                <a:effectLst/>
                <a:latin typeface="+mj-lt"/>
              </a:rPr>
              <a:t>Sylvia S. </a:t>
            </a:r>
            <a:r>
              <a:rPr lang="en-US" altLang="en-US" sz="1800" dirty="0" err="1">
                <a:solidFill>
                  <a:schemeClr val="tx1"/>
                </a:solidFill>
                <a:effectLst/>
                <a:latin typeface="+mj-lt"/>
              </a:rPr>
              <a:t>Mader</a:t>
            </a:r>
            <a:br>
              <a:rPr lang="en-US" altLang="en-US" sz="1800" dirty="0">
                <a:solidFill>
                  <a:schemeClr val="tx1"/>
                </a:solidFill>
                <a:effectLst/>
                <a:latin typeface="+mj-lt"/>
              </a:rPr>
            </a:br>
            <a:r>
              <a:rPr lang="en-US" altLang="en-US" sz="1800" dirty="0">
                <a:solidFill>
                  <a:schemeClr val="tx1"/>
                </a:solidFill>
                <a:effectLst/>
                <a:latin typeface="+mj-lt"/>
              </a:rPr>
              <a:t>Michael </a:t>
            </a:r>
            <a:r>
              <a:rPr lang="en-US" altLang="en-US" sz="1800" dirty="0" err="1">
                <a:solidFill>
                  <a:schemeClr val="tx1"/>
                </a:solidFill>
                <a:effectLst/>
                <a:latin typeface="+mj-lt"/>
              </a:rPr>
              <a:t>Windelspecht</a:t>
            </a:r>
            <a:endParaRPr lang="en-IN" sz="1800" dirty="0">
              <a:solidFill>
                <a:schemeClr val="tx1"/>
              </a:solidFill>
              <a:effectLst/>
              <a:latin typeface="+mj-lt"/>
            </a:endParaRPr>
          </a:p>
        </p:txBody>
      </p:sp>
      <p:sp>
        <p:nvSpPr>
          <p:cNvPr id="6" name="Tex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572000" y="3818238"/>
            <a:ext cx="4572000" cy="622300"/>
          </a:xfrm>
        </p:spPr>
        <p:txBody>
          <a:bodyPr/>
          <a:lstStyle/>
          <a:p>
            <a:pPr lvl="0">
              <a:spcBef>
                <a:spcPts val="0"/>
              </a:spcBef>
            </a:pPr>
            <a:r>
              <a:rPr lang="en-US" altLang="en-US" sz="2800" b="0" dirty="0">
                <a:solidFill>
                  <a:prstClr val="black"/>
                </a:solidFill>
              </a:rPr>
              <a:t>Chapter 20 </a:t>
            </a:r>
          </a:p>
          <a:p>
            <a:pPr lvl="0">
              <a:spcBef>
                <a:spcPts val="0"/>
              </a:spcBef>
            </a:pPr>
            <a:r>
              <a:rPr lang="en-US" altLang="en-US" sz="2800" b="0" dirty="0">
                <a:solidFill>
                  <a:prstClr val="black"/>
                </a:solidFill>
              </a:rPr>
              <a:t>Viruses, Bacteria, and Archaea</a:t>
            </a:r>
          </a:p>
          <a:p>
            <a:pPr lvl="0">
              <a:spcBef>
                <a:spcPts val="0"/>
              </a:spcBef>
            </a:pPr>
            <a:r>
              <a:rPr lang="en-US" altLang="en-US" sz="2800" b="0" dirty="0">
                <a:solidFill>
                  <a:prstClr val="black"/>
                </a:solidFill>
              </a:rPr>
              <a:t>Lecture Outline</a:t>
            </a:r>
          </a:p>
        </p:txBody>
      </p:sp>
      <p:sp>
        <p:nvSpPr>
          <p:cNvPr id="8" name="Footer Placeholder 2">
            <a:extLst>
              <a:ext uri="{FF2B5EF4-FFF2-40B4-BE49-F238E27FC236}">
                <a16:creationId xmlns:a16="http://schemas.microsoft.com/office/drawing/2014/main" id="{58AFF5FC-AA4C-40BB-89C6-B3798C07D4F1}"/>
              </a:ext>
            </a:extLst>
          </p:cNvPr>
          <p:cNvSpPr txBox="1">
            <a:spLocks/>
          </p:cNvSpPr>
          <p:nvPr/>
        </p:nvSpPr>
        <p:spPr>
          <a:xfrm>
            <a:off x="-1" y="6365559"/>
            <a:ext cx="9144000" cy="492442"/>
          </a:xfrm>
          <a:prstGeom prst="rect">
            <a:avLst/>
          </a:prstGeom>
        </p:spPr>
        <p:txBody>
          <a:bodyPr anchor="ctr"/>
          <a:lstStyle>
            <a:lvl1pPr marL="0" marR="0" indent="0" algn="ctr" defTabSz="914400" rtl="0" eaLnBrk="1" fontAlgn="auto" latinLnBrk="0" hangingPunct="1">
              <a:lnSpc>
                <a:spcPct val="100000"/>
              </a:lnSpc>
              <a:spcBef>
                <a:spcPts val="0"/>
              </a:spcBef>
              <a:spcAft>
                <a:spcPts val="0"/>
              </a:spcAft>
              <a:buClrTx/>
              <a:buSzTx/>
              <a:buFontTx/>
              <a:buNone/>
              <a:tabLst/>
              <a:defRPr sz="850" kern="1200">
                <a:solidFill>
                  <a:schemeClr val="tx1"/>
                </a:solidFill>
                <a:latin typeface="Arial (Body)"/>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a:solidFill>
                  <a:srgbClr val="000000"/>
                </a:solidFill>
              </a:rPr>
              <a:t>Copyright 2022 © McGraw Hill LLC. All rights reserved. No reproduction or distribution without the prior written consent of McGraw Hill LLC.</a:t>
            </a:r>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8941B0B-1809-492E-ACFF-6768CC723330}"/>
              </a:ext>
            </a:extLst>
          </p:cNvPr>
          <p:cNvSpPr>
            <a:spLocks noGrp="1"/>
          </p:cNvSpPr>
          <p:nvPr>
            <p:ph type="title"/>
          </p:nvPr>
        </p:nvSpPr>
        <p:spPr/>
        <p:txBody>
          <a:bodyPr/>
          <a:lstStyle/>
          <a:p>
            <a:r>
              <a:rPr lang="en-US" altLang="en-US" dirty="0"/>
              <a:t>Outline</a:t>
            </a:r>
            <a:endParaRPr lang="en-IN" dirty="0"/>
          </a:p>
        </p:txBody>
      </p:sp>
      <p:sp>
        <p:nvSpPr>
          <p:cNvPr id="2" name="Text Placeholder 2">
            <a:extLst>
              <a:ext uri="{FF2B5EF4-FFF2-40B4-BE49-F238E27FC236}">
                <a16:creationId xmlns:a16="http://schemas.microsoft.com/office/drawing/2014/main" id="{B9F430D4-CF68-45CD-8A1E-E2045271C284}"/>
              </a:ext>
            </a:extLst>
          </p:cNvPr>
          <p:cNvSpPr>
            <a:spLocks noGrp="1"/>
          </p:cNvSpPr>
          <p:nvPr>
            <p:ph type="body" sz="quarter" idx="19"/>
          </p:nvPr>
        </p:nvSpPr>
        <p:spPr>
          <a:xfrm>
            <a:off x="842963" y="1177179"/>
            <a:ext cx="7623676" cy="3322631"/>
          </a:xfrm>
        </p:spPr>
        <p:txBody>
          <a:bodyPr>
            <a:normAutofit/>
          </a:bodyPr>
          <a:lstStyle/>
          <a:p>
            <a:pPr lvl="0">
              <a:spcAft>
                <a:spcPts val="2000"/>
              </a:spcAft>
            </a:pPr>
            <a:r>
              <a:rPr lang="en-US" altLang="en-US" sz="3200" dirty="0">
                <a:solidFill>
                  <a:prstClr val="black"/>
                </a:solidFill>
              </a:rPr>
              <a:t>20.1 Viruses, Viroids, and Prions</a:t>
            </a:r>
          </a:p>
          <a:p>
            <a:pPr lvl="0">
              <a:spcAft>
                <a:spcPts val="2000"/>
              </a:spcAft>
            </a:pPr>
            <a:r>
              <a:rPr lang="en-US" altLang="en-US" sz="3200" dirty="0">
                <a:solidFill>
                  <a:prstClr val="black"/>
                </a:solidFill>
              </a:rPr>
              <a:t>20.2 Prokaryotes</a:t>
            </a:r>
          </a:p>
          <a:p>
            <a:pPr lvl="0">
              <a:spcAft>
                <a:spcPts val="2000"/>
              </a:spcAft>
            </a:pPr>
            <a:r>
              <a:rPr lang="en-US" altLang="en-US" sz="3200" dirty="0">
                <a:solidFill>
                  <a:prstClr val="black"/>
                </a:solidFill>
              </a:rPr>
              <a:t>20.3 Bacteria</a:t>
            </a:r>
          </a:p>
          <a:p>
            <a:pPr lvl="0">
              <a:spcAft>
                <a:spcPts val="2000"/>
              </a:spcAft>
            </a:pPr>
            <a:r>
              <a:rPr lang="en-US" altLang="en-US" sz="3200" dirty="0">
                <a:solidFill>
                  <a:prstClr val="black"/>
                </a:solidFill>
              </a:rPr>
              <a:t>20.4 Archaea</a:t>
            </a:r>
          </a:p>
        </p:txBody>
      </p:sp>
      <p:sp>
        <p:nvSpPr>
          <p:cNvPr id="4" name="Slide Number Placeholder 3">
            <a:extLst>
              <a:ext uri="{FF2B5EF4-FFF2-40B4-BE49-F238E27FC236}">
                <a16:creationId xmlns:a16="http://schemas.microsoft.com/office/drawing/2014/main" id="{06FD65B7-960F-4FF5-B858-E6E7B20D1CC7}"/>
              </a:ext>
            </a:extLst>
          </p:cNvPr>
          <p:cNvSpPr>
            <a:spLocks noGrp="1"/>
          </p:cNvSpPr>
          <p:nvPr>
            <p:ph type="sldNum" sz="quarter" idx="4"/>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3381230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6F8EA-94DA-4D34-888B-85B53C34DE00}"/>
              </a:ext>
            </a:extLst>
          </p:cNvPr>
          <p:cNvSpPr>
            <a:spLocks noGrp="1"/>
          </p:cNvSpPr>
          <p:nvPr>
            <p:ph type="title"/>
          </p:nvPr>
        </p:nvSpPr>
        <p:spPr>
          <a:xfrm>
            <a:off x="0" y="1"/>
            <a:ext cx="9144000" cy="1177177"/>
          </a:xfrm>
        </p:spPr>
        <p:txBody>
          <a:bodyPr/>
          <a:lstStyle/>
          <a:p>
            <a:r>
              <a:rPr lang="en-US" altLang="en-US" dirty="0"/>
              <a:t>20.1 Viruses, Viroids, and Prions</a:t>
            </a:r>
            <a:endParaRPr lang="en-IN" dirty="0"/>
          </a:p>
        </p:txBody>
      </p:sp>
      <p:sp>
        <p:nvSpPr>
          <p:cNvPr id="6" name="Text Placeholder 2">
            <a:extLst>
              <a:ext uri="{FF2B5EF4-FFF2-40B4-BE49-F238E27FC236}">
                <a16:creationId xmlns:a16="http://schemas.microsoft.com/office/drawing/2014/main" id="{67AD4C17-6848-49D5-9B8E-8CDE6135D8CF}"/>
              </a:ext>
            </a:extLst>
          </p:cNvPr>
          <p:cNvSpPr>
            <a:spLocks noGrp="1"/>
          </p:cNvSpPr>
          <p:nvPr>
            <p:ph type="body" sz="quarter" idx="19"/>
          </p:nvPr>
        </p:nvSpPr>
        <p:spPr>
          <a:xfrm>
            <a:off x="233082" y="1069603"/>
            <a:ext cx="8695260" cy="5330739"/>
          </a:xfrm>
        </p:spPr>
        <p:txBody>
          <a:bodyPr>
            <a:normAutofit/>
          </a:bodyPr>
          <a:lstStyle/>
          <a:p>
            <a:pPr lvl="0">
              <a:lnSpc>
                <a:spcPct val="80000"/>
              </a:lnSpc>
              <a:spcAft>
                <a:spcPts val="1500"/>
              </a:spcAft>
            </a:pPr>
            <a:r>
              <a:rPr lang="en-US" altLang="en-US" sz="2400" b="1" dirty="0">
                <a:solidFill>
                  <a:srgbClr val="D90000"/>
                </a:solidFill>
              </a:rPr>
              <a:t>Virus</a:t>
            </a:r>
          </a:p>
          <a:p>
            <a:pPr marL="0" lvl="1" indent="0">
              <a:lnSpc>
                <a:spcPct val="80000"/>
              </a:lnSpc>
              <a:spcBef>
                <a:spcPts val="0"/>
              </a:spcBef>
              <a:buNone/>
            </a:pPr>
            <a:r>
              <a:rPr lang="en-US" altLang="en-US" sz="2400" dirty="0">
                <a:solidFill>
                  <a:prstClr val="black"/>
                </a:solidFill>
              </a:rPr>
              <a:t>Associated with a number of plant, animal, and human diseases</a:t>
            </a:r>
          </a:p>
          <a:p>
            <a:pPr marL="0" lvl="1" indent="0">
              <a:lnSpc>
                <a:spcPct val="80000"/>
              </a:lnSpc>
              <a:spcBef>
                <a:spcPts val="1200"/>
              </a:spcBef>
              <a:buNone/>
            </a:pPr>
            <a:r>
              <a:rPr lang="en-US" altLang="en-US" sz="2400" dirty="0">
                <a:solidFill>
                  <a:prstClr val="black"/>
                </a:solidFill>
              </a:rPr>
              <a:t>Can only reproduce using the metabolic machinery of the host cell</a:t>
            </a:r>
          </a:p>
          <a:p>
            <a:pPr marL="0" lvl="1" indent="0">
              <a:lnSpc>
                <a:spcPct val="80000"/>
              </a:lnSpc>
              <a:spcBef>
                <a:spcPts val="1200"/>
              </a:spcBef>
              <a:buNone/>
            </a:pPr>
            <a:r>
              <a:rPr lang="en-US" altLang="en-US" sz="2400" dirty="0">
                <a:solidFill>
                  <a:prstClr val="black"/>
                </a:solidFill>
              </a:rPr>
              <a:t>Noncellular</a:t>
            </a:r>
          </a:p>
          <a:p>
            <a:pPr marL="0" lvl="1" indent="0">
              <a:lnSpc>
                <a:spcPct val="80000"/>
              </a:lnSpc>
              <a:spcBef>
                <a:spcPts val="1200"/>
              </a:spcBef>
              <a:buNone/>
            </a:pPr>
            <a:r>
              <a:rPr lang="en-US" altLang="en-US" sz="2400" dirty="0">
                <a:solidFill>
                  <a:prstClr val="black"/>
                </a:solidFill>
              </a:rPr>
              <a:t>May have a DNA or RNA genome.</a:t>
            </a:r>
          </a:p>
          <a:p>
            <a:pPr marL="0" lvl="1" indent="0">
              <a:lnSpc>
                <a:spcPct val="80000"/>
              </a:lnSpc>
              <a:spcBef>
                <a:spcPts val="1200"/>
              </a:spcBef>
              <a:buNone/>
            </a:pPr>
            <a:r>
              <a:rPr lang="en-US" altLang="en-US" sz="2400" dirty="0">
                <a:solidFill>
                  <a:prstClr val="black"/>
                </a:solidFill>
              </a:rPr>
              <a:t>Invention of the electron microscope allowed these infectious agents to be seen for the first time.</a:t>
            </a:r>
          </a:p>
          <a:p>
            <a:pPr marL="0" lvl="1" indent="0">
              <a:lnSpc>
                <a:spcPct val="80000"/>
              </a:lnSpc>
              <a:spcBef>
                <a:spcPts val="1200"/>
              </a:spcBef>
              <a:buNone/>
            </a:pPr>
            <a:r>
              <a:rPr lang="en-US" altLang="en-US" sz="2400" dirty="0">
                <a:solidFill>
                  <a:prstClr val="black"/>
                </a:solidFill>
              </a:rPr>
              <a:t>French chemist Louis Pasteur suggested that something smaller than a bacterium was the cause of rabies.</a:t>
            </a:r>
          </a:p>
          <a:p>
            <a:pPr marL="265113" lvl="2" indent="-265113">
              <a:lnSpc>
                <a:spcPct val="80000"/>
              </a:lnSpc>
              <a:spcBef>
                <a:spcPts val="600"/>
              </a:spcBef>
              <a:tabLst>
                <a:tab pos="0" algn="l"/>
              </a:tabLst>
            </a:pPr>
            <a:r>
              <a:rPr lang="en-US" altLang="en-US" sz="2000" dirty="0">
                <a:solidFill>
                  <a:prstClr val="black"/>
                </a:solidFill>
              </a:rPr>
              <a:t>Pasteur used the word “virus,” Latin for </a:t>
            </a:r>
            <a:r>
              <a:rPr lang="en-US" altLang="en-US" sz="2000" i="1" dirty="0">
                <a:solidFill>
                  <a:prstClr val="black"/>
                </a:solidFill>
              </a:rPr>
              <a:t>poison</a:t>
            </a:r>
            <a:r>
              <a:rPr lang="en-US" altLang="en-US" sz="2000" dirty="0">
                <a:solidFill>
                  <a:prstClr val="black"/>
                </a:solidFill>
              </a:rPr>
              <a:t>.</a:t>
            </a:r>
          </a:p>
        </p:txBody>
      </p:sp>
      <p:sp>
        <p:nvSpPr>
          <p:cNvPr id="4" name="Slide Number Placeholder 3">
            <a:extLst>
              <a:ext uri="{FF2B5EF4-FFF2-40B4-BE49-F238E27FC236}">
                <a16:creationId xmlns:a16="http://schemas.microsoft.com/office/drawing/2014/main" id="{AD9D0EF6-80F7-49A7-8805-6D2418433608}"/>
              </a:ext>
            </a:extLst>
          </p:cNvPr>
          <p:cNvSpPr>
            <a:spLocks noGrp="1"/>
          </p:cNvSpPr>
          <p:nvPr>
            <p:ph type="sldNum" sz="quarter" idx="4"/>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223148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E40B1-433F-4E67-A73D-65BF44C0F06B}"/>
              </a:ext>
            </a:extLst>
          </p:cNvPr>
          <p:cNvSpPr>
            <a:spLocks noGrp="1"/>
          </p:cNvSpPr>
          <p:nvPr>
            <p:ph type="title"/>
          </p:nvPr>
        </p:nvSpPr>
        <p:spPr/>
        <p:txBody>
          <a:bodyPr/>
          <a:lstStyle/>
          <a:p>
            <a:r>
              <a:rPr lang="en-US" altLang="en-US" dirty="0"/>
              <a:t>Viral Diseases in Humans</a:t>
            </a:r>
            <a:endParaRPr lang="en-IN" dirty="0"/>
          </a:p>
        </p:txBody>
      </p:sp>
      <p:sp>
        <p:nvSpPr>
          <p:cNvPr id="6" name="Table summary 4" hidden="1">
            <a:extLst>
              <a:ext uri="{FF2B5EF4-FFF2-40B4-BE49-F238E27FC236}">
                <a16:creationId xmlns:a16="http://schemas.microsoft.com/office/drawing/2014/main" id="{F7BE9B66-59EE-4C2F-8380-D208C70A4857}"/>
              </a:ext>
            </a:extLst>
          </p:cNvPr>
          <p:cNvSpPr>
            <a:spLocks noGrp="1"/>
          </p:cNvSpPr>
          <p:nvPr>
            <p:ph type="body" sz="quarter" idx="20"/>
          </p:nvPr>
        </p:nvSpPr>
        <p:spPr>
          <a:xfrm>
            <a:off x="2117767" y="2798486"/>
            <a:ext cx="4908466" cy="1859161"/>
          </a:xfrm>
        </p:spPr>
        <p:txBody>
          <a:bodyPr/>
          <a:lstStyle/>
          <a:p>
            <a:r>
              <a:rPr lang="en-US" dirty="0"/>
              <a:t>Table divided into two columns summarizes viral diseases in human. The column headers are: Category and disease. </a:t>
            </a:r>
            <a:endParaRPr lang="en-IN" dirty="0"/>
          </a:p>
        </p:txBody>
      </p:sp>
      <p:graphicFrame>
        <p:nvGraphicFramePr>
          <p:cNvPr id="7" name="Table 3">
            <a:extLst>
              <a:ext uri="{FF2B5EF4-FFF2-40B4-BE49-F238E27FC236}">
                <a16:creationId xmlns:a16="http://schemas.microsoft.com/office/drawing/2014/main" id="{32C27463-78AF-480C-94E8-2BE78E9B91F1}"/>
              </a:ext>
            </a:extLst>
          </p:cNvPr>
          <p:cNvGraphicFramePr>
            <a:graphicFrameLocks/>
          </p:cNvGraphicFramePr>
          <p:nvPr>
            <p:extLst>
              <p:ext uri="{D42A27DB-BD31-4B8C-83A1-F6EECF244321}">
                <p14:modId xmlns:p14="http://schemas.microsoft.com/office/powerpoint/2010/main" val="3911324358"/>
              </p:ext>
            </p:extLst>
          </p:nvPr>
        </p:nvGraphicFramePr>
        <p:xfrm>
          <a:off x="1171753" y="1234220"/>
          <a:ext cx="6944877" cy="5208032"/>
        </p:xfrm>
        <a:graphic>
          <a:graphicData uri="http://schemas.openxmlformats.org/drawingml/2006/table">
            <a:tbl>
              <a:tblPr firstRow="1" bandRow="1">
                <a:tableStyleId>{5C22544A-7EE6-4342-B048-85BDC9FD1C3A}</a:tableStyleId>
              </a:tblPr>
              <a:tblGrid>
                <a:gridCol w="2899350">
                  <a:extLst>
                    <a:ext uri="{9D8B030D-6E8A-4147-A177-3AD203B41FA5}">
                      <a16:colId xmlns:a16="http://schemas.microsoft.com/office/drawing/2014/main" val="2865981874"/>
                    </a:ext>
                  </a:extLst>
                </a:gridCol>
                <a:gridCol w="4045527">
                  <a:extLst>
                    <a:ext uri="{9D8B030D-6E8A-4147-A177-3AD203B41FA5}">
                      <a16:colId xmlns:a16="http://schemas.microsoft.com/office/drawing/2014/main" val="1401179061"/>
                    </a:ext>
                  </a:extLst>
                </a:gridCol>
              </a:tblGrid>
              <a:tr h="415279">
                <a:tc>
                  <a:txBody>
                    <a:bodyPr/>
                    <a:lstStyle/>
                    <a:p>
                      <a:r>
                        <a:rPr lang="en-US" dirty="0">
                          <a:solidFill>
                            <a:schemeClr val="tx1"/>
                          </a:solidFill>
                        </a:rPr>
                        <a:t>Category</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pPr marL="0" indent="111125"/>
                      <a:r>
                        <a:rPr lang="en-US" dirty="0">
                          <a:solidFill>
                            <a:schemeClr val="tx1"/>
                          </a:solidFill>
                        </a:rPr>
                        <a:t>Disease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301280253"/>
                  </a:ext>
                </a:extLst>
              </a:tr>
              <a:tr h="613320">
                <a:tc>
                  <a:txBody>
                    <a:bodyPr/>
                    <a:lstStyle/>
                    <a:p>
                      <a:r>
                        <a:rPr lang="en-US" dirty="0"/>
                        <a:t>Sexually transmitted diseases</a:t>
                      </a:r>
                    </a:p>
                  </a:txBody>
                  <a:tcPr>
                    <a:lnL w="12700" cap="flat" cmpd="sng" algn="ctr">
                      <a:solidFill>
                        <a:schemeClr val="tx1"/>
                      </a:solidFill>
                      <a:prstDash val="solid"/>
                      <a:round/>
                      <a:headEnd type="none" w="med" len="med"/>
                      <a:tailEnd type="none" w="med" len="med"/>
                    </a:lnL>
                    <a:solidFill>
                      <a:schemeClr val="bg1"/>
                    </a:solidFill>
                  </a:tcPr>
                </a:tc>
                <a:tc>
                  <a:txBody>
                    <a:bodyPr/>
                    <a:lstStyle/>
                    <a:p>
                      <a:pPr marL="234950" indent="-123825"/>
                      <a:r>
                        <a:rPr lang="en-US" dirty="0"/>
                        <a:t>AIDS (HIV), genital</a:t>
                      </a:r>
                      <a:r>
                        <a:rPr lang="en-US" baseline="0" dirty="0"/>
                        <a:t> warts, genital herpes, Zika</a:t>
                      </a:r>
                      <a:endParaRPr lang="en-US" dirty="0"/>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93076238"/>
                  </a:ext>
                </a:extLst>
              </a:tr>
              <a:tr h="613320">
                <a:tc>
                  <a:txBody>
                    <a:bodyPr/>
                    <a:lstStyle/>
                    <a:p>
                      <a:r>
                        <a:rPr lang="en-US" dirty="0"/>
                        <a:t>Childhood diseases</a:t>
                      </a:r>
                    </a:p>
                  </a:txBody>
                  <a:tcPr>
                    <a:lnL w="12700" cap="flat" cmpd="sng" algn="ctr">
                      <a:solidFill>
                        <a:schemeClr val="tx1"/>
                      </a:solidFill>
                      <a:prstDash val="solid"/>
                      <a:round/>
                      <a:headEnd type="none" w="med" len="med"/>
                      <a:tailEnd type="none" w="med" len="med"/>
                    </a:lnL>
                    <a:solidFill>
                      <a:schemeClr val="bg1"/>
                    </a:solidFill>
                  </a:tcPr>
                </a:tc>
                <a:tc>
                  <a:txBody>
                    <a:bodyPr/>
                    <a:lstStyle/>
                    <a:p>
                      <a:pPr marL="234950" indent="-123825"/>
                      <a:r>
                        <a:rPr lang="en-US" dirty="0"/>
                        <a:t>Mumps, measles, chickenpox, German measles</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2025208122"/>
                  </a:ext>
                </a:extLst>
              </a:tr>
              <a:tr h="613320">
                <a:tc>
                  <a:txBody>
                    <a:bodyPr/>
                    <a:lstStyle/>
                    <a:p>
                      <a:r>
                        <a:rPr lang="en-US" dirty="0"/>
                        <a:t>Respiratory diseases</a:t>
                      </a:r>
                    </a:p>
                  </a:txBody>
                  <a:tcPr>
                    <a:lnL w="12700" cap="flat" cmpd="sng" algn="ctr">
                      <a:solidFill>
                        <a:schemeClr val="tx1"/>
                      </a:solidFill>
                      <a:prstDash val="solid"/>
                      <a:round/>
                      <a:headEnd type="none" w="med" len="med"/>
                      <a:tailEnd type="none" w="med" len="med"/>
                    </a:lnL>
                    <a:solidFill>
                      <a:schemeClr val="bg1"/>
                    </a:solidFill>
                  </a:tcPr>
                </a:tc>
                <a:tc>
                  <a:txBody>
                    <a:bodyPr/>
                    <a:lstStyle/>
                    <a:p>
                      <a:pPr marL="234950" indent="-123825"/>
                      <a:r>
                        <a:rPr lang="en-US" dirty="0"/>
                        <a:t>Common cold, influenza, severe</a:t>
                      </a:r>
                      <a:r>
                        <a:rPr lang="en-US" baseline="0" dirty="0"/>
                        <a:t> acute respiratory syndrome (SARS)</a:t>
                      </a:r>
                      <a:endParaRPr lang="en-US" dirty="0"/>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241740467"/>
                  </a:ext>
                </a:extLst>
              </a:tr>
              <a:tr h="415279">
                <a:tc>
                  <a:txBody>
                    <a:bodyPr/>
                    <a:lstStyle/>
                    <a:p>
                      <a:r>
                        <a:rPr lang="en-US" dirty="0"/>
                        <a:t>Skin diseases</a:t>
                      </a:r>
                    </a:p>
                  </a:txBody>
                  <a:tcPr>
                    <a:lnL w="12700" cap="flat" cmpd="sng" algn="ctr">
                      <a:solidFill>
                        <a:schemeClr val="tx1"/>
                      </a:solidFill>
                      <a:prstDash val="solid"/>
                      <a:round/>
                      <a:headEnd type="none" w="med" len="med"/>
                      <a:tailEnd type="none" w="med" len="med"/>
                    </a:lnL>
                    <a:solidFill>
                      <a:schemeClr val="bg1"/>
                    </a:solidFill>
                  </a:tcPr>
                </a:tc>
                <a:tc>
                  <a:txBody>
                    <a:bodyPr/>
                    <a:lstStyle/>
                    <a:p>
                      <a:pPr marL="0" indent="111125"/>
                      <a:r>
                        <a:rPr lang="en-US" dirty="0"/>
                        <a:t>Warts, fever blisters, shingles</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611968112"/>
                  </a:ext>
                </a:extLst>
              </a:tr>
              <a:tr h="415279">
                <a:tc>
                  <a:txBody>
                    <a:bodyPr/>
                    <a:lstStyle/>
                    <a:p>
                      <a:r>
                        <a:rPr lang="en-US" dirty="0"/>
                        <a:t>Digestive tract diseases</a:t>
                      </a:r>
                    </a:p>
                  </a:txBody>
                  <a:tcPr>
                    <a:lnL w="12700" cap="flat" cmpd="sng" algn="ctr">
                      <a:solidFill>
                        <a:schemeClr val="tx1"/>
                      </a:solidFill>
                      <a:prstDash val="solid"/>
                      <a:round/>
                      <a:headEnd type="none" w="med" len="med"/>
                      <a:tailEnd type="none" w="med" len="med"/>
                    </a:lnL>
                    <a:solidFill>
                      <a:schemeClr val="bg1"/>
                    </a:solidFill>
                  </a:tcPr>
                </a:tc>
                <a:tc>
                  <a:txBody>
                    <a:bodyPr/>
                    <a:lstStyle/>
                    <a:p>
                      <a:pPr marL="0" indent="111125"/>
                      <a:r>
                        <a:rPr lang="en-US" dirty="0"/>
                        <a:t>Gastroenteritis, diarrhea</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036653705"/>
                  </a:ext>
                </a:extLst>
              </a:tr>
              <a:tr h="415279">
                <a:tc>
                  <a:txBody>
                    <a:bodyPr/>
                    <a:lstStyle/>
                    <a:p>
                      <a:r>
                        <a:rPr lang="en-US" dirty="0"/>
                        <a:t>Nervous system diseases</a:t>
                      </a:r>
                    </a:p>
                  </a:txBody>
                  <a:tcPr>
                    <a:lnL w="12700" cap="flat" cmpd="sng" algn="ctr">
                      <a:solidFill>
                        <a:schemeClr val="tx1"/>
                      </a:solidFill>
                      <a:prstDash val="solid"/>
                      <a:round/>
                      <a:headEnd type="none" w="med" len="med"/>
                      <a:tailEnd type="none" w="med" len="med"/>
                    </a:lnL>
                    <a:solidFill>
                      <a:schemeClr val="bg1"/>
                    </a:solidFill>
                  </a:tcPr>
                </a:tc>
                <a:tc>
                  <a:txBody>
                    <a:bodyPr/>
                    <a:lstStyle/>
                    <a:p>
                      <a:pPr marL="231775" indent="-122238">
                        <a:tabLst>
                          <a:tab pos="231775" algn="l"/>
                        </a:tabLst>
                      </a:pPr>
                      <a:r>
                        <a:rPr lang="en-US" dirty="0"/>
                        <a:t>Poliomyelitis, rabies, encephalitis, Zika</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2605047616"/>
                  </a:ext>
                </a:extLst>
              </a:tr>
              <a:tr h="1401875">
                <a:tc>
                  <a:txBody>
                    <a:bodyPr/>
                    <a:lstStyle/>
                    <a:p>
                      <a:r>
                        <a:rPr lang="en-US" dirty="0"/>
                        <a:t>Other diseases</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pPr marL="234950" marR="0" lvl="0" indent="-123825" algn="l" defTabSz="914400" rtl="0" eaLnBrk="1" fontAlgn="auto" latinLnBrk="0" hangingPunct="1">
                        <a:lnSpc>
                          <a:spcPct val="100000"/>
                        </a:lnSpc>
                        <a:spcBef>
                          <a:spcPts val="0"/>
                        </a:spcBef>
                        <a:spcAft>
                          <a:spcPts val="0"/>
                        </a:spcAft>
                        <a:buClrTx/>
                        <a:buSzTx/>
                        <a:buFontTx/>
                        <a:buNone/>
                        <a:tabLst/>
                        <a:defRPr/>
                      </a:pPr>
                      <a:r>
                        <a:rPr lang="en-US" dirty="0"/>
                        <a:t>Smallpox, Zika, cancer, hepatitis, mononucleosis, yellow fever, dengue fever,</a:t>
                      </a:r>
                      <a:r>
                        <a:rPr lang="en-US" baseline="0" dirty="0"/>
                        <a:t> conjunctivitis, hepatitis C, Ebola</a:t>
                      </a:r>
                      <a:endParaRPr 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4556460"/>
                  </a:ext>
                </a:extLst>
              </a:tr>
            </a:tbl>
          </a:graphicData>
        </a:graphic>
      </p:graphicFrame>
      <p:sp>
        <p:nvSpPr>
          <p:cNvPr id="5" name="Text Placeholder 3">
            <a:extLst>
              <a:ext uri="{FF2B5EF4-FFF2-40B4-BE49-F238E27FC236}">
                <a16:creationId xmlns:a16="http://schemas.microsoft.com/office/drawing/2014/main" id="{A4E748F3-7E13-4A53-9D07-7558DFA106B9}"/>
              </a:ext>
            </a:extLst>
          </p:cNvPr>
          <p:cNvSpPr>
            <a:spLocks noGrp="1"/>
          </p:cNvSpPr>
          <p:nvPr>
            <p:ph type="body" sz="quarter" idx="19"/>
          </p:nvPr>
        </p:nvSpPr>
        <p:spPr>
          <a:xfrm>
            <a:off x="1240005" y="853487"/>
            <a:ext cx="4414837" cy="410988"/>
          </a:xfrm>
        </p:spPr>
        <p:txBody>
          <a:bodyPr/>
          <a:lstStyle/>
          <a:p>
            <a:r>
              <a:rPr lang="en-US" b="1" dirty="0">
                <a:solidFill>
                  <a:srgbClr val="0070C0"/>
                </a:solidFill>
              </a:rPr>
              <a:t>Table 20.1 </a:t>
            </a:r>
            <a:r>
              <a:rPr lang="en-US" dirty="0"/>
              <a:t>Viral Diseases in Humans</a:t>
            </a:r>
          </a:p>
        </p:txBody>
      </p:sp>
      <p:sp>
        <p:nvSpPr>
          <p:cNvPr id="4" name="Slide Number Placeholder 5">
            <a:extLst>
              <a:ext uri="{FF2B5EF4-FFF2-40B4-BE49-F238E27FC236}">
                <a16:creationId xmlns:a16="http://schemas.microsoft.com/office/drawing/2014/main" id="{6602449C-5D3B-47FD-9C97-8D19FE52E575}"/>
              </a:ext>
            </a:extLst>
          </p:cNvPr>
          <p:cNvSpPr>
            <a:spLocks noGrp="1"/>
          </p:cNvSpPr>
          <p:nvPr>
            <p:ph type="sldNum" sz="quarter" idx="4"/>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2814310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84AB-91D2-4D1C-9EF2-7ABC6884C2B6}"/>
              </a:ext>
            </a:extLst>
          </p:cNvPr>
          <p:cNvSpPr>
            <a:spLocks noGrp="1"/>
          </p:cNvSpPr>
          <p:nvPr>
            <p:ph type="title"/>
          </p:nvPr>
        </p:nvSpPr>
        <p:spPr>
          <a:xfrm>
            <a:off x="0" y="1"/>
            <a:ext cx="9144000" cy="1177177"/>
          </a:xfrm>
        </p:spPr>
        <p:txBody>
          <a:bodyPr/>
          <a:lstStyle/>
          <a:p>
            <a:r>
              <a:rPr lang="en-US" altLang="en-US" dirty="0"/>
              <a:t>Structure of Viruses</a:t>
            </a:r>
            <a:endParaRPr lang="en-IN" dirty="0"/>
          </a:p>
        </p:txBody>
      </p:sp>
      <p:sp>
        <p:nvSpPr>
          <p:cNvPr id="3" name="Text Placeholder 2">
            <a:extLst>
              <a:ext uri="{FF2B5EF4-FFF2-40B4-BE49-F238E27FC236}">
                <a16:creationId xmlns:a16="http://schemas.microsoft.com/office/drawing/2014/main" id="{43C23F59-212B-404B-8C73-5F15F2047615}"/>
              </a:ext>
            </a:extLst>
          </p:cNvPr>
          <p:cNvSpPr>
            <a:spLocks noGrp="1"/>
          </p:cNvSpPr>
          <p:nvPr>
            <p:ph type="body" sz="quarter" idx="19"/>
          </p:nvPr>
        </p:nvSpPr>
        <p:spPr>
          <a:xfrm>
            <a:off x="878540" y="1177179"/>
            <a:ext cx="7862047" cy="5330739"/>
          </a:xfrm>
        </p:spPr>
        <p:txBody>
          <a:bodyPr>
            <a:normAutofit/>
          </a:bodyPr>
          <a:lstStyle/>
          <a:p>
            <a:pPr marL="0" lvl="1" indent="0">
              <a:lnSpc>
                <a:spcPct val="90000"/>
              </a:lnSpc>
              <a:spcBef>
                <a:spcPts val="0"/>
              </a:spcBef>
              <a:buNone/>
            </a:pPr>
            <a:r>
              <a:rPr lang="en-US" altLang="en-US" sz="2600" dirty="0">
                <a:solidFill>
                  <a:prstClr val="black"/>
                </a:solidFill>
              </a:rPr>
              <a:t>Each type has at least two parts (capsid and core).</a:t>
            </a:r>
          </a:p>
          <a:p>
            <a:pPr marL="0" lvl="1" indent="0">
              <a:lnSpc>
                <a:spcPct val="90000"/>
              </a:lnSpc>
              <a:spcBef>
                <a:spcPts val="1200"/>
              </a:spcBef>
              <a:buNone/>
            </a:pPr>
            <a:r>
              <a:rPr lang="en-US" altLang="en-US" sz="2600" dirty="0">
                <a:solidFill>
                  <a:prstClr val="black"/>
                </a:solidFill>
              </a:rPr>
              <a:t>Viruses are characterized by </a:t>
            </a:r>
          </a:p>
          <a:p>
            <a:pPr marL="265113" lvl="2" indent="-265113">
              <a:lnSpc>
                <a:spcPct val="90000"/>
              </a:lnSpc>
              <a:spcBef>
                <a:spcPts val="1200"/>
              </a:spcBef>
            </a:pPr>
            <a:r>
              <a:rPr lang="en-US" altLang="en-US" sz="2200" dirty="0">
                <a:solidFill>
                  <a:prstClr val="black"/>
                </a:solidFill>
              </a:rPr>
              <a:t>Size and shape</a:t>
            </a:r>
          </a:p>
          <a:p>
            <a:pPr marL="541338" lvl="3" indent="-276225">
              <a:lnSpc>
                <a:spcPct val="90000"/>
              </a:lnSpc>
              <a:spcBef>
                <a:spcPts val="1200"/>
              </a:spcBef>
            </a:pPr>
            <a:r>
              <a:rPr lang="en-US" altLang="en-US" sz="1900" dirty="0">
                <a:solidFill>
                  <a:prstClr val="black"/>
                </a:solidFill>
              </a:rPr>
              <a:t>10 to 400 nm in diameter</a:t>
            </a:r>
          </a:p>
          <a:p>
            <a:pPr marL="265113" lvl="2" indent="-265113">
              <a:lnSpc>
                <a:spcPct val="90000"/>
              </a:lnSpc>
              <a:spcBef>
                <a:spcPts val="1200"/>
              </a:spcBef>
              <a:tabLst>
                <a:tab pos="180975" algn="l"/>
              </a:tabLst>
            </a:pPr>
            <a:r>
              <a:rPr lang="en-US" altLang="en-US" sz="2200" dirty="0">
                <a:solidFill>
                  <a:prstClr val="black"/>
                </a:solidFill>
              </a:rPr>
              <a:t>Type of nucleic acid core</a:t>
            </a:r>
          </a:p>
          <a:p>
            <a:pPr marL="541338" lvl="3" indent="-276225">
              <a:lnSpc>
                <a:spcPct val="90000"/>
              </a:lnSpc>
              <a:spcBef>
                <a:spcPts val="1200"/>
              </a:spcBef>
            </a:pPr>
            <a:r>
              <a:rPr lang="en-US" altLang="en-US" sz="1900" dirty="0">
                <a:solidFill>
                  <a:prstClr val="black"/>
                </a:solidFill>
              </a:rPr>
              <a:t>Single stranded or double stranded? DNA or RNA?</a:t>
            </a:r>
          </a:p>
          <a:p>
            <a:pPr marL="265113" lvl="2" indent="-265113">
              <a:lnSpc>
                <a:spcPct val="90000"/>
              </a:lnSpc>
              <a:spcBef>
                <a:spcPts val="1200"/>
              </a:spcBef>
            </a:pPr>
            <a:r>
              <a:rPr lang="en-US" altLang="en-US" sz="2200" b="1" dirty="0">
                <a:solidFill>
                  <a:srgbClr val="D90000"/>
                </a:solidFill>
              </a:rPr>
              <a:t>Capsid</a:t>
            </a:r>
            <a:r>
              <a:rPr lang="en-US" altLang="en-US" sz="2200" dirty="0">
                <a:solidFill>
                  <a:prstClr val="black"/>
                </a:solidFill>
              </a:rPr>
              <a:t> or no capsid (outer layer composed of protein subunits):</a:t>
            </a:r>
          </a:p>
          <a:p>
            <a:pPr marL="541338" lvl="3" indent="-276225">
              <a:lnSpc>
                <a:spcPct val="90000"/>
              </a:lnSpc>
              <a:spcBef>
                <a:spcPts val="1200"/>
              </a:spcBef>
              <a:spcAft>
                <a:spcPts val="0"/>
              </a:spcAft>
              <a:tabLst>
                <a:tab pos="541338" algn="l"/>
              </a:tabLst>
            </a:pPr>
            <a:r>
              <a:rPr lang="en-US" altLang="en-US" sz="1900" dirty="0">
                <a:solidFill>
                  <a:prstClr val="black"/>
                </a:solidFill>
              </a:rPr>
              <a:t>Some are enveloped by membrane.</a:t>
            </a:r>
          </a:p>
          <a:p>
            <a:pPr marL="541338" lvl="3" indent="-276225">
              <a:lnSpc>
                <a:spcPct val="90000"/>
              </a:lnSpc>
              <a:spcBef>
                <a:spcPts val="1200"/>
              </a:spcBef>
              <a:spcAft>
                <a:spcPts val="0"/>
              </a:spcAft>
              <a:tabLst>
                <a:tab pos="541338" algn="l"/>
              </a:tabLst>
            </a:pPr>
            <a:r>
              <a:rPr lang="en-US" altLang="en-US" sz="1900" dirty="0">
                <a:solidFill>
                  <a:prstClr val="black"/>
                </a:solidFill>
              </a:rPr>
              <a:t>Others “naked”</a:t>
            </a:r>
          </a:p>
        </p:txBody>
      </p:sp>
      <p:sp>
        <p:nvSpPr>
          <p:cNvPr id="4" name="Slide Number Placeholder 3">
            <a:extLst>
              <a:ext uri="{FF2B5EF4-FFF2-40B4-BE49-F238E27FC236}">
                <a16:creationId xmlns:a16="http://schemas.microsoft.com/office/drawing/2014/main" id="{89DF9CA9-8F10-4D6B-93B3-32921CC84C76}"/>
              </a:ext>
            </a:extLst>
          </p:cNvPr>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3884267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C708C-C800-4867-BEED-0043FB018565}"/>
              </a:ext>
            </a:extLst>
          </p:cNvPr>
          <p:cNvSpPr>
            <a:spLocks noGrp="1"/>
          </p:cNvSpPr>
          <p:nvPr>
            <p:ph type="title"/>
          </p:nvPr>
        </p:nvSpPr>
        <p:spPr/>
        <p:txBody>
          <a:bodyPr/>
          <a:lstStyle/>
          <a:p>
            <a:r>
              <a:rPr lang="en-US" altLang="en-US" dirty="0"/>
              <a:t>Virus Structure</a:t>
            </a:r>
            <a:endParaRPr lang="en-IN" dirty="0"/>
          </a:p>
        </p:txBody>
      </p:sp>
      <p:pic>
        <p:nvPicPr>
          <p:cNvPr id="5" name="Picture 2" descr="A  flowchart showing viral structure based on covering (capsid or envelope) and inner core (DNA or RNA versus various proteins)">
            <a:extLst>
              <a:ext uri="{FF2B5EF4-FFF2-40B4-BE49-F238E27FC236}">
                <a16:creationId xmlns:a16="http://schemas.microsoft.com/office/drawing/2014/main" id="{C556E299-EC99-4E26-BFAE-0A1E876F180A}"/>
              </a:ext>
            </a:extLst>
          </p:cNvPr>
          <p:cNvPicPr>
            <a:picLocks noChangeAspect="1"/>
          </p:cNvPicPr>
          <p:nvPr/>
        </p:nvPicPr>
        <p:blipFill>
          <a:blip r:embed="rId2"/>
          <a:stretch>
            <a:fillRect/>
          </a:stretch>
        </p:blipFill>
        <p:spPr>
          <a:xfrm>
            <a:off x="386617" y="1811838"/>
            <a:ext cx="8370765" cy="2965390"/>
          </a:xfrm>
          <a:prstGeom prst="rect">
            <a:avLst/>
          </a:prstGeom>
        </p:spPr>
      </p:pic>
      <p:sp>
        <p:nvSpPr>
          <p:cNvPr id="3" name="Text Placeholder 3">
            <a:extLst>
              <a:ext uri="{FF2B5EF4-FFF2-40B4-BE49-F238E27FC236}">
                <a16:creationId xmlns:a16="http://schemas.microsoft.com/office/drawing/2014/main" id="{5E7668A4-DEEE-42F9-B4B1-07C84C6508A4}"/>
              </a:ext>
            </a:extLst>
          </p:cNvPr>
          <p:cNvSpPr>
            <a:spLocks noGrp="1"/>
          </p:cNvSpPr>
          <p:nvPr>
            <p:ph type="body" sz="quarter" idx="18"/>
          </p:nvPr>
        </p:nvSpPr>
        <p:spPr>
          <a:xfrm>
            <a:off x="521258" y="5485411"/>
            <a:ext cx="8101481"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4">
            <a:extLst>
              <a:ext uri="{FF2B5EF4-FFF2-40B4-BE49-F238E27FC236}">
                <a16:creationId xmlns:a16="http://schemas.microsoft.com/office/drawing/2014/main" id="{85ECB11E-E501-49A2-AC24-7C2BFE6E3803}"/>
              </a:ext>
            </a:extLst>
          </p:cNvPr>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3381543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C28599-FF62-456C-944C-81DB620E06EB}"/>
              </a:ext>
            </a:extLst>
          </p:cNvPr>
          <p:cNvSpPr>
            <a:spLocks noGrp="1"/>
          </p:cNvSpPr>
          <p:nvPr>
            <p:ph type="title"/>
          </p:nvPr>
        </p:nvSpPr>
        <p:spPr>
          <a:xfrm>
            <a:off x="0" y="1"/>
            <a:ext cx="9144000" cy="1077443"/>
          </a:xfrm>
        </p:spPr>
        <p:txBody>
          <a:bodyPr/>
          <a:lstStyle/>
          <a:p>
            <a:r>
              <a:rPr lang="en-GB" dirty="0"/>
              <a:t>Adenovirus and T-even Bacteriophage</a:t>
            </a:r>
            <a:endParaRPr lang="en-IN" dirty="0"/>
          </a:p>
        </p:txBody>
      </p:sp>
      <p:pic>
        <p:nvPicPr>
          <p:cNvPr id="9" name="Picture 2" descr="Adenovirus: DNA virus with a polyhedral capsid and a fiber at each corner. T-even bacteriophage: DNA virus with a polyhedral head and a helical tail. ">
            <a:extLst>
              <a:ext uri="{FF2B5EF4-FFF2-40B4-BE49-F238E27FC236}">
                <a16:creationId xmlns:a16="http://schemas.microsoft.com/office/drawing/2014/main" id="{1A60EDA3-6125-4785-BAEA-A1DE99D05E9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99" b="2179"/>
          <a:stretch/>
        </p:blipFill>
        <p:spPr bwMode="auto">
          <a:xfrm>
            <a:off x="1258527" y="1077444"/>
            <a:ext cx="6625824" cy="473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3">
            <a:extLst>
              <a:ext uri="{FF2B5EF4-FFF2-40B4-BE49-F238E27FC236}">
                <a16:creationId xmlns:a16="http://schemas.microsoft.com/office/drawing/2014/main" id="{0A4DFACA-5994-4329-9393-B5618256C6AF}"/>
              </a:ext>
            </a:extLst>
          </p:cNvPr>
          <p:cNvSpPr>
            <a:spLocks noGrp="1"/>
          </p:cNvSpPr>
          <p:nvPr>
            <p:ph type="body" sz="quarter" idx="18"/>
          </p:nvPr>
        </p:nvSpPr>
        <p:spPr>
          <a:xfrm>
            <a:off x="521259" y="5939594"/>
            <a:ext cx="8101481"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.1</a:t>
            </a:r>
          </a:p>
        </p:txBody>
      </p:sp>
      <p:sp>
        <p:nvSpPr>
          <p:cNvPr id="2" name="Text Placeholder 4">
            <a:extLst>
              <a:ext uri="{FF2B5EF4-FFF2-40B4-BE49-F238E27FC236}">
                <a16:creationId xmlns:a16="http://schemas.microsoft.com/office/drawing/2014/main" id="{45B5C191-9B15-4F0F-BA75-05455A39391A}"/>
              </a:ext>
            </a:extLst>
          </p:cNvPr>
          <p:cNvSpPr>
            <a:spLocks noGrp="1"/>
          </p:cNvSpPr>
          <p:nvPr>
            <p:ph type="body" sz="quarter" idx="19"/>
          </p:nvPr>
        </p:nvSpPr>
        <p:spPr>
          <a:xfrm>
            <a:off x="2858322" y="6241538"/>
            <a:ext cx="3270693" cy="334282"/>
          </a:xfrm>
        </p:spPr>
        <p:txBody>
          <a:bodyPr>
            <a:normAutofit/>
          </a:bodyPr>
          <a:lstStyle/>
          <a:p>
            <a:r>
              <a:rPr lang="en-US" sz="1200" dirty="0">
                <a:hlinkClick r:id="rId3" action="ppaction://hlinksldjump"/>
              </a:rPr>
              <a:t>Access the text alternative for slide images.</a:t>
            </a:r>
            <a:endParaRPr lang="en-US" sz="1200" dirty="0"/>
          </a:p>
        </p:txBody>
      </p:sp>
      <p:sp>
        <p:nvSpPr>
          <p:cNvPr id="8" name="Text Placeholder 5">
            <a:extLst>
              <a:ext uri="{FF2B5EF4-FFF2-40B4-BE49-F238E27FC236}">
                <a16:creationId xmlns:a16="http://schemas.microsoft.com/office/drawing/2014/main" id="{F8E4B121-E509-4492-9274-905E0B962A0A}"/>
              </a:ext>
            </a:extLst>
          </p:cNvPr>
          <p:cNvSpPr>
            <a:spLocks noGrp="1"/>
          </p:cNvSpPr>
          <p:nvPr>
            <p:ph type="body" sz="quarter" idx="21"/>
          </p:nvPr>
        </p:nvSpPr>
        <p:spPr/>
        <p:txBody>
          <a:bodyPr/>
          <a:lstStyle/>
          <a:p>
            <a:r>
              <a:rPr lang="en-US" sz="800" dirty="0"/>
              <a:t>(a): </a:t>
            </a:r>
            <a:r>
              <a:rPr lang="en-US" sz="800" dirty="0" err="1"/>
              <a:t>Biophoto</a:t>
            </a:r>
            <a:r>
              <a:rPr lang="en-US" sz="800" dirty="0"/>
              <a:t> Associates/Science Source; (b): Eye of Science/Science Source</a:t>
            </a:r>
            <a:endParaRPr lang="en-GB" sz="800" dirty="0"/>
          </a:p>
        </p:txBody>
      </p:sp>
      <p:sp>
        <p:nvSpPr>
          <p:cNvPr id="4" name="Slide Number Placeholder 6">
            <a:extLst>
              <a:ext uri="{FF2B5EF4-FFF2-40B4-BE49-F238E27FC236}">
                <a16:creationId xmlns:a16="http://schemas.microsoft.com/office/drawing/2014/main" id="{A4549D3C-0039-469E-B88B-0BD28EC135A3}"/>
              </a:ext>
            </a:extLst>
          </p:cNvPr>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3382950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67BC3-836C-4B20-BD11-F1406CD58D68}"/>
              </a:ext>
            </a:extLst>
          </p:cNvPr>
          <p:cNvSpPr>
            <a:spLocks noGrp="1"/>
          </p:cNvSpPr>
          <p:nvPr>
            <p:ph type="title"/>
          </p:nvPr>
        </p:nvSpPr>
        <p:spPr>
          <a:xfrm>
            <a:off x="1292832" y="24063"/>
            <a:ext cx="6557211" cy="1167063"/>
          </a:xfrm>
        </p:spPr>
        <p:txBody>
          <a:bodyPr/>
          <a:lstStyle/>
          <a:p>
            <a:r>
              <a:rPr lang="en-US" altLang="en-US" dirty="0"/>
              <a:t>Tobacco Mosaic and Influenza Viruses </a:t>
            </a:r>
            <a:endParaRPr lang="en-IN" dirty="0"/>
          </a:p>
        </p:txBody>
      </p:sp>
      <p:pic>
        <p:nvPicPr>
          <p:cNvPr id="8" name="Picture 2" descr="Examples of virus diversity: Tobacco mosaic virus has RNA with a helical capsid. Influenza virus has RNA with a spherical capsid and envelope.">
            <a:extLst>
              <a:ext uri="{FF2B5EF4-FFF2-40B4-BE49-F238E27FC236}">
                <a16:creationId xmlns:a16="http://schemas.microsoft.com/office/drawing/2014/main" id="{08AA3D1E-20EE-4CBE-8EA1-87216EE3134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124" b="2334"/>
          <a:stretch/>
        </p:blipFill>
        <p:spPr bwMode="auto">
          <a:xfrm>
            <a:off x="1283062" y="1266151"/>
            <a:ext cx="6337246" cy="4596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3">
            <a:extLst>
              <a:ext uri="{FF2B5EF4-FFF2-40B4-BE49-F238E27FC236}">
                <a16:creationId xmlns:a16="http://schemas.microsoft.com/office/drawing/2014/main" id="{A34D4198-8F91-4396-B902-C03A4D7D40A4}"/>
              </a:ext>
            </a:extLst>
          </p:cNvPr>
          <p:cNvSpPr>
            <a:spLocks noGrp="1"/>
          </p:cNvSpPr>
          <p:nvPr>
            <p:ph type="body" sz="quarter" idx="18"/>
          </p:nvPr>
        </p:nvSpPr>
        <p:spPr>
          <a:xfrm>
            <a:off x="3715756" y="6010427"/>
            <a:ext cx="1271446"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.1</a:t>
            </a:r>
          </a:p>
        </p:txBody>
      </p:sp>
      <p:sp>
        <p:nvSpPr>
          <p:cNvPr id="6" name="Text Placeholder 4">
            <a:extLst>
              <a:ext uri="{FF2B5EF4-FFF2-40B4-BE49-F238E27FC236}">
                <a16:creationId xmlns:a16="http://schemas.microsoft.com/office/drawing/2014/main" id="{F1FFA570-963A-4726-9EC5-A531A19BDED5}"/>
              </a:ext>
            </a:extLst>
          </p:cNvPr>
          <p:cNvSpPr>
            <a:spLocks noGrp="1"/>
          </p:cNvSpPr>
          <p:nvPr>
            <p:ph type="body" sz="quarter" idx="19"/>
          </p:nvPr>
        </p:nvSpPr>
        <p:spPr>
          <a:xfrm>
            <a:off x="2995676" y="6305832"/>
            <a:ext cx="3151521" cy="314325"/>
          </a:xfrm>
        </p:spPr>
        <p:txBody>
          <a:bodyPr>
            <a:normAutofit/>
          </a:bodyPr>
          <a:lstStyle/>
          <a:p>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EA6D1469-67CC-47D2-BB77-F9C95CE762B9}"/>
              </a:ext>
            </a:extLst>
          </p:cNvPr>
          <p:cNvSpPr>
            <a:spLocks noGrp="1"/>
          </p:cNvSpPr>
          <p:nvPr>
            <p:ph type="body" sz="quarter" idx="21"/>
          </p:nvPr>
        </p:nvSpPr>
        <p:spPr>
          <a:xfrm>
            <a:off x="4451685" y="6563439"/>
            <a:ext cx="4326906" cy="168955"/>
          </a:xfrm>
        </p:spPr>
        <p:txBody>
          <a:bodyPr/>
          <a:lstStyle/>
          <a:p>
            <a:r>
              <a:rPr lang="en-US" sz="800" dirty="0"/>
              <a:t>(c): Science Source; (d): ©Centers for Disease Control and Prevention/Cynthia Goldsmith</a:t>
            </a:r>
            <a:endParaRPr lang="en-GB" sz="800" dirty="0"/>
          </a:p>
        </p:txBody>
      </p:sp>
      <p:sp>
        <p:nvSpPr>
          <p:cNvPr id="4" name="Slide Number Placeholder 6">
            <a:extLst>
              <a:ext uri="{FF2B5EF4-FFF2-40B4-BE49-F238E27FC236}">
                <a16:creationId xmlns:a16="http://schemas.microsoft.com/office/drawing/2014/main" id="{EAF1C1CC-6A36-4C7B-BEDC-D709FE314CF3}"/>
              </a:ext>
            </a:extLst>
          </p:cNvPr>
          <p:cNvSpPr>
            <a:spLocks noGrp="1"/>
          </p:cNvSpPr>
          <p:nvPr>
            <p:ph type="sldNum" sz="quarter" idx="4"/>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3342011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1FA37-C2FD-4B35-98EA-32DF34463CB1}"/>
              </a:ext>
            </a:extLst>
          </p:cNvPr>
          <p:cNvSpPr>
            <a:spLocks noGrp="1"/>
          </p:cNvSpPr>
          <p:nvPr>
            <p:ph type="title"/>
          </p:nvPr>
        </p:nvSpPr>
        <p:spPr/>
        <p:txBody>
          <a:bodyPr/>
          <a:lstStyle/>
          <a:p>
            <a:r>
              <a:rPr lang="en-US" altLang="en-US" dirty="0"/>
              <a:t>Parasitic Nature of Viruses</a:t>
            </a:r>
            <a:endParaRPr lang="en-IN" dirty="0"/>
          </a:p>
        </p:txBody>
      </p:sp>
      <p:sp>
        <p:nvSpPr>
          <p:cNvPr id="3" name="Text Placeholder 2">
            <a:extLst>
              <a:ext uri="{FF2B5EF4-FFF2-40B4-BE49-F238E27FC236}">
                <a16:creationId xmlns:a16="http://schemas.microsoft.com/office/drawing/2014/main" id="{89AF6729-ACE9-465B-BA46-52432BD4B982}"/>
              </a:ext>
            </a:extLst>
          </p:cNvPr>
          <p:cNvSpPr>
            <a:spLocks noGrp="1"/>
          </p:cNvSpPr>
          <p:nvPr>
            <p:ph type="body" sz="quarter" idx="19"/>
          </p:nvPr>
        </p:nvSpPr>
        <p:spPr>
          <a:xfrm>
            <a:off x="842963" y="1177179"/>
            <a:ext cx="7623676" cy="5488315"/>
          </a:xfrm>
        </p:spPr>
        <p:txBody>
          <a:bodyPr>
            <a:normAutofit/>
          </a:bodyPr>
          <a:lstStyle/>
          <a:p>
            <a:pPr marL="0" lvl="1" indent="0">
              <a:lnSpc>
                <a:spcPct val="80000"/>
              </a:lnSpc>
              <a:spcBef>
                <a:spcPts val="0"/>
              </a:spcBef>
              <a:buNone/>
            </a:pPr>
            <a:r>
              <a:rPr lang="en-US" altLang="en-US" sz="2400" dirty="0">
                <a:solidFill>
                  <a:prstClr val="black"/>
                </a:solidFill>
              </a:rPr>
              <a:t>Are </a:t>
            </a:r>
            <a:r>
              <a:rPr lang="en-US" altLang="en-US" sz="2400" b="1" dirty="0">
                <a:solidFill>
                  <a:prstClr val="black"/>
                </a:solidFill>
              </a:rPr>
              <a:t>obligate intracellular parasites</a:t>
            </a:r>
          </a:p>
          <a:p>
            <a:pPr marL="265113" lvl="2" indent="-265113">
              <a:lnSpc>
                <a:spcPct val="80000"/>
              </a:lnSpc>
              <a:spcBef>
                <a:spcPts val="900"/>
              </a:spcBef>
              <a:spcAft>
                <a:spcPts val="0"/>
              </a:spcAft>
            </a:pPr>
            <a:r>
              <a:rPr lang="en-US" altLang="en-US" sz="2000" dirty="0">
                <a:solidFill>
                  <a:prstClr val="black"/>
                </a:solidFill>
              </a:rPr>
              <a:t>Cannot reproduce outside a living cell.</a:t>
            </a:r>
          </a:p>
          <a:p>
            <a:pPr marL="265113" lvl="2" indent="-265113">
              <a:lnSpc>
                <a:spcPct val="80000"/>
              </a:lnSpc>
              <a:spcBef>
                <a:spcPts val="900"/>
              </a:spcBef>
              <a:spcAft>
                <a:spcPts val="0"/>
              </a:spcAft>
            </a:pPr>
            <a:r>
              <a:rPr lang="en-US" altLang="en-US" sz="2000" dirty="0">
                <a:solidFill>
                  <a:prstClr val="black"/>
                </a:solidFill>
              </a:rPr>
              <a:t>Are either active or inactive, instead of living or non-living.</a:t>
            </a:r>
          </a:p>
          <a:p>
            <a:pPr marL="0" lvl="1" indent="0">
              <a:lnSpc>
                <a:spcPct val="80000"/>
              </a:lnSpc>
              <a:spcBef>
                <a:spcPts val="1200"/>
              </a:spcBef>
              <a:buNone/>
            </a:pPr>
            <a:r>
              <a:rPr lang="en-US" altLang="en-US" sz="2400" dirty="0">
                <a:solidFill>
                  <a:prstClr val="black"/>
                </a:solidFill>
              </a:rPr>
              <a:t>Can be cultured only inside living cells</a:t>
            </a:r>
          </a:p>
          <a:p>
            <a:pPr marL="265113" lvl="2" indent="-265113">
              <a:lnSpc>
                <a:spcPct val="80000"/>
              </a:lnSpc>
              <a:spcBef>
                <a:spcPts val="900"/>
              </a:spcBef>
              <a:spcAft>
                <a:spcPts val="0"/>
              </a:spcAft>
            </a:pPr>
            <a:r>
              <a:rPr lang="en-US" altLang="en-US" sz="2000" dirty="0">
                <a:solidFill>
                  <a:prstClr val="black"/>
                </a:solidFill>
              </a:rPr>
              <a:t>Chicken egg.</a:t>
            </a:r>
          </a:p>
          <a:p>
            <a:pPr marL="265113" lvl="2" indent="-265113">
              <a:lnSpc>
                <a:spcPct val="80000"/>
              </a:lnSpc>
              <a:spcBef>
                <a:spcPts val="900"/>
              </a:spcBef>
              <a:spcAft>
                <a:spcPts val="0"/>
              </a:spcAft>
            </a:pPr>
            <a:r>
              <a:rPr lang="en-US" altLang="en-US" sz="2000" dirty="0">
                <a:solidFill>
                  <a:prstClr val="black"/>
                </a:solidFill>
              </a:rPr>
              <a:t>Tissue culture.</a:t>
            </a:r>
          </a:p>
          <a:p>
            <a:pPr marL="0" lvl="1" indent="0">
              <a:lnSpc>
                <a:spcPct val="80000"/>
              </a:lnSpc>
              <a:spcBef>
                <a:spcPts val="1200"/>
              </a:spcBef>
              <a:buNone/>
            </a:pPr>
            <a:r>
              <a:rPr lang="en-US" altLang="en-US" sz="2400" dirty="0">
                <a:solidFill>
                  <a:prstClr val="black"/>
                </a:solidFill>
              </a:rPr>
              <a:t>Three hypotheses about viral origin and evolution</a:t>
            </a:r>
          </a:p>
          <a:p>
            <a:pPr marL="265113" lvl="2" indent="-265113">
              <a:lnSpc>
                <a:spcPct val="80000"/>
              </a:lnSpc>
              <a:spcBef>
                <a:spcPts val="900"/>
              </a:spcBef>
              <a:spcAft>
                <a:spcPts val="0"/>
              </a:spcAft>
            </a:pPr>
            <a:r>
              <a:rPr lang="en-US" altLang="en-US" sz="2000" dirty="0">
                <a:solidFill>
                  <a:prstClr val="black"/>
                </a:solidFill>
              </a:rPr>
              <a:t>Proteins and nucleic acids, organic molecules in viruses, evolved and viruses may have arisen from these two basic polymers when cells did.</a:t>
            </a:r>
          </a:p>
          <a:p>
            <a:pPr marL="265113" lvl="2" indent="-265113">
              <a:lnSpc>
                <a:spcPct val="80000"/>
              </a:lnSpc>
              <a:spcBef>
                <a:spcPts val="900"/>
              </a:spcBef>
              <a:spcAft>
                <a:spcPts val="0"/>
              </a:spcAft>
            </a:pPr>
            <a:r>
              <a:rPr lang="en-US" altLang="en-US" sz="2000" dirty="0">
                <a:solidFill>
                  <a:prstClr val="black"/>
                </a:solidFill>
              </a:rPr>
              <a:t>Viruses may have been derived from pieces of cell genomes.</a:t>
            </a:r>
          </a:p>
          <a:p>
            <a:pPr marL="265113" lvl="2" indent="-265113">
              <a:lnSpc>
                <a:spcPct val="80000"/>
              </a:lnSpc>
              <a:spcBef>
                <a:spcPts val="900"/>
              </a:spcBef>
              <a:spcAft>
                <a:spcPts val="0"/>
              </a:spcAft>
            </a:pPr>
            <a:r>
              <a:rPr lang="en-US" altLang="en-US" sz="2000" dirty="0">
                <a:solidFill>
                  <a:prstClr val="black"/>
                </a:solidFill>
              </a:rPr>
              <a:t>Viruses may have evolved backwards from living cells.</a:t>
            </a:r>
          </a:p>
          <a:p>
            <a:pPr marL="265113" lvl="2" indent="-265113">
              <a:lnSpc>
                <a:spcPct val="80000"/>
              </a:lnSpc>
              <a:spcBef>
                <a:spcPts val="900"/>
              </a:spcBef>
              <a:spcAft>
                <a:spcPts val="0"/>
              </a:spcAft>
            </a:pPr>
            <a:r>
              <a:rPr lang="en-US" altLang="en-US" sz="2000" dirty="0">
                <a:solidFill>
                  <a:prstClr val="black"/>
                </a:solidFill>
              </a:rPr>
              <a:t>Viruses degenerated from living cells.</a:t>
            </a:r>
          </a:p>
        </p:txBody>
      </p:sp>
      <p:sp>
        <p:nvSpPr>
          <p:cNvPr id="4" name="Slide Number Placeholder 3">
            <a:extLst>
              <a:ext uri="{FF2B5EF4-FFF2-40B4-BE49-F238E27FC236}">
                <a16:creationId xmlns:a16="http://schemas.microsoft.com/office/drawing/2014/main" id="{29CEC980-C523-406E-A35F-0EC0E8AD7F65}"/>
              </a:ext>
            </a:extLst>
          </p:cNvPr>
          <p:cNvSpPr>
            <a:spLocks noGrp="1"/>
          </p:cNvSpPr>
          <p:nvPr>
            <p:ph type="sldNum" sz="quarter" idx="4"/>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82625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EE52C-CCB8-4F69-A805-9B4E6EFF3807}"/>
              </a:ext>
            </a:extLst>
          </p:cNvPr>
          <p:cNvSpPr>
            <a:spLocks noGrp="1"/>
          </p:cNvSpPr>
          <p:nvPr>
            <p:ph type="title"/>
          </p:nvPr>
        </p:nvSpPr>
        <p:spPr/>
        <p:txBody>
          <a:bodyPr/>
          <a:lstStyle/>
          <a:p>
            <a:r>
              <a:rPr lang="en-US" altLang="en-US" dirty="0"/>
              <a:t>Reproduction of Viruses</a:t>
            </a:r>
            <a:endParaRPr lang="en-IN" dirty="0"/>
          </a:p>
        </p:txBody>
      </p:sp>
      <p:sp>
        <p:nvSpPr>
          <p:cNvPr id="3" name="Text Placeholder 2">
            <a:extLst>
              <a:ext uri="{FF2B5EF4-FFF2-40B4-BE49-F238E27FC236}">
                <a16:creationId xmlns:a16="http://schemas.microsoft.com/office/drawing/2014/main" id="{30EE0735-C6C1-4B28-A2FC-010BC709A5FE}"/>
              </a:ext>
            </a:extLst>
          </p:cNvPr>
          <p:cNvSpPr>
            <a:spLocks noGrp="1"/>
          </p:cNvSpPr>
          <p:nvPr>
            <p:ph type="body" sz="quarter" idx="19"/>
          </p:nvPr>
        </p:nvSpPr>
        <p:spPr>
          <a:xfrm>
            <a:off x="842963" y="1177179"/>
            <a:ext cx="7623676" cy="5330739"/>
          </a:xfrm>
        </p:spPr>
        <p:txBody>
          <a:bodyPr>
            <a:normAutofit lnSpcReduction="10000"/>
          </a:bodyPr>
          <a:lstStyle/>
          <a:p>
            <a:pPr marL="511175" lvl="1" indent="-511175">
              <a:lnSpc>
                <a:spcPct val="80000"/>
              </a:lnSpc>
              <a:spcBef>
                <a:spcPts val="0"/>
              </a:spcBef>
            </a:pPr>
            <a:r>
              <a:rPr lang="en-US" altLang="en-US" sz="2600" dirty="0">
                <a:solidFill>
                  <a:prstClr val="black"/>
                </a:solidFill>
              </a:rPr>
              <a:t>Attachment: Virus gains entry into specific host cell based on host-specific match between virus surface molecules and host cell receptors.</a:t>
            </a:r>
          </a:p>
          <a:p>
            <a:pPr marL="511175" lvl="1" indent="-511175">
              <a:lnSpc>
                <a:spcPct val="80000"/>
              </a:lnSpc>
              <a:spcBef>
                <a:spcPts val="1200"/>
              </a:spcBef>
            </a:pPr>
            <a:r>
              <a:rPr lang="en-US" altLang="en-US" sz="2600" dirty="0">
                <a:solidFill>
                  <a:prstClr val="black"/>
                </a:solidFill>
              </a:rPr>
              <a:t>Penetration: Host cell engulfs virus or virus injects its genome into the cytoplasm. </a:t>
            </a:r>
          </a:p>
          <a:p>
            <a:pPr marL="511175" lvl="1" indent="-511175">
              <a:lnSpc>
                <a:spcPct val="80000"/>
              </a:lnSpc>
              <a:spcBef>
                <a:spcPts val="1200"/>
              </a:spcBef>
            </a:pPr>
            <a:r>
              <a:rPr lang="en-US" altLang="en-US" sz="2600" dirty="0">
                <a:solidFill>
                  <a:prstClr val="black"/>
                </a:solidFill>
              </a:rPr>
              <a:t>Biosynthesis: New viral components are synthesized using host cell’s machinery and energy.</a:t>
            </a:r>
          </a:p>
          <a:p>
            <a:pPr marL="511175" lvl="1" indent="-511175">
              <a:lnSpc>
                <a:spcPct val="80000"/>
              </a:lnSpc>
              <a:spcBef>
                <a:spcPts val="1200"/>
              </a:spcBef>
            </a:pPr>
            <a:r>
              <a:rPr lang="en-US" altLang="en-US" sz="2600" dirty="0">
                <a:solidFill>
                  <a:prstClr val="black"/>
                </a:solidFill>
              </a:rPr>
              <a:t>Maturation: Viral components are assembled into new viruses.</a:t>
            </a:r>
          </a:p>
          <a:p>
            <a:pPr marL="511175" lvl="1" indent="-511175">
              <a:lnSpc>
                <a:spcPct val="80000"/>
              </a:lnSpc>
              <a:spcBef>
                <a:spcPts val="1200"/>
              </a:spcBef>
            </a:pPr>
            <a:r>
              <a:rPr lang="en-US" altLang="en-US" sz="2600" dirty="0">
                <a:solidFill>
                  <a:prstClr val="black"/>
                </a:solidFill>
              </a:rPr>
              <a:t>Release: New viruses exit host cell through lysis or budding in order to infect new host cells.</a:t>
            </a:r>
          </a:p>
        </p:txBody>
      </p:sp>
      <p:sp>
        <p:nvSpPr>
          <p:cNvPr id="4" name="Slide Number Placeholder 3">
            <a:extLst>
              <a:ext uri="{FF2B5EF4-FFF2-40B4-BE49-F238E27FC236}">
                <a16:creationId xmlns:a16="http://schemas.microsoft.com/office/drawing/2014/main" id="{021C393B-18FE-4897-BA82-C6C5D76DCAA0}"/>
              </a:ext>
            </a:extLst>
          </p:cNvPr>
          <p:cNvSpPr>
            <a:spLocks noGrp="1"/>
          </p:cNvSpPr>
          <p:nvPr>
            <p:ph type="sldNum" sz="quarter" idx="4"/>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2764337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41C9E-6178-4038-A67D-D2D972584645}"/>
              </a:ext>
            </a:extLst>
          </p:cNvPr>
          <p:cNvSpPr>
            <a:spLocks noGrp="1"/>
          </p:cNvSpPr>
          <p:nvPr>
            <p:ph type="title"/>
          </p:nvPr>
        </p:nvSpPr>
        <p:spPr>
          <a:xfrm>
            <a:off x="0" y="1"/>
            <a:ext cx="9144000" cy="745957"/>
          </a:xfrm>
        </p:spPr>
        <p:txBody>
          <a:bodyPr/>
          <a:lstStyle/>
          <a:p>
            <a:r>
              <a:rPr lang="en-US" altLang="en-US" dirty="0"/>
              <a:t>Lytic and Lysogenic Cycles</a:t>
            </a:r>
            <a:endParaRPr lang="en-IN" dirty="0"/>
          </a:p>
        </p:txBody>
      </p:sp>
      <p:sp>
        <p:nvSpPr>
          <p:cNvPr id="3" name="Text Placeholder 2">
            <a:extLst>
              <a:ext uri="{FF2B5EF4-FFF2-40B4-BE49-F238E27FC236}">
                <a16:creationId xmlns:a16="http://schemas.microsoft.com/office/drawing/2014/main" id="{7327A7DF-0034-456F-87BD-4E9B7DEEE098}"/>
              </a:ext>
            </a:extLst>
          </p:cNvPr>
          <p:cNvSpPr>
            <a:spLocks noGrp="1"/>
          </p:cNvSpPr>
          <p:nvPr>
            <p:ph type="body" sz="quarter" idx="19"/>
          </p:nvPr>
        </p:nvSpPr>
        <p:spPr>
          <a:xfrm>
            <a:off x="304800" y="948214"/>
            <a:ext cx="8462682" cy="5909786"/>
          </a:xfrm>
        </p:spPr>
        <p:txBody>
          <a:bodyPr>
            <a:normAutofit lnSpcReduction="10000"/>
          </a:bodyPr>
          <a:lstStyle/>
          <a:p>
            <a:pPr lvl="0">
              <a:lnSpc>
                <a:spcPct val="80000"/>
              </a:lnSpc>
              <a:spcAft>
                <a:spcPts val="1500"/>
              </a:spcAft>
            </a:pPr>
            <a:r>
              <a:rPr lang="en-US" altLang="en-US" sz="2700" b="1" dirty="0">
                <a:solidFill>
                  <a:srgbClr val="D90000"/>
                </a:solidFill>
              </a:rPr>
              <a:t>Bacteriophages</a:t>
            </a:r>
            <a:r>
              <a:rPr lang="en-US" altLang="en-US" sz="2700" dirty="0">
                <a:solidFill>
                  <a:prstClr val="black"/>
                </a:solidFill>
              </a:rPr>
              <a:t> – Viruses that infect bacterial cells</a:t>
            </a:r>
          </a:p>
          <a:p>
            <a:pPr lvl="0">
              <a:lnSpc>
                <a:spcPct val="80000"/>
              </a:lnSpc>
              <a:spcAft>
                <a:spcPts val="1500"/>
              </a:spcAft>
            </a:pPr>
            <a:r>
              <a:rPr lang="en-US" altLang="en-US" sz="2700" dirty="0">
                <a:solidFill>
                  <a:prstClr val="black"/>
                </a:solidFill>
              </a:rPr>
              <a:t>There are two types of bacteriophage life cycles.</a:t>
            </a:r>
          </a:p>
          <a:p>
            <a:pPr marL="0" lvl="1" indent="0">
              <a:lnSpc>
                <a:spcPct val="80000"/>
              </a:lnSpc>
              <a:spcBef>
                <a:spcPts val="0"/>
              </a:spcBef>
              <a:buNone/>
            </a:pPr>
            <a:r>
              <a:rPr lang="en-US" altLang="en-US" sz="2400" dirty="0">
                <a:solidFill>
                  <a:prstClr val="black"/>
                </a:solidFill>
              </a:rPr>
              <a:t>The </a:t>
            </a:r>
            <a:r>
              <a:rPr lang="en-US" altLang="en-US" sz="2400" b="1" dirty="0">
                <a:solidFill>
                  <a:srgbClr val="D90000"/>
                </a:solidFill>
              </a:rPr>
              <a:t>lytic cycle</a:t>
            </a:r>
          </a:p>
          <a:p>
            <a:pPr marL="265113" lvl="2" indent="-265113">
              <a:lnSpc>
                <a:spcPct val="80000"/>
              </a:lnSpc>
              <a:spcBef>
                <a:spcPts val="900"/>
              </a:spcBef>
              <a:tabLst>
                <a:tab pos="84138" algn="l"/>
              </a:tabLst>
            </a:pPr>
            <a:r>
              <a:rPr lang="en-US" altLang="en-US" sz="2100" dirty="0">
                <a:solidFill>
                  <a:prstClr val="black"/>
                </a:solidFill>
              </a:rPr>
              <a:t>Viral reproduction occurs.</a:t>
            </a:r>
          </a:p>
          <a:p>
            <a:pPr marL="265113" lvl="2" indent="-265113">
              <a:lnSpc>
                <a:spcPct val="80000"/>
              </a:lnSpc>
              <a:spcBef>
                <a:spcPts val="900"/>
              </a:spcBef>
              <a:tabLst>
                <a:tab pos="84138" algn="l"/>
              </a:tabLst>
            </a:pPr>
            <a:r>
              <a:rPr lang="en-US" altLang="en-US" sz="2100" dirty="0">
                <a:solidFill>
                  <a:prstClr val="black"/>
                </a:solidFill>
              </a:rPr>
              <a:t>The host cell undergoes lysis and hundreds of virus particles are released.</a:t>
            </a:r>
          </a:p>
          <a:p>
            <a:pPr marL="0" lvl="1" indent="0">
              <a:lnSpc>
                <a:spcPct val="80000"/>
              </a:lnSpc>
              <a:spcBef>
                <a:spcPts val="900"/>
              </a:spcBef>
              <a:buNone/>
            </a:pPr>
            <a:r>
              <a:rPr lang="en-US" altLang="en-US" sz="2400" dirty="0">
                <a:solidFill>
                  <a:prstClr val="black"/>
                </a:solidFill>
              </a:rPr>
              <a:t>The </a:t>
            </a:r>
            <a:r>
              <a:rPr lang="en-US" altLang="en-US" sz="2400" b="1" dirty="0">
                <a:solidFill>
                  <a:srgbClr val="D90000"/>
                </a:solidFill>
              </a:rPr>
              <a:t>lysogenic cycle</a:t>
            </a:r>
          </a:p>
          <a:p>
            <a:pPr marL="265113" lvl="2" indent="-265113">
              <a:lnSpc>
                <a:spcPct val="80000"/>
              </a:lnSpc>
              <a:spcBef>
                <a:spcPts val="900"/>
              </a:spcBef>
            </a:pPr>
            <a:r>
              <a:rPr lang="en-US" altLang="en-US" sz="2100" dirty="0">
                <a:solidFill>
                  <a:prstClr val="black"/>
                </a:solidFill>
              </a:rPr>
              <a:t>Viral reproduction does not occur immediately but may occur in the future.</a:t>
            </a:r>
          </a:p>
          <a:p>
            <a:pPr marL="265113" lvl="2" indent="-265113">
              <a:lnSpc>
                <a:spcPct val="80000"/>
              </a:lnSpc>
              <a:spcBef>
                <a:spcPts val="900"/>
              </a:spcBef>
            </a:pPr>
            <a:r>
              <a:rPr lang="en-US" altLang="en-US" sz="2100" dirty="0">
                <a:solidFill>
                  <a:prstClr val="black"/>
                </a:solidFill>
              </a:rPr>
              <a:t>Virus becomes </a:t>
            </a:r>
            <a:r>
              <a:rPr lang="en-US" altLang="en-US" sz="2100" b="1" dirty="0">
                <a:solidFill>
                  <a:prstClr val="black"/>
                </a:solidFill>
              </a:rPr>
              <a:t>integrated</a:t>
            </a:r>
            <a:r>
              <a:rPr lang="en-US" altLang="en-US" sz="2100" dirty="0">
                <a:solidFill>
                  <a:prstClr val="black"/>
                </a:solidFill>
              </a:rPr>
              <a:t> into the host genome and may reenter lytic cycle.</a:t>
            </a:r>
          </a:p>
          <a:p>
            <a:pPr marL="265113" lvl="2" indent="-265113">
              <a:lnSpc>
                <a:spcPct val="80000"/>
              </a:lnSpc>
              <a:spcBef>
                <a:spcPts val="900"/>
              </a:spcBef>
            </a:pPr>
            <a:r>
              <a:rPr lang="en-US" altLang="en-US" sz="2100" dirty="0">
                <a:solidFill>
                  <a:prstClr val="black"/>
                </a:solidFill>
              </a:rPr>
              <a:t>This is known as </a:t>
            </a:r>
            <a:r>
              <a:rPr lang="en-US" altLang="en-US" sz="2100" b="1" dirty="0">
                <a:solidFill>
                  <a:prstClr val="black"/>
                </a:solidFill>
              </a:rPr>
              <a:t>latency</a:t>
            </a:r>
            <a:r>
              <a:rPr lang="en-US" altLang="en-US" sz="2100" dirty="0">
                <a:solidFill>
                  <a:prstClr val="black"/>
                </a:solidFill>
              </a:rPr>
              <a:t>, and the latent viral DNA is called a </a:t>
            </a:r>
            <a:r>
              <a:rPr lang="en-US" altLang="en-US" sz="2100" b="1" dirty="0">
                <a:solidFill>
                  <a:prstClr val="black"/>
                </a:solidFill>
              </a:rPr>
              <a:t>prophage</a:t>
            </a:r>
            <a:r>
              <a:rPr lang="en-US" altLang="en-US" sz="2100" dirty="0">
                <a:solidFill>
                  <a:prstClr val="black"/>
                </a:solidFill>
              </a:rPr>
              <a:t>.</a:t>
            </a:r>
          </a:p>
          <a:p>
            <a:pPr marL="265113" lvl="2" indent="-265113">
              <a:lnSpc>
                <a:spcPct val="80000"/>
              </a:lnSpc>
              <a:spcBef>
                <a:spcPts val="900"/>
              </a:spcBef>
            </a:pPr>
            <a:r>
              <a:rPr lang="en-US" altLang="en-US" sz="2100" dirty="0">
                <a:solidFill>
                  <a:prstClr val="black"/>
                </a:solidFill>
              </a:rPr>
              <a:t>Diphtheria is caused by a prophage-carrying bacterium, which produces a toxin that damages the lining of the upper respiratory tract, restricting breathing.</a:t>
            </a:r>
          </a:p>
        </p:txBody>
      </p:sp>
      <p:sp>
        <p:nvSpPr>
          <p:cNvPr id="4" name="Slide Number Placeholder 3">
            <a:extLst>
              <a:ext uri="{FF2B5EF4-FFF2-40B4-BE49-F238E27FC236}">
                <a16:creationId xmlns:a16="http://schemas.microsoft.com/office/drawing/2014/main" id="{1E1C0939-1C24-4DC0-B393-CC372A20A839}"/>
              </a:ext>
            </a:extLst>
          </p:cNvPr>
          <p:cNvSpPr>
            <a:spLocks noGrp="1"/>
          </p:cNvSpPr>
          <p:nvPr>
            <p:ph type="sldNum" sz="quarter" idx="4"/>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1291380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9FC16-D47D-4AC6-B89E-F0FD9E0543AC}"/>
              </a:ext>
            </a:extLst>
          </p:cNvPr>
          <p:cNvSpPr>
            <a:spLocks noGrp="1"/>
          </p:cNvSpPr>
          <p:nvPr>
            <p:ph type="title"/>
          </p:nvPr>
        </p:nvSpPr>
        <p:spPr>
          <a:xfrm>
            <a:off x="0" y="1"/>
            <a:ext cx="9144000" cy="697831"/>
          </a:xfrm>
        </p:spPr>
        <p:txBody>
          <a:bodyPr/>
          <a:lstStyle/>
          <a:p>
            <a:r>
              <a:rPr lang="en-US" altLang="en-US" dirty="0"/>
              <a:t>Reproduction in Viruses </a:t>
            </a:r>
            <a:r>
              <a:rPr lang="en-US" altLang="en-US" sz="1600" dirty="0"/>
              <a:t>7</a:t>
            </a:r>
            <a:endParaRPr lang="en-IN" sz="1600" dirty="0"/>
          </a:p>
        </p:txBody>
      </p:sp>
      <p:pic>
        <p:nvPicPr>
          <p:cNvPr id="9" name="Picture 2" descr="Lytic and lysogenic cycles are shown.">
            <a:extLst>
              <a:ext uri="{FF2B5EF4-FFF2-40B4-BE49-F238E27FC236}">
                <a16:creationId xmlns:a16="http://schemas.microsoft.com/office/drawing/2014/main" id="{CD3A51D9-6F21-49D0-873C-F7A55E3DF4A0}"/>
              </a:ext>
            </a:extLst>
          </p:cNvPr>
          <p:cNvPicPr>
            <a:picLocks noChangeAspect="1"/>
          </p:cNvPicPr>
          <p:nvPr/>
        </p:nvPicPr>
        <p:blipFill>
          <a:blip r:embed="rId2"/>
          <a:stretch>
            <a:fillRect/>
          </a:stretch>
        </p:blipFill>
        <p:spPr>
          <a:xfrm>
            <a:off x="773340" y="723470"/>
            <a:ext cx="7597318" cy="5231299"/>
          </a:xfrm>
          <a:prstGeom prst="rect">
            <a:avLst/>
          </a:prstGeom>
        </p:spPr>
      </p:pic>
      <p:sp>
        <p:nvSpPr>
          <p:cNvPr id="3" name="Text Placeholder 3">
            <a:extLst>
              <a:ext uri="{FF2B5EF4-FFF2-40B4-BE49-F238E27FC236}">
                <a16:creationId xmlns:a16="http://schemas.microsoft.com/office/drawing/2014/main" id="{2697A92E-650A-45B8-A141-C16B78F1D771}"/>
              </a:ext>
            </a:extLst>
          </p:cNvPr>
          <p:cNvSpPr>
            <a:spLocks noGrp="1"/>
          </p:cNvSpPr>
          <p:nvPr>
            <p:ph type="body" sz="quarter" idx="18"/>
          </p:nvPr>
        </p:nvSpPr>
        <p:spPr>
          <a:xfrm>
            <a:off x="3960339" y="5929131"/>
            <a:ext cx="1223320"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.2</a:t>
            </a:r>
          </a:p>
        </p:txBody>
      </p:sp>
      <p:sp>
        <p:nvSpPr>
          <p:cNvPr id="7" name="Text Placeholder 4">
            <a:extLst>
              <a:ext uri="{FF2B5EF4-FFF2-40B4-BE49-F238E27FC236}">
                <a16:creationId xmlns:a16="http://schemas.microsoft.com/office/drawing/2014/main" id="{5B0CB5EA-65A2-4229-9F57-EDE46DA2BA8B}"/>
              </a:ext>
            </a:extLst>
          </p:cNvPr>
          <p:cNvSpPr>
            <a:spLocks noGrp="1"/>
          </p:cNvSpPr>
          <p:nvPr>
            <p:ph type="body" sz="quarter" idx="19"/>
          </p:nvPr>
        </p:nvSpPr>
        <p:spPr>
          <a:xfrm>
            <a:off x="3002254" y="6293318"/>
            <a:ext cx="3139490"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97826D48-6629-49B3-BBB6-911ABFF3B191}"/>
              </a:ext>
            </a:extLst>
          </p:cNvPr>
          <p:cNvSpPr>
            <a:spLocks noGrp="1"/>
          </p:cNvSpPr>
          <p:nvPr>
            <p:ph type="sldNum" sz="quarter" idx="4"/>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2957808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E7FDD-EABE-4D49-888C-F9E0B57375BE}"/>
              </a:ext>
            </a:extLst>
          </p:cNvPr>
          <p:cNvSpPr>
            <a:spLocks noGrp="1"/>
          </p:cNvSpPr>
          <p:nvPr>
            <p:ph type="title"/>
          </p:nvPr>
        </p:nvSpPr>
        <p:spPr>
          <a:xfrm>
            <a:off x="0" y="1"/>
            <a:ext cx="9144000" cy="1141422"/>
          </a:xfrm>
        </p:spPr>
        <p:txBody>
          <a:bodyPr/>
          <a:lstStyle/>
          <a:p>
            <a:r>
              <a:rPr lang="en-US" altLang="en-US" dirty="0"/>
              <a:t>Reproduction of Animal Viruses</a:t>
            </a:r>
            <a:endParaRPr lang="en-IN" dirty="0"/>
          </a:p>
        </p:txBody>
      </p:sp>
      <p:sp>
        <p:nvSpPr>
          <p:cNvPr id="3" name="Text Placeholder 2">
            <a:extLst>
              <a:ext uri="{FF2B5EF4-FFF2-40B4-BE49-F238E27FC236}">
                <a16:creationId xmlns:a16="http://schemas.microsoft.com/office/drawing/2014/main" id="{E2591D2B-A93A-4ACC-B472-E623C7533372}"/>
              </a:ext>
            </a:extLst>
          </p:cNvPr>
          <p:cNvSpPr>
            <a:spLocks noGrp="1"/>
          </p:cNvSpPr>
          <p:nvPr>
            <p:ph type="body" sz="quarter" idx="19"/>
          </p:nvPr>
        </p:nvSpPr>
        <p:spPr>
          <a:xfrm>
            <a:off x="842963" y="1177179"/>
            <a:ext cx="7623676" cy="5680821"/>
          </a:xfrm>
        </p:spPr>
        <p:txBody>
          <a:bodyPr>
            <a:normAutofit lnSpcReduction="10000"/>
          </a:bodyPr>
          <a:lstStyle/>
          <a:p>
            <a:pPr marL="0" lvl="1" indent="0">
              <a:lnSpc>
                <a:spcPct val="90000"/>
              </a:lnSpc>
              <a:spcBef>
                <a:spcPts val="0"/>
              </a:spcBef>
              <a:buNone/>
            </a:pPr>
            <a:r>
              <a:rPr lang="en-US" altLang="en-US" sz="2800" dirty="0">
                <a:solidFill>
                  <a:prstClr val="black"/>
                </a:solidFill>
              </a:rPr>
              <a:t>Animal virus enters the host cell.</a:t>
            </a:r>
          </a:p>
          <a:p>
            <a:pPr marL="0" lvl="1" indent="0">
              <a:lnSpc>
                <a:spcPct val="90000"/>
              </a:lnSpc>
              <a:spcBef>
                <a:spcPts val="900"/>
              </a:spcBef>
              <a:buNone/>
            </a:pPr>
            <a:r>
              <a:rPr lang="en-US" altLang="en-US" sz="2800" dirty="0">
                <a:solidFill>
                  <a:prstClr val="black"/>
                </a:solidFill>
              </a:rPr>
              <a:t>Uncoating releases viral DNA or RNA.</a:t>
            </a:r>
          </a:p>
          <a:p>
            <a:pPr marL="265113" lvl="2" indent="-265113">
              <a:lnSpc>
                <a:spcPct val="90000"/>
              </a:lnSpc>
              <a:spcBef>
                <a:spcPts val="900"/>
              </a:spcBef>
            </a:pPr>
            <a:r>
              <a:rPr lang="en-US" altLang="en-US" sz="2400" dirty="0">
                <a:solidFill>
                  <a:prstClr val="black"/>
                </a:solidFill>
              </a:rPr>
              <a:t>Budding:</a:t>
            </a:r>
          </a:p>
          <a:p>
            <a:pPr marL="541338" lvl="3" indent="-276225">
              <a:lnSpc>
                <a:spcPct val="90000"/>
              </a:lnSpc>
              <a:spcBef>
                <a:spcPts val="900"/>
              </a:spcBef>
            </a:pPr>
            <a:r>
              <a:rPr lang="en-US" altLang="en-US" sz="2100" dirty="0">
                <a:solidFill>
                  <a:prstClr val="black"/>
                </a:solidFill>
              </a:rPr>
              <a:t>Viral particles are released in a bud.</a:t>
            </a:r>
          </a:p>
          <a:p>
            <a:pPr marL="541338" lvl="3" indent="-276225">
              <a:lnSpc>
                <a:spcPct val="90000"/>
              </a:lnSpc>
              <a:spcBef>
                <a:spcPts val="900"/>
              </a:spcBef>
            </a:pPr>
            <a:r>
              <a:rPr lang="en-US" altLang="en-US" sz="2100" dirty="0">
                <a:solidFill>
                  <a:prstClr val="black"/>
                </a:solidFill>
              </a:rPr>
              <a:t>Acquires a membranous envelope</a:t>
            </a:r>
          </a:p>
          <a:p>
            <a:pPr marL="265113" lvl="2" indent="-265113">
              <a:lnSpc>
                <a:spcPct val="90000"/>
              </a:lnSpc>
              <a:spcBef>
                <a:spcPts val="900"/>
              </a:spcBef>
              <a:tabLst>
                <a:tab pos="180975" algn="l"/>
              </a:tabLst>
            </a:pPr>
            <a:r>
              <a:rPr lang="en-US" altLang="en-US" sz="2400" b="1" dirty="0">
                <a:solidFill>
                  <a:srgbClr val="D90000"/>
                </a:solidFill>
              </a:rPr>
              <a:t>Retroviruses</a:t>
            </a:r>
            <a:r>
              <a:rPr lang="en-US" altLang="en-US" sz="2400" dirty="0">
                <a:solidFill>
                  <a:prstClr val="black"/>
                </a:solidFill>
              </a:rPr>
              <a:t> (HIV, the virus that causes AIDS)</a:t>
            </a:r>
          </a:p>
          <a:p>
            <a:pPr marL="541338" lvl="3" indent="-276225">
              <a:lnSpc>
                <a:spcPct val="90000"/>
              </a:lnSpc>
              <a:spcBef>
                <a:spcPts val="900"/>
              </a:spcBef>
            </a:pPr>
            <a:r>
              <a:rPr lang="en-US" altLang="en-US" sz="2100" dirty="0">
                <a:solidFill>
                  <a:prstClr val="black"/>
                </a:solidFill>
              </a:rPr>
              <a:t>Contain </a:t>
            </a:r>
            <a:r>
              <a:rPr lang="en-US" altLang="en-US" sz="2100" b="1" dirty="0">
                <a:solidFill>
                  <a:srgbClr val="D90000"/>
                </a:solidFill>
              </a:rPr>
              <a:t>reverse transcriptase</a:t>
            </a:r>
          </a:p>
          <a:p>
            <a:pPr marL="541338" lvl="3" indent="-276225">
              <a:lnSpc>
                <a:spcPct val="90000"/>
              </a:lnSpc>
              <a:spcBef>
                <a:spcPts val="900"/>
              </a:spcBef>
            </a:pPr>
            <a:r>
              <a:rPr lang="en-US" altLang="en-US" sz="2100" dirty="0">
                <a:solidFill>
                  <a:prstClr val="black"/>
                </a:solidFill>
              </a:rPr>
              <a:t>Carries out RNA </a:t>
            </a:r>
            <a:r>
              <a:rPr lang="en-US" altLang="en-US" sz="2100" dirty="0">
                <a:solidFill>
                  <a:prstClr val="black"/>
                </a:solidFill>
                <a:sym typeface="Wingdings" panose="05000000000000000000" pitchFamily="2" charset="2"/>
              </a:rPr>
              <a:t> cDNA reverse transcription</a:t>
            </a:r>
          </a:p>
          <a:p>
            <a:pPr marL="541338" lvl="3" indent="-276225">
              <a:lnSpc>
                <a:spcPct val="90000"/>
              </a:lnSpc>
              <a:spcBef>
                <a:spcPts val="900"/>
              </a:spcBef>
            </a:pPr>
            <a:r>
              <a:rPr lang="en-US" altLang="en-US" sz="2100" dirty="0">
                <a:solidFill>
                  <a:prstClr val="black"/>
                </a:solidFill>
                <a:sym typeface="Wingdings" panose="05000000000000000000" pitchFamily="2" charset="2"/>
              </a:rPr>
              <a:t>cDNA becomes integrated into host DNA.</a:t>
            </a:r>
          </a:p>
          <a:p>
            <a:pPr marL="806450" lvl="4" indent="-265113">
              <a:lnSpc>
                <a:spcPct val="90000"/>
              </a:lnSpc>
              <a:spcBef>
                <a:spcPts val="900"/>
              </a:spcBef>
            </a:pPr>
            <a:r>
              <a:rPr lang="en-US" altLang="en-US" sz="2100" dirty="0">
                <a:solidFill>
                  <a:prstClr val="black"/>
                </a:solidFill>
                <a:sym typeface="Wingdings" panose="05000000000000000000" pitchFamily="2" charset="2"/>
              </a:rPr>
              <a:t>Replicated as host DNA replicates </a:t>
            </a:r>
          </a:p>
          <a:p>
            <a:pPr marL="806450" lvl="4" indent="-265113">
              <a:lnSpc>
                <a:spcPct val="90000"/>
              </a:lnSpc>
              <a:spcBef>
                <a:spcPts val="900"/>
              </a:spcBef>
            </a:pPr>
            <a:r>
              <a:rPr lang="en-US" altLang="en-US" sz="2100" dirty="0">
                <a:solidFill>
                  <a:prstClr val="black"/>
                </a:solidFill>
                <a:sym typeface="Wingdings" panose="05000000000000000000" pitchFamily="2" charset="2"/>
              </a:rPr>
              <a:t>HIV may remain latent for years.</a:t>
            </a:r>
          </a:p>
          <a:p>
            <a:pPr marL="541338" lvl="3" indent="-276225">
              <a:lnSpc>
                <a:spcPct val="90000"/>
              </a:lnSpc>
              <a:spcBef>
                <a:spcPts val="900"/>
              </a:spcBef>
            </a:pPr>
            <a:r>
              <a:rPr lang="en-US" altLang="en-US" sz="1900" dirty="0">
                <a:solidFill>
                  <a:prstClr val="black"/>
                </a:solidFill>
                <a:sym typeface="Wingdings" panose="05000000000000000000" pitchFamily="2" charset="2"/>
              </a:rPr>
              <a:t>Viral DNA is transcribed; new viruses are produced </a:t>
            </a:r>
          </a:p>
        </p:txBody>
      </p:sp>
      <p:sp>
        <p:nvSpPr>
          <p:cNvPr id="4" name="Slide Number Placeholder 3">
            <a:extLst>
              <a:ext uri="{FF2B5EF4-FFF2-40B4-BE49-F238E27FC236}">
                <a16:creationId xmlns:a16="http://schemas.microsoft.com/office/drawing/2014/main" id="{A34ABD51-9B63-4DAF-9B50-2A50105C442C}"/>
              </a:ext>
            </a:extLst>
          </p:cNvPr>
          <p:cNvSpPr>
            <a:spLocks noGrp="1"/>
          </p:cNvSpPr>
          <p:nvPr>
            <p:ph type="sldNum" sz="quarter" idx="4"/>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1601723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7983D-D6B6-4DC6-884D-F8576B53DA7F}"/>
              </a:ext>
            </a:extLst>
          </p:cNvPr>
          <p:cNvSpPr>
            <a:spLocks noGrp="1"/>
          </p:cNvSpPr>
          <p:nvPr>
            <p:ph type="title"/>
          </p:nvPr>
        </p:nvSpPr>
        <p:spPr/>
        <p:txBody>
          <a:bodyPr/>
          <a:lstStyle/>
          <a:p>
            <a:r>
              <a:rPr lang="en-US" altLang="en-US" dirty="0"/>
              <a:t>Reproduction of the Retrovirus HIV </a:t>
            </a:r>
            <a:r>
              <a:rPr lang="en-US" altLang="en-US" sz="1600" dirty="0"/>
              <a:t>6</a:t>
            </a:r>
            <a:endParaRPr lang="en-IN" sz="1600" dirty="0"/>
          </a:p>
        </p:txBody>
      </p:sp>
      <p:pic>
        <p:nvPicPr>
          <p:cNvPr id="8" name="Picture 2" descr="Diagram shows six steps involved in the retroviral reproduction.">
            <a:extLst>
              <a:ext uri="{FF2B5EF4-FFF2-40B4-BE49-F238E27FC236}">
                <a16:creationId xmlns:a16="http://schemas.microsoft.com/office/drawing/2014/main" id="{D0D07CF9-007A-471C-87B0-01EB79622770}"/>
              </a:ext>
            </a:extLst>
          </p:cNvPr>
          <p:cNvPicPr>
            <a:picLocks noChangeAspect="1"/>
          </p:cNvPicPr>
          <p:nvPr/>
        </p:nvPicPr>
        <p:blipFill>
          <a:blip r:embed="rId2"/>
          <a:stretch>
            <a:fillRect/>
          </a:stretch>
        </p:blipFill>
        <p:spPr>
          <a:xfrm>
            <a:off x="3375567" y="743328"/>
            <a:ext cx="2204083" cy="5194181"/>
          </a:xfrm>
          <a:prstGeom prst="rect">
            <a:avLst/>
          </a:prstGeom>
        </p:spPr>
      </p:pic>
      <p:sp>
        <p:nvSpPr>
          <p:cNvPr id="5" name="Text Placeholder 3">
            <a:extLst>
              <a:ext uri="{FF2B5EF4-FFF2-40B4-BE49-F238E27FC236}">
                <a16:creationId xmlns:a16="http://schemas.microsoft.com/office/drawing/2014/main" id="{E27F610C-1E43-4861-8717-6C3BE3C5C515}"/>
              </a:ext>
            </a:extLst>
          </p:cNvPr>
          <p:cNvSpPr>
            <a:spLocks noGrp="1"/>
          </p:cNvSpPr>
          <p:nvPr>
            <p:ph type="body" sz="quarter" idx="18"/>
          </p:nvPr>
        </p:nvSpPr>
        <p:spPr>
          <a:xfrm>
            <a:off x="4044558" y="5937509"/>
            <a:ext cx="1054878"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.3</a:t>
            </a:r>
          </a:p>
        </p:txBody>
      </p:sp>
      <p:sp>
        <p:nvSpPr>
          <p:cNvPr id="6" name="Text Placeholder 4">
            <a:extLst>
              <a:ext uri="{FF2B5EF4-FFF2-40B4-BE49-F238E27FC236}">
                <a16:creationId xmlns:a16="http://schemas.microsoft.com/office/drawing/2014/main" id="{66A41C20-D9FC-4983-A487-A6A9CE7D4712}"/>
              </a:ext>
            </a:extLst>
          </p:cNvPr>
          <p:cNvSpPr>
            <a:spLocks noGrp="1"/>
          </p:cNvSpPr>
          <p:nvPr>
            <p:ph type="body" sz="quarter" idx="19"/>
          </p:nvPr>
        </p:nvSpPr>
        <p:spPr>
          <a:xfrm>
            <a:off x="2996237" y="6251834"/>
            <a:ext cx="3151521"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BD2625F3-AC3F-4A26-9317-C5CEEA4052C4}"/>
              </a:ext>
            </a:extLst>
          </p:cNvPr>
          <p:cNvSpPr>
            <a:spLocks noGrp="1"/>
          </p:cNvSpPr>
          <p:nvPr>
            <p:ph type="sldNum" sz="quarter" idx="4"/>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1799153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717C1-E920-4DA2-9EC3-84906343EF98}"/>
              </a:ext>
            </a:extLst>
          </p:cNvPr>
          <p:cNvSpPr>
            <a:spLocks noGrp="1"/>
          </p:cNvSpPr>
          <p:nvPr>
            <p:ph type="title"/>
          </p:nvPr>
        </p:nvSpPr>
        <p:spPr/>
        <p:txBody>
          <a:bodyPr/>
          <a:lstStyle/>
          <a:p>
            <a:r>
              <a:rPr lang="en-US" altLang="en-US" dirty="0"/>
              <a:t>Flu Virus</a:t>
            </a:r>
            <a:endParaRPr lang="en-IN" dirty="0"/>
          </a:p>
        </p:txBody>
      </p:sp>
      <p:sp>
        <p:nvSpPr>
          <p:cNvPr id="5" name="Text Placeholder 2">
            <a:extLst>
              <a:ext uri="{FF2B5EF4-FFF2-40B4-BE49-F238E27FC236}">
                <a16:creationId xmlns:a16="http://schemas.microsoft.com/office/drawing/2014/main" id="{0EAB1AAD-E0E4-40D4-939B-34DD810321E2}"/>
              </a:ext>
            </a:extLst>
          </p:cNvPr>
          <p:cNvSpPr>
            <a:spLocks noGrp="1"/>
          </p:cNvSpPr>
          <p:nvPr>
            <p:ph type="body" sz="quarter" idx="19"/>
          </p:nvPr>
        </p:nvSpPr>
        <p:spPr>
          <a:xfrm>
            <a:off x="322728" y="971067"/>
            <a:ext cx="8605613" cy="2925587"/>
          </a:xfrm>
        </p:spPr>
        <p:txBody>
          <a:bodyPr>
            <a:normAutofit/>
          </a:bodyPr>
          <a:lstStyle/>
          <a:p>
            <a:pPr lvl="0">
              <a:lnSpc>
                <a:spcPct val="80000"/>
              </a:lnSpc>
              <a:spcAft>
                <a:spcPts val="1500"/>
              </a:spcAft>
            </a:pPr>
            <a:r>
              <a:rPr lang="en-US" altLang="en-US" sz="2700" dirty="0">
                <a:solidFill>
                  <a:prstClr val="black"/>
                </a:solidFill>
              </a:rPr>
              <a:t>A flu virus has an H (hemagglutinin) spike and an N (neuraminidase) spike.</a:t>
            </a:r>
          </a:p>
          <a:p>
            <a:pPr marL="0" lvl="1" indent="0">
              <a:lnSpc>
                <a:spcPct val="80000"/>
              </a:lnSpc>
              <a:spcBef>
                <a:spcPts val="0"/>
              </a:spcBef>
              <a:buNone/>
            </a:pPr>
            <a:r>
              <a:rPr lang="en-US" altLang="en-US" sz="2400" dirty="0">
                <a:solidFill>
                  <a:prstClr val="black"/>
                </a:solidFill>
              </a:rPr>
              <a:t>H spike allows the virus to bind to the receptor.</a:t>
            </a:r>
          </a:p>
          <a:p>
            <a:pPr marL="265113" lvl="2" indent="-265113">
              <a:lnSpc>
                <a:spcPct val="80000"/>
              </a:lnSpc>
              <a:spcBef>
                <a:spcPts val="600"/>
              </a:spcBef>
              <a:spcAft>
                <a:spcPts val="0"/>
              </a:spcAft>
            </a:pPr>
            <a:r>
              <a:rPr lang="en-US" altLang="en-US" sz="2000" dirty="0">
                <a:solidFill>
                  <a:prstClr val="black"/>
                </a:solidFill>
              </a:rPr>
              <a:t>16 different types </a:t>
            </a:r>
          </a:p>
          <a:p>
            <a:pPr marL="0" lvl="1" indent="0">
              <a:lnSpc>
                <a:spcPct val="80000"/>
              </a:lnSpc>
              <a:spcBef>
                <a:spcPts val="1200"/>
              </a:spcBef>
              <a:buNone/>
            </a:pPr>
            <a:r>
              <a:rPr lang="en-US" altLang="en-US" sz="2400" dirty="0">
                <a:solidFill>
                  <a:prstClr val="black"/>
                </a:solidFill>
              </a:rPr>
              <a:t>N spike attacks host plasma membranes.</a:t>
            </a:r>
          </a:p>
          <a:p>
            <a:pPr marL="265113" lvl="2" indent="-265113">
              <a:lnSpc>
                <a:spcPct val="80000"/>
              </a:lnSpc>
              <a:spcBef>
                <a:spcPts val="600"/>
              </a:spcBef>
              <a:spcAft>
                <a:spcPts val="0"/>
              </a:spcAft>
            </a:pPr>
            <a:r>
              <a:rPr lang="en-US" altLang="en-US" sz="2000" dirty="0">
                <a:solidFill>
                  <a:prstClr val="black"/>
                </a:solidFill>
              </a:rPr>
              <a:t>Allows mature viruses to exit the cell</a:t>
            </a:r>
          </a:p>
          <a:p>
            <a:pPr marL="265113" lvl="2" indent="-265113">
              <a:lnSpc>
                <a:spcPct val="80000"/>
              </a:lnSpc>
              <a:spcBef>
                <a:spcPts val="600"/>
              </a:spcBef>
              <a:spcAft>
                <a:spcPts val="0"/>
              </a:spcAft>
            </a:pPr>
            <a:r>
              <a:rPr lang="en-US" altLang="en-US" sz="2000" dirty="0">
                <a:solidFill>
                  <a:prstClr val="black"/>
                </a:solidFill>
              </a:rPr>
              <a:t>9 different types</a:t>
            </a:r>
          </a:p>
        </p:txBody>
      </p:sp>
      <p:sp>
        <p:nvSpPr>
          <p:cNvPr id="6" name="Text Placeholder 3">
            <a:extLst>
              <a:ext uri="{FF2B5EF4-FFF2-40B4-BE49-F238E27FC236}">
                <a16:creationId xmlns:a16="http://schemas.microsoft.com/office/drawing/2014/main" id="{8346A2E3-F219-498C-90CB-FAE994D9F53C}"/>
              </a:ext>
            </a:extLst>
          </p:cNvPr>
          <p:cNvSpPr>
            <a:spLocks noGrp="1"/>
          </p:cNvSpPr>
          <p:nvPr>
            <p:ph type="body" sz="quarter" idx="20"/>
          </p:nvPr>
        </p:nvSpPr>
        <p:spPr>
          <a:xfrm>
            <a:off x="842963" y="3919507"/>
            <a:ext cx="7952121" cy="2774819"/>
          </a:xfrm>
        </p:spPr>
        <p:txBody>
          <a:bodyPr>
            <a:noAutofit/>
          </a:bodyPr>
          <a:lstStyle/>
          <a:p>
            <a:pPr lvl="0">
              <a:lnSpc>
                <a:spcPct val="80000"/>
              </a:lnSpc>
              <a:spcAft>
                <a:spcPts val="1500"/>
              </a:spcAft>
            </a:pPr>
            <a:r>
              <a:rPr lang="en-US" altLang="en-US" sz="2700" dirty="0">
                <a:solidFill>
                  <a:prstClr val="black"/>
                </a:solidFill>
              </a:rPr>
              <a:t>Each type of spike can occur in different varieties. </a:t>
            </a:r>
          </a:p>
          <a:p>
            <a:pPr lvl="0">
              <a:lnSpc>
                <a:spcPct val="80000"/>
              </a:lnSpc>
              <a:spcAft>
                <a:spcPts val="1500"/>
              </a:spcAft>
            </a:pPr>
            <a:r>
              <a:rPr lang="en-US" altLang="en-US" sz="2700" dirty="0">
                <a:solidFill>
                  <a:prstClr val="black"/>
                </a:solidFill>
              </a:rPr>
              <a:t>Our immune system only recognizes H spikes and N spikes it has been exposed to.</a:t>
            </a:r>
          </a:p>
          <a:p>
            <a:pPr lvl="0">
              <a:lnSpc>
                <a:spcPct val="80000"/>
              </a:lnSpc>
              <a:spcAft>
                <a:spcPts val="1500"/>
              </a:spcAft>
            </a:pPr>
            <a:r>
              <a:rPr lang="en-US" altLang="en-US" sz="2700" dirty="0">
                <a:solidFill>
                  <a:prstClr val="black"/>
                </a:solidFill>
              </a:rPr>
              <a:t>Currently the H7N9 and H5N1 subtypes of flu virus are of great concern because they can potentially become pandemics (global outbreaks).</a:t>
            </a:r>
          </a:p>
        </p:txBody>
      </p:sp>
      <p:sp>
        <p:nvSpPr>
          <p:cNvPr id="4" name="Slide Number Placeholder 4">
            <a:extLst>
              <a:ext uri="{FF2B5EF4-FFF2-40B4-BE49-F238E27FC236}">
                <a16:creationId xmlns:a16="http://schemas.microsoft.com/office/drawing/2014/main" id="{6025AB9A-7698-4709-A07F-BA5B97823F40}"/>
              </a:ext>
            </a:extLst>
          </p:cNvPr>
          <p:cNvSpPr>
            <a:spLocks noGrp="1"/>
          </p:cNvSpPr>
          <p:nvPr>
            <p:ph type="sldNum" sz="quarter" idx="4"/>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2243188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E6EFD-39DD-46A5-B66F-BA5A0966A065}"/>
              </a:ext>
            </a:extLst>
          </p:cNvPr>
          <p:cNvSpPr>
            <a:spLocks noGrp="1"/>
          </p:cNvSpPr>
          <p:nvPr>
            <p:ph type="title"/>
          </p:nvPr>
        </p:nvSpPr>
        <p:spPr>
          <a:xfrm>
            <a:off x="595562" y="0"/>
            <a:ext cx="7952874" cy="1191126"/>
          </a:xfrm>
        </p:spPr>
        <p:txBody>
          <a:bodyPr/>
          <a:lstStyle/>
          <a:p>
            <a:r>
              <a:rPr lang="en-US" altLang="en-US" dirty="0"/>
              <a:t>Spikes of a Seasonal Flu and Bird Flu Virus</a:t>
            </a:r>
            <a:endParaRPr lang="en-IN" dirty="0"/>
          </a:p>
        </p:txBody>
      </p:sp>
      <p:pic>
        <p:nvPicPr>
          <p:cNvPr id="7" name="Picture 2" descr="A panel of two diagrams show the structure of human and bird influenza virus.">
            <a:extLst>
              <a:ext uri="{FF2B5EF4-FFF2-40B4-BE49-F238E27FC236}">
                <a16:creationId xmlns:a16="http://schemas.microsoft.com/office/drawing/2014/main" id="{75327122-9C46-4A31-9143-B37179624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0582" y="1505451"/>
            <a:ext cx="5899417" cy="4433302"/>
          </a:xfrm>
          <a:prstGeom prst="rect">
            <a:avLst/>
          </a:prstGeom>
        </p:spPr>
      </p:pic>
      <p:sp>
        <p:nvSpPr>
          <p:cNvPr id="5" name="Text Placeholder 3">
            <a:extLst>
              <a:ext uri="{FF2B5EF4-FFF2-40B4-BE49-F238E27FC236}">
                <a16:creationId xmlns:a16="http://schemas.microsoft.com/office/drawing/2014/main" id="{D3DB858D-D835-43F4-95FF-17EF3D182A1E}"/>
              </a:ext>
            </a:extLst>
          </p:cNvPr>
          <p:cNvSpPr>
            <a:spLocks noGrp="1"/>
          </p:cNvSpPr>
          <p:nvPr>
            <p:ph type="body" sz="quarter" idx="18"/>
          </p:nvPr>
        </p:nvSpPr>
        <p:spPr>
          <a:xfrm>
            <a:off x="4032529" y="6036431"/>
            <a:ext cx="1078941" cy="314325"/>
          </a:xfrm>
        </p:spPr>
        <p:txBody>
          <a:bodyPr>
            <a:normAutofit/>
          </a:bodyPr>
          <a:lstStyle/>
          <a:p>
            <a:r>
              <a:rPr lang="en-US" sz="1200" dirty="0">
                <a:solidFill>
                  <a:schemeClr val="tx1"/>
                </a:solidFill>
              </a:rPr>
              <a:t>Figure </a:t>
            </a:r>
            <a:r>
              <a:rPr lang="en-US" sz="1200" dirty="0"/>
              <a:t>20A</a:t>
            </a:r>
            <a:endParaRPr lang="en-US" sz="1200" dirty="0">
              <a:solidFill>
                <a:schemeClr val="tx1"/>
              </a:solidFill>
            </a:endParaRPr>
          </a:p>
        </p:txBody>
      </p:sp>
      <p:sp>
        <p:nvSpPr>
          <p:cNvPr id="6" name="Text Placeholder 4">
            <a:extLst>
              <a:ext uri="{FF2B5EF4-FFF2-40B4-BE49-F238E27FC236}">
                <a16:creationId xmlns:a16="http://schemas.microsoft.com/office/drawing/2014/main" id="{C130A03B-92AD-4D21-81C1-3115942450F7}"/>
              </a:ext>
            </a:extLst>
          </p:cNvPr>
          <p:cNvSpPr>
            <a:spLocks noGrp="1"/>
          </p:cNvSpPr>
          <p:nvPr>
            <p:ph type="body" sz="quarter" idx="19"/>
          </p:nvPr>
        </p:nvSpPr>
        <p:spPr>
          <a:xfrm>
            <a:off x="2954129" y="6350756"/>
            <a:ext cx="3235742"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DF856DA2-2CB6-49B2-8656-AC0E415F7C00}"/>
              </a:ext>
            </a:extLst>
          </p:cNvPr>
          <p:cNvSpPr>
            <a:spLocks noGrp="1"/>
          </p:cNvSpPr>
          <p:nvPr>
            <p:ph type="sldNum" sz="quarter" idx="4"/>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4197038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10210-DDE0-4DBE-BC28-155D35F28856}"/>
              </a:ext>
            </a:extLst>
          </p:cNvPr>
          <p:cNvSpPr>
            <a:spLocks noGrp="1"/>
          </p:cNvSpPr>
          <p:nvPr>
            <p:ph type="title"/>
          </p:nvPr>
        </p:nvSpPr>
        <p:spPr/>
        <p:txBody>
          <a:bodyPr/>
          <a:lstStyle/>
          <a:p>
            <a:r>
              <a:rPr lang="en-US" altLang="en-US" dirty="0"/>
              <a:t>Emerging Viruses</a:t>
            </a:r>
            <a:endParaRPr lang="en-IN" dirty="0"/>
          </a:p>
        </p:txBody>
      </p:sp>
      <p:sp>
        <p:nvSpPr>
          <p:cNvPr id="3" name="Text Placeholder 2">
            <a:extLst>
              <a:ext uri="{FF2B5EF4-FFF2-40B4-BE49-F238E27FC236}">
                <a16:creationId xmlns:a16="http://schemas.microsoft.com/office/drawing/2014/main" id="{F5ED8B94-A27F-4D25-A871-A1486D3728E2}"/>
              </a:ext>
            </a:extLst>
          </p:cNvPr>
          <p:cNvSpPr>
            <a:spLocks noGrp="1"/>
          </p:cNvSpPr>
          <p:nvPr>
            <p:ph type="body" sz="quarter" idx="19"/>
          </p:nvPr>
        </p:nvSpPr>
        <p:spPr>
          <a:xfrm>
            <a:off x="842963" y="984261"/>
            <a:ext cx="7623676" cy="5680820"/>
          </a:xfrm>
        </p:spPr>
        <p:txBody>
          <a:bodyPr>
            <a:normAutofit lnSpcReduction="10000"/>
          </a:bodyPr>
          <a:lstStyle/>
          <a:p>
            <a:pPr lvl="0">
              <a:lnSpc>
                <a:spcPct val="80000"/>
              </a:lnSpc>
              <a:spcAft>
                <a:spcPts val="1500"/>
              </a:spcAft>
            </a:pPr>
            <a:r>
              <a:rPr lang="en-US" altLang="en-US" sz="2700" dirty="0"/>
              <a:t>Emerging viruses are new or previously uncommon illnesses.</a:t>
            </a:r>
          </a:p>
          <a:p>
            <a:pPr marL="0" lvl="1" indent="0">
              <a:lnSpc>
                <a:spcPct val="80000"/>
              </a:lnSpc>
              <a:spcBef>
                <a:spcPts val="0"/>
              </a:spcBef>
              <a:buNone/>
            </a:pPr>
            <a:r>
              <a:rPr lang="en-US" altLang="en-US" sz="2400" dirty="0"/>
              <a:t>Examples are coronavirus (COVID), Zika, Middle East </a:t>
            </a:r>
            <a:r>
              <a:rPr lang="en-US" altLang="en-US" sz="2400" dirty="0" err="1"/>
              <a:t>repiratory</a:t>
            </a:r>
            <a:r>
              <a:rPr lang="en-US" altLang="en-US" sz="2400" dirty="0"/>
              <a:t> syndrome (MERS), AIDS, West Nile encephalitis, Ebola hemorrhagic fever, and avian influenza (bird flu).</a:t>
            </a:r>
          </a:p>
          <a:p>
            <a:pPr marL="0" lvl="1" indent="0">
              <a:lnSpc>
                <a:spcPct val="80000"/>
              </a:lnSpc>
              <a:spcBef>
                <a:spcPts val="1200"/>
              </a:spcBef>
              <a:buNone/>
            </a:pPr>
            <a:r>
              <a:rPr lang="en-US" altLang="en-US" sz="2400" dirty="0"/>
              <a:t>Several types of events can cause emergence of viruses </a:t>
            </a:r>
          </a:p>
          <a:p>
            <a:pPr marL="265113" lvl="2" indent="-265113">
              <a:lnSpc>
                <a:spcPct val="80000"/>
              </a:lnSpc>
              <a:spcBef>
                <a:spcPts val="1200"/>
              </a:spcBef>
            </a:pPr>
            <a:r>
              <a:rPr lang="en-US" altLang="en-US" sz="2000" dirty="0"/>
              <a:t>A virus may extend its range.</a:t>
            </a:r>
          </a:p>
          <a:p>
            <a:pPr marL="541338" lvl="3" indent="-276225">
              <a:lnSpc>
                <a:spcPct val="80000"/>
              </a:lnSpc>
              <a:spcBef>
                <a:spcPts val="1200"/>
              </a:spcBef>
            </a:pPr>
            <a:r>
              <a:rPr lang="en-US" altLang="en-US" sz="1700" dirty="0"/>
              <a:t>Example: West Nile was transported to US and took hold in birds and mosquitoes.</a:t>
            </a:r>
          </a:p>
          <a:p>
            <a:pPr marL="265113" lvl="2" indent="-265113">
              <a:lnSpc>
                <a:spcPct val="80000"/>
              </a:lnSpc>
              <a:spcBef>
                <a:spcPts val="1200"/>
              </a:spcBef>
            </a:pPr>
            <a:r>
              <a:rPr lang="en-US" altLang="en-US" sz="2000" dirty="0"/>
              <a:t>A genetic mutation may occur.</a:t>
            </a:r>
          </a:p>
          <a:p>
            <a:pPr marL="541338" lvl="3" indent="-276225">
              <a:lnSpc>
                <a:spcPct val="80000"/>
              </a:lnSpc>
              <a:spcBef>
                <a:spcPts val="1200"/>
              </a:spcBef>
            </a:pPr>
            <a:r>
              <a:rPr lang="en-US" altLang="en-US" sz="1700" dirty="0"/>
              <a:t>Example: Influenza strains H5N1, H1N1, and H7N9 were created through mutation of flu viruses which only infected animals.</a:t>
            </a:r>
          </a:p>
          <a:p>
            <a:pPr marL="541338" lvl="3" indent="-276225">
              <a:lnSpc>
                <a:spcPct val="80000"/>
              </a:lnSpc>
              <a:spcBef>
                <a:spcPts val="1200"/>
              </a:spcBef>
            </a:pPr>
            <a:r>
              <a:rPr lang="en-US" altLang="en-US" sz="1700" dirty="0"/>
              <a:t>It is necessary to obtain flu vaccine each year due to the rapidly mutating flu virus.</a:t>
            </a:r>
          </a:p>
        </p:txBody>
      </p:sp>
      <p:sp>
        <p:nvSpPr>
          <p:cNvPr id="4" name="Slide Number Placeholder 3">
            <a:extLst>
              <a:ext uri="{FF2B5EF4-FFF2-40B4-BE49-F238E27FC236}">
                <a16:creationId xmlns:a16="http://schemas.microsoft.com/office/drawing/2014/main" id="{D20F8EA0-59A1-45F0-B98C-CBD35DECEA72}"/>
              </a:ext>
            </a:extLst>
          </p:cNvPr>
          <p:cNvSpPr>
            <a:spLocks noGrp="1"/>
          </p:cNvSpPr>
          <p:nvPr>
            <p:ph type="sldNum" sz="quarter" idx="4"/>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2319498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D1383-C06F-4085-B1D8-F3F711BCF3B1}"/>
              </a:ext>
            </a:extLst>
          </p:cNvPr>
          <p:cNvSpPr>
            <a:spLocks noGrp="1"/>
          </p:cNvSpPr>
          <p:nvPr>
            <p:ph type="title"/>
          </p:nvPr>
        </p:nvSpPr>
        <p:spPr>
          <a:xfrm>
            <a:off x="8546" y="1"/>
            <a:ext cx="9144000" cy="948213"/>
          </a:xfrm>
        </p:spPr>
        <p:txBody>
          <a:bodyPr/>
          <a:lstStyle/>
          <a:p>
            <a:r>
              <a:rPr lang="en-US" altLang="en-US" dirty="0"/>
              <a:t>Emerging Viruses Illustrated</a:t>
            </a:r>
            <a:endParaRPr lang="en-IN" dirty="0"/>
          </a:p>
        </p:txBody>
      </p:sp>
      <p:pic>
        <p:nvPicPr>
          <p:cNvPr id="7" name="Picture 2" descr="Shows emerging diseases in different regions of the world including the Americas, Eurasia, Africa, Australia and Indonesia">
            <a:extLst>
              <a:ext uri="{FF2B5EF4-FFF2-40B4-BE49-F238E27FC236}">
                <a16:creationId xmlns:a16="http://schemas.microsoft.com/office/drawing/2014/main" id="{E0E0C9F8-8E5B-4DBC-9B00-263565F0EF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568" y="1579376"/>
            <a:ext cx="7984864" cy="4018166"/>
          </a:xfrm>
          <a:prstGeom prst="rect">
            <a:avLst/>
          </a:prstGeom>
        </p:spPr>
      </p:pic>
      <p:sp>
        <p:nvSpPr>
          <p:cNvPr id="5" name="Text Placeholder 3">
            <a:extLst>
              <a:ext uri="{FF2B5EF4-FFF2-40B4-BE49-F238E27FC236}">
                <a16:creationId xmlns:a16="http://schemas.microsoft.com/office/drawing/2014/main" id="{6C1680C3-9D61-4F76-AD2E-1FDFE6B708E8}"/>
              </a:ext>
            </a:extLst>
          </p:cNvPr>
          <p:cNvSpPr>
            <a:spLocks noGrp="1"/>
          </p:cNvSpPr>
          <p:nvPr>
            <p:ph type="body" sz="quarter" idx="18"/>
          </p:nvPr>
        </p:nvSpPr>
        <p:spPr>
          <a:xfrm>
            <a:off x="3882135" y="5895568"/>
            <a:ext cx="1379730"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.4</a:t>
            </a:r>
          </a:p>
        </p:txBody>
      </p:sp>
      <p:sp>
        <p:nvSpPr>
          <p:cNvPr id="6" name="Text Placeholder 4">
            <a:extLst>
              <a:ext uri="{FF2B5EF4-FFF2-40B4-BE49-F238E27FC236}">
                <a16:creationId xmlns:a16="http://schemas.microsoft.com/office/drawing/2014/main" id="{10147C61-BA8C-427D-9034-02B8E851720E}"/>
              </a:ext>
            </a:extLst>
          </p:cNvPr>
          <p:cNvSpPr>
            <a:spLocks noGrp="1"/>
          </p:cNvSpPr>
          <p:nvPr>
            <p:ph type="body" sz="quarter" idx="19"/>
          </p:nvPr>
        </p:nvSpPr>
        <p:spPr>
          <a:xfrm>
            <a:off x="3008271" y="6228704"/>
            <a:ext cx="3127458"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4D5AB541-CB36-482D-BA76-907B7F4C6129}"/>
              </a:ext>
            </a:extLst>
          </p:cNvPr>
          <p:cNvSpPr>
            <a:spLocks noGrp="1"/>
          </p:cNvSpPr>
          <p:nvPr>
            <p:ph type="sldNum" sz="quarter" idx="4"/>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306922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7AC88-C2F4-4BD7-8F6F-F0F3200ACA78}"/>
              </a:ext>
            </a:extLst>
          </p:cNvPr>
          <p:cNvSpPr>
            <a:spLocks noGrp="1"/>
          </p:cNvSpPr>
          <p:nvPr>
            <p:ph type="title"/>
          </p:nvPr>
        </p:nvSpPr>
        <p:spPr/>
        <p:txBody>
          <a:bodyPr/>
          <a:lstStyle/>
          <a:p>
            <a:r>
              <a:rPr lang="en-US" altLang="en-US" dirty="0"/>
              <a:t>Viroids and Prions</a:t>
            </a:r>
            <a:endParaRPr lang="en-IN" dirty="0"/>
          </a:p>
        </p:txBody>
      </p:sp>
      <p:sp>
        <p:nvSpPr>
          <p:cNvPr id="3" name="Text Placeholder 2">
            <a:extLst>
              <a:ext uri="{FF2B5EF4-FFF2-40B4-BE49-F238E27FC236}">
                <a16:creationId xmlns:a16="http://schemas.microsoft.com/office/drawing/2014/main" id="{4568E3ED-13AA-4803-8291-F61869F3AEE0}"/>
              </a:ext>
            </a:extLst>
          </p:cNvPr>
          <p:cNvSpPr>
            <a:spLocks noGrp="1"/>
          </p:cNvSpPr>
          <p:nvPr>
            <p:ph type="body" sz="quarter" idx="19"/>
          </p:nvPr>
        </p:nvSpPr>
        <p:spPr>
          <a:xfrm>
            <a:off x="842963" y="921119"/>
            <a:ext cx="7623676" cy="5874030"/>
          </a:xfrm>
        </p:spPr>
        <p:txBody>
          <a:bodyPr>
            <a:normAutofit/>
          </a:bodyPr>
          <a:lstStyle/>
          <a:p>
            <a:pPr lvl="0">
              <a:lnSpc>
                <a:spcPct val="80000"/>
              </a:lnSpc>
              <a:spcAft>
                <a:spcPts val="1500"/>
              </a:spcAft>
            </a:pPr>
            <a:r>
              <a:rPr lang="en-US" altLang="en-US" sz="2700" dirty="0">
                <a:solidFill>
                  <a:prstClr val="black"/>
                </a:solidFill>
              </a:rPr>
              <a:t>Viruses are best known for causing infectious diseases in plants and animals.</a:t>
            </a:r>
          </a:p>
          <a:p>
            <a:pPr marL="0" lvl="1" indent="0">
              <a:lnSpc>
                <a:spcPct val="80000"/>
              </a:lnSpc>
              <a:spcBef>
                <a:spcPts val="0"/>
              </a:spcBef>
              <a:buNone/>
            </a:pPr>
            <a:r>
              <a:rPr lang="en-US" altLang="en-US" sz="2400" dirty="0">
                <a:solidFill>
                  <a:prstClr val="black"/>
                </a:solidFill>
              </a:rPr>
              <a:t>Herpes, HIV, cancer</a:t>
            </a:r>
          </a:p>
          <a:p>
            <a:pPr marL="273050" lvl="2" indent="-273050">
              <a:lnSpc>
                <a:spcPct val="80000"/>
              </a:lnSpc>
              <a:spcBef>
                <a:spcPts val="600"/>
              </a:spcBef>
            </a:pPr>
            <a:r>
              <a:rPr lang="en-US" altLang="en-US" sz="2000" dirty="0">
                <a:solidFill>
                  <a:prstClr val="black"/>
                </a:solidFill>
              </a:rPr>
              <a:t>Viruses lack metabolism; thus, antibiotics have no effect.</a:t>
            </a:r>
          </a:p>
          <a:p>
            <a:pPr marL="0" lvl="1" indent="0">
              <a:lnSpc>
                <a:spcPct val="80000"/>
              </a:lnSpc>
              <a:spcBef>
                <a:spcPts val="600"/>
              </a:spcBef>
              <a:buNone/>
            </a:pPr>
            <a:r>
              <a:rPr lang="en-US" altLang="en-US" sz="2400" b="1" dirty="0">
                <a:solidFill>
                  <a:srgbClr val="D90000"/>
                </a:solidFill>
              </a:rPr>
              <a:t>Viroids</a:t>
            </a:r>
          </a:p>
          <a:p>
            <a:pPr marL="273050" lvl="2" indent="-273050">
              <a:lnSpc>
                <a:spcPct val="80000"/>
              </a:lnSpc>
              <a:spcBef>
                <a:spcPts val="600"/>
              </a:spcBef>
              <a:spcAft>
                <a:spcPts val="0"/>
              </a:spcAft>
            </a:pPr>
            <a:r>
              <a:rPr lang="en-US" altLang="en-US" sz="2000" dirty="0">
                <a:solidFill>
                  <a:prstClr val="black"/>
                </a:solidFill>
              </a:rPr>
              <a:t>Naked strands of RNA</a:t>
            </a:r>
          </a:p>
          <a:p>
            <a:pPr marL="273050" lvl="2" indent="-273050">
              <a:lnSpc>
                <a:spcPct val="80000"/>
              </a:lnSpc>
              <a:spcBef>
                <a:spcPts val="600"/>
              </a:spcBef>
              <a:spcAft>
                <a:spcPts val="0"/>
              </a:spcAft>
            </a:pPr>
            <a:r>
              <a:rPr lang="en-US" altLang="en-US" sz="2000" dirty="0">
                <a:solidFill>
                  <a:prstClr val="black"/>
                </a:solidFill>
              </a:rPr>
              <a:t>Many crop diseases</a:t>
            </a:r>
          </a:p>
          <a:p>
            <a:pPr marL="0" lvl="1" indent="0">
              <a:lnSpc>
                <a:spcPct val="80000"/>
              </a:lnSpc>
              <a:spcBef>
                <a:spcPts val="600"/>
              </a:spcBef>
              <a:spcAft>
                <a:spcPts val="0"/>
              </a:spcAft>
              <a:buNone/>
            </a:pPr>
            <a:r>
              <a:rPr lang="en-US" altLang="en-US" sz="2400" b="1" dirty="0">
                <a:solidFill>
                  <a:srgbClr val="D90000"/>
                </a:solidFill>
              </a:rPr>
              <a:t>Prions</a:t>
            </a:r>
          </a:p>
          <a:p>
            <a:pPr marL="273050" lvl="2" indent="-273050">
              <a:lnSpc>
                <a:spcPct val="80000"/>
              </a:lnSpc>
              <a:spcBef>
                <a:spcPts val="600"/>
              </a:spcBef>
              <a:spcAft>
                <a:spcPts val="0"/>
              </a:spcAft>
            </a:pPr>
            <a:r>
              <a:rPr lang="en-US" altLang="en-US" sz="2000" dirty="0">
                <a:solidFill>
                  <a:prstClr val="black"/>
                </a:solidFill>
              </a:rPr>
              <a:t>Protein molecules with contagious tertiary structure</a:t>
            </a:r>
          </a:p>
          <a:p>
            <a:pPr marL="273050" lvl="2" indent="-273050">
              <a:lnSpc>
                <a:spcPct val="80000"/>
              </a:lnSpc>
              <a:spcBef>
                <a:spcPts val="600"/>
              </a:spcBef>
              <a:spcAft>
                <a:spcPts val="0"/>
              </a:spcAft>
            </a:pPr>
            <a:r>
              <a:rPr lang="en-US" altLang="en-US" sz="2000" b="1" dirty="0">
                <a:solidFill>
                  <a:prstClr val="black"/>
                </a:solidFill>
              </a:rPr>
              <a:t>TSEs</a:t>
            </a:r>
            <a:r>
              <a:rPr lang="en-US" altLang="en-US" sz="2000" dirty="0">
                <a:solidFill>
                  <a:prstClr val="black"/>
                </a:solidFill>
              </a:rPr>
              <a:t> are </a:t>
            </a:r>
            <a:r>
              <a:rPr lang="en-US" altLang="en-US" sz="2000" b="1" dirty="0">
                <a:solidFill>
                  <a:srgbClr val="D90000"/>
                </a:solidFill>
              </a:rPr>
              <a:t>neurodegenerative diseases </a:t>
            </a:r>
            <a:r>
              <a:rPr lang="en-US" altLang="en-US" sz="2000" dirty="0">
                <a:solidFill>
                  <a:prstClr val="black"/>
                </a:solidFill>
              </a:rPr>
              <a:t>which destroy nerve tissue in the brain.</a:t>
            </a:r>
          </a:p>
          <a:p>
            <a:pPr marL="450850" lvl="3" indent="-177800">
              <a:lnSpc>
                <a:spcPct val="80000"/>
              </a:lnSpc>
              <a:spcBef>
                <a:spcPts val="600"/>
              </a:spcBef>
            </a:pPr>
            <a:r>
              <a:rPr lang="en-US" altLang="en-US" sz="1700" dirty="0">
                <a:solidFill>
                  <a:prstClr val="black"/>
                </a:solidFill>
              </a:rPr>
              <a:t>They are untreatable and fatal.</a:t>
            </a:r>
          </a:p>
          <a:p>
            <a:pPr marL="273050" lvl="2" indent="-273050">
              <a:lnSpc>
                <a:spcPct val="80000"/>
              </a:lnSpc>
              <a:spcBef>
                <a:spcPts val="600"/>
              </a:spcBef>
              <a:spcAft>
                <a:spcPts val="0"/>
              </a:spcAft>
            </a:pPr>
            <a:r>
              <a:rPr lang="en-US" altLang="en-US" sz="2000" dirty="0">
                <a:solidFill>
                  <a:prstClr val="black"/>
                </a:solidFill>
              </a:rPr>
              <a:t>Some human and other animal diseases: Mad cow disease</a:t>
            </a:r>
          </a:p>
          <a:p>
            <a:pPr marL="273050" lvl="2" indent="-273050">
              <a:lnSpc>
                <a:spcPct val="80000"/>
              </a:lnSpc>
              <a:spcBef>
                <a:spcPts val="600"/>
              </a:spcBef>
              <a:spcAft>
                <a:spcPts val="0"/>
              </a:spcAft>
            </a:pPr>
            <a:r>
              <a:rPr lang="en-US" altLang="en-US" sz="2000" dirty="0">
                <a:solidFill>
                  <a:prstClr val="black"/>
                </a:solidFill>
              </a:rPr>
              <a:t>Some practices, including eating brains of cattle, transmitted the cattle disease (BSE or bovine spongiform encephalopathy) to humans.</a:t>
            </a:r>
          </a:p>
        </p:txBody>
      </p:sp>
      <p:sp>
        <p:nvSpPr>
          <p:cNvPr id="4" name="Slide Number Placeholder 3">
            <a:extLst>
              <a:ext uri="{FF2B5EF4-FFF2-40B4-BE49-F238E27FC236}">
                <a16:creationId xmlns:a16="http://schemas.microsoft.com/office/drawing/2014/main" id="{3807179D-D780-4F27-AE37-462D9EBCDEF8}"/>
              </a:ext>
            </a:extLst>
          </p:cNvPr>
          <p:cNvSpPr>
            <a:spLocks noGrp="1"/>
          </p:cNvSpPr>
          <p:nvPr>
            <p:ph type="sldNum" sz="quarter" idx="4"/>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199035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5C383-65F5-424D-A9B1-6D8FA6497084}"/>
              </a:ext>
            </a:extLst>
          </p:cNvPr>
          <p:cNvSpPr>
            <a:spLocks noGrp="1"/>
          </p:cNvSpPr>
          <p:nvPr>
            <p:ph type="title"/>
          </p:nvPr>
        </p:nvSpPr>
        <p:spPr/>
        <p:txBody>
          <a:bodyPr/>
          <a:lstStyle/>
          <a:p>
            <a:r>
              <a:rPr lang="en-US" altLang="en-US" dirty="0"/>
              <a:t>20.2 Prokaryotes</a:t>
            </a:r>
            <a:endParaRPr lang="en-IN" dirty="0"/>
          </a:p>
        </p:txBody>
      </p:sp>
      <p:sp>
        <p:nvSpPr>
          <p:cNvPr id="5" name="Text Placeholder 2">
            <a:extLst>
              <a:ext uri="{FF2B5EF4-FFF2-40B4-BE49-F238E27FC236}">
                <a16:creationId xmlns:a16="http://schemas.microsoft.com/office/drawing/2014/main" id="{8AEEF6E9-9436-4DEC-BA62-BDD321EB5194}"/>
              </a:ext>
            </a:extLst>
          </p:cNvPr>
          <p:cNvSpPr>
            <a:spLocks noGrp="1"/>
          </p:cNvSpPr>
          <p:nvPr>
            <p:ph type="body" sz="quarter" idx="19"/>
          </p:nvPr>
        </p:nvSpPr>
        <p:spPr>
          <a:xfrm>
            <a:off x="842963" y="1177180"/>
            <a:ext cx="7977428" cy="2961682"/>
          </a:xfrm>
        </p:spPr>
        <p:txBody>
          <a:bodyPr>
            <a:normAutofit/>
          </a:bodyPr>
          <a:lstStyle/>
          <a:p>
            <a:pPr lvl="0">
              <a:lnSpc>
                <a:spcPct val="80000"/>
              </a:lnSpc>
              <a:spcAft>
                <a:spcPts val="1500"/>
              </a:spcAft>
            </a:pPr>
            <a:r>
              <a:rPr lang="en-US" altLang="en-US" sz="3000" dirty="0">
                <a:solidFill>
                  <a:prstClr val="black"/>
                </a:solidFill>
              </a:rPr>
              <a:t>Include bacteria and archaea, which are fully functioning cells</a:t>
            </a:r>
          </a:p>
          <a:p>
            <a:pPr lvl="0">
              <a:lnSpc>
                <a:spcPct val="80000"/>
              </a:lnSpc>
              <a:spcAft>
                <a:spcPts val="1500"/>
              </a:spcAft>
            </a:pPr>
            <a:r>
              <a:rPr lang="en-US" altLang="en-US" sz="3000" dirty="0">
                <a:solidFill>
                  <a:prstClr val="black"/>
                </a:solidFill>
              </a:rPr>
              <a:t>Means “before a nucleus”</a:t>
            </a:r>
          </a:p>
          <a:p>
            <a:pPr lvl="0">
              <a:lnSpc>
                <a:spcPct val="80000"/>
              </a:lnSpc>
              <a:spcAft>
                <a:spcPts val="1500"/>
              </a:spcAft>
            </a:pPr>
            <a:r>
              <a:rPr lang="en-US" altLang="en-US" sz="3000" dirty="0">
                <a:solidFill>
                  <a:prstClr val="black"/>
                </a:solidFill>
              </a:rPr>
              <a:t>Microscopic</a:t>
            </a:r>
          </a:p>
          <a:p>
            <a:pPr marL="285750" lvl="1">
              <a:lnSpc>
                <a:spcPct val="80000"/>
              </a:lnSpc>
              <a:spcBef>
                <a:spcPts val="0"/>
              </a:spcBef>
            </a:pPr>
            <a:r>
              <a:rPr lang="en-US" altLang="en-US" sz="2600" dirty="0">
                <a:solidFill>
                  <a:prstClr val="black"/>
                </a:solidFill>
              </a:rPr>
              <a:t>Range in size from 1 to 10 µm in length and 0.7 to 1.5 µm in width</a:t>
            </a:r>
          </a:p>
        </p:txBody>
      </p:sp>
      <p:sp>
        <p:nvSpPr>
          <p:cNvPr id="6" name="Text Placeholder 3">
            <a:extLst>
              <a:ext uri="{FF2B5EF4-FFF2-40B4-BE49-F238E27FC236}">
                <a16:creationId xmlns:a16="http://schemas.microsoft.com/office/drawing/2014/main" id="{0DA7DF93-FCA9-43D4-92E2-EF92283D9364}"/>
              </a:ext>
            </a:extLst>
          </p:cNvPr>
          <p:cNvSpPr>
            <a:spLocks noGrp="1"/>
          </p:cNvSpPr>
          <p:nvPr>
            <p:ph type="body" sz="quarter" idx="20"/>
          </p:nvPr>
        </p:nvSpPr>
        <p:spPr>
          <a:xfrm>
            <a:off x="950912" y="4138862"/>
            <a:ext cx="7977429" cy="2153653"/>
          </a:xfrm>
        </p:spPr>
        <p:txBody>
          <a:bodyPr>
            <a:noAutofit/>
          </a:bodyPr>
          <a:lstStyle/>
          <a:p>
            <a:pPr lvl="0">
              <a:lnSpc>
                <a:spcPct val="80000"/>
              </a:lnSpc>
              <a:spcAft>
                <a:spcPts val="1500"/>
              </a:spcAft>
            </a:pPr>
            <a:r>
              <a:rPr lang="en-US" altLang="en-US" sz="3000" dirty="0">
                <a:solidFill>
                  <a:prstClr val="black"/>
                </a:solidFill>
              </a:rPr>
              <a:t>Abundant in air, water, and soil and on most objects</a:t>
            </a:r>
          </a:p>
          <a:p>
            <a:pPr lvl="0">
              <a:lnSpc>
                <a:spcPct val="80000"/>
              </a:lnSpc>
              <a:spcAft>
                <a:spcPts val="1500"/>
              </a:spcAft>
            </a:pPr>
            <a:r>
              <a:rPr lang="en-US" altLang="en-US" sz="3000" dirty="0">
                <a:solidFill>
                  <a:prstClr val="black"/>
                </a:solidFill>
              </a:rPr>
              <a:t>Louis Pasteur showed that a previously sterilized broth cannot become cloudy with growth unless it is exposed directly to the air.</a:t>
            </a:r>
          </a:p>
        </p:txBody>
      </p:sp>
      <p:sp>
        <p:nvSpPr>
          <p:cNvPr id="4" name="Slide Number Placeholder 4">
            <a:extLst>
              <a:ext uri="{FF2B5EF4-FFF2-40B4-BE49-F238E27FC236}">
                <a16:creationId xmlns:a16="http://schemas.microsoft.com/office/drawing/2014/main" id="{DF4C70D7-74C9-475B-86FB-9E081EF53884}"/>
              </a:ext>
            </a:extLst>
          </p:cNvPr>
          <p:cNvSpPr>
            <a:spLocks noGrp="1"/>
          </p:cNvSpPr>
          <p:nvPr>
            <p:ph type="sldNum" sz="quarter" idx="4"/>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2665086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2E89-E7FC-454F-B73B-7E0F0D5A43A8}"/>
              </a:ext>
            </a:extLst>
          </p:cNvPr>
          <p:cNvSpPr>
            <a:spLocks noGrp="1"/>
          </p:cNvSpPr>
          <p:nvPr>
            <p:ph type="title"/>
          </p:nvPr>
        </p:nvSpPr>
        <p:spPr/>
        <p:txBody>
          <a:bodyPr/>
          <a:lstStyle/>
          <a:p>
            <a:r>
              <a:rPr lang="en-US" altLang="en-US" dirty="0"/>
              <a:t>Pasteur’s Experiments</a:t>
            </a:r>
            <a:endParaRPr lang="en-IN" dirty="0"/>
          </a:p>
        </p:txBody>
      </p:sp>
      <p:pic>
        <p:nvPicPr>
          <p:cNvPr id="8" name="Picture 2" descr="Hypothesis A: Bacteria arise spontaneously in a broth. Hypothesis B: Bacteria in air contaminate a broth. Hypothesis B is supported.">
            <a:extLst>
              <a:ext uri="{FF2B5EF4-FFF2-40B4-BE49-F238E27FC236}">
                <a16:creationId xmlns:a16="http://schemas.microsoft.com/office/drawing/2014/main" id="{3FA11CFB-8928-4286-AE24-9E399DCA804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4000"/>
                    </a14:imgEffect>
                  </a14:imgLayer>
                </a14:imgProps>
              </a:ext>
              <a:ext uri="{28A0092B-C50C-407E-A947-70E740481C1C}">
                <a14:useLocalDpi xmlns:a14="http://schemas.microsoft.com/office/drawing/2010/main" val="0"/>
              </a:ext>
            </a:extLst>
          </a:blip>
          <a:stretch>
            <a:fillRect/>
          </a:stretch>
        </p:blipFill>
        <p:spPr>
          <a:xfrm>
            <a:off x="589225" y="991585"/>
            <a:ext cx="7964424" cy="4486656"/>
          </a:xfrm>
          <a:prstGeom prst="rect">
            <a:avLst/>
          </a:prstGeom>
        </p:spPr>
      </p:pic>
      <p:sp>
        <p:nvSpPr>
          <p:cNvPr id="5" name="Text Placeholder 3">
            <a:extLst>
              <a:ext uri="{FF2B5EF4-FFF2-40B4-BE49-F238E27FC236}">
                <a16:creationId xmlns:a16="http://schemas.microsoft.com/office/drawing/2014/main" id="{4F378E23-1A96-431D-BE9B-1470A9BABF53}"/>
              </a:ext>
            </a:extLst>
          </p:cNvPr>
          <p:cNvSpPr>
            <a:spLocks noGrp="1"/>
          </p:cNvSpPr>
          <p:nvPr>
            <p:ph type="body" sz="quarter" idx="18"/>
          </p:nvPr>
        </p:nvSpPr>
        <p:spPr>
          <a:xfrm>
            <a:off x="3917665" y="5709252"/>
            <a:ext cx="1307541"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.5</a:t>
            </a:r>
          </a:p>
        </p:txBody>
      </p:sp>
      <p:sp>
        <p:nvSpPr>
          <p:cNvPr id="6" name="Text Placeholder 4">
            <a:extLst>
              <a:ext uri="{FF2B5EF4-FFF2-40B4-BE49-F238E27FC236}">
                <a16:creationId xmlns:a16="http://schemas.microsoft.com/office/drawing/2014/main" id="{6756457C-0EF9-4ACC-9FDD-A08D4890943C}"/>
              </a:ext>
            </a:extLst>
          </p:cNvPr>
          <p:cNvSpPr>
            <a:spLocks noGrp="1"/>
          </p:cNvSpPr>
          <p:nvPr>
            <p:ph type="body" sz="quarter" idx="19"/>
          </p:nvPr>
        </p:nvSpPr>
        <p:spPr>
          <a:xfrm>
            <a:off x="2977628" y="6150242"/>
            <a:ext cx="3187616" cy="314325"/>
          </a:xfrm>
        </p:spPr>
        <p:txBody>
          <a:bodyPr>
            <a:normAutofit/>
          </a:bodyPr>
          <a:lstStyle/>
          <a:p>
            <a:r>
              <a:rPr lang="en-US" sz="1200" dirty="0">
                <a:hlinkClick r:id="rId4"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2A54486B-1F73-4A64-BC7F-1C161599C4AC}"/>
              </a:ext>
            </a:extLst>
          </p:cNvPr>
          <p:cNvSpPr>
            <a:spLocks noGrp="1"/>
          </p:cNvSpPr>
          <p:nvPr>
            <p:ph type="sldNum" sz="quarter" idx="4"/>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510291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67C5-EEAB-40F3-9572-BD7151EAD795}"/>
              </a:ext>
            </a:extLst>
          </p:cNvPr>
          <p:cNvSpPr>
            <a:spLocks noGrp="1"/>
          </p:cNvSpPr>
          <p:nvPr>
            <p:ph type="title"/>
          </p:nvPr>
        </p:nvSpPr>
        <p:spPr/>
        <p:txBody>
          <a:bodyPr/>
          <a:lstStyle/>
          <a:p>
            <a:r>
              <a:rPr lang="en-US" altLang="en-US" dirty="0"/>
              <a:t>Structure of Prokaryotes</a:t>
            </a:r>
            <a:endParaRPr lang="en-IN" dirty="0"/>
          </a:p>
        </p:txBody>
      </p:sp>
      <p:sp>
        <p:nvSpPr>
          <p:cNvPr id="3" name="Text Placeholder 2">
            <a:extLst>
              <a:ext uri="{FF2B5EF4-FFF2-40B4-BE49-F238E27FC236}">
                <a16:creationId xmlns:a16="http://schemas.microsoft.com/office/drawing/2014/main" id="{0633817D-6DD2-45D0-B397-A1A6F1F97C64}"/>
              </a:ext>
            </a:extLst>
          </p:cNvPr>
          <p:cNvSpPr>
            <a:spLocks noGrp="1"/>
          </p:cNvSpPr>
          <p:nvPr>
            <p:ph type="body" sz="quarter" idx="19"/>
          </p:nvPr>
        </p:nvSpPr>
        <p:spPr>
          <a:xfrm>
            <a:off x="842962" y="1177180"/>
            <a:ext cx="7921027" cy="4778452"/>
          </a:xfrm>
        </p:spPr>
        <p:txBody>
          <a:bodyPr>
            <a:normAutofit/>
          </a:bodyPr>
          <a:lstStyle/>
          <a:p>
            <a:pPr marL="285750" lvl="1" indent="-285750">
              <a:spcBef>
                <a:spcPts val="0"/>
              </a:spcBef>
            </a:pPr>
            <a:r>
              <a:rPr lang="en-US" altLang="en-US" sz="2800" dirty="0">
                <a:solidFill>
                  <a:prstClr val="black"/>
                </a:solidFill>
              </a:rPr>
              <a:t>Lack a membrane-bounded nucleus (DNA in nucleoid region)</a:t>
            </a:r>
          </a:p>
          <a:p>
            <a:pPr marL="285750" lvl="1" indent="-285750"/>
            <a:r>
              <a:rPr lang="en-US" altLang="en-US" sz="2800" dirty="0">
                <a:solidFill>
                  <a:prstClr val="black"/>
                </a:solidFill>
              </a:rPr>
              <a:t>Outer cell wall</a:t>
            </a:r>
          </a:p>
          <a:p>
            <a:pPr marL="285750" lvl="1" indent="-285750"/>
            <a:r>
              <a:rPr lang="en-US" altLang="en-US" sz="2800" dirty="0">
                <a:solidFill>
                  <a:prstClr val="black"/>
                </a:solidFill>
              </a:rPr>
              <a:t>Some move by means of </a:t>
            </a:r>
            <a:r>
              <a:rPr lang="en-US" altLang="en-US" sz="2800" b="1" dirty="0"/>
              <a:t>flagella</a:t>
            </a:r>
            <a:r>
              <a:rPr lang="en-US" altLang="en-US" sz="2800" b="1" dirty="0">
                <a:solidFill>
                  <a:srgbClr val="ACCBF9">
                    <a:lumMod val="25000"/>
                  </a:srgbClr>
                </a:solidFill>
              </a:rPr>
              <a:t>.</a:t>
            </a:r>
          </a:p>
          <a:p>
            <a:pPr marL="285750" lvl="1" indent="-285750"/>
            <a:r>
              <a:rPr lang="en-US" altLang="en-US" sz="2800" dirty="0">
                <a:solidFill>
                  <a:prstClr val="black"/>
                </a:solidFill>
              </a:rPr>
              <a:t>Lack membranous organelles</a:t>
            </a:r>
          </a:p>
          <a:p>
            <a:pPr marL="285750" lvl="1" indent="-285750"/>
            <a:r>
              <a:rPr lang="en-US" altLang="en-US" sz="2800" dirty="0">
                <a:solidFill>
                  <a:prstClr val="black"/>
                </a:solidFill>
              </a:rPr>
              <a:t>May have accessory rings of DNA (</a:t>
            </a:r>
            <a:r>
              <a:rPr lang="en-US" altLang="en-US" sz="2800" b="1" dirty="0"/>
              <a:t>plasmids</a:t>
            </a:r>
            <a:r>
              <a:rPr lang="en-US" altLang="en-US" sz="2800" dirty="0">
                <a:solidFill>
                  <a:prstClr val="black"/>
                </a:solidFill>
              </a:rPr>
              <a:t>)</a:t>
            </a:r>
          </a:p>
        </p:txBody>
      </p:sp>
      <p:sp>
        <p:nvSpPr>
          <p:cNvPr id="4" name="Slide Number Placeholder 3">
            <a:extLst>
              <a:ext uri="{FF2B5EF4-FFF2-40B4-BE49-F238E27FC236}">
                <a16:creationId xmlns:a16="http://schemas.microsoft.com/office/drawing/2014/main" id="{F84B1C74-EC92-45E7-95A4-BC1E6AA01518}"/>
              </a:ext>
            </a:extLst>
          </p:cNvPr>
          <p:cNvSpPr>
            <a:spLocks noGrp="1"/>
          </p:cNvSpPr>
          <p:nvPr>
            <p:ph type="sldNum" sz="quarter" idx="4"/>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709153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F6DBC-E586-49D2-A1BE-9A50C6473E12}"/>
              </a:ext>
            </a:extLst>
          </p:cNvPr>
          <p:cNvSpPr>
            <a:spLocks noGrp="1"/>
          </p:cNvSpPr>
          <p:nvPr>
            <p:ph type="title"/>
          </p:nvPr>
        </p:nvSpPr>
        <p:spPr/>
        <p:txBody>
          <a:bodyPr/>
          <a:lstStyle/>
          <a:p>
            <a:r>
              <a:rPr lang="en-US" altLang="en-US" dirty="0"/>
              <a:t>Prokaryote Structure</a:t>
            </a:r>
            <a:endParaRPr lang="en-IN" dirty="0"/>
          </a:p>
        </p:txBody>
      </p:sp>
      <p:pic>
        <p:nvPicPr>
          <p:cNvPr id="8" name="Picture 2" descr="Flow chart shows the organization of a typical prokaryotic cell.">
            <a:extLst>
              <a:ext uri="{FF2B5EF4-FFF2-40B4-BE49-F238E27FC236}">
                <a16:creationId xmlns:a16="http://schemas.microsoft.com/office/drawing/2014/main" id="{30E6152A-012C-435B-A60D-FE798FAE63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626" y="1446013"/>
            <a:ext cx="7010747" cy="3447720"/>
          </a:xfrm>
          <a:prstGeom prst="rect">
            <a:avLst/>
          </a:prstGeom>
        </p:spPr>
      </p:pic>
      <p:sp>
        <p:nvSpPr>
          <p:cNvPr id="3" name="Text Placeholder 3">
            <a:extLst>
              <a:ext uri="{FF2B5EF4-FFF2-40B4-BE49-F238E27FC236}">
                <a16:creationId xmlns:a16="http://schemas.microsoft.com/office/drawing/2014/main" id="{F65EE776-B067-446B-A533-09F05C5D6E8F}"/>
              </a:ext>
            </a:extLst>
          </p:cNvPr>
          <p:cNvSpPr>
            <a:spLocks noGrp="1"/>
          </p:cNvSpPr>
          <p:nvPr>
            <p:ph type="body" sz="quarter" idx="18"/>
          </p:nvPr>
        </p:nvSpPr>
        <p:spPr>
          <a:xfrm>
            <a:off x="521258" y="5234369"/>
            <a:ext cx="8101481"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4">
            <a:extLst>
              <a:ext uri="{FF2B5EF4-FFF2-40B4-BE49-F238E27FC236}">
                <a16:creationId xmlns:a16="http://schemas.microsoft.com/office/drawing/2014/main" id="{A5CE1BD0-3A41-49DD-92F8-1A3CE0C98D8A}"/>
              </a:ext>
            </a:extLst>
          </p:cNvPr>
          <p:cNvSpPr>
            <a:spLocks noGrp="1"/>
          </p:cNvSpPr>
          <p:nvPr>
            <p:ph type="sldNum" sz="quarter" idx="4"/>
          </p:nvPr>
        </p:nvSpPr>
        <p:spPr/>
        <p:txBody>
          <a:bodyPr/>
          <a:lstStyle/>
          <a:p>
            <a:fld id="{68151E55-6873-49E2-B8D5-2F265E6F1973}" type="slidenum">
              <a:rPr lang="en-US" smtClean="0"/>
              <a:pPr/>
              <a:t>23</a:t>
            </a:fld>
            <a:endParaRPr lang="en-US" dirty="0"/>
          </a:p>
        </p:txBody>
      </p:sp>
    </p:spTree>
    <p:extLst>
      <p:ext uri="{BB962C8B-B14F-4D97-AF65-F5344CB8AC3E}">
        <p14:creationId xmlns:p14="http://schemas.microsoft.com/office/powerpoint/2010/main" val="4272542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C1D12-4751-4053-9F02-784E82C90A74}"/>
              </a:ext>
            </a:extLst>
          </p:cNvPr>
          <p:cNvSpPr>
            <a:spLocks noGrp="1"/>
          </p:cNvSpPr>
          <p:nvPr>
            <p:ph type="title"/>
          </p:nvPr>
        </p:nvSpPr>
        <p:spPr/>
        <p:txBody>
          <a:bodyPr/>
          <a:lstStyle/>
          <a:p>
            <a:r>
              <a:rPr lang="en-US" altLang="en-US" dirty="0"/>
              <a:t>Features of Prokaryotic Cells</a:t>
            </a:r>
            <a:endParaRPr lang="en-IN" dirty="0"/>
          </a:p>
        </p:txBody>
      </p:sp>
      <p:pic>
        <p:nvPicPr>
          <p:cNvPr id="8" name="Picture 2" descr="Diagram of prokaryotic cell shows function of different parts of the cell.">
            <a:extLst>
              <a:ext uri="{FF2B5EF4-FFF2-40B4-BE49-F238E27FC236}">
                <a16:creationId xmlns:a16="http://schemas.microsoft.com/office/drawing/2014/main" id="{6E8A4E57-EE2E-4295-A814-763B131EA8A2}"/>
              </a:ext>
            </a:extLst>
          </p:cNvPr>
          <p:cNvPicPr>
            <a:picLocks noChangeAspect="1"/>
          </p:cNvPicPr>
          <p:nvPr/>
        </p:nvPicPr>
        <p:blipFill>
          <a:blip r:embed="rId2"/>
          <a:stretch>
            <a:fillRect/>
          </a:stretch>
        </p:blipFill>
        <p:spPr>
          <a:xfrm>
            <a:off x="204310" y="809798"/>
            <a:ext cx="8735378" cy="5272088"/>
          </a:xfrm>
          <a:prstGeom prst="rect">
            <a:avLst/>
          </a:prstGeom>
        </p:spPr>
      </p:pic>
      <p:sp>
        <p:nvSpPr>
          <p:cNvPr id="5" name="Text Placeholder 3">
            <a:extLst>
              <a:ext uri="{FF2B5EF4-FFF2-40B4-BE49-F238E27FC236}">
                <a16:creationId xmlns:a16="http://schemas.microsoft.com/office/drawing/2014/main" id="{8F5BC056-41D3-42FB-AD18-55DD249B3ACF}"/>
              </a:ext>
            </a:extLst>
          </p:cNvPr>
          <p:cNvSpPr>
            <a:spLocks noGrp="1"/>
          </p:cNvSpPr>
          <p:nvPr>
            <p:ph type="body" sz="quarter" idx="18"/>
          </p:nvPr>
        </p:nvSpPr>
        <p:spPr>
          <a:xfrm>
            <a:off x="3834007" y="6081886"/>
            <a:ext cx="1475983"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.6</a:t>
            </a:r>
          </a:p>
        </p:txBody>
      </p:sp>
      <p:sp>
        <p:nvSpPr>
          <p:cNvPr id="6" name="Text Placeholder 4">
            <a:extLst>
              <a:ext uri="{FF2B5EF4-FFF2-40B4-BE49-F238E27FC236}">
                <a16:creationId xmlns:a16="http://schemas.microsoft.com/office/drawing/2014/main" id="{F8AC4BB2-41B7-4214-92AC-9416E7D14E9F}"/>
              </a:ext>
            </a:extLst>
          </p:cNvPr>
          <p:cNvSpPr>
            <a:spLocks noGrp="1"/>
          </p:cNvSpPr>
          <p:nvPr>
            <p:ph type="body" sz="quarter" idx="19"/>
          </p:nvPr>
        </p:nvSpPr>
        <p:spPr>
          <a:xfrm>
            <a:off x="2978191" y="6350756"/>
            <a:ext cx="3187616"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21CFF134-1724-46C6-A0E9-658008F6D737}"/>
              </a:ext>
            </a:extLst>
          </p:cNvPr>
          <p:cNvSpPr>
            <a:spLocks noGrp="1"/>
          </p:cNvSpPr>
          <p:nvPr>
            <p:ph type="sldNum" sz="quarter" idx="4"/>
          </p:nvPr>
        </p:nvSpPr>
        <p:spPr/>
        <p:txBody>
          <a:bodyPr/>
          <a:lstStyle/>
          <a:p>
            <a:fld id="{68151E55-6873-49E2-B8D5-2F265E6F1973}" type="slidenum">
              <a:rPr lang="en-US" smtClean="0"/>
              <a:pPr/>
              <a:t>24</a:t>
            </a:fld>
            <a:endParaRPr lang="en-US" dirty="0"/>
          </a:p>
        </p:txBody>
      </p:sp>
    </p:spTree>
    <p:extLst>
      <p:ext uri="{BB962C8B-B14F-4D97-AF65-F5344CB8AC3E}">
        <p14:creationId xmlns:p14="http://schemas.microsoft.com/office/powerpoint/2010/main" val="2794028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AA42D-290C-447F-929D-5B750A9BDA77}"/>
              </a:ext>
            </a:extLst>
          </p:cNvPr>
          <p:cNvSpPr>
            <a:spLocks noGrp="1"/>
          </p:cNvSpPr>
          <p:nvPr>
            <p:ph type="title"/>
          </p:nvPr>
        </p:nvSpPr>
        <p:spPr/>
        <p:txBody>
          <a:bodyPr/>
          <a:lstStyle/>
          <a:p>
            <a:r>
              <a:rPr lang="en-US" altLang="en-US" dirty="0"/>
              <a:t>Reproduction in Prokaryotes</a:t>
            </a:r>
            <a:endParaRPr lang="en-IN" dirty="0"/>
          </a:p>
        </p:txBody>
      </p:sp>
      <p:sp>
        <p:nvSpPr>
          <p:cNvPr id="3" name="Text Placeholder 2">
            <a:extLst>
              <a:ext uri="{FF2B5EF4-FFF2-40B4-BE49-F238E27FC236}">
                <a16:creationId xmlns:a16="http://schemas.microsoft.com/office/drawing/2014/main" id="{31CC0448-959E-4760-9FB4-0C0A9F8999CF}"/>
              </a:ext>
            </a:extLst>
          </p:cNvPr>
          <p:cNvSpPr>
            <a:spLocks noGrp="1"/>
          </p:cNvSpPr>
          <p:nvPr>
            <p:ph type="body" sz="quarter" idx="19"/>
          </p:nvPr>
        </p:nvSpPr>
        <p:spPr>
          <a:xfrm>
            <a:off x="842963" y="1177179"/>
            <a:ext cx="7623676" cy="5330739"/>
          </a:xfrm>
        </p:spPr>
        <p:txBody>
          <a:bodyPr>
            <a:normAutofit/>
          </a:bodyPr>
          <a:lstStyle/>
          <a:p>
            <a:pPr marL="0" lvl="1" indent="0">
              <a:lnSpc>
                <a:spcPct val="90000"/>
              </a:lnSpc>
              <a:spcBef>
                <a:spcPts val="0"/>
              </a:spcBef>
              <a:buNone/>
            </a:pPr>
            <a:r>
              <a:rPr lang="en-US" altLang="en-US" sz="2600" dirty="0">
                <a:solidFill>
                  <a:prstClr val="black"/>
                </a:solidFill>
              </a:rPr>
              <a:t>Asexual</a:t>
            </a:r>
          </a:p>
          <a:p>
            <a:pPr marL="265113" lvl="2" indent="-265113">
              <a:lnSpc>
                <a:spcPct val="90000"/>
              </a:lnSpc>
              <a:spcBef>
                <a:spcPts val="1200"/>
              </a:spcBef>
              <a:spcAft>
                <a:spcPts val="0"/>
              </a:spcAft>
              <a:tabLst>
                <a:tab pos="1250950" algn="l"/>
              </a:tabLst>
            </a:pPr>
            <a:r>
              <a:rPr lang="en-US" altLang="en-US" sz="2200" dirty="0">
                <a:solidFill>
                  <a:prstClr val="black"/>
                </a:solidFill>
              </a:rPr>
              <a:t>Prokaryotes reproduce asexually by means of </a:t>
            </a:r>
            <a:r>
              <a:rPr lang="en-US" altLang="en-US" sz="2200" b="1" dirty="0">
                <a:solidFill>
                  <a:srgbClr val="D90000"/>
                </a:solidFill>
              </a:rPr>
              <a:t>binary fission.</a:t>
            </a:r>
          </a:p>
          <a:p>
            <a:pPr marL="265113" lvl="2" indent="-265113">
              <a:lnSpc>
                <a:spcPct val="90000"/>
              </a:lnSpc>
              <a:spcBef>
                <a:spcPts val="1200"/>
              </a:spcBef>
              <a:spcAft>
                <a:spcPts val="0"/>
              </a:spcAft>
              <a:tabLst>
                <a:tab pos="1250950" algn="l"/>
              </a:tabLst>
            </a:pPr>
            <a:r>
              <a:rPr lang="en-US" altLang="en-US" sz="2200" dirty="0">
                <a:solidFill>
                  <a:prstClr val="black"/>
                </a:solidFill>
              </a:rPr>
              <a:t>Generation time is as short as 12 minutes.</a:t>
            </a:r>
          </a:p>
          <a:p>
            <a:pPr marL="0" lvl="1" indent="0">
              <a:lnSpc>
                <a:spcPct val="90000"/>
              </a:lnSpc>
              <a:spcBef>
                <a:spcPts val="1200"/>
              </a:spcBef>
              <a:buNone/>
            </a:pPr>
            <a:r>
              <a:rPr lang="en-US" altLang="en-US" sz="2600" dirty="0">
                <a:solidFill>
                  <a:prstClr val="black"/>
                </a:solidFill>
              </a:rPr>
              <a:t>Mutations are generated rapidly and passed on to offspring more quickly than eukaryotes.</a:t>
            </a:r>
          </a:p>
          <a:p>
            <a:pPr marL="0" lvl="1" indent="0">
              <a:lnSpc>
                <a:spcPct val="90000"/>
              </a:lnSpc>
              <a:spcBef>
                <a:spcPts val="1200"/>
              </a:spcBef>
              <a:buNone/>
            </a:pPr>
            <a:r>
              <a:rPr lang="en-US" altLang="en-US" sz="2600" dirty="0">
                <a:solidFill>
                  <a:prstClr val="black"/>
                </a:solidFill>
              </a:rPr>
              <a:t>Prokaryotes are haploid.</a:t>
            </a:r>
          </a:p>
          <a:p>
            <a:pPr marL="265113" lvl="2" indent="-265113">
              <a:lnSpc>
                <a:spcPct val="90000"/>
              </a:lnSpc>
              <a:spcBef>
                <a:spcPts val="1200"/>
              </a:spcBef>
              <a:spcAft>
                <a:spcPts val="0"/>
              </a:spcAft>
            </a:pPr>
            <a:r>
              <a:rPr lang="en-US" altLang="en-US" sz="2200" dirty="0">
                <a:solidFill>
                  <a:prstClr val="black"/>
                </a:solidFill>
              </a:rPr>
              <a:t>Mutations are immediately subjected to natural selection.</a:t>
            </a:r>
          </a:p>
          <a:p>
            <a:pPr marL="0" lvl="1" indent="0">
              <a:lnSpc>
                <a:spcPct val="90000"/>
              </a:lnSpc>
              <a:spcBef>
                <a:spcPts val="1200"/>
              </a:spcBef>
              <a:buNone/>
            </a:pPr>
            <a:r>
              <a:rPr lang="en-US" altLang="en-US" sz="2600" dirty="0">
                <a:solidFill>
                  <a:prstClr val="black"/>
                </a:solidFill>
              </a:rPr>
              <a:t>Some bacteria form resistant endospores under unfavorable conditions.</a:t>
            </a:r>
          </a:p>
        </p:txBody>
      </p:sp>
      <p:sp>
        <p:nvSpPr>
          <p:cNvPr id="4" name="Slide Number Placeholder 3">
            <a:extLst>
              <a:ext uri="{FF2B5EF4-FFF2-40B4-BE49-F238E27FC236}">
                <a16:creationId xmlns:a16="http://schemas.microsoft.com/office/drawing/2014/main" id="{F1E35BDF-719F-4A8C-B004-7C75543CAE0F}"/>
              </a:ext>
            </a:extLst>
          </p:cNvPr>
          <p:cNvSpPr>
            <a:spLocks noGrp="1"/>
          </p:cNvSpPr>
          <p:nvPr>
            <p:ph type="sldNum" sz="quarter" idx="4"/>
          </p:nvPr>
        </p:nvSpPr>
        <p:spPr/>
        <p:txBody>
          <a:bodyPr/>
          <a:lstStyle/>
          <a:p>
            <a:fld id="{68151E55-6873-49E2-B8D5-2F265E6F1973}" type="slidenum">
              <a:rPr lang="en-US" smtClean="0"/>
              <a:pPr/>
              <a:t>25</a:t>
            </a:fld>
            <a:endParaRPr lang="en-US" dirty="0"/>
          </a:p>
        </p:txBody>
      </p:sp>
    </p:spTree>
    <p:extLst>
      <p:ext uri="{BB962C8B-B14F-4D97-AF65-F5344CB8AC3E}">
        <p14:creationId xmlns:p14="http://schemas.microsoft.com/office/powerpoint/2010/main" val="328408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16599-D4AA-421C-8BB2-FE164D2C4615}"/>
              </a:ext>
            </a:extLst>
          </p:cNvPr>
          <p:cNvSpPr>
            <a:spLocks noGrp="1"/>
          </p:cNvSpPr>
          <p:nvPr>
            <p:ph type="title"/>
          </p:nvPr>
        </p:nvSpPr>
        <p:spPr>
          <a:xfrm>
            <a:off x="0" y="1"/>
            <a:ext cx="9144000" cy="1155031"/>
          </a:xfrm>
        </p:spPr>
        <p:txBody>
          <a:bodyPr/>
          <a:lstStyle/>
          <a:p>
            <a:r>
              <a:rPr lang="en-US" altLang="en-US" dirty="0"/>
              <a:t>Binary Fission</a:t>
            </a:r>
            <a:endParaRPr lang="en-IN" dirty="0"/>
          </a:p>
        </p:txBody>
      </p:sp>
      <p:pic>
        <p:nvPicPr>
          <p:cNvPr id="8" name="Picture 2" descr="A cell dividing into two shows labels for cytoplasm, nucleoid, and cell wall.">
            <a:extLst>
              <a:ext uri="{FF2B5EF4-FFF2-40B4-BE49-F238E27FC236}">
                <a16:creationId xmlns:a16="http://schemas.microsoft.com/office/drawing/2014/main" id="{694F5863-B637-416E-9185-BF4EE4ECA89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473" b="3962"/>
          <a:stretch/>
        </p:blipFill>
        <p:spPr>
          <a:xfrm>
            <a:off x="2071834" y="1708484"/>
            <a:ext cx="4999209" cy="3432772"/>
          </a:xfrm>
          <a:prstGeom prst="rect">
            <a:avLst/>
          </a:prstGeom>
        </p:spPr>
      </p:pic>
      <p:sp>
        <p:nvSpPr>
          <p:cNvPr id="5" name="Text Placeholder 3">
            <a:extLst>
              <a:ext uri="{FF2B5EF4-FFF2-40B4-BE49-F238E27FC236}">
                <a16:creationId xmlns:a16="http://schemas.microsoft.com/office/drawing/2014/main" id="{8C435039-FCFC-4FD0-94AC-42FF3E826289}"/>
              </a:ext>
            </a:extLst>
          </p:cNvPr>
          <p:cNvSpPr>
            <a:spLocks noGrp="1"/>
          </p:cNvSpPr>
          <p:nvPr>
            <p:ph type="body" sz="quarter" idx="18"/>
          </p:nvPr>
        </p:nvSpPr>
        <p:spPr>
          <a:xfrm>
            <a:off x="3954198" y="5297507"/>
            <a:ext cx="1078940"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.7</a:t>
            </a:r>
          </a:p>
        </p:txBody>
      </p:sp>
      <p:sp>
        <p:nvSpPr>
          <p:cNvPr id="7" name="Text Placeholder 4">
            <a:extLst>
              <a:ext uri="{FF2B5EF4-FFF2-40B4-BE49-F238E27FC236}">
                <a16:creationId xmlns:a16="http://schemas.microsoft.com/office/drawing/2014/main" id="{E8288587-90F7-4431-85CF-C5784D172329}"/>
              </a:ext>
            </a:extLst>
          </p:cNvPr>
          <p:cNvSpPr>
            <a:spLocks noGrp="1"/>
          </p:cNvSpPr>
          <p:nvPr>
            <p:ph type="body" sz="quarter" idx="21"/>
          </p:nvPr>
        </p:nvSpPr>
        <p:spPr/>
        <p:txBody>
          <a:bodyPr/>
          <a:lstStyle/>
          <a:p>
            <a:pPr lvl="0"/>
            <a:r>
              <a:rPr lang="en-US" sz="800" dirty="0"/>
              <a:t>CNRI/SPL/Science Source</a:t>
            </a:r>
            <a:endParaRPr lang="en-GB" sz="800" dirty="0"/>
          </a:p>
        </p:txBody>
      </p:sp>
      <p:sp>
        <p:nvSpPr>
          <p:cNvPr id="4" name="Slide Number Placeholder 5">
            <a:extLst>
              <a:ext uri="{FF2B5EF4-FFF2-40B4-BE49-F238E27FC236}">
                <a16:creationId xmlns:a16="http://schemas.microsoft.com/office/drawing/2014/main" id="{72E0587C-7698-4ACB-AB86-BC29B7C6569B}"/>
              </a:ext>
            </a:extLst>
          </p:cNvPr>
          <p:cNvSpPr>
            <a:spLocks noGrp="1"/>
          </p:cNvSpPr>
          <p:nvPr>
            <p:ph type="sldNum" sz="quarter" idx="4"/>
          </p:nvPr>
        </p:nvSpPr>
        <p:spPr/>
        <p:txBody>
          <a:bodyPr/>
          <a:lstStyle/>
          <a:p>
            <a:fld id="{68151E55-6873-49E2-B8D5-2F265E6F1973}" type="slidenum">
              <a:rPr lang="en-US" smtClean="0"/>
              <a:pPr/>
              <a:t>26</a:t>
            </a:fld>
            <a:endParaRPr lang="en-US" dirty="0"/>
          </a:p>
        </p:txBody>
      </p:sp>
    </p:spTree>
    <p:extLst>
      <p:ext uri="{BB962C8B-B14F-4D97-AF65-F5344CB8AC3E}">
        <p14:creationId xmlns:p14="http://schemas.microsoft.com/office/powerpoint/2010/main" val="24835150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5B39D-6051-4536-BA7A-69E141D5D378}"/>
              </a:ext>
            </a:extLst>
          </p:cNvPr>
          <p:cNvSpPr>
            <a:spLocks noGrp="1"/>
          </p:cNvSpPr>
          <p:nvPr>
            <p:ph type="title"/>
          </p:nvPr>
        </p:nvSpPr>
        <p:spPr/>
        <p:txBody>
          <a:bodyPr/>
          <a:lstStyle/>
          <a:p>
            <a:r>
              <a:rPr lang="en-US" altLang="en-US" dirty="0"/>
              <a:t>Genetic Recombination</a:t>
            </a:r>
            <a:endParaRPr lang="en-IN" dirty="0"/>
          </a:p>
        </p:txBody>
      </p:sp>
      <p:sp>
        <p:nvSpPr>
          <p:cNvPr id="3" name="Text Placeholder 2">
            <a:extLst>
              <a:ext uri="{FF2B5EF4-FFF2-40B4-BE49-F238E27FC236}">
                <a16:creationId xmlns:a16="http://schemas.microsoft.com/office/drawing/2014/main" id="{B9575DCF-43C7-4912-9BDB-9856337282B9}"/>
              </a:ext>
            </a:extLst>
          </p:cNvPr>
          <p:cNvSpPr>
            <a:spLocks noGrp="1"/>
          </p:cNvSpPr>
          <p:nvPr>
            <p:ph type="body" sz="quarter" idx="19"/>
          </p:nvPr>
        </p:nvSpPr>
        <p:spPr>
          <a:xfrm>
            <a:off x="842963" y="1177179"/>
            <a:ext cx="7623676" cy="5330739"/>
          </a:xfrm>
        </p:spPr>
        <p:txBody>
          <a:bodyPr/>
          <a:lstStyle/>
          <a:p>
            <a:pPr marL="0" lvl="1" indent="0">
              <a:lnSpc>
                <a:spcPct val="80000"/>
              </a:lnSpc>
              <a:spcBef>
                <a:spcPts val="0"/>
              </a:spcBef>
              <a:buNone/>
            </a:pPr>
            <a:r>
              <a:rPr lang="en-US" altLang="en-US" sz="2400" b="1" dirty="0">
                <a:solidFill>
                  <a:srgbClr val="D90000"/>
                </a:solidFill>
              </a:rPr>
              <a:t>Conjugation</a:t>
            </a:r>
          </a:p>
          <a:p>
            <a:pPr marL="265113" lvl="2" indent="-265113">
              <a:lnSpc>
                <a:spcPct val="80000"/>
              </a:lnSpc>
              <a:spcBef>
                <a:spcPts val="1200"/>
              </a:spcBef>
              <a:spcAft>
                <a:spcPts val="0"/>
              </a:spcAft>
            </a:pPr>
            <a:r>
              <a:rPr lang="en-US" altLang="en-US" sz="2000" b="1" dirty="0">
                <a:solidFill>
                  <a:srgbClr val="D90000"/>
                </a:solidFill>
              </a:rPr>
              <a:t>Conjugation pilus</a:t>
            </a:r>
            <a:r>
              <a:rPr lang="en-US" altLang="en-US" sz="2000" dirty="0">
                <a:solidFill>
                  <a:srgbClr val="D90000"/>
                </a:solidFill>
              </a:rPr>
              <a:t> </a:t>
            </a:r>
            <a:r>
              <a:rPr lang="en-US" altLang="en-US" sz="2000" dirty="0">
                <a:solidFill>
                  <a:prstClr val="black"/>
                </a:solidFill>
              </a:rPr>
              <a:t>forms between two cells.</a:t>
            </a:r>
          </a:p>
          <a:p>
            <a:pPr marL="265113" lvl="2" indent="-265113">
              <a:lnSpc>
                <a:spcPct val="80000"/>
              </a:lnSpc>
              <a:spcBef>
                <a:spcPts val="1200"/>
              </a:spcBef>
              <a:spcAft>
                <a:spcPts val="0"/>
              </a:spcAft>
            </a:pPr>
            <a:r>
              <a:rPr lang="en-US" altLang="en-US" sz="2000" dirty="0">
                <a:solidFill>
                  <a:prstClr val="black"/>
                </a:solidFill>
              </a:rPr>
              <a:t>Donor cell passes DNA to recipient cell through the pilus.</a:t>
            </a:r>
          </a:p>
          <a:p>
            <a:pPr marL="0" lvl="1" indent="0">
              <a:lnSpc>
                <a:spcPct val="80000"/>
              </a:lnSpc>
              <a:spcBef>
                <a:spcPts val="1200"/>
              </a:spcBef>
              <a:buNone/>
            </a:pPr>
            <a:r>
              <a:rPr lang="en-US" altLang="en-US" sz="2400" b="1" dirty="0">
                <a:solidFill>
                  <a:srgbClr val="D90000"/>
                </a:solidFill>
              </a:rPr>
              <a:t>Transformation</a:t>
            </a:r>
          </a:p>
          <a:p>
            <a:pPr marL="265113" lvl="2" indent="-265113">
              <a:lnSpc>
                <a:spcPct val="80000"/>
              </a:lnSpc>
              <a:spcBef>
                <a:spcPts val="1200"/>
              </a:spcBef>
              <a:spcAft>
                <a:spcPts val="0"/>
              </a:spcAft>
            </a:pPr>
            <a:r>
              <a:rPr lang="en-US" altLang="en-US" sz="2000" dirty="0">
                <a:solidFill>
                  <a:prstClr val="black"/>
                </a:solidFill>
              </a:rPr>
              <a:t>Occurs when cell picks up free pieces of DNA from other prokaryotes</a:t>
            </a:r>
          </a:p>
          <a:p>
            <a:pPr marL="265113" lvl="2" indent="-265113">
              <a:lnSpc>
                <a:spcPct val="80000"/>
              </a:lnSpc>
              <a:spcBef>
                <a:spcPts val="1200"/>
              </a:spcBef>
              <a:spcAft>
                <a:spcPts val="0"/>
              </a:spcAft>
            </a:pPr>
            <a:r>
              <a:rPr lang="en-US" altLang="en-US" sz="2000" dirty="0">
                <a:solidFill>
                  <a:prstClr val="black"/>
                </a:solidFill>
              </a:rPr>
              <a:t>Becomes incorporated into genome</a:t>
            </a:r>
          </a:p>
          <a:p>
            <a:pPr marL="0" lvl="1" indent="0">
              <a:lnSpc>
                <a:spcPct val="80000"/>
              </a:lnSpc>
              <a:spcBef>
                <a:spcPts val="1200"/>
              </a:spcBef>
              <a:buNone/>
              <a:tabLst>
                <a:tab pos="0" algn="l"/>
              </a:tabLst>
            </a:pPr>
            <a:r>
              <a:rPr lang="en-US" altLang="en-US" sz="2400" b="1" dirty="0">
                <a:solidFill>
                  <a:srgbClr val="D90000"/>
                </a:solidFill>
              </a:rPr>
              <a:t>Transduction</a:t>
            </a:r>
          </a:p>
          <a:p>
            <a:pPr marL="265113" lvl="2" indent="-265113">
              <a:lnSpc>
                <a:spcPct val="80000"/>
              </a:lnSpc>
              <a:spcBef>
                <a:spcPts val="1200"/>
              </a:spcBef>
              <a:spcAft>
                <a:spcPts val="0"/>
              </a:spcAft>
            </a:pPr>
            <a:r>
              <a:rPr lang="en-US" altLang="en-US" sz="2000" dirty="0">
                <a:solidFill>
                  <a:prstClr val="black"/>
                </a:solidFill>
              </a:rPr>
              <a:t>Occurs when bacteriophages carry portions of bacterial DNA from one cell to another</a:t>
            </a:r>
          </a:p>
          <a:p>
            <a:pPr marL="265113" lvl="2" indent="-265113">
              <a:lnSpc>
                <a:spcPct val="80000"/>
              </a:lnSpc>
              <a:spcBef>
                <a:spcPts val="1200"/>
              </a:spcBef>
              <a:spcAft>
                <a:spcPts val="0"/>
              </a:spcAft>
            </a:pPr>
            <a:r>
              <a:rPr lang="en-US" altLang="en-US" sz="2000" dirty="0">
                <a:solidFill>
                  <a:prstClr val="black"/>
                </a:solidFill>
              </a:rPr>
              <a:t>Serve as vectors</a:t>
            </a:r>
          </a:p>
        </p:txBody>
      </p:sp>
      <p:sp>
        <p:nvSpPr>
          <p:cNvPr id="4" name="Slide Number Placeholder 3">
            <a:extLst>
              <a:ext uri="{FF2B5EF4-FFF2-40B4-BE49-F238E27FC236}">
                <a16:creationId xmlns:a16="http://schemas.microsoft.com/office/drawing/2014/main" id="{07CCF4FB-B62C-46A2-BCC3-354131132FB2}"/>
              </a:ext>
            </a:extLst>
          </p:cNvPr>
          <p:cNvSpPr>
            <a:spLocks noGrp="1"/>
          </p:cNvSpPr>
          <p:nvPr>
            <p:ph type="sldNum" sz="quarter" idx="4"/>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2904898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C6160-FAE9-4343-BA2C-AB69C1EF8BA0}"/>
              </a:ext>
            </a:extLst>
          </p:cNvPr>
          <p:cNvSpPr>
            <a:spLocks noGrp="1"/>
          </p:cNvSpPr>
          <p:nvPr>
            <p:ph type="title"/>
          </p:nvPr>
        </p:nvSpPr>
        <p:spPr/>
        <p:txBody>
          <a:bodyPr/>
          <a:lstStyle/>
          <a:p>
            <a:r>
              <a:rPr lang="en-US" altLang="en-US" dirty="0"/>
              <a:t>20.3 Bacteria</a:t>
            </a:r>
            <a:endParaRPr lang="en-IN" dirty="0"/>
          </a:p>
        </p:txBody>
      </p:sp>
      <p:sp>
        <p:nvSpPr>
          <p:cNvPr id="5" name="Text Placeholder 2">
            <a:extLst>
              <a:ext uri="{FF2B5EF4-FFF2-40B4-BE49-F238E27FC236}">
                <a16:creationId xmlns:a16="http://schemas.microsoft.com/office/drawing/2014/main" id="{3484FB3D-8E4F-4CAB-BDEA-1F46489FD9FB}"/>
              </a:ext>
            </a:extLst>
          </p:cNvPr>
          <p:cNvSpPr>
            <a:spLocks noGrp="1"/>
          </p:cNvSpPr>
          <p:nvPr>
            <p:ph type="body" sz="quarter" idx="19"/>
          </p:nvPr>
        </p:nvSpPr>
        <p:spPr>
          <a:xfrm>
            <a:off x="842963" y="832795"/>
            <a:ext cx="7623676" cy="2251820"/>
          </a:xfrm>
        </p:spPr>
        <p:txBody>
          <a:bodyPr/>
          <a:lstStyle/>
          <a:p>
            <a:pPr lvl="0">
              <a:lnSpc>
                <a:spcPct val="90000"/>
              </a:lnSpc>
              <a:spcAft>
                <a:spcPts val="1500"/>
              </a:spcAft>
            </a:pPr>
            <a:r>
              <a:rPr lang="en-US" sz="2700" b="1" dirty="0">
                <a:solidFill>
                  <a:srgbClr val="D90000"/>
                </a:solidFill>
              </a:rPr>
              <a:t>Bacteria</a:t>
            </a:r>
            <a:r>
              <a:rPr lang="en-US" sz="2700" dirty="0">
                <a:solidFill>
                  <a:prstClr val="black"/>
                </a:solidFill>
              </a:rPr>
              <a:t> are the more common type of prokaryote. </a:t>
            </a:r>
          </a:p>
          <a:p>
            <a:pPr lvl="0">
              <a:lnSpc>
                <a:spcPct val="90000"/>
              </a:lnSpc>
              <a:spcAft>
                <a:spcPts val="1500"/>
              </a:spcAft>
            </a:pPr>
            <a:r>
              <a:rPr lang="en-US" sz="2700" dirty="0">
                <a:solidFill>
                  <a:prstClr val="black"/>
                </a:solidFill>
              </a:rPr>
              <a:t>Most bacterial cells are protected by a cell wall.</a:t>
            </a:r>
          </a:p>
          <a:p>
            <a:pPr marL="180975" lvl="1" indent="-180975">
              <a:lnSpc>
                <a:spcPct val="90000"/>
              </a:lnSpc>
              <a:spcBef>
                <a:spcPts val="0"/>
              </a:spcBef>
              <a:spcAft>
                <a:spcPts val="0"/>
              </a:spcAft>
              <a:tabLst>
                <a:tab pos="84138" algn="l"/>
              </a:tabLst>
            </a:pPr>
            <a:r>
              <a:rPr lang="en-US" sz="2400" dirty="0">
                <a:solidFill>
                  <a:prstClr val="black"/>
                </a:solidFill>
              </a:rPr>
              <a:t> Contains </a:t>
            </a:r>
            <a:r>
              <a:rPr lang="en-US" sz="2400" b="1" dirty="0">
                <a:solidFill>
                  <a:srgbClr val="D90000"/>
                </a:solidFill>
              </a:rPr>
              <a:t>peptidoglycan</a:t>
            </a:r>
            <a:r>
              <a:rPr lang="en-US" sz="2400" dirty="0">
                <a:solidFill>
                  <a:prstClr val="black"/>
                </a:solidFill>
              </a:rPr>
              <a:t> </a:t>
            </a:r>
          </a:p>
        </p:txBody>
      </p:sp>
      <p:sp>
        <p:nvSpPr>
          <p:cNvPr id="6" name="Text Placeholder 3">
            <a:extLst>
              <a:ext uri="{FF2B5EF4-FFF2-40B4-BE49-F238E27FC236}">
                <a16:creationId xmlns:a16="http://schemas.microsoft.com/office/drawing/2014/main" id="{21B1E462-092B-4708-BF43-9C8449F91758}"/>
              </a:ext>
            </a:extLst>
          </p:cNvPr>
          <p:cNvSpPr>
            <a:spLocks noGrp="1"/>
          </p:cNvSpPr>
          <p:nvPr>
            <p:ph type="body" sz="quarter" idx="20"/>
          </p:nvPr>
        </p:nvSpPr>
        <p:spPr>
          <a:xfrm>
            <a:off x="842963" y="3061291"/>
            <a:ext cx="7515726" cy="3586163"/>
          </a:xfrm>
        </p:spPr>
        <p:txBody>
          <a:bodyPr>
            <a:normAutofit fontScale="92500" lnSpcReduction="10000"/>
          </a:bodyPr>
          <a:lstStyle/>
          <a:p>
            <a:pPr lvl="0">
              <a:lnSpc>
                <a:spcPct val="90000"/>
              </a:lnSpc>
              <a:spcAft>
                <a:spcPts val="1500"/>
              </a:spcAft>
            </a:pPr>
            <a:r>
              <a:rPr lang="en-US" sz="2900" dirty="0">
                <a:solidFill>
                  <a:prstClr val="black"/>
                </a:solidFill>
              </a:rPr>
              <a:t>Bacteria are commonly differentiated using the Gram stain procedure.</a:t>
            </a:r>
          </a:p>
          <a:p>
            <a:pPr marL="0" lvl="1" indent="0">
              <a:lnSpc>
                <a:spcPct val="90000"/>
              </a:lnSpc>
              <a:spcBef>
                <a:spcPts val="0"/>
              </a:spcBef>
              <a:buNone/>
            </a:pPr>
            <a:r>
              <a:rPr lang="en-US" sz="2600" dirty="0">
                <a:solidFill>
                  <a:prstClr val="black"/>
                </a:solidFill>
              </a:rPr>
              <a:t>When washed after staining:</a:t>
            </a:r>
          </a:p>
          <a:p>
            <a:pPr marL="265113" lvl="2" indent="-265113">
              <a:lnSpc>
                <a:spcPct val="90000"/>
              </a:lnSpc>
              <a:spcBef>
                <a:spcPts val="600"/>
              </a:spcBef>
            </a:pPr>
            <a:r>
              <a:rPr lang="en-US" sz="2200" b="1" dirty="0">
                <a:solidFill>
                  <a:prstClr val="black"/>
                </a:solidFill>
              </a:rPr>
              <a:t>Gram-positive bacteria </a:t>
            </a:r>
            <a:r>
              <a:rPr lang="en-US" sz="2200" dirty="0">
                <a:solidFill>
                  <a:prstClr val="black"/>
                </a:solidFill>
              </a:rPr>
              <a:t>retain dye and appear dark purple.</a:t>
            </a:r>
          </a:p>
          <a:p>
            <a:pPr marL="265113" lvl="2" indent="-265113">
              <a:lnSpc>
                <a:spcPct val="90000"/>
              </a:lnSpc>
              <a:spcBef>
                <a:spcPts val="600"/>
              </a:spcBef>
            </a:pPr>
            <a:r>
              <a:rPr lang="en-US" sz="2200" b="1" dirty="0">
                <a:solidFill>
                  <a:prstClr val="black"/>
                </a:solidFill>
              </a:rPr>
              <a:t>Gram-negative bacteria </a:t>
            </a:r>
            <a:r>
              <a:rPr lang="en-US" sz="2200" dirty="0">
                <a:solidFill>
                  <a:prstClr val="black"/>
                </a:solidFill>
              </a:rPr>
              <a:t>do not retain dye and appear red.</a:t>
            </a:r>
          </a:p>
          <a:p>
            <a:pPr marL="541338" lvl="3" indent="-276225">
              <a:lnSpc>
                <a:spcPct val="90000"/>
              </a:lnSpc>
              <a:spcBef>
                <a:spcPts val="600"/>
              </a:spcBef>
            </a:pPr>
            <a:r>
              <a:rPr lang="en-US" sz="1800" dirty="0">
                <a:solidFill>
                  <a:prstClr val="black"/>
                </a:solidFill>
              </a:rPr>
              <a:t>Gram-negative bacteria have a second plasma membrane which blocks antibiotic drugs, making infections difficult to treat.</a:t>
            </a:r>
          </a:p>
          <a:p>
            <a:pPr marL="0" lvl="1" indent="0">
              <a:lnSpc>
                <a:spcPct val="90000"/>
              </a:lnSpc>
              <a:spcBef>
                <a:spcPts val="600"/>
              </a:spcBef>
              <a:buNone/>
            </a:pPr>
            <a:r>
              <a:rPr lang="en-US" sz="2600" dirty="0">
                <a:solidFill>
                  <a:prstClr val="black"/>
                </a:solidFill>
              </a:rPr>
              <a:t>The difference is dependent on the construction of the cell wall.</a:t>
            </a:r>
          </a:p>
        </p:txBody>
      </p:sp>
      <p:sp>
        <p:nvSpPr>
          <p:cNvPr id="4" name="Slide Number Placeholder 4">
            <a:extLst>
              <a:ext uri="{FF2B5EF4-FFF2-40B4-BE49-F238E27FC236}">
                <a16:creationId xmlns:a16="http://schemas.microsoft.com/office/drawing/2014/main" id="{E5A5B095-8340-42B7-B44C-10C2821B18D6}"/>
              </a:ext>
            </a:extLst>
          </p:cNvPr>
          <p:cNvSpPr>
            <a:spLocks noGrp="1"/>
          </p:cNvSpPr>
          <p:nvPr>
            <p:ph type="sldNum" sz="quarter" idx="4"/>
          </p:nvPr>
        </p:nvSpPr>
        <p:spPr/>
        <p:txBody>
          <a:bodyPr/>
          <a:lstStyle/>
          <a:p>
            <a:fld id="{68151E55-6873-49E2-B8D5-2F265E6F1973}" type="slidenum">
              <a:rPr lang="en-US" smtClean="0"/>
              <a:pPr/>
              <a:t>28</a:t>
            </a:fld>
            <a:endParaRPr lang="en-US" dirty="0"/>
          </a:p>
        </p:txBody>
      </p:sp>
    </p:spTree>
    <p:extLst>
      <p:ext uri="{BB962C8B-B14F-4D97-AF65-F5344CB8AC3E}">
        <p14:creationId xmlns:p14="http://schemas.microsoft.com/office/powerpoint/2010/main" val="1183828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8D30E-D74A-4A9B-AC34-D528702427F8}"/>
              </a:ext>
            </a:extLst>
          </p:cNvPr>
          <p:cNvSpPr>
            <a:spLocks noGrp="1"/>
          </p:cNvSpPr>
          <p:nvPr>
            <p:ph type="title"/>
          </p:nvPr>
        </p:nvSpPr>
        <p:spPr/>
        <p:txBody>
          <a:bodyPr/>
          <a:lstStyle/>
          <a:p>
            <a:r>
              <a:rPr lang="en-US" dirty="0"/>
              <a:t>Gram Staining</a:t>
            </a:r>
            <a:endParaRPr lang="en-IN" dirty="0"/>
          </a:p>
        </p:txBody>
      </p:sp>
      <p:pic>
        <p:nvPicPr>
          <p:cNvPr id="8" name="Picture 2" descr="Steps of the Gram staining procedure are illustrated.">
            <a:extLst>
              <a:ext uri="{FF2B5EF4-FFF2-40B4-BE49-F238E27FC236}">
                <a16:creationId xmlns:a16="http://schemas.microsoft.com/office/drawing/2014/main" id="{EA85C849-199C-40A0-B8DA-74BED9FF59E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396" b="5346"/>
          <a:stretch/>
        </p:blipFill>
        <p:spPr>
          <a:xfrm>
            <a:off x="860563" y="1263315"/>
            <a:ext cx="7694676" cy="4499193"/>
          </a:xfrm>
          <a:prstGeom prst="rect">
            <a:avLst/>
          </a:prstGeom>
        </p:spPr>
      </p:pic>
      <p:sp>
        <p:nvSpPr>
          <p:cNvPr id="5" name="Text Placeholder 3">
            <a:extLst>
              <a:ext uri="{FF2B5EF4-FFF2-40B4-BE49-F238E27FC236}">
                <a16:creationId xmlns:a16="http://schemas.microsoft.com/office/drawing/2014/main" id="{94C5A7C2-2EAA-4289-BB1F-58B021B34D01}"/>
              </a:ext>
            </a:extLst>
          </p:cNvPr>
          <p:cNvSpPr>
            <a:spLocks noGrp="1"/>
          </p:cNvSpPr>
          <p:nvPr>
            <p:ph type="body" sz="quarter" idx="18"/>
          </p:nvPr>
        </p:nvSpPr>
        <p:spPr>
          <a:xfrm>
            <a:off x="3978387" y="5899469"/>
            <a:ext cx="1187225"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.8</a:t>
            </a:r>
          </a:p>
        </p:txBody>
      </p:sp>
      <p:sp>
        <p:nvSpPr>
          <p:cNvPr id="6" name="Text Placeholder 4">
            <a:extLst>
              <a:ext uri="{FF2B5EF4-FFF2-40B4-BE49-F238E27FC236}">
                <a16:creationId xmlns:a16="http://schemas.microsoft.com/office/drawing/2014/main" id="{E1395783-049F-4989-B936-F9CD3819B9BE}"/>
              </a:ext>
            </a:extLst>
          </p:cNvPr>
          <p:cNvSpPr>
            <a:spLocks noGrp="1"/>
          </p:cNvSpPr>
          <p:nvPr>
            <p:ph type="body" sz="quarter" idx="19"/>
          </p:nvPr>
        </p:nvSpPr>
        <p:spPr>
          <a:xfrm>
            <a:off x="3008270" y="6213794"/>
            <a:ext cx="3127458" cy="314325"/>
          </a:xfrm>
        </p:spPr>
        <p:txBody>
          <a:bodyPr>
            <a:normAutofit/>
          </a:bodyPr>
          <a:lstStyle/>
          <a:p>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E5ACB5E1-BBED-44AD-B498-55B4DB793F87}"/>
              </a:ext>
            </a:extLst>
          </p:cNvPr>
          <p:cNvSpPr>
            <a:spLocks noGrp="1"/>
          </p:cNvSpPr>
          <p:nvPr>
            <p:ph type="body" sz="quarter" idx="21"/>
          </p:nvPr>
        </p:nvSpPr>
        <p:spPr>
          <a:xfrm>
            <a:off x="6737684" y="6563439"/>
            <a:ext cx="1884496" cy="258805"/>
          </a:xfrm>
        </p:spPr>
        <p:txBody>
          <a:bodyPr/>
          <a:lstStyle/>
          <a:p>
            <a:pPr lvl="0"/>
            <a:r>
              <a:rPr lang="en-US" sz="800" dirty="0"/>
              <a:t>(photo): (b): CDC/Dr. William A. Clark</a:t>
            </a:r>
            <a:endParaRPr lang="en-GB" sz="800" dirty="0"/>
          </a:p>
        </p:txBody>
      </p:sp>
      <p:sp>
        <p:nvSpPr>
          <p:cNvPr id="4" name="Slide Number Placeholder 6">
            <a:extLst>
              <a:ext uri="{FF2B5EF4-FFF2-40B4-BE49-F238E27FC236}">
                <a16:creationId xmlns:a16="http://schemas.microsoft.com/office/drawing/2014/main" id="{97E826A4-7C36-498F-95BC-FCAD7D5D8F36}"/>
              </a:ext>
            </a:extLst>
          </p:cNvPr>
          <p:cNvSpPr>
            <a:spLocks noGrp="1"/>
          </p:cNvSpPr>
          <p:nvPr>
            <p:ph type="sldNum" sz="quarter" idx="4"/>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1569173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2A155-4168-4D01-8E6A-945758CBADF9}"/>
              </a:ext>
            </a:extLst>
          </p:cNvPr>
          <p:cNvSpPr>
            <a:spLocks noGrp="1"/>
          </p:cNvSpPr>
          <p:nvPr>
            <p:ph type="title"/>
          </p:nvPr>
        </p:nvSpPr>
        <p:spPr/>
        <p:txBody>
          <a:bodyPr/>
          <a:lstStyle/>
          <a:p>
            <a:r>
              <a:rPr lang="en-US" altLang="en-US" dirty="0"/>
              <a:t>Bacterial Cell Shapes</a:t>
            </a:r>
            <a:endParaRPr lang="en-IN" dirty="0"/>
          </a:p>
        </p:txBody>
      </p:sp>
      <p:sp>
        <p:nvSpPr>
          <p:cNvPr id="3" name="Text Placeholder 2">
            <a:extLst>
              <a:ext uri="{FF2B5EF4-FFF2-40B4-BE49-F238E27FC236}">
                <a16:creationId xmlns:a16="http://schemas.microsoft.com/office/drawing/2014/main" id="{119682F5-0974-45D7-8FA9-D7E894A6E261}"/>
              </a:ext>
            </a:extLst>
          </p:cNvPr>
          <p:cNvSpPr>
            <a:spLocks noGrp="1"/>
          </p:cNvSpPr>
          <p:nvPr>
            <p:ph type="body" sz="quarter" idx="19"/>
          </p:nvPr>
        </p:nvSpPr>
        <p:spPr>
          <a:xfrm>
            <a:off x="842962" y="1177180"/>
            <a:ext cx="7891963" cy="4200936"/>
          </a:xfrm>
        </p:spPr>
        <p:txBody>
          <a:bodyPr>
            <a:noAutofit/>
          </a:bodyPr>
          <a:lstStyle/>
          <a:p>
            <a:pPr lvl="0">
              <a:spcAft>
                <a:spcPts val="2000"/>
              </a:spcAft>
            </a:pPr>
            <a:r>
              <a:rPr lang="en-US" altLang="en-US" sz="3200" dirty="0">
                <a:solidFill>
                  <a:prstClr val="black"/>
                </a:solidFill>
              </a:rPr>
              <a:t>Structure of cell wall also of diagnostic use</a:t>
            </a:r>
          </a:p>
          <a:p>
            <a:pPr lvl="0">
              <a:spcAft>
                <a:spcPts val="2000"/>
              </a:spcAft>
            </a:pPr>
            <a:r>
              <a:rPr lang="en-US" altLang="en-US" sz="3200" dirty="0">
                <a:solidFill>
                  <a:prstClr val="black"/>
                </a:solidFill>
              </a:rPr>
              <a:t>Bacteria can be further classified in terms of their three basic shapes:</a:t>
            </a:r>
          </a:p>
          <a:p>
            <a:pPr marL="285750" lvl="1">
              <a:spcBef>
                <a:spcPts val="0"/>
              </a:spcBef>
            </a:pPr>
            <a:r>
              <a:rPr lang="en-US" altLang="en-US" sz="2800" dirty="0">
                <a:solidFill>
                  <a:prstClr val="black"/>
                </a:solidFill>
              </a:rPr>
              <a:t>Spiral (</a:t>
            </a:r>
            <a:r>
              <a:rPr lang="en-US" altLang="en-US" sz="2800" dirty="0" err="1">
                <a:solidFill>
                  <a:prstClr val="black"/>
                </a:solidFill>
              </a:rPr>
              <a:t>spirilli</a:t>
            </a:r>
            <a:r>
              <a:rPr lang="en-US" altLang="en-US" sz="2800" dirty="0">
                <a:solidFill>
                  <a:prstClr val="black"/>
                </a:solidFill>
              </a:rPr>
              <a:t>)</a:t>
            </a:r>
          </a:p>
          <a:p>
            <a:pPr marL="285750" lvl="1"/>
            <a:r>
              <a:rPr lang="en-US" altLang="en-US" sz="2800" dirty="0">
                <a:solidFill>
                  <a:prstClr val="black"/>
                </a:solidFill>
              </a:rPr>
              <a:t>Rod (bacilli)</a:t>
            </a:r>
          </a:p>
          <a:p>
            <a:pPr marL="285750" lvl="1"/>
            <a:r>
              <a:rPr lang="en-US" altLang="en-US" sz="2800" dirty="0">
                <a:solidFill>
                  <a:prstClr val="black"/>
                </a:solidFill>
              </a:rPr>
              <a:t>Round (cocci)</a:t>
            </a:r>
          </a:p>
        </p:txBody>
      </p:sp>
      <p:sp>
        <p:nvSpPr>
          <p:cNvPr id="4" name="Slide Number Placeholder 3">
            <a:extLst>
              <a:ext uri="{FF2B5EF4-FFF2-40B4-BE49-F238E27FC236}">
                <a16:creationId xmlns:a16="http://schemas.microsoft.com/office/drawing/2014/main" id="{F94AB3F2-023B-4087-956F-86B48FA861F6}"/>
              </a:ext>
            </a:extLst>
          </p:cNvPr>
          <p:cNvSpPr>
            <a:spLocks noGrp="1"/>
          </p:cNvSpPr>
          <p:nvPr>
            <p:ph type="sldNum" sz="quarter" idx="4"/>
          </p:nvPr>
        </p:nvSpPr>
        <p:spPr/>
        <p:txBody>
          <a:bodyPr/>
          <a:lstStyle/>
          <a:p>
            <a:fld id="{68151E55-6873-49E2-B8D5-2F265E6F1973}" type="slidenum">
              <a:rPr lang="en-US" smtClean="0"/>
              <a:pPr/>
              <a:t>30</a:t>
            </a:fld>
            <a:endParaRPr lang="en-US" dirty="0"/>
          </a:p>
        </p:txBody>
      </p:sp>
    </p:spTree>
    <p:extLst>
      <p:ext uri="{BB962C8B-B14F-4D97-AF65-F5344CB8AC3E}">
        <p14:creationId xmlns:p14="http://schemas.microsoft.com/office/powerpoint/2010/main" val="3845826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074E-FC8D-4869-BBD1-3D4D4C87D474}"/>
              </a:ext>
            </a:extLst>
          </p:cNvPr>
          <p:cNvSpPr>
            <a:spLocks noGrp="1"/>
          </p:cNvSpPr>
          <p:nvPr>
            <p:ph type="title"/>
          </p:nvPr>
        </p:nvSpPr>
        <p:spPr/>
        <p:txBody>
          <a:bodyPr/>
          <a:lstStyle/>
          <a:p>
            <a:r>
              <a:rPr lang="en-US" altLang="en-US" dirty="0"/>
              <a:t>Diversity of Bacteria</a:t>
            </a:r>
            <a:endParaRPr lang="en-IN" dirty="0"/>
          </a:p>
        </p:txBody>
      </p:sp>
      <p:pic>
        <p:nvPicPr>
          <p:cNvPr id="9" name="Picture 2" descr="Spirillum are spiral-shaped, Bacilli are rod-shaped, and Cocci are round (left to right).">
            <a:extLst>
              <a:ext uri="{FF2B5EF4-FFF2-40B4-BE49-F238E27FC236}">
                <a16:creationId xmlns:a16="http://schemas.microsoft.com/office/drawing/2014/main" id="{03D3E9BB-C3EA-4BC5-B810-90A02324614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383" b="7775"/>
          <a:stretch/>
        </p:blipFill>
        <p:spPr>
          <a:xfrm>
            <a:off x="493773" y="2093495"/>
            <a:ext cx="8156448" cy="2276370"/>
          </a:xfrm>
          <a:prstGeom prst="rect">
            <a:avLst/>
          </a:prstGeom>
        </p:spPr>
      </p:pic>
      <p:sp>
        <p:nvSpPr>
          <p:cNvPr id="6" name="Text Placeholder 3">
            <a:extLst>
              <a:ext uri="{FF2B5EF4-FFF2-40B4-BE49-F238E27FC236}">
                <a16:creationId xmlns:a16="http://schemas.microsoft.com/office/drawing/2014/main" id="{2D17BFAE-147D-4E51-98FE-CD593ED00165}"/>
              </a:ext>
            </a:extLst>
          </p:cNvPr>
          <p:cNvSpPr>
            <a:spLocks noGrp="1"/>
          </p:cNvSpPr>
          <p:nvPr>
            <p:ph type="body" sz="quarter" idx="18"/>
          </p:nvPr>
        </p:nvSpPr>
        <p:spPr>
          <a:xfrm>
            <a:off x="4008463" y="4967404"/>
            <a:ext cx="1127067"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.9</a:t>
            </a:r>
          </a:p>
        </p:txBody>
      </p:sp>
      <p:sp>
        <p:nvSpPr>
          <p:cNvPr id="8" name="Text Placeholder 4">
            <a:extLst>
              <a:ext uri="{FF2B5EF4-FFF2-40B4-BE49-F238E27FC236}">
                <a16:creationId xmlns:a16="http://schemas.microsoft.com/office/drawing/2014/main" id="{E9086D9A-89E5-4C60-BFD9-8D03152C5DBF}"/>
              </a:ext>
            </a:extLst>
          </p:cNvPr>
          <p:cNvSpPr>
            <a:spLocks noGrp="1"/>
          </p:cNvSpPr>
          <p:nvPr>
            <p:ph type="body" sz="quarter" idx="21"/>
          </p:nvPr>
        </p:nvSpPr>
        <p:spPr>
          <a:xfrm>
            <a:off x="4018546" y="6563439"/>
            <a:ext cx="4603633" cy="258805"/>
          </a:xfrm>
        </p:spPr>
        <p:txBody>
          <a:bodyPr/>
          <a:lstStyle/>
          <a:p>
            <a:pPr lvl="0"/>
            <a:r>
              <a:rPr lang="en-US" sz="800" dirty="0"/>
              <a:t>(a): Ed Reschke/Getty Images; (b): Eye of Science/Science Source; (c): </a:t>
            </a:r>
            <a:r>
              <a:rPr lang="en-US" sz="800" dirty="0" err="1"/>
              <a:t>SciMAT</a:t>
            </a:r>
            <a:r>
              <a:rPr lang="en-US" sz="800" dirty="0"/>
              <a:t>/Science Source</a:t>
            </a:r>
            <a:endParaRPr lang="en-GB" sz="800" dirty="0"/>
          </a:p>
        </p:txBody>
      </p:sp>
      <p:sp>
        <p:nvSpPr>
          <p:cNvPr id="4" name="Slide Number Placeholder 5">
            <a:extLst>
              <a:ext uri="{FF2B5EF4-FFF2-40B4-BE49-F238E27FC236}">
                <a16:creationId xmlns:a16="http://schemas.microsoft.com/office/drawing/2014/main" id="{F730F41A-8329-4D36-A04A-5234F86E8E56}"/>
              </a:ext>
            </a:extLst>
          </p:cNvPr>
          <p:cNvSpPr>
            <a:spLocks noGrp="1"/>
          </p:cNvSpPr>
          <p:nvPr>
            <p:ph type="sldNum" sz="quarter" idx="4"/>
          </p:nvPr>
        </p:nvSpPr>
        <p:spPr/>
        <p:txBody>
          <a:bodyPr/>
          <a:lstStyle/>
          <a:p>
            <a:fld id="{68151E55-6873-49E2-B8D5-2F265E6F1973}" type="slidenum">
              <a:rPr lang="en-US" smtClean="0"/>
              <a:pPr/>
              <a:t>31</a:t>
            </a:fld>
            <a:endParaRPr lang="en-US" dirty="0"/>
          </a:p>
        </p:txBody>
      </p:sp>
    </p:spTree>
    <p:extLst>
      <p:ext uri="{BB962C8B-B14F-4D97-AF65-F5344CB8AC3E}">
        <p14:creationId xmlns:p14="http://schemas.microsoft.com/office/powerpoint/2010/main" val="1903681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6C77-7A1E-4FDC-B7A3-30A54995D3F1}"/>
              </a:ext>
            </a:extLst>
          </p:cNvPr>
          <p:cNvSpPr>
            <a:spLocks noGrp="1"/>
          </p:cNvSpPr>
          <p:nvPr>
            <p:ph type="title"/>
          </p:nvPr>
        </p:nvSpPr>
        <p:spPr>
          <a:xfrm>
            <a:off x="0" y="1"/>
            <a:ext cx="9144000" cy="1177177"/>
          </a:xfrm>
        </p:spPr>
        <p:txBody>
          <a:bodyPr/>
          <a:lstStyle/>
          <a:p>
            <a:r>
              <a:rPr lang="en-US" altLang="en-US" dirty="0"/>
              <a:t>Bacterial Metabolism</a:t>
            </a:r>
            <a:endParaRPr lang="en-IN" dirty="0"/>
          </a:p>
        </p:txBody>
      </p:sp>
      <p:sp>
        <p:nvSpPr>
          <p:cNvPr id="3" name="Text Placeholder 2">
            <a:extLst>
              <a:ext uri="{FF2B5EF4-FFF2-40B4-BE49-F238E27FC236}">
                <a16:creationId xmlns:a16="http://schemas.microsoft.com/office/drawing/2014/main" id="{B58554D8-086C-4F77-9F4C-D0801EBE2ED8}"/>
              </a:ext>
            </a:extLst>
          </p:cNvPr>
          <p:cNvSpPr>
            <a:spLocks noGrp="1"/>
          </p:cNvSpPr>
          <p:nvPr>
            <p:ph type="body" sz="quarter" idx="19"/>
          </p:nvPr>
        </p:nvSpPr>
        <p:spPr>
          <a:xfrm>
            <a:off x="842962" y="1177179"/>
            <a:ext cx="7795711" cy="5330739"/>
          </a:xfrm>
        </p:spPr>
        <p:txBody>
          <a:bodyPr/>
          <a:lstStyle/>
          <a:p>
            <a:pPr marL="0" lvl="1" indent="0">
              <a:spcBef>
                <a:spcPts val="0"/>
              </a:spcBef>
              <a:buNone/>
            </a:pPr>
            <a:r>
              <a:rPr lang="en-US" altLang="en-US" sz="2800" dirty="0">
                <a:solidFill>
                  <a:prstClr val="black"/>
                </a:solidFill>
              </a:rPr>
              <a:t>Oxygen requirements:</a:t>
            </a:r>
          </a:p>
          <a:p>
            <a:pPr marL="360363" lvl="2" indent="-360363"/>
            <a:r>
              <a:rPr lang="en-US" altLang="en-US" sz="2400" dirty="0">
                <a:solidFill>
                  <a:prstClr val="black"/>
                </a:solidFill>
              </a:rPr>
              <a:t>Obligate aerobes – unable to grow in the absence of free oxygen</a:t>
            </a:r>
          </a:p>
          <a:p>
            <a:pPr marL="360363" lvl="2" indent="-360363"/>
            <a:r>
              <a:rPr lang="en-US" altLang="en-US" sz="2400" b="1" dirty="0">
                <a:solidFill>
                  <a:srgbClr val="D90000"/>
                </a:solidFill>
              </a:rPr>
              <a:t>Obligate anaerobes</a:t>
            </a:r>
            <a:r>
              <a:rPr lang="en-US" altLang="en-US" sz="2400" b="1" dirty="0">
                <a:solidFill>
                  <a:srgbClr val="ACCBF9">
                    <a:lumMod val="25000"/>
                  </a:srgbClr>
                </a:solidFill>
              </a:rPr>
              <a:t> </a:t>
            </a:r>
            <a:r>
              <a:rPr lang="en-US" altLang="en-US" sz="2400" dirty="0">
                <a:solidFill>
                  <a:prstClr val="black"/>
                </a:solidFill>
              </a:rPr>
              <a:t>– unable to grow in the presence of free oxygen</a:t>
            </a:r>
          </a:p>
          <a:p>
            <a:pPr marL="625475" lvl="3" indent="-265113"/>
            <a:r>
              <a:rPr lang="en-US" altLang="en-US" sz="2000" dirty="0">
                <a:solidFill>
                  <a:prstClr val="black"/>
                </a:solidFill>
              </a:rPr>
              <a:t>Examples: Botulism, gas gangrene, and tetanus</a:t>
            </a:r>
          </a:p>
          <a:p>
            <a:pPr marL="360363" lvl="2" indent="-360363"/>
            <a:r>
              <a:rPr lang="en-US" altLang="en-US" sz="2400" b="1" dirty="0">
                <a:solidFill>
                  <a:srgbClr val="D90000"/>
                </a:solidFill>
              </a:rPr>
              <a:t>Facultative anaerobes </a:t>
            </a:r>
            <a:r>
              <a:rPr lang="en-US" altLang="en-US" sz="2400" dirty="0">
                <a:solidFill>
                  <a:prstClr val="black"/>
                </a:solidFill>
              </a:rPr>
              <a:t>– able to grow in either the presence or absence of free oxygen</a:t>
            </a:r>
          </a:p>
        </p:txBody>
      </p:sp>
      <p:sp>
        <p:nvSpPr>
          <p:cNvPr id="4" name="Slide Number Placeholder 3">
            <a:extLst>
              <a:ext uri="{FF2B5EF4-FFF2-40B4-BE49-F238E27FC236}">
                <a16:creationId xmlns:a16="http://schemas.microsoft.com/office/drawing/2014/main" id="{4D031B25-418D-4F18-A96C-91682F195E42}"/>
              </a:ext>
            </a:extLst>
          </p:cNvPr>
          <p:cNvSpPr>
            <a:spLocks noGrp="1"/>
          </p:cNvSpPr>
          <p:nvPr>
            <p:ph type="sldNum" sz="quarter" idx="4"/>
          </p:nvPr>
        </p:nvSpPr>
        <p:spPr/>
        <p:txBody>
          <a:bodyPr/>
          <a:lstStyle/>
          <a:p>
            <a:fld id="{68151E55-6873-49E2-B8D5-2F265E6F1973}" type="slidenum">
              <a:rPr lang="en-US" smtClean="0"/>
              <a:pPr/>
              <a:t>32</a:t>
            </a:fld>
            <a:endParaRPr lang="en-US" dirty="0"/>
          </a:p>
        </p:txBody>
      </p:sp>
    </p:spTree>
    <p:extLst>
      <p:ext uri="{BB962C8B-B14F-4D97-AF65-F5344CB8AC3E}">
        <p14:creationId xmlns:p14="http://schemas.microsoft.com/office/powerpoint/2010/main" val="2288104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68EB8-E160-49EC-A682-F348D6520F87}"/>
              </a:ext>
            </a:extLst>
          </p:cNvPr>
          <p:cNvSpPr>
            <a:spLocks noGrp="1"/>
          </p:cNvSpPr>
          <p:nvPr>
            <p:ph type="title"/>
          </p:nvPr>
        </p:nvSpPr>
        <p:spPr/>
        <p:txBody>
          <a:bodyPr/>
          <a:lstStyle/>
          <a:p>
            <a:r>
              <a:rPr lang="en-US" altLang="en-US" dirty="0"/>
              <a:t>Autotrophic Bacteria</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653F562-180E-4213-9A6A-DD0177DCE7E4}"/>
                  </a:ext>
                </a:extLst>
              </p:cNvPr>
              <p:cNvSpPr>
                <a:spLocks noGrp="1"/>
              </p:cNvSpPr>
              <p:nvPr>
                <p:ph type="body" sz="quarter" idx="19"/>
              </p:nvPr>
            </p:nvSpPr>
            <p:spPr>
              <a:xfrm>
                <a:off x="842963" y="1177179"/>
                <a:ext cx="7623676" cy="5330739"/>
              </a:xfrm>
            </p:spPr>
            <p:txBody>
              <a:bodyPr>
                <a:normAutofit lnSpcReduction="10000"/>
              </a:bodyPr>
              <a:lstStyle/>
              <a:p>
                <a:pPr marL="0" lvl="1" indent="0">
                  <a:lnSpc>
                    <a:spcPct val="80000"/>
                  </a:lnSpc>
                  <a:spcBef>
                    <a:spcPts val="0"/>
                  </a:spcBef>
                  <a:buNone/>
                </a:pPr>
                <a:r>
                  <a:rPr lang="en-US" altLang="en-US" sz="2600" b="1" dirty="0">
                    <a:solidFill>
                      <a:srgbClr val="D90000"/>
                    </a:solidFill>
                  </a:rPr>
                  <a:t>Photoautotrophs</a:t>
                </a:r>
              </a:p>
              <a:p>
                <a:pPr marL="265113" lvl="2" indent="-265113">
                  <a:lnSpc>
                    <a:spcPct val="80000"/>
                  </a:lnSpc>
                  <a:spcBef>
                    <a:spcPts val="900"/>
                  </a:spcBef>
                </a:pPr>
                <a:r>
                  <a:rPr lang="en-US" altLang="en-US" sz="2200" dirty="0">
                    <a:solidFill>
                      <a:prstClr val="black"/>
                    </a:solidFill>
                  </a:rPr>
                  <a:t>Use solar energy to reduce carbon dioxide to organic compounds</a:t>
                </a:r>
              </a:p>
              <a:p>
                <a:pPr marL="265113" lvl="2" indent="-265113">
                  <a:lnSpc>
                    <a:spcPct val="80000"/>
                  </a:lnSpc>
                  <a:spcBef>
                    <a:spcPts val="900"/>
                  </a:spcBef>
                </a:pPr>
                <a:r>
                  <a:rPr lang="en-US" altLang="en-US" sz="2200" dirty="0">
                    <a:solidFill>
                      <a:prstClr val="black"/>
                    </a:solidFill>
                  </a:rPr>
                  <a:t>Photosynthetic</a:t>
                </a:r>
              </a:p>
              <a:p>
                <a:pPr marL="541338" lvl="3" indent="-276225">
                  <a:lnSpc>
                    <a:spcPct val="80000"/>
                  </a:lnSpc>
                  <a:spcBef>
                    <a:spcPts val="900"/>
                  </a:spcBef>
                </a:pPr>
                <a:r>
                  <a:rPr lang="en-US" altLang="en-US" sz="1900" dirty="0">
                    <a:solidFill>
                      <a:prstClr val="black"/>
                    </a:solidFill>
                  </a:rPr>
                  <a:t>Anoxygenic – Green sulfur and some purple bacteria living in oxygen-poor conditions</a:t>
                </a:r>
              </a:p>
              <a:p>
                <a:pPr marL="541338" lvl="3" indent="-276225">
                  <a:lnSpc>
                    <a:spcPct val="80000"/>
                  </a:lnSpc>
                  <a:spcBef>
                    <a:spcPts val="900"/>
                  </a:spcBef>
                </a:pPr>
                <a:r>
                  <a:rPr lang="en-US" altLang="en-US" sz="1900" dirty="0">
                    <a:solidFill>
                      <a:prstClr val="black"/>
                    </a:solidFill>
                  </a:rPr>
                  <a:t>Oxygenic</a:t>
                </a:r>
              </a:p>
              <a:p>
                <a:pPr marL="0" lvl="1" indent="0">
                  <a:lnSpc>
                    <a:spcPct val="80000"/>
                  </a:lnSpc>
                  <a:spcBef>
                    <a:spcPts val="900"/>
                  </a:spcBef>
                  <a:buNone/>
                </a:pPr>
                <a:r>
                  <a:rPr lang="en-US" altLang="en-US" sz="2600" b="1" dirty="0">
                    <a:solidFill>
                      <a:srgbClr val="D90000"/>
                    </a:solidFill>
                  </a:rPr>
                  <a:t>Chemoautotrophs</a:t>
                </a:r>
              </a:p>
              <a:p>
                <a:pPr marL="265113" lvl="2" indent="-265113">
                  <a:lnSpc>
                    <a:spcPct val="80000"/>
                  </a:lnSpc>
                  <a:spcBef>
                    <a:spcPts val="900"/>
                  </a:spcBef>
                  <a:tabLst>
                    <a:tab pos="84138" algn="l"/>
                    <a:tab pos="180975" algn="l"/>
                  </a:tabLst>
                </a:pPr>
                <a:r>
                  <a:rPr lang="en-US" altLang="en-US" sz="2200" dirty="0">
                    <a:solidFill>
                      <a:prstClr val="black"/>
                    </a:solidFill>
                  </a:rPr>
                  <a:t>Oxidize inorganic compounds to obtain energy</a:t>
                </a:r>
              </a:p>
              <a:p>
                <a:pPr marL="265113" lvl="2" indent="-265113">
                  <a:lnSpc>
                    <a:spcPct val="80000"/>
                  </a:lnSpc>
                  <a:spcBef>
                    <a:spcPts val="900"/>
                  </a:spcBef>
                  <a:tabLst>
                    <a:tab pos="84138" algn="l"/>
                    <a:tab pos="180975" algn="l"/>
                  </a:tabLst>
                </a:pPr>
                <a:r>
                  <a:rPr lang="en-US" altLang="en-US" sz="2200" dirty="0">
                    <a:solidFill>
                      <a:prstClr val="black"/>
                    </a:solidFill>
                  </a:rPr>
                  <a:t>Energy is used to reduce </a:t>
                </a:r>
                <a14:m>
                  <m:oMath xmlns:m="http://schemas.openxmlformats.org/officeDocument/2006/math">
                    <m:sSub>
                      <m:sSubPr>
                        <m:ctrlPr>
                          <a:rPr lang="en-US" altLang="en-US" sz="2200" dirty="0">
                            <a:solidFill>
                              <a:prstClr val="black"/>
                            </a:solidFill>
                            <a:latin typeface="Cambria Math" panose="02040503050406030204" pitchFamily="18" charset="0"/>
                          </a:rPr>
                        </m:ctrlPr>
                      </m:sSubPr>
                      <m:e>
                        <m:r>
                          <m:rPr>
                            <m:sty m:val="p"/>
                          </m:rPr>
                          <a:rPr lang="en-US" altLang="en-US" sz="2200" dirty="0">
                            <a:solidFill>
                              <a:prstClr val="black"/>
                            </a:solidFill>
                            <a:latin typeface="Cambria Math" panose="02040503050406030204" pitchFamily="18" charset="0"/>
                          </a:rPr>
                          <m:t>CO</m:t>
                        </m:r>
                      </m:e>
                      <m:sub>
                        <m:r>
                          <a:rPr lang="en-US" altLang="en-US" sz="2200" dirty="0">
                            <a:solidFill>
                              <a:prstClr val="black"/>
                            </a:solidFill>
                            <a:latin typeface="Cambria Math" panose="02040503050406030204" pitchFamily="18" charset="0"/>
                          </a:rPr>
                          <m:t>2</m:t>
                        </m:r>
                      </m:sub>
                    </m:sSub>
                  </m:oMath>
                </a14:m>
                <a:r>
                  <a:rPr lang="en-US" altLang="en-US" sz="2200" dirty="0">
                    <a:solidFill>
                      <a:prstClr val="black"/>
                    </a:solidFill>
                  </a:rPr>
                  <a:t> to an organic compound.</a:t>
                </a:r>
              </a:p>
              <a:p>
                <a:pPr marL="265113" lvl="2" indent="-265113">
                  <a:lnSpc>
                    <a:spcPct val="80000"/>
                  </a:lnSpc>
                  <a:spcBef>
                    <a:spcPts val="900"/>
                  </a:spcBef>
                  <a:tabLst>
                    <a:tab pos="84138" algn="l"/>
                    <a:tab pos="180975" algn="l"/>
                  </a:tabLst>
                </a:pPr>
                <a:r>
                  <a:rPr lang="en-US" altLang="en-US" sz="2200" dirty="0">
                    <a:solidFill>
                      <a:prstClr val="black"/>
                    </a:solidFill>
                  </a:rPr>
                  <a:t>Chemosynthetic</a:t>
                </a:r>
              </a:p>
              <a:p>
                <a:pPr marL="541338" lvl="3" indent="-276225">
                  <a:lnSpc>
                    <a:spcPct val="80000"/>
                  </a:lnSpc>
                  <a:spcBef>
                    <a:spcPts val="900"/>
                  </a:spcBef>
                </a:pPr>
                <a:r>
                  <a:rPr lang="en-US" altLang="en-US" sz="1900" dirty="0">
                    <a:solidFill>
                      <a:prstClr val="black"/>
                    </a:solidFill>
                  </a:rPr>
                  <a:t>Live in environments such as deep sea vents 2.5 kilometers below sea level</a:t>
                </a:r>
              </a:p>
            </p:txBody>
          </p:sp>
        </mc:Choice>
        <mc:Fallback xmlns="">
          <p:sp>
            <p:nvSpPr>
              <p:cNvPr id="3" name="Text Placeholder 2">
                <a:extLst>
                  <a:ext uri="{FF2B5EF4-FFF2-40B4-BE49-F238E27FC236}">
                    <a16:creationId xmlns:a16="http://schemas.microsoft.com/office/drawing/2014/main" id="{B653F562-180E-4213-9A6A-DD0177DCE7E4}"/>
                  </a:ext>
                </a:extLst>
              </p:cNvPr>
              <p:cNvSpPr>
                <a:spLocks noGrp="1" noRot="1" noChangeAspect="1" noMove="1" noResize="1" noEditPoints="1" noAdjustHandles="1" noChangeArrowheads="1" noChangeShapeType="1" noTextEdit="1"/>
              </p:cNvSpPr>
              <p:nvPr>
                <p:ph type="body" sz="quarter" idx="19"/>
              </p:nvPr>
            </p:nvSpPr>
            <p:spPr>
              <a:xfrm>
                <a:off x="842963" y="1177179"/>
                <a:ext cx="7623676" cy="5330739"/>
              </a:xfrm>
              <a:blipFill>
                <a:blip r:embed="rId2"/>
                <a:stretch>
                  <a:fillRect l="-1439" t="-3200"/>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319D8FF4-06E0-4B56-BA9B-2696C98CE5BC}"/>
              </a:ext>
            </a:extLst>
          </p:cNvPr>
          <p:cNvSpPr>
            <a:spLocks noGrp="1"/>
          </p:cNvSpPr>
          <p:nvPr>
            <p:ph type="sldNum" sz="quarter" idx="4"/>
          </p:nvPr>
        </p:nvSpPr>
        <p:spPr/>
        <p:txBody>
          <a:bodyPr/>
          <a:lstStyle/>
          <a:p>
            <a:fld id="{68151E55-6873-49E2-B8D5-2F265E6F1973}" type="slidenum">
              <a:rPr lang="en-US" smtClean="0"/>
              <a:pPr/>
              <a:t>33</a:t>
            </a:fld>
            <a:endParaRPr lang="en-US" dirty="0"/>
          </a:p>
        </p:txBody>
      </p:sp>
    </p:spTree>
    <p:extLst>
      <p:ext uri="{BB962C8B-B14F-4D97-AF65-F5344CB8AC3E}">
        <p14:creationId xmlns:p14="http://schemas.microsoft.com/office/powerpoint/2010/main" val="2431064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76993-1850-4000-843B-FD27AF3C8DBB}"/>
              </a:ext>
            </a:extLst>
          </p:cNvPr>
          <p:cNvSpPr>
            <a:spLocks noGrp="1"/>
          </p:cNvSpPr>
          <p:nvPr>
            <p:ph type="title"/>
          </p:nvPr>
        </p:nvSpPr>
        <p:spPr/>
        <p:txBody>
          <a:bodyPr/>
          <a:lstStyle/>
          <a:p>
            <a:r>
              <a:rPr lang="en-US" altLang="en-US" dirty="0"/>
              <a:t>Photoautotrophic Bacteria</a:t>
            </a:r>
            <a:endParaRPr lang="en-IN" dirty="0"/>
          </a:p>
        </p:txBody>
      </p:sp>
      <p:pic>
        <p:nvPicPr>
          <p:cNvPr id="6" name="Picture 2" descr="Chart compares two types of photoautotrophic bacteria: Anoxygenic photosynthesis and oxygenic photosynthesis.">
            <a:extLst>
              <a:ext uri="{FF2B5EF4-FFF2-40B4-BE49-F238E27FC236}">
                <a16:creationId xmlns:a16="http://schemas.microsoft.com/office/drawing/2014/main" id="{FA4386AB-FE71-4A24-B49B-693159327BB6}"/>
              </a:ext>
            </a:extLst>
          </p:cNvPr>
          <p:cNvPicPr>
            <a:picLocks noChangeAspect="1"/>
          </p:cNvPicPr>
          <p:nvPr/>
        </p:nvPicPr>
        <p:blipFill rotWithShape="1">
          <a:blip r:embed="rId2">
            <a:extLst>
              <a:ext uri="{28A0092B-C50C-407E-A947-70E740481C1C}">
                <a14:useLocalDpi xmlns:a14="http://schemas.microsoft.com/office/drawing/2010/main" val="0"/>
              </a:ext>
            </a:extLst>
          </a:blip>
          <a:srcRect t="13778"/>
          <a:stretch/>
        </p:blipFill>
        <p:spPr>
          <a:xfrm>
            <a:off x="690696" y="2177715"/>
            <a:ext cx="7762607" cy="2334127"/>
          </a:xfrm>
          <a:prstGeom prst="rect">
            <a:avLst/>
          </a:prstGeom>
        </p:spPr>
      </p:pic>
      <p:sp>
        <p:nvSpPr>
          <p:cNvPr id="3" name="Text Placeholder 3">
            <a:extLst>
              <a:ext uri="{FF2B5EF4-FFF2-40B4-BE49-F238E27FC236}">
                <a16:creationId xmlns:a16="http://schemas.microsoft.com/office/drawing/2014/main" id="{6A268BCB-30DC-4198-AC13-B28866D2D613}"/>
              </a:ext>
            </a:extLst>
          </p:cNvPr>
          <p:cNvSpPr>
            <a:spLocks noGrp="1"/>
          </p:cNvSpPr>
          <p:nvPr>
            <p:ph type="body" sz="quarter" idx="18"/>
          </p:nvPr>
        </p:nvSpPr>
        <p:spPr>
          <a:xfrm>
            <a:off x="521258" y="5080001"/>
            <a:ext cx="8101481" cy="479652"/>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4">
            <a:extLst>
              <a:ext uri="{FF2B5EF4-FFF2-40B4-BE49-F238E27FC236}">
                <a16:creationId xmlns:a16="http://schemas.microsoft.com/office/drawing/2014/main" id="{DC96BA42-C6C7-4EFD-8658-7CA5382D3BD8}"/>
              </a:ext>
            </a:extLst>
          </p:cNvPr>
          <p:cNvSpPr>
            <a:spLocks noGrp="1"/>
          </p:cNvSpPr>
          <p:nvPr>
            <p:ph type="sldNum" sz="quarter" idx="4"/>
          </p:nvPr>
        </p:nvSpPr>
        <p:spPr/>
        <p:txBody>
          <a:bodyPr/>
          <a:lstStyle/>
          <a:p>
            <a:fld id="{68151E55-6873-49E2-B8D5-2F265E6F1973}" type="slidenum">
              <a:rPr lang="en-US" smtClean="0"/>
              <a:pPr/>
              <a:t>34</a:t>
            </a:fld>
            <a:endParaRPr lang="en-US" dirty="0"/>
          </a:p>
        </p:txBody>
      </p:sp>
    </p:spTree>
    <p:extLst>
      <p:ext uri="{BB962C8B-B14F-4D97-AF65-F5344CB8AC3E}">
        <p14:creationId xmlns:p14="http://schemas.microsoft.com/office/powerpoint/2010/main" val="2141511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CD8EC-4675-42ED-9234-98E02CE2FEE7}"/>
              </a:ext>
            </a:extLst>
          </p:cNvPr>
          <p:cNvSpPr>
            <a:spLocks noGrp="1"/>
          </p:cNvSpPr>
          <p:nvPr>
            <p:ph type="title"/>
          </p:nvPr>
        </p:nvSpPr>
        <p:spPr/>
        <p:txBody>
          <a:bodyPr/>
          <a:lstStyle/>
          <a:p>
            <a:r>
              <a:rPr lang="en-US" altLang="en-US" dirty="0"/>
              <a:t>Heterotrophic Bacteria</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4A08724-5EDF-41FA-8A9D-0CDFFD986CF7}"/>
                  </a:ext>
                </a:extLst>
              </p:cNvPr>
              <p:cNvSpPr>
                <a:spLocks noGrp="1"/>
              </p:cNvSpPr>
              <p:nvPr>
                <p:ph type="body" sz="quarter" idx="19"/>
              </p:nvPr>
            </p:nvSpPr>
            <p:spPr>
              <a:xfrm>
                <a:off x="842963" y="842211"/>
                <a:ext cx="7398669" cy="5980033"/>
              </a:xfrm>
            </p:spPr>
            <p:txBody>
              <a:bodyPr>
                <a:normAutofit lnSpcReduction="10000"/>
              </a:bodyPr>
              <a:lstStyle/>
              <a:p>
                <a:pPr marL="0" lvl="1" indent="0">
                  <a:spcBef>
                    <a:spcPts val="0"/>
                  </a:spcBef>
                  <a:buNone/>
                </a:pPr>
                <a:r>
                  <a:rPr lang="en-US" dirty="0">
                    <a:solidFill>
                      <a:prstClr val="black"/>
                    </a:solidFill>
                  </a:rPr>
                  <a:t>Most prokaryotes are </a:t>
                </a:r>
                <a:r>
                  <a:rPr lang="en-US" b="1" dirty="0">
                    <a:solidFill>
                      <a:srgbClr val="D90000"/>
                    </a:solidFill>
                  </a:rPr>
                  <a:t>chemoheterotrophs</a:t>
                </a:r>
                <a:r>
                  <a:rPr lang="en-US" dirty="0">
                    <a:solidFill>
                      <a:prstClr val="black"/>
                    </a:solidFill>
                  </a:rPr>
                  <a:t> that take in organic nutrients.</a:t>
                </a:r>
              </a:p>
              <a:p>
                <a:pPr marL="265113" lvl="2" indent="-265113">
                  <a:spcBef>
                    <a:spcPts val="200"/>
                  </a:spcBef>
                </a:pPr>
                <a:r>
                  <a:rPr lang="en-US" sz="1700" dirty="0">
                    <a:solidFill>
                      <a:prstClr val="black"/>
                    </a:solidFill>
                  </a:rPr>
                  <a:t>Aerobic </a:t>
                </a:r>
                <a:r>
                  <a:rPr lang="en-US" sz="1700" b="1" dirty="0">
                    <a:solidFill>
                      <a:srgbClr val="D90000"/>
                    </a:solidFill>
                  </a:rPr>
                  <a:t>saprotrophs</a:t>
                </a:r>
                <a:r>
                  <a:rPr lang="en-US" sz="1700" dirty="0">
                    <a:solidFill>
                      <a:prstClr val="black"/>
                    </a:solidFill>
                  </a:rPr>
                  <a:t> decompose most large organic molecules to smaller molecules.</a:t>
                </a:r>
              </a:p>
              <a:p>
                <a:pPr marL="265113" lvl="2" indent="-265113">
                  <a:spcBef>
                    <a:spcPts val="200"/>
                  </a:spcBef>
                </a:pPr>
                <a:r>
                  <a:rPr lang="en-US" sz="1700" dirty="0">
                    <a:solidFill>
                      <a:prstClr val="black"/>
                    </a:solidFill>
                  </a:rPr>
                  <a:t>Essential components of a healthy ecosystem</a:t>
                </a:r>
              </a:p>
              <a:p>
                <a:pPr marL="0" lvl="1" indent="0">
                  <a:spcBef>
                    <a:spcPts val="200"/>
                  </a:spcBef>
                  <a:buNone/>
                </a:pPr>
                <a:r>
                  <a:rPr lang="en-US" dirty="0">
                    <a:solidFill>
                      <a:prstClr val="black"/>
                    </a:solidFill>
                  </a:rPr>
                  <a:t>May be free-living or symbiotic (two different species live together in an intimate way)</a:t>
                </a:r>
              </a:p>
              <a:p>
                <a:pPr marL="265113" lvl="2" indent="-265113">
                  <a:spcBef>
                    <a:spcPts val="200"/>
                  </a:spcBef>
                </a:pPr>
                <a:r>
                  <a:rPr lang="en-US" sz="1700" b="1" dirty="0">
                    <a:solidFill>
                      <a:srgbClr val="D90000"/>
                    </a:solidFill>
                  </a:rPr>
                  <a:t>Mutualism</a:t>
                </a:r>
              </a:p>
              <a:p>
                <a:pPr marL="541338" lvl="3" indent="-276225">
                  <a:spcBef>
                    <a:spcPts val="200"/>
                  </a:spcBef>
                </a:pPr>
                <a:r>
                  <a:rPr lang="en-US" sz="1400" dirty="0">
                    <a:solidFill>
                      <a:prstClr val="black"/>
                    </a:solidFill>
                  </a:rPr>
                  <a:t>Both species benefit from association.</a:t>
                </a:r>
              </a:p>
              <a:p>
                <a:pPr marL="541338" lvl="3" indent="-276225">
                  <a:spcBef>
                    <a:spcPts val="200"/>
                  </a:spcBef>
                </a:pPr>
                <a:r>
                  <a:rPr lang="en-US" sz="1400" dirty="0">
                    <a:solidFill>
                      <a:prstClr val="black"/>
                    </a:solidFill>
                  </a:rPr>
                  <a:t>Mutualistic bacteria live in human intestines and release vitamins K and </a:t>
                </a:r>
                <a14:m>
                  <m:oMath xmlns:m="http://schemas.openxmlformats.org/officeDocument/2006/math">
                    <m:sSub>
                      <m:sSubPr>
                        <m:ctrlPr>
                          <a:rPr lang="en-US" sz="1400">
                            <a:solidFill>
                              <a:prstClr val="black"/>
                            </a:solidFill>
                            <a:latin typeface="Cambria Math" panose="02040503050406030204" pitchFamily="18" charset="0"/>
                          </a:rPr>
                        </m:ctrlPr>
                      </m:sSubPr>
                      <m:e>
                        <m:r>
                          <m:rPr>
                            <m:sty m:val="p"/>
                          </m:rPr>
                          <a:rPr lang="en-US" sz="1400">
                            <a:solidFill>
                              <a:prstClr val="black"/>
                            </a:solidFill>
                            <a:latin typeface="Cambria Math" panose="02040503050406030204" pitchFamily="18" charset="0"/>
                          </a:rPr>
                          <m:t>B</m:t>
                        </m:r>
                      </m:e>
                      <m:sub>
                        <m:r>
                          <a:rPr lang="en-US" sz="1400">
                            <a:solidFill>
                              <a:prstClr val="black"/>
                            </a:solidFill>
                            <a:latin typeface="Cambria Math" panose="02040503050406030204" pitchFamily="18" charset="0"/>
                          </a:rPr>
                          <m:t>12</m:t>
                        </m:r>
                      </m:sub>
                    </m:sSub>
                  </m:oMath>
                </a14:m>
                <a:r>
                  <a:rPr lang="en-US" sz="1400" dirty="0">
                    <a:solidFill>
                      <a:prstClr val="black"/>
                    </a:solidFill>
                  </a:rPr>
                  <a:t> which help produce blood components.</a:t>
                </a:r>
              </a:p>
              <a:p>
                <a:pPr marL="265113" lvl="2" indent="-265113">
                  <a:spcBef>
                    <a:spcPts val="200"/>
                  </a:spcBef>
                </a:pPr>
                <a:r>
                  <a:rPr lang="en-US" sz="1700" b="1" dirty="0">
                    <a:solidFill>
                      <a:srgbClr val="D90000"/>
                    </a:solidFill>
                  </a:rPr>
                  <a:t>Commensalism</a:t>
                </a:r>
              </a:p>
              <a:p>
                <a:pPr marL="541338" lvl="3" indent="-276225">
                  <a:spcBef>
                    <a:spcPts val="200"/>
                  </a:spcBef>
                </a:pPr>
                <a:r>
                  <a:rPr lang="en-US" sz="1400" dirty="0">
                    <a:solidFill>
                      <a:prstClr val="black"/>
                    </a:solidFill>
                  </a:rPr>
                  <a:t>One population modifies the environment in such a way that a second population benefits.</a:t>
                </a:r>
              </a:p>
              <a:p>
                <a:pPr marL="541338" lvl="3" indent="-276225">
                  <a:spcBef>
                    <a:spcPts val="200"/>
                  </a:spcBef>
                </a:pPr>
                <a:r>
                  <a:rPr lang="en-US" sz="1400" dirty="0">
                    <a:solidFill>
                      <a:prstClr val="black"/>
                    </a:solidFill>
                  </a:rPr>
                  <a:t>Obligate anaerobes live in our intestine because bacterium </a:t>
                </a:r>
                <a:r>
                  <a:rPr lang="en-US" sz="1400" i="1" dirty="0">
                    <a:solidFill>
                      <a:prstClr val="black"/>
                    </a:solidFill>
                  </a:rPr>
                  <a:t>E. coli </a:t>
                </a:r>
                <a:r>
                  <a:rPr lang="en-US" sz="1400" dirty="0">
                    <a:solidFill>
                      <a:prstClr val="black"/>
                    </a:solidFill>
                  </a:rPr>
                  <a:t>uses up oxygen.</a:t>
                </a:r>
              </a:p>
              <a:p>
                <a:pPr marL="265113" lvl="2" indent="-265113">
                  <a:spcBef>
                    <a:spcPts val="200"/>
                  </a:spcBef>
                </a:pPr>
                <a:r>
                  <a:rPr lang="en-US" sz="1700" b="1" dirty="0">
                    <a:solidFill>
                      <a:srgbClr val="D90000"/>
                    </a:solidFill>
                  </a:rPr>
                  <a:t>Parasitism</a:t>
                </a:r>
              </a:p>
              <a:p>
                <a:pPr marL="541338" lvl="3" indent="-276225">
                  <a:spcBef>
                    <a:spcPts val="200"/>
                  </a:spcBef>
                </a:pPr>
                <a:r>
                  <a:rPr lang="en-US" sz="1400" dirty="0">
                    <a:solidFill>
                      <a:prstClr val="black"/>
                    </a:solidFill>
                  </a:rPr>
                  <a:t>Parasite benefits at host expense; disease-causing bacteria are called </a:t>
                </a:r>
                <a:r>
                  <a:rPr lang="en-US" sz="1400" b="1" dirty="0">
                    <a:solidFill>
                      <a:srgbClr val="D90000"/>
                    </a:solidFill>
                  </a:rPr>
                  <a:t>pathogens</a:t>
                </a:r>
                <a:r>
                  <a:rPr lang="en-US" sz="1400" dirty="0">
                    <a:solidFill>
                      <a:prstClr val="black"/>
                    </a:solidFill>
                  </a:rPr>
                  <a:t>.</a:t>
                </a:r>
              </a:p>
              <a:p>
                <a:pPr marL="541338" lvl="3" indent="-276225">
                  <a:spcBef>
                    <a:spcPts val="200"/>
                  </a:spcBef>
                </a:pPr>
                <a:r>
                  <a:rPr lang="en-US" sz="1400" dirty="0">
                    <a:solidFill>
                      <a:prstClr val="black"/>
                    </a:solidFill>
                  </a:rPr>
                  <a:t>Many form </a:t>
                </a:r>
                <a:r>
                  <a:rPr lang="en-US" sz="1400" b="1" dirty="0">
                    <a:solidFill>
                      <a:srgbClr val="D90000"/>
                    </a:solidFill>
                  </a:rPr>
                  <a:t>endospores</a:t>
                </a:r>
                <a:r>
                  <a:rPr lang="en-US" sz="1400" b="1" dirty="0">
                    <a:solidFill>
                      <a:srgbClr val="ACCBF9">
                        <a:lumMod val="25000"/>
                      </a:srgbClr>
                    </a:solidFill>
                  </a:rPr>
                  <a:t>.</a:t>
                </a:r>
              </a:p>
            </p:txBody>
          </p:sp>
        </mc:Choice>
        <mc:Fallback xmlns="">
          <p:sp>
            <p:nvSpPr>
              <p:cNvPr id="3" name="Text Placeholder 2">
                <a:extLst>
                  <a:ext uri="{FF2B5EF4-FFF2-40B4-BE49-F238E27FC236}">
                    <a16:creationId xmlns:a16="http://schemas.microsoft.com/office/drawing/2014/main" id="{94A08724-5EDF-41FA-8A9D-0CDFFD986CF7}"/>
                  </a:ext>
                </a:extLst>
              </p:cNvPr>
              <p:cNvSpPr>
                <a:spLocks noGrp="1" noRot="1" noChangeAspect="1" noMove="1" noResize="1" noEditPoints="1" noAdjustHandles="1" noChangeArrowheads="1" noChangeShapeType="1" noTextEdit="1"/>
              </p:cNvSpPr>
              <p:nvPr>
                <p:ph type="body" sz="quarter" idx="19"/>
              </p:nvPr>
            </p:nvSpPr>
            <p:spPr>
              <a:xfrm>
                <a:off x="842963" y="842211"/>
                <a:ext cx="7398669" cy="5980033"/>
              </a:xfrm>
              <a:blipFill>
                <a:blip r:embed="rId2"/>
                <a:stretch>
                  <a:fillRect l="-824" t="-917"/>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8C80C97F-3B35-4D0C-A327-7964F10EB7E7}"/>
              </a:ext>
            </a:extLst>
          </p:cNvPr>
          <p:cNvSpPr>
            <a:spLocks noGrp="1"/>
          </p:cNvSpPr>
          <p:nvPr>
            <p:ph type="sldNum" sz="quarter" idx="4"/>
          </p:nvPr>
        </p:nvSpPr>
        <p:spPr/>
        <p:txBody>
          <a:bodyPr/>
          <a:lstStyle/>
          <a:p>
            <a:fld id="{68151E55-6873-49E2-B8D5-2F265E6F1973}" type="slidenum">
              <a:rPr lang="en-US" smtClean="0"/>
              <a:pPr/>
              <a:t>35</a:t>
            </a:fld>
            <a:endParaRPr lang="en-US" dirty="0"/>
          </a:p>
        </p:txBody>
      </p:sp>
    </p:spTree>
    <p:extLst>
      <p:ext uri="{BB962C8B-B14F-4D97-AF65-F5344CB8AC3E}">
        <p14:creationId xmlns:p14="http://schemas.microsoft.com/office/powerpoint/2010/main" val="2712935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2BE55-A9EB-4CF0-9EF4-A22292E8C6AE}"/>
              </a:ext>
            </a:extLst>
          </p:cNvPr>
          <p:cNvSpPr>
            <a:spLocks noGrp="1"/>
          </p:cNvSpPr>
          <p:nvPr>
            <p:ph type="title"/>
          </p:nvPr>
        </p:nvSpPr>
        <p:spPr/>
        <p:txBody>
          <a:bodyPr/>
          <a:lstStyle/>
          <a:p>
            <a:r>
              <a:rPr lang="en-US" altLang="en-US" dirty="0"/>
              <a:t>Nodules of a Legume</a:t>
            </a:r>
            <a:endParaRPr lang="en-IN" dirty="0"/>
          </a:p>
        </p:txBody>
      </p:sp>
      <p:pic>
        <p:nvPicPr>
          <p:cNvPr id="8" name="Picture 2" descr="Close-up shows round shaped nodules are present on the root hairs of a plant.">
            <a:extLst>
              <a:ext uri="{FF2B5EF4-FFF2-40B4-BE49-F238E27FC236}">
                <a16:creationId xmlns:a16="http://schemas.microsoft.com/office/drawing/2014/main" id="{058DCBF8-58FB-4893-9BA5-CF3B5609B4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63" b="2468"/>
          <a:stretch/>
        </p:blipFill>
        <p:spPr bwMode="auto">
          <a:xfrm>
            <a:off x="2024062" y="1284382"/>
            <a:ext cx="5095875" cy="4289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3">
            <a:extLst>
              <a:ext uri="{FF2B5EF4-FFF2-40B4-BE49-F238E27FC236}">
                <a16:creationId xmlns:a16="http://schemas.microsoft.com/office/drawing/2014/main" id="{4F05939E-F557-4595-82B3-FE9E6B75E36F}"/>
              </a:ext>
            </a:extLst>
          </p:cNvPr>
          <p:cNvSpPr>
            <a:spLocks noGrp="1"/>
          </p:cNvSpPr>
          <p:nvPr>
            <p:ph type="body" sz="quarter" idx="18"/>
          </p:nvPr>
        </p:nvSpPr>
        <p:spPr>
          <a:xfrm>
            <a:off x="3923683" y="5752787"/>
            <a:ext cx="1295509"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.10</a:t>
            </a:r>
          </a:p>
        </p:txBody>
      </p:sp>
      <p:sp>
        <p:nvSpPr>
          <p:cNvPr id="7" name="Text Placeholder 4">
            <a:extLst>
              <a:ext uri="{FF2B5EF4-FFF2-40B4-BE49-F238E27FC236}">
                <a16:creationId xmlns:a16="http://schemas.microsoft.com/office/drawing/2014/main" id="{2CBC08CD-34DC-4EF8-9803-E245B11566AE}"/>
              </a:ext>
            </a:extLst>
          </p:cNvPr>
          <p:cNvSpPr>
            <a:spLocks noGrp="1"/>
          </p:cNvSpPr>
          <p:nvPr>
            <p:ph type="body" sz="quarter" idx="21"/>
          </p:nvPr>
        </p:nvSpPr>
        <p:spPr>
          <a:xfrm>
            <a:off x="6906126" y="6563439"/>
            <a:ext cx="1716054" cy="258805"/>
          </a:xfrm>
        </p:spPr>
        <p:txBody>
          <a:bodyPr/>
          <a:lstStyle/>
          <a:p>
            <a:pPr lvl="0"/>
            <a:r>
              <a:rPr lang="en-US" sz="800" dirty="0"/>
              <a:t>Nigel </a:t>
            </a:r>
            <a:r>
              <a:rPr lang="en-US" sz="800" dirty="0" err="1"/>
              <a:t>Cattlin</a:t>
            </a:r>
            <a:r>
              <a:rPr lang="en-US" sz="800" dirty="0"/>
              <a:t>/</a:t>
            </a:r>
            <a:r>
              <a:rPr lang="en-US" sz="800" dirty="0" err="1"/>
              <a:t>Alamy</a:t>
            </a:r>
            <a:r>
              <a:rPr lang="en-US" sz="800" dirty="0"/>
              <a:t> Stock Photo</a:t>
            </a:r>
            <a:endParaRPr lang="en-GB" sz="800" dirty="0"/>
          </a:p>
        </p:txBody>
      </p:sp>
      <p:sp>
        <p:nvSpPr>
          <p:cNvPr id="4" name="Slide Number Placeholder 5">
            <a:extLst>
              <a:ext uri="{FF2B5EF4-FFF2-40B4-BE49-F238E27FC236}">
                <a16:creationId xmlns:a16="http://schemas.microsoft.com/office/drawing/2014/main" id="{0AD3ABE9-8261-41C9-AB35-261E458B2782}"/>
              </a:ext>
            </a:extLst>
          </p:cNvPr>
          <p:cNvSpPr>
            <a:spLocks noGrp="1"/>
          </p:cNvSpPr>
          <p:nvPr>
            <p:ph type="sldNum" sz="quarter" idx="4"/>
          </p:nvPr>
        </p:nvSpPr>
        <p:spPr/>
        <p:txBody>
          <a:bodyPr/>
          <a:lstStyle/>
          <a:p>
            <a:fld id="{68151E55-6873-49E2-B8D5-2F265E6F1973}" type="slidenum">
              <a:rPr lang="en-US" smtClean="0"/>
              <a:pPr/>
              <a:t>36</a:t>
            </a:fld>
            <a:endParaRPr lang="en-US" dirty="0"/>
          </a:p>
        </p:txBody>
      </p:sp>
    </p:spTree>
    <p:extLst>
      <p:ext uri="{BB962C8B-B14F-4D97-AF65-F5344CB8AC3E}">
        <p14:creationId xmlns:p14="http://schemas.microsoft.com/office/powerpoint/2010/main" val="27187378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805E6-5F2E-4A54-8DEA-49088F3CBD01}"/>
              </a:ext>
            </a:extLst>
          </p:cNvPr>
          <p:cNvSpPr>
            <a:spLocks noGrp="1"/>
          </p:cNvSpPr>
          <p:nvPr>
            <p:ph type="title"/>
          </p:nvPr>
        </p:nvSpPr>
        <p:spPr/>
        <p:txBody>
          <a:bodyPr/>
          <a:lstStyle/>
          <a:p>
            <a:r>
              <a:rPr lang="en-US" altLang="en-US" sz="3600" dirty="0"/>
              <a:t>The Endospore of </a:t>
            </a:r>
            <a:r>
              <a:rPr lang="en-US" altLang="en-US" sz="3600" i="1" dirty="0"/>
              <a:t>Clostridium tetani</a:t>
            </a:r>
            <a:endParaRPr lang="en-IN" sz="3600" dirty="0"/>
          </a:p>
        </p:txBody>
      </p:sp>
      <p:pic>
        <p:nvPicPr>
          <p:cNvPr id="8" name="Picture 2" descr="Cells of Clostridium tetani shows dormant, tough, circular structure labeled as endospore.">
            <a:extLst>
              <a:ext uri="{FF2B5EF4-FFF2-40B4-BE49-F238E27FC236}">
                <a16:creationId xmlns:a16="http://schemas.microsoft.com/office/drawing/2014/main" id="{F6C5C5E1-1D84-4B46-8DA0-CA2FD86F5DAA}"/>
              </a:ext>
            </a:extLst>
          </p:cNvPr>
          <p:cNvPicPr>
            <a:picLocks noChangeAspect="1"/>
          </p:cNvPicPr>
          <p:nvPr/>
        </p:nvPicPr>
        <p:blipFill>
          <a:blip r:embed="rId2"/>
          <a:stretch>
            <a:fillRect/>
          </a:stretch>
        </p:blipFill>
        <p:spPr>
          <a:xfrm>
            <a:off x="1550502" y="1344314"/>
            <a:ext cx="6042992" cy="4606925"/>
          </a:xfrm>
          <a:prstGeom prst="rect">
            <a:avLst/>
          </a:prstGeom>
        </p:spPr>
      </p:pic>
      <p:sp>
        <p:nvSpPr>
          <p:cNvPr id="5" name="Text Placeholder 3">
            <a:extLst>
              <a:ext uri="{FF2B5EF4-FFF2-40B4-BE49-F238E27FC236}">
                <a16:creationId xmlns:a16="http://schemas.microsoft.com/office/drawing/2014/main" id="{F6566071-344C-4B25-A1B6-A747ED8FD165}"/>
              </a:ext>
            </a:extLst>
          </p:cNvPr>
          <p:cNvSpPr>
            <a:spLocks noGrp="1"/>
          </p:cNvSpPr>
          <p:nvPr>
            <p:ph type="body" sz="quarter" idx="18"/>
          </p:nvPr>
        </p:nvSpPr>
        <p:spPr>
          <a:xfrm>
            <a:off x="3972367" y="5943013"/>
            <a:ext cx="1199257"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.11</a:t>
            </a:r>
          </a:p>
        </p:txBody>
      </p:sp>
      <p:sp>
        <p:nvSpPr>
          <p:cNvPr id="9" name="Text Placeholder 4">
            <a:extLst>
              <a:ext uri="{FF2B5EF4-FFF2-40B4-BE49-F238E27FC236}">
                <a16:creationId xmlns:a16="http://schemas.microsoft.com/office/drawing/2014/main" id="{457F309C-DF65-4E5C-94CF-D7D4F95780DE}"/>
              </a:ext>
            </a:extLst>
          </p:cNvPr>
          <p:cNvSpPr>
            <a:spLocks noGrp="1"/>
          </p:cNvSpPr>
          <p:nvPr>
            <p:ph type="body" sz="quarter" idx="21"/>
          </p:nvPr>
        </p:nvSpPr>
        <p:spPr>
          <a:xfrm>
            <a:off x="6713620" y="6563439"/>
            <a:ext cx="1908559" cy="186835"/>
          </a:xfrm>
        </p:spPr>
        <p:txBody>
          <a:bodyPr/>
          <a:lstStyle/>
          <a:p>
            <a:r>
              <a:rPr lang="en-IN" sz="800" dirty="0"/>
              <a:t>Alfred </a:t>
            </a:r>
            <a:r>
              <a:rPr lang="en-IN" sz="800" dirty="0" err="1"/>
              <a:t>Pasieka</a:t>
            </a:r>
            <a:r>
              <a:rPr lang="en-IN" sz="800" dirty="0"/>
              <a:t>/SPL/Science Source</a:t>
            </a:r>
          </a:p>
        </p:txBody>
      </p:sp>
      <p:sp>
        <p:nvSpPr>
          <p:cNvPr id="4" name="Slide Number Placeholder 5">
            <a:extLst>
              <a:ext uri="{FF2B5EF4-FFF2-40B4-BE49-F238E27FC236}">
                <a16:creationId xmlns:a16="http://schemas.microsoft.com/office/drawing/2014/main" id="{B033C2D8-E5CF-4DD1-80BA-B56204C1AF37}"/>
              </a:ext>
            </a:extLst>
          </p:cNvPr>
          <p:cNvSpPr>
            <a:spLocks noGrp="1"/>
          </p:cNvSpPr>
          <p:nvPr>
            <p:ph type="sldNum" sz="quarter" idx="4"/>
          </p:nvPr>
        </p:nvSpPr>
        <p:spPr/>
        <p:txBody>
          <a:bodyPr/>
          <a:lstStyle/>
          <a:p>
            <a:fld id="{68151E55-6873-49E2-B8D5-2F265E6F1973}" type="slidenum">
              <a:rPr lang="en-US" smtClean="0"/>
              <a:pPr/>
              <a:t>37</a:t>
            </a:fld>
            <a:endParaRPr lang="en-US" dirty="0"/>
          </a:p>
        </p:txBody>
      </p:sp>
    </p:spTree>
    <p:extLst>
      <p:ext uri="{BB962C8B-B14F-4D97-AF65-F5344CB8AC3E}">
        <p14:creationId xmlns:p14="http://schemas.microsoft.com/office/powerpoint/2010/main" val="37312645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00794-BEC3-4DD4-852F-75AFC53B449B}"/>
              </a:ext>
            </a:extLst>
          </p:cNvPr>
          <p:cNvSpPr>
            <a:spLocks noGrp="1"/>
          </p:cNvSpPr>
          <p:nvPr>
            <p:ph type="title"/>
          </p:nvPr>
        </p:nvSpPr>
        <p:spPr/>
        <p:txBody>
          <a:bodyPr/>
          <a:lstStyle/>
          <a:p>
            <a:r>
              <a:rPr lang="en-US" altLang="en-US" dirty="0"/>
              <a:t>Bacterial Diseases in Humans</a:t>
            </a:r>
            <a:endParaRPr lang="en-IN" dirty="0"/>
          </a:p>
        </p:txBody>
      </p:sp>
      <p:sp>
        <p:nvSpPr>
          <p:cNvPr id="6" name="Table summary 4" hidden="1">
            <a:extLst>
              <a:ext uri="{FF2B5EF4-FFF2-40B4-BE49-F238E27FC236}">
                <a16:creationId xmlns:a16="http://schemas.microsoft.com/office/drawing/2014/main" id="{E634A435-F1FD-4606-9AFA-E7BE10513C50}"/>
              </a:ext>
            </a:extLst>
          </p:cNvPr>
          <p:cNvSpPr>
            <a:spLocks noGrp="1"/>
          </p:cNvSpPr>
          <p:nvPr>
            <p:ph type="body" sz="quarter" idx="20"/>
          </p:nvPr>
        </p:nvSpPr>
        <p:spPr>
          <a:xfrm>
            <a:off x="1792914" y="2244096"/>
            <a:ext cx="5558171" cy="2369807"/>
          </a:xfrm>
        </p:spPr>
        <p:txBody>
          <a:bodyPr/>
          <a:lstStyle/>
          <a:p>
            <a:r>
              <a:rPr lang="en-US" dirty="0"/>
              <a:t>Table divided into two columns summarizes bacterial diseases in human. The column headers are: Category and disease. </a:t>
            </a:r>
            <a:endParaRPr lang="en-IN" dirty="0"/>
          </a:p>
        </p:txBody>
      </p:sp>
      <p:graphicFrame>
        <p:nvGraphicFramePr>
          <p:cNvPr id="7" name="Table 4">
            <a:extLst>
              <a:ext uri="{FF2B5EF4-FFF2-40B4-BE49-F238E27FC236}">
                <a16:creationId xmlns:a16="http://schemas.microsoft.com/office/drawing/2014/main" id="{2A28D51E-45B9-4CD4-BACB-FFED3B666EDA}"/>
              </a:ext>
            </a:extLst>
          </p:cNvPr>
          <p:cNvGraphicFramePr>
            <a:graphicFrameLocks/>
          </p:cNvGraphicFramePr>
          <p:nvPr>
            <p:extLst>
              <p:ext uri="{D42A27DB-BD31-4B8C-83A1-F6EECF244321}">
                <p14:modId xmlns:p14="http://schemas.microsoft.com/office/powerpoint/2010/main" val="2589751263"/>
              </p:ext>
            </p:extLst>
          </p:nvPr>
        </p:nvGraphicFramePr>
        <p:xfrm>
          <a:off x="924791" y="1101169"/>
          <a:ext cx="7268296" cy="5306304"/>
        </p:xfrm>
        <a:graphic>
          <a:graphicData uri="http://schemas.openxmlformats.org/drawingml/2006/table">
            <a:tbl>
              <a:tblPr firstRow="1" bandRow="1">
                <a:tableStyleId>{5C22544A-7EE6-4342-B048-85BDC9FD1C3A}</a:tableStyleId>
              </a:tblPr>
              <a:tblGrid>
                <a:gridCol w="2795334">
                  <a:extLst>
                    <a:ext uri="{9D8B030D-6E8A-4147-A177-3AD203B41FA5}">
                      <a16:colId xmlns:a16="http://schemas.microsoft.com/office/drawing/2014/main" val="780139605"/>
                    </a:ext>
                  </a:extLst>
                </a:gridCol>
                <a:gridCol w="4472962">
                  <a:extLst>
                    <a:ext uri="{9D8B030D-6E8A-4147-A177-3AD203B41FA5}">
                      <a16:colId xmlns:a16="http://schemas.microsoft.com/office/drawing/2014/main" val="4073444026"/>
                    </a:ext>
                  </a:extLst>
                </a:gridCol>
              </a:tblGrid>
              <a:tr h="378073">
                <a:tc>
                  <a:txBody>
                    <a:bodyPr/>
                    <a:lstStyle/>
                    <a:p>
                      <a:r>
                        <a:rPr lang="en-US" dirty="0">
                          <a:solidFill>
                            <a:schemeClr val="tx1"/>
                          </a:solidFill>
                        </a:rPr>
                        <a:t>Category</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r>
                        <a:rPr lang="en-US" dirty="0">
                          <a:solidFill>
                            <a:schemeClr val="tx1"/>
                          </a:solidFill>
                        </a:rPr>
                        <a:t>Disease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404403246"/>
                  </a:ext>
                </a:extLst>
              </a:tr>
              <a:tr h="612156">
                <a:tc>
                  <a:txBody>
                    <a:bodyPr/>
                    <a:lstStyle/>
                    <a:p>
                      <a:r>
                        <a:rPr lang="en-US" dirty="0"/>
                        <a:t>Sexually transmitted diseases</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dirty="0"/>
                        <a:t>Syphilis, gonorrhea, chlamydia</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2812596601"/>
                  </a:ext>
                </a:extLst>
              </a:tr>
              <a:tr h="874509">
                <a:tc>
                  <a:txBody>
                    <a:bodyPr/>
                    <a:lstStyle/>
                    <a:p>
                      <a:r>
                        <a:rPr lang="en-US" dirty="0"/>
                        <a:t>Respiratory</a:t>
                      </a:r>
                      <a:r>
                        <a:rPr lang="en-US" baseline="0" dirty="0"/>
                        <a:t> diseases</a:t>
                      </a:r>
                      <a:endParaRPr lang="en-US" dirty="0"/>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dirty="0"/>
                        <a:t>Strep throat, scarlet</a:t>
                      </a:r>
                      <a:r>
                        <a:rPr lang="en-US" baseline="0" dirty="0"/>
                        <a:t> fever, tuberculosis, pneumonia, Legionnaires’ disease, whooping cough, inhalation anthrax</a:t>
                      </a:r>
                      <a:endParaRPr lang="en-US" dirty="0"/>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833017157"/>
                  </a:ext>
                </a:extLst>
              </a:tr>
              <a:tr h="1136861">
                <a:tc>
                  <a:txBody>
                    <a:bodyPr/>
                    <a:lstStyle/>
                    <a:p>
                      <a:r>
                        <a:rPr lang="en-US" dirty="0"/>
                        <a:t>Skin diseases</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dirty="0"/>
                        <a:t>Erysipelas,</a:t>
                      </a:r>
                      <a:r>
                        <a:rPr lang="en-US" baseline="0" dirty="0"/>
                        <a:t> boils, carbuncles, impetigo, acne, infections of surgical or accidental wounds and burns, leprosy (Hansen disease)</a:t>
                      </a:r>
                      <a:endParaRPr lang="en-US" dirty="0"/>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168145493"/>
                  </a:ext>
                </a:extLst>
              </a:tr>
              <a:tr h="788805">
                <a:tc>
                  <a:txBody>
                    <a:bodyPr/>
                    <a:lstStyle/>
                    <a:p>
                      <a:r>
                        <a:rPr lang="en-US" dirty="0"/>
                        <a:t>Digestive tract diseases</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dirty="0"/>
                        <a:t>Gastroenteritis</a:t>
                      </a:r>
                      <a:r>
                        <a:rPr lang="en-US" baseline="0" dirty="0"/>
                        <a:t>, food poisoning, dysentery, cholera, peptic ulcers, dental caries</a:t>
                      </a:r>
                      <a:endParaRPr lang="en-US" dirty="0"/>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122623755"/>
                  </a:ext>
                </a:extLst>
              </a:tr>
              <a:tr h="612156">
                <a:tc>
                  <a:txBody>
                    <a:bodyPr/>
                    <a:lstStyle/>
                    <a:p>
                      <a:r>
                        <a:rPr lang="en-US" dirty="0"/>
                        <a:t>Nervous system</a:t>
                      </a:r>
                      <a:r>
                        <a:rPr lang="en-US" baseline="0" dirty="0"/>
                        <a:t> diseases</a:t>
                      </a:r>
                      <a:endParaRPr lang="en-US" dirty="0"/>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dirty="0"/>
                        <a:t>Botulism, tetanus, leprosy,</a:t>
                      </a:r>
                      <a:r>
                        <a:rPr lang="en-US" baseline="0" dirty="0"/>
                        <a:t> spinal meningitis</a:t>
                      </a:r>
                      <a:endParaRPr lang="en-US" dirty="0"/>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725872336"/>
                  </a:ext>
                </a:extLst>
              </a:tr>
              <a:tr h="378073">
                <a:tc>
                  <a:txBody>
                    <a:bodyPr/>
                    <a:lstStyle/>
                    <a:p>
                      <a:r>
                        <a:rPr lang="en-US" dirty="0"/>
                        <a:t>Systemic diseases</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dirty="0"/>
                        <a:t>Plague, typhoid</a:t>
                      </a:r>
                      <a:r>
                        <a:rPr lang="en-US" baseline="0" dirty="0"/>
                        <a:t> fever, diphtheria</a:t>
                      </a:r>
                      <a:endParaRPr lang="en-US" dirty="0"/>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523555069"/>
                  </a:ext>
                </a:extLst>
              </a:tr>
              <a:tr h="378073">
                <a:tc>
                  <a:txBody>
                    <a:bodyPr/>
                    <a:lstStyle/>
                    <a:p>
                      <a:r>
                        <a:rPr lang="en-US" dirty="0"/>
                        <a:t>Other</a:t>
                      </a:r>
                      <a:r>
                        <a:rPr lang="en-US" baseline="0" dirty="0"/>
                        <a:t> diseases</a:t>
                      </a:r>
                      <a:endParaRPr lang="en-US"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r>
                        <a:rPr lang="en-US" dirty="0"/>
                        <a:t>Tularemia,</a:t>
                      </a:r>
                      <a:r>
                        <a:rPr lang="en-US" baseline="0" dirty="0"/>
                        <a:t> Lyme disease</a:t>
                      </a:r>
                      <a:endParaRPr 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7390626"/>
                  </a:ext>
                </a:extLst>
              </a:tr>
            </a:tbl>
          </a:graphicData>
        </a:graphic>
      </p:graphicFrame>
      <p:sp>
        <p:nvSpPr>
          <p:cNvPr id="5" name="Text Placeholder 3">
            <a:extLst>
              <a:ext uri="{FF2B5EF4-FFF2-40B4-BE49-F238E27FC236}">
                <a16:creationId xmlns:a16="http://schemas.microsoft.com/office/drawing/2014/main" id="{025670CE-F6A9-44E2-A774-9515E319B028}"/>
              </a:ext>
            </a:extLst>
          </p:cNvPr>
          <p:cNvSpPr>
            <a:spLocks noGrp="1"/>
          </p:cNvSpPr>
          <p:nvPr>
            <p:ph type="body" sz="quarter" idx="19"/>
          </p:nvPr>
        </p:nvSpPr>
        <p:spPr>
          <a:xfrm>
            <a:off x="924791" y="702212"/>
            <a:ext cx="4920163" cy="398957"/>
          </a:xfrm>
        </p:spPr>
        <p:txBody>
          <a:bodyPr/>
          <a:lstStyle/>
          <a:p>
            <a:r>
              <a:rPr lang="en-US" b="1" dirty="0">
                <a:solidFill>
                  <a:srgbClr val="0070C0"/>
                </a:solidFill>
                <a:latin typeface="Arial" panose="020B0604020202020204" pitchFamily="34" charset="0"/>
                <a:cs typeface="Arial" panose="020B0604020202020204" pitchFamily="34" charset="0"/>
              </a:rPr>
              <a:t>Table 20.2 </a:t>
            </a:r>
            <a:r>
              <a:rPr lang="en-US" dirty="0">
                <a:latin typeface="Arial" panose="020B0604020202020204" pitchFamily="34" charset="0"/>
                <a:cs typeface="Arial" panose="020B0604020202020204" pitchFamily="34" charset="0"/>
              </a:rPr>
              <a:t>Bacterial Diseases in Humans</a:t>
            </a:r>
          </a:p>
        </p:txBody>
      </p:sp>
      <p:sp>
        <p:nvSpPr>
          <p:cNvPr id="4" name="Slide Number Placeholder 5">
            <a:extLst>
              <a:ext uri="{FF2B5EF4-FFF2-40B4-BE49-F238E27FC236}">
                <a16:creationId xmlns:a16="http://schemas.microsoft.com/office/drawing/2014/main" id="{175CF9AB-9A7A-4C4D-873C-BF99A738B70C}"/>
              </a:ext>
            </a:extLst>
          </p:cNvPr>
          <p:cNvSpPr>
            <a:spLocks noGrp="1"/>
          </p:cNvSpPr>
          <p:nvPr>
            <p:ph type="sldNum" sz="quarter" idx="4"/>
          </p:nvPr>
        </p:nvSpPr>
        <p:spPr/>
        <p:txBody>
          <a:bodyPr/>
          <a:lstStyle/>
          <a:p>
            <a:fld id="{68151E55-6873-49E2-B8D5-2F265E6F1973}" type="slidenum">
              <a:rPr lang="en-US" smtClean="0"/>
              <a:pPr/>
              <a:t>38</a:t>
            </a:fld>
            <a:endParaRPr lang="en-US" dirty="0"/>
          </a:p>
        </p:txBody>
      </p:sp>
    </p:spTree>
    <p:extLst>
      <p:ext uri="{BB962C8B-B14F-4D97-AF65-F5344CB8AC3E}">
        <p14:creationId xmlns:p14="http://schemas.microsoft.com/office/powerpoint/2010/main" val="1881200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F8A6-EB89-415B-B841-EBDD9D0BAB78}"/>
              </a:ext>
            </a:extLst>
          </p:cNvPr>
          <p:cNvSpPr>
            <a:spLocks noGrp="1"/>
          </p:cNvSpPr>
          <p:nvPr>
            <p:ph type="title"/>
          </p:nvPr>
        </p:nvSpPr>
        <p:spPr>
          <a:xfrm>
            <a:off x="0" y="2"/>
            <a:ext cx="9144000" cy="863992"/>
          </a:xfrm>
        </p:spPr>
        <p:txBody>
          <a:bodyPr/>
          <a:lstStyle/>
          <a:p>
            <a:r>
              <a:rPr lang="en-US" altLang="en-US" dirty="0"/>
              <a:t>Antibiotics</a:t>
            </a:r>
            <a:endParaRPr lang="en-IN" dirty="0"/>
          </a:p>
        </p:txBody>
      </p:sp>
      <p:sp>
        <p:nvSpPr>
          <p:cNvPr id="5" name="Text Placeholder 2">
            <a:extLst>
              <a:ext uri="{FF2B5EF4-FFF2-40B4-BE49-F238E27FC236}">
                <a16:creationId xmlns:a16="http://schemas.microsoft.com/office/drawing/2014/main" id="{540C18A6-F587-462D-A6BE-522D2F14A8E5}"/>
              </a:ext>
            </a:extLst>
          </p:cNvPr>
          <p:cNvSpPr>
            <a:spLocks noGrp="1"/>
          </p:cNvSpPr>
          <p:nvPr>
            <p:ph type="body" sz="quarter" idx="19"/>
          </p:nvPr>
        </p:nvSpPr>
        <p:spPr>
          <a:xfrm>
            <a:off x="842963" y="863993"/>
            <a:ext cx="7623676" cy="3262838"/>
          </a:xfrm>
        </p:spPr>
        <p:txBody>
          <a:bodyPr>
            <a:normAutofit fontScale="92500" lnSpcReduction="10000"/>
          </a:bodyPr>
          <a:lstStyle/>
          <a:p>
            <a:pPr lvl="0">
              <a:lnSpc>
                <a:spcPct val="80000"/>
              </a:lnSpc>
              <a:spcAft>
                <a:spcPts val="1500"/>
              </a:spcAft>
            </a:pPr>
            <a:r>
              <a:rPr lang="en-US" altLang="en-US" sz="2700" dirty="0">
                <a:solidFill>
                  <a:prstClr val="black"/>
                </a:solidFill>
              </a:rPr>
              <a:t>Antibiotic compounds fall into two classes.</a:t>
            </a:r>
          </a:p>
          <a:p>
            <a:pPr marL="0" lvl="1" indent="0">
              <a:lnSpc>
                <a:spcPct val="80000"/>
              </a:lnSpc>
              <a:spcBef>
                <a:spcPts val="0"/>
              </a:spcBef>
              <a:buNone/>
            </a:pPr>
            <a:r>
              <a:rPr lang="en-US" altLang="en-US" sz="2400" dirty="0">
                <a:solidFill>
                  <a:prstClr val="black"/>
                </a:solidFill>
              </a:rPr>
              <a:t>Compounds that inhibit protein biosynthesis</a:t>
            </a:r>
          </a:p>
          <a:p>
            <a:pPr marL="427038" lvl="2" indent="-342900">
              <a:lnSpc>
                <a:spcPct val="80000"/>
              </a:lnSpc>
              <a:spcBef>
                <a:spcPts val="900"/>
              </a:spcBef>
              <a:spcAft>
                <a:spcPts val="0"/>
              </a:spcAft>
            </a:pPr>
            <a:r>
              <a:rPr lang="en-US" altLang="en-US" sz="2100" dirty="0">
                <a:solidFill>
                  <a:prstClr val="black"/>
                </a:solidFill>
              </a:rPr>
              <a:t>Erythromycin</a:t>
            </a:r>
          </a:p>
          <a:p>
            <a:pPr marL="427038" lvl="2" indent="-342900">
              <a:lnSpc>
                <a:spcPct val="80000"/>
              </a:lnSpc>
              <a:spcBef>
                <a:spcPts val="900"/>
              </a:spcBef>
              <a:spcAft>
                <a:spcPts val="0"/>
              </a:spcAft>
            </a:pPr>
            <a:r>
              <a:rPr lang="en-US" altLang="en-US" sz="2100" dirty="0">
                <a:solidFill>
                  <a:prstClr val="black"/>
                </a:solidFill>
              </a:rPr>
              <a:t>Tetracycline</a:t>
            </a:r>
          </a:p>
          <a:p>
            <a:pPr marL="0" lvl="1" indent="0">
              <a:lnSpc>
                <a:spcPct val="80000"/>
              </a:lnSpc>
              <a:spcBef>
                <a:spcPts val="900"/>
              </a:spcBef>
              <a:buNone/>
            </a:pPr>
            <a:r>
              <a:rPr lang="en-US" altLang="en-US" sz="2400" dirty="0">
                <a:solidFill>
                  <a:prstClr val="black"/>
                </a:solidFill>
              </a:rPr>
              <a:t>Compounds that inhibit cell wall biosynthesis</a:t>
            </a:r>
          </a:p>
          <a:p>
            <a:pPr marL="427038" lvl="2" indent="-342900">
              <a:lnSpc>
                <a:spcPct val="80000"/>
              </a:lnSpc>
              <a:spcBef>
                <a:spcPts val="900"/>
              </a:spcBef>
              <a:spcAft>
                <a:spcPts val="0"/>
              </a:spcAft>
            </a:pPr>
            <a:r>
              <a:rPr lang="en-US" altLang="en-US" sz="2100" dirty="0">
                <a:solidFill>
                  <a:prstClr val="black"/>
                </a:solidFill>
              </a:rPr>
              <a:t>These affect bacterial but not animal cells</a:t>
            </a:r>
          </a:p>
          <a:p>
            <a:pPr marL="427038" lvl="2" indent="-342900">
              <a:lnSpc>
                <a:spcPct val="80000"/>
              </a:lnSpc>
              <a:spcBef>
                <a:spcPts val="900"/>
              </a:spcBef>
              <a:spcAft>
                <a:spcPts val="0"/>
              </a:spcAft>
            </a:pPr>
            <a:r>
              <a:rPr lang="en-US" altLang="en-US" sz="2100" dirty="0">
                <a:solidFill>
                  <a:prstClr val="black"/>
                </a:solidFill>
              </a:rPr>
              <a:t>Penicillin</a:t>
            </a:r>
          </a:p>
          <a:p>
            <a:pPr marL="427038" lvl="2" indent="-342900">
              <a:lnSpc>
                <a:spcPct val="80000"/>
              </a:lnSpc>
              <a:spcBef>
                <a:spcPts val="900"/>
              </a:spcBef>
              <a:spcAft>
                <a:spcPts val="0"/>
              </a:spcAft>
            </a:pPr>
            <a:r>
              <a:rPr lang="en-US" altLang="en-US" sz="2100" dirty="0">
                <a:solidFill>
                  <a:prstClr val="black"/>
                </a:solidFill>
              </a:rPr>
              <a:t>Ampicillin</a:t>
            </a:r>
          </a:p>
          <a:p>
            <a:pPr marL="427038" lvl="2" indent="-342900">
              <a:lnSpc>
                <a:spcPct val="80000"/>
              </a:lnSpc>
              <a:spcBef>
                <a:spcPts val="900"/>
              </a:spcBef>
              <a:spcAft>
                <a:spcPts val="0"/>
              </a:spcAft>
            </a:pPr>
            <a:r>
              <a:rPr lang="en-US" altLang="en-US" sz="2100" dirty="0">
                <a:solidFill>
                  <a:prstClr val="black"/>
                </a:solidFill>
              </a:rPr>
              <a:t>Fluoroquinolone</a:t>
            </a:r>
          </a:p>
        </p:txBody>
      </p:sp>
      <p:sp>
        <p:nvSpPr>
          <p:cNvPr id="6" name="Text Placeholder 3">
            <a:extLst>
              <a:ext uri="{FF2B5EF4-FFF2-40B4-BE49-F238E27FC236}">
                <a16:creationId xmlns:a16="http://schemas.microsoft.com/office/drawing/2014/main" id="{8189E1CD-7D03-49C5-96BD-A5F5AA84BC8D}"/>
              </a:ext>
            </a:extLst>
          </p:cNvPr>
          <p:cNvSpPr>
            <a:spLocks noGrp="1"/>
          </p:cNvSpPr>
          <p:nvPr>
            <p:ph type="body" sz="quarter" idx="20"/>
          </p:nvPr>
        </p:nvSpPr>
        <p:spPr>
          <a:xfrm>
            <a:off x="950913" y="4211052"/>
            <a:ext cx="7515726" cy="2394285"/>
          </a:xfrm>
        </p:spPr>
        <p:txBody>
          <a:bodyPr>
            <a:normAutofit/>
          </a:bodyPr>
          <a:lstStyle/>
          <a:p>
            <a:pPr lvl="0">
              <a:lnSpc>
                <a:spcPct val="80000"/>
              </a:lnSpc>
              <a:spcAft>
                <a:spcPts val="1500"/>
              </a:spcAft>
            </a:pPr>
            <a:r>
              <a:rPr lang="en-US" altLang="en-US" sz="2500" dirty="0">
                <a:solidFill>
                  <a:prstClr val="black"/>
                </a:solidFill>
              </a:rPr>
              <a:t>Bacterial resistance to antibiotics is increasing.</a:t>
            </a:r>
          </a:p>
          <a:p>
            <a:pPr marL="285750" lvl="1">
              <a:lnSpc>
                <a:spcPct val="80000"/>
              </a:lnSpc>
              <a:spcBef>
                <a:spcPts val="0"/>
              </a:spcBef>
            </a:pPr>
            <a:r>
              <a:rPr lang="en-US" altLang="en-US" sz="2200" dirty="0">
                <a:solidFill>
                  <a:prstClr val="black"/>
                </a:solidFill>
              </a:rPr>
              <a:t>Genes conferring resistance can be transferred among bacteria by transformation, conjugation, or transduction.</a:t>
            </a:r>
          </a:p>
          <a:p>
            <a:pPr marL="285750" lvl="1">
              <a:lnSpc>
                <a:spcPct val="80000"/>
              </a:lnSpc>
              <a:spcBef>
                <a:spcPts val="900"/>
              </a:spcBef>
            </a:pPr>
            <a:r>
              <a:rPr lang="en-US" altLang="en-US" sz="2200" dirty="0">
                <a:solidFill>
                  <a:prstClr val="black"/>
                </a:solidFill>
              </a:rPr>
              <a:t>Now 90</a:t>
            </a:r>
            <a:r>
              <a:rPr lang="en-US" altLang="en-US" sz="2200" dirty="0">
                <a:solidFill>
                  <a:prstClr val="black"/>
                </a:solidFill>
                <a:latin typeface="Calibri" panose="020F0502020204030204" pitchFamily="34" charset="0"/>
              </a:rPr>
              <a:t>%</a:t>
            </a:r>
            <a:r>
              <a:rPr lang="en-US" altLang="en-US" sz="2200" dirty="0">
                <a:solidFill>
                  <a:prstClr val="black"/>
                </a:solidFill>
              </a:rPr>
              <a:t> of </a:t>
            </a:r>
            <a:r>
              <a:rPr lang="en-US" altLang="en-US" sz="2200" i="1" dirty="0">
                <a:solidFill>
                  <a:prstClr val="black"/>
                </a:solidFill>
              </a:rPr>
              <a:t>Staphylococcus</a:t>
            </a:r>
            <a:r>
              <a:rPr lang="en-US" altLang="en-US" sz="2200" dirty="0">
                <a:solidFill>
                  <a:prstClr val="black"/>
                </a:solidFill>
              </a:rPr>
              <a:t> </a:t>
            </a:r>
            <a:r>
              <a:rPr lang="en-US" altLang="en-US" sz="2200" i="1" dirty="0">
                <a:solidFill>
                  <a:prstClr val="black"/>
                </a:solidFill>
              </a:rPr>
              <a:t>aureus</a:t>
            </a:r>
            <a:r>
              <a:rPr lang="en-US" altLang="en-US" sz="2200" dirty="0">
                <a:solidFill>
                  <a:prstClr val="black"/>
                </a:solidFill>
              </a:rPr>
              <a:t> are resistant to penicillin and, increasingly, to methicillin (MRSA).</a:t>
            </a:r>
          </a:p>
          <a:p>
            <a:pPr marL="285750" lvl="1">
              <a:lnSpc>
                <a:spcPct val="80000"/>
              </a:lnSpc>
              <a:spcBef>
                <a:spcPts val="900"/>
              </a:spcBef>
            </a:pPr>
            <a:r>
              <a:rPr lang="en-US" altLang="en-US" sz="2200" dirty="0">
                <a:solidFill>
                  <a:prstClr val="black"/>
                </a:solidFill>
              </a:rPr>
              <a:t>MRSA is common in hospitals and nursing facilities.</a:t>
            </a:r>
          </a:p>
        </p:txBody>
      </p:sp>
      <p:sp>
        <p:nvSpPr>
          <p:cNvPr id="4" name="Slide Number Placeholder 4">
            <a:extLst>
              <a:ext uri="{FF2B5EF4-FFF2-40B4-BE49-F238E27FC236}">
                <a16:creationId xmlns:a16="http://schemas.microsoft.com/office/drawing/2014/main" id="{FCA812F8-BF68-4EB8-AF3A-4D89A9922D81}"/>
              </a:ext>
            </a:extLst>
          </p:cNvPr>
          <p:cNvSpPr>
            <a:spLocks noGrp="1"/>
          </p:cNvSpPr>
          <p:nvPr>
            <p:ph type="sldNum" sz="quarter" idx="4"/>
          </p:nvPr>
        </p:nvSpPr>
        <p:spPr/>
        <p:txBody>
          <a:bodyPr/>
          <a:lstStyle/>
          <a:p>
            <a:fld id="{68151E55-6873-49E2-B8D5-2F265E6F1973}" type="slidenum">
              <a:rPr lang="en-US" smtClean="0"/>
              <a:pPr/>
              <a:t>39</a:t>
            </a:fld>
            <a:endParaRPr lang="en-US" dirty="0"/>
          </a:p>
        </p:txBody>
      </p:sp>
    </p:spTree>
    <p:extLst>
      <p:ext uri="{BB962C8B-B14F-4D97-AF65-F5344CB8AC3E}">
        <p14:creationId xmlns:p14="http://schemas.microsoft.com/office/powerpoint/2010/main" val="17229115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CE35-1050-49E3-B02A-A60BA3D58C89}"/>
              </a:ext>
            </a:extLst>
          </p:cNvPr>
          <p:cNvSpPr>
            <a:spLocks noGrp="1"/>
          </p:cNvSpPr>
          <p:nvPr>
            <p:ph type="title"/>
          </p:nvPr>
        </p:nvSpPr>
        <p:spPr>
          <a:xfrm>
            <a:off x="0" y="1"/>
            <a:ext cx="9144000" cy="998620"/>
          </a:xfrm>
        </p:spPr>
        <p:txBody>
          <a:bodyPr/>
          <a:lstStyle/>
          <a:p>
            <a:r>
              <a:rPr lang="en-US" altLang="en-US" dirty="0"/>
              <a:t>Cyanobacteria</a:t>
            </a:r>
            <a:endParaRPr lang="en-IN" dirty="0"/>
          </a:p>
        </p:txBody>
      </p:sp>
      <p:sp>
        <p:nvSpPr>
          <p:cNvPr id="3" name="Text Placeholder 2">
            <a:extLst>
              <a:ext uri="{FF2B5EF4-FFF2-40B4-BE49-F238E27FC236}">
                <a16:creationId xmlns:a16="http://schemas.microsoft.com/office/drawing/2014/main" id="{F9CCB23C-08C3-4136-BBBD-197F413178AD}"/>
              </a:ext>
            </a:extLst>
          </p:cNvPr>
          <p:cNvSpPr>
            <a:spLocks noGrp="1"/>
          </p:cNvSpPr>
          <p:nvPr>
            <p:ph type="body" sz="quarter" idx="19"/>
          </p:nvPr>
        </p:nvSpPr>
        <p:spPr>
          <a:xfrm>
            <a:off x="842963" y="1177179"/>
            <a:ext cx="7623676" cy="5330739"/>
          </a:xfrm>
        </p:spPr>
        <p:txBody>
          <a:bodyPr>
            <a:normAutofit lnSpcReduction="10000"/>
          </a:bodyPr>
          <a:lstStyle/>
          <a:p>
            <a:pPr marL="0" lvl="1" indent="0">
              <a:lnSpc>
                <a:spcPct val="90000"/>
              </a:lnSpc>
              <a:spcBef>
                <a:spcPts val="0"/>
              </a:spcBef>
              <a:buNone/>
            </a:pPr>
            <a:r>
              <a:rPr lang="en-US" sz="2400" dirty="0">
                <a:solidFill>
                  <a:prstClr val="black"/>
                </a:solidFill>
              </a:rPr>
              <a:t>Formerly called the blue-green algae (Cyanophyta)</a:t>
            </a:r>
          </a:p>
          <a:p>
            <a:pPr marL="0" lvl="1" indent="0">
              <a:lnSpc>
                <a:spcPct val="90000"/>
              </a:lnSpc>
              <a:spcBef>
                <a:spcPts val="1200"/>
              </a:spcBef>
              <a:buNone/>
            </a:pPr>
            <a:r>
              <a:rPr lang="en-US" sz="2400" dirty="0">
                <a:solidFill>
                  <a:prstClr val="black"/>
                </a:solidFill>
              </a:rPr>
              <a:t>Cyanobacteria are Gram-negative bacteria that are photosynthetic.</a:t>
            </a:r>
          </a:p>
          <a:p>
            <a:pPr marL="0" lvl="1" indent="0">
              <a:lnSpc>
                <a:spcPct val="90000"/>
              </a:lnSpc>
              <a:spcBef>
                <a:spcPts val="1200"/>
              </a:spcBef>
              <a:buNone/>
            </a:pPr>
            <a:r>
              <a:rPr lang="en-US" sz="2400" dirty="0">
                <a:solidFill>
                  <a:prstClr val="black"/>
                </a:solidFill>
              </a:rPr>
              <a:t>Believed to be responsible for introducing oxygen into the primitive atmosphere</a:t>
            </a:r>
          </a:p>
          <a:p>
            <a:pPr marL="265113" lvl="2" indent="-265113">
              <a:lnSpc>
                <a:spcPct val="90000"/>
              </a:lnSpc>
              <a:spcBef>
                <a:spcPts val="1200"/>
              </a:spcBef>
              <a:tabLst>
                <a:tab pos="84138" algn="l"/>
              </a:tabLst>
            </a:pPr>
            <a:r>
              <a:rPr lang="en-US" sz="2000" dirty="0">
                <a:solidFill>
                  <a:prstClr val="black"/>
                </a:solidFill>
              </a:rPr>
              <a:t>Lack visible means of locomotion</a:t>
            </a:r>
          </a:p>
          <a:p>
            <a:pPr marL="265113" lvl="2" indent="-265113">
              <a:lnSpc>
                <a:spcPct val="90000"/>
              </a:lnSpc>
              <a:spcBef>
                <a:spcPts val="1200"/>
              </a:spcBef>
              <a:tabLst>
                <a:tab pos="84138" algn="l"/>
              </a:tabLst>
            </a:pPr>
            <a:r>
              <a:rPr lang="en-US" sz="2000" dirty="0">
                <a:solidFill>
                  <a:prstClr val="black"/>
                </a:solidFill>
              </a:rPr>
              <a:t>Can live in extreme environments</a:t>
            </a:r>
          </a:p>
          <a:p>
            <a:pPr marL="265113" lvl="2" indent="-265113">
              <a:lnSpc>
                <a:spcPct val="90000"/>
              </a:lnSpc>
              <a:spcBef>
                <a:spcPts val="1200"/>
              </a:spcBef>
              <a:tabLst>
                <a:tab pos="84138" algn="l"/>
              </a:tabLst>
            </a:pPr>
            <a:r>
              <a:rPr lang="en-US" sz="2000" dirty="0">
                <a:solidFill>
                  <a:prstClr val="black"/>
                </a:solidFill>
              </a:rPr>
              <a:t>In association with fungi, form </a:t>
            </a:r>
            <a:r>
              <a:rPr lang="en-US" sz="2000" b="1" dirty="0">
                <a:solidFill>
                  <a:srgbClr val="D90000"/>
                </a:solidFill>
              </a:rPr>
              <a:t>lichens</a:t>
            </a:r>
          </a:p>
          <a:p>
            <a:pPr marL="265113" lvl="2" indent="-265113">
              <a:lnSpc>
                <a:spcPct val="90000"/>
              </a:lnSpc>
              <a:spcBef>
                <a:spcPts val="1200"/>
              </a:spcBef>
              <a:tabLst>
                <a:tab pos="84138" algn="l"/>
              </a:tabLst>
            </a:pPr>
            <a:r>
              <a:rPr lang="en-US" sz="2000" dirty="0">
                <a:solidFill>
                  <a:prstClr val="black"/>
                </a:solidFill>
              </a:rPr>
              <a:t>They possess </a:t>
            </a:r>
            <a:r>
              <a:rPr lang="en-US" sz="2000" dirty="0" err="1">
                <a:solidFill>
                  <a:prstClr val="black"/>
                </a:solidFill>
              </a:rPr>
              <a:t>heterocysts</a:t>
            </a:r>
            <a:r>
              <a:rPr lang="en-US" sz="2000" dirty="0">
                <a:solidFill>
                  <a:prstClr val="black"/>
                </a:solidFill>
              </a:rPr>
              <a:t>, cells without nuclei, where nitrogen fixation occurs.</a:t>
            </a:r>
          </a:p>
          <a:p>
            <a:pPr marL="265113" lvl="2" indent="-265113">
              <a:lnSpc>
                <a:spcPct val="90000"/>
              </a:lnSpc>
              <a:spcBef>
                <a:spcPts val="1200"/>
              </a:spcBef>
              <a:tabLst>
                <a:tab pos="84138" algn="l"/>
              </a:tabLst>
            </a:pPr>
            <a:r>
              <a:rPr lang="en-US" sz="2000" dirty="0">
                <a:solidFill>
                  <a:prstClr val="black"/>
                </a:solidFill>
              </a:rPr>
              <a:t>Cyanobacterial “blooms” result from pollution in lakes and ponds.</a:t>
            </a:r>
          </a:p>
        </p:txBody>
      </p:sp>
      <p:sp>
        <p:nvSpPr>
          <p:cNvPr id="4" name="Slide Number Placeholder 3">
            <a:extLst>
              <a:ext uri="{FF2B5EF4-FFF2-40B4-BE49-F238E27FC236}">
                <a16:creationId xmlns:a16="http://schemas.microsoft.com/office/drawing/2014/main" id="{0C28119C-A301-412D-8C2A-1208AD7F1350}"/>
              </a:ext>
            </a:extLst>
          </p:cNvPr>
          <p:cNvSpPr>
            <a:spLocks noGrp="1"/>
          </p:cNvSpPr>
          <p:nvPr>
            <p:ph type="sldNum" sz="quarter" idx="4"/>
          </p:nvPr>
        </p:nvSpPr>
        <p:spPr/>
        <p:txBody>
          <a:bodyPr/>
          <a:lstStyle/>
          <a:p>
            <a:fld id="{68151E55-6873-49E2-B8D5-2F265E6F1973}" type="slidenum">
              <a:rPr lang="en-US" smtClean="0"/>
              <a:pPr/>
              <a:t>40</a:t>
            </a:fld>
            <a:endParaRPr lang="en-US" dirty="0"/>
          </a:p>
        </p:txBody>
      </p:sp>
    </p:spTree>
    <p:extLst>
      <p:ext uri="{BB962C8B-B14F-4D97-AF65-F5344CB8AC3E}">
        <p14:creationId xmlns:p14="http://schemas.microsoft.com/office/powerpoint/2010/main" val="35846826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85AC-37F7-4AC1-A271-A90E4359B45F}"/>
              </a:ext>
            </a:extLst>
          </p:cNvPr>
          <p:cNvSpPr>
            <a:spLocks noGrp="1"/>
          </p:cNvSpPr>
          <p:nvPr>
            <p:ph type="title"/>
          </p:nvPr>
        </p:nvSpPr>
        <p:spPr>
          <a:xfrm>
            <a:off x="962526" y="23724"/>
            <a:ext cx="7218947" cy="1174466"/>
          </a:xfrm>
        </p:spPr>
        <p:txBody>
          <a:bodyPr/>
          <a:lstStyle/>
          <a:p>
            <a:r>
              <a:rPr lang="en-US" altLang="en-US" dirty="0"/>
              <a:t>Diversity Among Cyanobacteria</a:t>
            </a:r>
            <a:endParaRPr lang="en-IN" dirty="0"/>
          </a:p>
        </p:txBody>
      </p:sp>
      <p:pic>
        <p:nvPicPr>
          <p:cNvPr id="8" name="Picture 2" descr="Micrographs of Gloeocapsa and Oscillatoria with a diagram of Oscillatoria cell. ">
            <a:extLst>
              <a:ext uri="{FF2B5EF4-FFF2-40B4-BE49-F238E27FC236}">
                <a16:creationId xmlns:a16="http://schemas.microsoft.com/office/drawing/2014/main" id="{B60BA6AE-CCEB-4AD8-B807-E218D5751B2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313" b="3173"/>
          <a:stretch/>
        </p:blipFill>
        <p:spPr>
          <a:xfrm>
            <a:off x="703231" y="1512515"/>
            <a:ext cx="8225111" cy="4026717"/>
          </a:xfrm>
          <a:prstGeom prst="rect">
            <a:avLst/>
          </a:prstGeom>
        </p:spPr>
      </p:pic>
      <p:sp>
        <p:nvSpPr>
          <p:cNvPr id="5" name="Text Placeholder 3">
            <a:extLst>
              <a:ext uri="{FF2B5EF4-FFF2-40B4-BE49-F238E27FC236}">
                <a16:creationId xmlns:a16="http://schemas.microsoft.com/office/drawing/2014/main" id="{379E6CC1-5A31-4CAB-AF94-B0FD1C8491DA}"/>
              </a:ext>
            </a:extLst>
          </p:cNvPr>
          <p:cNvSpPr>
            <a:spLocks noGrp="1"/>
          </p:cNvSpPr>
          <p:nvPr>
            <p:ph type="body" sz="quarter" idx="18"/>
          </p:nvPr>
        </p:nvSpPr>
        <p:spPr>
          <a:xfrm>
            <a:off x="3882134" y="5808164"/>
            <a:ext cx="1379730"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.12</a:t>
            </a:r>
          </a:p>
        </p:txBody>
      </p:sp>
      <p:sp>
        <p:nvSpPr>
          <p:cNvPr id="6" name="Text Placeholder 4">
            <a:extLst>
              <a:ext uri="{FF2B5EF4-FFF2-40B4-BE49-F238E27FC236}">
                <a16:creationId xmlns:a16="http://schemas.microsoft.com/office/drawing/2014/main" id="{E1C6E6B7-A393-4117-B119-BF53FB5AD016}"/>
              </a:ext>
            </a:extLst>
          </p:cNvPr>
          <p:cNvSpPr>
            <a:spLocks noGrp="1"/>
          </p:cNvSpPr>
          <p:nvPr>
            <p:ph type="body" sz="quarter" idx="19"/>
          </p:nvPr>
        </p:nvSpPr>
        <p:spPr>
          <a:xfrm>
            <a:off x="2954128" y="6122489"/>
            <a:ext cx="3235742" cy="314325"/>
          </a:xfrm>
        </p:spPr>
        <p:txBody>
          <a:bodyPr>
            <a:normAutofit/>
          </a:bodyPr>
          <a:lstStyle/>
          <a:p>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E1D003E3-535A-4E76-AA4E-963D70885BA8}"/>
              </a:ext>
            </a:extLst>
          </p:cNvPr>
          <p:cNvSpPr>
            <a:spLocks noGrp="1"/>
          </p:cNvSpPr>
          <p:nvPr>
            <p:ph type="body" sz="quarter" idx="21"/>
          </p:nvPr>
        </p:nvSpPr>
        <p:spPr>
          <a:xfrm>
            <a:off x="3982452" y="6563439"/>
            <a:ext cx="4639727" cy="258805"/>
          </a:xfrm>
        </p:spPr>
        <p:txBody>
          <a:bodyPr/>
          <a:lstStyle/>
          <a:p>
            <a:pPr lvl="0"/>
            <a:r>
              <a:rPr lang="en-US" sz="800" dirty="0"/>
              <a:t>(a): Michael Abbey/Science Source; (b): Sinclair Stammers/Science Photo Library/Getty Images</a:t>
            </a:r>
            <a:endParaRPr lang="en-GB" sz="800" dirty="0"/>
          </a:p>
        </p:txBody>
      </p:sp>
      <p:sp>
        <p:nvSpPr>
          <p:cNvPr id="4" name="Slide Number Placeholder 6">
            <a:extLst>
              <a:ext uri="{FF2B5EF4-FFF2-40B4-BE49-F238E27FC236}">
                <a16:creationId xmlns:a16="http://schemas.microsoft.com/office/drawing/2014/main" id="{D294E3D5-E7BC-4EEF-8A16-A0AB4B951DC4}"/>
              </a:ext>
            </a:extLst>
          </p:cNvPr>
          <p:cNvSpPr>
            <a:spLocks noGrp="1"/>
          </p:cNvSpPr>
          <p:nvPr>
            <p:ph type="sldNum" sz="quarter" idx="4"/>
          </p:nvPr>
        </p:nvSpPr>
        <p:spPr/>
        <p:txBody>
          <a:bodyPr/>
          <a:lstStyle/>
          <a:p>
            <a:fld id="{68151E55-6873-49E2-B8D5-2F265E6F1973}" type="slidenum">
              <a:rPr lang="en-US" smtClean="0"/>
              <a:pPr/>
              <a:t>41</a:t>
            </a:fld>
            <a:endParaRPr lang="en-US" dirty="0"/>
          </a:p>
        </p:txBody>
      </p:sp>
    </p:spTree>
    <p:extLst>
      <p:ext uri="{BB962C8B-B14F-4D97-AF65-F5344CB8AC3E}">
        <p14:creationId xmlns:p14="http://schemas.microsoft.com/office/powerpoint/2010/main" val="39418008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6287E-5EAB-4299-81EE-009472A146A1}"/>
              </a:ext>
            </a:extLst>
          </p:cNvPr>
          <p:cNvSpPr>
            <a:spLocks noGrp="1"/>
          </p:cNvSpPr>
          <p:nvPr>
            <p:ph type="title"/>
          </p:nvPr>
        </p:nvSpPr>
        <p:spPr/>
        <p:txBody>
          <a:bodyPr/>
          <a:lstStyle/>
          <a:p>
            <a:r>
              <a:rPr lang="en-US" altLang="en-US" dirty="0"/>
              <a:t>20.4 Archaea</a:t>
            </a:r>
            <a:endParaRPr lang="en-IN" dirty="0"/>
          </a:p>
        </p:txBody>
      </p:sp>
      <p:sp>
        <p:nvSpPr>
          <p:cNvPr id="5" name="Text Placeholder 2">
            <a:extLst>
              <a:ext uri="{FF2B5EF4-FFF2-40B4-BE49-F238E27FC236}">
                <a16:creationId xmlns:a16="http://schemas.microsoft.com/office/drawing/2014/main" id="{B831B7D3-23FB-4300-BC0C-D8AE45D5057B}"/>
              </a:ext>
            </a:extLst>
          </p:cNvPr>
          <p:cNvSpPr>
            <a:spLocks noGrp="1"/>
          </p:cNvSpPr>
          <p:nvPr>
            <p:ph type="body" sz="quarter" idx="19"/>
          </p:nvPr>
        </p:nvSpPr>
        <p:spPr>
          <a:xfrm>
            <a:off x="919661" y="1117796"/>
            <a:ext cx="7789861" cy="4393441"/>
          </a:xfrm>
        </p:spPr>
        <p:txBody>
          <a:bodyPr>
            <a:normAutofit lnSpcReduction="10000"/>
          </a:bodyPr>
          <a:lstStyle/>
          <a:p>
            <a:pPr lvl="0">
              <a:lnSpc>
                <a:spcPct val="90000"/>
              </a:lnSpc>
              <a:spcAft>
                <a:spcPts val="1500"/>
              </a:spcAft>
            </a:pPr>
            <a:r>
              <a:rPr lang="en-US" altLang="en-US" sz="3000" b="1" dirty="0">
                <a:solidFill>
                  <a:srgbClr val="D90000"/>
                </a:solidFill>
              </a:rPr>
              <a:t>Archaea</a:t>
            </a:r>
            <a:r>
              <a:rPr lang="en-US" altLang="en-US" sz="3000" dirty="0">
                <a:solidFill>
                  <a:prstClr val="black"/>
                </a:solidFill>
              </a:rPr>
              <a:t> were formerly considered bacteria.</a:t>
            </a:r>
          </a:p>
          <a:p>
            <a:pPr lvl="0">
              <a:lnSpc>
                <a:spcPct val="90000"/>
              </a:lnSpc>
              <a:spcAft>
                <a:spcPts val="1500"/>
              </a:spcAft>
            </a:pPr>
            <a:r>
              <a:rPr lang="en-US" altLang="en-US" sz="3000" dirty="0">
                <a:solidFill>
                  <a:prstClr val="black"/>
                </a:solidFill>
              </a:rPr>
              <a:t>Carl </a:t>
            </a:r>
            <a:r>
              <a:rPr lang="en-US" altLang="en-US" sz="3000" dirty="0" err="1">
                <a:solidFill>
                  <a:prstClr val="black"/>
                </a:solidFill>
              </a:rPr>
              <a:t>Woese</a:t>
            </a:r>
            <a:r>
              <a:rPr lang="en-US" altLang="en-US" sz="3000" dirty="0">
                <a:solidFill>
                  <a:prstClr val="black"/>
                </a:solidFill>
              </a:rPr>
              <a:t> and George Fox discovered that the base sequence of their rRNA differs from bacteria.</a:t>
            </a:r>
          </a:p>
          <a:p>
            <a:pPr lvl="0">
              <a:lnSpc>
                <a:spcPct val="90000"/>
              </a:lnSpc>
              <a:spcAft>
                <a:spcPts val="1500"/>
              </a:spcAft>
            </a:pPr>
            <a:r>
              <a:rPr lang="en-US" altLang="en-US" sz="3000" dirty="0">
                <a:solidFill>
                  <a:prstClr val="black"/>
                </a:solidFill>
              </a:rPr>
              <a:t>Other differences:</a:t>
            </a:r>
          </a:p>
          <a:p>
            <a:pPr marL="285750" lvl="1">
              <a:lnSpc>
                <a:spcPct val="90000"/>
              </a:lnSpc>
              <a:spcBef>
                <a:spcPts val="0"/>
              </a:spcBef>
            </a:pPr>
            <a:r>
              <a:rPr lang="en-US" altLang="en-US" sz="2600" dirty="0">
                <a:solidFill>
                  <a:prstClr val="black"/>
                </a:solidFill>
              </a:rPr>
              <a:t>Archaea do not have peptidoglycan in their cell walls like the bacteria.</a:t>
            </a:r>
          </a:p>
          <a:p>
            <a:pPr marL="285750" lvl="1">
              <a:lnSpc>
                <a:spcPct val="90000"/>
              </a:lnSpc>
              <a:spcBef>
                <a:spcPts val="1200"/>
              </a:spcBef>
            </a:pPr>
            <a:r>
              <a:rPr lang="en-US" altLang="en-US" sz="2600" dirty="0">
                <a:solidFill>
                  <a:prstClr val="black"/>
                </a:solidFill>
              </a:rPr>
              <a:t>Archaea are biochemically more like </a:t>
            </a:r>
            <a:r>
              <a:rPr lang="en-US" altLang="en-US" sz="2600" dirty="0" err="1">
                <a:solidFill>
                  <a:prstClr val="black"/>
                </a:solidFill>
              </a:rPr>
              <a:t>eukarya</a:t>
            </a:r>
            <a:r>
              <a:rPr lang="en-US" altLang="en-US" sz="2600" dirty="0">
                <a:solidFill>
                  <a:prstClr val="black"/>
                </a:solidFill>
              </a:rPr>
              <a:t> than bacteria.</a:t>
            </a:r>
          </a:p>
        </p:txBody>
      </p:sp>
      <p:sp>
        <p:nvSpPr>
          <p:cNvPr id="6" name="Text Placeholder 3">
            <a:extLst>
              <a:ext uri="{FF2B5EF4-FFF2-40B4-BE49-F238E27FC236}">
                <a16:creationId xmlns:a16="http://schemas.microsoft.com/office/drawing/2014/main" id="{79D2FE08-C3AD-4569-BA9C-949C808F2E45}"/>
              </a:ext>
            </a:extLst>
          </p:cNvPr>
          <p:cNvSpPr>
            <a:spLocks noGrp="1"/>
          </p:cNvSpPr>
          <p:nvPr>
            <p:ph type="body" sz="quarter" idx="20"/>
          </p:nvPr>
        </p:nvSpPr>
        <p:spPr>
          <a:xfrm>
            <a:off x="907628" y="5283004"/>
            <a:ext cx="7789862" cy="914400"/>
          </a:xfrm>
        </p:spPr>
        <p:txBody>
          <a:bodyPr>
            <a:normAutofit/>
          </a:bodyPr>
          <a:lstStyle/>
          <a:p>
            <a:pPr lvl="0">
              <a:lnSpc>
                <a:spcPct val="90000"/>
              </a:lnSpc>
              <a:spcBef>
                <a:spcPts val="1200"/>
              </a:spcBef>
            </a:pPr>
            <a:r>
              <a:rPr lang="en-US" altLang="en-US" sz="3000" dirty="0">
                <a:solidFill>
                  <a:prstClr val="black"/>
                </a:solidFill>
              </a:rPr>
              <a:t>Archaea are now thought to be more closely related to </a:t>
            </a:r>
            <a:r>
              <a:rPr lang="en-US" altLang="en-US" sz="3000" dirty="0" err="1">
                <a:solidFill>
                  <a:prstClr val="black"/>
                </a:solidFill>
              </a:rPr>
              <a:t>eukarya</a:t>
            </a:r>
            <a:r>
              <a:rPr lang="en-US" altLang="en-US" sz="3000" dirty="0">
                <a:solidFill>
                  <a:prstClr val="black"/>
                </a:solidFill>
              </a:rPr>
              <a:t> than to bacteria</a:t>
            </a:r>
          </a:p>
        </p:txBody>
      </p:sp>
      <p:sp>
        <p:nvSpPr>
          <p:cNvPr id="4" name="Slide Number Placeholder 4">
            <a:extLst>
              <a:ext uri="{FF2B5EF4-FFF2-40B4-BE49-F238E27FC236}">
                <a16:creationId xmlns:a16="http://schemas.microsoft.com/office/drawing/2014/main" id="{18C1CCBF-D381-474F-85A5-F19224D2D0CF}"/>
              </a:ext>
            </a:extLst>
          </p:cNvPr>
          <p:cNvSpPr>
            <a:spLocks noGrp="1"/>
          </p:cNvSpPr>
          <p:nvPr>
            <p:ph type="sldNum" sz="quarter" idx="4"/>
          </p:nvPr>
        </p:nvSpPr>
        <p:spPr/>
        <p:txBody>
          <a:bodyPr/>
          <a:lstStyle/>
          <a:p>
            <a:fld id="{68151E55-6873-49E2-B8D5-2F265E6F1973}" type="slidenum">
              <a:rPr lang="en-US" smtClean="0"/>
              <a:pPr/>
              <a:t>42</a:t>
            </a:fld>
            <a:endParaRPr lang="en-US" dirty="0"/>
          </a:p>
        </p:txBody>
      </p:sp>
    </p:spTree>
    <p:extLst>
      <p:ext uri="{BB962C8B-B14F-4D97-AF65-F5344CB8AC3E}">
        <p14:creationId xmlns:p14="http://schemas.microsoft.com/office/powerpoint/2010/main" val="4124104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B4D9A-DCCC-46A6-82E3-7D4B2FA41AA7}"/>
              </a:ext>
            </a:extLst>
          </p:cNvPr>
          <p:cNvSpPr>
            <a:spLocks noGrp="1"/>
          </p:cNvSpPr>
          <p:nvPr>
            <p:ph type="title"/>
          </p:nvPr>
        </p:nvSpPr>
        <p:spPr>
          <a:xfrm>
            <a:off x="0" y="1"/>
            <a:ext cx="9144000" cy="629391"/>
          </a:xfrm>
        </p:spPr>
        <p:txBody>
          <a:bodyPr/>
          <a:lstStyle/>
          <a:p>
            <a:r>
              <a:rPr lang="en-US" altLang="en-US" dirty="0"/>
              <a:t>Types of Archaea</a:t>
            </a:r>
            <a:endParaRPr lang="en-IN" dirty="0"/>
          </a:p>
        </p:txBody>
      </p:sp>
      <p:sp>
        <p:nvSpPr>
          <p:cNvPr id="3" name="Text Placeholder 2">
            <a:extLst>
              <a:ext uri="{FF2B5EF4-FFF2-40B4-BE49-F238E27FC236}">
                <a16:creationId xmlns:a16="http://schemas.microsoft.com/office/drawing/2014/main" id="{DFF81C6B-0DC4-419A-8E53-C211658C70B4}"/>
              </a:ext>
            </a:extLst>
          </p:cNvPr>
          <p:cNvSpPr>
            <a:spLocks noGrp="1"/>
          </p:cNvSpPr>
          <p:nvPr>
            <p:ph type="body" sz="quarter" idx="19"/>
          </p:nvPr>
        </p:nvSpPr>
        <p:spPr>
          <a:xfrm>
            <a:off x="842963" y="807522"/>
            <a:ext cx="7386637" cy="5857559"/>
          </a:xfrm>
        </p:spPr>
        <p:txBody>
          <a:bodyPr>
            <a:normAutofit lnSpcReduction="10000"/>
          </a:bodyPr>
          <a:lstStyle/>
          <a:p>
            <a:pPr lvl="0">
              <a:lnSpc>
                <a:spcPct val="80000"/>
              </a:lnSpc>
              <a:spcAft>
                <a:spcPts val="1500"/>
              </a:spcAft>
            </a:pPr>
            <a:r>
              <a:rPr lang="en-US" altLang="en-US" sz="3000" dirty="0">
                <a:solidFill>
                  <a:prstClr val="black"/>
                </a:solidFill>
              </a:rPr>
              <a:t>Many live in harsh conditions:</a:t>
            </a:r>
          </a:p>
          <a:p>
            <a:pPr marL="0" lvl="1" indent="0">
              <a:lnSpc>
                <a:spcPct val="80000"/>
              </a:lnSpc>
              <a:spcBef>
                <a:spcPts val="900"/>
              </a:spcBef>
              <a:buNone/>
            </a:pPr>
            <a:r>
              <a:rPr lang="en-US" altLang="en-US" sz="2600" dirty="0">
                <a:solidFill>
                  <a:prstClr val="black"/>
                </a:solidFill>
              </a:rPr>
              <a:t>Salty lakes</a:t>
            </a:r>
          </a:p>
          <a:p>
            <a:pPr marL="273050" lvl="2" indent="-273050">
              <a:lnSpc>
                <a:spcPct val="80000"/>
              </a:lnSpc>
              <a:spcBef>
                <a:spcPts val="900"/>
              </a:spcBef>
              <a:tabLst>
                <a:tab pos="177800" algn="l"/>
              </a:tabLst>
            </a:pPr>
            <a:r>
              <a:rPr lang="en-US" altLang="en-US" sz="2200" b="1" dirty="0">
                <a:solidFill>
                  <a:srgbClr val="D90000"/>
                </a:solidFill>
              </a:rPr>
              <a:t>Halophiles</a:t>
            </a:r>
          </a:p>
          <a:p>
            <a:pPr marL="273050" lvl="2" indent="-273050">
              <a:lnSpc>
                <a:spcPct val="80000"/>
              </a:lnSpc>
              <a:spcBef>
                <a:spcPts val="900"/>
              </a:spcBef>
              <a:tabLst>
                <a:tab pos="177800" algn="l"/>
              </a:tabLst>
            </a:pPr>
            <a:r>
              <a:rPr lang="en-US" altLang="en-US" sz="2200" dirty="0">
                <a:solidFill>
                  <a:prstClr val="black"/>
                </a:solidFill>
              </a:rPr>
              <a:t>Require high salt concentrations for growth</a:t>
            </a:r>
          </a:p>
          <a:p>
            <a:pPr marL="0" lvl="1" indent="0">
              <a:lnSpc>
                <a:spcPct val="80000"/>
              </a:lnSpc>
              <a:spcBef>
                <a:spcPts val="900"/>
              </a:spcBef>
              <a:buNone/>
            </a:pPr>
            <a:r>
              <a:rPr lang="en-US" altLang="en-US" sz="2600" dirty="0">
                <a:solidFill>
                  <a:prstClr val="black"/>
                </a:solidFill>
              </a:rPr>
              <a:t>Hot sulfur springs</a:t>
            </a:r>
          </a:p>
          <a:p>
            <a:pPr marL="273050" lvl="2" indent="-273050">
              <a:lnSpc>
                <a:spcPct val="80000"/>
              </a:lnSpc>
              <a:spcBef>
                <a:spcPts val="900"/>
              </a:spcBef>
              <a:tabLst>
                <a:tab pos="177800" algn="l"/>
              </a:tabLst>
            </a:pPr>
            <a:r>
              <a:rPr lang="en-US" altLang="en-US" sz="2200" b="1" dirty="0">
                <a:solidFill>
                  <a:srgbClr val="D90000"/>
                </a:solidFill>
              </a:rPr>
              <a:t>Thermoacidophiles</a:t>
            </a:r>
          </a:p>
          <a:p>
            <a:pPr marL="273050" lvl="2" indent="-273050">
              <a:lnSpc>
                <a:spcPct val="80000"/>
              </a:lnSpc>
              <a:spcBef>
                <a:spcPts val="900"/>
              </a:spcBef>
              <a:tabLst>
                <a:tab pos="177800" algn="l"/>
              </a:tabLst>
            </a:pPr>
            <a:r>
              <a:rPr lang="en-US" altLang="en-US" sz="2200" dirty="0">
                <a:solidFill>
                  <a:prstClr val="black"/>
                </a:solidFill>
              </a:rPr>
              <a:t>Reduce sulfides and survive best at temperatures above 80°C</a:t>
            </a:r>
          </a:p>
          <a:p>
            <a:pPr marL="273050" lvl="2" indent="-273050">
              <a:lnSpc>
                <a:spcPct val="80000"/>
              </a:lnSpc>
              <a:spcBef>
                <a:spcPts val="900"/>
              </a:spcBef>
              <a:tabLst>
                <a:tab pos="177800" algn="l"/>
              </a:tabLst>
            </a:pPr>
            <a:r>
              <a:rPr lang="en-US" altLang="en-US" sz="2200" dirty="0">
                <a:solidFill>
                  <a:prstClr val="black"/>
                </a:solidFill>
              </a:rPr>
              <a:t>Plasma membranes contain unusual lipids that confer tolerance of high temperatures.</a:t>
            </a:r>
          </a:p>
          <a:p>
            <a:pPr marL="0" lvl="1" indent="0">
              <a:lnSpc>
                <a:spcPct val="80000"/>
              </a:lnSpc>
              <a:spcBef>
                <a:spcPts val="0"/>
              </a:spcBef>
              <a:buNone/>
            </a:pPr>
            <a:r>
              <a:rPr lang="en-US" altLang="en-US" sz="2600" dirty="0">
                <a:solidFill>
                  <a:prstClr val="black"/>
                </a:solidFill>
              </a:rPr>
              <a:t>Anaerobic marshes</a:t>
            </a:r>
          </a:p>
          <a:p>
            <a:pPr marL="273050" lvl="2" indent="-273050">
              <a:lnSpc>
                <a:spcPct val="80000"/>
              </a:lnSpc>
              <a:spcBef>
                <a:spcPts val="900"/>
              </a:spcBef>
              <a:tabLst>
                <a:tab pos="177800" algn="l"/>
              </a:tabLst>
            </a:pPr>
            <a:r>
              <a:rPr lang="en-US" altLang="en-US" sz="2200" b="1" dirty="0">
                <a:solidFill>
                  <a:srgbClr val="D90000"/>
                </a:solidFill>
              </a:rPr>
              <a:t>Methanogens</a:t>
            </a:r>
          </a:p>
          <a:p>
            <a:pPr marL="273050" lvl="2" indent="-273050">
              <a:lnSpc>
                <a:spcPct val="80000"/>
              </a:lnSpc>
              <a:spcBef>
                <a:spcPts val="900"/>
              </a:spcBef>
              <a:tabLst>
                <a:tab pos="177800" algn="l"/>
              </a:tabLst>
            </a:pPr>
            <a:r>
              <a:rPr lang="en-US" altLang="en-US" sz="2200" dirty="0">
                <a:solidFill>
                  <a:prstClr val="black"/>
                </a:solidFill>
              </a:rPr>
              <a:t>Produce methane from hydrogen gas and carbon dioxide</a:t>
            </a:r>
          </a:p>
        </p:txBody>
      </p:sp>
      <p:sp>
        <p:nvSpPr>
          <p:cNvPr id="4" name="Slide Number Placeholder 3">
            <a:extLst>
              <a:ext uri="{FF2B5EF4-FFF2-40B4-BE49-F238E27FC236}">
                <a16:creationId xmlns:a16="http://schemas.microsoft.com/office/drawing/2014/main" id="{5E0E4E56-B4FB-4579-8FB3-702D4FFF0F02}"/>
              </a:ext>
            </a:extLst>
          </p:cNvPr>
          <p:cNvSpPr>
            <a:spLocks noGrp="1"/>
          </p:cNvSpPr>
          <p:nvPr>
            <p:ph type="sldNum" sz="quarter" idx="4"/>
          </p:nvPr>
        </p:nvSpPr>
        <p:spPr/>
        <p:txBody>
          <a:bodyPr/>
          <a:lstStyle/>
          <a:p>
            <a:fld id="{68151E55-6873-49E2-B8D5-2F265E6F1973}" type="slidenum">
              <a:rPr lang="en-US" smtClean="0"/>
              <a:pPr/>
              <a:t>43</a:t>
            </a:fld>
            <a:endParaRPr lang="en-US" dirty="0"/>
          </a:p>
        </p:txBody>
      </p:sp>
    </p:spTree>
    <p:extLst>
      <p:ext uri="{BB962C8B-B14F-4D97-AF65-F5344CB8AC3E}">
        <p14:creationId xmlns:p14="http://schemas.microsoft.com/office/powerpoint/2010/main" val="40471545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D6DAC-671D-4CD1-969D-EC816464FD4B}"/>
              </a:ext>
            </a:extLst>
          </p:cNvPr>
          <p:cNvSpPr>
            <a:spLocks noGrp="1"/>
          </p:cNvSpPr>
          <p:nvPr>
            <p:ph type="title"/>
          </p:nvPr>
        </p:nvSpPr>
        <p:spPr/>
        <p:txBody>
          <a:bodyPr/>
          <a:lstStyle/>
          <a:p>
            <a:r>
              <a:rPr lang="en-US" altLang="en-US" dirty="0"/>
              <a:t>Halophilic Archaea</a:t>
            </a:r>
            <a:endParaRPr lang="en-IN" dirty="0"/>
          </a:p>
        </p:txBody>
      </p:sp>
      <p:pic>
        <p:nvPicPr>
          <p:cNvPr id="8" name="Picture 2" descr="A salt lake with an inset at bottom-right shows scanning electron micrograph of coccoid cell.">
            <a:extLst>
              <a:ext uri="{FF2B5EF4-FFF2-40B4-BE49-F238E27FC236}">
                <a16:creationId xmlns:a16="http://schemas.microsoft.com/office/drawing/2014/main" id="{F0438E5D-84EE-4567-A3D4-4D0D09DBB5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757" b="7797"/>
          <a:stretch/>
        </p:blipFill>
        <p:spPr bwMode="auto">
          <a:xfrm>
            <a:off x="1447798" y="1003734"/>
            <a:ext cx="6248400" cy="4245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3">
            <a:extLst>
              <a:ext uri="{FF2B5EF4-FFF2-40B4-BE49-F238E27FC236}">
                <a16:creationId xmlns:a16="http://schemas.microsoft.com/office/drawing/2014/main" id="{9DFF1A18-2A8C-4DB8-9F9A-0AC823FDF4F1}"/>
              </a:ext>
            </a:extLst>
          </p:cNvPr>
          <p:cNvSpPr>
            <a:spLocks noGrp="1"/>
          </p:cNvSpPr>
          <p:nvPr>
            <p:ph type="body" sz="quarter" idx="18"/>
          </p:nvPr>
        </p:nvSpPr>
        <p:spPr>
          <a:xfrm>
            <a:off x="3900414" y="5597343"/>
            <a:ext cx="1343167" cy="314325"/>
          </a:xfrm>
        </p:spPr>
        <p:txBody>
          <a:bodyPr>
            <a:normAutofit/>
          </a:bodyPr>
          <a:lstStyle/>
          <a:p>
            <a:r>
              <a:rPr lang="en-US" sz="1200" dirty="0">
                <a:solidFill>
                  <a:schemeClr val="tx1"/>
                </a:solidFill>
              </a:rPr>
              <a:t>Figure </a:t>
            </a:r>
            <a:r>
              <a:rPr lang="en-US" sz="1200" dirty="0"/>
              <a:t>20</a:t>
            </a:r>
            <a:r>
              <a:rPr lang="en-US" sz="1200" dirty="0">
                <a:solidFill>
                  <a:schemeClr val="tx1"/>
                </a:solidFill>
              </a:rPr>
              <a:t>.13</a:t>
            </a:r>
          </a:p>
        </p:txBody>
      </p:sp>
      <p:sp>
        <p:nvSpPr>
          <p:cNvPr id="7" name="Text Placeholder 4">
            <a:extLst>
              <a:ext uri="{FF2B5EF4-FFF2-40B4-BE49-F238E27FC236}">
                <a16:creationId xmlns:a16="http://schemas.microsoft.com/office/drawing/2014/main" id="{30B17495-2688-44AF-9022-A992C65283DC}"/>
              </a:ext>
            </a:extLst>
          </p:cNvPr>
          <p:cNvSpPr>
            <a:spLocks noGrp="1"/>
          </p:cNvSpPr>
          <p:nvPr>
            <p:ph type="body" sz="quarter" idx="21"/>
          </p:nvPr>
        </p:nvSpPr>
        <p:spPr>
          <a:xfrm>
            <a:off x="3764478" y="6563439"/>
            <a:ext cx="4857702" cy="258805"/>
          </a:xfrm>
        </p:spPr>
        <p:txBody>
          <a:bodyPr/>
          <a:lstStyle/>
          <a:p>
            <a:pPr lvl="0"/>
            <a:r>
              <a:rPr lang="en-US" sz="800" dirty="0"/>
              <a:t>(a): (lake): Marco Regalia Sell/</a:t>
            </a:r>
            <a:r>
              <a:rPr lang="en-US" sz="800" dirty="0" err="1"/>
              <a:t>Alamy</a:t>
            </a:r>
            <a:r>
              <a:rPr lang="en-US" sz="800" dirty="0"/>
              <a:t> Stock Photo; (halophilic archaea): Eye of Science/Science Source</a:t>
            </a:r>
            <a:endParaRPr lang="en-GB" sz="800" dirty="0"/>
          </a:p>
        </p:txBody>
      </p:sp>
      <p:sp>
        <p:nvSpPr>
          <p:cNvPr id="4" name="Slide Number Placeholder 5">
            <a:extLst>
              <a:ext uri="{FF2B5EF4-FFF2-40B4-BE49-F238E27FC236}">
                <a16:creationId xmlns:a16="http://schemas.microsoft.com/office/drawing/2014/main" id="{8B2E35EA-C861-4337-AF2E-E89F09AA4DB1}"/>
              </a:ext>
            </a:extLst>
          </p:cNvPr>
          <p:cNvSpPr>
            <a:spLocks noGrp="1"/>
          </p:cNvSpPr>
          <p:nvPr>
            <p:ph type="sldNum" sz="quarter" idx="4"/>
          </p:nvPr>
        </p:nvSpPr>
        <p:spPr/>
        <p:txBody>
          <a:bodyPr/>
          <a:lstStyle/>
          <a:p>
            <a:fld id="{68151E55-6873-49E2-B8D5-2F265E6F1973}" type="slidenum">
              <a:rPr lang="en-US" smtClean="0"/>
              <a:pPr/>
              <a:t>44</a:t>
            </a:fld>
            <a:endParaRPr lang="en-US" dirty="0"/>
          </a:p>
        </p:txBody>
      </p:sp>
    </p:spTree>
    <p:extLst>
      <p:ext uri="{BB962C8B-B14F-4D97-AF65-F5344CB8AC3E}">
        <p14:creationId xmlns:p14="http://schemas.microsoft.com/office/powerpoint/2010/main" val="6787481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dirty="0"/>
              <a:t>End of main content</a:t>
            </a:r>
          </a:p>
        </p:txBody>
      </p:sp>
      <p:sp>
        <p:nvSpPr>
          <p:cNvPr id="3" name="Footer Placeholder 2">
            <a:extLst>
              <a:ext uri="{FF2B5EF4-FFF2-40B4-BE49-F238E27FC236}">
                <a16:creationId xmlns:a16="http://schemas.microsoft.com/office/drawing/2014/main" id="{F71B03B6-C64C-4B41-A73F-EB5563F527E5}"/>
              </a:ext>
            </a:extLst>
          </p:cNvPr>
          <p:cNvSpPr txBox="1">
            <a:spLocks/>
          </p:cNvSpPr>
          <p:nvPr/>
        </p:nvSpPr>
        <p:spPr>
          <a:xfrm>
            <a:off x="-1" y="6365559"/>
            <a:ext cx="9144000" cy="492442"/>
          </a:xfrm>
          <a:prstGeom prst="rect">
            <a:avLst/>
          </a:prstGeom>
        </p:spPr>
        <p:txBody>
          <a:bodyPr anchor="ctr"/>
          <a:lstStyle>
            <a:lvl1pPr marL="0" marR="0" indent="0" algn="ctr" defTabSz="914400" rtl="0" eaLnBrk="1" fontAlgn="auto" latinLnBrk="0" hangingPunct="1">
              <a:lnSpc>
                <a:spcPct val="100000"/>
              </a:lnSpc>
              <a:spcBef>
                <a:spcPts val="0"/>
              </a:spcBef>
              <a:spcAft>
                <a:spcPts val="0"/>
              </a:spcAft>
              <a:buClrTx/>
              <a:buSzTx/>
              <a:buFontTx/>
              <a:buNone/>
              <a:tabLst/>
              <a:defRPr sz="850" kern="1200">
                <a:solidFill>
                  <a:schemeClr val="tx1"/>
                </a:solidFill>
                <a:latin typeface="Arial (Body)"/>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a:solidFill>
                  <a:srgbClr val="000000"/>
                </a:solidFill>
              </a:rPr>
              <a:t>Copyright 2022 © McGraw Hill LLC. All rights reserved. No reproduction or distribution without the prior written consent of McGraw Hill LLC.</a:t>
            </a:r>
          </a:p>
        </p:txBody>
      </p:sp>
    </p:spTree>
    <p:extLst>
      <p:ext uri="{BB962C8B-B14F-4D97-AF65-F5344CB8AC3E}">
        <p14:creationId xmlns:p14="http://schemas.microsoft.com/office/powerpoint/2010/main" val="31503895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dirty="0"/>
              <a:t>Accessibility Content: Text Alternatives for Images</a:t>
            </a:r>
            <a:endParaRPr lang="en-IN" dirty="0"/>
          </a:p>
        </p:txBody>
      </p:sp>
    </p:spTree>
    <p:extLst>
      <p:ext uri="{BB962C8B-B14F-4D97-AF65-F5344CB8AC3E}">
        <p14:creationId xmlns:p14="http://schemas.microsoft.com/office/powerpoint/2010/main" val="2475115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41423-497D-4D3B-8B79-256B74E08C89}"/>
              </a:ext>
            </a:extLst>
          </p:cNvPr>
          <p:cNvSpPr>
            <a:spLocks noGrp="1"/>
          </p:cNvSpPr>
          <p:nvPr>
            <p:ph type="title"/>
          </p:nvPr>
        </p:nvSpPr>
        <p:spPr/>
        <p:txBody>
          <a:bodyPr/>
          <a:lstStyle/>
          <a:p>
            <a:r>
              <a:rPr lang="en-US" altLang="en-US" dirty="0"/>
              <a:t>Virus Structure</a:t>
            </a:r>
            <a:r>
              <a:rPr lang="en-US" dirty="0"/>
              <a:t> - Text Alternative</a:t>
            </a:r>
            <a:r>
              <a:rPr lang="en-US" altLang="en-US" dirty="0"/>
              <a:t> </a:t>
            </a:r>
            <a:endParaRPr lang="en-IN" dirty="0"/>
          </a:p>
        </p:txBody>
      </p:sp>
      <p:sp>
        <p:nvSpPr>
          <p:cNvPr id="3" name="Text Placeholder 2">
            <a:extLst>
              <a:ext uri="{FF2B5EF4-FFF2-40B4-BE49-F238E27FC236}">
                <a16:creationId xmlns:a16="http://schemas.microsoft.com/office/drawing/2014/main" id="{73B1B032-929D-43AD-BA7A-ADE8D45BAE4B}"/>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53ECBE53-C557-497F-835D-59DBB4917916}"/>
              </a:ext>
            </a:extLst>
          </p:cNvPr>
          <p:cNvSpPr>
            <a:spLocks noGrp="1"/>
          </p:cNvSpPr>
          <p:nvPr>
            <p:ph sz="quarter" idx="21"/>
          </p:nvPr>
        </p:nvSpPr>
        <p:spPr/>
        <p:txBody>
          <a:bodyPr/>
          <a:lstStyle/>
          <a:p>
            <a:r>
              <a:rPr lang="en-US" dirty="0"/>
              <a:t>Virus particle has two parts: covering and inner core. Covering consists of capsid (protein) and  envelope (not found in all viruses) while inner core consists of nucleic acid molecule (DNA or RNA) and various proteins (enzymes). </a:t>
            </a:r>
            <a:endParaRPr lang="en-IN" dirty="0"/>
          </a:p>
        </p:txBody>
      </p:sp>
      <p:sp>
        <p:nvSpPr>
          <p:cNvPr id="5" name="Text Placeholder 4">
            <a:extLst>
              <a:ext uri="{FF2B5EF4-FFF2-40B4-BE49-F238E27FC236}">
                <a16:creationId xmlns:a16="http://schemas.microsoft.com/office/drawing/2014/main" id="{9CDF58F7-325F-4532-9993-BDEB9907987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77F00E22-9891-457D-B217-5A27BF5BC57A}"/>
              </a:ext>
            </a:extLst>
          </p:cNvPr>
          <p:cNvSpPr>
            <a:spLocks noGrp="1"/>
          </p:cNvSpPr>
          <p:nvPr>
            <p:ph type="sldNum" sz="quarter" idx="10"/>
          </p:nvPr>
        </p:nvSpPr>
        <p:spPr/>
        <p:txBody>
          <a:bodyPr/>
          <a:lstStyle/>
          <a:p>
            <a:fld id="{68151E55-6873-49E2-B8D5-2F265E6F1973}" type="slidenum">
              <a:rPr lang="en-US" smtClean="0"/>
              <a:t>47</a:t>
            </a:fld>
            <a:endParaRPr lang="en-US" dirty="0"/>
          </a:p>
        </p:txBody>
      </p:sp>
    </p:spTree>
    <p:extLst>
      <p:ext uri="{BB962C8B-B14F-4D97-AF65-F5344CB8AC3E}">
        <p14:creationId xmlns:p14="http://schemas.microsoft.com/office/powerpoint/2010/main" val="13526462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C2BBC-B98E-453E-83DB-3F7E3EA864EC}"/>
              </a:ext>
            </a:extLst>
          </p:cNvPr>
          <p:cNvSpPr>
            <a:spLocks noGrp="1"/>
          </p:cNvSpPr>
          <p:nvPr>
            <p:ph type="title"/>
          </p:nvPr>
        </p:nvSpPr>
        <p:spPr>
          <a:xfrm>
            <a:off x="0" y="14607"/>
            <a:ext cx="9144000" cy="1201780"/>
          </a:xfrm>
        </p:spPr>
        <p:txBody>
          <a:bodyPr/>
          <a:lstStyle/>
          <a:p>
            <a:r>
              <a:rPr lang="en-GB" dirty="0"/>
              <a:t>Adenovirus and T-even Bacteriophage</a:t>
            </a:r>
            <a:r>
              <a:rPr lang="en-US" dirty="0"/>
              <a:t> - Text Alternative</a:t>
            </a:r>
            <a:r>
              <a:rPr lang="en-US" altLang="en-US" dirty="0"/>
              <a:t> </a:t>
            </a:r>
            <a:endParaRPr lang="en-IN" dirty="0"/>
          </a:p>
        </p:txBody>
      </p:sp>
      <p:sp>
        <p:nvSpPr>
          <p:cNvPr id="3" name="Text Placeholder 2">
            <a:extLst>
              <a:ext uri="{FF2B5EF4-FFF2-40B4-BE49-F238E27FC236}">
                <a16:creationId xmlns:a16="http://schemas.microsoft.com/office/drawing/2014/main" id="{9F1D2479-A2AC-4B56-8213-7BD7CD747553}"/>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958DAD1E-0479-42DF-97FA-C4360BB4BDCE}"/>
              </a:ext>
            </a:extLst>
          </p:cNvPr>
          <p:cNvSpPr>
            <a:spLocks noGrp="1"/>
          </p:cNvSpPr>
          <p:nvPr>
            <p:ph sz="quarter" idx="21"/>
          </p:nvPr>
        </p:nvSpPr>
        <p:spPr/>
        <p:txBody>
          <a:bodyPr/>
          <a:lstStyle/>
          <a:p>
            <a:r>
              <a:rPr lang="en-US" dirty="0"/>
              <a:t>A) Micrograph of Adenovirus (enlarged 60000 times on TEM) shows a hexagonal textured structure  with soft edges, inner orange center and yellow circumference.</a:t>
            </a:r>
          </a:p>
          <a:p>
            <a:r>
              <a:rPr lang="en-US" dirty="0"/>
              <a:t>Diagram shows a three dimensional spherically textured structure made of DNA units with coiled DNA inside. Projections of fibers and spherical fiber protein are visible over the surface. </a:t>
            </a:r>
          </a:p>
          <a:p>
            <a:r>
              <a:rPr lang="en-US" dirty="0"/>
              <a:t>B) Micrograph of T-even bacteriophage (enlarged 90000 times on TEM) shows a hexagonal head, longitudinal tail sheath and laterally scattered tail fibers. </a:t>
            </a:r>
          </a:p>
          <a:p>
            <a:r>
              <a:rPr lang="en-US" dirty="0"/>
              <a:t>Diagram shows a three dimensional  structure of hexagonal capsid with coiled DNA inside it. A neck, spherically textured tail sheath, tail fiber, base plate and pins are visible. </a:t>
            </a:r>
            <a:endParaRPr lang="en-IN" dirty="0"/>
          </a:p>
        </p:txBody>
      </p:sp>
      <p:sp>
        <p:nvSpPr>
          <p:cNvPr id="5" name="Text Placeholder 4">
            <a:extLst>
              <a:ext uri="{FF2B5EF4-FFF2-40B4-BE49-F238E27FC236}">
                <a16:creationId xmlns:a16="http://schemas.microsoft.com/office/drawing/2014/main" id="{52A31541-C12E-4187-A3CB-84B39082DFAB}"/>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295444F5-6214-4052-97BE-0FF19E19124D}"/>
              </a:ext>
            </a:extLst>
          </p:cNvPr>
          <p:cNvSpPr>
            <a:spLocks noGrp="1"/>
          </p:cNvSpPr>
          <p:nvPr>
            <p:ph type="sldNum" sz="quarter" idx="10"/>
          </p:nvPr>
        </p:nvSpPr>
        <p:spPr/>
        <p:txBody>
          <a:bodyPr/>
          <a:lstStyle/>
          <a:p>
            <a:fld id="{68151E55-6873-49E2-B8D5-2F265E6F1973}" type="slidenum">
              <a:rPr lang="en-US" smtClean="0"/>
              <a:t>48</a:t>
            </a:fld>
            <a:endParaRPr lang="en-US" dirty="0"/>
          </a:p>
        </p:txBody>
      </p:sp>
    </p:spTree>
    <p:extLst>
      <p:ext uri="{BB962C8B-B14F-4D97-AF65-F5344CB8AC3E}">
        <p14:creationId xmlns:p14="http://schemas.microsoft.com/office/powerpoint/2010/main" val="17912265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D3ADF-A645-4C2C-9185-5CFE36327142}"/>
              </a:ext>
            </a:extLst>
          </p:cNvPr>
          <p:cNvSpPr>
            <a:spLocks noGrp="1"/>
          </p:cNvSpPr>
          <p:nvPr>
            <p:ph type="title"/>
          </p:nvPr>
        </p:nvSpPr>
        <p:spPr>
          <a:xfrm>
            <a:off x="0" y="14607"/>
            <a:ext cx="9144000" cy="1201780"/>
          </a:xfrm>
        </p:spPr>
        <p:txBody>
          <a:bodyPr/>
          <a:lstStyle/>
          <a:p>
            <a:r>
              <a:rPr lang="en-US" altLang="en-US" dirty="0"/>
              <a:t>Tobacco Mosaic and Influenza Viruses</a:t>
            </a:r>
            <a:r>
              <a:rPr lang="en-US" dirty="0"/>
              <a:t> - Text Alternative</a:t>
            </a:r>
            <a:r>
              <a:rPr lang="en-US" altLang="en-US" dirty="0"/>
              <a:t> </a:t>
            </a:r>
            <a:endParaRPr lang="en-IN" dirty="0"/>
          </a:p>
        </p:txBody>
      </p:sp>
      <p:sp>
        <p:nvSpPr>
          <p:cNvPr id="3" name="Text Placeholder 2">
            <a:extLst>
              <a:ext uri="{FF2B5EF4-FFF2-40B4-BE49-F238E27FC236}">
                <a16:creationId xmlns:a16="http://schemas.microsoft.com/office/drawing/2014/main" id="{2EC8560E-ED5C-42C1-93DA-93DF645F4EC7}"/>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FB16723D-1480-4B6B-94FB-0A31411F978A}"/>
              </a:ext>
            </a:extLst>
          </p:cNvPr>
          <p:cNvSpPr>
            <a:spLocks noGrp="1"/>
          </p:cNvSpPr>
          <p:nvPr>
            <p:ph sz="quarter" idx="21"/>
          </p:nvPr>
        </p:nvSpPr>
        <p:spPr/>
        <p:txBody>
          <a:bodyPr>
            <a:normAutofit/>
          </a:bodyPr>
          <a:lstStyle/>
          <a:p>
            <a:pPr marL="342900" indent="-342900">
              <a:buFont typeface="+mj-lt"/>
              <a:buAutoNum type="alphaUcPeriod"/>
            </a:pPr>
            <a:r>
              <a:rPr lang="en-US" dirty="0"/>
              <a:t>Micrograph of Tobacco mosaic virus (enlarged 44000 times on TEM) shows a longitudinal structure.</a:t>
            </a:r>
          </a:p>
          <a:p>
            <a:pPr marL="355600"/>
            <a:r>
              <a:rPr lang="en-US" dirty="0"/>
              <a:t>Diagram shows a three dimensional  structure of spirally textured body (of spherical units): capsid with coiled RNA inside.</a:t>
            </a:r>
          </a:p>
          <a:p>
            <a:pPr marL="342900" indent="-342900">
              <a:buFont typeface="+mj-lt"/>
              <a:buAutoNum type="alphaUcPeriod" startAt="2"/>
            </a:pPr>
            <a:r>
              <a:rPr lang="en-US" dirty="0"/>
              <a:t>Micrograph of Influenza virus shows an ovular structure.</a:t>
            </a:r>
          </a:p>
          <a:p>
            <a:pPr marL="355600"/>
            <a:r>
              <a:rPr lang="en-US" dirty="0"/>
              <a:t>Diagram shows sectioned hemispherical body with projections of spikes, envelope over the surface, spherical capsid layer in the core with lateral strands of RNA inside. </a:t>
            </a:r>
            <a:endParaRPr lang="en-IN" dirty="0"/>
          </a:p>
        </p:txBody>
      </p:sp>
      <p:sp>
        <p:nvSpPr>
          <p:cNvPr id="5" name="Text Placeholder 4">
            <a:extLst>
              <a:ext uri="{FF2B5EF4-FFF2-40B4-BE49-F238E27FC236}">
                <a16:creationId xmlns:a16="http://schemas.microsoft.com/office/drawing/2014/main" id="{8330831E-1A80-4CFB-B8B0-A857F64B6736}"/>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BA6BED01-F067-4E1A-8BE0-06AF1E5B5434}"/>
              </a:ext>
            </a:extLst>
          </p:cNvPr>
          <p:cNvSpPr>
            <a:spLocks noGrp="1"/>
          </p:cNvSpPr>
          <p:nvPr>
            <p:ph type="sldNum" sz="quarter" idx="10"/>
          </p:nvPr>
        </p:nvSpPr>
        <p:spPr/>
        <p:txBody>
          <a:bodyPr/>
          <a:lstStyle/>
          <a:p>
            <a:fld id="{68151E55-6873-49E2-B8D5-2F265E6F1973}" type="slidenum">
              <a:rPr lang="en-US" smtClean="0"/>
              <a:t>49</a:t>
            </a:fld>
            <a:endParaRPr lang="en-US" dirty="0"/>
          </a:p>
        </p:txBody>
      </p:sp>
    </p:spTree>
    <p:extLst>
      <p:ext uri="{BB962C8B-B14F-4D97-AF65-F5344CB8AC3E}">
        <p14:creationId xmlns:p14="http://schemas.microsoft.com/office/powerpoint/2010/main" val="7670130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F8216-8881-4499-88B6-D5FC93EF37A7}"/>
              </a:ext>
            </a:extLst>
          </p:cNvPr>
          <p:cNvSpPr>
            <a:spLocks noGrp="1"/>
          </p:cNvSpPr>
          <p:nvPr>
            <p:ph type="title"/>
          </p:nvPr>
        </p:nvSpPr>
        <p:spPr/>
        <p:txBody>
          <a:bodyPr/>
          <a:lstStyle/>
          <a:p>
            <a:r>
              <a:rPr lang="en-US" altLang="en-US" dirty="0"/>
              <a:t>Reproduction in Viruses </a:t>
            </a:r>
            <a:r>
              <a:rPr lang="en-US" altLang="en-US" sz="1400" dirty="0"/>
              <a:t>2</a:t>
            </a:r>
            <a:r>
              <a:rPr lang="en-US" dirty="0"/>
              <a:t> - Text Alternative</a:t>
            </a:r>
            <a:endParaRPr lang="en-IN" dirty="0"/>
          </a:p>
        </p:txBody>
      </p:sp>
      <p:sp>
        <p:nvSpPr>
          <p:cNvPr id="3" name="Text Placeholder 2">
            <a:extLst>
              <a:ext uri="{FF2B5EF4-FFF2-40B4-BE49-F238E27FC236}">
                <a16:creationId xmlns:a16="http://schemas.microsoft.com/office/drawing/2014/main" id="{F647ED1B-FB77-440E-8B35-7BBEB9231D5C}"/>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032A7037-45DF-4152-AE54-E8680C3F2BFA}"/>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steps are:</a:t>
            </a:r>
            <a:br>
              <a:rPr lang="en-US" b="0" i="0" u="none" strike="noStrike" dirty="0">
                <a:solidFill>
                  <a:srgbClr val="000000"/>
                </a:solidFill>
                <a:effectLst/>
                <a:latin typeface="+mj-lt"/>
              </a:rPr>
            </a:br>
            <a:r>
              <a:rPr lang="en-US" b="0" i="0" u="none" strike="noStrike" dirty="0">
                <a:solidFill>
                  <a:srgbClr val="000000"/>
                </a:solidFill>
                <a:effectLst/>
                <a:latin typeface="+mj-lt"/>
              </a:rPr>
              <a:t>1. Attachment: </a:t>
            </a:r>
            <a:r>
              <a:rPr lang="en-US" b="0" i="0" u="none" strike="noStrike" dirty="0" err="1">
                <a:solidFill>
                  <a:srgbClr val="000000"/>
                </a:solidFill>
                <a:effectLst/>
                <a:latin typeface="+mj-lt"/>
              </a:rPr>
              <a:t>capside</a:t>
            </a:r>
            <a:r>
              <a:rPr lang="en-US" b="0" i="0" u="none" strike="noStrike" dirty="0">
                <a:solidFill>
                  <a:srgbClr val="000000"/>
                </a:solidFill>
                <a:effectLst/>
                <a:latin typeface="+mj-lt"/>
              </a:rPr>
              <a:t> combines with receptor.</a:t>
            </a:r>
            <a:br>
              <a:rPr lang="en-US" b="0" i="0" u="none" strike="noStrike" dirty="0">
                <a:solidFill>
                  <a:srgbClr val="000000"/>
                </a:solidFill>
                <a:effectLst/>
                <a:latin typeface="+mj-lt"/>
              </a:rPr>
            </a:br>
            <a:r>
              <a:rPr lang="en-US" b="0" i="0" u="none" strike="noStrike" dirty="0">
                <a:solidFill>
                  <a:srgbClr val="000000"/>
                </a:solidFill>
                <a:effectLst/>
                <a:latin typeface="+mj-lt"/>
              </a:rPr>
              <a:t>2. Penetration: Viral D N A enters host.</a:t>
            </a:r>
            <a:endParaRPr lang="en-IN" sz="1100" dirty="0">
              <a:latin typeface="+mj-lt"/>
            </a:endParaRPr>
          </a:p>
        </p:txBody>
      </p:sp>
      <p:sp>
        <p:nvSpPr>
          <p:cNvPr id="5" name="Text Placeholder 4">
            <a:extLst>
              <a:ext uri="{FF2B5EF4-FFF2-40B4-BE49-F238E27FC236}">
                <a16:creationId xmlns:a16="http://schemas.microsoft.com/office/drawing/2014/main" id="{B595D869-4BAC-4D36-82EB-F7E71F4C9457}"/>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7D312237-A88E-4A16-A513-5D478D76702F}"/>
              </a:ext>
            </a:extLst>
          </p:cNvPr>
          <p:cNvSpPr>
            <a:spLocks noGrp="1"/>
          </p:cNvSpPr>
          <p:nvPr>
            <p:ph type="sldNum" sz="quarter" idx="10"/>
          </p:nvPr>
        </p:nvSpPr>
        <p:spPr/>
        <p:txBody>
          <a:bodyPr/>
          <a:lstStyle/>
          <a:p>
            <a:fld id="{68151E55-6873-49E2-B8D5-2F265E6F1973}" type="slidenum">
              <a:rPr lang="en-US" smtClean="0"/>
              <a:t>50</a:t>
            </a:fld>
            <a:endParaRPr lang="en-US" dirty="0"/>
          </a:p>
        </p:txBody>
      </p:sp>
    </p:spTree>
    <p:extLst>
      <p:ext uri="{BB962C8B-B14F-4D97-AF65-F5344CB8AC3E}">
        <p14:creationId xmlns:p14="http://schemas.microsoft.com/office/powerpoint/2010/main" val="41808207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F8216-8881-4499-88B6-D5FC93EF37A7}"/>
              </a:ext>
            </a:extLst>
          </p:cNvPr>
          <p:cNvSpPr>
            <a:spLocks noGrp="1"/>
          </p:cNvSpPr>
          <p:nvPr>
            <p:ph type="title"/>
          </p:nvPr>
        </p:nvSpPr>
        <p:spPr/>
        <p:txBody>
          <a:bodyPr/>
          <a:lstStyle/>
          <a:p>
            <a:r>
              <a:rPr lang="en-US" altLang="en-US" dirty="0"/>
              <a:t>Reproduction in Viruses </a:t>
            </a:r>
            <a:r>
              <a:rPr lang="en-US" altLang="en-US" sz="1400" dirty="0"/>
              <a:t>7</a:t>
            </a:r>
            <a:r>
              <a:rPr lang="en-US" dirty="0"/>
              <a:t> - Text Alternative</a:t>
            </a:r>
            <a:endParaRPr lang="en-IN" dirty="0"/>
          </a:p>
        </p:txBody>
      </p:sp>
      <p:sp>
        <p:nvSpPr>
          <p:cNvPr id="3" name="Text Placeholder 2">
            <a:extLst>
              <a:ext uri="{FF2B5EF4-FFF2-40B4-BE49-F238E27FC236}">
                <a16:creationId xmlns:a16="http://schemas.microsoft.com/office/drawing/2014/main" id="{F647ED1B-FB77-440E-8B35-7BBEB9231D5C}"/>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032A7037-45DF-4152-AE54-E8680C3F2BFA}"/>
              </a:ext>
            </a:extLst>
          </p:cNvPr>
          <p:cNvSpPr>
            <a:spLocks noGrp="1"/>
          </p:cNvSpPr>
          <p:nvPr>
            <p:ph sz="quarter" idx="21"/>
          </p:nvPr>
        </p:nvSpPr>
        <p:spPr/>
        <p:txBody>
          <a:bodyPr/>
          <a:lstStyle/>
          <a:p>
            <a:r>
              <a:rPr lang="en-US" dirty="0"/>
              <a:t>The five steps of lytic and lysogenic cycles which involve an ovular bacterial cell wall and a circular bacterial DNA are as follows: </a:t>
            </a:r>
          </a:p>
          <a:p>
            <a:r>
              <a:rPr lang="en-US" dirty="0"/>
              <a:t>1. Attachment where the capsid combines with receptor.</a:t>
            </a:r>
          </a:p>
          <a:p>
            <a:r>
              <a:rPr lang="en-US" dirty="0"/>
              <a:t>2. Penetration where viral DNA enters host.</a:t>
            </a:r>
          </a:p>
          <a:p>
            <a:r>
              <a:rPr lang="en-US" dirty="0"/>
              <a:t>3. Biosynthesis where viral components are synthesized.</a:t>
            </a:r>
          </a:p>
          <a:p>
            <a:r>
              <a:rPr lang="en-US" dirty="0"/>
              <a:t>4. Maturation where assembly of viral components happens; and </a:t>
            </a:r>
          </a:p>
          <a:p>
            <a:r>
              <a:rPr lang="en-US" dirty="0"/>
              <a:t>5. Release where new viruses leave host cell. </a:t>
            </a:r>
          </a:p>
          <a:p>
            <a:r>
              <a:rPr lang="en-US" dirty="0"/>
              <a:t>In lysogenic cycle the steps involved are: </a:t>
            </a:r>
          </a:p>
          <a:p>
            <a:r>
              <a:rPr lang="en-US" dirty="0"/>
              <a:t>1. Penetration where viral DNA enters host. 2. Integration where viral DNA is integrated into bacterial DNA and then is passed on when bacteria reproduce; and </a:t>
            </a:r>
          </a:p>
          <a:p>
            <a:r>
              <a:rPr lang="en-US" dirty="0"/>
              <a:t>3. Biosynthesis where viral components are synthesized.</a:t>
            </a:r>
            <a:endParaRPr lang="en-IN" dirty="0"/>
          </a:p>
        </p:txBody>
      </p:sp>
      <p:sp>
        <p:nvSpPr>
          <p:cNvPr id="5" name="Text Placeholder 4">
            <a:extLst>
              <a:ext uri="{FF2B5EF4-FFF2-40B4-BE49-F238E27FC236}">
                <a16:creationId xmlns:a16="http://schemas.microsoft.com/office/drawing/2014/main" id="{B595D869-4BAC-4D36-82EB-F7E71F4C9457}"/>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7D312237-A88E-4A16-A513-5D478D76702F}"/>
              </a:ext>
            </a:extLst>
          </p:cNvPr>
          <p:cNvSpPr>
            <a:spLocks noGrp="1"/>
          </p:cNvSpPr>
          <p:nvPr>
            <p:ph type="sldNum" sz="quarter" idx="10"/>
          </p:nvPr>
        </p:nvSpPr>
        <p:spPr/>
        <p:txBody>
          <a:bodyPr/>
          <a:lstStyle/>
          <a:p>
            <a:fld id="{68151E55-6873-49E2-B8D5-2F265E6F1973}" type="slidenum">
              <a:rPr lang="en-US" smtClean="0"/>
              <a:t>51</a:t>
            </a:fld>
            <a:endParaRPr lang="en-US" dirty="0"/>
          </a:p>
        </p:txBody>
      </p:sp>
    </p:spTree>
    <p:extLst>
      <p:ext uri="{BB962C8B-B14F-4D97-AF65-F5344CB8AC3E}">
        <p14:creationId xmlns:p14="http://schemas.microsoft.com/office/powerpoint/2010/main" val="10821089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46ECE-E504-4E9F-A1F5-8383D8D3B718}"/>
              </a:ext>
            </a:extLst>
          </p:cNvPr>
          <p:cNvSpPr>
            <a:spLocks noGrp="1"/>
          </p:cNvSpPr>
          <p:nvPr>
            <p:ph type="title"/>
          </p:nvPr>
        </p:nvSpPr>
        <p:spPr/>
        <p:txBody>
          <a:bodyPr/>
          <a:lstStyle/>
          <a:p>
            <a:r>
              <a:rPr lang="en-US" altLang="en-US" dirty="0"/>
              <a:t>Reproduction of the Retrovirus HIV </a:t>
            </a:r>
            <a:r>
              <a:rPr lang="en-US" altLang="en-US" sz="1400" dirty="0"/>
              <a:t>6</a:t>
            </a:r>
            <a:r>
              <a:rPr lang="en-US" dirty="0"/>
              <a:t> - Text Alternative</a:t>
            </a:r>
            <a:endParaRPr lang="en-IN" dirty="0"/>
          </a:p>
        </p:txBody>
      </p:sp>
      <p:sp>
        <p:nvSpPr>
          <p:cNvPr id="3" name="Text Placeholder 2">
            <a:extLst>
              <a:ext uri="{FF2B5EF4-FFF2-40B4-BE49-F238E27FC236}">
                <a16:creationId xmlns:a16="http://schemas.microsoft.com/office/drawing/2014/main" id="{A14A9979-F6B2-4837-973D-9786982D80AB}"/>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6BE491DA-D3EB-46F4-8FFC-1BC758C94777}"/>
              </a:ext>
            </a:extLst>
          </p:cNvPr>
          <p:cNvSpPr>
            <a:spLocks noGrp="1"/>
          </p:cNvSpPr>
          <p:nvPr>
            <p:ph sz="quarter" idx="21"/>
          </p:nvPr>
        </p:nvSpPr>
        <p:spPr/>
        <p:txBody>
          <a:bodyPr/>
          <a:lstStyle/>
          <a:p>
            <a:r>
              <a:rPr lang="en-US" dirty="0"/>
              <a:t>The five steps of lytic and lysogenic cycles which involve an ovular bacterial cell wall and a circular bacterial DNA are as follows: </a:t>
            </a:r>
          </a:p>
          <a:p>
            <a:r>
              <a:rPr lang="en-US" dirty="0"/>
              <a:t>1. Attachment where the capsid combines with receptor.</a:t>
            </a:r>
          </a:p>
          <a:p>
            <a:r>
              <a:rPr lang="en-US" dirty="0"/>
              <a:t>2. Penetration where viral DNA enters host.</a:t>
            </a:r>
          </a:p>
          <a:p>
            <a:r>
              <a:rPr lang="en-US" dirty="0"/>
              <a:t>3. Biosynthesis where viral components are synthesized.</a:t>
            </a:r>
          </a:p>
          <a:p>
            <a:r>
              <a:rPr lang="en-US" dirty="0"/>
              <a:t>4. Maturation where assembly of viral components happens; and </a:t>
            </a:r>
          </a:p>
          <a:p>
            <a:r>
              <a:rPr lang="en-US" dirty="0"/>
              <a:t>5. Release where new viruses leave host cell. </a:t>
            </a:r>
          </a:p>
          <a:p>
            <a:r>
              <a:rPr lang="en-US" dirty="0"/>
              <a:t>In lysogenic cycle the steps involved are: </a:t>
            </a:r>
          </a:p>
          <a:p>
            <a:r>
              <a:rPr lang="en-US" dirty="0"/>
              <a:t>1. Penetration where viral DNA enters host. 2. Integration where viral DNA is integrated into bacterial DNA and then is passed on when bacteria reproduce; and </a:t>
            </a:r>
          </a:p>
          <a:p>
            <a:r>
              <a:rPr lang="en-US" dirty="0"/>
              <a:t>3. Biosynthesis where viral components are synthesized.</a:t>
            </a:r>
            <a:endParaRPr lang="en-IN" dirty="0"/>
          </a:p>
        </p:txBody>
      </p:sp>
      <p:sp>
        <p:nvSpPr>
          <p:cNvPr id="5" name="Text Placeholder 4">
            <a:extLst>
              <a:ext uri="{FF2B5EF4-FFF2-40B4-BE49-F238E27FC236}">
                <a16:creationId xmlns:a16="http://schemas.microsoft.com/office/drawing/2014/main" id="{EE37C943-F325-41DC-8433-E757D09A1D61}"/>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DF3D3809-3564-42E6-81CD-1E79A36151EF}"/>
              </a:ext>
            </a:extLst>
          </p:cNvPr>
          <p:cNvSpPr>
            <a:spLocks noGrp="1"/>
          </p:cNvSpPr>
          <p:nvPr>
            <p:ph type="sldNum" sz="quarter" idx="10"/>
          </p:nvPr>
        </p:nvSpPr>
        <p:spPr/>
        <p:txBody>
          <a:bodyPr/>
          <a:lstStyle/>
          <a:p>
            <a:fld id="{68151E55-6873-49E2-B8D5-2F265E6F1973}" type="slidenum">
              <a:rPr lang="en-US" smtClean="0"/>
              <a:t>52</a:t>
            </a:fld>
            <a:endParaRPr lang="en-US" dirty="0"/>
          </a:p>
        </p:txBody>
      </p:sp>
    </p:spTree>
    <p:extLst>
      <p:ext uri="{BB962C8B-B14F-4D97-AF65-F5344CB8AC3E}">
        <p14:creationId xmlns:p14="http://schemas.microsoft.com/office/powerpoint/2010/main" val="14493464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7F907-C02F-4885-B058-97A270EE9E12}"/>
              </a:ext>
            </a:extLst>
          </p:cNvPr>
          <p:cNvSpPr>
            <a:spLocks noGrp="1"/>
          </p:cNvSpPr>
          <p:nvPr>
            <p:ph type="title"/>
          </p:nvPr>
        </p:nvSpPr>
        <p:spPr/>
        <p:txBody>
          <a:bodyPr/>
          <a:lstStyle/>
          <a:p>
            <a:r>
              <a:rPr lang="en-US" altLang="en-US" dirty="0"/>
              <a:t>Spikes of a Seasonal Flu and Bird Flu Virus</a:t>
            </a:r>
            <a:r>
              <a:rPr lang="en-US" dirty="0"/>
              <a:t> - Text Alternative</a:t>
            </a:r>
            <a:endParaRPr lang="en-IN" dirty="0"/>
          </a:p>
        </p:txBody>
      </p:sp>
      <p:sp>
        <p:nvSpPr>
          <p:cNvPr id="3" name="Text Placeholder 2">
            <a:extLst>
              <a:ext uri="{FF2B5EF4-FFF2-40B4-BE49-F238E27FC236}">
                <a16:creationId xmlns:a16="http://schemas.microsoft.com/office/drawing/2014/main" id="{44BEAC08-2902-4AF2-ACFA-CBA2BE816D31}"/>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D0D26542-7E54-48C2-8D03-56970DE60B6D}"/>
              </a:ext>
            </a:extLst>
          </p:cNvPr>
          <p:cNvSpPr>
            <a:spLocks noGrp="1"/>
          </p:cNvSpPr>
          <p:nvPr>
            <p:ph sz="quarter" idx="21"/>
          </p:nvPr>
        </p:nvSpPr>
        <p:spPr/>
        <p:txBody>
          <a:bodyPr/>
          <a:lstStyle/>
          <a:p>
            <a:r>
              <a:rPr lang="en-US" dirty="0"/>
              <a:t>Human influenza virus: </a:t>
            </a:r>
          </a:p>
          <a:p>
            <a:r>
              <a:rPr lang="en-US" dirty="0"/>
              <a:t>It consists of hexagonal capsid with RNA genome inside, outer envelope that has N (ovular) and H (pointed) spikes across it which after modification undergoes changes in the structure of spikes (modification of H spikes with black pointed tips). </a:t>
            </a:r>
          </a:p>
          <a:p>
            <a:r>
              <a:rPr lang="en-US" dirty="0"/>
              <a:t>B) After reassortment of bird influenza virus and human influenza virus in host cell results in combination of spikes. </a:t>
            </a:r>
          </a:p>
        </p:txBody>
      </p:sp>
      <p:sp>
        <p:nvSpPr>
          <p:cNvPr id="5" name="Text Placeholder 4">
            <a:extLst>
              <a:ext uri="{FF2B5EF4-FFF2-40B4-BE49-F238E27FC236}">
                <a16:creationId xmlns:a16="http://schemas.microsoft.com/office/drawing/2014/main" id="{2F8E8D97-1CE0-4AD6-9803-B8B49952BBFC}"/>
              </a:ext>
            </a:extLst>
          </p:cNvPr>
          <p:cNvSpPr>
            <a:spLocks noGrp="1"/>
          </p:cNvSpPr>
          <p:nvPr>
            <p:ph type="body" sz="quarter" idx="22"/>
          </p:nvPr>
        </p:nvSpPr>
        <p:spPr>
          <a:xfrm>
            <a:off x="703545" y="5773348"/>
            <a:ext cx="7736911" cy="385194"/>
          </a:xfrm>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DCB5DC32-5FDC-47A6-B93E-850DFC7B3040}"/>
              </a:ext>
            </a:extLst>
          </p:cNvPr>
          <p:cNvSpPr>
            <a:spLocks noGrp="1"/>
          </p:cNvSpPr>
          <p:nvPr>
            <p:ph type="sldNum" sz="quarter" idx="10"/>
          </p:nvPr>
        </p:nvSpPr>
        <p:spPr/>
        <p:txBody>
          <a:bodyPr/>
          <a:lstStyle/>
          <a:p>
            <a:fld id="{68151E55-6873-49E2-B8D5-2F265E6F1973}" type="slidenum">
              <a:rPr lang="en-US" smtClean="0"/>
              <a:t>53</a:t>
            </a:fld>
            <a:endParaRPr lang="en-US" dirty="0"/>
          </a:p>
        </p:txBody>
      </p:sp>
    </p:spTree>
    <p:extLst>
      <p:ext uri="{BB962C8B-B14F-4D97-AF65-F5344CB8AC3E}">
        <p14:creationId xmlns:p14="http://schemas.microsoft.com/office/powerpoint/2010/main" val="3663081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EDCB-5F6D-4CC6-B7E0-E5C5BF6AA525}"/>
              </a:ext>
            </a:extLst>
          </p:cNvPr>
          <p:cNvSpPr>
            <a:spLocks noGrp="1"/>
          </p:cNvSpPr>
          <p:nvPr>
            <p:ph type="title"/>
          </p:nvPr>
        </p:nvSpPr>
        <p:spPr/>
        <p:txBody>
          <a:bodyPr/>
          <a:lstStyle/>
          <a:p>
            <a:r>
              <a:rPr lang="en-US" altLang="en-US" dirty="0"/>
              <a:t>Emerging Viruses Illustrated</a:t>
            </a:r>
            <a:r>
              <a:rPr lang="en-US" dirty="0"/>
              <a:t> - Text Alternative</a:t>
            </a:r>
            <a:endParaRPr lang="en-IN" dirty="0"/>
          </a:p>
        </p:txBody>
      </p:sp>
      <p:sp>
        <p:nvSpPr>
          <p:cNvPr id="3" name="Text Placeholder 2">
            <a:extLst>
              <a:ext uri="{FF2B5EF4-FFF2-40B4-BE49-F238E27FC236}">
                <a16:creationId xmlns:a16="http://schemas.microsoft.com/office/drawing/2014/main" id="{CFDEFBCC-F20D-4127-A73C-9A747E583AFB}"/>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60159FC4-3B45-4F83-89C4-38F9E0A16390}"/>
              </a:ext>
            </a:extLst>
          </p:cNvPr>
          <p:cNvSpPr>
            <a:spLocks noGrp="1"/>
          </p:cNvSpPr>
          <p:nvPr>
            <p:ph sz="quarter" idx="21"/>
          </p:nvPr>
        </p:nvSpPr>
        <p:spPr>
          <a:xfrm>
            <a:off x="703545" y="1812925"/>
            <a:ext cx="7736911" cy="3773228"/>
          </a:xfrm>
        </p:spPr>
        <p:txBody>
          <a:bodyPr/>
          <a:lstStyle/>
          <a:p>
            <a:r>
              <a:rPr lang="en-US" dirty="0"/>
              <a:t>Shows emerging diseases in different regions of the world. Americas: West Nile Virus (1999), Enterovirus D68 (2014), Hantavirus (1993), 2009 H1N1 (2009) Chikungunya (2014), Dengue (1994), Yellow fever/VEE (1995), Zika (2015), Bolivian hemorrhagic fever (1994), Eurasia: </a:t>
            </a:r>
            <a:r>
              <a:rPr lang="en-US" dirty="0" err="1"/>
              <a:t>Diptheria</a:t>
            </a:r>
            <a:r>
              <a:rPr lang="en-US" dirty="0"/>
              <a:t> (1993), MERS (2012), </a:t>
            </a:r>
            <a:r>
              <a:rPr lang="en-US" dirty="0" err="1"/>
              <a:t>V.cholerae</a:t>
            </a:r>
            <a:r>
              <a:rPr lang="en-US" dirty="0"/>
              <a:t> O139 (1992), Avian Influenza H7N9 (2013), SARS (2003), Plague (1994) Indonesia and Australia: Avian influenza H5N1 (2003), Dengue (1992), Morbillivirus (1994) Africa: Novel Coronavirus (2012), Ebola (2014), Yellow fever (1993), HIV-1 Subtype O (1994)</a:t>
            </a:r>
            <a:endParaRPr lang="en-IN" dirty="0"/>
          </a:p>
        </p:txBody>
      </p:sp>
      <p:sp>
        <p:nvSpPr>
          <p:cNvPr id="5" name="Text Placeholder 4">
            <a:extLst>
              <a:ext uri="{FF2B5EF4-FFF2-40B4-BE49-F238E27FC236}">
                <a16:creationId xmlns:a16="http://schemas.microsoft.com/office/drawing/2014/main" id="{2B874BF4-B06F-4AF8-BD96-9EC1EEF6DADD}"/>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41D25437-125C-4894-B069-B436976F6799}"/>
              </a:ext>
            </a:extLst>
          </p:cNvPr>
          <p:cNvSpPr>
            <a:spLocks noGrp="1"/>
          </p:cNvSpPr>
          <p:nvPr>
            <p:ph type="sldNum" sz="quarter" idx="10"/>
          </p:nvPr>
        </p:nvSpPr>
        <p:spPr/>
        <p:txBody>
          <a:bodyPr/>
          <a:lstStyle/>
          <a:p>
            <a:fld id="{68151E55-6873-49E2-B8D5-2F265E6F1973}" type="slidenum">
              <a:rPr lang="en-US" smtClean="0"/>
              <a:t>54</a:t>
            </a:fld>
            <a:endParaRPr lang="en-US" dirty="0"/>
          </a:p>
        </p:txBody>
      </p:sp>
    </p:spTree>
    <p:extLst>
      <p:ext uri="{BB962C8B-B14F-4D97-AF65-F5344CB8AC3E}">
        <p14:creationId xmlns:p14="http://schemas.microsoft.com/office/powerpoint/2010/main" val="9884898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37D1E-DBD5-4A51-88BD-49997CB8E88D}"/>
              </a:ext>
            </a:extLst>
          </p:cNvPr>
          <p:cNvSpPr>
            <a:spLocks noGrp="1"/>
          </p:cNvSpPr>
          <p:nvPr>
            <p:ph type="title"/>
          </p:nvPr>
        </p:nvSpPr>
        <p:spPr/>
        <p:txBody>
          <a:bodyPr/>
          <a:lstStyle/>
          <a:p>
            <a:r>
              <a:rPr lang="en-US" altLang="en-US" dirty="0"/>
              <a:t>Pasteur’s Experiments</a:t>
            </a:r>
            <a:r>
              <a:rPr lang="en-US" dirty="0"/>
              <a:t> - Text Alternative</a:t>
            </a:r>
            <a:endParaRPr lang="en-IN" dirty="0"/>
          </a:p>
        </p:txBody>
      </p:sp>
      <p:sp>
        <p:nvSpPr>
          <p:cNvPr id="3" name="Text Placeholder 2">
            <a:extLst>
              <a:ext uri="{FF2B5EF4-FFF2-40B4-BE49-F238E27FC236}">
                <a16:creationId xmlns:a16="http://schemas.microsoft.com/office/drawing/2014/main" id="{FB3449F5-FA07-4B4B-8940-83F9C0B7EDB4}"/>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C1F12193-F480-44DE-BC91-8E48D5774A66}"/>
              </a:ext>
            </a:extLst>
          </p:cNvPr>
          <p:cNvSpPr>
            <a:spLocks noGrp="1"/>
          </p:cNvSpPr>
          <p:nvPr>
            <p:ph sz="quarter" idx="21"/>
          </p:nvPr>
        </p:nvSpPr>
        <p:spPr/>
        <p:txBody>
          <a:bodyPr>
            <a:normAutofit fontScale="92500" lnSpcReduction="20000"/>
          </a:bodyPr>
          <a:lstStyle/>
          <a:p>
            <a:r>
              <a:rPr lang="en-US" dirty="0"/>
              <a:t>Hypothesis A: Bacteria arise spontaneously in a broth. </a:t>
            </a:r>
          </a:p>
          <a:p>
            <a:r>
              <a:rPr lang="en-US" dirty="0"/>
              <a:t>Hypothesis B: Bacteria in air contaminate a broth. </a:t>
            </a:r>
          </a:p>
          <a:p>
            <a:r>
              <a:rPr lang="en-US" dirty="0"/>
              <a:t>First Experiment: </a:t>
            </a:r>
          </a:p>
          <a:p>
            <a:r>
              <a:rPr lang="en-US" dirty="0"/>
              <a:t>Broth is placed into two sets of flask and both are boiled to sterilize. One set is briefly opened outside building. This set shows 89 percent growth.</a:t>
            </a:r>
          </a:p>
          <a:p>
            <a:r>
              <a:rPr lang="en-US" dirty="0"/>
              <a:t>Flasks inside building are opened briefly as well, and show 32 percent growth. </a:t>
            </a:r>
          </a:p>
          <a:p>
            <a:r>
              <a:rPr lang="en-US" dirty="0"/>
              <a:t>Conclusion: </a:t>
            </a:r>
          </a:p>
          <a:p>
            <a:r>
              <a:rPr lang="en-US" dirty="0"/>
              <a:t>Hypothesis B is supported because relative concentrations of bacteria in the air explain the results.</a:t>
            </a:r>
          </a:p>
          <a:p>
            <a:r>
              <a:rPr lang="en-US" dirty="0"/>
              <a:t>Second experiment: </a:t>
            </a:r>
          </a:p>
          <a:p>
            <a:r>
              <a:rPr lang="en-US" dirty="0"/>
              <a:t>Broth is sterilized in an open air flask. No growth is observed inside the flask, though bacteria collect in the arm of the open air flask. </a:t>
            </a:r>
          </a:p>
          <a:p>
            <a:r>
              <a:rPr lang="en-US" dirty="0"/>
              <a:t>Conclusions: </a:t>
            </a:r>
          </a:p>
          <a:p>
            <a:r>
              <a:rPr lang="en-US" dirty="0"/>
              <a:t>Hypothesis B is supported because relative concentrations of bacteria in the air explain the results of first experiment and because when air reaching the broth in experiment 2 contains no bacteria, the flasks remain free of growth.</a:t>
            </a:r>
            <a:endParaRPr lang="en-IN" dirty="0"/>
          </a:p>
        </p:txBody>
      </p:sp>
      <p:sp>
        <p:nvSpPr>
          <p:cNvPr id="5" name="Text Placeholder 4">
            <a:extLst>
              <a:ext uri="{FF2B5EF4-FFF2-40B4-BE49-F238E27FC236}">
                <a16:creationId xmlns:a16="http://schemas.microsoft.com/office/drawing/2014/main" id="{CE49E133-97C4-40A5-9A57-6269F9022E4C}"/>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90BB9A48-B65D-471A-BDCE-2BCF0BC2B46C}"/>
              </a:ext>
            </a:extLst>
          </p:cNvPr>
          <p:cNvSpPr>
            <a:spLocks noGrp="1"/>
          </p:cNvSpPr>
          <p:nvPr>
            <p:ph type="sldNum" sz="quarter" idx="10"/>
          </p:nvPr>
        </p:nvSpPr>
        <p:spPr/>
        <p:txBody>
          <a:bodyPr/>
          <a:lstStyle/>
          <a:p>
            <a:fld id="{68151E55-6873-49E2-B8D5-2F265E6F1973}" type="slidenum">
              <a:rPr lang="en-US" smtClean="0"/>
              <a:t>55</a:t>
            </a:fld>
            <a:endParaRPr lang="en-US" dirty="0"/>
          </a:p>
        </p:txBody>
      </p:sp>
    </p:spTree>
    <p:extLst>
      <p:ext uri="{BB962C8B-B14F-4D97-AF65-F5344CB8AC3E}">
        <p14:creationId xmlns:p14="http://schemas.microsoft.com/office/powerpoint/2010/main" val="20280752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E6B61-21B5-473E-AA05-DF9C81584399}"/>
              </a:ext>
            </a:extLst>
          </p:cNvPr>
          <p:cNvSpPr>
            <a:spLocks noGrp="1"/>
          </p:cNvSpPr>
          <p:nvPr>
            <p:ph type="title"/>
          </p:nvPr>
        </p:nvSpPr>
        <p:spPr/>
        <p:txBody>
          <a:bodyPr/>
          <a:lstStyle/>
          <a:p>
            <a:r>
              <a:rPr lang="en-US" altLang="en-US" dirty="0"/>
              <a:t>Prokaryote Structure</a:t>
            </a:r>
            <a:r>
              <a:rPr lang="en-US" dirty="0"/>
              <a:t> - Text Alternative</a:t>
            </a:r>
            <a:endParaRPr lang="en-IN" dirty="0"/>
          </a:p>
        </p:txBody>
      </p:sp>
      <p:sp>
        <p:nvSpPr>
          <p:cNvPr id="3" name="Text Placeholder 2">
            <a:extLst>
              <a:ext uri="{FF2B5EF4-FFF2-40B4-BE49-F238E27FC236}">
                <a16:creationId xmlns:a16="http://schemas.microsoft.com/office/drawing/2014/main" id="{28AB5B7E-7137-4F4F-AA1F-18D4C5026FB5}"/>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75D9860A-6D0A-4509-AFF0-6585964765FC}"/>
              </a:ext>
            </a:extLst>
          </p:cNvPr>
          <p:cNvSpPr>
            <a:spLocks noGrp="1"/>
          </p:cNvSpPr>
          <p:nvPr>
            <p:ph sz="quarter" idx="21"/>
          </p:nvPr>
        </p:nvSpPr>
        <p:spPr/>
        <p:txBody>
          <a:bodyPr/>
          <a:lstStyle/>
          <a:p>
            <a:r>
              <a:rPr lang="en-IN" dirty="0"/>
              <a:t>Prokaryotic cell consists of cell envelope, cytoplasm and appendages. Cell envelope consists of glycocalyx, cell wall and plasma membrane, while cytoplasm consists of nucleoid, ribosomes and thylakoids (cyanobacteria); appendages consist of flagella, conjugation pilus and  fimbriae.</a:t>
            </a:r>
          </a:p>
        </p:txBody>
      </p:sp>
      <p:sp>
        <p:nvSpPr>
          <p:cNvPr id="5" name="Text Placeholder 4">
            <a:extLst>
              <a:ext uri="{FF2B5EF4-FFF2-40B4-BE49-F238E27FC236}">
                <a16:creationId xmlns:a16="http://schemas.microsoft.com/office/drawing/2014/main" id="{9100A57A-A381-45C6-BA38-CF6DAF9F8B8B}"/>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C83AC25E-8998-43AB-BADD-DCCB1D2B9528}"/>
              </a:ext>
            </a:extLst>
          </p:cNvPr>
          <p:cNvSpPr>
            <a:spLocks noGrp="1"/>
          </p:cNvSpPr>
          <p:nvPr>
            <p:ph type="sldNum" sz="quarter" idx="10"/>
          </p:nvPr>
        </p:nvSpPr>
        <p:spPr/>
        <p:txBody>
          <a:bodyPr/>
          <a:lstStyle/>
          <a:p>
            <a:fld id="{68151E55-6873-49E2-B8D5-2F265E6F1973}" type="slidenum">
              <a:rPr lang="en-US" smtClean="0"/>
              <a:t>56</a:t>
            </a:fld>
            <a:endParaRPr lang="en-US" dirty="0"/>
          </a:p>
        </p:txBody>
      </p:sp>
    </p:spTree>
    <p:extLst>
      <p:ext uri="{BB962C8B-B14F-4D97-AF65-F5344CB8AC3E}">
        <p14:creationId xmlns:p14="http://schemas.microsoft.com/office/powerpoint/2010/main" val="1777113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093F4-8032-40EF-B321-6673EA0F5022}"/>
              </a:ext>
            </a:extLst>
          </p:cNvPr>
          <p:cNvSpPr>
            <a:spLocks noGrp="1"/>
          </p:cNvSpPr>
          <p:nvPr>
            <p:ph type="title"/>
          </p:nvPr>
        </p:nvSpPr>
        <p:spPr/>
        <p:txBody>
          <a:bodyPr/>
          <a:lstStyle/>
          <a:p>
            <a:r>
              <a:rPr lang="en-US" altLang="en-US" dirty="0"/>
              <a:t>Photoautotrophic Bacteria</a:t>
            </a:r>
            <a:r>
              <a:rPr lang="en-US" dirty="0"/>
              <a:t> - Text Alternative</a:t>
            </a:r>
            <a:endParaRPr lang="en-IN" dirty="0"/>
          </a:p>
        </p:txBody>
      </p:sp>
      <p:sp>
        <p:nvSpPr>
          <p:cNvPr id="3" name="Text Placeholder 2">
            <a:extLst>
              <a:ext uri="{FF2B5EF4-FFF2-40B4-BE49-F238E27FC236}">
                <a16:creationId xmlns:a16="http://schemas.microsoft.com/office/drawing/2014/main" id="{F2C36042-2059-4951-900D-EE19017424B4}"/>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A0067ED0-C229-4837-B500-F5CE1CDF6658}"/>
              </a:ext>
            </a:extLst>
          </p:cNvPr>
          <p:cNvSpPr>
            <a:spLocks noGrp="1"/>
          </p:cNvSpPr>
          <p:nvPr>
            <p:ph sz="quarter" idx="21"/>
          </p:nvPr>
        </p:nvSpPr>
        <p:spPr/>
        <p:txBody>
          <a:bodyPr/>
          <a:lstStyle/>
          <a:p>
            <a:r>
              <a:rPr lang="en-US" dirty="0"/>
              <a:t>The characteristics of anoxygenic photosynthesis are as follows: </a:t>
            </a:r>
          </a:p>
          <a:p>
            <a:r>
              <a:rPr lang="en-US" dirty="0"/>
              <a:t>It does not produce oxygen, carries out photosystem one only and has unique type of chlorophyll called bacteriochlorophyll.  </a:t>
            </a:r>
          </a:p>
          <a:p>
            <a:r>
              <a:rPr lang="en-US" dirty="0"/>
              <a:t>The characteristics of oxygenic photosynthesis are as follows:  </a:t>
            </a:r>
          </a:p>
          <a:p>
            <a:r>
              <a:rPr lang="en-US" dirty="0"/>
              <a:t>It produces oxygen and carries out photosystems one and two both.</a:t>
            </a:r>
            <a:endParaRPr lang="en-IN" dirty="0"/>
          </a:p>
        </p:txBody>
      </p:sp>
      <p:sp>
        <p:nvSpPr>
          <p:cNvPr id="5" name="Text Placeholder 4">
            <a:extLst>
              <a:ext uri="{FF2B5EF4-FFF2-40B4-BE49-F238E27FC236}">
                <a16:creationId xmlns:a16="http://schemas.microsoft.com/office/drawing/2014/main" id="{52D09874-37BE-4EA5-A38D-0AB17C3A1B84}"/>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E4A56ED8-14D6-4B05-BD3F-E32435244380}"/>
              </a:ext>
            </a:extLst>
          </p:cNvPr>
          <p:cNvSpPr>
            <a:spLocks noGrp="1"/>
          </p:cNvSpPr>
          <p:nvPr>
            <p:ph type="sldNum" sz="quarter" idx="10"/>
          </p:nvPr>
        </p:nvSpPr>
        <p:spPr/>
        <p:txBody>
          <a:bodyPr/>
          <a:lstStyle/>
          <a:p>
            <a:fld id="{68151E55-6873-49E2-B8D5-2F265E6F1973}" type="slidenum">
              <a:rPr lang="en-US" smtClean="0"/>
              <a:t>57</a:t>
            </a:fld>
            <a:endParaRPr lang="en-US" dirty="0"/>
          </a:p>
        </p:txBody>
      </p:sp>
    </p:spTree>
    <p:extLst>
      <p:ext uri="{BB962C8B-B14F-4D97-AF65-F5344CB8AC3E}">
        <p14:creationId xmlns:p14="http://schemas.microsoft.com/office/powerpoint/2010/main" val="36047668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9AF11-3565-479D-8646-FAE7224A4DD4}"/>
              </a:ext>
            </a:extLst>
          </p:cNvPr>
          <p:cNvSpPr>
            <a:spLocks noGrp="1"/>
          </p:cNvSpPr>
          <p:nvPr>
            <p:ph type="title"/>
          </p:nvPr>
        </p:nvSpPr>
        <p:spPr/>
        <p:txBody>
          <a:bodyPr/>
          <a:lstStyle/>
          <a:p>
            <a:r>
              <a:rPr lang="en-US" altLang="en-US" dirty="0"/>
              <a:t>Features of Prokaryotic Cells</a:t>
            </a:r>
            <a:r>
              <a:rPr lang="en-US" dirty="0"/>
              <a:t> - Text Alternative</a:t>
            </a:r>
            <a:endParaRPr lang="en-IN" dirty="0"/>
          </a:p>
        </p:txBody>
      </p:sp>
      <p:sp>
        <p:nvSpPr>
          <p:cNvPr id="3" name="Text Placeholder 2">
            <a:extLst>
              <a:ext uri="{FF2B5EF4-FFF2-40B4-BE49-F238E27FC236}">
                <a16:creationId xmlns:a16="http://schemas.microsoft.com/office/drawing/2014/main" id="{9FD6E757-A970-47DF-86FC-F7D2E8F0AD34}"/>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C45120C3-FE02-46E3-816B-3314DBA94436}"/>
              </a:ext>
            </a:extLst>
          </p:cNvPr>
          <p:cNvSpPr>
            <a:spLocks noGrp="1"/>
          </p:cNvSpPr>
          <p:nvPr>
            <p:ph sz="quarter" idx="21"/>
          </p:nvPr>
        </p:nvSpPr>
        <p:spPr/>
        <p:txBody>
          <a:bodyPr/>
          <a:lstStyle/>
          <a:p>
            <a:r>
              <a:rPr lang="en-US" dirty="0"/>
              <a:t>The features of prokaryotic cells include the following: </a:t>
            </a:r>
          </a:p>
          <a:p>
            <a:r>
              <a:rPr lang="en-US" dirty="0"/>
              <a:t>Fimbriae: They are </a:t>
            </a:r>
            <a:r>
              <a:rPr lang="en-US" dirty="0" err="1"/>
              <a:t>hairlike</a:t>
            </a:r>
            <a:r>
              <a:rPr lang="en-US" dirty="0"/>
              <a:t> bristles that allow adhesion to surfaces. </a:t>
            </a:r>
          </a:p>
          <a:p>
            <a:r>
              <a:rPr lang="en-US" dirty="0"/>
              <a:t>Capsule: It is gel-like coating outside the cell wall made up of a polysaccharide layer called glycocalyx. </a:t>
            </a:r>
          </a:p>
          <a:p>
            <a:r>
              <a:rPr lang="en-US" dirty="0"/>
              <a:t>Cell wall: It is a structure that provides support and shapes the cell. </a:t>
            </a:r>
          </a:p>
          <a:p>
            <a:r>
              <a:rPr lang="en-US" dirty="0"/>
              <a:t>Plasma membrane: It is a sheet that surrounds the cytoplasm and regulates entrance and exit of molecules. </a:t>
            </a:r>
          </a:p>
          <a:p>
            <a:r>
              <a:rPr lang="en-US" dirty="0"/>
              <a:t>Nucleoid: It is a location of the bacterial chromosome. </a:t>
            </a:r>
          </a:p>
          <a:p>
            <a:r>
              <a:rPr lang="en-US" dirty="0"/>
              <a:t>Flagellum: It is a rotating filament that propels the cell .</a:t>
            </a:r>
            <a:endParaRPr lang="en-IN" dirty="0"/>
          </a:p>
        </p:txBody>
      </p:sp>
      <p:sp>
        <p:nvSpPr>
          <p:cNvPr id="5" name="Text Placeholder 4">
            <a:extLst>
              <a:ext uri="{FF2B5EF4-FFF2-40B4-BE49-F238E27FC236}">
                <a16:creationId xmlns:a16="http://schemas.microsoft.com/office/drawing/2014/main" id="{DCF927F7-4281-4C50-B6E6-8441774D01D7}"/>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000620EA-08A5-408B-9311-8D3379AEB827}"/>
              </a:ext>
            </a:extLst>
          </p:cNvPr>
          <p:cNvSpPr>
            <a:spLocks noGrp="1"/>
          </p:cNvSpPr>
          <p:nvPr>
            <p:ph type="sldNum" sz="quarter" idx="10"/>
          </p:nvPr>
        </p:nvSpPr>
        <p:spPr/>
        <p:txBody>
          <a:bodyPr/>
          <a:lstStyle/>
          <a:p>
            <a:fld id="{68151E55-6873-49E2-B8D5-2F265E6F1973}" type="slidenum">
              <a:rPr lang="en-US" smtClean="0"/>
              <a:t>58</a:t>
            </a:fld>
            <a:endParaRPr lang="en-US" dirty="0"/>
          </a:p>
        </p:txBody>
      </p:sp>
    </p:spTree>
    <p:extLst>
      <p:ext uri="{BB962C8B-B14F-4D97-AF65-F5344CB8AC3E}">
        <p14:creationId xmlns:p14="http://schemas.microsoft.com/office/powerpoint/2010/main" val="15587762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93DB6-347D-4E22-8FBB-933CA1903B43}"/>
              </a:ext>
            </a:extLst>
          </p:cNvPr>
          <p:cNvSpPr>
            <a:spLocks noGrp="1"/>
          </p:cNvSpPr>
          <p:nvPr>
            <p:ph type="title"/>
          </p:nvPr>
        </p:nvSpPr>
        <p:spPr/>
        <p:txBody>
          <a:bodyPr/>
          <a:lstStyle/>
          <a:p>
            <a:r>
              <a:rPr lang="en-US" dirty="0"/>
              <a:t>Gram Staining - Text Alternative</a:t>
            </a:r>
            <a:endParaRPr lang="en-IN" dirty="0"/>
          </a:p>
        </p:txBody>
      </p:sp>
      <p:sp>
        <p:nvSpPr>
          <p:cNvPr id="3" name="Text Placeholder 2">
            <a:extLst>
              <a:ext uri="{FF2B5EF4-FFF2-40B4-BE49-F238E27FC236}">
                <a16:creationId xmlns:a16="http://schemas.microsoft.com/office/drawing/2014/main" id="{D6866398-05BF-48C1-BC17-3A4E559C8F3E}"/>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4BDDCA17-D85C-4FDF-ACFF-C6BF3537135B}"/>
              </a:ext>
            </a:extLst>
          </p:cNvPr>
          <p:cNvSpPr>
            <a:spLocks noGrp="1"/>
          </p:cNvSpPr>
          <p:nvPr>
            <p:ph sz="quarter" idx="21"/>
          </p:nvPr>
        </p:nvSpPr>
        <p:spPr/>
        <p:txBody>
          <a:bodyPr/>
          <a:lstStyle/>
          <a:p>
            <a:r>
              <a:rPr lang="en-IN" dirty="0"/>
              <a:t>Steps for Gram staining are as follows: 1. Crystal violet is applied. Both Gram positive and negative cell walls affix the dye. 2. Gram's iodine is applied. Crystal violet-iodine complex formed inside the cells. All of the cells are one </a:t>
            </a:r>
            <a:r>
              <a:rPr lang="en-IN" dirty="0" err="1"/>
              <a:t>color</a:t>
            </a:r>
            <a:r>
              <a:rPr lang="en-IN" dirty="0"/>
              <a:t>. 3. Alcohol wash is applied. Alcohol dehydrates thick peptidoglycan layer in Gram-positive bacteria, trapping the dye complex. Alcohol has minimal effect on thin peptidoglycan layer of Gram-negative bacteria. 4. Safranin (red dye) is applied. Dark purple masks the dye in gram-positive bacteria. Red dye stains the </a:t>
            </a:r>
            <a:r>
              <a:rPr lang="en-IN" dirty="0" err="1"/>
              <a:t>colorless</a:t>
            </a:r>
            <a:r>
              <a:rPr lang="en-IN" dirty="0"/>
              <a:t> gram-negative cells. </a:t>
            </a:r>
          </a:p>
        </p:txBody>
      </p:sp>
      <p:sp>
        <p:nvSpPr>
          <p:cNvPr id="5" name="Text Placeholder 4">
            <a:extLst>
              <a:ext uri="{FF2B5EF4-FFF2-40B4-BE49-F238E27FC236}">
                <a16:creationId xmlns:a16="http://schemas.microsoft.com/office/drawing/2014/main" id="{E6DFFDA5-EC75-4176-A713-3B654BAB2CC3}"/>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B61F1C19-689B-4A75-826C-94CE11C36592}"/>
              </a:ext>
            </a:extLst>
          </p:cNvPr>
          <p:cNvSpPr>
            <a:spLocks noGrp="1"/>
          </p:cNvSpPr>
          <p:nvPr>
            <p:ph type="sldNum" sz="quarter" idx="10"/>
          </p:nvPr>
        </p:nvSpPr>
        <p:spPr/>
        <p:txBody>
          <a:bodyPr/>
          <a:lstStyle/>
          <a:p>
            <a:fld id="{68151E55-6873-49E2-B8D5-2F265E6F1973}" type="slidenum">
              <a:rPr lang="en-US" smtClean="0"/>
              <a:t>59</a:t>
            </a:fld>
            <a:endParaRPr lang="en-US" dirty="0"/>
          </a:p>
        </p:txBody>
      </p:sp>
    </p:spTree>
    <p:extLst>
      <p:ext uri="{BB962C8B-B14F-4D97-AF65-F5344CB8AC3E}">
        <p14:creationId xmlns:p14="http://schemas.microsoft.com/office/powerpoint/2010/main" val="35500215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9ED7A-C746-48D2-AB17-93738A4CB8E2}"/>
              </a:ext>
            </a:extLst>
          </p:cNvPr>
          <p:cNvSpPr>
            <a:spLocks noGrp="1"/>
          </p:cNvSpPr>
          <p:nvPr>
            <p:ph type="title"/>
          </p:nvPr>
        </p:nvSpPr>
        <p:spPr/>
        <p:txBody>
          <a:bodyPr/>
          <a:lstStyle/>
          <a:p>
            <a:r>
              <a:rPr lang="en-US" altLang="en-US" dirty="0"/>
              <a:t>Diversity Among Cyanobacteria</a:t>
            </a:r>
            <a:r>
              <a:rPr lang="en-US" dirty="0"/>
              <a:t> - Text Alternative</a:t>
            </a:r>
            <a:endParaRPr lang="en-IN" dirty="0"/>
          </a:p>
        </p:txBody>
      </p:sp>
      <p:sp>
        <p:nvSpPr>
          <p:cNvPr id="3" name="Text Placeholder 2">
            <a:extLst>
              <a:ext uri="{FF2B5EF4-FFF2-40B4-BE49-F238E27FC236}">
                <a16:creationId xmlns:a16="http://schemas.microsoft.com/office/drawing/2014/main" id="{82F566E7-1989-499E-9D32-F0759608F7EE}"/>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3715F79A-7C1D-4F8B-91A1-6DFFC5480B72}"/>
              </a:ext>
            </a:extLst>
          </p:cNvPr>
          <p:cNvSpPr>
            <a:spLocks noGrp="1"/>
          </p:cNvSpPr>
          <p:nvPr>
            <p:ph sz="quarter" idx="21"/>
          </p:nvPr>
        </p:nvSpPr>
        <p:spPr/>
        <p:txBody>
          <a:bodyPr/>
          <a:lstStyle/>
          <a:p>
            <a:r>
              <a:rPr lang="en-IN" dirty="0"/>
              <a:t>A) </a:t>
            </a:r>
            <a:r>
              <a:rPr lang="en-IN" dirty="0" err="1"/>
              <a:t>Gloeocapsa</a:t>
            </a:r>
            <a:r>
              <a:rPr lang="en-IN" dirty="0"/>
              <a:t> (enlarged 250 times on LM): Micrograph shows circular conjoint bodies with black ovular structures present in the </a:t>
            </a:r>
            <a:r>
              <a:rPr lang="en-IN" dirty="0" err="1"/>
              <a:t>centers</a:t>
            </a:r>
            <a:r>
              <a:rPr lang="en-IN" dirty="0"/>
              <a:t>. </a:t>
            </a:r>
          </a:p>
          <a:p>
            <a:r>
              <a:rPr lang="en-IN" dirty="0"/>
              <a:t>B) Oscillatoria (enlarged 40 times on LM): Micrograph shows a longitudinal and curved structures.  </a:t>
            </a:r>
          </a:p>
          <a:p>
            <a:r>
              <a:rPr lang="en-IN" dirty="0"/>
              <a:t>C) Oscillatoria cell: Diagram of a rectangular cell with soft edges shows a cell wall, plasma membrane on the outside and circular storage granule, coiled DNA and spirally wrapped thylakoids on the inside. </a:t>
            </a:r>
          </a:p>
        </p:txBody>
      </p:sp>
      <p:sp>
        <p:nvSpPr>
          <p:cNvPr id="5" name="Text Placeholder 4">
            <a:extLst>
              <a:ext uri="{FF2B5EF4-FFF2-40B4-BE49-F238E27FC236}">
                <a16:creationId xmlns:a16="http://schemas.microsoft.com/office/drawing/2014/main" id="{C05C0E63-319C-4FE3-844A-A4AB88420BD9}"/>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B0EC2E12-3F92-447B-81D9-8A813000866B}"/>
              </a:ext>
            </a:extLst>
          </p:cNvPr>
          <p:cNvSpPr>
            <a:spLocks noGrp="1"/>
          </p:cNvSpPr>
          <p:nvPr>
            <p:ph type="sldNum" sz="quarter" idx="10"/>
          </p:nvPr>
        </p:nvSpPr>
        <p:spPr/>
        <p:txBody>
          <a:bodyPr/>
          <a:lstStyle/>
          <a:p>
            <a:fld id="{68151E55-6873-49E2-B8D5-2F265E6F1973}" type="slidenum">
              <a:rPr lang="en-US" smtClean="0"/>
              <a:t>60</a:t>
            </a:fld>
            <a:endParaRPr lang="en-US" dirty="0"/>
          </a:p>
        </p:txBody>
      </p:sp>
    </p:spTree>
    <p:extLst>
      <p:ext uri="{BB962C8B-B14F-4D97-AF65-F5344CB8AC3E}">
        <p14:creationId xmlns:p14="http://schemas.microsoft.com/office/powerpoint/2010/main" val="1918487077"/>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docProps/app.xml><?xml version="1.0" encoding="utf-8"?>
<Properties xmlns="http://schemas.openxmlformats.org/officeDocument/2006/extended-properties" xmlns:vt="http://schemas.openxmlformats.org/officeDocument/2006/docPropsVTypes">
  <Template/>
  <TotalTime>291</TotalTime>
  <Words>3924</Words>
  <Application>Microsoft Office PowerPoint</Application>
  <PresentationFormat>On-screen Show (4:3)</PresentationFormat>
  <Paragraphs>478</Paragraphs>
  <Slides>60</Slides>
  <Notes>0</Notes>
  <HiddenSlides>15</HiddenSlides>
  <MMClips>0</MMClips>
  <ScaleCrop>false</ScaleCrop>
  <HeadingPairs>
    <vt:vector size="6" baseType="variant">
      <vt:variant>
        <vt:lpstr>Fonts Used</vt:lpstr>
      </vt:variant>
      <vt:variant>
        <vt:i4>9</vt:i4>
      </vt:variant>
      <vt:variant>
        <vt:lpstr>Theme</vt:lpstr>
      </vt:variant>
      <vt:variant>
        <vt:i4>8</vt:i4>
      </vt:variant>
      <vt:variant>
        <vt:lpstr>Slide Titles</vt:lpstr>
      </vt:variant>
      <vt:variant>
        <vt:i4>60</vt:i4>
      </vt:variant>
    </vt:vector>
  </HeadingPairs>
  <TitlesOfParts>
    <vt:vector size="77" baseType="lpstr">
      <vt:lpstr>Arial</vt:lpstr>
      <vt:lpstr>Arial (Body)</vt:lpstr>
      <vt:lpstr>Arial (Headings)</vt:lpstr>
      <vt:lpstr>Calibri</vt:lpstr>
      <vt:lpstr>Calibri (Body)</vt:lpstr>
      <vt:lpstr>Calibri (Headings)</vt:lpstr>
      <vt:lpstr>Cambria Math</vt:lpstr>
      <vt:lpstr>Symbol</vt:lpstr>
      <vt:lpstr>Wingdings</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20.1 Viruses, Viroids, and Prions</vt:lpstr>
      <vt:lpstr>Viral Diseases in Humans</vt:lpstr>
      <vt:lpstr>Structure of Viruses</vt:lpstr>
      <vt:lpstr>Virus Structure</vt:lpstr>
      <vt:lpstr>Adenovirus and T-even Bacteriophage</vt:lpstr>
      <vt:lpstr>Tobacco Mosaic and Influenza Viruses </vt:lpstr>
      <vt:lpstr>Parasitic Nature of Viruses</vt:lpstr>
      <vt:lpstr>Reproduction of Viruses</vt:lpstr>
      <vt:lpstr>Lytic and Lysogenic Cycles</vt:lpstr>
      <vt:lpstr>Reproduction in Viruses 7</vt:lpstr>
      <vt:lpstr>Reproduction of Animal Viruses</vt:lpstr>
      <vt:lpstr>Reproduction of the Retrovirus HIV 6</vt:lpstr>
      <vt:lpstr>Flu Virus</vt:lpstr>
      <vt:lpstr>Spikes of a Seasonal Flu and Bird Flu Virus</vt:lpstr>
      <vt:lpstr>Emerging Viruses</vt:lpstr>
      <vt:lpstr>Emerging Viruses Illustrated</vt:lpstr>
      <vt:lpstr>Viroids and Prions</vt:lpstr>
      <vt:lpstr>20.2 Prokaryotes</vt:lpstr>
      <vt:lpstr>Pasteur’s Experiments</vt:lpstr>
      <vt:lpstr>Structure of Prokaryotes</vt:lpstr>
      <vt:lpstr>Prokaryote Structure</vt:lpstr>
      <vt:lpstr>Features of Prokaryotic Cells</vt:lpstr>
      <vt:lpstr>Reproduction in Prokaryotes</vt:lpstr>
      <vt:lpstr>Binary Fission</vt:lpstr>
      <vt:lpstr>Genetic Recombination</vt:lpstr>
      <vt:lpstr>20.3 Bacteria</vt:lpstr>
      <vt:lpstr>Gram Staining</vt:lpstr>
      <vt:lpstr>Bacterial Cell Shapes</vt:lpstr>
      <vt:lpstr>Diversity of Bacteria</vt:lpstr>
      <vt:lpstr>Bacterial Metabolism</vt:lpstr>
      <vt:lpstr>Autotrophic Bacteria</vt:lpstr>
      <vt:lpstr>Photoautotrophic Bacteria</vt:lpstr>
      <vt:lpstr>Heterotrophic Bacteria</vt:lpstr>
      <vt:lpstr>Nodules of a Legume</vt:lpstr>
      <vt:lpstr>The Endospore of Clostridium tetani</vt:lpstr>
      <vt:lpstr>Bacterial Diseases in Humans</vt:lpstr>
      <vt:lpstr>Antibiotics</vt:lpstr>
      <vt:lpstr>Cyanobacteria</vt:lpstr>
      <vt:lpstr>Diversity Among Cyanobacteria</vt:lpstr>
      <vt:lpstr>20.4 Archaea</vt:lpstr>
      <vt:lpstr>Types of Archaea</vt:lpstr>
      <vt:lpstr>Halophilic Archaea</vt:lpstr>
      <vt:lpstr>End of main content</vt:lpstr>
      <vt:lpstr>Accessibility Content: Text Alternatives for Images</vt:lpstr>
      <vt:lpstr>Virus Structure - Text Alternative </vt:lpstr>
      <vt:lpstr>Adenovirus and T-even Bacteriophage - Text Alternative </vt:lpstr>
      <vt:lpstr>Tobacco Mosaic and Influenza Viruses - Text Alternative </vt:lpstr>
      <vt:lpstr>Reproduction in Viruses 2 - Text Alternative</vt:lpstr>
      <vt:lpstr>Reproduction in Viruses 7 - Text Alternative</vt:lpstr>
      <vt:lpstr>Reproduction of the Retrovirus HIV 6 - Text Alternative</vt:lpstr>
      <vt:lpstr>Spikes of a Seasonal Flu and Bird Flu Virus - Text Alternative</vt:lpstr>
      <vt:lpstr>Emerging Viruses Illustrated - Text Alternative</vt:lpstr>
      <vt:lpstr>Pasteur’s Experiments - Text Alternative</vt:lpstr>
      <vt:lpstr>Prokaryote Structure - Text Alternative</vt:lpstr>
      <vt:lpstr>Photoautotrophic Bacteria - Text Alternative</vt:lpstr>
      <vt:lpstr>Features of Prokaryotic Cells - Text Alternative</vt:lpstr>
      <vt:lpstr>Gram Staining - Text Alternative</vt:lpstr>
      <vt:lpstr>Diversity Among Cyanobacteria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20: Viruses, Bacteria, and Archaea Lecture Outline</dc:title>
  <dc:creator>Aman Chaudhary</dc:creator>
  <cp:lastModifiedBy>Cheryl Boice</cp:lastModifiedBy>
  <cp:revision>290</cp:revision>
  <dcterms:created xsi:type="dcterms:W3CDTF">2021-02-05T09:33:46Z</dcterms:created>
  <dcterms:modified xsi:type="dcterms:W3CDTF">2026-08-19T16:09:16Z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814e929-9946-42b9-880c-679f75b74d03_Enabled">
    <vt:lpwstr>true</vt:lpwstr>
  </property>
  <property fmtid="{D5CDD505-2E9C-101B-9397-08002B2CF9AE}" pid="3" name="MSIP_Label_9814e929-9946-42b9-880c-679f75b74d03_SetDate">
    <vt:lpwstr>2026-08-19T16:09:16Z</vt:lpwstr>
  </property>
  <property fmtid="{D5CDD505-2E9C-101B-9397-08002B2CF9AE}" pid="4" name="MSIP_Label_9814e929-9946-42b9-880c-679f75b74d03_Method">
    <vt:lpwstr>Standard</vt:lpwstr>
  </property>
  <property fmtid="{D5CDD505-2E9C-101B-9397-08002B2CF9AE}" pid="5" name="MSIP_Label_9814e929-9946-42b9-880c-679f75b74d03_Name">
    <vt:lpwstr>defa4170-0d19-0005-0004-bc88714345d2</vt:lpwstr>
  </property>
  <property fmtid="{D5CDD505-2E9C-101B-9397-08002B2CF9AE}" pid="6" name="MSIP_Label_9814e929-9946-42b9-880c-679f75b74d03_SiteId">
    <vt:lpwstr>997282f8-6935-42d5-8c5a-69e9a71596d3</vt:lpwstr>
  </property>
  <property fmtid="{D5CDD505-2E9C-101B-9397-08002B2CF9AE}" pid="7" name="MSIP_Label_9814e929-9946-42b9-880c-679f75b74d03_ActionId">
    <vt:lpwstr>cd690214-a784-41cc-8963-16f303a5124d</vt:lpwstr>
  </property>
  <property fmtid="{D5CDD505-2E9C-101B-9397-08002B2CF9AE}" pid="8" name="MSIP_Label_9814e929-9946-42b9-880c-679f75b74d03_ContentBits">
    <vt:lpwstr>0</vt:lpwstr>
  </property>
  <property fmtid="{D5CDD505-2E9C-101B-9397-08002B2CF9AE}" pid="9" name="MSIP_Label_9814e929-9946-42b9-880c-679f75b74d03_Tag">
    <vt:lpwstr>10, 3, 0, 1</vt:lpwstr>
  </property>
</Properties>
</file>
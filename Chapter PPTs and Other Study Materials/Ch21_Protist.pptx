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 id="2147483678" r:id="rId3"/>
    <p:sldMasterId id="2147483680" r:id="rId4"/>
    <p:sldMasterId id="2147483682" r:id="rId5"/>
    <p:sldMasterId id="2147483684" r:id="rId6"/>
    <p:sldMasterId id="2147483686" r:id="rId7"/>
    <p:sldMasterId id="2147483688" r:id="rId8"/>
  </p:sldMasterIdLst>
  <p:sldIdLst>
    <p:sldId id="256" r:id="rId9"/>
    <p:sldId id="262" r:id="rId10"/>
    <p:sldId id="263" r:id="rId11"/>
    <p:sldId id="265" r:id="rId12"/>
    <p:sldId id="266" r:id="rId13"/>
    <p:sldId id="267" r:id="rId14"/>
    <p:sldId id="268" r:id="rId15"/>
    <p:sldId id="269" r:id="rId16"/>
    <p:sldId id="272" r:id="rId17"/>
    <p:sldId id="270" r:id="rId18"/>
    <p:sldId id="271" r:id="rId19"/>
    <p:sldId id="273" r:id="rId20"/>
    <p:sldId id="274" r:id="rId21"/>
    <p:sldId id="275" r:id="rId22"/>
    <p:sldId id="276" r:id="rId23"/>
    <p:sldId id="277" r:id="rId24"/>
    <p:sldId id="278" r:id="rId25"/>
    <p:sldId id="279" r:id="rId26"/>
    <p:sldId id="280" r:id="rId27"/>
    <p:sldId id="281"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14" r:id="rId49"/>
    <p:sldId id="315" r:id="rId50"/>
    <p:sldId id="316" r:id="rId51"/>
    <p:sldId id="317" r:id="rId52"/>
    <p:sldId id="318" r:id="rId53"/>
    <p:sldId id="319" r:id="rId54"/>
    <p:sldId id="320" r:id="rId55"/>
    <p:sldId id="321" r:id="rId56"/>
    <p:sldId id="322" r:id="rId57"/>
    <p:sldId id="323" r:id="rId58"/>
    <p:sldId id="329" r:id="rId59"/>
    <p:sldId id="330" r:id="rId60"/>
    <p:sldId id="331" r:id="rId61"/>
    <p:sldId id="332" r:id="rId62"/>
    <p:sldId id="333" r:id="rId63"/>
    <p:sldId id="334" r:id="rId64"/>
    <p:sldId id="335" r:id="rId65"/>
    <p:sldId id="336" r:id="rId66"/>
    <p:sldId id="337" r:id="rId67"/>
    <p:sldId id="338" r:id="rId68"/>
    <p:sldId id="339" r:id="rId69"/>
    <p:sldId id="340" r:id="rId70"/>
    <p:sldId id="341" r:id="rId71"/>
    <p:sldId id="342" r:id="rId72"/>
    <p:sldId id="343" r:id="rId73"/>
    <p:sldId id="264" r:id="rId74"/>
    <p:sldId id="259" r:id="rId75"/>
    <p:sldId id="260" r:id="rId76"/>
    <p:sldId id="283" r:id="rId77"/>
    <p:sldId id="286" r:id="rId78"/>
    <p:sldId id="287" r:id="rId79"/>
    <p:sldId id="311" r:id="rId80"/>
    <p:sldId id="324" r:id="rId81"/>
    <p:sldId id="327" r:id="rId82"/>
    <p:sldId id="328" r:id="rId83"/>
    <p:sldId id="346" r:id="rId84"/>
    <p:sldId id="347" r:id="rId8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89EE48B6-907B-46A8-B9CB-C0A5F4E9B501}">
          <p14:sldIdLst>
            <p14:sldId id="256"/>
            <p14:sldId id="262"/>
            <p14:sldId id="263"/>
            <p14:sldId id="265"/>
            <p14:sldId id="266"/>
            <p14:sldId id="267"/>
            <p14:sldId id="268"/>
            <p14:sldId id="269"/>
            <p14:sldId id="272"/>
            <p14:sldId id="270"/>
            <p14:sldId id="271"/>
            <p14:sldId id="273"/>
            <p14:sldId id="274"/>
            <p14:sldId id="275"/>
            <p14:sldId id="276"/>
            <p14:sldId id="277"/>
            <p14:sldId id="278"/>
            <p14:sldId id="279"/>
            <p14:sldId id="280"/>
            <p14:sldId id="281"/>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14"/>
            <p14:sldId id="315"/>
            <p14:sldId id="316"/>
            <p14:sldId id="317"/>
            <p14:sldId id="318"/>
            <p14:sldId id="319"/>
            <p14:sldId id="320"/>
            <p14:sldId id="321"/>
            <p14:sldId id="322"/>
            <p14:sldId id="323"/>
            <p14:sldId id="329"/>
            <p14:sldId id="330"/>
            <p14:sldId id="331"/>
            <p14:sldId id="332"/>
            <p14:sldId id="333"/>
            <p14:sldId id="334"/>
            <p14:sldId id="335"/>
            <p14:sldId id="336"/>
            <p14:sldId id="337"/>
            <p14:sldId id="338"/>
            <p14:sldId id="339"/>
            <p14:sldId id="340"/>
            <p14:sldId id="341"/>
            <p14:sldId id="342"/>
            <p14:sldId id="343"/>
            <p14:sldId id="264"/>
          </p14:sldIdLst>
        </p14:section>
        <p14:section name="Appendix: Image Descriptions for Unsighted Students" id="{190CAB3E-E7E3-4FE1-933B-0DC940C329C4}">
          <p14:sldIdLst>
            <p14:sldId id="259"/>
            <p14:sldId id="260"/>
            <p14:sldId id="283"/>
            <p14:sldId id="286"/>
            <p14:sldId id="287"/>
            <p14:sldId id="311"/>
            <p14:sldId id="324"/>
            <p14:sldId id="327"/>
            <p14:sldId id="328"/>
            <p14:sldId id="346"/>
            <p14:sldId id="34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56" autoAdjust="0"/>
    <p:restoredTop sz="96229" autoAdjust="0"/>
  </p:normalViewPr>
  <p:slideViewPr>
    <p:cSldViewPr snapToGrid="0">
      <p:cViewPr varScale="1">
        <p:scale>
          <a:sx n="103" d="100"/>
          <a:sy n="103" d="100"/>
        </p:scale>
        <p:origin x="2106" y="102"/>
      </p:cViewPr>
      <p:guideLst>
        <p:guide orient="horz" pos="2160"/>
        <p:guide pos="2880"/>
      </p:guideLst>
    </p:cSldViewPr>
  </p:slideViewPr>
  <p:outlineViewPr>
    <p:cViewPr>
      <p:scale>
        <a:sx n="33" d="100"/>
        <a:sy n="33" d="100"/>
      </p:scale>
      <p:origin x="0" y="-4953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tableStyles" Target="tableStyles.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5" Type="http://schemas.openxmlformats.org/officeDocument/2006/relationships/slideMaster" Target="slideMasters/slideMaster5.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slide" Target="slides/slide69.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80" Type="http://schemas.openxmlformats.org/officeDocument/2006/relationships/slide" Target="slides/slide72.xml"/><Relationship Id="rId85" Type="http://schemas.openxmlformats.org/officeDocument/2006/relationships/slide" Target="slides/slide77.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slide" Target="slides/slide75.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7" Type="http://schemas.openxmlformats.org/officeDocument/2006/relationships/slideMaster" Target="slideMasters/slideMaster7.xml"/><Relationship Id="rId71" Type="http://schemas.openxmlformats.org/officeDocument/2006/relationships/slide" Target="slides/slide63.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viewProps" Target="viewProps.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COVER">
    <p:bg>
      <p:bgPr>
        <a:solidFill>
          <a:schemeClr val="bg1"/>
        </a:solidFill>
        <a:effectLst/>
      </p:bgPr>
    </p:bg>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4572000" y="1348470"/>
            <a:ext cx="4572000" cy="1320966"/>
          </a:xfrm>
          <a:prstGeom prst="rect">
            <a:avLst/>
          </a:prstGeom>
          <a:solidFill>
            <a:schemeClr val="bg1">
              <a:alpha val="0"/>
            </a:schemeClr>
          </a:solidFill>
        </p:spPr>
        <p:txBody>
          <a:bodyPr anchor="ctr">
            <a:noAutofit/>
          </a:bodyPr>
          <a:lstStyle>
            <a:lvl1pPr algn="ctr">
              <a:lnSpc>
                <a:spcPct val="100000"/>
              </a:lnSpc>
              <a:defRPr sz="4000" b="1" i="1">
                <a:solidFill>
                  <a:srgbClr val="DB0F0F"/>
                </a:solidFill>
                <a:latin typeface="Arial (Headings)"/>
                <a:cs typeface="Calibri" panose="020F0502020204030204" pitchFamily="34" charset="0"/>
              </a:defRPr>
            </a:lvl1pPr>
          </a:lstStyle>
          <a:p>
            <a:r>
              <a:rPr lang="en-US" dirty="0"/>
              <a:t>Chapter Title</a:t>
            </a:r>
          </a:p>
        </p:txBody>
      </p:sp>
      <p:sp>
        <p:nvSpPr>
          <p:cNvPr id="8" name="Subtitle" hidden="1"/>
          <p:cNvSpPr>
            <a:spLocks noGrp="1"/>
          </p:cNvSpPr>
          <p:nvPr>
            <p:ph type="subTitle" idx="1" hasCustomPrompt="1"/>
          </p:nvPr>
        </p:nvSpPr>
        <p:spPr>
          <a:xfrm>
            <a:off x="3242733" y="2133600"/>
            <a:ext cx="5748866" cy="1011381"/>
          </a:xfrm>
          <a:prstGeom prst="rect">
            <a:avLst/>
          </a:prstGeom>
          <a:solidFill>
            <a:schemeClr val="bg1">
              <a:alpha val="0"/>
            </a:schemeClr>
          </a:solidFill>
        </p:spPr>
        <p:txBody>
          <a:bodyPr anchor="ctr"/>
          <a:lstStyle>
            <a:lvl1pPr marL="0" indent="0" algn="ctr" defTabSz="914400" rtl="0" eaLnBrk="1" latinLnBrk="0" hangingPunct="1">
              <a:lnSpc>
                <a:spcPct val="100000"/>
              </a:lnSpc>
              <a:spcBef>
                <a:spcPct val="0"/>
              </a:spcBef>
              <a:buNone/>
              <a:defRPr lang="en-US" sz="5400" b="1" kern="1200" dirty="0">
                <a:solidFill>
                  <a:schemeClr val="bg1"/>
                </a:solidFill>
                <a:effectLst>
                  <a:outerShdw blurRad="38100" dist="38100" dir="2700000" algn="ctr" rotWithShape="0">
                    <a:schemeClr val="tx1"/>
                  </a:outerShdw>
                </a:effectLst>
                <a:latin typeface="Calibri (Headings)"/>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Subtitle</a:t>
            </a:r>
          </a:p>
        </p:txBody>
      </p:sp>
      <p:sp>
        <p:nvSpPr>
          <p:cNvPr id="3" name="Content Placeholder 2">
            <a:extLst>
              <a:ext uri="{FF2B5EF4-FFF2-40B4-BE49-F238E27FC236}">
                <a16:creationId xmlns:a16="http://schemas.microsoft.com/office/drawing/2014/main" id="{5A006BF3-2CB8-4BD4-9ACF-A1517A92D517}"/>
              </a:ext>
            </a:extLst>
          </p:cNvPr>
          <p:cNvSpPr>
            <a:spLocks noGrp="1"/>
          </p:cNvSpPr>
          <p:nvPr>
            <p:ph sz="quarter" idx="11" hasCustomPrompt="1"/>
          </p:nvPr>
        </p:nvSpPr>
        <p:spPr>
          <a:xfrm>
            <a:off x="4572000" y="2757640"/>
            <a:ext cx="4572000" cy="622300"/>
          </a:xfrm>
          <a:prstGeom prst="rect">
            <a:avLst/>
          </a:prstGeom>
        </p:spPr>
        <p:txBody>
          <a:bodyPr anchor="ctr"/>
          <a:lstStyle>
            <a:lvl1pPr algn="ctr">
              <a:defRPr sz="1800" b="1">
                <a:latin typeface="Arial (Headings)"/>
              </a:defRPr>
            </a:lvl1pPr>
          </a:lstStyle>
          <a:p>
            <a:pPr lvl="0"/>
            <a:r>
              <a:rPr lang="en-US" dirty="0"/>
              <a:t>Content </a:t>
            </a:r>
            <a:r>
              <a:rPr lang="en-US" dirty="0" err="1"/>
              <a:t>placehlder</a:t>
            </a:r>
            <a:r>
              <a:rPr lang="en-US" dirty="0"/>
              <a:t> 1</a:t>
            </a:r>
          </a:p>
        </p:txBody>
      </p:sp>
      <p:sp>
        <p:nvSpPr>
          <p:cNvPr id="5" name="Content Placeholder 4">
            <a:extLst>
              <a:ext uri="{FF2B5EF4-FFF2-40B4-BE49-F238E27FC236}">
                <a16:creationId xmlns:a16="http://schemas.microsoft.com/office/drawing/2014/main" id="{72BFCBE2-A216-47C6-9214-A3955A557166}"/>
              </a:ext>
            </a:extLst>
          </p:cNvPr>
          <p:cNvSpPr>
            <a:spLocks noGrp="1"/>
          </p:cNvSpPr>
          <p:nvPr>
            <p:ph sz="quarter" idx="12" hasCustomPrompt="1"/>
          </p:nvPr>
        </p:nvSpPr>
        <p:spPr>
          <a:xfrm>
            <a:off x="4572000" y="3791102"/>
            <a:ext cx="4572000" cy="961001"/>
          </a:xfrm>
          <a:prstGeom prst="rect">
            <a:avLst/>
          </a:prstGeom>
        </p:spPr>
        <p:txBody>
          <a:bodyPr anchor="t"/>
          <a:lstStyle>
            <a:lvl1pPr algn="ctr">
              <a:defRPr sz="2800">
                <a:latin typeface="Arial (Headings)"/>
              </a:defRPr>
            </a:lvl1pPr>
          </a:lstStyle>
          <a:p>
            <a:pPr lvl="0"/>
            <a:r>
              <a:rPr lang="en-US" dirty="0"/>
              <a:t>Content </a:t>
            </a:r>
            <a:r>
              <a:rPr lang="en-US" dirty="0" err="1"/>
              <a:t>placehlder</a:t>
            </a:r>
            <a:r>
              <a:rPr lang="en-US" dirty="0"/>
              <a:t> 2</a:t>
            </a:r>
          </a:p>
        </p:txBody>
      </p:sp>
      <p:sp>
        <p:nvSpPr>
          <p:cNvPr id="15" name="Content Placeholder 14">
            <a:extLst>
              <a:ext uri="{FF2B5EF4-FFF2-40B4-BE49-F238E27FC236}">
                <a16:creationId xmlns:a16="http://schemas.microsoft.com/office/drawing/2014/main" id="{93627D8A-B3C5-4BF6-B433-D9B26D347CC0}"/>
              </a:ext>
            </a:extLst>
          </p:cNvPr>
          <p:cNvSpPr>
            <a:spLocks noGrp="1"/>
          </p:cNvSpPr>
          <p:nvPr>
            <p:ph sz="quarter" idx="13" hasCustomPrompt="1"/>
          </p:nvPr>
        </p:nvSpPr>
        <p:spPr>
          <a:xfrm>
            <a:off x="4572000" y="4932068"/>
            <a:ext cx="4572000" cy="663575"/>
          </a:xfrm>
          <a:prstGeom prst="rect">
            <a:avLst/>
          </a:prstGeom>
        </p:spPr>
        <p:txBody>
          <a:bodyPr/>
          <a:lstStyle>
            <a:lvl1pPr algn="ctr">
              <a:defRPr b="1"/>
            </a:lvl1pPr>
          </a:lstStyle>
          <a:p>
            <a:pPr lvl="0"/>
            <a:r>
              <a:rPr lang="en-US" dirty="0"/>
              <a:t>Content placeholder 3</a:t>
            </a:r>
          </a:p>
        </p:txBody>
      </p:sp>
      <p:sp>
        <p:nvSpPr>
          <p:cNvPr id="14" name="Slide Number Placeholder" hidden="1">
            <a:extLst>
              <a:ext uri="{FF2B5EF4-FFF2-40B4-BE49-F238E27FC236}">
                <a16:creationId xmlns:a16="http://schemas.microsoft.com/office/drawing/2014/main" id="{5C691E31-1A94-439E-8E83-DB872CC124C4}"/>
              </a:ext>
            </a:extLst>
          </p:cNvPr>
          <p:cNvSpPr>
            <a:spLocks noGrp="1"/>
          </p:cNvSpPr>
          <p:nvPr>
            <p:ph type="sldNum" sz="quarter" idx="4"/>
          </p:nvPr>
        </p:nvSpPr>
        <p:spPr>
          <a:xfrm>
            <a:off x="8444542" y="6194459"/>
            <a:ext cx="461703" cy="279400"/>
          </a:xfrm>
          <a:prstGeom prst="rect">
            <a:avLst/>
          </a:prstGeom>
        </p:spPr>
        <p:txBody>
          <a:bodyPr vert="horz" lIns="45720" tIns="45720" rIns="45720" bIns="45720" rtlCol="0" anchor="ctr"/>
          <a:lstStyle>
            <a:lvl1pPr algn="r">
              <a:defRPr sz="10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sz="1000" dirty="0"/>
          </a:p>
        </p:txBody>
      </p:sp>
    </p:spTree>
    <p:extLst>
      <p:ext uri="{BB962C8B-B14F-4D97-AF65-F5344CB8AC3E}">
        <p14:creationId xmlns:p14="http://schemas.microsoft.com/office/powerpoint/2010/main" val="1795482773"/>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8F9AD23-695F-4808-8E99-6281554D0F77}" type="slidenum">
              <a:rPr lang="en-IN" smtClean="0"/>
              <a:t>‹#›</a:t>
            </a:fld>
            <a:endParaRPr lang="en-IN"/>
          </a:p>
        </p:txBody>
      </p:sp>
    </p:spTree>
    <p:extLst>
      <p:ext uri="{BB962C8B-B14F-4D97-AF65-F5344CB8AC3E}">
        <p14:creationId xmlns:p14="http://schemas.microsoft.com/office/powerpoint/2010/main" val="11096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3">
            <a:extLst>
              <a:ext uri="{FF2B5EF4-FFF2-40B4-BE49-F238E27FC236}">
                <a16:creationId xmlns:a16="http://schemas.microsoft.com/office/drawing/2014/main" id="{65F38756-9587-4F47-AAF7-1F04C911367E}"/>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5809628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7929427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3">
            <a:extLst>
              <a:ext uri="{FF2B5EF4-FFF2-40B4-BE49-F238E27FC236}">
                <a16:creationId xmlns:a16="http://schemas.microsoft.com/office/drawing/2014/main" id="{6C2A9141-206E-4D7B-A0C1-70BA6703B6EB}"/>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387709513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3">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400554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3244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14F7A605-44D5-45ED-BFD6-E58353F97E4F}"/>
              </a:ext>
            </a:extLst>
          </p:cNvPr>
          <p:cNvSpPr>
            <a:spLocks noGrp="1"/>
          </p:cNvSpPr>
          <p:nvPr>
            <p:ph type="body" sz="quarter" idx="21"/>
          </p:nvPr>
        </p:nvSpPr>
        <p:spPr>
          <a:xfrm>
            <a:off x="950913" y="43719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D57AE75C-9DC5-469E-8EA6-7C610556BF0A}"/>
              </a:ext>
            </a:extLst>
          </p:cNvPr>
          <p:cNvSpPr>
            <a:spLocks noGrp="1"/>
          </p:cNvSpPr>
          <p:nvPr>
            <p:ph type="body" sz="quarter" idx="22"/>
          </p:nvPr>
        </p:nvSpPr>
        <p:spPr>
          <a:xfrm>
            <a:off x="1181764" y="4979157"/>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4780309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1260" y="1865081"/>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3" name="Content Placeholder 12">
            <a:extLst>
              <a:ext uri="{FF2B5EF4-FFF2-40B4-BE49-F238E27FC236}">
                <a16:creationId xmlns:a16="http://schemas.microsoft.com/office/drawing/2014/main" id="{AF2B8440-A8C3-4970-9445-DE220532B290}"/>
              </a:ext>
            </a:extLst>
          </p:cNvPr>
          <p:cNvSpPr>
            <a:spLocks noGrp="1"/>
          </p:cNvSpPr>
          <p:nvPr>
            <p:ph sz="quarter" idx="13" hasCustomPrompt="1"/>
          </p:nvPr>
        </p:nvSpPr>
        <p:spPr>
          <a:xfrm>
            <a:off x="521260" y="238848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3</a:t>
            </a:r>
          </a:p>
        </p:txBody>
      </p:sp>
      <p:sp>
        <p:nvSpPr>
          <p:cNvPr id="15" name="Content Placeholder 14">
            <a:extLst>
              <a:ext uri="{FF2B5EF4-FFF2-40B4-BE49-F238E27FC236}">
                <a16:creationId xmlns:a16="http://schemas.microsoft.com/office/drawing/2014/main" id="{2AA36A2C-553A-49F8-A35E-5142F66F8C7C}"/>
              </a:ext>
            </a:extLst>
          </p:cNvPr>
          <p:cNvSpPr>
            <a:spLocks noGrp="1"/>
          </p:cNvSpPr>
          <p:nvPr>
            <p:ph sz="quarter" idx="14" hasCustomPrompt="1"/>
          </p:nvPr>
        </p:nvSpPr>
        <p:spPr>
          <a:xfrm>
            <a:off x="521259" y="2889294"/>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4</a:t>
            </a:r>
          </a:p>
        </p:txBody>
      </p:sp>
      <p:sp>
        <p:nvSpPr>
          <p:cNvPr id="17" name="Content Placeholder 16">
            <a:extLst>
              <a:ext uri="{FF2B5EF4-FFF2-40B4-BE49-F238E27FC236}">
                <a16:creationId xmlns:a16="http://schemas.microsoft.com/office/drawing/2014/main" id="{BF2C5FFC-20D4-4A05-9580-282061042C42}"/>
              </a:ext>
            </a:extLst>
          </p:cNvPr>
          <p:cNvSpPr>
            <a:spLocks noGrp="1"/>
          </p:cNvSpPr>
          <p:nvPr>
            <p:ph sz="quarter" idx="15" hasCustomPrompt="1"/>
          </p:nvPr>
        </p:nvSpPr>
        <p:spPr>
          <a:xfrm>
            <a:off x="521259" y="3361720"/>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5</a:t>
            </a:r>
          </a:p>
        </p:txBody>
      </p:sp>
      <p:sp>
        <p:nvSpPr>
          <p:cNvPr id="19" name="Content Placeholder 18">
            <a:extLst>
              <a:ext uri="{FF2B5EF4-FFF2-40B4-BE49-F238E27FC236}">
                <a16:creationId xmlns:a16="http://schemas.microsoft.com/office/drawing/2014/main" id="{EFE9EF17-8BE8-440A-B62B-80D09B55AC38}"/>
              </a:ext>
            </a:extLst>
          </p:cNvPr>
          <p:cNvSpPr>
            <a:spLocks noGrp="1"/>
          </p:cNvSpPr>
          <p:nvPr>
            <p:ph sz="quarter" idx="16" hasCustomPrompt="1"/>
          </p:nvPr>
        </p:nvSpPr>
        <p:spPr>
          <a:xfrm>
            <a:off x="521259" y="3855374"/>
            <a:ext cx="8101481"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6</a:t>
            </a:r>
          </a:p>
        </p:txBody>
      </p:sp>
      <p:sp>
        <p:nvSpPr>
          <p:cNvPr id="21" name="Content Placeholder 20">
            <a:extLst>
              <a:ext uri="{FF2B5EF4-FFF2-40B4-BE49-F238E27FC236}">
                <a16:creationId xmlns:a16="http://schemas.microsoft.com/office/drawing/2014/main" id="{AD4C7CD8-D449-4D2F-B0E8-59D4E0725C11}"/>
              </a:ext>
            </a:extLst>
          </p:cNvPr>
          <p:cNvSpPr>
            <a:spLocks noGrp="1"/>
          </p:cNvSpPr>
          <p:nvPr>
            <p:ph sz="quarter" idx="17" hasCustomPrompt="1"/>
          </p:nvPr>
        </p:nvSpPr>
        <p:spPr>
          <a:xfrm>
            <a:off x="521259" y="4379625"/>
            <a:ext cx="8101482"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7</a:t>
            </a:r>
          </a:p>
        </p:txBody>
      </p:sp>
      <p:sp>
        <p:nvSpPr>
          <p:cNvPr id="5" name="Content Placeholder 4">
            <a:extLst>
              <a:ext uri="{FF2B5EF4-FFF2-40B4-BE49-F238E27FC236}">
                <a16:creationId xmlns:a16="http://schemas.microsoft.com/office/drawing/2014/main" id="{63D910F2-5B14-B640-BA8E-D5BAE35431D4}"/>
              </a:ext>
            </a:extLst>
          </p:cNvPr>
          <p:cNvSpPr>
            <a:spLocks noGrp="1"/>
          </p:cNvSpPr>
          <p:nvPr>
            <p:ph sz="quarter" idx="18" hasCustomPrompt="1"/>
          </p:nvPr>
        </p:nvSpPr>
        <p:spPr>
          <a:xfrm>
            <a:off x="520700" y="487306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8</a:t>
            </a:r>
          </a:p>
        </p:txBody>
      </p:sp>
      <p:sp>
        <p:nvSpPr>
          <p:cNvPr id="8" name="Content Placeholder 7">
            <a:extLst>
              <a:ext uri="{FF2B5EF4-FFF2-40B4-BE49-F238E27FC236}">
                <a16:creationId xmlns:a16="http://schemas.microsoft.com/office/drawing/2014/main" id="{6AC24DEE-53EB-E940-8BA1-39C4FCB5CF81}"/>
              </a:ext>
            </a:extLst>
          </p:cNvPr>
          <p:cNvSpPr>
            <a:spLocks noGrp="1"/>
          </p:cNvSpPr>
          <p:nvPr>
            <p:ph sz="quarter" idx="19" hasCustomPrompt="1"/>
          </p:nvPr>
        </p:nvSpPr>
        <p:spPr>
          <a:xfrm>
            <a:off x="520700" y="5355908"/>
            <a:ext cx="8101482" cy="380671"/>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9</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9594994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460012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3605517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28896135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0697" y="4057297"/>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48966449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CLOSING">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501687" y="0"/>
            <a:ext cx="2292103" cy="409904"/>
          </a:xfrm>
          <a:prstGeom prst="rect">
            <a:avLst/>
          </a:prstGeom>
        </p:spPr>
        <p:txBody>
          <a:bodyPr/>
          <a:lstStyle>
            <a:lvl1pPr>
              <a:defRPr>
                <a:solidFill>
                  <a:schemeClr val="tx1"/>
                </a:solidFill>
                <a:latin typeface="Arial (Headings)"/>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50211" y="1479079"/>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372423"/>
            <a:ext cx="5682508"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40" normalizeH="0" baseline="0" noProof="0" dirty="0">
                <a:ln>
                  <a:noFill/>
                </a:ln>
                <a:solidFill>
                  <a:srgbClr val="000000"/>
                </a:solidFill>
                <a:effectLst/>
                <a:uLnTx/>
                <a:uFillTx/>
                <a:latin typeface="Calibri (Body)"/>
                <a:ea typeface="Calibri" panose="020F0502020204030204" pitchFamily="34" charset="0"/>
                <a:cs typeface="+mn-cs"/>
              </a:rPr>
              <a:t>Because learning changes everything.</a:t>
            </a:r>
            <a:r>
              <a:rPr kumimoji="0" lang="en-US" sz="2600" b="0" i="0" u="none" strike="noStrike" kern="1200" cap="none" spc="40" normalizeH="0" baseline="40000" noProof="0" dirty="0">
                <a:ln>
                  <a:noFill/>
                </a:ln>
                <a:solidFill>
                  <a:srgbClr val="000000"/>
                </a:solidFill>
                <a:effectLst/>
                <a:uLnTx/>
                <a:uFillTx/>
                <a:latin typeface="Calibri (Body)"/>
                <a:ea typeface="Calibri" panose="020F0502020204030204" pitchFamily="34" charset="0"/>
                <a:cs typeface="+mn-cs"/>
              </a:rPr>
              <a:t>®</a:t>
            </a:r>
            <a:endParaRPr kumimoji="0" lang="en-US" sz="2600" b="0" i="0" u="none" strike="noStrike" kern="1200" cap="none" spc="40" normalizeH="0" baseline="40000" noProof="0" dirty="0">
              <a:ln>
                <a:noFill/>
              </a:ln>
              <a:solidFill>
                <a:srgbClr val="000000"/>
              </a:solidFill>
              <a:effectLst/>
              <a:uLnTx/>
              <a:uFillTx/>
              <a:latin typeface="Calibri (Body)"/>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Body)"/>
                <a:ea typeface="+mn-ea"/>
                <a:cs typeface="+mn-cs"/>
              </a:rPr>
              <a:t>www.mheducation.com</a:t>
            </a:r>
          </a:p>
        </p:txBody>
      </p:sp>
      <p:sp>
        <p:nvSpPr>
          <p:cNvPr id="7" name="Footer Placeholder 2">
            <a:extLst>
              <a:ext uri="{FF2B5EF4-FFF2-40B4-BE49-F238E27FC236}">
                <a16:creationId xmlns:a16="http://schemas.microsoft.com/office/drawing/2014/main" id="{9CF0A730-D7C8-4E8F-AEFB-EF1D3A3771B0}"/>
              </a:ext>
            </a:extLst>
          </p:cNvPr>
          <p:cNvSpPr>
            <a:spLocks noGrp="1"/>
          </p:cNvSpPr>
          <p:nvPr>
            <p:ph type="body" sz="quarter" idx="10" hasCustomPrompt="1"/>
          </p:nvPr>
        </p:nvSpPr>
        <p:spPr>
          <a:xfrm>
            <a:off x="1" y="6365559"/>
            <a:ext cx="9144000" cy="492442"/>
          </a:xfrm>
          <a:prstGeom prst="rect">
            <a:avLst/>
          </a:prstGeom>
        </p:spPr>
        <p:txBody>
          <a:bodyPr anchor="ctr"/>
          <a:lstStyle>
            <a:lvl1pPr algn="ctr">
              <a:defRPr sz="850">
                <a:solidFill>
                  <a:schemeClr val="tx1"/>
                </a:solidFill>
                <a:latin typeface="Arial (Body)"/>
              </a:defRPr>
            </a:lvl1pPr>
          </a:lstStyle>
          <a:p>
            <a:pPr lvl="0"/>
            <a:r>
              <a:rPr lang="en-IN" dirty="0"/>
              <a:t>Place long copyright here</a:t>
            </a:r>
            <a:endParaRPr lang="en-US" dirty="0"/>
          </a:p>
        </p:txBody>
      </p:sp>
    </p:spTree>
    <p:extLst>
      <p:ext uri="{BB962C8B-B14F-4D97-AF65-F5344CB8AC3E}">
        <p14:creationId xmlns:p14="http://schemas.microsoft.com/office/powerpoint/2010/main" val="2863927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LOSSARY OPENER">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4A42A-F982-4BF3-855D-C46FC3848A70}"/>
              </a:ext>
            </a:extLst>
          </p:cNvPr>
          <p:cNvSpPr/>
          <p:nvPr userDrawn="1"/>
        </p:nvSpPr>
        <p:spPr>
          <a:xfrm>
            <a:off x="0" y="2853266"/>
            <a:ext cx="9144000" cy="1151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bg1"/>
                </a:solidFill>
                <a:latin typeface="Calibri (Headings)"/>
                <a:ea typeface="+mn-ea"/>
                <a:cs typeface="Calibri" panose="020F0502020204030204" pitchFamily="34" charset="0"/>
              </a:defRPr>
            </a:lvl1pPr>
          </a:lstStyle>
          <a:p>
            <a:r>
              <a:rPr lang="en-US" dirty="0"/>
              <a:t>Glossary Title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lvl1pPr>
              <a:defRPr>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29596874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LOSSARY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521260" y="143933"/>
            <a:ext cx="8101480" cy="107245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081D48"/>
                </a:solidFill>
                <a:latin typeface="Calibri (Headings)"/>
                <a:ea typeface="+mn-ea"/>
                <a:cs typeface="Calibri" panose="020F0502020204030204" pitchFamily="34" charset="0"/>
              </a:defRPr>
            </a:lvl1pPr>
          </a:lstStyle>
          <a:p>
            <a:r>
              <a:rPr lang="en-US" dirty="0"/>
              <a:t>Glossary-#</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520700" y="1338263"/>
            <a:ext cx="8102600"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520700" y="1812925"/>
            <a:ext cx="8102600"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Place Glossary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520700" y="5718743"/>
            <a:ext cx="8102600"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Calibri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488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PPENDIX OPEN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8E8A6E-2134-462B-9229-B1F01D5FD7F4}"/>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tx1"/>
                </a:solidFill>
                <a:latin typeface="Arial (Headings)"/>
                <a:ea typeface="+mn-ea"/>
                <a:cs typeface="Calibri" panose="020F0502020204030204" pitchFamily="34" charset="0"/>
              </a:defRPr>
            </a:lvl1pPr>
          </a:lstStyle>
          <a:p>
            <a:r>
              <a:rPr lang="en-US" dirty="0"/>
              <a:t>Appendix Title</a:t>
            </a:r>
          </a:p>
        </p:txBody>
      </p:sp>
      <p:sp>
        <p:nvSpPr>
          <p:cNvPr id="6" name="Slide Number Placeholder">
            <a:extLst>
              <a:ext uri="{FF2B5EF4-FFF2-40B4-BE49-F238E27FC236}">
                <a16:creationId xmlns:a16="http://schemas.microsoft.com/office/drawing/2014/main" id="{00556159-A873-408F-99F4-67C548E58AC9}"/>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185889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PPENDIX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7"/>
            <a:ext cx="9144000" cy="1201780"/>
          </a:xfrm>
          <a:prstGeom prst="rect">
            <a:avLst/>
          </a:prstGeom>
        </p:spPr>
        <p:txBody>
          <a:bodyPr anchor="ctr">
            <a:noAutofit/>
          </a:bodyPr>
          <a:lstStyle>
            <a:lvl1pPr algn="ctr" defTabSz="914400" rtl="0" eaLnBrk="1" latinLnBrk="0" hangingPunct="1">
              <a:spcBef>
                <a:spcPct val="0"/>
              </a:spcBef>
              <a:buNone/>
              <a:defRPr lang="en-US" sz="3600" b="0" kern="1200" dirty="0">
                <a:solidFill>
                  <a:srgbClr val="081D48"/>
                </a:solidFill>
                <a:latin typeface="Arial" panose="020B0604020202020204" pitchFamily="34" charset="0"/>
                <a:ea typeface="+mn-ea"/>
                <a:cs typeface="Arial" panose="020B0604020202020204" pitchFamily="34" charset="0"/>
              </a:defRPr>
            </a:lvl1pPr>
          </a:lstStyle>
          <a:p>
            <a:r>
              <a:rPr lang="en-US" dirty="0"/>
              <a:t>Appendix Title - Text Alternative</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703545" y="1338263"/>
            <a:ext cx="7736911"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lvl="0"/>
            <a:r>
              <a:rPr lang="en-US" dirty="0"/>
              <a:t>Return to parent-slide containing images.</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703545" y="1812925"/>
            <a:ext cx="7736911"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1400">
                <a:latin typeface="Arial" panose="020B0604020202020204" pitchFamily="34" charset="0"/>
                <a:cs typeface="Arial" panose="020B0604020202020204" pitchFamily="34" charset="0"/>
              </a:defRPr>
            </a:lvl1pPr>
          </a:lstStyle>
          <a:p>
            <a:pPr lvl="0"/>
            <a:r>
              <a:rPr lang="en-US" dirty="0"/>
              <a:t>Place Appendix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703545" y="5718743"/>
            <a:ext cx="7736911"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Arial" panose="020B0604020202020204" pitchFamily="34" charset="0"/>
                <a:ea typeface="+mn-ea"/>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440456" y="6458200"/>
            <a:ext cx="541796" cy="385194"/>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787461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PPENDIX TITLE SUBTITLE">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735677" y="2345267"/>
            <a:ext cx="7672647" cy="1354666"/>
          </a:xfrm>
          <a:prstGeom prst="rect">
            <a:avLst/>
          </a:prstGeom>
        </p:spPr>
        <p:txBody>
          <a:bodyPr anchor="ctr" anchorCtr="1">
            <a:noAutofit/>
          </a:bodyPr>
          <a:lstStyle>
            <a:lvl1pPr algn="ctr" defTabSz="914400" rtl="0" eaLnBrk="1" latinLnBrk="0" hangingPunct="1">
              <a:spcBef>
                <a:spcPct val="0"/>
              </a:spcBef>
              <a:buNone/>
              <a:defRPr lang="en-US" sz="4400" b="1" kern="1200" dirty="0">
                <a:solidFill>
                  <a:srgbClr val="081D48"/>
                </a:solidFill>
                <a:latin typeface="Calibri (Headings)"/>
                <a:ea typeface="+mn-ea"/>
                <a:cs typeface="Calibri" panose="020F0502020204030204" pitchFamily="34" charset="0"/>
              </a:defRPr>
            </a:lvl1pPr>
          </a:lstStyle>
          <a:p>
            <a:r>
              <a:rPr lang="en-US" dirty="0"/>
              <a:t>Appendix</a:t>
            </a:r>
          </a:p>
        </p:txBody>
      </p:sp>
      <p:sp>
        <p:nvSpPr>
          <p:cNvPr id="14" name="Subtitle 2">
            <a:extLst>
              <a:ext uri="{FF2B5EF4-FFF2-40B4-BE49-F238E27FC236}">
                <a16:creationId xmlns:a16="http://schemas.microsoft.com/office/drawing/2014/main" id="{94B2AA13-A008-444C-B284-83EB2A0F5D97}"/>
              </a:ext>
            </a:extLst>
          </p:cNvPr>
          <p:cNvSpPr>
            <a:spLocks noGrp="1"/>
          </p:cNvSpPr>
          <p:nvPr>
            <p:ph type="subTitle" idx="1" hasCustomPrompt="1"/>
          </p:nvPr>
        </p:nvSpPr>
        <p:spPr>
          <a:xfrm>
            <a:off x="1596044" y="3981796"/>
            <a:ext cx="5951912" cy="1729048"/>
          </a:xfrm>
        </p:spPr>
        <p:txBody>
          <a:bodyPr anchor="ctr" anchorCtr="1">
            <a:normAutofit/>
          </a:bodyPr>
          <a:lstStyle>
            <a:lvl1pPr marL="0" indent="0" algn="ctr">
              <a:buNone/>
              <a:defRPr sz="4400">
                <a:latin typeface="Calibri (Body)"/>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Appendix Subtitle</a:t>
            </a:r>
          </a:p>
        </p:txBody>
      </p:sp>
      <p:sp>
        <p:nvSpPr>
          <p:cNvPr id="23" name="Long Description Link 22" hidden="1">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5790672"/>
            <a:ext cx="8101481" cy="314325"/>
          </a:xfrm>
        </p:spPr>
        <p:txBody>
          <a:bodyPr anchor="ctr">
            <a:normAutofit/>
          </a:bodyPr>
          <a:lstStyle>
            <a:lvl1pPr algn="ctr">
              <a:defRPr sz="900">
                <a:latin typeface="Calibri (Body)"/>
              </a:defRPr>
            </a:lvl1pPr>
          </a:lstStyle>
          <a:p>
            <a:pPr lvl="0"/>
            <a:r>
              <a:rPr lang="en-US" dirty="0"/>
              <a:t>Add text alternative link, if needed.</a:t>
            </a:r>
          </a:p>
        </p:txBody>
      </p:sp>
      <p:sp>
        <p:nvSpPr>
          <p:cNvPr id="25" name="Image Credit" hidden="1">
            <a:extLst>
              <a:ext uri="{FF2B5EF4-FFF2-40B4-BE49-F238E27FC236}">
                <a16:creationId xmlns:a16="http://schemas.microsoft.com/office/drawing/2014/main" id="{5CA37626-93A6-4081-9ED9-636DCDEED43D}"/>
              </a:ext>
            </a:extLst>
          </p:cNvPr>
          <p:cNvSpPr>
            <a:spLocks noGrp="1"/>
          </p:cNvSpPr>
          <p:nvPr>
            <p:ph type="body" sz="quarter" idx="19" hasCustomPrompt="1"/>
          </p:nvPr>
        </p:nvSpPr>
        <p:spPr>
          <a:xfrm>
            <a:off x="1592569" y="6458201"/>
            <a:ext cx="6932612" cy="385194"/>
          </a:xfrm>
        </p:spPr>
        <p:txBody>
          <a:bodyPr rIns="0" anchor="ctr" anchorCtr="0">
            <a:noAutofit/>
          </a:bodyPr>
          <a:lstStyle>
            <a:lvl1pPr algn="r">
              <a:defRPr lang="en-US" sz="800" kern="1200" dirty="0">
                <a:solidFill>
                  <a:schemeClr val="bg1"/>
                </a:solidFill>
                <a:latin typeface="Calibri" panose="020F0502020204030204" pitchFamily="34" charset="0"/>
                <a:ea typeface="+mn-ea"/>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70701267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B9B96F-01AB-4DD8-9A0B-D81D4B92BC67}"/>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pic>
        <p:nvPicPr>
          <p:cNvPr id="8" name="MGH logo">
            <a:extLst>
              <a:ext uri="{FF2B5EF4-FFF2-40B4-BE49-F238E27FC236}">
                <a16:creationId xmlns:a16="http://schemas.microsoft.com/office/drawing/2014/main" id="{202AAA75-63DC-48F9-8834-4D17A1CF4E2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4600" y="126037"/>
            <a:ext cx="612648" cy="612648"/>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p:nvSpPr>
        <p:spPr>
          <a:xfrm>
            <a:off x="465512" y="741460"/>
            <a:ext cx="8558299" cy="307777"/>
          </a:xfrm>
          <a:prstGeom prst="rect">
            <a:avLst/>
          </a:prstGeom>
          <a:noFill/>
        </p:spPr>
        <p:txBody>
          <a:bodyPr wrap="square" lIns="45720" r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40" dirty="0">
                <a:effectLst/>
                <a:latin typeface="Arial" panose="020B0604020202020204" pitchFamily="34" charset="0"/>
                <a:ea typeface="Calibri" panose="020F0502020204030204" pitchFamily="34" charset="0"/>
                <a:cs typeface="Arial" panose="020B0604020202020204" pitchFamily="34" charset="0"/>
              </a:rPr>
              <a:t>Because learning changes everything.</a:t>
            </a:r>
            <a:r>
              <a:rPr lang="en-US" sz="1400" spc="40" baseline="30000" dirty="0">
                <a:effectLst/>
                <a:latin typeface="Arial" panose="020B0604020202020204" pitchFamily="34" charset="0"/>
                <a:ea typeface="Calibri" panose="020F0502020204030204" pitchFamily="34" charset="0"/>
                <a:cs typeface="Arial" panose="020B0604020202020204" pitchFamily="34" charset="0"/>
              </a:rPr>
              <a:t>®</a:t>
            </a:r>
            <a:endParaRPr lang="en-US" sz="1400" spc="40" baseline="30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A1A395B-AC00-4912-B68A-9FFDC1A8A4DA}"/>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40575" y="1284804"/>
            <a:ext cx="4229373" cy="4663440"/>
          </a:xfrm>
          <a:prstGeom prst="rect">
            <a:avLst/>
          </a:prstGeom>
        </p:spPr>
      </p:pic>
      <p:sp>
        <p:nvSpPr>
          <p:cNvPr id="14" name="Slide Number Placeholder">
            <a:extLst>
              <a:ext uri="{FF2B5EF4-FFF2-40B4-BE49-F238E27FC236}">
                <a16:creationId xmlns:a16="http://schemas.microsoft.com/office/drawing/2014/main" id="{358CCDBF-D83B-42C0-9F60-3DB5E69B969D}"/>
              </a:ext>
            </a:extLst>
          </p:cNvPr>
          <p:cNvSpPr>
            <a:spLocks noGrp="1"/>
          </p:cNvSpPr>
          <p:nvPr>
            <p:ph type="sldNum" sz="quarter" idx="4"/>
          </p:nvPr>
        </p:nvSpPr>
        <p:spPr>
          <a:xfrm>
            <a:off x="8562109" y="6089955"/>
            <a:ext cx="461703" cy="279400"/>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11" name="Rectangle 10">
            <a:extLst>
              <a:ext uri="{FF2B5EF4-FFF2-40B4-BE49-F238E27FC236}">
                <a16:creationId xmlns:a16="http://schemas.microsoft.com/office/drawing/2014/main" id="{827CDCCE-AEEF-467C-B925-131D7D384F3C}"/>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nchor="ctr"/>
          <a:lstStyle/>
          <a:p>
            <a:pPr algn="ctr">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4098600466"/>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7D76183D-3485-4A46-8E8E-BA5DC84389D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603059519"/>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76" r:id="rId3"/>
    <p:sldLayoutId id="2147483697" r:id="rId4"/>
    <p:sldLayoutId id="2147483695" r:id="rId5"/>
    <p:sldLayoutId id="2147483677" r:id="rId6"/>
    <p:sldLayoutId id="2147483690" r:id="rId7"/>
    <p:sldLayoutId id="2147483693" r:id="rId8"/>
    <p:sldLayoutId id="2147483692" r:id="rId9"/>
    <p:sldLayoutId id="2147483691" r:id="rId10"/>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2F7581-8105-4856-B006-EAE98E0C9AC7}"/>
              </a:ext>
            </a:extLst>
          </p:cNvPr>
          <p:cNvSpPr/>
          <p:nvPr userDrawn="1"/>
        </p:nvSpPr>
        <p:spPr bwMode="auto">
          <a:xfrm>
            <a:off x="-1" y="0"/>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7" name="Rectangle 6">
            <a:extLst>
              <a:ext uri="{FF2B5EF4-FFF2-40B4-BE49-F238E27FC236}">
                <a16:creationId xmlns:a16="http://schemas.microsoft.com/office/drawing/2014/main" id="{70958A1A-1A12-45A2-B5E0-60CE12EFE95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nchor="ctr"/>
          <a:lstStyle/>
          <a:p>
            <a:pPr marL="0" marR="0" lvl="0" indent="0" algn="ctr" defTabSz="457200" rtl="0" eaLnBrk="0" fontAlgn="auto" latinLnBrk="0" hangingPunct="0">
              <a:lnSpc>
                <a:spcPct val="100000"/>
              </a:lnSpc>
              <a:spcBef>
                <a:spcPct val="34000"/>
              </a:spcBef>
              <a:spcAft>
                <a:spcPts val="0"/>
              </a:spcAft>
              <a:buClr>
                <a:srgbClr val="000000"/>
              </a:buClr>
              <a:buSzPct val="100000"/>
              <a:buFont typeface="Symbol" pitchFamily="18" charset="2"/>
              <a:buNone/>
              <a:tabLst/>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580835463"/>
      </p:ext>
    </p:extLst>
  </p:cSld>
  <p:clrMap bg1="lt1" tx1="dk1" bg2="lt2" tx2="dk2" accent1="accent1" accent2="accent2" accent3="accent3" accent4="accent4" accent5="accent5" accent6="accent6" hlink="hlink" folHlink="folHlink"/>
  <p:sldLayoutIdLst>
    <p:sldLayoutId id="214748367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2160">
          <p15:clr>
            <a:srgbClr val="F26B43"/>
          </p15:clr>
        </p15:guide>
        <p15:guide id="13" pos="36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59613783"/>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512794" y="148703"/>
            <a:ext cx="8118412" cy="1053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517588" y="1346200"/>
            <a:ext cx="8108824" cy="476673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25060620"/>
      </p:ext>
    </p:extLst>
  </p:cSld>
  <p:clrMap bg1="lt1" tx1="dk1" bg2="lt2" tx2="dk2" accent1="accent1" accent2="accent2" accent3="accent3" accent4="accent4" accent5="accent5" accent6="accent6" hlink="hlink" folHlink="folHlink"/>
  <p:sldLayoutIdLst>
    <p:sldLayoutId id="2147483683"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0" name="Rectangle 9">
            <a:extLst>
              <a:ext uri="{FF2B5EF4-FFF2-40B4-BE49-F238E27FC236}">
                <a16:creationId xmlns:a16="http://schemas.microsoft.com/office/drawing/2014/main" id="{B5AFE35D-2800-49B9-98ED-918880A1185E}"/>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8" name="Short Copyright">
            <a:extLst>
              <a:ext uri="{FF2B5EF4-FFF2-40B4-BE49-F238E27FC236}">
                <a16:creationId xmlns:a16="http://schemas.microsoft.com/office/drawing/2014/main" id="{4A2FC72F-53CB-4924-9CB5-4C71034E8F6B}"/>
              </a:ext>
            </a:extLst>
          </p:cNvPr>
          <p:cNvSpPr txBox="1"/>
          <p:nvPr userDrawn="1"/>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9" name="Slide Number Placeholder">
            <a:extLst>
              <a:ext uri="{FF2B5EF4-FFF2-40B4-BE49-F238E27FC236}">
                <a16:creationId xmlns:a16="http://schemas.microsoft.com/office/drawing/2014/main" id="{D81F4F2D-3BB8-4150-BA92-5F3FA2A274EB}"/>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68668309"/>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E9109236-1BF2-42DF-B3D7-8095A631169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687634475"/>
      </p:ext>
    </p:extLst>
  </p:cSld>
  <p:clrMap bg1="lt1" tx1="dk1" bg2="lt2" tx2="dk2" accent1="accent1" accent2="accent2" accent3="accent3" accent4="accent4" accent5="accent5" accent6="accent6" hlink="hlink" folHlink="folHlink"/>
  <p:sldLayoutIdLst>
    <p:sldLayoutId id="214748368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730223" y="2335879"/>
            <a:ext cx="7683555" cy="1363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1584125" y="3961709"/>
            <a:ext cx="5975751" cy="176576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76714983"/>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slide" Target="slide69.xml"/><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slide" Target="slide70.xml"/><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slide" Target="slide71.xml"/><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slide" Target="slide73.xml"/><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slide" Target="slide74.xml"/><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slide" Target="slide76.xml"/><Relationship Id="rId2" Type="http://schemas.openxmlformats.org/officeDocument/2006/relationships/image" Target="../media/image27.jpe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slide" Target="slide77.xml"/><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2" Type="http://schemas.openxmlformats.org/officeDocument/2006/relationships/slide" Target="slide29.xml"/><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2" Type="http://schemas.openxmlformats.org/officeDocument/2006/relationships/slide" Target="slide43.xml"/><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2" Type="http://schemas.openxmlformats.org/officeDocument/2006/relationships/slide" Target="slide53.xml"/><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2" Type="http://schemas.openxmlformats.org/officeDocument/2006/relationships/slide" Target="slide55.xml"/><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2" Type="http://schemas.openxmlformats.org/officeDocument/2006/relationships/slide" Target="slide63.xml"/><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2" Type="http://schemas.openxmlformats.org/officeDocument/2006/relationships/slide" Target="slide6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733ED0-3842-43A7-8BDE-AFE8B97FDE28}"/>
              </a:ext>
            </a:extLst>
          </p:cNvPr>
          <p:cNvSpPr>
            <a:spLocks noGrp="1"/>
          </p:cNvSpPr>
          <p:nvPr>
            <p:ph type="ctrTitle"/>
          </p:nvPr>
        </p:nvSpPr>
        <p:spPr>
          <a:xfrm>
            <a:off x="4572000" y="1300036"/>
            <a:ext cx="4572000" cy="1129393"/>
          </a:xfrm>
        </p:spPr>
        <p:txBody>
          <a:bodyPr/>
          <a:lstStyle/>
          <a:p>
            <a:r>
              <a:rPr lang="en-US" altLang="en-US" dirty="0"/>
              <a:t>Biology</a:t>
            </a:r>
            <a:endParaRPr lang="en-IN" dirty="0"/>
          </a:p>
        </p:txBody>
      </p:sp>
      <p:sp>
        <p:nvSpPr>
          <p:cNvPr id="5" name="Subtitle 2">
            <a:extLst>
              <a:ext uri="{FF2B5EF4-FFF2-40B4-BE49-F238E27FC236}">
                <a16:creationId xmlns:a16="http://schemas.microsoft.com/office/drawing/2014/main" id="{0870AA8A-D98D-4EB3-81F3-3373CF2A34CB}"/>
              </a:ext>
            </a:extLst>
          </p:cNvPr>
          <p:cNvSpPr>
            <a:spLocks noGrp="1"/>
          </p:cNvSpPr>
          <p:nvPr>
            <p:ph type="subTitle" idx="1"/>
          </p:nvPr>
        </p:nvSpPr>
        <p:spPr>
          <a:xfrm>
            <a:off x="4454771" y="2273103"/>
            <a:ext cx="4689229" cy="1011381"/>
          </a:xfrm>
        </p:spPr>
        <p:txBody>
          <a:bodyPr/>
          <a:lstStyle/>
          <a:p>
            <a:r>
              <a:rPr lang="en-US" altLang="en-US" sz="1800" dirty="0">
                <a:solidFill>
                  <a:schemeClr val="tx1"/>
                </a:solidFill>
                <a:effectLst/>
                <a:latin typeface="+mj-lt"/>
              </a:rPr>
              <a:t>Sylvia S. </a:t>
            </a:r>
            <a:r>
              <a:rPr lang="en-US" altLang="en-US" sz="1800" dirty="0" err="1">
                <a:solidFill>
                  <a:schemeClr val="tx1"/>
                </a:solidFill>
                <a:effectLst/>
                <a:latin typeface="+mj-lt"/>
              </a:rPr>
              <a:t>Mader</a:t>
            </a:r>
            <a:br>
              <a:rPr lang="en-US" altLang="en-US" sz="1800" dirty="0">
                <a:solidFill>
                  <a:schemeClr val="tx1"/>
                </a:solidFill>
                <a:effectLst/>
                <a:latin typeface="+mj-lt"/>
              </a:rPr>
            </a:br>
            <a:r>
              <a:rPr lang="en-US" altLang="en-US" sz="1800" dirty="0">
                <a:solidFill>
                  <a:schemeClr val="tx1"/>
                </a:solidFill>
                <a:effectLst/>
                <a:latin typeface="+mj-lt"/>
              </a:rPr>
              <a:t>Michael </a:t>
            </a:r>
            <a:r>
              <a:rPr lang="en-US" altLang="en-US" sz="1800" dirty="0" err="1">
                <a:solidFill>
                  <a:schemeClr val="tx1"/>
                </a:solidFill>
                <a:effectLst/>
                <a:latin typeface="+mj-lt"/>
              </a:rPr>
              <a:t>Windelspecht</a:t>
            </a:r>
            <a:endParaRPr lang="en-IN" sz="1800" dirty="0">
              <a:solidFill>
                <a:schemeClr val="tx1"/>
              </a:solidFill>
              <a:effectLst/>
              <a:latin typeface="+mj-lt"/>
            </a:endParaRPr>
          </a:p>
        </p:txBody>
      </p:sp>
      <p:sp>
        <p:nvSpPr>
          <p:cNvPr id="6" name="Content Placeholder 3">
            <a:extLst>
              <a:ext uri="{FF2B5EF4-FFF2-40B4-BE49-F238E27FC236}">
                <a16:creationId xmlns:a16="http://schemas.microsoft.com/office/drawing/2014/main" id="{592C8D69-86D8-4DDD-A213-ED8E89CF93EE}"/>
              </a:ext>
            </a:extLst>
          </p:cNvPr>
          <p:cNvSpPr>
            <a:spLocks noGrp="1"/>
          </p:cNvSpPr>
          <p:nvPr>
            <p:ph sz="quarter" idx="11"/>
          </p:nvPr>
        </p:nvSpPr>
        <p:spPr>
          <a:xfrm>
            <a:off x="4572000" y="3721985"/>
            <a:ext cx="4572000" cy="622300"/>
          </a:xfrm>
        </p:spPr>
        <p:txBody>
          <a:bodyPr/>
          <a:lstStyle/>
          <a:p>
            <a:pPr>
              <a:spcBef>
                <a:spcPts val="0"/>
              </a:spcBef>
            </a:pPr>
            <a:r>
              <a:rPr lang="en-US" altLang="en-US" sz="2800" b="0"/>
              <a:t>Chapter 21 </a:t>
            </a:r>
            <a:endParaRPr lang="en-US" altLang="en-US" sz="2800" b="0" dirty="0"/>
          </a:p>
          <a:p>
            <a:pPr>
              <a:spcBef>
                <a:spcPts val="0"/>
              </a:spcBef>
            </a:pPr>
            <a:r>
              <a:rPr lang="en-IN" sz="2800" b="0"/>
              <a:t>Protist Evolution and Diversity</a:t>
            </a:r>
            <a:endParaRPr lang="en-US" altLang="en-US" sz="2800" b="0" dirty="0"/>
          </a:p>
        </p:txBody>
      </p:sp>
      <p:sp>
        <p:nvSpPr>
          <p:cNvPr id="8" name="Content Placeholder 8">
            <a:extLst>
              <a:ext uri="{FF2B5EF4-FFF2-40B4-BE49-F238E27FC236}">
                <a16:creationId xmlns:a16="http://schemas.microsoft.com/office/drawing/2014/main" id="{BCB62FE7-459B-4543-8927-EA51252355FD}"/>
              </a:ext>
            </a:extLst>
          </p:cNvPr>
          <p:cNvSpPr txBox="1">
            <a:spLocks/>
          </p:cNvSpPr>
          <p:nvPr/>
        </p:nvSpPr>
        <p:spPr>
          <a:xfrm>
            <a:off x="0" y="6383045"/>
            <a:ext cx="9144000" cy="474955"/>
          </a:xfrm>
          <a:prstGeom prst="rect">
            <a:avLst/>
          </a:prstGeom>
        </p:spPr>
        <p:txBody>
          <a:bodyPr anchor="ct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413249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8941B0B-1809-492E-ACFF-6768CC723330}"/>
              </a:ext>
            </a:extLst>
          </p:cNvPr>
          <p:cNvSpPr>
            <a:spLocks noGrp="1"/>
          </p:cNvSpPr>
          <p:nvPr>
            <p:ph type="title"/>
          </p:nvPr>
        </p:nvSpPr>
        <p:spPr>
          <a:xfrm>
            <a:off x="0" y="1"/>
            <a:ext cx="9144000" cy="1177178"/>
          </a:xfrm>
        </p:spPr>
        <p:txBody>
          <a:bodyPr/>
          <a:lstStyle/>
          <a:p>
            <a:r>
              <a:rPr lang="en-US" dirty="0"/>
              <a:t>Outline</a:t>
            </a:r>
            <a:endParaRPr lang="en-IN" dirty="0"/>
          </a:p>
        </p:txBody>
      </p:sp>
      <p:sp>
        <p:nvSpPr>
          <p:cNvPr id="2" name="Text Placeholder 2">
            <a:extLst>
              <a:ext uri="{FF2B5EF4-FFF2-40B4-BE49-F238E27FC236}">
                <a16:creationId xmlns:a16="http://schemas.microsoft.com/office/drawing/2014/main" id="{186BC9FF-46C6-460B-ADDC-C54A26B74EC2}"/>
              </a:ext>
            </a:extLst>
          </p:cNvPr>
          <p:cNvSpPr>
            <a:spLocks noGrp="1"/>
          </p:cNvSpPr>
          <p:nvPr>
            <p:ph type="body" sz="quarter" idx="19"/>
          </p:nvPr>
        </p:nvSpPr>
        <p:spPr>
          <a:xfrm>
            <a:off x="842963" y="1177179"/>
            <a:ext cx="7623676" cy="5434635"/>
          </a:xfrm>
        </p:spPr>
        <p:txBody>
          <a:bodyPr>
            <a:normAutofit/>
          </a:bodyPr>
          <a:lstStyle/>
          <a:p>
            <a:pPr lvl="0">
              <a:spcAft>
                <a:spcPts val="2000"/>
              </a:spcAft>
            </a:pPr>
            <a:r>
              <a:rPr lang="en-US" altLang="en-US" sz="2800" dirty="0">
                <a:solidFill>
                  <a:prstClr val="black"/>
                </a:solidFill>
              </a:rPr>
              <a:t>21.1 General Biology of Protists</a:t>
            </a:r>
          </a:p>
          <a:p>
            <a:pPr lvl="0">
              <a:spcAft>
                <a:spcPts val="2000"/>
              </a:spcAft>
            </a:pPr>
            <a:r>
              <a:rPr lang="en-US" altLang="en-US" sz="2800" dirty="0">
                <a:solidFill>
                  <a:prstClr val="black"/>
                </a:solidFill>
              </a:rPr>
              <a:t>21.2 Supergroup </a:t>
            </a:r>
            <a:r>
              <a:rPr lang="en-US" altLang="en-US" sz="2800" dirty="0" err="1">
                <a:solidFill>
                  <a:prstClr val="black"/>
                </a:solidFill>
              </a:rPr>
              <a:t>Excavata</a:t>
            </a:r>
            <a:endParaRPr lang="en-US" altLang="en-US" sz="2800" dirty="0">
              <a:solidFill>
                <a:prstClr val="black"/>
              </a:solidFill>
            </a:endParaRPr>
          </a:p>
          <a:p>
            <a:pPr lvl="0">
              <a:spcAft>
                <a:spcPts val="2000"/>
              </a:spcAft>
            </a:pPr>
            <a:r>
              <a:rPr lang="en-US" altLang="en-US" sz="2800" dirty="0">
                <a:solidFill>
                  <a:prstClr val="black"/>
                </a:solidFill>
              </a:rPr>
              <a:t>21.3 Supergroup Chromalveolata</a:t>
            </a:r>
          </a:p>
          <a:p>
            <a:pPr lvl="0">
              <a:spcAft>
                <a:spcPts val="2000"/>
              </a:spcAft>
            </a:pPr>
            <a:r>
              <a:rPr lang="en-US" altLang="en-US" sz="2800" dirty="0">
                <a:solidFill>
                  <a:prstClr val="black"/>
                </a:solidFill>
              </a:rPr>
              <a:t>21.4 Supergroup </a:t>
            </a:r>
            <a:r>
              <a:rPr lang="en-US" altLang="en-US" sz="2800" dirty="0" err="1">
                <a:solidFill>
                  <a:prstClr val="black"/>
                </a:solidFill>
              </a:rPr>
              <a:t>Rhizaria</a:t>
            </a:r>
            <a:endParaRPr lang="en-US" altLang="en-US" sz="2800" dirty="0">
              <a:solidFill>
                <a:prstClr val="black"/>
              </a:solidFill>
            </a:endParaRPr>
          </a:p>
          <a:p>
            <a:pPr lvl="0">
              <a:spcAft>
                <a:spcPts val="2000"/>
              </a:spcAft>
            </a:pPr>
            <a:r>
              <a:rPr lang="en-US" altLang="en-US" sz="2800" dirty="0">
                <a:solidFill>
                  <a:prstClr val="black"/>
                </a:solidFill>
              </a:rPr>
              <a:t>21.5 Supergroup Archaeplastida</a:t>
            </a:r>
          </a:p>
          <a:p>
            <a:pPr lvl="0">
              <a:spcAft>
                <a:spcPts val="2000"/>
              </a:spcAft>
            </a:pPr>
            <a:r>
              <a:rPr lang="en-US" altLang="en-US" sz="2800" dirty="0">
                <a:solidFill>
                  <a:prstClr val="black"/>
                </a:solidFill>
              </a:rPr>
              <a:t>21.6 Supergroup Amoebozoa</a:t>
            </a:r>
          </a:p>
          <a:p>
            <a:pPr lvl="0">
              <a:spcAft>
                <a:spcPts val="2000"/>
              </a:spcAft>
            </a:pPr>
            <a:r>
              <a:rPr lang="en-US" altLang="en-US" sz="2800" dirty="0">
                <a:solidFill>
                  <a:prstClr val="black"/>
                </a:solidFill>
              </a:rPr>
              <a:t>21.7 Supergroup </a:t>
            </a:r>
            <a:r>
              <a:rPr lang="en-US" altLang="en-US" sz="2800" dirty="0" err="1">
                <a:solidFill>
                  <a:prstClr val="black"/>
                </a:solidFill>
              </a:rPr>
              <a:t>Opisthokonta</a:t>
            </a:r>
            <a:endParaRPr lang="en-US" altLang="en-US" sz="2800" dirty="0">
              <a:solidFill>
                <a:prstClr val="black"/>
              </a:solidFill>
            </a:endParaRPr>
          </a:p>
        </p:txBody>
      </p:sp>
      <p:sp>
        <p:nvSpPr>
          <p:cNvPr id="4" name="Slide Number Placeholder 3">
            <a:extLst>
              <a:ext uri="{FF2B5EF4-FFF2-40B4-BE49-F238E27FC236}">
                <a16:creationId xmlns:a16="http://schemas.microsoft.com/office/drawing/2014/main" id="{06FD65B7-960F-4FF5-B858-E6E7B20D1CC7}"/>
              </a:ext>
            </a:extLst>
          </p:cNvPr>
          <p:cNvSpPr>
            <a:spLocks noGrp="1"/>
          </p:cNvSpPr>
          <p:nvPr>
            <p:ph type="sldNum" sz="quarter" idx="4"/>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3381230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6F8EA-94DA-4D34-888B-85B53C34DE00}"/>
              </a:ext>
            </a:extLst>
          </p:cNvPr>
          <p:cNvSpPr>
            <a:spLocks noGrp="1"/>
          </p:cNvSpPr>
          <p:nvPr>
            <p:ph type="title"/>
          </p:nvPr>
        </p:nvSpPr>
        <p:spPr>
          <a:xfrm>
            <a:off x="0" y="1"/>
            <a:ext cx="9144000" cy="1011443"/>
          </a:xfrm>
        </p:spPr>
        <p:txBody>
          <a:bodyPr/>
          <a:lstStyle/>
          <a:p>
            <a:r>
              <a:rPr lang="en-US" dirty="0"/>
              <a:t>21.1 General Biology of Protists</a:t>
            </a:r>
            <a:endParaRPr lang="en-IN" dirty="0"/>
          </a:p>
        </p:txBody>
      </p:sp>
      <p:sp>
        <p:nvSpPr>
          <p:cNvPr id="5" name="Text Placeholder 2">
            <a:extLst>
              <a:ext uri="{FF2B5EF4-FFF2-40B4-BE49-F238E27FC236}">
                <a16:creationId xmlns:a16="http://schemas.microsoft.com/office/drawing/2014/main" id="{E2336465-884D-45A6-99E1-9D7DFB659931}"/>
              </a:ext>
            </a:extLst>
          </p:cNvPr>
          <p:cNvSpPr>
            <a:spLocks noGrp="1"/>
          </p:cNvSpPr>
          <p:nvPr>
            <p:ph type="body" sz="quarter" idx="19"/>
          </p:nvPr>
        </p:nvSpPr>
        <p:spPr>
          <a:xfrm>
            <a:off x="438898" y="1177179"/>
            <a:ext cx="7623676" cy="5165005"/>
          </a:xfrm>
        </p:spPr>
        <p:txBody>
          <a:bodyPr/>
          <a:lstStyle/>
          <a:p>
            <a:pPr lvl="0">
              <a:lnSpc>
                <a:spcPct val="80000"/>
              </a:lnSpc>
              <a:spcAft>
                <a:spcPts val="1500"/>
              </a:spcAft>
            </a:pPr>
            <a:r>
              <a:rPr lang="en-US" altLang="en-US" sz="3000" dirty="0">
                <a:solidFill>
                  <a:prstClr val="black"/>
                </a:solidFill>
              </a:rPr>
              <a:t>Classified in the domain Eukarya and the kingdom Protista</a:t>
            </a:r>
          </a:p>
          <a:p>
            <a:pPr marL="0" lvl="1" indent="0">
              <a:lnSpc>
                <a:spcPct val="80000"/>
              </a:lnSpc>
              <a:spcBef>
                <a:spcPts val="0"/>
              </a:spcBef>
              <a:buNone/>
            </a:pPr>
            <a:r>
              <a:rPr lang="en-US" altLang="en-US" sz="2600" dirty="0">
                <a:solidFill>
                  <a:prstClr val="black"/>
                </a:solidFill>
              </a:rPr>
              <a:t>Endosymbiotic hypothesis</a:t>
            </a:r>
          </a:p>
          <a:p>
            <a:pPr marL="269875" lvl="2" indent="-269875">
              <a:lnSpc>
                <a:spcPct val="80000"/>
              </a:lnSpc>
              <a:spcBef>
                <a:spcPts val="1200"/>
              </a:spcBef>
              <a:spcAft>
                <a:spcPts val="0"/>
              </a:spcAft>
              <a:tabLst>
                <a:tab pos="176213" algn="l"/>
              </a:tabLst>
            </a:pPr>
            <a:r>
              <a:rPr lang="en-US" altLang="en-US" sz="2200" dirty="0">
                <a:solidFill>
                  <a:prstClr val="black"/>
                </a:solidFill>
              </a:rPr>
              <a:t>Aerobic bacteria became mitochondria.</a:t>
            </a:r>
          </a:p>
          <a:p>
            <a:pPr marL="269875" lvl="2" indent="-269875">
              <a:lnSpc>
                <a:spcPct val="80000"/>
              </a:lnSpc>
              <a:spcBef>
                <a:spcPts val="1200"/>
              </a:spcBef>
              <a:spcAft>
                <a:spcPts val="0"/>
              </a:spcAft>
              <a:tabLst>
                <a:tab pos="176213" algn="l"/>
              </a:tabLst>
            </a:pPr>
            <a:r>
              <a:rPr lang="en-US" altLang="en-US" sz="2200" dirty="0">
                <a:solidFill>
                  <a:prstClr val="black"/>
                </a:solidFill>
              </a:rPr>
              <a:t>Cyanobacteria became chloroplasts.</a:t>
            </a:r>
          </a:p>
          <a:p>
            <a:pPr marL="0" lvl="1" indent="0">
              <a:lnSpc>
                <a:spcPct val="80000"/>
              </a:lnSpc>
              <a:spcBef>
                <a:spcPts val="1200"/>
              </a:spcBef>
              <a:buNone/>
            </a:pPr>
            <a:r>
              <a:rPr lang="en-US" altLang="en-US" sz="2600" dirty="0">
                <a:solidFill>
                  <a:prstClr val="black"/>
                </a:solidFill>
              </a:rPr>
              <a:t>Vary in size from microscopic algae and protozoans to kelp more than 200 m in length</a:t>
            </a:r>
          </a:p>
          <a:p>
            <a:pPr marL="0" lvl="1" indent="0">
              <a:lnSpc>
                <a:spcPct val="80000"/>
              </a:lnSpc>
              <a:spcBef>
                <a:spcPts val="1200"/>
              </a:spcBef>
              <a:buNone/>
            </a:pPr>
            <a:r>
              <a:rPr lang="en-US" altLang="en-US" sz="2600" dirty="0">
                <a:solidFill>
                  <a:prstClr val="black"/>
                </a:solidFill>
              </a:rPr>
              <a:t>Although many protists are unicellular, they are highly complex</a:t>
            </a:r>
          </a:p>
          <a:p>
            <a:pPr marL="269875" lvl="2" indent="-269875">
              <a:lnSpc>
                <a:spcPct val="80000"/>
              </a:lnSpc>
              <a:spcBef>
                <a:spcPts val="1200"/>
              </a:spcBef>
              <a:tabLst>
                <a:tab pos="176213" algn="l"/>
              </a:tabLst>
            </a:pPr>
            <a:r>
              <a:rPr lang="en-US" altLang="en-US" sz="2200" dirty="0">
                <a:solidFill>
                  <a:prstClr val="black"/>
                </a:solidFill>
              </a:rPr>
              <a:t>Some protists are colonial or filamentous.</a:t>
            </a:r>
          </a:p>
        </p:txBody>
      </p:sp>
      <p:sp>
        <p:nvSpPr>
          <p:cNvPr id="4" name="Slide Number Placeholder 3">
            <a:extLst>
              <a:ext uri="{FF2B5EF4-FFF2-40B4-BE49-F238E27FC236}">
                <a16:creationId xmlns:a16="http://schemas.microsoft.com/office/drawing/2014/main" id="{AD9D0EF6-80F7-49A7-8805-6D2418433608}"/>
              </a:ext>
            </a:extLst>
          </p:cNvPr>
          <p:cNvSpPr>
            <a:spLocks noGrp="1"/>
          </p:cNvSpPr>
          <p:nvPr>
            <p:ph type="sldNum" sz="quarter" idx="4"/>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2231482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5EB40-038F-4690-9B01-BA19E3012ECB}"/>
              </a:ext>
            </a:extLst>
          </p:cNvPr>
          <p:cNvSpPr>
            <a:spLocks noGrp="1"/>
          </p:cNvSpPr>
          <p:nvPr>
            <p:ph type="title"/>
          </p:nvPr>
        </p:nvSpPr>
        <p:spPr/>
        <p:txBody>
          <a:bodyPr/>
          <a:lstStyle/>
          <a:p>
            <a:r>
              <a:rPr lang="en-US" dirty="0"/>
              <a:t>Nutrition of Protists</a:t>
            </a:r>
            <a:endParaRPr lang="en-IN" dirty="0"/>
          </a:p>
        </p:txBody>
      </p:sp>
      <p:sp>
        <p:nvSpPr>
          <p:cNvPr id="3" name="Text Placeholder 2">
            <a:extLst>
              <a:ext uri="{FF2B5EF4-FFF2-40B4-BE49-F238E27FC236}">
                <a16:creationId xmlns:a16="http://schemas.microsoft.com/office/drawing/2014/main" id="{B0C44E53-5799-4DB0-ABFC-FFB799657FC5}"/>
              </a:ext>
            </a:extLst>
          </p:cNvPr>
          <p:cNvSpPr>
            <a:spLocks noGrp="1"/>
          </p:cNvSpPr>
          <p:nvPr>
            <p:ph type="body" sz="quarter" idx="19"/>
          </p:nvPr>
        </p:nvSpPr>
        <p:spPr>
          <a:xfrm>
            <a:off x="842963" y="1177180"/>
            <a:ext cx="7623676" cy="5645064"/>
          </a:xfrm>
        </p:spPr>
        <p:txBody>
          <a:bodyPr/>
          <a:lstStyle/>
          <a:p>
            <a:pPr marL="0" lvl="1" indent="0">
              <a:spcBef>
                <a:spcPts val="0"/>
              </a:spcBef>
              <a:buNone/>
            </a:pPr>
            <a:r>
              <a:rPr lang="en-US" sz="2800" dirty="0">
                <a:solidFill>
                  <a:prstClr val="black"/>
                </a:solidFill>
              </a:rPr>
              <a:t>Algae are photosynthetic</a:t>
            </a:r>
          </a:p>
          <a:p>
            <a:pPr marL="0" lvl="1" indent="0">
              <a:buNone/>
            </a:pPr>
            <a:r>
              <a:rPr lang="en-US" sz="2800" dirty="0">
                <a:solidFill>
                  <a:prstClr val="black"/>
                </a:solidFill>
              </a:rPr>
              <a:t>Protozoans are heterotrophic</a:t>
            </a:r>
          </a:p>
          <a:p>
            <a:pPr marL="269875" lvl="2" indent="-269875">
              <a:tabLst>
                <a:tab pos="176213" algn="l"/>
              </a:tabLst>
            </a:pPr>
            <a:r>
              <a:rPr lang="en-US" sz="2400" dirty="0">
                <a:solidFill>
                  <a:prstClr val="black"/>
                </a:solidFill>
              </a:rPr>
              <a:t>Some ingest food by endocytosis</a:t>
            </a:r>
          </a:p>
          <a:p>
            <a:pPr marL="0" lvl="1" indent="0">
              <a:buNone/>
            </a:pPr>
            <a:r>
              <a:rPr lang="en-US" sz="2800" dirty="0">
                <a:solidFill>
                  <a:prstClr val="black"/>
                </a:solidFill>
              </a:rPr>
              <a:t>Some protozoans are </a:t>
            </a:r>
            <a:r>
              <a:rPr lang="en-US" sz="2800" b="1" dirty="0">
                <a:solidFill>
                  <a:srgbClr val="D90000"/>
                </a:solidFill>
              </a:rPr>
              <a:t>mixotrophic</a:t>
            </a:r>
          </a:p>
          <a:p>
            <a:pPr marL="269875" lvl="2" indent="-269875">
              <a:tabLst>
                <a:tab pos="176213" algn="l"/>
              </a:tabLst>
            </a:pPr>
            <a:r>
              <a:rPr lang="en-US" sz="2400" dirty="0">
                <a:solidFill>
                  <a:prstClr val="black"/>
                </a:solidFill>
              </a:rPr>
              <a:t>Mixotrophs combine autotrophic and heterotrophic nutritional modes</a:t>
            </a:r>
          </a:p>
        </p:txBody>
      </p:sp>
      <p:sp>
        <p:nvSpPr>
          <p:cNvPr id="4" name="Slide Number Placeholder 3">
            <a:extLst>
              <a:ext uri="{FF2B5EF4-FFF2-40B4-BE49-F238E27FC236}">
                <a16:creationId xmlns:a16="http://schemas.microsoft.com/office/drawing/2014/main" id="{063F5AB9-E026-4DA4-9FB3-C168B137A2B0}"/>
              </a:ext>
            </a:extLst>
          </p:cNvPr>
          <p:cNvSpPr>
            <a:spLocks noGrp="1"/>
          </p:cNvSpPr>
          <p:nvPr>
            <p:ph type="sldNum" sz="quarter" idx="4"/>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3238741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DB86F-DB41-454E-B7AF-CA4AB57542D4}"/>
              </a:ext>
            </a:extLst>
          </p:cNvPr>
          <p:cNvSpPr>
            <a:spLocks noGrp="1"/>
          </p:cNvSpPr>
          <p:nvPr>
            <p:ph type="title"/>
          </p:nvPr>
        </p:nvSpPr>
        <p:spPr>
          <a:xfrm>
            <a:off x="0" y="1"/>
            <a:ext cx="9144000" cy="1177179"/>
          </a:xfrm>
        </p:spPr>
        <p:txBody>
          <a:bodyPr/>
          <a:lstStyle/>
          <a:p>
            <a:r>
              <a:rPr lang="en-US" dirty="0"/>
              <a:t>Life Cycle of Protists</a:t>
            </a:r>
            <a:endParaRPr lang="en-IN" dirty="0"/>
          </a:p>
        </p:txBody>
      </p:sp>
      <p:sp>
        <p:nvSpPr>
          <p:cNvPr id="3" name="Text Placeholder 2">
            <a:extLst>
              <a:ext uri="{FF2B5EF4-FFF2-40B4-BE49-F238E27FC236}">
                <a16:creationId xmlns:a16="http://schemas.microsoft.com/office/drawing/2014/main" id="{C17F1681-7666-44AB-A57E-2AF81F0963CB}"/>
              </a:ext>
            </a:extLst>
          </p:cNvPr>
          <p:cNvSpPr>
            <a:spLocks noGrp="1"/>
          </p:cNvSpPr>
          <p:nvPr>
            <p:ph type="body" sz="quarter" idx="19"/>
          </p:nvPr>
        </p:nvSpPr>
        <p:spPr>
          <a:xfrm>
            <a:off x="842962" y="1177180"/>
            <a:ext cx="7949345" cy="5645064"/>
          </a:xfrm>
        </p:spPr>
        <p:txBody>
          <a:bodyPr>
            <a:normAutofit/>
          </a:bodyPr>
          <a:lstStyle/>
          <a:p>
            <a:pPr marL="0" lvl="1" indent="0">
              <a:lnSpc>
                <a:spcPct val="90000"/>
              </a:lnSpc>
              <a:spcBef>
                <a:spcPts val="0"/>
              </a:spcBef>
              <a:buNone/>
            </a:pPr>
            <a:r>
              <a:rPr lang="en-US" sz="2800" dirty="0">
                <a:solidFill>
                  <a:prstClr val="black"/>
                </a:solidFill>
              </a:rPr>
              <a:t>Asexual reproduction is most common</a:t>
            </a:r>
          </a:p>
          <a:p>
            <a:pPr marL="0" lvl="1" indent="0">
              <a:lnSpc>
                <a:spcPct val="90000"/>
              </a:lnSpc>
              <a:buNone/>
            </a:pPr>
            <a:r>
              <a:rPr lang="en-US" sz="2800" dirty="0">
                <a:solidFill>
                  <a:prstClr val="black"/>
                </a:solidFill>
              </a:rPr>
              <a:t>Sexual reproduction may occur when environmental conditions are unfavorable</a:t>
            </a:r>
          </a:p>
          <a:p>
            <a:pPr marL="269875" lvl="2" indent="-269875">
              <a:lnSpc>
                <a:spcPct val="90000"/>
              </a:lnSpc>
            </a:pPr>
            <a:r>
              <a:rPr lang="en-US" sz="2400" dirty="0">
                <a:solidFill>
                  <a:prstClr val="black"/>
                </a:solidFill>
              </a:rPr>
              <a:t>Formation of dormant cells known as spores and cysts allow protists to survive hostile environments</a:t>
            </a:r>
          </a:p>
          <a:p>
            <a:pPr marL="446088" lvl="3" indent="-176213">
              <a:lnSpc>
                <a:spcPct val="90000"/>
              </a:lnSpc>
              <a:tabLst>
                <a:tab pos="446088" algn="l"/>
              </a:tabLst>
            </a:pPr>
            <a:r>
              <a:rPr lang="en-US" sz="2000" dirty="0">
                <a:solidFill>
                  <a:prstClr val="black"/>
                </a:solidFill>
              </a:rPr>
              <a:t>In parasites, a cyst may serve as a means of transfer to a new host</a:t>
            </a:r>
          </a:p>
        </p:txBody>
      </p:sp>
      <p:sp>
        <p:nvSpPr>
          <p:cNvPr id="4" name="Slide Number Placeholder 3">
            <a:extLst>
              <a:ext uri="{FF2B5EF4-FFF2-40B4-BE49-F238E27FC236}">
                <a16:creationId xmlns:a16="http://schemas.microsoft.com/office/drawing/2014/main" id="{72EF5CF8-575B-42FF-94A9-38DDD8F720E7}"/>
              </a:ext>
            </a:extLst>
          </p:cNvPr>
          <p:cNvSpPr>
            <a:spLocks noGrp="1"/>
          </p:cNvSpPr>
          <p:nvPr>
            <p:ph type="sldNum" sz="quarter" idx="4"/>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2034170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97850-34DA-4987-A480-A3C56345AFBE}"/>
              </a:ext>
            </a:extLst>
          </p:cNvPr>
          <p:cNvSpPr>
            <a:spLocks noGrp="1"/>
          </p:cNvSpPr>
          <p:nvPr>
            <p:ph type="title"/>
          </p:nvPr>
        </p:nvSpPr>
        <p:spPr/>
        <p:txBody>
          <a:bodyPr/>
          <a:lstStyle/>
          <a:p>
            <a:r>
              <a:rPr lang="en-US" dirty="0"/>
              <a:t>Biology of Protists</a:t>
            </a:r>
            <a:endParaRPr lang="en-IN" dirty="0"/>
          </a:p>
        </p:txBody>
      </p:sp>
      <p:sp>
        <p:nvSpPr>
          <p:cNvPr id="3" name="Text Placeholder 2">
            <a:extLst>
              <a:ext uri="{FF2B5EF4-FFF2-40B4-BE49-F238E27FC236}">
                <a16:creationId xmlns:a16="http://schemas.microsoft.com/office/drawing/2014/main" id="{A19BA2EC-4764-44F2-BDCC-F1A249286F3A}"/>
              </a:ext>
            </a:extLst>
          </p:cNvPr>
          <p:cNvSpPr>
            <a:spLocks noGrp="1"/>
          </p:cNvSpPr>
          <p:nvPr>
            <p:ph type="body" sz="quarter" idx="19"/>
          </p:nvPr>
        </p:nvSpPr>
        <p:spPr>
          <a:xfrm>
            <a:off x="502994" y="1177180"/>
            <a:ext cx="7623676" cy="5330739"/>
          </a:xfrm>
        </p:spPr>
        <p:txBody>
          <a:bodyPr/>
          <a:lstStyle/>
          <a:p>
            <a:pPr>
              <a:lnSpc>
                <a:spcPct val="90000"/>
              </a:lnSpc>
              <a:spcAft>
                <a:spcPts val="1500"/>
              </a:spcAft>
            </a:pPr>
            <a:r>
              <a:rPr lang="en-US" sz="2800" dirty="0">
                <a:solidFill>
                  <a:prstClr val="black"/>
                </a:solidFill>
              </a:rPr>
              <a:t>Protists are of enormous ecological importance</a:t>
            </a:r>
          </a:p>
          <a:p>
            <a:pPr lvl="0">
              <a:lnSpc>
                <a:spcPct val="90000"/>
              </a:lnSpc>
              <a:spcAft>
                <a:spcPts val="1500"/>
              </a:spcAft>
            </a:pPr>
            <a:r>
              <a:rPr lang="en-US" sz="2800" dirty="0">
                <a:solidFill>
                  <a:prstClr val="black"/>
                </a:solidFill>
              </a:rPr>
              <a:t>Photoautotrophs:</a:t>
            </a:r>
          </a:p>
          <a:p>
            <a:pPr marL="0" lvl="1" indent="0">
              <a:lnSpc>
                <a:spcPct val="90000"/>
              </a:lnSpc>
              <a:spcBef>
                <a:spcPts val="0"/>
              </a:spcBef>
              <a:buNone/>
            </a:pPr>
            <a:r>
              <a:rPr lang="en-US" sz="2600" dirty="0">
                <a:solidFill>
                  <a:prstClr val="black"/>
                </a:solidFill>
              </a:rPr>
              <a:t>Produce oxygen</a:t>
            </a:r>
          </a:p>
          <a:p>
            <a:pPr marL="0" lvl="1" indent="0">
              <a:lnSpc>
                <a:spcPct val="90000"/>
              </a:lnSpc>
              <a:spcBef>
                <a:spcPts val="1200"/>
              </a:spcBef>
              <a:buNone/>
            </a:pPr>
            <a:r>
              <a:rPr lang="en-US" sz="2600" dirty="0">
                <a:solidFill>
                  <a:prstClr val="black"/>
                </a:solidFill>
              </a:rPr>
              <a:t>Form the foundation of the food chain in both freshwater and saltwater ecosystems</a:t>
            </a:r>
          </a:p>
          <a:p>
            <a:pPr marL="0" lvl="1" indent="0">
              <a:lnSpc>
                <a:spcPct val="90000"/>
              </a:lnSpc>
              <a:spcBef>
                <a:spcPts val="1200"/>
              </a:spcBef>
              <a:buNone/>
            </a:pPr>
            <a:r>
              <a:rPr lang="en-US" sz="2600" dirty="0">
                <a:solidFill>
                  <a:prstClr val="black"/>
                </a:solidFill>
              </a:rPr>
              <a:t>Are a major component of </a:t>
            </a:r>
            <a:r>
              <a:rPr lang="en-US" sz="2600" b="1" dirty="0">
                <a:solidFill>
                  <a:srgbClr val="D90000"/>
                </a:solidFill>
              </a:rPr>
              <a:t>plankton</a:t>
            </a:r>
          </a:p>
          <a:p>
            <a:pPr marL="269875" lvl="2" indent="-269875">
              <a:lnSpc>
                <a:spcPct val="90000"/>
              </a:lnSpc>
              <a:spcBef>
                <a:spcPts val="1200"/>
              </a:spcBef>
              <a:tabLst>
                <a:tab pos="93663" algn="l"/>
                <a:tab pos="269875" algn="l"/>
              </a:tabLst>
            </a:pPr>
            <a:r>
              <a:rPr lang="en-US" sz="2200" dirty="0">
                <a:solidFill>
                  <a:prstClr val="black"/>
                </a:solidFill>
              </a:rPr>
              <a:t>Organisms that are suspended in the water</a:t>
            </a:r>
          </a:p>
          <a:p>
            <a:pPr marL="269875" lvl="2" indent="-269875">
              <a:lnSpc>
                <a:spcPct val="90000"/>
              </a:lnSpc>
              <a:spcBef>
                <a:spcPts val="1200"/>
              </a:spcBef>
              <a:tabLst>
                <a:tab pos="93663" algn="l"/>
                <a:tab pos="269875" algn="l"/>
              </a:tabLst>
            </a:pPr>
            <a:r>
              <a:rPr lang="en-US" sz="2200" dirty="0">
                <a:solidFill>
                  <a:prstClr val="black"/>
                </a:solidFill>
              </a:rPr>
              <a:t>Serve as food for heterotrophic protists and animals</a:t>
            </a:r>
          </a:p>
          <a:p>
            <a:pPr marL="269875" lvl="2" indent="-269875">
              <a:lnSpc>
                <a:spcPct val="90000"/>
              </a:lnSpc>
              <a:spcBef>
                <a:spcPts val="1200"/>
              </a:spcBef>
              <a:tabLst>
                <a:tab pos="93663" algn="l"/>
                <a:tab pos="269875" algn="l"/>
              </a:tabLst>
            </a:pPr>
            <a:r>
              <a:rPr lang="en-US" sz="2200" dirty="0">
                <a:solidFill>
                  <a:prstClr val="black"/>
                </a:solidFill>
              </a:rPr>
              <a:t>Whales, the largest organism in the sea, feed on plankton, some of the smallest organisms in the sea</a:t>
            </a:r>
          </a:p>
        </p:txBody>
      </p:sp>
      <p:sp>
        <p:nvSpPr>
          <p:cNvPr id="4" name="Slide Number Placeholder 3">
            <a:extLst>
              <a:ext uri="{FF2B5EF4-FFF2-40B4-BE49-F238E27FC236}">
                <a16:creationId xmlns:a16="http://schemas.microsoft.com/office/drawing/2014/main" id="{352F088E-9B81-4596-8611-442B5DB2269F}"/>
              </a:ext>
            </a:extLst>
          </p:cNvPr>
          <p:cNvSpPr>
            <a:spLocks noGrp="1"/>
          </p:cNvSpPr>
          <p:nvPr>
            <p:ph type="sldNum" sz="quarter" idx="4"/>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915804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A419-77DF-4F72-B64F-5432F75C922E}"/>
              </a:ext>
            </a:extLst>
          </p:cNvPr>
          <p:cNvSpPr>
            <a:spLocks noGrp="1"/>
          </p:cNvSpPr>
          <p:nvPr>
            <p:ph type="title"/>
          </p:nvPr>
        </p:nvSpPr>
        <p:spPr>
          <a:xfrm>
            <a:off x="504832" y="0"/>
            <a:ext cx="8299938" cy="1489306"/>
          </a:xfrm>
        </p:spPr>
        <p:txBody>
          <a:bodyPr/>
          <a:lstStyle/>
          <a:p>
            <a:r>
              <a:rPr lang="en-US" altLang="en-US" dirty="0"/>
              <a:t>Evolution and Diversity of Protists</a:t>
            </a:r>
            <a:endParaRPr lang="en-IN" dirty="0"/>
          </a:p>
        </p:txBody>
      </p:sp>
      <p:sp>
        <p:nvSpPr>
          <p:cNvPr id="3" name="Text Placeholder 2">
            <a:extLst>
              <a:ext uri="{FF2B5EF4-FFF2-40B4-BE49-F238E27FC236}">
                <a16:creationId xmlns:a16="http://schemas.microsoft.com/office/drawing/2014/main" id="{B0C98898-2D4B-4B78-855C-43A73C29937A}"/>
              </a:ext>
            </a:extLst>
          </p:cNvPr>
          <p:cNvSpPr>
            <a:spLocks noGrp="1"/>
          </p:cNvSpPr>
          <p:nvPr>
            <p:ph type="body" sz="quarter" idx="19"/>
          </p:nvPr>
        </p:nvSpPr>
        <p:spPr>
          <a:xfrm>
            <a:off x="529310" y="1690210"/>
            <a:ext cx="8085379" cy="4616805"/>
          </a:xfrm>
        </p:spPr>
        <p:txBody>
          <a:bodyPr/>
          <a:lstStyle/>
          <a:p>
            <a:pPr marL="0" lvl="1" indent="0">
              <a:lnSpc>
                <a:spcPct val="90000"/>
              </a:lnSpc>
              <a:spcBef>
                <a:spcPts val="0"/>
              </a:spcBef>
              <a:buNone/>
            </a:pPr>
            <a:r>
              <a:rPr lang="en-US" sz="2600" dirty="0">
                <a:solidFill>
                  <a:prstClr val="black"/>
                </a:solidFill>
              </a:rPr>
              <a:t>Complexity and diversity of protists makes them difficult to classify</a:t>
            </a:r>
          </a:p>
          <a:p>
            <a:pPr marL="269875" lvl="2" indent="-269875">
              <a:lnSpc>
                <a:spcPct val="90000"/>
              </a:lnSpc>
            </a:pPr>
            <a:r>
              <a:rPr lang="en-US" sz="2200" dirty="0">
                <a:solidFill>
                  <a:prstClr val="black"/>
                </a:solidFill>
              </a:rPr>
              <a:t>Protists are not </a:t>
            </a:r>
            <a:r>
              <a:rPr lang="en-US" sz="2200" b="1" dirty="0">
                <a:solidFill>
                  <a:srgbClr val="D90000"/>
                </a:solidFill>
              </a:rPr>
              <a:t>monophyletic</a:t>
            </a:r>
            <a:r>
              <a:rPr lang="en-US" sz="2200" dirty="0">
                <a:solidFill>
                  <a:prstClr val="black"/>
                </a:solidFill>
              </a:rPr>
              <a:t> </a:t>
            </a:r>
          </a:p>
          <a:p>
            <a:pPr marL="539750" lvl="3" indent="-269875">
              <a:lnSpc>
                <a:spcPct val="90000"/>
              </a:lnSpc>
            </a:pPr>
            <a:r>
              <a:rPr lang="en-US" sz="1900" dirty="0">
                <a:solidFill>
                  <a:prstClr val="black"/>
                </a:solidFill>
              </a:rPr>
              <a:t>They do not all belong to the same evolutionary lineage</a:t>
            </a:r>
          </a:p>
          <a:p>
            <a:pPr marL="269875" lvl="2" indent="-269875">
              <a:lnSpc>
                <a:spcPct val="90000"/>
              </a:lnSpc>
            </a:pPr>
            <a:r>
              <a:rPr lang="en-US" sz="2200" dirty="0">
                <a:solidFill>
                  <a:prstClr val="black"/>
                </a:solidFill>
              </a:rPr>
              <a:t>Classified into six </a:t>
            </a:r>
            <a:r>
              <a:rPr lang="en-US" sz="2200" b="1" dirty="0">
                <a:solidFill>
                  <a:srgbClr val="D90000"/>
                </a:solidFill>
              </a:rPr>
              <a:t>supergroups</a:t>
            </a:r>
          </a:p>
          <a:p>
            <a:pPr marL="539750" lvl="3" indent="-269875">
              <a:lnSpc>
                <a:spcPct val="90000"/>
              </a:lnSpc>
            </a:pPr>
            <a:r>
              <a:rPr lang="en-US" sz="1900" dirty="0">
                <a:solidFill>
                  <a:prstClr val="black"/>
                </a:solidFill>
              </a:rPr>
              <a:t>Supergroup is a taxonomic group below domain and above kingdom</a:t>
            </a:r>
          </a:p>
        </p:txBody>
      </p:sp>
      <p:sp>
        <p:nvSpPr>
          <p:cNvPr id="4" name="Slide Number Placeholder 3">
            <a:extLst>
              <a:ext uri="{FF2B5EF4-FFF2-40B4-BE49-F238E27FC236}">
                <a16:creationId xmlns:a16="http://schemas.microsoft.com/office/drawing/2014/main" id="{7D2D48C3-D829-4DCA-ABC9-9B764C70A620}"/>
              </a:ext>
            </a:extLst>
          </p:cNvPr>
          <p:cNvSpPr>
            <a:spLocks noGrp="1"/>
          </p:cNvSpPr>
          <p:nvPr>
            <p:ph type="sldNum" sz="quarter" idx="4"/>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212649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2A27F-3FF8-4832-9691-B6B849369DD5}"/>
              </a:ext>
            </a:extLst>
          </p:cNvPr>
          <p:cNvSpPr>
            <a:spLocks noGrp="1"/>
          </p:cNvSpPr>
          <p:nvPr>
            <p:ph type="title"/>
          </p:nvPr>
        </p:nvSpPr>
        <p:spPr/>
        <p:txBody>
          <a:bodyPr/>
          <a:lstStyle/>
          <a:p>
            <a:r>
              <a:rPr lang="en-US" altLang="en-US" dirty="0"/>
              <a:t>Supergroups</a:t>
            </a:r>
            <a:endParaRPr lang="en-IN" dirty="0"/>
          </a:p>
        </p:txBody>
      </p:sp>
      <p:sp>
        <p:nvSpPr>
          <p:cNvPr id="5" name="Text Placeholder 2">
            <a:extLst>
              <a:ext uri="{FF2B5EF4-FFF2-40B4-BE49-F238E27FC236}">
                <a16:creationId xmlns:a16="http://schemas.microsoft.com/office/drawing/2014/main" id="{4B55B9FC-15B2-4468-90FA-2D13D7129E12}"/>
              </a:ext>
            </a:extLst>
          </p:cNvPr>
          <p:cNvSpPr>
            <a:spLocks noGrp="1"/>
          </p:cNvSpPr>
          <p:nvPr>
            <p:ph type="body" sz="quarter" idx="19"/>
          </p:nvPr>
        </p:nvSpPr>
        <p:spPr>
          <a:xfrm>
            <a:off x="561487" y="1094981"/>
            <a:ext cx="4218483" cy="405573"/>
          </a:xfrm>
        </p:spPr>
        <p:txBody>
          <a:bodyPr>
            <a:normAutofit fontScale="92500"/>
          </a:bodyPr>
          <a:lstStyle/>
          <a:p>
            <a:pPr algn="ctr"/>
            <a:r>
              <a:rPr lang="en-IN" b="1" dirty="0">
                <a:solidFill>
                  <a:srgbClr val="0070C0"/>
                </a:solidFill>
              </a:rPr>
              <a:t>Table 21.1 </a:t>
            </a:r>
            <a:r>
              <a:rPr lang="en-IN" b="1" dirty="0"/>
              <a:t>Eukaryotic Supergroups</a:t>
            </a:r>
          </a:p>
        </p:txBody>
      </p:sp>
      <p:graphicFrame>
        <p:nvGraphicFramePr>
          <p:cNvPr id="7" name="Table">
            <a:extLst>
              <a:ext uri="{FF2B5EF4-FFF2-40B4-BE49-F238E27FC236}">
                <a16:creationId xmlns:a16="http://schemas.microsoft.com/office/drawing/2014/main" id="{DE900810-043D-41D8-934E-7E37BBAFC8D9}"/>
              </a:ext>
            </a:extLst>
          </p:cNvPr>
          <p:cNvGraphicFramePr>
            <a:graphicFrameLocks noGrp="1"/>
          </p:cNvGraphicFramePr>
          <p:nvPr>
            <p:extLst>
              <p:ext uri="{D42A27DB-BD31-4B8C-83A1-F6EECF244321}">
                <p14:modId xmlns:p14="http://schemas.microsoft.com/office/powerpoint/2010/main" val="1373862207"/>
              </p:ext>
            </p:extLst>
          </p:nvPr>
        </p:nvGraphicFramePr>
        <p:xfrm>
          <a:off x="656491" y="1500554"/>
          <a:ext cx="8053756" cy="4747550"/>
        </p:xfrm>
        <a:graphic>
          <a:graphicData uri="http://schemas.openxmlformats.org/drawingml/2006/table">
            <a:tbl>
              <a:tblPr firstRow="1" bandRow="1">
                <a:tableStyleId>{5940675A-B579-460E-94D1-54222C63F5DA}</a:tableStyleId>
              </a:tblPr>
              <a:tblGrid>
                <a:gridCol w="2942494">
                  <a:extLst>
                    <a:ext uri="{9D8B030D-6E8A-4147-A177-3AD203B41FA5}">
                      <a16:colId xmlns:a16="http://schemas.microsoft.com/office/drawing/2014/main" val="3474948505"/>
                    </a:ext>
                  </a:extLst>
                </a:gridCol>
                <a:gridCol w="5111262">
                  <a:extLst>
                    <a:ext uri="{9D8B030D-6E8A-4147-A177-3AD203B41FA5}">
                      <a16:colId xmlns:a16="http://schemas.microsoft.com/office/drawing/2014/main" val="454718524"/>
                    </a:ext>
                  </a:extLst>
                </a:gridCol>
              </a:tblGrid>
              <a:tr h="590064">
                <a:tc>
                  <a:txBody>
                    <a:bodyPr/>
                    <a:lstStyle/>
                    <a:p>
                      <a:r>
                        <a:rPr lang="en-IN" dirty="0"/>
                        <a:t>Supergroup</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Members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9998527"/>
                  </a:ext>
                </a:extLst>
              </a:tr>
              <a:tr h="696294">
                <a:tc>
                  <a:txBody>
                    <a:bodyPr/>
                    <a:lstStyle/>
                    <a:p>
                      <a:r>
                        <a:rPr lang="en-IN" dirty="0" err="1"/>
                        <a:t>Excavata</a:t>
                      </a:r>
                      <a:endParaRPr lang="en-I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Diplomonads, </a:t>
                      </a:r>
                      <a:r>
                        <a:rPr lang="en-IN" dirty="0" err="1"/>
                        <a:t>parabasalids</a:t>
                      </a:r>
                      <a:r>
                        <a:rPr lang="en-IN" dirty="0"/>
                        <a:t>, euglenozoans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7606326"/>
                  </a:ext>
                </a:extLst>
              </a:tr>
              <a:tr h="994706">
                <a:tc>
                  <a:txBody>
                    <a:bodyPr/>
                    <a:lstStyle/>
                    <a:p>
                      <a:r>
                        <a:rPr lang="en-IN" dirty="0"/>
                        <a:t>Chromalveolata</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Dinoflagellates, apicomplexans, ciliates, diatoms, golden brown algae, brown algae, water </a:t>
                      </a:r>
                      <a:r>
                        <a:rPr lang="en-IN" dirty="0" err="1"/>
                        <a:t>molds</a:t>
                      </a:r>
                      <a:endParaRPr lang="en-IN"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6281624"/>
                  </a:ext>
                </a:extLst>
              </a:tr>
              <a:tr h="696294">
                <a:tc>
                  <a:txBody>
                    <a:bodyPr/>
                    <a:lstStyle/>
                    <a:p>
                      <a:r>
                        <a:rPr lang="en-IN" dirty="0" err="1"/>
                        <a:t>Rhizaria</a:t>
                      </a:r>
                      <a:endParaRPr lang="en-I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Cercozoans, </a:t>
                      </a:r>
                      <a:r>
                        <a:rPr lang="en-IN" dirty="0" err="1"/>
                        <a:t>foraminiferans</a:t>
                      </a:r>
                      <a:r>
                        <a:rPr lang="en-IN" dirty="0"/>
                        <a:t>, radiolarians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9820755"/>
                  </a:ext>
                </a:extLst>
              </a:tr>
              <a:tr h="590064">
                <a:tc>
                  <a:txBody>
                    <a:bodyPr/>
                    <a:lstStyle/>
                    <a:p>
                      <a:r>
                        <a:rPr lang="en-IN" dirty="0"/>
                        <a:t>Archaeplastida</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Red algae, green algae, land plants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0566522"/>
                  </a:ext>
                </a:extLst>
              </a:tr>
              <a:tr h="590064">
                <a:tc>
                  <a:txBody>
                    <a:bodyPr/>
                    <a:lstStyle/>
                    <a:p>
                      <a:r>
                        <a:rPr lang="en-IN" dirty="0"/>
                        <a:t>Amoebozoa</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err="1"/>
                        <a:t>Amoeboids</a:t>
                      </a:r>
                      <a:r>
                        <a:rPr lang="en-IN" dirty="0"/>
                        <a:t>, slime </a:t>
                      </a:r>
                      <a:r>
                        <a:rPr lang="en-IN" dirty="0" err="1"/>
                        <a:t>molds</a:t>
                      </a:r>
                      <a:endParaRPr lang="en-IN"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194202"/>
                  </a:ext>
                </a:extLst>
              </a:tr>
              <a:tr h="590064">
                <a:tc>
                  <a:txBody>
                    <a:bodyPr/>
                    <a:lstStyle/>
                    <a:p>
                      <a:r>
                        <a:rPr lang="en-IN" dirty="0" err="1"/>
                        <a:t>Opisthokonta</a:t>
                      </a:r>
                      <a:endParaRPr lang="en-I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Fungi, choanoflagellates, animals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5931597"/>
                  </a:ext>
                </a:extLst>
              </a:tr>
            </a:tbl>
          </a:graphicData>
        </a:graphic>
      </p:graphicFrame>
      <p:sp>
        <p:nvSpPr>
          <p:cNvPr id="6" name="Table summary 4" hidden="1">
            <a:extLst>
              <a:ext uri="{FF2B5EF4-FFF2-40B4-BE49-F238E27FC236}">
                <a16:creationId xmlns:a16="http://schemas.microsoft.com/office/drawing/2014/main" id="{1438DA30-B162-4557-915E-FE4807666035}"/>
              </a:ext>
            </a:extLst>
          </p:cNvPr>
          <p:cNvSpPr>
            <a:spLocks noGrp="1"/>
          </p:cNvSpPr>
          <p:nvPr>
            <p:ph type="body" sz="quarter" idx="20"/>
          </p:nvPr>
        </p:nvSpPr>
        <p:spPr>
          <a:xfrm>
            <a:off x="1819698" y="3016763"/>
            <a:ext cx="4895001" cy="1963638"/>
          </a:xfrm>
        </p:spPr>
        <p:txBody>
          <a:bodyPr>
            <a:normAutofit/>
          </a:bodyPr>
          <a:lstStyle/>
          <a:p>
            <a:r>
              <a:rPr lang="en-US" dirty="0"/>
              <a:t>Table divided into two columns summarizes eukaryotic supergroups. The column headers are marked from left to right as: Supergroup and members. </a:t>
            </a:r>
            <a:endParaRPr lang="en-IN" dirty="0"/>
          </a:p>
        </p:txBody>
      </p:sp>
      <p:sp>
        <p:nvSpPr>
          <p:cNvPr id="4" name="Slide Number Placeholder 5">
            <a:extLst>
              <a:ext uri="{FF2B5EF4-FFF2-40B4-BE49-F238E27FC236}">
                <a16:creationId xmlns:a16="http://schemas.microsoft.com/office/drawing/2014/main" id="{462F867D-5B27-4392-B3F3-4107A55DC612}"/>
              </a:ext>
            </a:extLst>
          </p:cNvPr>
          <p:cNvSpPr>
            <a:spLocks noGrp="1"/>
          </p:cNvSpPr>
          <p:nvPr>
            <p:ph type="sldNum" sz="quarter" idx="4"/>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602280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9631B-50A0-4B21-B415-6D892B957D87}"/>
              </a:ext>
            </a:extLst>
          </p:cNvPr>
          <p:cNvSpPr>
            <a:spLocks noGrp="1"/>
          </p:cNvSpPr>
          <p:nvPr>
            <p:ph type="title"/>
          </p:nvPr>
        </p:nvSpPr>
        <p:spPr>
          <a:xfrm>
            <a:off x="903416" y="1"/>
            <a:ext cx="7151077" cy="1686296"/>
          </a:xfrm>
        </p:spPr>
        <p:txBody>
          <a:bodyPr/>
          <a:lstStyle/>
          <a:p>
            <a:r>
              <a:rPr lang="en-US" altLang="en-US" dirty="0"/>
              <a:t>Proposed Evolutionary Relationships Among the Eukaryotic Supergroups</a:t>
            </a:r>
            <a:endParaRPr lang="en-IN" dirty="0"/>
          </a:p>
        </p:txBody>
      </p:sp>
      <p:pic>
        <p:nvPicPr>
          <p:cNvPr id="4" name="Picture 2" descr="Cladogram shows common eukaryotic ancestor branching into opisthokonta, amoebozo,  archaeplastida, rhizaria, chromalveolata and excavata subgroups.">
            <a:extLst>
              <a:ext uri="{FF2B5EF4-FFF2-40B4-BE49-F238E27FC236}">
                <a16:creationId xmlns:a16="http://schemas.microsoft.com/office/drawing/2014/main" id="{7157DC0C-F3EC-4899-999E-5F894B6F30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80195" y="1817077"/>
            <a:ext cx="3997518" cy="4219354"/>
          </a:xfrm>
          <a:prstGeom prst="rect">
            <a:avLst/>
          </a:prstGeom>
        </p:spPr>
      </p:pic>
      <p:sp>
        <p:nvSpPr>
          <p:cNvPr id="6" name="Text Placeholder 3">
            <a:extLst>
              <a:ext uri="{FF2B5EF4-FFF2-40B4-BE49-F238E27FC236}">
                <a16:creationId xmlns:a16="http://schemas.microsoft.com/office/drawing/2014/main" id="{BF773399-D5AD-4A72-B4F1-887C95063FF2}"/>
              </a:ext>
            </a:extLst>
          </p:cNvPr>
          <p:cNvSpPr>
            <a:spLocks noGrp="1"/>
          </p:cNvSpPr>
          <p:nvPr>
            <p:ph type="body" sz="quarter" idx="18"/>
          </p:nvPr>
        </p:nvSpPr>
        <p:spPr>
          <a:xfrm>
            <a:off x="3981093" y="6047786"/>
            <a:ext cx="1181811" cy="314325"/>
          </a:xfrm>
        </p:spPr>
        <p:txBody>
          <a:bodyPr>
            <a:normAutofit/>
          </a:bodyPr>
          <a:lstStyle/>
          <a:p>
            <a:r>
              <a:rPr lang="en-US" sz="1200" dirty="0"/>
              <a:t>Figure 21.1</a:t>
            </a:r>
          </a:p>
        </p:txBody>
      </p:sp>
      <p:sp>
        <p:nvSpPr>
          <p:cNvPr id="7" name="Text Placeholder 4">
            <a:extLst>
              <a:ext uri="{FF2B5EF4-FFF2-40B4-BE49-F238E27FC236}">
                <a16:creationId xmlns:a16="http://schemas.microsoft.com/office/drawing/2014/main" id="{D925ECE8-6DA6-4E12-BC8F-8F0E438F9F8B}"/>
              </a:ext>
            </a:extLst>
          </p:cNvPr>
          <p:cNvSpPr>
            <a:spLocks noGrp="1"/>
          </p:cNvSpPr>
          <p:nvPr>
            <p:ph type="body" sz="quarter" idx="19"/>
          </p:nvPr>
        </p:nvSpPr>
        <p:spPr>
          <a:xfrm>
            <a:off x="2956743" y="6357862"/>
            <a:ext cx="3230513" cy="314325"/>
          </a:xfrm>
        </p:spPr>
        <p:txBody>
          <a:bodyPr>
            <a:normAutofit/>
          </a:bodyPr>
          <a:lstStyle/>
          <a:p>
            <a:pPr algn="ctr"/>
            <a:r>
              <a:rPr lang="en-US" sz="1200" dirty="0">
                <a:hlinkClick r:id="rId3" action="ppaction://hlinksldjump"/>
              </a:rPr>
              <a:t>Access the text alternative for slide images.</a:t>
            </a:r>
            <a:endParaRPr lang="en-IN" sz="1200" dirty="0"/>
          </a:p>
        </p:txBody>
      </p:sp>
      <p:sp>
        <p:nvSpPr>
          <p:cNvPr id="5" name="Slide Number Placeholder 5">
            <a:extLst>
              <a:ext uri="{FF2B5EF4-FFF2-40B4-BE49-F238E27FC236}">
                <a16:creationId xmlns:a16="http://schemas.microsoft.com/office/drawing/2014/main" id="{1B980B57-C84D-4219-BB4F-ECC928A96FCD}"/>
              </a:ext>
            </a:extLst>
          </p:cNvPr>
          <p:cNvSpPr>
            <a:spLocks noGrp="1"/>
          </p:cNvSpPr>
          <p:nvPr>
            <p:ph type="sldNum" sz="quarter" idx="4"/>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2345904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DE483-47A1-4F89-A0A4-2E97AED66D08}"/>
              </a:ext>
            </a:extLst>
          </p:cNvPr>
          <p:cNvSpPr>
            <a:spLocks noGrp="1"/>
          </p:cNvSpPr>
          <p:nvPr>
            <p:ph type="title"/>
          </p:nvPr>
        </p:nvSpPr>
        <p:spPr/>
        <p:txBody>
          <a:bodyPr/>
          <a:lstStyle/>
          <a:p>
            <a:r>
              <a:rPr lang="en-US" altLang="en-US" dirty="0"/>
              <a:t>21.2 Supergroup </a:t>
            </a:r>
            <a:r>
              <a:rPr lang="en-US" altLang="en-US" dirty="0" err="1"/>
              <a:t>Excavata</a:t>
            </a:r>
            <a:endParaRPr lang="en-IN" dirty="0"/>
          </a:p>
        </p:txBody>
      </p:sp>
      <p:sp>
        <p:nvSpPr>
          <p:cNvPr id="3" name="Text Placeholder 2">
            <a:extLst>
              <a:ext uri="{FF2B5EF4-FFF2-40B4-BE49-F238E27FC236}">
                <a16:creationId xmlns:a16="http://schemas.microsoft.com/office/drawing/2014/main" id="{C57B9831-9BAC-4D64-9837-1456EBFEDA9C}"/>
              </a:ext>
            </a:extLst>
          </p:cNvPr>
          <p:cNvSpPr>
            <a:spLocks noGrp="1"/>
          </p:cNvSpPr>
          <p:nvPr>
            <p:ph type="body" sz="quarter" idx="19"/>
          </p:nvPr>
        </p:nvSpPr>
        <p:spPr>
          <a:xfrm>
            <a:off x="502993" y="1177180"/>
            <a:ext cx="7623676" cy="5330739"/>
          </a:xfrm>
        </p:spPr>
        <p:txBody>
          <a:bodyPr/>
          <a:lstStyle/>
          <a:p>
            <a:pPr lvl="0">
              <a:lnSpc>
                <a:spcPct val="150000"/>
              </a:lnSpc>
              <a:spcAft>
                <a:spcPts val="1500"/>
              </a:spcAft>
            </a:pPr>
            <a:r>
              <a:rPr lang="en-US" sz="2400" b="1" dirty="0">
                <a:solidFill>
                  <a:srgbClr val="D90000"/>
                </a:solidFill>
              </a:rPr>
              <a:t>Excavates</a:t>
            </a:r>
            <a:r>
              <a:rPr lang="en-US" sz="2400" b="1" dirty="0">
                <a:solidFill>
                  <a:prstClr val="black"/>
                </a:solidFill>
              </a:rPr>
              <a:t>:</a:t>
            </a:r>
          </a:p>
          <a:p>
            <a:pPr marL="342900" lvl="0" indent="-342900">
              <a:lnSpc>
                <a:spcPct val="150000"/>
              </a:lnSpc>
              <a:spcAft>
                <a:spcPts val="1500"/>
              </a:spcAft>
              <a:buSzPct val="98000"/>
              <a:buFont typeface="Arial" panose="020B0604020202020204" pitchFamily="34" charset="0"/>
              <a:buChar char="•"/>
            </a:pPr>
            <a:r>
              <a:rPr lang="en-US" sz="2200" dirty="0">
                <a:solidFill>
                  <a:prstClr val="black"/>
                </a:solidFill>
              </a:rPr>
              <a:t>Atypical or absent mitochondria</a:t>
            </a:r>
          </a:p>
          <a:p>
            <a:pPr marL="342900" lvl="0" indent="-342900">
              <a:lnSpc>
                <a:spcPct val="150000"/>
              </a:lnSpc>
              <a:spcAft>
                <a:spcPts val="1500"/>
              </a:spcAft>
              <a:buFont typeface="Arial" panose="020B0604020202020204" pitchFamily="34" charset="0"/>
              <a:buChar char="•"/>
            </a:pPr>
            <a:r>
              <a:rPr lang="en-US" sz="2200" dirty="0">
                <a:solidFill>
                  <a:prstClr val="black"/>
                </a:solidFill>
              </a:rPr>
              <a:t>Distinctive flagella and/or deep (excavated) oral grooves</a:t>
            </a:r>
          </a:p>
          <a:p>
            <a:pPr lvl="0">
              <a:lnSpc>
                <a:spcPct val="150000"/>
              </a:lnSpc>
              <a:spcAft>
                <a:spcPts val="1500"/>
              </a:spcAft>
            </a:pPr>
            <a:r>
              <a:rPr lang="en-US" sz="2200" dirty="0">
                <a:solidFill>
                  <a:prstClr val="black"/>
                </a:solidFill>
              </a:rPr>
              <a:t>Excavates include:</a:t>
            </a:r>
          </a:p>
          <a:p>
            <a:pPr lvl="1">
              <a:lnSpc>
                <a:spcPct val="150000"/>
              </a:lnSpc>
              <a:spcBef>
                <a:spcPts val="0"/>
              </a:spcBef>
              <a:spcAft>
                <a:spcPts val="1500"/>
              </a:spcAft>
            </a:pPr>
            <a:r>
              <a:rPr lang="en-US" sz="2200" dirty="0">
                <a:solidFill>
                  <a:prstClr val="black"/>
                </a:solidFill>
              </a:rPr>
              <a:t>Diplomonads</a:t>
            </a:r>
          </a:p>
          <a:p>
            <a:pPr lvl="1">
              <a:lnSpc>
                <a:spcPct val="150000"/>
              </a:lnSpc>
              <a:spcBef>
                <a:spcPts val="0"/>
              </a:spcBef>
              <a:spcAft>
                <a:spcPts val="1500"/>
              </a:spcAft>
            </a:pPr>
            <a:r>
              <a:rPr lang="en-US" sz="2200" dirty="0" err="1">
                <a:solidFill>
                  <a:prstClr val="black"/>
                </a:solidFill>
              </a:rPr>
              <a:t>Parabasalids</a:t>
            </a:r>
            <a:endParaRPr lang="en-US" sz="2200" dirty="0">
              <a:solidFill>
                <a:prstClr val="black"/>
              </a:solidFill>
            </a:endParaRPr>
          </a:p>
          <a:p>
            <a:pPr lvl="1">
              <a:lnSpc>
                <a:spcPct val="150000"/>
              </a:lnSpc>
              <a:spcBef>
                <a:spcPts val="0"/>
              </a:spcBef>
              <a:spcAft>
                <a:spcPts val="1500"/>
              </a:spcAft>
            </a:pPr>
            <a:r>
              <a:rPr lang="en-US" sz="2200" dirty="0">
                <a:solidFill>
                  <a:prstClr val="black"/>
                </a:solidFill>
              </a:rPr>
              <a:t>Euglenozoans</a:t>
            </a:r>
          </a:p>
          <a:p>
            <a:pPr marL="457200" lvl="1" indent="0">
              <a:lnSpc>
                <a:spcPct val="80000"/>
              </a:lnSpc>
              <a:spcBef>
                <a:spcPts val="0"/>
              </a:spcBef>
              <a:spcAft>
                <a:spcPts val="1500"/>
              </a:spcAft>
              <a:buNone/>
            </a:pPr>
            <a:endParaRPr lang="en-US" sz="2300" dirty="0">
              <a:solidFill>
                <a:prstClr val="black"/>
              </a:solidFill>
            </a:endParaRPr>
          </a:p>
          <a:p>
            <a:pPr lvl="0">
              <a:lnSpc>
                <a:spcPct val="80000"/>
              </a:lnSpc>
              <a:spcAft>
                <a:spcPts val="1500"/>
              </a:spcAft>
            </a:pPr>
            <a:endParaRPr lang="en-US" sz="2700" dirty="0">
              <a:solidFill>
                <a:prstClr val="black"/>
              </a:solidFill>
            </a:endParaRPr>
          </a:p>
          <a:p>
            <a:pPr lvl="0">
              <a:lnSpc>
                <a:spcPct val="80000"/>
              </a:lnSpc>
              <a:spcAft>
                <a:spcPts val="1500"/>
              </a:spcAft>
            </a:pPr>
            <a:endParaRPr lang="en-US" sz="2700" dirty="0">
              <a:solidFill>
                <a:prstClr val="black"/>
              </a:solidFill>
            </a:endParaRPr>
          </a:p>
        </p:txBody>
      </p:sp>
      <p:sp>
        <p:nvSpPr>
          <p:cNvPr id="4" name="Slide Number Placeholder 3">
            <a:extLst>
              <a:ext uri="{FF2B5EF4-FFF2-40B4-BE49-F238E27FC236}">
                <a16:creationId xmlns:a16="http://schemas.microsoft.com/office/drawing/2014/main" id="{321CB10C-C8D4-4E9E-AFC6-8A2F8534D1CA}"/>
              </a:ext>
            </a:extLst>
          </p:cNvPr>
          <p:cNvSpPr>
            <a:spLocks noGrp="1"/>
          </p:cNvSpPr>
          <p:nvPr>
            <p:ph type="sldNum" sz="quarter" idx="4"/>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1892430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254C6-9CE3-4D5E-81A5-5FDF666533B3}"/>
              </a:ext>
            </a:extLst>
          </p:cNvPr>
          <p:cNvSpPr>
            <a:spLocks noGrp="1"/>
          </p:cNvSpPr>
          <p:nvPr>
            <p:ph type="title"/>
          </p:nvPr>
        </p:nvSpPr>
        <p:spPr>
          <a:xfrm>
            <a:off x="0" y="1"/>
            <a:ext cx="9144000" cy="1090245"/>
          </a:xfrm>
        </p:spPr>
        <p:txBody>
          <a:bodyPr/>
          <a:lstStyle/>
          <a:p>
            <a:r>
              <a:rPr lang="en-US" altLang="en-US" dirty="0"/>
              <a:t>Diplomonads and </a:t>
            </a:r>
            <a:r>
              <a:rPr lang="en-US" altLang="en-US" dirty="0" err="1"/>
              <a:t>Parabasalids</a:t>
            </a:r>
            <a:endParaRPr lang="en-IN" dirty="0"/>
          </a:p>
        </p:txBody>
      </p:sp>
      <p:sp>
        <p:nvSpPr>
          <p:cNvPr id="3" name="Text Placeholder 2">
            <a:extLst>
              <a:ext uri="{FF2B5EF4-FFF2-40B4-BE49-F238E27FC236}">
                <a16:creationId xmlns:a16="http://schemas.microsoft.com/office/drawing/2014/main" id="{0A55EC95-1D3E-487D-B111-8D107308F341}"/>
              </a:ext>
            </a:extLst>
          </p:cNvPr>
          <p:cNvSpPr>
            <a:spLocks noGrp="1"/>
          </p:cNvSpPr>
          <p:nvPr>
            <p:ph type="body" sz="quarter" idx="19"/>
          </p:nvPr>
        </p:nvSpPr>
        <p:spPr>
          <a:xfrm>
            <a:off x="514718" y="1195753"/>
            <a:ext cx="7623676" cy="3301035"/>
          </a:xfrm>
        </p:spPr>
        <p:txBody>
          <a:bodyPr/>
          <a:lstStyle/>
          <a:p>
            <a:pPr marL="285750" lvl="1">
              <a:lnSpc>
                <a:spcPct val="80000"/>
              </a:lnSpc>
              <a:spcBef>
                <a:spcPts val="0"/>
              </a:spcBef>
            </a:pPr>
            <a:r>
              <a:rPr lang="en-US" sz="2400" dirty="0">
                <a:solidFill>
                  <a:prstClr val="black"/>
                </a:solidFill>
              </a:rPr>
              <a:t>Unicellular and flagellated</a:t>
            </a:r>
          </a:p>
          <a:p>
            <a:pPr marL="285750" lvl="1">
              <a:lnSpc>
                <a:spcPct val="80000"/>
              </a:lnSpc>
              <a:spcBef>
                <a:spcPts val="1200"/>
              </a:spcBef>
            </a:pPr>
            <a:r>
              <a:rPr lang="en-US" sz="2400" dirty="0">
                <a:solidFill>
                  <a:prstClr val="black"/>
                </a:solidFill>
              </a:rPr>
              <a:t>Endosymbionts of animals</a:t>
            </a:r>
          </a:p>
          <a:p>
            <a:pPr marL="285750" lvl="1">
              <a:lnSpc>
                <a:spcPct val="80000"/>
              </a:lnSpc>
              <a:spcBef>
                <a:spcPts val="1200"/>
              </a:spcBef>
            </a:pPr>
            <a:r>
              <a:rPr lang="en-US" sz="2400" dirty="0">
                <a:solidFill>
                  <a:prstClr val="black"/>
                </a:solidFill>
              </a:rPr>
              <a:t>Survive in anaerobic (low-oxygen) environments</a:t>
            </a:r>
          </a:p>
          <a:p>
            <a:pPr marL="285750" lvl="1">
              <a:lnSpc>
                <a:spcPct val="80000"/>
              </a:lnSpc>
              <a:spcBef>
                <a:spcPts val="1200"/>
              </a:spcBef>
            </a:pPr>
            <a:r>
              <a:rPr lang="en-US" sz="2400" dirty="0">
                <a:solidFill>
                  <a:prstClr val="black"/>
                </a:solidFill>
              </a:rPr>
              <a:t>Lack mitochondria</a:t>
            </a:r>
          </a:p>
          <a:p>
            <a:pPr marL="285750" lvl="1">
              <a:lnSpc>
                <a:spcPct val="80000"/>
              </a:lnSpc>
              <a:spcBef>
                <a:spcPts val="1200"/>
              </a:spcBef>
            </a:pPr>
            <a:r>
              <a:rPr lang="en-US" sz="2400" dirty="0">
                <a:solidFill>
                  <a:prstClr val="black"/>
                </a:solidFill>
              </a:rPr>
              <a:t>Rely on fermentation for ATP production</a:t>
            </a:r>
          </a:p>
          <a:p>
            <a:pPr marL="285750" lvl="1">
              <a:lnSpc>
                <a:spcPct val="80000"/>
              </a:lnSpc>
              <a:spcBef>
                <a:spcPts val="1200"/>
              </a:spcBef>
            </a:pPr>
            <a:r>
              <a:rPr lang="en-US" sz="2400" dirty="0">
                <a:solidFill>
                  <a:prstClr val="black"/>
                </a:solidFill>
              </a:rPr>
              <a:t>Two nuclei and two sets of flagella</a:t>
            </a:r>
          </a:p>
        </p:txBody>
      </p:sp>
      <p:sp>
        <p:nvSpPr>
          <p:cNvPr id="4" name="Slide Number Placeholder 3">
            <a:extLst>
              <a:ext uri="{FF2B5EF4-FFF2-40B4-BE49-F238E27FC236}">
                <a16:creationId xmlns:a16="http://schemas.microsoft.com/office/drawing/2014/main" id="{20EEB6BF-EFCE-4B28-9116-D5951A909788}"/>
              </a:ext>
            </a:extLst>
          </p:cNvPr>
          <p:cNvSpPr>
            <a:spLocks noGrp="1"/>
          </p:cNvSpPr>
          <p:nvPr>
            <p:ph type="sldNum" sz="quarter" idx="4"/>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3719977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267FF-E97F-462C-B478-3199CEE930CA}"/>
              </a:ext>
            </a:extLst>
          </p:cNvPr>
          <p:cNvSpPr>
            <a:spLocks noGrp="1"/>
          </p:cNvSpPr>
          <p:nvPr>
            <p:ph type="title"/>
          </p:nvPr>
        </p:nvSpPr>
        <p:spPr>
          <a:xfrm>
            <a:off x="1107831" y="0"/>
            <a:ext cx="6928338" cy="1177180"/>
          </a:xfrm>
        </p:spPr>
        <p:txBody>
          <a:bodyPr/>
          <a:lstStyle/>
          <a:p>
            <a:r>
              <a:rPr lang="en-US" altLang="en-US" dirty="0" err="1"/>
              <a:t>Parabasalids</a:t>
            </a:r>
            <a:r>
              <a:rPr lang="en-US" altLang="en-US" dirty="0"/>
              <a:t> and Diplomonads</a:t>
            </a:r>
            <a:endParaRPr lang="en-IN" dirty="0"/>
          </a:p>
        </p:txBody>
      </p:sp>
      <p:sp>
        <p:nvSpPr>
          <p:cNvPr id="3" name="Text Placeholder 2">
            <a:extLst>
              <a:ext uri="{FF2B5EF4-FFF2-40B4-BE49-F238E27FC236}">
                <a16:creationId xmlns:a16="http://schemas.microsoft.com/office/drawing/2014/main" id="{040618A5-43CD-472D-B414-073ADA9AD7C2}"/>
              </a:ext>
            </a:extLst>
          </p:cNvPr>
          <p:cNvSpPr>
            <a:spLocks noGrp="1"/>
          </p:cNvSpPr>
          <p:nvPr>
            <p:ph type="body" sz="quarter" idx="19"/>
          </p:nvPr>
        </p:nvSpPr>
        <p:spPr>
          <a:xfrm>
            <a:off x="381260" y="1327491"/>
            <a:ext cx="8085379" cy="5330739"/>
          </a:xfrm>
        </p:spPr>
        <p:txBody>
          <a:bodyPr>
            <a:normAutofit fontScale="92500"/>
          </a:bodyPr>
          <a:lstStyle/>
          <a:p>
            <a:pPr lvl="0">
              <a:lnSpc>
                <a:spcPct val="80000"/>
              </a:lnSpc>
              <a:spcAft>
                <a:spcPts val="1500"/>
              </a:spcAft>
              <a:buClr>
                <a:schemeClr val="tx1"/>
              </a:buClr>
              <a:tabLst>
                <a:tab pos="5826125" algn="l"/>
              </a:tabLst>
            </a:pPr>
            <a:r>
              <a:rPr lang="en-US" sz="2200" b="1" dirty="0">
                <a:solidFill>
                  <a:srgbClr val="D90000"/>
                </a:solidFill>
              </a:rPr>
              <a:t>Diplomonads</a:t>
            </a:r>
          </a:p>
          <a:p>
            <a:pPr marL="0" lvl="1" indent="0">
              <a:lnSpc>
                <a:spcPct val="150000"/>
              </a:lnSpc>
              <a:spcBef>
                <a:spcPts val="0"/>
              </a:spcBef>
              <a:buNone/>
            </a:pPr>
            <a:r>
              <a:rPr lang="en-US" dirty="0">
                <a:solidFill>
                  <a:prstClr val="black"/>
                </a:solidFill>
              </a:rPr>
              <a:t>Cell has two nuclei and two sets of flagella</a:t>
            </a:r>
          </a:p>
          <a:p>
            <a:pPr marL="0" lvl="1" indent="0">
              <a:lnSpc>
                <a:spcPct val="150000"/>
              </a:lnSpc>
              <a:spcBef>
                <a:spcPts val="0"/>
              </a:spcBef>
              <a:buNone/>
            </a:pPr>
            <a:r>
              <a:rPr lang="en-US" dirty="0">
                <a:solidFill>
                  <a:prstClr val="black"/>
                </a:solidFill>
              </a:rPr>
              <a:t>Well known for causing various diseases in humans</a:t>
            </a:r>
          </a:p>
          <a:p>
            <a:pPr marL="363538" lvl="2" indent="-363538">
              <a:lnSpc>
                <a:spcPct val="150000"/>
              </a:lnSpc>
              <a:spcBef>
                <a:spcPts val="0"/>
              </a:spcBef>
            </a:pPr>
            <a:r>
              <a:rPr lang="en-US" sz="2000" i="1" dirty="0">
                <a:solidFill>
                  <a:prstClr val="black"/>
                </a:solidFill>
              </a:rPr>
              <a:t>Giardia lamblia </a:t>
            </a:r>
            <a:r>
              <a:rPr lang="en-US" sz="2000" dirty="0">
                <a:solidFill>
                  <a:prstClr val="black"/>
                </a:solidFill>
              </a:rPr>
              <a:t>causes severe diarrhea</a:t>
            </a:r>
          </a:p>
          <a:p>
            <a:pPr marL="363538" lvl="2" indent="-363538">
              <a:lnSpc>
                <a:spcPct val="150000"/>
              </a:lnSpc>
              <a:spcBef>
                <a:spcPts val="0"/>
              </a:spcBef>
            </a:pPr>
            <a:r>
              <a:rPr lang="en-US" sz="2000" dirty="0">
                <a:solidFill>
                  <a:prstClr val="black"/>
                </a:solidFill>
              </a:rPr>
              <a:t>Cysts are transmitted in contaminated water</a:t>
            </a:r>
          </a:p>
          <a:p>
            <a:pPr marL="363538" lvl="2" indent="-363538">
              <a:lnSpc>
                <a:spcPct val="150000"/>
              </a:lnSpc>
              <a:spcBef>
                <a:spcPts val="0"/>
              </a:spcBef>
            </a:pPr>
            <a:r>
              <a:rPr lang="en-US" sz="2000" dirty="0">
                <a:solidFill>
                  <a:prstClr val="black"/>
                </a:solidFill>
              </a:rPr>
              <a:t>Beavers are important reservoir hosts</a:t>
            </a:r>
          </a:p>
          <a:p>
            <a:pPr lvl="0">
              <a:lnSpc>
                <a:spcPct val="150000"/>
              </a:lnSpc>
              <a:spcAft>
                <a:spcPts val="1500"/>
              </a:spcAft>
              <a:buClr>
                <a:schemeClr val="tx1"/>
              </a:buClr>
            </a:pPr>
            <a:r>
              <a:rPr lang="en-US" sz="2200" b="1" dirty="0" err="1">
                <a:solidFill>
                  <a:srgbClr val="D90000"/>
                </a:solidFill>
              </a:rPr>
              <a:t>Parabasalids</a:t>
            </a:r>
            <a:endParaRPr lang="en-US" sz="2200" b="1" dirty="0">
              <a:solidFill>
                <a:srgbClr val="D90000"/>
              </a:solidFill>
            </a:endParaRPr>
          </a:p>
          <a:p>
            <a:pPr marL="342900" lvl="1">
              <a:lnSpc>
                <a:spcPct val="150000"/>
              </a:lnSpc>
              <a:spcBef>
                <a:spcPts val="0"/>
              </a:spcBef>
            </a:pPr>
            <a:r>
              <a:rPr lang="en-US" dirty="0">
                <a:solidFill>
                  <a:prstClr val="black"/>
                </a:solidFill>
              </a:rPr>
              <a:t>Unique fibrous connection between the Golgi apparatus and flagella</a:t>
            </a:r>
          </a:p>
          <a:p>
            <a:pPr marL="342900" lvl="1">
              <a:lnSpc>
                <a:spcPct val="150000"/>
              </a:lnSpc>
              <a:spcBef>
                <a:spcPts val="0"/>
              </a:spcBef>
            </a:pPr>
            <a:r>
              <a:rPr lang="en-US" i="1" dirty="0">
                <a:solidFill>
                  <a:prstClr val="black"/>
                </a:solidFill>
              </a:rPr>
              <a:t>Trichomonas vaginalis </a:t>
            </a:r>
            <a:r>
              <a:rPr lang="en-US" dirty="0">
                <a:solidFill>
                  <a:prstClr val="black"/>
                </a:solidFill>
              </a:rPr>
              <a:t>causes trichomoniasis, a sexually transmitted disease that only causes symptoms in females</a:t>
            </a:r>
          </a:p>
        </p:txBody>
      </p:sp>
      <p:sp>
        <p:nvSpPr>
          <p:cNvPr id="4" name="Slide Number Placeholder 3">
            <a:extLst>
              <a:ext uri="{FF2B5EF4-FFF2-40B4-BE49-F238E27FC236}">
                <a16:creationId xmlns:a16="http://schemas.microsoft.com/office/drawing/2014/main" id="{42E8389F-759D-4D84-AF59-876029C028D9}"/>
              </a:ext>
            </a:extLst>
          </p:cNvPr>
          <p:cNvSpPr>
            <a:spLocks noGrp="1"/>
          </p:cNvSpPr>
          <p:nvPr>
            <p:ph type="sldNum" sz="quarter" idx="4"/>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2198412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3F387B9-CD00-4D8E-AAD6-2EE8310D6B32}"/>
              </a:ext>
            </a:extLst>
          </p:cNvPr>
          <p:cNvSpPr>
            <a:spLocks noGrp="1"/>
          </p:cNvSpPr>
          <p:nvPr>
            <p:ph type="title"/>
          </p:nvPr>
        </p:nvSpPr>
        <p:spPr/>
        <p:txBody>
          <a:bodyPr/>
          <a:lstStyle/>
          <a:p>
            <a:r>
              <a:rPr lang="en-US" altLang="en-US" i="1" dirty="0"/>
              <a:t>Giardia lamblia</a:t>
            </a:r>
            <a:endParaRPr lang="en-IN" dirty="0"/>
          </a:p>
        </p:txBody>
      </p:sp>
      <p:pic>
        <p:nvPicPr>
          <p:cNvPr id="9" name="Picture 2" descr="Microscopic view of Giardia on the surface shows a circular marking on the disc.">
            <a:extLst>
              <a:ext uri="{FF2B5EF4-FFF2-40B4-BE49-F238E27FC236}">
                <a16:creationId xmlns:a16="http://schemas.microsoft.com/office/drawing/2014/main" id="{8DAD63E2-2D69-44B7-B979-E308A834330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64" b="3512"/>
          <a:stretch/>
        </p:blipFill>
        <p:spPr bwMode="auto">
          <a:xfrm>
            <a:off x="1194825" y="1453661"/>
            <a:ext cx="6753225" cy="3984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3">
            <a:extLst>
              <a:ext uri="{FF2B5EF4-FFF2-40B4-BE49-F238E27FC236}">
                <a16:creationId xmlns:a16="http://schemas.microsoft.com/office/drawing/2014/main" id="{C5AEB631-CB14-476C-BFE6-97C4969EDD62}"/>
              </a:ext>
            </a:extLst>
          </p:cNvPr>
          <p:cNvSpPr>
            <a:spLocks noGrp="1"/>
          </p:cNvSpPr>
          <p:nvPr>
            <p:ph type="body" sz="quarter" idx="18"/>
          </p:nvPr>
        </p:nvSpPr>
        <p:spPr>
          <a:xfrm>
            <a:off x="4034897" y="5717653"/>
            <a:ext cx="1073079" cy="314325"/>
          </a:xfrm>
        </p:spPr>
        <p:txBody>
          <a:bodyPr>
            <a:normAutofit/>
          </a:bodyPr>
          <a:lstStyle/>
          <a:p>
            <a:r>
              <a:rPr lang="en-US" sz="1200" dirty="0"/>
              <a:t>Figure 21.2</a:t>
            </a:r>
          </a:p>
        </p:txBody>
      </p:sp>
      <p:sp>
        <p:nvSpPr>
          <p:cNvPr id="8" name="Text Placeholder 4">
            <a:extLst>
              <a:ext uri="{FF2B5EF4-FFF2-40B4-BE49-F238E27FC236}">
                <a16:creationId xmlns:a16="http://schemas.microsoft.com/office/drawing/2014/main" id="{9ACED7B9-8E56-4815-BC79-2C224F3636E3}"/>
              </a:ext>
            </a:extLst>
          </p:cNvPr>
          <p:cNvSpPr>
            <a:spLocks noGrp="1"/>
          </p:cNvSpPr>
          <p:nvPr>
            <p:ph type="body" sz="quarter" idx="21"/>
          </p:nvPr>
        </p:nvSpPr>
        <p:spPr/>
        <p:txBody>
          <a:bodyPr/>
          <a:lstStyle/>
          <a:p>
            <a:pPr lvl="0"/>
            <a:r>
              <a:rPr lang="en-US" sz="800" dirty="0" err="1"/>
              <a:t>Kallista</a:t>
            </a:r>
            <a:r>
              <a:rPr lang="en-US" sz="800" dirty="0"/>
              <a:t> Images/Getty Images</a:t>
            </a:r>
          </a:p>
        </p:txBody>
      </p:sp>
      <p:sp>
        <p:nvSpPr>
          <p:cNvPr id="4" name="Slide Number Placeholder 5">
            <a:extLst>
              <a:ext uri="{FF2B5EF4-FFF2-40B4-BE49-F238E27FC236}">
                <a16:creationId xmlns:a16="http://schemas.microsoft.com/office/drawing/2014/main" id="{175D32EF-52AC-4D66-9F19-346FA3569B59}"/>
              </a:ext>
            </a:extLst>
          </p:cNvPr>
          <p:cNvSpPr>
            <a:spLocks noGrp="1"/>
          </p:cNvSpPr>
          <p:nvPr>
            <p:ph type="sldNum" sz="quarter" idx="4"/>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4108019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3E50-2939-44A2-AA2F-A7D9E682A16E}"/>
              </a:ext>
            </a:extLst>
          </p:cNvPr>
          <p:cNvSpPr>
            <a:spLocks noGrp="1"/>
          </p:cNvSpPr>
          <p:nvPr>
            <p:ph type="title"/>
          </p:nvPr>
        </p:nvSpPr>
        <p:spPr/>
        <p:txBody>
          <a:bodyPr/>
          <a:lstStyle/>
          <a:p>
            <a:r>
              <a:rPr lang="en-US" i="1" dirty="0"/>
              <a:t>Trichomonas vaginalis</a:t>
            </a:r>
            <a:endParaRPr lang="en-IN" dirty="0"/>
          </a:p>
        </p:txBody>
      </p:sp>
      <p:pic>
        <p:nvPicPr>
          <p:cNvPr id="6" name="Picture 2" descr="Microscopic view of a pear-shaped parabasalid with five flagella.">
            <a:extLst>
              <a:ext uri="{FF2B5EF4-FFF2-40B4-BE49-F238E27FC236}">
                <a16:creationId xmlns:a16="http://schemas.microsoft.com/office/drawing/2014/main" id="{6E406B08-2990-420E-A22A-DA79AAC810F6}"/>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2885" y="1376752"/>
            <a:ext cx="4698230" cy="4702629"/>
          </a:xfrm>
          <a:prstGeom prst="rect">
            <a:avLst/>
          </a:prstGeom>
        </p:spPr>
      </p:pic>
      <p:sp>
        <p:nvSpPr>
          <p:cNvPr id="3" name="Text Placeholder 3">
            <a:extLst>
              <a:ext uri="{FF2B5EF4-FFF2-40B4-BE49-F238E27FC236}">
                <a16:creationId xmlns:a16="http://schemas.microsoft.com/office/drawing/2014/main" id="{06F86F37-5C2E-48E5-9C4F-0B86B791099F}"/>
              </a:ext>
            </a:extLst>
          </p:cNvPr>
          <p:cNvSpPr>
            <a:spLocks noGrp="1"/>
          </p:cNvSpPr>
          <p:nvPr>
            <p:ph type="body" sz="quarter" idx="19"/>
          </p:nvPr>
        </p:nvSpPr>
        <p:spPr>
          <a:xfrm>
            <a:off x="4032189" y="6193594"/>
            <a:ext cx="1079622" cy="314325"/>
          </a:xfrm>
        </p:spPr>
        <p:txBody>
          <a:bodyPr>
            <a:normAutofit/>
          </a:bodyPr>
          <a:lstStyle/>
          <a:p>
            <a:r>
              <a:rPr lang="en-US" sz="1200" dirty="0"/>
              <a:t>Figure 21.3</a:t>
            </a:r>
          </a:p>
        </p:txBody>
      </p:sp>
      <p:sp>
        <p:nvSpPr>
          <p:cNvPr id="4" name="Slide Number Placeholder 4">
            <a:extLst>
              <a:ext uri="{FF2B5EF4-FFF2-40B4-BE49-F238E27FC236}">
                <a16:creationId xmlns:a16="http://schemas.microsoft.com/office/drawing/2014/main" id="{AC3B4280-2721-4D3D-B74C-19849A3D1D54}"/>
              </a:ext>
            </a:extLst>
          </p:cNvPr>
          <p:cNvSpPr>
            <a:spLocks noGrp="1"/>
          </p:cNvSpPr>
          <p:nvPr>
            <p:ph type="sldNum" sz="quarter" idx="4"/>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3770161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E303A-9947-4409-8246-93B45ABE11E4}"/>
              </a:ext>
            </a:extLst>
          </p:cNvPr>
          <p:cNvSpPr>
            <a:spLocks noGrp="1"/>
          </p:cNvSpPr>
          <p:nvPr>
            <p:ph type="title"/>
          </p:nvPr>
        </p:nvSpPr>
        <p:spPr/>
        <p:txBody>
          <a:bodyPr/>
          <a:lstStyle/>
          <a:p>
            <a:r>
              <a:rPr lang="en-US" altLang="en-US" dirty="0"/>
              <a:t>Euglenozoans</a:t>
            </a:r>
            <a:endParaRPr lang="en-IN" dirty="0"/>
          </a:p>
        </p:txBody>
      </p:sp>
      <p:sp>
        <p:nvSpPr>
          <p:cNvPr id="3" name="Text Placeholder 2">
            <a:extLst>
              <a:ext uri="{FF2B5EF4-FFF2-40B4-BE49-F238E27FC236}">
                <a16:creationId xmlns:a16="http://schemas.microsoft.com/office/drawing/2014/main" id="{2EBF1FFA-F851-4D05-ABF0-D3EA3532FBA5}"/>
              </a:ext>
            </a:extLst>
          </p:cNvPr>
          <p:cNvSpPr>
            <a:spLocks noGrp="1"/>
          </p:cNvSpPr>
          <p:nvPr>
            <p:ph type="body" sz="quarter" idx="19"/>
          </p:nvPr>
        </p:nvSpPr>
        <p:spPr>
          <a:xfrm>
            <a:off x="842963" y="1177179"/>
            <a:ext cx="7623676" cy="5330739"/>
          </a:xfrm>
        </p:spPr>
        <p:txBody>
          <a:bodyPr/>
          <a:lstStyle/>
          <a:p>
            <a:pPr marL="0" lvl="1" indent="0">
              <a:lnSpc>
                <a:spcPct val="150000"/>
              </a:lnSpc>
              <a:spcBef>
                <a:spcPts val="0"/>
              </a:spcBef>
              <a:buNone/>
            </a:pPr>
            <a:r>
              <a:rPr lang="en-US" sz="2400" dirty="0">
                <a:solidFill>
                  <a:prstClr val="black"/>
                </a:solidFill>
              </a:rPr>
              <a:t>Small freshwater unicellular organisms</a:t>
            </a:r>
          </a:p>
          <a:p>
            <a:pPr marL="0" lvl="1" indent="0">
              <a:lnSpc>
                <a:spcPct val="150000"/>
              </a:lnSpc>
              <a:spcBef>
                <a:spcPts val="600"/>
              </a:spcBef>
              <a:buNone/>
            </a:pPr>
            <a:r>
              <a:rPr lang="en-US" sz="2400" dirty="0">
                <a:solidFill>
                  <a:prstClr val="black"/>
                </a:solidFill>
              </a:rPr>
              <a:t>Possess mitochondria</a:t>
            </a:r>
          </a:p>
          <a:p>
            <a:pPr marL="0" lvl="1" indent="0">
              <a:lnSpc>
                <a:spcPct val="150000"/>
              </a:lnSpc>
              <a:spcBef>
                <a:spcPts val="600"/>
              </a:spcBef>
              <a:buNone/>
            </a:pPr>
            <a:r>
              <a:rPr lang="en-US" sz="2400" dirty="0">
                <a:solidFill>
                  <a:prstClr val="black"/>
                </a:solidFill>
              </a:rPr>
              <a:t>Lack a cell wall and instead have proteins encircling the cell</a:t>
            </a:r>
          </a:p>
          <a:p>
            <a:pPr marL="0" lvl="1" indent="0">
              <a:lnSpc>
                <a:spcPct val="150000"/>
              </a:lnSpc>
              <a:spcBef>
                <a:spcPts val="600"/>
              </a:spcBef>
              <a:buNone/>
            </a:pPr>
            <a:r>
              <a:rPr lang="en-US" sz="2400" dirty="0">
                <a:solidFill>
                  <a:prstClr val="black"/>
                </a:solidFill>
              </a:rPr>
              <a:t>Includes:</a:t>
            </a:r>
          </a:p>
          <a:p>
            <a:pPr marL="363538" lvl="2" indent="-363538">
              <a:lnSpc>
                <a:spcPct val="150000"/>
              </a:lnSpc>
              <a:spcBef>
                <a:spcPts val="600"/>
              </a:spcBef>
            </a:pPr>
            <a:r>
              <a:rPr lang="en-US" sz="2200" dirty="0">
                <a:solidFill>
                  <a:prstClr val="black"/>
                </a:solidFill>
              </a:rPr>
              <a:t>Free-living </a:t>
            </a:r>
            <a:r>
              <a:rPr lang="en-US" sz="2200" dirty="0" err="1">
                <a:solidFill>
                  <a:prstClr val="black"/>
                </a:solidFill>
              </a:rPr>
              <a:t>euglenids</a:t>
            </a:r>
            <a:endParaRPr lang="en-US" sz="2200" dirty="0">
              <a:solidFill>
                <a:prstClr val="black"/>
              </a:solidFill>
            </a:endParaRPr>
          </a:p>
          <a:p>
            <a:pPr marL="363538" lvl="2" indent="-363538">
              <a:lnSpc>
                <a:spcPct val="150000"/>
              </a:lnSpc>
              <a:spcBef>
                <a:spcPts val="600"/>
              </a:spcBef>
            </a:pPr>
            <a:r>
              <a:rPr lang="en-US" sz="2200" dirty="0">
                <a:solidFill>
                  <a:prstClr val="black"/>
                </a:solidFill>
              </a:rPr>
              <a:t>Parasitic </a:t>
            </a:r>
            <a:r>
              <a:rPr lang="en-US" sz="2200" dirty="0" err="1">
                <a:solidFill>
                  <a:prstClr val="black"/>
                </a:solidFill>
              </a:rPr>
              <a:t>kinetoplastids</a:t>
            </a:r>
            <a:endParaRPr lang="en-US" sz="2200" dirty="0">
              <a:solidFill>
                <a:prstClr val="black"/>
              </a:solidFill>
            </a:endParaRPr>
          </a:p>
        </p:txBody>
      </p:sp>
      <p:sp>
        <p:nvSpPr>
          <p:cNvPr id="4" name="Slide Number Placeholder 3">
            <a:extLst>
              <a:ext uri="{FF2B5EF4-FFF2-40B4-BE49-F238E27FC236}">
                <a16:creationId xmlns:a16="http://schemas.microsoft.com/office/drawing/2014/main" id="{9F68F3CB-D745-46AA-9CC6-0DD16B23B1AC}"/>
              </a:ext>
            </a:extLst>
          </p:cNvPr>
          <p:cNvSpPr>
            <a:spLocks noGrp="1"/>
          </p:cNvSpPr>
          <p:nvPr>
            <p:ph type="sldNum" sz="quarter" idx="4"/>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3426377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D82F7-7A7E-42FA-9985-78E58FA48048}"/>
              </a:ext>
            </a:extLst>
          </p:cNvPr>
          <p:cNvSpPr>
            <a:spLocks noGrp="1"/>
          </p:cNvSpPr>
          <p:nvPr>
            <p:ph type="title"/>
          </p:nvPr>
        </p:nvSpPr>
        <p:spPr/>
        <p:txBody>
          <a:bodyPr/>
          <a:lstStyle/>
          <a:p>
            <a:r>
              <a:rPr lang="en-US" altLang="en-US" dirty="0" err="1"/>
              <a:t>Euglenids</a:t>
            </a:r>
            <a:endParaRPr lang="en-IN" dirty="0"/>
          </a:p>
        </p:txBody>
      </p:sp>
      <p:sp>
        <p:nvSpPr>
          <p:cNvPr id="3" name="Text Placeholder 2">
            <a:extLst>
              <a:ext uri="{FF2B5EF4-FFF2-40B4-BE49-F238E27FC236}">
                <a16:creationId xmlns:a16="http://schemas.microsoft.com/office/drawing/2014/main" id="{4215BB91-43BB-49A8-BC0E-6ECD6C9A3A7E}"/>
              </a:ext>
            </a:extLst>
          </p:cNvPr>
          <p:cNvSpPr>
            <a:spLocks noGrp="1"/>
          </p:cNvSpPr>
          <p:nvPr>
            <p:ph type="body" sz="quarter" idx="19"/>
          </p:nvPr>
        </p:nvSpPr>
        <p:spPr>
          <a:xfrm>
            <a:off x="842963" y="1177179"/>
            <a:ext cx="7623676" cy="5330739"/>
          </a:xfrm>
        </p:spPr>
        <p:txBody>
          <a:bodyPr>
            <a:normAutofit lnSpcReduction="10000"/>
          </a:bodyPr>
          <a:lstStyle/>
          <a:p>
            <a:pPr marL="0" lvl="1" indent="0">
              <a:spcBef>
                <a:spcPts val="600"/>
              </a:spcBef>
              <a:spcAft>
                <a:spcPts val="600"/>
              </a:spcAft>
              <a:buNone/>
            </a:pPr>
            <a:r>
              <a:rPr lang="en-US" sz="2200" dirty="0">
                <a:solidFill>
                  <a:prstClr val="black"/>
                </a:solidFill>
              </a:rPr>
              <a:t>Asexual, single-celled freshwater protists</a:t>
            </a:r>
          </a:p>
          <a:p>
            <a:pPr marL="0" lvl="1" indent="0">
              <a:spcBef>
                <a:spcPts val="600"/>
              </a:spcBef>
              <a:spcAft>
                <a:spcPts val="600"/>
              </a:spcAft>
              <a:buNone/>
            </a:pPr>
            <a:r>
              <a:rPr lang="en-US" sz="2200" dirty="0">
                <a:solidFill>
                  <a:prstClr val="black"/>
                </a:solidFill>
              </a:rPr>
              <a:t>Some are mixotrophs, some are photoautotrophs, some are heterotrophs</a:t>
            </a:r>
          </a:p>
          <a:p>
            <a:pPr marL="0" lvl="1" indent="0">
              <a:spcBef>
                <a:spcPts val="600"/>
              </a:spcBef>
              <a:spcAft>
                <a:spcPts val="600"/>
              </a:spcAft>
              <a:buNone/>
            </a:pPr>
            <a:r>
              <a:rPr lang="en-US" sz="2200" dirty="0">
                <a:solidFill>
                  <a:prstClr val="black"/>
                </a:solidFill>
              </a:rPr>
              <a:t>Have two flagella and an eyespot that detects light</a:t>
            </a:r>
          </a:p>
          <a:p>
            <a:pPr marL="269875" lvl="2" indent="-269875">
              <a:spcBef>
                <a:spcPts val="600"/>
              </a:spcBef>
              <a:spcAft>
                <a:spcPts val="600"/>
              </a:spcAft>
            </a:pPr>
            <a:r>
              <a:rPr lang="en-US" sz="2000" dirty="0">
                <a:solidFill>
                  <a:prstClr val="black"/>
                </a:solidFill>
              </a:rPr>
              <a:t>One flagellum is much longer than the other</a:t>
            </a:r>
          </a:p>
          <a:p>
            <a:pPr marL="269875" lvl="2" indent="-269875">
              <a:spcBef>
                <a:spcPts val="600"/>
              </a:spcBef>
              <a:spcAft>
                <a:spcPts val="600"/>
              </a:spcAft>
            </a:pPr>
            <a:r>
              <a:rPr lang="en-US" sz="2000" dirty="0">
                <a:solidFill>
                  <a:prstClr val="black"/>
                </a:solidFill>
              </a:rPr>
              <a:t>Longer flagella is called a tinsel flagellum because of </a:t>
            </a:r>
            <a:r>
              <a:rPr lang="en-US" sz="2000" dirty="0" err="1">
                <a:solidFill>
                  <a:prstClr val="black"/>
                </a:solidFill>
              </a:rPr>
              <a:t>hairlike</a:t>
            </a:r>
            <a:r>
              <a:rPr lang="en-US" sz="2000" dirty="0">
                <a:solidFill>
                  <a:prstClr val="black"/>
                </a:solidFill>
              </a:rPr>
              <a:t> projections</a:t>
            </a:r>
          </a:p>
          <a:p>
            <a:pPr marL="0" lvl="1" indent="0">
              <a:spcBef>
                <a:spcPts val="600"/>
              </a:spcBef>
              <a:spcAft>
                <a:spcPts val="600"/>
              </a:spcAft>
              <a:buNone/>
            </a:pPr>
            <a:r>
              <a:rPr lang="en-US" sz="2200" dirty="0">
                <a:solidFill>
                  <a:prstClr val="black"/>
                </a:solidFill>
              </a:rPr>
              <a:t>Cell is bounded by flexible </a:t>
            </a:r>
            <a:r>
              <a:rPr lang="en-US" sz="2200" b="1" dirty="0"/>
              <a:t>pellicle</a:t>
            </a:r>
          </a:p>
          <a:p>
            <a:pPr marL="0" lvl="1" indent="0">
              <a:spcBef>
                <a:spcPts val="600"/>
              </a:spcBef>
              <a:spcAft>
                <a:spcPts val="600"/>
              </a:spcAft>
              <a:buNone/>
            </a:pPr>
            <a:r>
              <a:rPr lang="en-US" sz="2200" dirty="0"/>
              <a:t>Contractile vacuole rids body of excess water</a:t>
            </a:r>
          </a:p>
          <a:p>
            <a:pPr marL="0" lvl="1" indent="0">
              <a:spcBef>
                <a:spcPts val="600"/>
              </a:spcBef>
              <a:spcAft>
                <a:spcPts val="600"/>
              </a:spcAft>
              <a:buNone/>
            </a:pPr>
            <a:r>
              <a:rPr lang="en-US" sz="2200" dirty="0">
                <a:solidFill>
                  <a:prstClr val="black"/>
                </a:solidFill>
              </a:rPr>
              <a:t>Chloroplasts, if present:</a:t>
            </a:r>
          </a:p>
          <a:p>
            <a:pPr marL="269875" lvl="2" indent="-269875">
              <a:spcBef>
                <a:spcPts val="600"/>
              </a:spcBef>
              <a:spcAft>
                <a:spcPts val="600"/>
              </a:spcAft>
            </a:pPr>
            <a:r>
              <a:rPr lang="en-US" sz="2000" dirty="0">
                <a:solidFill>
                  <a:prstClr val="black"/>
                </a:solidFill>
              </a:rPr>
              <a:t>Surrounded by three, rather than two, membranes</a:t>
            </a:r>
          </a:p>
          <a:p>
            <a:pPr marL="269875" lvl="2" indent="-269875">
              <a:spcBef>
                <a:spcPts val="600"/>
              </a:spcBef>
              <a:spcAft>
                <a:spcPts val="600"/>
              </a:spcAft>
            </a:pPr>
            <a:r>
              <a:rPr lang="en-US" sz="2000" dirty="0">
                <a:solidFill>
                  <a:prstClr val="black"/>
                </a:solidFill>
              </a:rPr>
              <a:t>Special region of the chloroplast, the pyrenoid, produces an unusual type of carbohydrate called paramylon</a:t>
            </a:r>
            <a:endParaRPr lang="en-US" sz="2000" dirty="0"/>
          </a:p>
        </p:txBody>
      </p:sp>
      <p:sp>
        <p:nvSpPr>
          <p:cNvPr id="4" name="Slide Number Placeholder 3">
            <a:extLst>
              <a:ext uri="{FF2B5EF4-FFF2-40B4-BE49-F238E27FC236}">
                <a16:creationId xmlns:a16="http://schemas.microsoft.com/office/drawing/2014/main" id="{1E5A951A-B72A-45CC-9C14-57DB0B8B6378}"/>
              </a:ext>
            </a:extLst>
          </p:cNvPr>
          <p:cNvSpPr>
            <a:spLocks noGrp="1"/>
          </p:cNvSpPr>
          <p:nvPr>
            <p:ph type="sldNum" sz="quarter" idx="4"/>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1623731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67EFE-83C9-4437-9B53-798688498554}"/>
              </a:ext>
            </a:extLst>
          </p:cNvPr>
          <p:cNvSpPr>
            <a:spLocks noGrp="1"/>
          </p:cNvSpPr>
          <p:nvPr>
            <p:ph type="title"/>
          </p:nvPr>
        </p:nvSpPr>
        <p:spPr>
          <a:xfrm>
            <a:off x="0" y="2"/>
            <a:ext cx="9144000" cy="855784"/>
          </a:xfrm>
        </p:spPr>
        <p:txBody>
          <a:bodyPr/>
          <a:lstStyle/>
          <a:p>
            <a:r>
              <a:rPr lang="en-US" i="1" dirty="0"/>
              <a:t>Euglena</a:t>
            </a:r>
            <a:endParaRPr lang="en-IN" dirty="0"/>
          </a:p>
        </p:txBody>
      </p:sp>
      <p:pic>
        <p:nvPicPr>
          <p:cNvPr id="8" name="Picture 2" descr="Diagram (a) and micrograph (b) of Euglena (enlarged to 960 times). ">
            <a:extLst>
              <a:ext uri="{FF2B5EF4-FFF2-40B4-BE49-F238E27FC236}">
                <a16:creationId xmlns:a16="http://schemas.microsoft.com/office/drawing/2014/main" id="{C94787B7-E317-403D-917A-7B455775248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501" b="1806"/>
          <a:stretch/>
        </p:blipFill>
        <p:spPr bwMode="auto">
          <a:xfrm>
            <a:off x="2794190" y="753766"/>
            <a:ext cx="3555620" cy="5145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3">
            <a:extLst>
              <a:ext uri="{FF2B5EF4-FFF2-40B4-BE49-F238E27FC236}">
                <a16:creationId xmlns:a16="http://schemas.microsoft.com/office/drawing/2014/main" id="{5F57C549-15C9-454D-AB9B-613A48044073}"/>
              </a:ext>
            </a:extLst>
          </p:cNvPr>
          <p:cNvSpPr>
            <a:spLocks noGrp="1"/>
          </p:cNvSpPr>
          <p:nvPr>
            <p:ph type="body" sz="quarter" idx="18"/>
          </p:nvPr>
        </p:nvSpPr>
        <p:spPr>
          <a:xfrm>
            <a:off x="4143850" y="5954658"/>
            <a:ext cx="855174" cy="314325"/>
          </a:xfrm>
        </p:spPr>
        <p:txBody>
          <a:bodyPr>
            <a:normAutofit/>
          </a:bodyPr>
          <a:lstStyle/>
          <a:p>
            <a:r>
              <a:rPr lang="en-IN" dirty="0"/>
              <a:t>Figure 21.4</a:t>
            </a:r>
          </a:p>
        </p:txBody>
      </p:sp>
      <p:sp>
        <p:nvSpPr>
          <p:cNvPr id="6" name="Text Placeholder 3">
            <a:extLst>
              <a:ext uri="{FF2B5EF4-FFF2-40B4-BE49-F238E27FC236}">
                <a16:creationId xmlns:a16="http://schemas.microsoft.com/office/drawing/2014/main" id="{828BF83C-388D-42B5-827F-3C60942951A7}"/>
              </a:ext>
            </a:extLst>
          </p:cNvPr>
          <p:cNvSpPr>
            <a:spLocks noGrp="1"/>
          </p:cNvSpPr>
          <p:nvPr>
            <p:ph type="body" sz="quarter" idx="19"/>
          </p:nvPr>
        </p:nvSpPr>
        <p:spPr>
          <a:xfrm>
            <a:off x="3083262" y="6249114"/>
            <a:ext cx="3095991" cy="314325"/>
          </a:xfrm>
        </p:spPr>
        <p:txBody>
          <a:bodyPr>
            <a:normAutofit fontScale="92500"/>
          </a:bodyPr>
          <a:lstStyle/>
          <a:p>
            <a:r>
              <a:rPr lang="en-US" sz="1200" dirty="0">
                <a:hlinkClick r:id="rId3" action="ppaction://hlinksldjump"/>
              </a:rPr>
              <a:t>Access the text alternative for slide images.</a:t>
            </a:r>
            <a:endParaRPr lang="en-IN" sz="1200" dirty="0"/>
          </a:p>
        </p:txBody>
      </p:sp>
      <p:sp>
        <p:nvSpPr>
          <p:cNvPr id="7" name="Text Placeholder 5">
            <a:extLst>
              <a:ext uri="{FF2B5EF4-FFF2-40B4-BE49-F238E27FC236}">
                <a16:creationId xmlns:a16="http://schemas.microsoft.com/office/drawing/2014/main" id="{7DEE6E67-0CA5-4A5B-9CE3-11789B55735C}"/>
              </a:ext>
            </a:extLst>
          </p:cNvPr>
          <p:cNvSpPr>
            <a:spLocks noGrp="1"/>
          </p:cNvSpPr>
          <p:nvPr>
            <p:ph type="body" sz="quarter" idx="21"/>
          </p:nvPr>
        </p:nvSpPr>
        <p:spPr/>
        <p:txBody>
          <a:bodyPr/>
          <a:lstStyle/>
          <a:p>
            <a:pPr lvl="0"/>
            <a:r>
              <a:rPr lang="en-US" sz="800" dirty="0"/>
              <a:t>(b): </a:t>
            </a:r>
            <a:r>
              <a:rPr lang="en-US" sz="800" dirty="0" err="1"/>
              <a:t>Mikrofotograffie</a:t>
            </a:r>
            <a:r>
              <a:rPr lang="en-US" sz="800" dirty="0"/>
              <a:t>/</a:t>
            </a:r>
            <a:r>
              <a:rPr lang="en-US" sz="800" dirty="0" err="1"/>
              <a:t>Diomedia</a:t>
            </a:r>
            <a:endParaRPr lang="en-US" sz="800" dirty="0"/>
          </a:p>
        </p:txBody>
      </p:sp>
      <p:sp>
        <p:nvSpPr>
          <p:cNvPr id="4" name="Slide Number Placeholder 6">
            <a:extLst>
              <a:ext uri="{FF2B5EF4-FFF2-40B4-BE49-F238E27FC236}">
                <a16:creationId xmlns:a16="http://schemas.microsoft.com/office/drawing/2014/main" id="{DA6EAD58-D4DB-4EF4-B0E9-64DE229D897B}"/>
              </a:ext>
            </a:extLst>
          </p:cNvPr>
          <p:cNvSpPr>
            <a:spLocks noGrp="1"/>
          </p:cNvSpPr>
          <p:nvPr>
            <p:ph type="sldNum" sz="quarter" idx="4"/>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1357820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7657B-7EE3-4CB7-912B-011B6FF78179}"/>
              </a:ext>
            </a:extLst>
          </p:cNvPr>
          <p:cNvSpPr>
            <a:spLocks noGrp="1"/>
          </p:cNvSpPr>
          <p:nvPr>
            <p:ph type="title"/>
          </p:nvPr>
        </p:nvSpPr>
        <p:spPr/>
        <p:txBody>
          <a:bodyPr/>
          <a:lstStyle/>
          <a:p>
            <a:r>
              <a:rPr lang="en-US" altLang="en-US" dirty="0" err="1"/>
              <a:t>Kinetoplastids</a:t>
            </a:r>
            <a:endParaRPr lang="en-IN" dirty="0"/>
          </a:p>
        </p:txBody>
      </p:sp>
      <p:sp>
        <p:nvSpPr>
          <p:cNvPr id="3" name="Text Placeholder 2">
            <a:extLst>
              <a:ext uri="{FF2B5EF4-FFF2-40B4-BE49-F238E27FC236}">
                <a16:creationId xmlns:a16="http://schemas.microsoft.com/office/drawing/2014/main" id="{396FDE2C-D665-46C2-9BB1-E42B1E584A3C}"/>
              </a:ext>
            </a:extLst>
          </p:cNvPr>
          <p:cNvSpPr>
            <a:spLocks noGrp="1"/>
          </p:cNvSpPr>
          <p:nvPr>
            <p:ph type="body" sz="quarter" idx="19"/>
          </p:nvPr>
        </p:nvSpPr>
        <p:spPr>
          <a:xfrm>
            <a:off x="842963" y="1177180"/>
            <a:ext cx="7623676" cy="5504974"/>
          </a:xfrm>
        </p:spPr>
        <p:txBody>
          <a:bodyPr/>
          <a:lstStyle/>
          <a:p>
            <a:pPr marL="0" lvl="1" indent="0">
              <a:lnSpc>
                <a:spcPct val="80000"/>
              </a:lnSpc>
              <a:spcBef>
                <a:spcPts val="0"/>
              </a:spcBef>
              <a:buNone/>
            </a:pPr>
            <a:r>
              <a:rPr lang="en-US" sz="2400" dirty="0">
                <a:solidFill>
                  <a:prstClr val="black"/>
                </a:solidFill>
              </a:rPr>
              <a:t>Unicellular, flagellated protozoans</a:t>
            </a:r>
          </a:p>
          <a:p>
            <a:pPr marL="0" lvl="1" indent="0">
              <a:lnSpc>
                <a:spcPct val="80000"/>
              </a:lnSpc>
              <a:spcBef>
                <a:spcPts val="1200"/>
              </a:spcBef>
              <a:buNone/>
            </a:pPr>
            <a:r>
              <a:rPr lang="en-US" sz="2400" dirty="0">
                <a:solidFill>
                  <a:prstClr val="black"/>
                </a:solidFill>
              </a:rPr>
              <a:t>Named for distinctive </a:t>
            </a:r>
            <a:r>
              <a:rPr lang="en-US" sz="2400" b="1" dirty="0">
                <a:solidFill>
                  <a:prstClr val="black"/>
                </a:solidFill>
              </a:rPr>
              <a:t>kinetoplast</a:t>
            </a:r>
            <a:r>
              <a:rPr lang="en-US" sz="2400" dirty="0">
                <a:solidFill>
                  <a:prstClr val="black"/>
                </a:solidFill>
              </a:rPr>
              <a:t> (large mass of DNA located in mitochondria)</a:t>
            </a:r>
          </a:p>
          <a:p>
            <a:pPr marL="0" lvl="1" indent="0">
              <a:lnSpc>
                <a:spcPct val="80000"/>
              </a:lnSpc>
              <a:spcBef>
                <a:spcPts val="1200"/>
              </a:spcBef>
              <a:buNone/>
            </a:pPr>
            <a:r>
              <a:rPr lang="en-US" sz="2400" dirty="0">
                <a:solidFill>
                  <a:prstClr val="black"/>
                </a:solidFill>
              </a:rPr>
              <a:t>Trypanosomes are parasitic </a:t>
            </a:r>
            <a:r>
              <a:rPr lang="en-US" sz="2400" dirty="0" err="1">
                <a:solidFill>
                  <a:prstClr val="black"/>
                </a:solidFill>
              </a:rPr>
              <a:t>kinetoplastids</a:t>
            </a:r>
            <a:endParaRPr lang="en-US" sz="2400" dirty="0">
              <a:solidFill>
                <a:prstClr val="black"/>
              </a:solidFill>
            </a:endParaRPr>
          </a:p>
          <a:p>
            <a:pPr marL="363538" lvl="2" indent="-363538">
              <a:lnSpc>
                <a:spcPct val="80000"/>
              </a:lnSpc>
              <a:spcBef>
                <a:spcPts val="1200"/>
              </a:spcBef>
            </a:pPr>
            <a:r>
              <a:rPr lang="en-US" sz="2200" i="1" dirty="0">
                <a:solidFill>
                  <a:prstClr val="black"/>
                </a:solidFill>
              </a:rPr>
              <a:t>Trypanosoma brucei</a:t>
            </a:r>
            <a:r>
              <a:rPr lang="en-US" sz="2200" dirty="0">
                <a:solidFill>
                  <a:prstClr val="black"/>
                </a:solidFill>
              </a:rPr>
              <a:t> causes </a:t>
            </a:r>
            <a:r>
              <a:rPr lang="en-US" sz="2200" b="1" dirty="0">
                <a:solidFill>
                  <a:srgbClr val="D90000"/>
                </a:solidFill>
              </a:rPr>
              <a:t>African sleeping sickness</a:t>
            </a:r>
          </a:p>
          <a:p>
            <a:pPr marL="620713" lvl="3" indent="-257175">
              <a:lnSpc>
                <a:spcPct val="80000"/>
              </a:lnSpc>
              <a:spcBef>
                <a:spcPts val="1200"/>
              </a:spcBef>
            </a:pPr>
            <a:r>
              <a:rPr lang="en-US" sz="2000" dirty="0">
                <a:solidFill>
                  <a:prstClr val="black"/>
                </a:solidFill>
              </a:rPr>
              <a:t>Transmitted by the tsetse fly</a:t>
            </a:r>
          </a:p>
          <a:p>
            <a:pPr marL="620713" lvl="3" indent="-257175">
              <a:lnSpc>
                <a:spcPct val="80000"/>
              </a:lnSpc>
              <a:spcBef>
                <a:spcPts val="1200"/>
              </a:spcBef>
            </a:pPr>
            <a:r>
              <a:rPr lang="en-US" sz="2000" dirty="0">
                <a:solidFill>
                  <a:prstClr val="black"/>
                </a:solidFill>
              </a:rPr>
              <a:t>Causes lethargy due to inadequate supply of oxygen to the brain</a:t>
            </a:r>
          </a:p>
          <a:p>
            <a:pPr marL="363538" lvl="2" indent="-363538">
              <a:lnSpc>
                <a:spcPct val="80000"/>
              </a:lnSpc>
              <a:spcBef>
                <a:spcPts val="1200"/>
              </a:spcBef>
            </a:pPr>
            <a:r>
              <a:rPr lang="en-US" sz="2200" i="1" dirty="0">
                <a:solidFill>
                  <a:prstClr val="black"/>
                </a:solidFill>
              </a:rPr>
              <a:t>Trypanosoma </a:t>
            </a:r>
            <a:r>
              <a:rPr lang="en-US" sz="2200" i="1" dirty="0" err="1">
                <a:solidFill>
                  <a:prstClr val="black"/>
                </a:solidFill>
              </a:rPr>
              <a:t>cruzi</a:t>
            </a:r>
            <a:r>
              <a:rPr lang="en-US" sz="2200" i="1" dirty="0">
                <a:solidFill>
                  <a:prstClr val="black"/>
                </a:solidFill>
              </a:rPr>
              <a:t> </a:t>
            </a:r>
            <a:r>
              <a:rPr lang="en-US" sz="2200" dirty="0">
                <a:solidFill>
                  <a:prstClr val="black"/>
                </a:solidFill>
              </a:rPr>
              <a:t>causes Chagas disease</a:t>
            </a:r>
          </a:p>
        </p:txBody>
      </p:sp>
      <p:sp>
        <p:nvSpPr>
          <p:cNvPr id="4" name="Slide Number Placeholder 3">
            <a:extLst>
              <a:ext uri="{FF2B5EF4-FFF2-40B4-BE49-F238E27FC236}">
                <a16:creationId xmlns:a16="http://schemas.microsoft.com/office/drawing/2014/main" id="{6533AAC4-8392-4277-B9A9-99DC7F973AF4}"/>
              </a:ext>
            </a:extLst>
          </p:cNvPr>
          <p:cNvSpPr>
            <a:spLocks noGrp="1"/>
          </p:cNvSpPr>
          <p:nvPr>
            <p:ph type="sldNum" sz="quarter" idx="4"/>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2992536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F4E5B-6B71-4BF0-9204-0E95C42B92C1}"/>
              </a:ext>
            </a:extLst>
          </p:cNvPr>
          <p:cNvSpPr>
            <a:spLocks noGrp="1"/>
          </p:cNvSpPr>
          <p:nvPr>
            <p:ph type="title"/>
          </p:nvPr>
        </p:nvSpPr>
        <p:spPr/>
        <p:txBody>
          <a:bodyPr/>
          <a:lstStyle/>
          <a:p>
            <a:r>
              <a:rPr lang="en-US" altLang="en-US" i="1" dirty="0"/>
              <a:t>Trypanosoma brucei</a:t>
            </a:r>
            <a:endParaRPr lang="en-IN" dirty="0"/>
          </a:p>
        </p:txBody>
      </p:sp>
      <p:pic>
        <p:nvPicPr>
          <p:cNvPr id="8" name="Picture 2" descr="Micrograph and diagram of Trypanosom brucei shows disc-shaped red blood cells and curvy trypanosome with curved flagellum and undulating membrane.">
            <a:extLst>
              <a:ext uri="{FF2B5EF4-FFF2-40B4-BE49-F238E27FC236}">
                <a16:creationId xmlns:a16="http://schemas.microsoft.com/office/drawing/2014/main" id="{92DE86AD-00AB-4590-968E-D07FECE12B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3014" y="1003734"/>
            <a:ext cx="4476847" cy="4537710"/>
          </a:xfrm>
          <a:prstGeom prst="rect">
            <a:avLst/>
          </a:prstGeom>
        </p:spPr>
      </p:pic>
      <p:sp>
        <p:nvSpPr>
          <p:cNvPr id="5" name="Text Placeholder 3">
            <a:extLst>
              <a:ext uri="{FF2B5EF4-FFF2-40B4-BE49-F238E27FC236}">
                <a16:creationId xmlns:a16="http://schemas.microsoft.com/office/drawing/2014/main" id="{8B54FB15-422A-44C2-9D87-8978134BDD9D}"/>
              </a:ext>
            </a:extLst>
          </p:cNvPr>
          <p:cNvSpPr>
            <a:spLocks noGrp="1"/>
          </p:cNvSpPr>
          <p:nvPr>
            <p:ph type="body" sz="quarter" idx="18"/>
          </p:nvPr>
        </p:nvSpPr>
        <p:spPr>
          <a:xfrm>
            <a:off x="3988005" y="5839717"/>
            <a:ext cx="1166864" cy="314325"/>
          </a:xfrm>
        </p:spPr>
        <p:txBody>
          <a:bodyPr>
            <a:normAutofit/>
          </a:bodyPr>
          <a:lstStyle/>
          <a:p>
            <a:r>
              <a:rPr lang="en-US" sz="1200" dirty="0"/>
              <a:t>Figure 21.5</a:t>
            </a:r>
          </a:p>
        </p:txBody>
      </p:sp>
      <p:sp>
        <p:nvSpPr>
          <p:cNvPr id="7" name="Text Placeholder 4">
            <a:extLst>
              <a:ext uri="{FF2B5EF4-FFF2-40B4-BE49-F238E27FC236}">
                <a16:creationId xmlns:a16="http://schemas.microsoft.com/office/drawing/2014/main" id="{57E7A760-69E1-47FD-B96A-CE37056E438A}"/>
              </a:ext>
            </a:extLst>
          </p:cNvPr>
          <p:cNvSpPr>
            <a:spLocks noGrp="1"/>
          </p:cNvSpPr>
          <p:nvPr>
            <p:ph type="body" sz="quarter" idx="21"/>
          </p:nvPr>
        </p:nvSpPr>
        <p:spPr/>
        <p:txBody>
          <a:bodyPr/>
          <a:lstStyle/>
          <a:p>
            <a:r>
              <a:rPr lang="en-US" altLang="en-US" sz="800" dirty="0">
                <a:latin typeface="Arial" panose="020B0604020202020204" pitchFamily="34" charset="0"/>
                <a:ea typeface="Arial Unicode MS"/>
                <a:cs typeface="Arial" panose="020B0604020202020204" pitchFamily="34" charset="0"/>
              </a:rPr>
              <a:t>(a): Eye of Science/Science Source</a:t>
            </a:r>
          </a:p>
        </p:txBody>
      </p:sp>
      <p:sp>
        <p:nvSpPr>
          <p:cNvPr id="4" name="Slide Number Placeholder 5">
            <a:extLst>
              <a:ext uri="{FF2B5EF4-FFF2-40B4-BE49-F238E27FC236}">
                <a16:creationId xmlns:a16="http://schemas.microsoft.com/office/drawing/2014/main" id="{9DB7EF97-7502-4780-B43F-D579A576213F}"/>
              </a:ext>
            </a:extLst>
          </p:cNvPr>
          <p:cNvSpPr>
            <a:spLocks noGrp="1"/>
          </p:cNvSpPr>
          <p:nvPr>
            <p:ph type="sldNum" sz="quarter" idx="4"/>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3342690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635F3-6550-49C0-B926-2F63A94F8C26}"/>
              </a:ext>
            </a:extLst>
          </p:cNvPr>
          <p:cNvSpPr>
            <a:spLocks noGrp="1"/>
          </p:cNvSpPr>
          <p:nvPr>
            <p:ph type="title"/>
          </p:nvPr>
        </p:nvSpPr>
        <p:spPr>
          <a:xfrm>
            <a:off x="0" y="1"/>
            <a:ext cx="9144000" cy="996461"/>
          </a:xfrm>
        </p:spPr>
        <p:txBody>
          <a:bodyPr/>
          <a:lstStyle/>
          <a:p>
            <a:r>
              <a:rPr lang="en-US" altLang="en-US" dirty="0"/>
              <a:t>21.3 Supergroup Chromalveolata</a:t>
            </a:r>
            <a:endParaRPr lang="en-IN" dirty="0"/>
          </a:p>
        </p:txBody>
      </p:sp>
      <p:sp>
        <p:nvSpPr>
          <p:cNvPr id="3" name="Text Placeholder 2">
            <a:extLst>
              <a:ext uri="{FF2B5EF4-FFF2-40B4-BE49-F238E27FC236}">
                <a16:creationId xmlns:a16="http://schemas.microsoft.com/office/drawing/2014/main" id="{BF25CCD5-8DB6-47AE-A1B5-6589086861BA}"/>
              </a:ext>
            </a:extLst>
          </p:cNvPr>
          <p:cNvSpPr>
            <a:spLocks noGrp="1"/>
          </p:cNvSpPr>
          <p:nvPr>
            <p:ph type="body" sz="quarter" idx="19"/>
          </p:nvPr>
        </p:nvSpPr>
        <p:spPr>
          <a:xfrm>
            <a:off x="842963" y="1177180"/>
            <a:ext cx="7623676" cy="5680820"/>
          </a:xfrm>
        </p:spPr>
        <p:txBody>
          <a:bodyPr/>
          <a:lstStyle/>
          <a:p>
            <a:pPr lvl="0">
              <a:lnSpc>
                <a:spcPct val="80000"/>
              </a:lnSpc>
              <a:spcAft>
                <a:spcPts val="1500"/>
              </a:spcAft>
            </a:pPr>
            <a:r>
              <a:rPr lang="en-US" altLang="en-US" sz="2400" dirty="0">
                <a:solidFill>
                  <a:prstClr val="black"/>
                </a:solidFill>
              </a:rPr>
              <a:t>Chromalveolata includes two large subgroups:</a:t>
            </a:r>
          </a:p>
          <a:p>
            <a:pPr marL="1588" lvl="1" indent="0">
              <a:lnSpc>
                <a:spcPct val="80000"/>
              </a:lnSpc>
              <a:spcBef>
                <a:spcPts val="0"/>
              </a:spcBef>
              <a:spcAft>
                <a:spcPts val="1500"/>
              </a:spcAft>
              <a:buNone/>
            </a:pPr>
            <a:r>
              <a:rPr lang="en-US" altLang="en-US" sz="2200" dirty="0">
                <a:solidFill>
                  <a:prstClr val="black"/>
                </a:solidFill>
              </a:rPr>
              <a:t>Alveolates and </a:t>
            </a:r>
            <a:r>
              <a:rPr lang="en-US" altLang="en-US" sz="2200" dirty="0" err="1">
                <a:solidFill>
                  <a:prstClr val="black"/>
                </a:solidFill>
              </a:rPr>
              <a:t>Stramenopiles</a:t>
            </a:r>
            <a:endParaRPr lang="en-US" altLang="en-US" sz="2200" dirty="0">
              <a:solidFill>
                <a:prstClr val="black"/>
              </a:solidFill>
            </a:endParaRPr>
          </a:p>
          <a:p>
            <a:pPr marL="269875" lvl="2" indent="-269875">
              <a:lnSpc>
                <a:spcPct val="80000"/>
              </a:lnSpc>
              <a:spcBef>
                <a:spcPts val="0"/>
              </a:spcBef>
              <a:spcAft>
                <a:spcPts val="1500"/>
              </a:spcAft>
              <a:tabLst>
                <a:tab pos="269875" algn="l"/>
              </a:tabLst>
            </a:pPr>
            <a:r>
              <a:rPr lang="en-US" altLang="en-US" sz="2000" dirty="0">
                <a:solidFill>
                  <a:prstClr val="black"/>
                </a:solidFill>
              </a:rPr>
              <a:t>Alveolates:</a:t>
            </a:r>
          </a:p>
          <a:p>
            <a:pPr marL="539750" lvl="3" indent="-269875">
              <a:lnSpc>
                <a:spcPct val="80000"/>
              </a:lnSpc>
              <a:spcBef>
                <a:spcPts val="0"/>
              </a:spcBef>
              <a:spcAft>
                <a:spcPts val="1500"/>
              </a:spcAft>
            </a:pPr>
            <a:r>
              <a:rPr lang="en-US" altLang="en-US" sz="1800" dirty="0">
                <a:solidFill>
                  <a:prstClr val="black"/>
                </a:solidFill>
              </a:rPr>
              <a:t>Single-celled</a:t>
            </a:r>
          </a:p>
          <a:p>
            <a:pPr marL="539750" lvl="3" indent="-269875">
              <a:lnSpc>
                <a:spcPct val="80000"/>
              </a:lnSpc>
              <a:spcBef>
                <a:spcPts val="0"/>
              </a:spcBef>
              <a:spcAft>
                <a:spcPts val="1500"/>
              </a:spcAft>
            </a:pPr>
            <a:r>
              <a:rPr lang="en-US" altLang="en-US" sz="1800" dirty="0">
                <a:solidFill>
                  <a:prstClr val="black"/>
                </a:solidFill>
              </a:rPr>
              <a:t>Have small air sacs (alveoli) beneath plasma membrane</a:t>
            </a:r>
          </a:p>
          <a:p>
            <a:pPr marL="539750" lvl="3" indent="-269875">
              <a:lnSpc>
                <a:spcPct val="80000"/>
              </a:lnSpc>
              <a:spcBef>
                <a:spcPts val="0"/>
              </a:spcBef>
              <a:spcAft>
                <a:spcPts val="1500"/>
              </a:spcAft>
            </a:pPr>
            <a:r>
              <a:rPr lang="en-US" altLang="en-US" sz="1800" dirty="0">
                <a:solidFill>
                  <a:prstClr val="black"/>
                </a:solidFill>
              </a:rPr>
              <a:t>May support cell surface or aid in membrane transport</a:t>
            </a:r>
          </a:p>
          <a:p>
            <a:pPr marL="269875" lvl="2" indent="-269875">
              <a:lnSpc>
                <a:spcPct val="80000"/>
              </a:lnSpc>
              <a:spcBef>
                <a:spcPts val="0"/>
              </a:spcBef>
              <a:spcAft>
                <a:spcPts val="1500"/>
              </a:spcAft>
            </a:pPr>
            <a:r>
              <a:rPr lang="en-US" altLang="en-US" sz="2000" dirty="0">
                <a:solidFill>
                  <a:prstClr val="black"/>
                </a:solidFill>
              </a:rPr>
              <a:t>Includes:</a:t>
            </a:r>
            <a:r>
              <a:rPr lang="en-US" altLang="en-US" sz="2200" dirty="0">
                <a:solidFill>
                  <a:prstClr val="black"/>
                </a:solidFill>
              </a:rPr>
              <a:t>	</a:t>
            </a:r>
          </a:p>
          <a:p>
            <a:pPr marL="539750" lvl="3" indent="-269875">
              <a:lnSpc>
                <a:spcPct val="80000"/>
              </a:lnSpc>
              <a:spcBef>
                <a:spcPts val="0"/>
              </a:spcBef>
              <a:spcAft>
                <a:spcPts val="1500"/>
              </a:spcAft>
            </a:pPr>
            <a:r>
              <a:rPr lang="en-US" altLang="en-US" sz="1800" dirty="0">
                <a:solidFill>
                  <a:prstClr val="black"/>
                </a:solidFill>
              </a:rPr>
              <a:t>Dinoflagellates</a:t>
            </a:r>
          </a:p>
          <a:p>
            <a:pPr marL="539750" lvl="3" indent="-269875">
              <a:lnSpc>
                <a:spcPct val="80000"/>
              </a:lnSpc>
              <a:spcBef>
                <a:spcPts val="0"/>
              </a:spcBef>
              <a:spcAft>
                <a:spcPts val="1500"/>
              </a:spcAft>
            </a:pPr>
            <a:r>
              <a:rPr lang="en-US" altLang="en-US" sz="1800" dirty="0">
                <a:solidFill>
                  <a:prstClr val="black"/>
                </a:solidFill>
              </a:rPr>
              <a:t>Apicomplexans</a:t>
            </a:r>
          </a:p>
          <a:p>
            <a:pPr marL="539750" lvl="3" indent="-269875">
              <a:lnSpc>
                <a:spcPct val="80000"/>
              </a:lnSpc>
              <a:spcBef>
                <a:spcPts val="0"/>
              </a:spcBef>
              <a:spcAft>
                <a:spcPts val="1500"/>
              </a:spcAft>
            </a:pPr>
            <a:r>
              <a:rPr lang="en-US" altLang="en-US" sz="1800" dirty="0">
                <a:solidFill>
                  <a:prstClr val="black"/>
                </a:solidFill>
              </a:rPr>
              <a:t>Ciliates</a:t>
            </a:r>
          </a:p>
        </p:txBody>
      </p:sp>
      <p:sp>
        <p:nvSpPr>
          <p:cNvPr id="4" name="Slide Number Placeholder 3">
            <a:extLst>
              <a:ext uri="{FF2B5EF4-FFF2-40B4-BE49-F238E27FC236}">
                <a16:creationId xmlns:a16="http://schemas.microsoft.com/office/drawing/2014/main" id="{E4BB8559-916A-448E-B140-0830F2FA558F}"/>
              </a:ext>
            </a:extLst>
          </p:cNvPr>
          <p:cNvSpPr>
            <a:spLocks noGrp="1"/>
          </p:cNvSpPr>
          <p:nvPr>
            <p:ph type="sldNum" sz="quarter" idx="4"/>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3108822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7FA1F-7D50-4DFC-A176-A3A067EB29C0}"/>
              </a:ext>
            </a:extLst>
          </p:cNvPr>
          <p:cNvSpPr>
            <a:spLocks noGrp="1"/>
          </p:cNvSpPr>
          <p:nvPr>
            <p:ph type="title"/>
          </p:nvPr>
        </p:nvSpPr>
        <p:spPr/>
        <p:txBody>
          <a:bodyPr/>
          <a:lstStyle/>
          <a:p>
            <a:r>
              <a:rPr lang="en-US" altLang="en-US" dirty="0" err="1"/>
              <a:t>Stramenopiles</a:t>
            </a:r>
            <a:endParaRPr lang="en-IN" dirty="0"/>
          </a:p>
        </p:txBody>
      </p:sp>
      <p:sp>
        <p:nvSpPr>
          <p:cNvPr id="3" name="Text Placeholder 2">
            <a:extLst>
              <a:ext uri="{FF2B5EF4-FFF2-40B4-BE49-F238E27FC236}">
                <a16:creationId xmlns:a16="http://schemas.microsoft.com/office/drawing/2014/main" id="{D5D5C902-7AAA-4284-8E1B-400E6F99737C}"/>
              </a:ext>
            </a:extLst>
          </p:cNvPr>
          <p:cNvSpPr>
            <a:spLocks noGrp="1"/>
          </p:cNvSpPr>
          <p:nvPr>
            <p:ph type="body" sz="quarter" idx="19"/>
          </p:nvPr>
        </p:nvSpPr>
        <p:spPr>
          <a:xfrm>
            <a:off x="842963" y="1177179"/>
            <a:ext cx="7623676" cy="4930543"/>
          </a:xfrm>
        </p:spPr>
        <p:txBody>
          <a:bodyPr/>
          <a:lstStyle/>
          <a:p>
            <a:pPr marL="231775" lvl="2" indent="-231775">
              <a:lnSpc>
                <a:spcPct val="80000"/>
              </a:lnSpc>
              <a:spcBef>
                <a:spcPts val="0"/>
              </a:spcBef>
              <a:spcAft>
                <a:spcPts val="1500"/>
              </a:spcAft>
              <a:buNone/>
            </a:pPr>
            <a:r>
              <a:rPr lang="en-US" altLang="en-US" sz="2600" dirty="0">
                <a:solidFill>
                  <a:prstClr val="black"/>
                </a:solidFill>
              </a:rPr>
              <a:t>Includes:</a:t>
            </a:r>
          </a:p>
          <a:p>
            <a:pPr marL="269875" lvl="3" indent="-269875">
              <a:lnSpc>
                <a:spcPct val="80000"/>
              </a:lnSpc>
              <a:spcBef>
                <a:spcPts val="0"/>
              </a:spcBef>
              <a:spcAft>
                <a:spcPts val="1500"/>
              </a:spcAft>
            </a:pPr>
            <a:r>
              <a:rPr lang="en-US" altLang="en-US" sz="2400" dirty="0">
                <a:solidFill>
                  <a:prstClr val="black"/>
                </a:solidFill>
              </a:rPr>
              <a:t>Diatoms</a:t>
            </a:r>
          </a:p>
          <a:p>
            <a:pPr marL="269875" lvl="3" indent="-269875">
              <a:lnSpc>
                <a:spcPct val="80000"/>
              </a:lnSpc>
              <a:spcBef>
                <a:spcPts val="0"/>
              </a:spcBef>
              <a:spcAft>
                <a:spcPts val="1500"/>
              </a:spcAft>
            </a:pPr>
            <a:r>
              <a:rPr lang="en-US" altLang="en-US" sz="2400" dirty="0">
                <a:solidFill>
                  <a:prstClr val="black"/>
                </a:solidFill>
              </a:rPr>
              <a:t>Golden brown algae</a:t>
            </a:r>
          </a:p>
          <a:p>
            <a:pPr marL="269875" lvl="3" indent="-269875">
              <a:lnSpc>
                <a:spcPct val="80000"/>
              </a:lnSpc>
              <a:spcBef>
                <a:spcPts val="0"/>
              </a:spcBef>
              <a:spcAft>
                <a:spcPts val="1500"/>
              </a:spcAft>
            </a:pPr>
            <a:r>
              <a:rPr lang="en-US" altLang="en-US" sz="2400" dirty="0">
                <a:solidFill>
                  <a:prstClr val="black"/>
                </a:solidFill>
              </a:rPr>
              <a:t>Brown algae</a:t>
            </a:r>
          </a:p>
          <a:p>
            <a:pPr marL="269875" lvl="3" indent="-269875">
              <a:lnSpc>
                <a:spcPct val="80000"/>
              </a:lnSpc>
              <a:spcBef>
                <a:spcPts val="0"/>
              </a:spcBef>
              <a:spcAft>
                <a:spcPts val="1500"/>
              </a:spcAft>
            </a:pPr>
            <a:r>
              <a:rPr lang="en-US" altLang="en-US" sz="2400" dirty="0">
                <a:solidFill>
                  <a:prstClr val="black"/>
                </a:solidFill>
              </a:rPr>
              <a:t>Oomycetes</a:t>
            </a:r>
            <a:endParaRPr lang="en-US" sz="2400" dirty="0"/>
          </a:p>
        </p:txBody>
      </p:sp>
      <p:sp>
        <p:nvSpPr>
          <p:cNvPr id="4" name="Slide Number Placeholder 3">
            <a:extLst>
              <a:ext uri="{FF2B5EF4-FFF2-40B4-BE49-F238E27FC236}">
                <a16:creationId xmlns:a16="http://schemas.microsoft.com/office/drawing/2014/main" id="{7EBC7A90-943F-40C4-8863-41088D519B29}"/>
              </a:ext>
            </a:extLst>
          </p:cNvPr>
          <p:cNvSpPr>
            <a:spLocks noGrp="1"/>
          </p:cNvSpPr>
          <p:nvPr>
            <p:ph type="sldNum" sz="quarter" idx="4"/>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3256229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9A84-C89E-4E13-BCD6-138164BC1C1D}"/>
              </a:ext>
            </a:extLst>
          </p:cNvPr>
          <p:cNvSpPr>
            <a:spLocks noGrp="1"/>
          </p:cNvSpPr>
          <p:nvPr>
            <p:ph type="title"/>
          </p:nvPr>
        </p:nvSpPr>
        <p:spPr>
          <a:xfrm>
            <a:off x="0" y="1"/>
            <a:ext cx="9144000" cy="1066799"/>
          </a:xfrm>
        </p:spPr>
        <p:txBody>
          <a:bodyPr/>
          <a:lstStyle/>
          <a:p>
            <a:r>
              <a:rPr lang="en-US" altLang="en-US" dirty="0"/>
              <a:t>Dinoflagellates</a:t>
            </a:r>
            <a:endParaRPr lang="en-IN" dirty="0"/>
          </a:p>
        </p:txBody>
      </p:sp>
      <p:sp>
        <p:nvSpPr>
          <p:cNvPr id="3" name="Text Placeholder 2">
            <a:extLst>
              <a:ext uri="{FF2B5EF4-FFF2-40B4-BE49-F238E27FC236}">
                <a16:creationId xmlns:a16="http://schemas.microsoft.com/office/drawing/2014/main" id="{EDBDC23F-997F-44A4-A221-14C33C4862F6}"/>
              </a:ext>
            </a:extLst>
          </p:cNvPr>
          <p:cNvSpPr>
            <a:spLocks noGrp="1"/>
          </p:cNvSpPr>
          <p:nvPr>
            <p:ph type="body" sz="quarter" idx="19"/>
          </p:nvPr>
        </p:nvSpPr>
        <p:spPr>
          <a:xfrm>
            <a:off x="842963" y="1177179"/>
            <a:ext cx="7623676" cy="5330739"/>
          </a:xfrm>
        </p:spPr>
        <p:txBody>
          <a:bodyPr/>
          <a:lstStyle/>
          <a:p>
            <a:pPr marL="0" lvl="1" indent="0">
              <a:spcBef>
                <a:spcPts val="0"/>
              </a:spcBef>
              <a:buNone/>
            </a:pPr>
            <a:r>
              <a:rPr lang="en-US" sz="2400" dirty="0">
                <a:solidFill>
                  <a:prstClr val="black"/>
                </a:solidFill>
              </a:rPr>
              <a:t>More than 2,000 species of dinoflagellates</a:t>
            </a:r>
          </a:p>
          <a:p>
            <a:pPr marL="0" lvl="1" indent="0">
              <a:buNone/>
            </a:pPr>
            <a:r>
              <a:rPr lang="en-US" sz="2400" dirty="0">
                <a:solidFill>
                  <a:prstClr val="black"/>
                </a:solidFill>
              </a:rPr>
              <a:t>Morphology:</a:t>
            </a:r>
          </a:p>
          <a:p>
            <a:pPr marL="269875" lvl="2" indent="-269875"/>
            <a:r>
              <a:rPr lang="en-US" sz="2200" dirty="0">
                <a:solidFill>
                  <a:prstClr val="black"/>
                </a:solidFill>
              </a:rPr>
              <a:t>Single cell is usually bounded by protective cellulose plates impregnated with silicates</a:t>
            </a:r>
          </a:p>
          <a:p>
            <a:pPr marL="269875" lvl="2" indent="-269875"/>
            <a:r>
              <a:rPr lang="en-US" sz="2200" dirty="0">
                <a:solidFill>
                  <a:prstClr val="black"/>
                </a:solidFill>
              </a:rPr>
              <a:t>Typically have two flagella</a:t>
            </a:r>
          </a:p>
          <a:p>
            <a:pPr marL="539750" lvl="3" indent="-269875"/>
            <a:r>
              <a:rPr lang="en-US" sz="2000" dirty="0">
                <a:solidFill>
                  <a:prstClr val="black"/>
                </a:solidFill>
              </a:rPr>
              <a:t>One flagella acts as a rudder</a:t>
            </a:r>
          </a:p>
          <a:p>
            <a:pPr marL="539750" lvl="3" indent="-269875"/>
            <a:r>
              <a:rPr lang="en-US" sz="2000" dirty="0">
                <a:solidFill>
                  <a:prstClr val="black"/>
                </a:solidFill>
              </a:rPr>
              <a:t>The other causes the cell to spin as it moves forward</a:t>
            </a:r>
          </a:p>
        </p:txBody>
      </p:sp>
      <p:sp>
        <p:nvSpPr>
          <p:cNvPr id="4" name="Slide Number Placeholder 3">
            <a:extLst>
              <a:ext uri="{FF2B5EF4-FFF2-40B4-BE49-F238E27FC236}">
                <a16:creationId xmlns:a16="http://schemas.microsoft.com/office/drawing/2014/main" id="{6F8D5F49-33E8-4C0C-AF4A-25021A771CE4}"/>
              </a:ext>
            </a:extLst>
          </p:cNvPr>
          <p:cNvSpPr>
            <a:spLocks noGrp="1"/>
          </p:cNvSpPr>
          <p:nvPr>
            <p:ph type="sldNum" sz="quarter" idx="4"/>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2907920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BE998-BA7E-4282-BA9B-72030F8B9F86}"/>
              </a:ext>
            </a:extLst>
          </p:cNvPr>
          <p:cNvSpPr>
            <a:spLocks noGrp="1"/>
          </p:cNvSpPr>
          <p:nvPr>
            <p:ph type="title"/>
          </p:nvPr>
        </p:nvSpPr>
        <p:spPr>
          <a:xfrm>
            <a:off x="0" y="1"/>
            <a:ext cx="9144000" cy="1177179"/>
          </a:xfrm>
        </p:spPr>
        <p:txBody>
          <a:bodyPr/>
          <a:lstStyle/>
          <a:p>
            <a:pPr>
              <a:lnSpc>
                <a:spcPct val="100000"/>
              </a:lnSpc>
            </a:pPr>
            <a:r>
              <a:rPr lang="en-US" altLang="en-US" sz="3600" kern="0" dirty="0"/>
              <a:t>Dinoflagellate Features</a:t>
            </a:r>
            <a:endParaRPr lang="en-US" sz="3600" kern="0" dirty="0"/>
          </a:p>
        </p:txBody>
      </p:sp>
      <p:sp>
        <p:nvSpPr>
          <p:cNvPr id="3" name="Text Placeholder 2">
            <a:extLst>
              <a:ext uri="{FF2B5EF4-FFF2-40B4-BE49-F238E27FC236}">
                <a16:creationId xmlns:a16="http://schemas.microsoft.com/office/drawing/2014/main" id="{014EEF92-84BE-422A-A620-5B3398B9D55B}"/>
              </a:ext>
            </a:extLst>
          </p:cNvPr>
          <p:cNvSpPr>
            <a:spLocks noGrp="1"/>
          </p:cNvSpPr>
          <p:nvPr>
            <p:ph type="body" sz="quarter" idx="19"/>
          </p:nvPr>
        </p:nvSpPr>
        <p:spPr>
          <a:xfrm>
            <a:off x="842963" y="1177180"/>
            <a:ext cx="7623676" cy="5645064"/>
          </a:xfrm>
        </p:spPr>
        <p:txBody>
          <a:bodyPr/>
          <a:lstStyle/>
          <a:p>
            <a:pPr marL="0" lvl="1" indent="0">
              <a:spcBef>
                <a:spcPts val="0"/>
              </a:spcBef>
              <a:buNone/>
            </a:pPr>
            <a:r>
              <a:rPr lang="en-US" sz="2400" dirty="0">
                <a:solidFill>
                  <a:prstClr val="black"/>
                </a:solidFill>
              </a:rPr>
              <a:t>Endosymbiotic dinoflagellates called zooxanthellae are found in corals</a:t>
            </a:r>
          </a:p>
          <a:p>
            <a:pPr marL="269875" lvl="2" indent="-269875">
              <a:spcBef>
                <a:spcPts val="1200"/>
              </a:spcBef>
            </a:pPr>
            <a:r>
              <a:rPr lang="en-US" sz="2200" dirty="0">
                <a:solidFill>
                  <a:prstClr val="black"/>
                </a:solidFill>
              </a:rPr>
              <a:t>Dinoflagellates provide their host with organic nutrients</a:t>
            </a:r>
          </a:p>
          <a:p>
            <a:pPr marL="269875" lvl="2" indent="-269875">
              <a:spcBef>
                <a:spcPts val="1200"/>
              </a:spcBef>
            </a:pPr>
            <a:r>
              <a:rPr lang="en-US" sz="2200" dirty="0">
                <a:solidFill>
                  <a:prstClr val="black"/>
                </a:solidFill>
              </a:rPr>
              <a:t>Corals provide shelter, nutrients, and protection</a:t>
            </a:r>
          </a:p>
          <a:p>
            <a:pPr marL="0" lvl="1" indent="0">
              <a:spcBef>
                <a:spcPts val="1200"/>
              </a:spcBef>
              <a:buNone/>
            </a:pPr>
            <a:r>
              <a:rPr lang="en-US" sz="2400" i="1" dirty="0" err="1">
                <a:solidFill>
                  <a:prstClr val="black"/>
                </a:solidFill>
              </a:rPr>
              <a:t>Alexandrium</a:t>
            </a:r>
            <a:r>
              <a:rPr lang="en-US" sz="2400" i="1" dirty="0">
                <a:solidFill>
                  <a:prstClr val="black"/>
                </a:solidFill>
              </a:rPr>
              <a:t> </a:t>
            </a:r>
            <a:r>
              <a:rPr lang="en-US" sz="2400" i="1" dirty="0" err="1">
                <a:solidFill>
                  <a:prstClr val="black"/>
                </a:solidFill>
              </a:rPr>
              <a:t>catanella</a:t>
            </a:r>
            <a:r>
              <a:rPr lang="en-US" sz="2400" i="1" dirty="0">
                <a:solidFill>
                  <a:prstClr val="black"/>
                </a:solidFill>
              </a:rPr>
              <a:t> </a:t>
            </a:r>
            <a:r>
              <a:rPr lang="en-US" sz="2400" dirty="0">
                <a:solidFill>
                  <a:prstClr val="black"/>
                </a:solidFill>
              </a:rPr>
              <a:t>can cause </a:t>
            </a:r>
            <a:r>
              <a:rPr lang="en-US" sz="2400" b="1" dirty="0">
                <a:solidFill>
                  <a:srgbClr val="D90000"/>
                </a:solidFill>
              </a:rPr>
              <a:t>red tide</a:t>
            </a:r>
            <a:endParaRPr lang="en-US" sz="2400" dirty="0">
              <a:solidFill>
                <a:srgbClr val="D90000"/>
              </a:solidFill>
            </a:endParaRPr>
          </a:p>
          <a:p>
            <a:pPr marL="269875" lvl="2" indent="-269875">
              <a:spcBef>
                <a:spcPts val="1200"/>
              </a:spcBef>
            </a:pPr>
            <a:r>
              <a:rPr lang="en-US" sz="2200" dirty="0">
                <a:solidFill>
                  <a:prstClr val="black"/>
                </a:solidFill>
              </a:rPr>
              <a:t>Produce a powerful neurotoxin that causes massive fish kills </a:t>
            </a:r>
          </a:p>
          <a:p>
            <a:pPr marL="269875" lvl="2" indent="-269875">
              <a:spcBef>
                <a:spcPts val="1200"/>
              </a:spcBef>
            </a:pPr>
            <a:r>
              <a:rPr lang="en-US" sz="2200" dirty="0">
                <a:solidFill>
                  <a:prstClr val="black"/>
                </a:solidFill>
              </a:rPr>
              <a:t>Consuming shellfish during outbreak can cause respiratory paralysis in humans</a:t>
            </a:r>
          </a:p>
        </p:txBody>
      </p:sp>
      <p:sp>
        <p:nvSpPr>
          <p:cNvPr id="4" name="Slide Number Placeholder 3">
            <a:extLst>
              <a:ext uri="{FF2B5EF4-FFF2-40B4-BE49-F238E27FC236}">
                <a16:creationId xmlns:a16="http://schemas.microsoft.com/office/drawing/2014/main" id="{A84007F2-CFD1-4715-AB48-D6AF2D85224E}"/>
              </a:ext>
            </a:extLst>
          </p:cNvPr>
          <p:cNvSpPr>
            <a:spLocks noGrp="1"/>
          </p:cNvSpPr>
          <p:nvPr>
            <p:ph type="sldNum" sz="quarter" idx="4"/>
          </p:nvPr>
        </p:nvSpPr>
        <p:spPr/>
        <p:txBody>
          <a:bodyPr/>
          <a:lstStyle/>
          <a:p>
            <a:fld id="{68151E55-6873-49E2-B8D5-2F265E6F1973}" type="slidenum">
              <a:rPr lang="en-US" smtClean="0"/>
              <a:pPr/>
              <a:t>23</a:t>
            </a:fld>
            <a:endParaRPr lang="en-US" dirty="0"/>
          </a:p>
        </p:txBody>
      </p:sp>
    </p:spTree>
    <p:extLst>
      <p:ext uri="{BB962C8B-B14F-4D97-AF65-F5344CB8AC3E}">
        <p14:creationId xmlns:p14="http://schemas.microsoft.com/office/powerpoint/2010/main" val="1514959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3A140-178B-403E-9CD0-D075F41592BF}"/>
              </a:ext>
            </a:extLst>
          </p:cNvPr>
          <p:cNvSpPr>
            <a:spLocks noGrp="1"/>
          </p:cNvSpPr>
          <p:nvPr>
            <p:ph type="title"/>
          </p:nvPr>
        </p:nvSpPr>
        <p:spPr/>
        <p:txBody>
          <a:bodyPr/>
          <a:lstStyle/>
          <a:p>
            <a:r>
              <a:rPr lang="en-US" dirty="0"/>
              <a:t>A Typical Dinoflagellate</a:t>
            </a:r>
            <a:endParaRPr lang="en-IN" dirty="0"/>
          </a:p>
        </p:txBody>
      </p:sp>
      <p:pic>
        <p:nvPicPr>
          <p:cNvPr id="6" name="Picture 2" descr="Micrograph and diagram of dinoflagellate shows ovular, textured and cracked cellulose plate and elongated flagella across and outside the cracks.">
            <a:extLst>
              <a:ext uri="{FF2B5EF4-FFF2-40B4-BE49-F238E27FC236}">
                <a16:creationId xmlns:a16="http://schemas.microsoft.com/office/drawing/2014/main" id="{96F4C4E1-B24F-41D4-A346-C03C3DFFA0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712" y="1149796"/>
            <a:ext cx="7500573" cy="4558407"/>
          </a:xfrm>
          <a:prstGeom prst="rect">
            <a:avLst/>
          </a:prstGeom>
        </p:spPr>
      </p:pic>
      <p:sp>
        <p:nvSpPr>
          <p:cNvPr id="3" name="Text Placeholder 3">
            <a:extLst>
              <a:ext uri="{FF2B5EF4-FFF2-40B4-BE49-F238E27FC236}">
                <a16:creationId xmlns:a16="http://schemas.microsoft.com/office/drawing/2014/main" id="{052D9F57-945A-4BBB-B44A-B289FD90C95D}"/>
              </a:ext>
            </a:extLst>
          </p:cNvPr>
          <p:cNvSpPr>
            <a:spLocks noGrp="1"/>
          </p:cNvSpPr>
          <p:nvPr>
            <p:ph type="body" sz="quarter" idx="19"/>
          </p:nvPr>
        </p:nvSpPr>
        <p:spPr>
          <a:xfrm>
            <a:off x="4014604" y="6100872"/>
            <a:ext cx="1114791" cy="314325"/>
          </a:xfrm>
        </p:spPr>
        <p:txBody>
          <a:bodyPr>
            <a:normAutofit/>
          </a:bodyPr>
          <a:lstStyle/>
          <a:p>
            <a:r>
              <a:rPr lang="en-US" sz="1200" dirty="0"/>
              <a:t>Figure 21.6</a:t>
            </a:r>
          </a:p>
        </p:txBody>
      </p:sp>
      <p:sp>
        <p:nvSpPr>
          <p:cNvPr id="4" name="Slide Number Placeholder 4">
            <a:extLst>
              <a:ext uri="{FF2B5EF4-FFF2-40B4-BE49-F238E27FC236}">
                <a16:creationId xmlns:a16="http://schemas.microsoft.com/office/drawing/2014/main" id="{C10BA3AD-F9A3-49BD-B87F-42BF6BBBB76B}"/>
              </a:ext>
            </a:extLst>
          </p:cNvPr>
          <p:cNvSpPr>
            <a:spLocks noGrp="1"/>
          </p:cNvSpPr>
          <p:nvPr>
            <p:ph type="sldNum" sz="quarter" idx="4"/>
          </p:nvPr>
        </p:nvSpPr>
        <p:spPr/>
        <p:txBody>
          <a:bodyPr/>
          <a:lstStyle/>
          <a:p>
            <a:fld id="{68151E55-6873-49E2-B8D5-2F265E6F1973}" type="slidenum">
              <a:rPr lang="en-US" smtClean="0"/>
              <a:pPr/>
              <a:t>24</a:t>
            </a:fld>
            <a:endParaRPr lang="en-US" dirty="0"/>
          </a:p>
        </p:txBody>
      </p:sp>
    </p:spTree>
    <p:extLst>
      <p:ext uri="{BB962C8B-B14F-4D97-AF65-F5344CB8AC3E}">
        <p14:creationId xmlns:p14="http://schemas.microsoft.com/office/powerpoint/2010/main" val="3023078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49585-BC99-4011-8E7A-D27D0F8A7106}"/>
              </a:ext>
            </a:extLst>
          </p:cNvPr>
          <p:cNvSpPr>
            <a:spLocks noGrp="1"/>
          </p:cNvSpPr>
          <p:nvPr>
            <p:ph type="title"/>
          </p:nvPr>
        </p:nvSpPr>
        <p:spPr>
          <a:xfrm>
            <a:off x="0" y="1"/>
            <a:ext cx="9144000" cy="1173479"/>
          </a:xfrm>
        </p:spPr>
        <p:txBody>
          <a:bodyPr/>
          <a:lstStyle/>
          <a:p>
            <a:r>
              <a:rPr lang="en-US" altLang="en-US" sz="3600" dirty="0"/>
              <a:t>Dinoflagellate Bloom and Fish Kill</a:t>
            </a:r>
            <a:endParaRPr lang="en-IN" sz="3600" dirty="0"/>
          </a:p>
        </p:txBody>
      </p:sp>
      <p:pic>
        <p:nvPicPr>
          <p:cNvPr id="7" name="Picture 2" descr="A) Large dinoflagellate blooms tide reflecting red color on the surface. B) Bodies of big fishes around the shore covered in waste.">
            <a:extLst>
              <a:ext uri="{FF2B5EF4-FFF2-40B4-BE49-F238E27FC236}">
                <a16:creationId xmlns:a16="http://schemas.microsoft.com/office/drawing/2014/main" id="{17F6C082-280B-44CA-B746-BD71796C0D6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286" b="3442"/>
          <a:stretch/>
        </p:blipFill>
        <p:spPr bwMode="auto">
          <a:xfrm>
            <a:off x="271604" y="1758462"/>
            <a:ext cx="8600792" cy="3926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3">
            <a:extLst>
              <a:ext uri="{FF2B5EF4-FFF2-40B4-BE49-F238E27FC236}">
                <a16:creationId xmlns:a16="http://schemas.microsoft.com/office/drawing/2014/main" id="{2EB9AD7D-B699-44B4-B0C2-96A175D0CF52}"/>
              </a:ext>
            </a:extLst>
          </p:cNvPr>
          <p:cNvSpPr>
            <a:spLocks noGrp="1"/>
          </p:cNvSpPr>
          <p:nvPr>
            <p:ph type="body" sz="quarter" idx="18"/>
          </p:nvPr>
        </p:nvSpPr>
        <p:spPr>
          <a:xfrm>
            <a:off x="3958698" y="5955177"/>
            <a:ext cx="1225479" cy="314325"/>
          </a:xfrm>
        </p:spPr>
        <p:txBody>
          <a:bodyPr>
            <a:normAutofit/>
          </a:bodyPr>
          <a:lstStyle/>
          <a:p>
            <a:r>
              <a:rPr lang="en-US" sz="1200" dirty="0"/>
              <a:t>Figure 21.7</a:t>
            </a:r>
          </a:p>
        </p:txBody>
      </p:sp>
      <p:sp>
        <p:nvSpPr>
          <p:cNvPr id="6" name="Text Placeholder 4">
            <a:extLst>
              <a:ext uri="{FF2B5EF4-FFF2-40B4-BE49-F238E27FC236}">
                <a16:creationId xmlns:a16="http://schemas.microsoft.com/office/drawing/2014/main" id="{85D681CF-FD72-4343-B501-50CDAF4A244C}"/>
              </a:ext>
            </a:extLst>
          </p:cNvPr>
          <p:cNvSpPr>
            <a:spLocks noGrp="1"/>
          </p:cNvSpPr>
          <p:nvPr>
            <p:ph type="body" sz="quarter" idx="21"/>
          </p:nvPr>
        </p:nvSpPr>
        <p:spPr/>
        <p:txBody>
          <a:bodyPr/>
          <a:lstStyle/>
          <a:p>
            <a:pPr lvl="0">
              <a:spcBef>
                <a:spcPct val="0"/>
              </a:spcBef>
            </a:pPr>
            <a:r>
              <a:rPr lang="en-US" sz="800" dirty="0">
                <a:solidFill>
                  <a:prstClr val="black"/>
                </a:solidFill>
                <a:cs typeface="Arial" panose="020B0604020202020204" pitchFamily="34" charset="0"/>
              </a:rPr>
              <a:t>(a): Jeff </a:t>
            </a:r>
            <a:r>
              <a:rPr lang="en-US" sz="800" dirty="0" err="1">
                <a:solidFill>
                  <a:prstClr val="black"/>
                </a:solidFill>
                <a:cs typeface="Arial" panose="020B0604020202020204" pitchFamily="34" charset="0"/>
              </a:rPr>
              <a:t>Foott</a:t>
            </a:r>
            <a:r>
              <a:rPr lang="en-US" sz="800" dirty="0">
                <a:solidFill>
                  <a:prstClr val="black"/>
                </a:solidFill>
                <a:cs typeface="Arial" panose="020B0604020202020204" pitchFamily="34" charset="0"/>
              </a:rPr>
              <a:t>/Discovery Channel Images/Getty Images; (b): Corpus Christi Caller-Times, Todd Yates/AP Images</a:t>
            </a:r>
          </a:p>
        </p:txBody>
      </p:sp>
      <p:sp>
        <p:nvSpPr>
          <p:cNvPr id="4" name="Slide Number Placeholder 5">
            <a:extLst>
              <a:ext uri="{FF2B5EF4-FFF2-40B4-BE49-F238E27FC236}">
                <a16:creationId xmlns:a16="http://schemas.microsoft.com/office/drawing/2014/main" id="{29E123CD-78C3-4EA3-975F-7FEA74A24FDC}"/>
              </a:ext>
            </a:extLst>
          </p:cNvPr>
          <p:cNvSpPr>
            <a:spLocks noGrp="1"/>
          </p:cNvSpPr>
          <p:nvPr>
            <p:ph type="sldNum" sz="quarter" idx="4"/>
          </p:nvPr>
        </p:nvSpPr>
        <p:spPr/>
        <p:txBody>
          <a:bodyPr/>
          <a:lstStyle/>
          <a:p>
            <a:fld id="{68151E55-6873-49E2-B8D5-2F265E6F1973}" type="slidenum">
              <a:rPr lang="en-US" smtClean="0"/>
              <a:pPr/>
              <a:t>25</a:t>
            </a:fld>
            <a:endParaRPr lang="en-US" dirty="0"/>
          </a:p>
        </p:txBody>
      </p:sp>
    </p:spTree>
    <p:extLst>
      <p:ext uri="{BB962C8B-B14F-4D97-AF65-F5344CB8AC3E}">
        <p14:creationId xmlns:p14="http://schemas.microsoft.com/office/powerpoint/2010/main" val="1164542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44C17-7FFA-461A-9A51-1BE325D94D08}"/>
              </a:ext>
            </a:extLst>
          </p:cNvPr>
          <p:cNvSpPr>
            <a:spLocks noGrp="1"/>
          </p:cNvSpPr>
          <p:nvPr>
            <p:ph type="title"/>
          </p:nvPr>
        </p:nvSpPr>
        <p:spPr/>
        <p:txBody>
          <a:bodyPr/>
          <a:lstStyle/>
          <a:p>
            <a:r>
              <a:rPr lang="en-US" altLang="en-US" kern="0" dirty="0"/>
              <a:t>Apicomplexans</a:t>
            </a:r>
            <a:endParaRPr lang="en-IN" dirty="0"/>
          </a:p>
        </p:txBody>
      </p:sp>
      <p:sp>
        <p:nvSpPr>
          <p:cNvPr id="3" name="Text Placeholder 2">
            <a:extLst>
              <a:ext uri="{FF2B5EF4-FFF2-40B4-BE49-F238E27FC236}">
                <a16:creationId xmlns:a16="http://schemas.microsoft.com/office/drawing/2014/main" id="{CE4EB370-80EE-49D5-B32C-CD64B7FA5746}"/>
              </a:ext>
            </a:extLst>
          </p:cNvPr>
          <p:cNvSpPr>
            <a:spLocks noGrp="1"/>
          </p:cNvSpPr>
          <p:nvPr>
            <p:ph type="body" sz="quarter" idx="19"/>
          </p:nvPr>
        </p:nvSpPr>
        <p:spPr>
          <a:xfrm>
            <a:off x="842963" y="1177180"/>
            <a:ext cx="7623676" cy="5645064"/>
          </a:xfrm>
        </p:spPr>
        <p:txBody>
          <a:bodyPr/>
          <a:lstStyle/>
          <a:p>
            <a:pPr marL="0" lvl="1" indent="0">
              <a:spcBef>
                <a:spcPts val="0"/>
              </a:spcBef>
              <a:buNone/>
            </a:pPr>
            <a:r>
              <a:rPr lang="en-US" sz="2200" dirty="0">
                <a:solidFill>
                  <a:prstClr val="black"/>
                </a:solidFill>
              </a:rPr>
              <a:t>Also known as </a:t>
            </a:r>
            <a:r>
              <a:rPr lang="en-US" sz="2200" b="1" dirty="0">
                <a:solidFill>
                  <a:prstClr val="black"/>
                </a:solidFill>
              </a:rPr>
              <a:t>sporozoans</a:t>
            </a:r>
            <a:endParaRPr lang="en-US" sz="2200" dirty="0">
              <a:solidFill>
                <a:prstClr val="black"/>
              </a:solidFill>
            </a:endParaRPr>
          </a:p>
          <a:p>
            <a:pPr marL="0" lvl="1" indent="0">
              <a:spcBef>
                <a:spcPts val="0"/>
              </a:spcBef>
              <a:buNone/>
            </a:pPr>
            <a:r>
              <a:rPr lang="en-US" sz="2200" dirty="0">
                <a:solidFill>
                  <a:prstClr val="black"/>
                </a:solidFill>
              </a:rPr>
              <a:t>Non-motile, spore-forming, parasites of animals</a:t>
            </a:r>
          </a:p>
          <a:p>
            <a:pPr marL="0" lvl="1" indent="0">
              <a:spcBef>
                <a:spcPts val="0"/>
              </a:spcBef>
              <a:buNone/>
            </a:pPr>
            <a:r>
              <a:rPr lang="en-US" sz="2200" dirty="0">
                <a:solidFill>
                  <a:prstClr val="black"/>
                </a:solidFill>
              </a:rPr>
              <a:t>Unique organelle called </a:t>
            </a:r>
            <a:r>
              <a:rPr lang="en-US" sz="2200" dirty="0" err="1">
                <a:solidFill>
                  <a:prstClr val="black"/>
                </a:solidFill>
              </a:rPr>
              <a:t>apicoplast</a:t>
            </a:r>
            <a:endParaRPr lang="en-US" dirty="0">
              <a:solidFill>
                <a:prstClr val="black"/>
              </a:solidFill>
            </a:endParaRPr>
          </a:p>
          <a:p>
            <a:pPr marL="269875" lvl="2" indent="-269875">
              <a:lnSpc>
                <a:spcPct val="70000"/>
              </a:lnSpc>
              <a:spcBef>
                <a:spcPts val="1200"/>
              </a:spcBef>
            </a:pPr>
            <a:r>
              <a:rPr lang="en-US" sz="2000" dirty="0">
                <a:solidFill>
                  <a:prstClr val="black"/>
                </a:solidFill>
              </a:rPr>
              <a:t>Used to penetrate host cell</a:t>
            </a:r>
          </a:p>
          <a:p>
            <a:pPr marL="0" lvl="1" indent="0">
              <a:lnSpc>
                <a:spcPct val="90000"/>
              </a:lnSpc>
              <a:spcBef>
                <a:spcPts val="1200"/>
              </a:spcBef>
              <a:buNone/>
            </a:pPr>
            <a:r>
              <a:rPr lang="en-US" sz="2200" dirty="0">
                <a:solidFill>
                  <a:prstClr val="black"/>
                </a:solidFill>
              </a:rPr>
              <a:t>Most serious parasitic disease of humans is malaria</a:t>
            </a:r>
          </a:p>
          <a:p>
            <a:pPr marL="269875" lvl="2" indent="-269875">
              <a:lnSpc>
                <a:spcPct val="90000"/>
              </a:lnSpc>
              <a:spcBef>
                <a:spcPts val="1200"/>
              </a:spcBef>
            </a:pPr>
            <a:r>
              <a:rPr lang="en-US" sz="2000" i="1" dirty="0">
                <a:solidFill>
                  <a:prstClr val="black"/>
                </a:solidFill>
              </a:rPr>
              <a:t>Plasmodium</a:t>
            </a:r>
            <a:r>
              <a:rPr lang="en-US" sz="2000" dirty="0">
                <a:solidFill>
                  <a:prstClr val="black"/>
                </a:solidFill>
              </a:rPr>
              <a:t> </a:t>
            </a:r>
            <a:r>
              <a:rPr lang="en-US" sz="2000" dirty="0" err="1">
                <a:solidFill>
                  <a:prstClr val="black"/>
                </a:solidFill>
              </a:rPr>
              <a:t>spp</a:t>
            </a:r>
            <a:endParaRPr lang="en-US" sz="2000" dirty="0">
              <a:solidFill>
                <a:prstClr val="black"/>
              </a:solidFill>
            </a:endParaRPr>
          </a:p>
          <a:p>
            <a:pPr marL="539750" lvl="3" indent="-269875">
              <a:lnSpc>
                <a:spcPct val="90000"/>
              </a:lnSpc>
              <a:spcBef>
                <a:spcPts val="1200"/>
              </a:spcBef>
            </a:pPr>
            <a:r>
              <a:rPr lang="en-US" sz="1800" dirty="0">
                <a:solidFill>
                  <a:prstClr val="black"/>
                </a:solidFill>
              </a:rPr>
              <a:t>Affects 200 million people each year, of whom more than 500,000 die of the infection</a:t>
            </a:r>
          </a:p>
          <a:p>
            <a:pPr marL="539750" lvl="3" indent="-269875">
              <a:lnSpc>
                <a:spcPct val="90000"/>
              </a:lnSpc>
              <a:spcBef>
                <a:spcPts val="1200"/>
              </a:spcBef>
            </a:pPr>
            <a:r>
              <a:rPr lang="en-US" sz="1800" dirty="0">
                <a:solidFill>
                  <a:prstClr val="black"/>
                </a:solidFill>
              </a:rPr>
              <a:t>Transmitted by mosquito and infects blood cells</a:t>
            </a:r>
          </a:p>
          <a:p>
            <a:pPr marL="539750" lvl="3" indent="-269875">
              <a:lnSpc>
                <a:spcPct val="90000"/>
              </a:lnSpc>
              <a:spcBef>
                <a:spcPts val="1200"/>
              </a:spcBef>
            </a:pPr>
            <a:r>
              <a:rPr lang="en-US" sz="1800" dirty="0">
                <a:solidFill>
                  <a:prstClr val="black"/>
                </a:solidFill>
              </a:rPr>
              <a:t>Most common in densely populated, tropical areas of the globe</a:t>
            </a:r>
          </a:p>
        </p:txBody>
      </p:sp>
      <p:sp>
        <p:nvSpPr>
          <p:cNvPr id="4" name="Slide Number Placeholder 3">
            <a:extLst>
              <a:ext uri="{FF2B5EF4-FFF2-40B4-BE49-F238E27FC236}">
                <a16:creationId xmlns:a16="http://schemas.microsoft.com/office/drawing/2014/main" id="{60D8EE9B-13BE-4226-8B94-9F67AE4BFDEF}"/>
              </a:ext>
            </a:extLst>
          </p:cNvPr>
          <p:cNvSpPr>
            <a:spLocks noGrp="1"/>
          </p:cNvSpPr>
          <p:nvPr>
            <p:ph type="sldNum" sz="quarter" idx="4"/>
          </p:nvPr>
        </p:nvSpPr>
        <p:spPr/>
        <p:txBody>
          <a:bodyPr/>
          <a:lstStyle/>
          <a:p>
            <a:fld id="{68151E55-6873-49E2-B8D5-2F265E6F1973}" type="slidenum">
              <a:rPr lang="en-US" smtClean="0"/>
              <a:pPr/>
              <a:t>26</a:t>
            </a:fld>
            <a:endParaRPr lang="en-US" dirty="0"/>
          </a:p>
        </p:txBody>
      </p:sp>
    </p:spTree>
    <p:extLst>
      <p:ext uri="{BB962C8B-B14F-4D97-AF65-F5344CB8AC3E}">
        <p14:creationId xmlns:p14="http://schemas.microsoft.com/office/powerpoint/2010/main" val="18816899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F6D07-5F29-41AC-BA40-322419878DC0}"/>
              </a:ext>
            </a:extLst>
          </p:cNvPr>
          <p:cNvSpPr>
            <a:spLocks noGrp="1"/>
          </p:cNvSpPr>
          <p:nvPr>
            <p:ph type="title"/>
          </p:nvPr>
        </p:nvSpPr>
        <p:spPr>
          <a:xfrm>
            <a:off x="0" y="1"/>
            <a:ext cx="9144000" cy="1137137"/>
          </a:xfrm>
        </p:spPr>
        <p:txBody>
          <a:bodyPr/>
          <a:lstStyle/>
          <a:p>
            <a:r>
              <a:rPr lang="en-US" altLang="en-US" dirty="0"/>
              <a:t>Life Cycle of </a:t>
            </a:r>
            <a:r>
              <a:rPr lang="en-US" altLang="en-US" i="1" dirty="0"/>
              <a:t>Plasmodium vivax</a:t>
            </a:r>
            <a:endParaRPr lang="en-IN" dirty="0"/>
          </a:p>
        </p:txBody>
      </p:sp>
      <p:pic>
        <p:nvPicPr>
          <p:cNvPr id="7" name="Picture 2" descr="Details the reproductive life cycle of Plasmodium vivax in mosquito and humans">
            <a:extLst>
              <a:ext uri="{FF2B5EF4-FFF2-40B4-BE49-F238E27FC236}">
                <a16:creationId xmlns:a16="http://schemas.microsoft.com/office/drawing/2014/main" id="{C9353D40-97FA-440B-BA71-1BA5061C3F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5797" y="1081087"/>
            <a:ext cx="6292406" cy="4695825"/>
          </a:xfrm>
          <a:prstGeom prst="rect">
            <a:avLst/>
          </a:prstGeom>
        </p:spPr>
      </p:pic>
      <p:sp>
        <p:nvSpPr>
          <p:cNvPr id="5" name="Text Placeholder 3">
            <a:extLst>
              <a:ext uri="{FF2B5EF4-FFF2-40B4-BE49-F238E27FC236}">
                <a16:creationId xmlns:a16="http://schemas.microsoft.com/office/drawing/2014/main" id="{FC987FF5-F9AA-4895-BB89-EE2792BB6B0D}"/>
              </a:ext>
            </a:extLst>
          </p:cNvPr>
          <p:cNvSpPr>
            <a:spLocks noGrp="1"/>
          </p:cNvSpPr>
          <p:nvPr>
            <p:ph type="body" sz="quarter" idx="18"/>
          </p:nvPr>
        </p:nvSpPr>
        <p:spPr>
          <a:xfrm>
            <a:off x="3952835" y="5879269"/>
            <a:ext cx="1237203" cy="314325"/>
          </a:xfrm>
        </p:spPr>
        <p:txBody>
          <a:bodyPr>
            <a:normAutofit/>
          </a:bodyPr>
          <a:lstStyle/>
          <a:p>
            <a:r>
              <a:rPr lang="en-US" sz="1200" dirty="0"/>
              <a:t>Figure 21.8</a:t>
            </a:r>
          </a:p>
        </p:txBody>
      </p:sp>
      <p:sp>
        <p:nvSpPr>
          <p:cNvPr id="6" name="Text Placeholder 4">
            <a:extLst>
              <a:ext uri="{FF2B5EF4-FFF2-40B4-BE49-F238E27FC236}">
                <a16:creationId xmlns:a16="http://schemas.microsoft.com/office/drawing/2014/main" id="{E187C2F8-C13B-471E-B45D-34999CF8E1DD}"/>
              </a:ext>
            </a:extLst>
          </p:cNvPr>
          <p:cNvSpPr>
            <a:spLocks noGrp="1"/>
          </p:cNvSpPr>
          <p:nvPr>
            <p:ph type="body" sz="quarter" idx="19"/>
          </p:nvPr>
        </p:nvSpPr>
        <p:spPr>
          <a:xfrm>
            <a:off x="2964826" y="6193594"/>
            <a:ext cx="3213222" cy="314325"/>
          </a:xfrm>
        </p:spPr>
        <p:txBody>
          <a:bodyPr>
            <a:normAutofit/>
          </a:bodyPr>
          <a:lstStyle/>
          <a:p>
            <a:r>
              <a:rPr lang="en-US" sz="1200" dirty="0">
                <a:hlinkClick r:id="rId3" action="ppaction://hlinksldjump"/>
              </a:rPr>
              <a:t>Access the text alternative for slide images.</a:t>
            </a:r>
            <a:endParaRPr lang="en-IN" sz="1200" dirty="0"/>
          </a:p>
        </p:txBody>
      </p:sp>
      <p:sp>
        <p:nvSpPr>
          <p:cNvPr id="4" name="Slide Number Placeholder 5">
            <a:extLst>
              <a:ext uri="{FF2B5EF4-FFF2-40B4-BE49-F238E27FC236}">
                <a16:creationId xmlns:a16="http://schemas.microsoft.com/office/drawing/2014/main" id="{44A6936E-5BB8-430E-9886-151988CE576D}"/>
              </a:ext>
            </a:extLst>
          </p:cNvPr>
          <p:cNvSpPr>
            <a:spLocks noGrp="1"/>
          </p:cNvSpPr>
          <p:nvPr>
            <p:ph type="sldNum" sz="quarter" idx="4"/>
          </p:nvPr>
        </p:nvSpPr>
        <p:spPr/>
        <p:txBody>
          <a:bodyPr/>
          <a:lstStyle/>
          <a:p>
            <a:fld id="{68151E55-6873-49E2-B8D5-2F265E6F1973}" type="slidenum">
              <a:rPr lang="en-US" smtClean="0"/>
              <a:pPr/>
              <a:t>27</a:t>
            </a:fld>
            <a:endParaRPr lang="en-US" dirty="0"/>
          </a:p>
        </p:txBody>
      </p:sp>
    </p:spTree>
    <p:extLst>
      <p:ext uri="{BB962C8B-B14F-4D97-AF65-F5344CB8AC3E}">
        <p14:creationId xmlns:p14="http://schemas.microsoft.com/office/powerpoint/2010/main" val="29615847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76FBE-4942-435D-BB2B-9D4ABA21AD43}"/>
              </a:ext>
            </a:extLst>
          </p:cNvPr>
          <p:cNvSpPr>
            <a:spLocks noGrp="1"/>
          </p:cNvSpPr>
          <p:nvPr>
            <p:ph type="title"/>
          </p:nvPr>
        </p:nvSpPr>
        <p:spPr/>
        <p:txBody>
          <a:bodyPr/>
          <a:lstStyle/>
          <a:p>
            <a:r>
              <a:rPr lang="en-US" altLang="en-US" kern="0" dirty="0"/>
              <a:t>Ciliates</a:t>
            </a:r>
            <a:endParaRPr lang="en-IN" dirty="0"/>
          </a:p>
        </p:txBody>
      </p:sp>
      <p:sp>
        <p:nvSpPr>
          <p:cNvPr id="3" name="Text Placeholder 2">
            <a:extLst>
              <a:ext uri="{FF2B5EF4-FFF2-40B4-BE49-F238E27FC236}">
                <a16:creationId xmlns:a16="http://schemas.microsoft.com/office/drawing/2014/main" id="{23BE1D92-4F46-4D91-8ED4-96959B63C16C}"/>
              </a:ext>
            </a:extLst>
          </p:cNvPr>
          <p:cNvSpPr>
            <a:spLocks noGrp="1"/>
          </p:cNvSpPr>
          <p:nvPr>
            <p:ph type="body" sz="quarter" idx="19"/>
          </p:nvPr>
        </p:nvSpPr>
        <p:spPr>
          <a:xfrm>
            <a:off x="737454" y="1062697"/>
            <a:ext cx="8085379" cy="5330739"/>
          </a:xfrm>
        </p:spPr>
        <p:txBody>
          <a:bodyPr>
            <a:normAutofit/>
          </a:bodyPr>
          <a:lstStyle/>
          <a:p>
            <a:pPr lvl="0">
              <a:lnSpc>
                <a:spcPct val="80000"/>
              </a:lnSpc>
              <a:spcAft>
                <a:spcPts val="2000"/>
              </a:spcAft>
            </a:pPr>
            <a:r>
              <a:rPr lang="en-US" sz="2400" b="1" dirty="0">
                <a:solidFill>
                  <a:srgbClr val="D90000"/>
                </a:solidFill>
              </a:rPr>
              <a:t>Ciliates</a:t>
            </a:r>
            <a:r>
              <a:rPr lang="en-US" sz="2400" dirty="0">
                <a:solidFill>
                  <a:prstClr val="black"/>
                </a:solidFill>
              </a:rPr>
              <a:t> are among the most complex of the protozoans</a:t>
            </a:r>
          </a:p>
          <a:p>
            <a:pPr marL="0" lvl="1" indent="0">
              <a:lnSpc>
                <a:spcPct val="80000"/>
              </a:lnSpc>
              <a:spcBef>
                <a:spcPts val="0"/>
              </a:spcBef>
              <a:buNone/>
            </a:pPr>
            <a:r>
              <a:rPr lang="en-US" sz="2200" dirty="0">
                <a:solidFill>
                  <a:prstClr val="black"/>
                </a:solidFill>
              </a:rPr>
              <a:t>Hundreds of cilia beat in coordinated rhythm</a:t>
            </a:r>
          </a:p>
          <a:p>
            <a:pPr marL="0" lvl="1" indent="0">
              <a:lnSpc>
                <a:spcPct val="80000"/>
              </a:lnSpc>
              <a:spcBef>
                <a:spcPts val="1200"/>
              </a:spcBef>
              <a:buNone/>
            </a:pPr>
            <a:r>
              <a:rPr lang="en-US" sz="2200" dirty="0">
                <a:solidFill>
                  <a:prstClr val="black"/>
                </a:solidFill>
              </a:rPr>
              <a:t>Most ciliates ingest their food</a:t>
            </a:r>
          </a:p>
          <a:p>
            <a:pPr marL="0" lvl="1" indent="0">
              <a:lnSpc>
                <a:spcPct val="80000"/>
              </a:lnSpc>
              <a:spcBef>
                <a:spcPts val="1200"/>
              </a:spcBef>
              <a:buNone/>
            </a:pPr>
            <a:r>
              <a:rPr lang="en-US" sz="2200" dirty="0">
                <a:solidFill>
                  <a:prstClr val="black"/>
                </a:solidFill>
              </a:rPr>
              <a:t>They divide by transverse binary fission during asexual reproduction</a:t>
            </a:r>
          </a:p>
          <a:p>
            <a:pPr marL="0" lvl="1" indent="0">
              <a:lnSpc>
                <a:spcPct val="80000"/>
              </a:lnSpc>
              <a:spcBef>
                <a:spcPts val="1200"/>
              </a:spcBef>
              <a:buNone/>
            </a:pPr>
            <a:r>
              <a:rPr lang="en-US" sz="2200" dirty="0">
                <a:solidFill>
                  <a:prstClr val="black"/>
                </a:solidFill>
              </a:rPr>
              <a:t>Two types of nuclei:</a:t>
            </a:r>
          </a:p>
          <a:p>
            <a:pPr marL="269875" lvl="2" indent="-269875">
              <a:lnSpc>
                <a:spcPct val="80000"/>
              </a:lnSpc>
              <a:spcBef>
                <a:spcPts val="1200"/>
              </a:spcBef>
            </a:pPr>
            <a:r>
              <a:rPr lang="en-US" sz="2000" dirty="0">
                <a:solidFill>
                  <a:prstClr val="black"/>
                </a:solidFill>
              </a:rPr>
              <a:t>Micronuclei – participate in reproduction</a:t>
            </a:r>
          </a:p>
          <a:p>
            <a:pPr marL="269875" lvl="2" indent="-269875">
              <a:lnSpc>
                <a:spcPct val="80000"/>
              </a:lnSpc>
              <a:spcBef>
                <a:spcPts val="1200"/>
              </a:spcBef>
            </a:pPr>
            <a:r>
              <a:rPr lang="en-US" sz="2000" dirty="0">
                <a:solidFill>
                  <a:prstClr val="black"/>
                </a:solidFill>
              </a:rPr>
              <a:t>Macronucleus – controls normal cell metabolism</a:t>
            </a:r>
          </a:p>
          <a:p>
            <a:pPr marL="0" lvl="1" indent="0">
              <a:lnSpc>
                <a:spcPct val="80000"/>
              </a:lnSpc>
              <a:spcBef>
                <a:spcPts val="1200"/>
              </a:spcBef>
              <a:buNone/>
            </a:pPr>
            <a:r>
              <a:rPr lang="en-US" sz="2200" dirty="0">
                <a:solidFill>
                  <a:prstClr val="black"/>
                </a:solidFill>
              </a:rPr>
              <a:t>Sexual reproduction involves conjugation and exchange of haploid nuclei</a:t>
            </a:r>
          </a:p>
          <a:p>
            <a:pPr marL="0" lvl="1" indent="0">
              <a:lnSpc>
                <a:spcPct val="80000"/>
              </a:lnSpc>
              <a:spcBef>
                <a:spcPts val="1200"/>
              </a:spcBef>
              <a:buNone/>
            </a:pPr>
            <a:r>
              <a:rPr lang="en-US" sz="2200" i="1" dirty="0" err="1">
                <a:solidFill>
                  <a:prstClr val="black"/>
                </a:solidFill>
              </a:rPr>
              <a:t>Ichthyophthirius</a:t>
            </a:r>
            <a:r>
              <a:rPr lang="en-US" sz="2200" dirty="0">
                <a:solidFill>
                  <a:prstClr val="black"/>
                </a:solidFill>
              </a:rPr>
              <a:t> is an ectoparasitic protozoan that causes the fish disease “ick”</a:t>
            </a:r>
          </a:p>
        </p:txBody>
      </p:sp>
      <p:sp>
        <p:nvSpPr>
          <p:cNvPr id="4" name="Slide Number Placeholder 3">
            <a:extLst>
              <a:ext uri="{FF2B5EF4-FFF2-40B4-BE49-F238E27FC236}">
                <a16:creationId xmlns:a16="http://schemas.microsoft.com/office/drawing/2014/main" id="{331D4CBE-229A-4000-87E3-E763819530D5}"/>
              </a:ext>
            </a:extLst>
          </p:cNvPr>
          <p:cNvSpPr>
            <a:spLocks noGrp="1"/>
          </p:cNvSpPr>
          <p:nvPr>
            <p:ph type="sldNum" sz="quarter" idx="4"/>
          </p:nvPr>
        </p:nvSpPr>
        <p:spPr/>
        <p:txBody>
          <a:bodyPr/>
          <a:lstStyle/>
          <a:p>
            <a:fld id="{68151E55-6873-49E2-B8D5-2F265E6F1973}" type="slidenum">
              <a:rPr lang="en-US" smtClean="0"/>
              <a:pPr/>
              <a:t>28</a:t>
            </a:fld>
            <a:endParaRPr lang="en-US" dirty="0"/>
          </a:p>
        </p:txBody>
      </p:sp>
    </p:spTree>
    <p:extLst>
      <p:ext uri="{BB962C8B-B14F-4D97-AF65-F5344CB8AC3E}">
        <p14:creationId xmlns:p14="http://schemas.microsoft.com/office/powerpoint/2010/main" val="910252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7E43D-81C1-459A-B95F-46A8E8B075CD}"/>
              </a:ext>
            </a:extLst>
          </p:cNvPr>
          <p:cNvSpPr>
            <a:spLocks noGrp="1"/>
          </p:cNvSpPr>
          <p:nvPr>
            <p:ph type="title"/>
          </p:nvPr>
        </p:nvSpPr>
        <p:spPr/>
        <p:txBody>
          <a:bodyPr/>
          <a:lstStyle/>
          <a:p>
            <a:r>
              <a:rPr lang="en-US" dirty="0"/>
              <a:t>Ciliates Examples</a:t>
            </a:r>
            <a:endParaRPr lang="en-IN" dirty="0"/>
          </a:p>
        </p:txBody>
      </p:sp>
      <p:pic>
        <p:nvPicPr>
          <p:cNvPr id="8" name="Picture 2" descr="Micrograph and diagram of Paramecium with conjugation of two paramecia and micrograph of Stentor. ">
            <a:extLst>
              <a:ext uri="{FF2B5EF4-FFF2-40B4-BE49-F238E27FC236}">
                <a16:creationId xmlns:a16="http://schemas.microsoft.com/office/drawing/2014/main" id="{7F62DD5A-E26D-471A-871C-D9108628A9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3525" y="1122165"/>
            <a:ext cx="6455827" cy="4613669"/>
          </a:xfrm>
          <a:prstGeom prst="rect">
            <a:avLst/>
          </a:prstGeom>
        </p:spPr>
      </p:pic>
      <p:sp>
        <p:nvSpPr>
          <p:cNvPr id="5" name="Text Placeholder 3">
            <a:extLst>
              <a:ext uri="{FF2B5EF4-FFF2-40B4-BE49-F238E27FC236}">
                <a16:creationId xmlns:a16="http://schemas.microsoft.com/office/drawing/2014/main" id="{8D69300D-797E-4F38-B7B3-AA8E5D0059ED}"/>
              </a:ext>
            </a:extLst>
          </p:cNvPr>
          <p:cNvSpPr>
            <a:spLocks noGrp="1"/>
          </p:cNvSpPr>
          <p:nvPr>
            <p:ph type="body" sz="quarter" idx="18"/>
          </p:nvPr>
        </p:nvSpPr>
        <p:spPr>
          <a:xfrm>
            <a:off x="4070067" y="5752622"/>
            <a:ext cx="1002741" cy="314325"/>
          </a:xfrm>
        </p:spPr>
        <p:txBody>
          <a:bodyPr>
            <a:normAutofit/>
          </a:bodyPr>
          <a:lstStyle/>
          <a:p>
            <a:r>
              <a:rPr lang="en-US" sz="1200" dirty="0"/>
              <a:t>Figure 21.9</a:t>
            </a:r>
          </a:p>
        </p:txBody>
      </p:sp>
      <p:sp>
        <p:nvSpPr>
          <p:cNvPr id="6" name="Text Placeholder 4">
            <a:extLst>
              <a:ext uri="{FF2B5EF4-FFF2-40B4-BE49-F238E27FC236}">
                <a16:creationId xmlns:a16="http://schemas.microsoft.com/office/drawing/2014/main" id="{71DBEC49-5CA4-4E01-9AE9-4EA97B5DEA22}"/>
              </a:ext>
            </a:extLst>
          </p:cNvPr>
          <p:cNvSpPr>
            <a:spLocks noGrp="1"/>
          </p:cNvSpPr>
          <p:nvPr>
            <p:ph type="body" sz="quarter" idx="19"/>
          </p:nvPr>
        </p:nvSpPr>
        <p:spPr>
          <a:xfrm>
            <a:off x="3005857" y="6064192"/>
            <a:ext cx="3131160" cy="314325"/>
          </a:xfrm>
        </p:spPr>
        <p:txBody>
          <a:bodyPr>
            <a:normAutofit/>
          </a:bodyPr>
          <a:lstStyle/>
          <a:p>
            <a:r>
              <a:rPr lang="en-US" sz="1200" dirty="0">
                <a:hlinkClick r:id="rId3" action="ppaction://hlinksldjump"/>
              </a:rPr>
              <a:t>Access the text alternative for slide images.</a:t>
            </a:r>
            <a:endParaRPr lang="en-IN" sz="1200" dirty="0"/>
          </a:p>
        </p:txBody>
      </p:sp>
      <p:sp>
        <p:nvSpPr>
          <p:cNvPr id="7" name="Text Placeholder 5">
            <a:extLst>
              <a:ext uri="{FF2B5EF4-FFF2-40B4-BE49-F238E27FC236}">
                <a16:creationId xmlns:a16="http://schemas.microsoft.com/office/drawing/2014/main" id="{EE5E634A-8F69-4B05-ADDD-5CC0F5B7B64B}"/>
              </a:ext>
            </a:extLst>
          </p:cNvPr>
          <p:cNvSpPr>
            <a:spLocks noGrp="1"/>
          </p:cNvSpPr>
          <p:nvPr>
            <p:ph type="body" sz="quarter" idx="21"/>
          </p:nvPr>
        </p:nvSpPr>
        <p:spPr/>
        <p:txBody>
          <a:bodyPr/>
          <a:lstStyle/>
          <a:p>
            <a:pPr lvl="0">
              <a:spcBef>
                <a:spcPct val="0"/>
              </a:spcBef>
            </a:pPr>
            <a:r>
              <a:rPr lang="en-US" sz="800" dirty="0">
                <a:solidFill>
                  <a:prstClr val="black"/>
                </a:solidFill>
                <a:cs typeface="Arial" panose="020B0604020202020204" pitchFamily="34" charset="0"/>
              </a:rPr>
              <a:t>(photos): (a): Carolina Biological Supply/</a:t>
            </a:r>
            <a:r>
              <a:rPr lang="en-US" sz="800" dirty="0" err="1">
                <a:solidFill>
                  <a:prstClr val="black"/>
                </a:solidFill>
                <a:cs typeface="Arial" panose="020B0604020202020204" pitchFamily="34" charset="0"/>
              </a:rPr>
              <a:t>Diomedia</a:t>
            </a:r>
            <a:r>
              <a:rPr lang="en-US" sz="800" dirty="0">
                <a:solidFill>
                  <a:prstClr val="black"/>
                </a:solidFill>
                <a:cs typeface="Arial" panose="020B0604020202020204" pitchFamily="34" charset="0"/>
              </a:rPr>
              <a:t>; (b): Ed Reschke/</a:t>
            </a:r>
            <a:r>
              <a:rPr lang="en-US" sz="800" dirty="0" err="1">
                <a:solidFill>
                  <a:prstClr val="black"/>
                </a:solidFill>
                <a:cs typeface="Arial" panose="020B0604020202020204" pitchFamily="34" charset="0"/>
              </a:rPr>
              <a:t>Photolibrary</a:t>
            </a:r>
            <a:r>
              <a:rPr lang="en-US" sz="800" dirty="0">
                <a:solidFill>
                  <a:prstClr val="black"/>
                </a:solidFill>
                <a:cs typeface="Arial" panose="020B0604020202020204" pitchFamily="34" charset="0"/>
              </a:rPr>
              <a:t>/Getty Images; (c): Eric Grave/Science Source</a:t>
            </a:r>
          </a:p>
        </p:txBody>
      </p:sp>
      <p:sp>
        <p:nvSpPr>
          <p:cNvPr id="4" name="Slide Number Placeholder 6">
            <a:extLst>
              <a:ext uri="{FF2B5EF4-FFF2-40B4-BE49-F238E27FC236}">
                <a16:creationId xmlns:a16="http://schemas.microsoft.com/office/drawing/2014/main" id="{B14F1CCD-B891-43FD-B3D6-634388872805}"/>
              </a:ext>
            </a:extLst>
          </p:cNvPr>
          <p:cNvSpPr>
            <a:spLocks noGrp="1"/>
          </p:cNvSpPr>
          <p:nvPr>
            <p:ph type="sldNum" sz="quarter" idx="4"/>
          </p:nvPr>
        </p:nvSpPr>
        <p:spPr/>
        <p:txBody>
          <a:bodyPr/>
          <a:lstStyle/>
          <a:p>
            <a:fld id="{68151E55-6873-49E2-B8D5-2F265E6F1973}" type="slidenum">
              <a:rPr lang="en-US" smtClean="0"/>
              <a:pPr/>
              <a:t>29</a:t>
            </a:fld>
            <a:endParaRPr lang="en-US" dirty="0"/>
          </a:p>
        </p:txBody>
      </p:sp>
    </p:spTree>
    <p:extLst>
      <p:ext uri="{BB962C8B-B14F-4D97-AF65-F5344CB8AC3E}">
        <p14:creationId xmlns:p14="http://schemas.microsoft.com/office/powerpoint/2010/main" val="1954984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EB30E-A13A-4A50-BE18-8E06E02C310D}"/>
              </a:ext>
            </a:extLst>
          </p:cNvPr>
          <p:cNvSpPr>
            <a:spLocks noGrp="1"/>
          </p:cNvSpPr>
          <p:nvPr>
            <p:ph type="title"/>
          </p:nvPr>
        </p:nvSpPr>
        <p:spPr/>
        <p:txBody>
          <a:bodyPr/>
          <a:lstStyle/>
          <a:p>
            <a:pPr>
              <a:lnSpc>
                <a:spcPct val="100000"/>
              </a:lnSpc>
            </a:pPr>
            <a:r>
              <a:rPr lang="en-US" altLang="en-US" kern="0" dirty="0"/>
              <a:t>Diatoms</a:t>
            </a:r>
            <a:endParaRPr lang="en-US" kern="0" dirty="0"/>
          </a:p>
        </p:txBody>
      </p:sp>
      <p:sp>
        <p:nvSpPr>
          <p:cNvPr id="3" name="Text Placeholder 2">
            <a:extLst>
              <a:ext uri="{FF2B5EF4-FFF2-40B4-BE49-F238E27FC236}">
                <a16:creationId xmlns:a16="http://schemas.microsoft.com/office/drawing/2014/main" id="{E171B42E-BD0B-46BF-97AD-F707DB6E736F}"/>
              </a:ext>
            </a:extLst>
          </p:cNvPr>
          <p:cNvSpPr>
            <a:spLocks noGrp="1"/>
          </p:cNvSpPr>
          <p:nvPr>
            <p:ph type="body" sz="quarter" idx="19"/>
          </p:nvPr>
        </p:nvSpPr>
        <p:spPr>
          <a:xfrm>
            <a:off x="842963" y="1177179"/>
            <a:ext cx="7623676" cy="5493251"/>
          </a:xfrm>
        </p:spPr>
        <p:txBody>
          <a:bodyPr/>
          <a:lstStyle/>
          <a:p>
            <a:pPr lvl="0">
              <a:lnSpc>
                <a:spcPct val="80000"/>
              </a:lnSpc>
              <a:spcAft>
                <a:spcPts val="1500"/>
              </a:spcAft>
            </a:pPr>
            <a:r>
              <a:rPr lang="en-US" sz="2400" dirty="0"/>
              <a:t>A</a:t>
            </a:r>
            <a:r>
              <a:rPr lang="en-US" sz="2400" b="1" dirty="0">
                <a:solidFill>
                  <a:srgbClr val="ACCBF9">
                    <a:lumMod val="25000"/>
                  </a:srgbClr>
                </a:solidFill>
              </a:rPr>
              <a:t> </a:t>
            </a:r>
            <a:r>
              <a:rPr lang="en-US" sz="2400" b="1" dirty="0">
                <a:solidFill>
                  <a:srgbClr val="D90000"/>
                </a:solidFill>
              </a:rPr>
              <a:t>diatom</a:t>
            </a:r>
            <a:r>
              <a:rPr lang="en-US" sz="2400" dirty="0">
                <a:solidFill>
                  <a:prstClr val="black"/>
                </a:solidFill>
              </a:rPr>
              <a:t> is a single-celled </a:t>
            </a:r>
            <a:r>
              <a:rPr lang="en-US" sz="2400" dirty="0" err="1">
                <a:solidFill>
                  <a:prstClr val="black"/>
                </a:solidFill>
              </a:rPr>
              <a:t>stramenopile</a:t>
            </a:r>
            <a:r>
              <a:rPr lang="en-US" sz="2400" dirty="0">
                <a:solidFill>
                  <a:prstClr val="black"/>
                </a:solidFill>
              </a:rPr>
              <a:t> with an ornate silica shell</a:t>
            </a:r>
          </a:p>
          <a:p>
            <a:pPr>
              <a:lnSpc>
                <a:spcPct val="80000"/>
              </a:lnSpc>
              <a:spcAft>
                <a:spcPts val="1500"/>
              </a:spcAft>
            </a:pPr>
            <a:r>
              <a:rPr lang="en-US" sz="2200" dirty="0">
                <a:solidFill>
                  <a:prstClr val="black"/>
                </a:solidFill>
              </a:rPr>
              <a:t>Make up a significant portion of the plankton</a:t>
            </a:r>
          </a:p>
          <a:p>
            <a:pPr marL="0" lvl="1" indent="0">
              <a:lnSpc>
                <a:spcPct val="80000"/>
              </a:lnSpc>
              <a:spcBef>
                <a:spcPts val="0"/>
              </a:spcBef>
              <a:buNone/>
            </a:pPr>
            <a:r>
              <a:rPr lang="en-US" sz="2200" dirty="0">
                <a:solidFill>
                  <a:prstClr val="black"/>
                </a:solidFill>
              </a:rPr>
              <a:t>Reproduce sexually and asexually</a:t>
            </a:r>
          </a:p>
          <a:p>
            <a:pPr marL="0" lvl="1" indent="0">
              <a:lnSpc>
                <a:spcPct val="80000"/>
              </a:lnSpc>
              <a:spcBef>
                <a:spcPts val="1200"/>
              </a:spcBef>
              <a:buNone/>
            </a:pPr>
            <a:r>
              <a:rPr lang="en-US" sz="2200" dirty="0">
                <a:solidFill>
                  <a:prstClr val="black"/>
                </a:solidFill>
              </a:rPr>
              <a:t>Diatomaceous earth, made of the remains of diatoms, is used as</a:t>
            </a:r>
          </a:p>
          <a:p>
            <a:pPr marL="269875" lvl="2" indent="-269875">
              <a:lnSpc>
                <a:spcPct val="80000"/>
              </a:lnSpc>
              <a:spcBef>
                <a:spcPts val="1200"/>
              </a:spcBef>
            </a:pPr>
            <a:r>
              <a:rPr lang="en-US" sz="2000" dirty="0">
                <a:solidFill>
                  <a:prstClr val="black"/>
                </a:solidFill>
              </a:rPr>
              <a:t>A filtering agent</a:t>
            </a:r>
          </a:p>
          <a:p>
            <a:pPr marL="269875" lvl="2" indent="-269875">
              <a:lnSpc>
                <a:spcPct val="80000"/>
              </a:lnSpc>
              <a:spcBef>
                <a:spcPts val="1200"/>
              </a:spcBef>
            </a:pPr>
            <a:r>
              <a:rPr lang="en-US" sz="2000" dirty="0">
                <a:solidFill>
                  <a:prstClr val="black"/>
                </a:solidFill>
              </a:rPr>
              <a:t>Soundproofing material</a:t>
            </a:r>
          </a:p>
          <a:p>
            <a:pPr marL="269875" lvl="2" indent="-269875">
              <a:lnSpc>
                <a:spcPct val="80000"/>
              </a:lnSpc>
              <a:spcBef>
                <a:spcPts val="1200"/>
              </a:spcBef>
            </a:pPr>
            <a:r>
              <a:rPr lang="en-US" sz="2000" dirty="0">
                <a:solidFill>
                  <a:prstClr val="black"/>
                </a:solidFill>
              </a:rPr>
              <a:t>A polishing abrasive</a:t>
            </a:r>
          </a:p>
        </p:txBody>
      </p:sp>
      <p:sp>
        <p:nvSpPr>
          <p:cNvPr id="4" name="Slide Number Placeholder 3">
            <a:extLst>
              <a:ext uri="{FF2B5EF4-FFF2-40B4-BE49-F238E27FC236}">
                <a16:creationId xmlns:a16="http://schemas.microsoft.com/office/drawing/2014/main" id="{29AACE26-F54A-491D-ADA5-6114223A191E}"/>
              </a:ext>
            </a:extLst>
          </p:cNvPr>
          <p:cNvSpPr>
            <a:spLocks noGrp="1"/>
          </p:cNvSpPr>
          <p:nvPr>
            <p:ph type="sldNum" sz="quarter" idx="4"/>
          </p:nvPr>
        </p:nvSpPr>
        <p:spPr/>
        <p:txBody>
          <a:bodyPr/>
          <a:lstStyle/>
          <a:p>
            <a:fld id="{68151E55-6873-49E2-B8D5-2F265E6F1973}" type="slidenum">
              <a:rPr lang="en-US" smtClean="0"/>
              <a:pPr/>
              <a:t>30</a:t>
            </a:fld>
            <a:endParaRPr lang="en-US" dirty="0"/>
          </a:p>
        </p:txBody>
      </p:sp>
    </p:spTree>
    <p:extLst>
      <p:ext uri="{BB962C8B-B14F-4D97-AF65-F5344CB8AC3E}">
        <p14:creationId xmlns:p14="http://schemas.microsoft.com/office/powerpoint/2010/main" val="18439374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2067F-2B96-4B0E-B19F-9E65D143FFDA}"/>
              </a:ext>
            </a:extLst>
          </p:cNvPr>
          <p:cNvSpPr>
            <a:spLocks noGrp="1"/>
          </p:cNvSpPr>
          <p:nvPr>
            <p:ph type="title"/>
          </p:nvPr>
        </p:nvSpPr>
        <p:spPr/>
        <p:txBody>
          <a:bodyPr/>
          <a:lstStyle/>
          <a:p>
            <a:r>
              <a:rPr lang="en-US" dirty="0"/>
              <a:t>Diatoms Example</a:t>
            </a:r>
            <a:endParaRPr lang="en-IN" dirty="0"/>
          </a:p>
        </p:txBody>
      </p:sp>
      <p:pic>
        <p:nvPicPr>
          <p:cNvPr id="6" name="Picture 2" descr="Micrograph shows disc-shaped and cylindrical diatoms with textured bodies and ends on a scale of 90 micrometers. ">
            <a:extLst>
              <a:ext uri="{FF2B5EF4-FFF2-40B4-BE49-F238E27FC236}">
                <a16:creationId xmlns:a16="http://schemas.microsoft.com/office/drawing/2014/main" id="{FA009B5D-F35B-41B3-BF0B-CCDF0208FC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6683" y="948213"/>
            <a:ext cx="5730633" cy="4882243"/>
          </a:xfrm>
          <a:prstGeom prst="rect">
            <a:avLst/>
          </a:prstGeom>
        </p:spPr>
      </p:pic>
      <p:sp>
        <p:nvSpPr>
          <p:cNvPr id="3" name="Text Placeholder 3">
            <a:extLst>
              <a:ext uri="{FF2B5EF4-FFF2-40B4-BE49-F238E27FC236}">
                <a16:creationId xmlns:a16="http://schemas.microsoft.com/office/drawing/2014/main" id="{EE12EE47-DA1A-42D8-B6B8-EF93E6F547BA}"/>
              </a:ext>
            </a:extLst>
          </p:cNvPr>
          <p:cNvSpPr>
            <a:spLocks noGrp="1"/>
          </p:cNvSpPr>
          <p:nvPr>
            <p:ph type="body" sz="quarter" idx="19"/>
          </p:nvPr>
        </p:nvSpPr>
        <p:spPr>
          <a:xfrm>
            <a:off x="3950127" y="6030534"/>
            <a:ext cx="1243745" cy="314325"/>
          </a:xfrm>
        </p:spPr>
        <p:txBody>
          <a:bodyPr>
            <a:normAutofit/>
          </a:bodyPr>
          <a:lstStyle/>
          <a:p>
            <a:r>
              <a:rPr lang="en-US" sz="1200" dirty="0"/>
              <a:t>Figure 21.10</a:t>
            </a:r>
          </a:p>
        </p:txBody>
      </p:sp>
      <p:sp>
        <p:nvSpPr>
          <p:cNvPr id="4" name="Slide Number Placeholder 4">
            <a:extLst>
              <a:ext uri="{FF2B5EF4-FFF2-40B4-BE49-F238E27FC236}">
                <a16:creationId xmlns:a16="http://schemas.microsoft.com/office/drawing/2014/main" id="{6C2BBC8F-D65C-4417-8567-B381556AD279}"/>
              </a:ext>
            </a:extLst>
          </p:cNvPr>
          <p:cNvSpPr>
            <a:spLocks noGrp="1"/>
          </p:cNvSpPr>
          <p:nvPr>
            <p:ph type="sldNum" sz="quarter" idx="4"/>
          </p:nvPr>
        </p:nvSpPr>
        <p:spPr/>
        <p:txBody>
          <a:bodyPr/>
          <a:lstStyle/>
          <a:p>
            <a:fld id="{68151E55-6873-49E2-B8D5-2F265E6F1973}" type="slidenum">
              <a:rPr lang="en-US" smtClean="0"/>
              <a:pPr/>
              <a:t>31</a:t>
            </a:fld>
            <a:endParaRPr lang="en-US" dirty="0"/>
          </a:p>
        </p:txBody>
      </p:sp>
    </p:spTree>
    <p:extLst>
      <p:ext uri="{BB962C8B-B14F-4D97-AF65-F5344CB8AC3E}">
        <p14:creationId xmlns:p14="http://schemas.microsoft.com/office/powerpoint/2010/main" val="21002710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E4612-7617-4731-B128-D5771E285FD6}"/>
              </a:ext>
            </a:extLst>
          </p:cNvPr>
          <p:cNvSpPr>
            <a:spLocks noGrp="1"/>
          </p:cNvSpPr>
          <p:nvPr>
            <p:ph type="title"/>
          </p:nvPr>
        </p:nvSpPr>
        <p:spPr>
          <a:xfrm>
            <a:off x="0" y="1"/>
            <a:ext cx="9144000" cy="1172307"/>
          </a:xfrm>
        </p:spPr>
        <p:txBody>
          <a:bodyPr/>
          <a:lstStyle/>
          <a:p>
            <a:pPr>
              <a:lnSpc>
                <a:spcPct val="100000"/>
              </a:lnSpc>
            </a:pPr>
            <a:r>
              <a:rPr lang="en-US" altLang="en-US" kern="0" dirty="0"/>
              <a:t>Golden Brown Algae</a:t>
            </a:r>
            <a:endParaRPr lang="en-US" kern="0" dirty="0"/>
          </a:p>
        </p:txBody>
      </p:sp>
      <p:sp>
        <p:nvSpPr>
          <p:cNvPr id="3" name="Text Placeholder 2">
            <a:extLst>
              <a:ext uri="{FF2B5EF4-FFF2-40B4-BE49-F238E27FC236}">
                <a16:creationId xmlns:a16="http://schemas.microsoft.com/office/drawing/2014/main" id="{9F4A6E81-C4AA-46AC-8060-2278F44D0AFB}"/>
              </a:ext>
            </a:extLst>
          </p:cNvPr>
          <p:cNvSpPr>
            <a:spLocks noGrp="1"/>
          </p:cNvSpPr>
          <p:nvPr>
            <p:ph type="body" sz="quarter" idx="19"/>
          </p:nvPr>
        </p:nvSpPr>
        <p:spPr>
          <a:xfrm>
            <a:off x="842963" y="1575765"/>
            <a:ext cx="7623676" cy="2902452"/>
          </a:xfrm>
        </p:spPr>
        <p:txBody>
          <a:bodyPr/>
          <a:lstStyle/>
          <a:p>
            <a:pPr marL="0" lvl="1" indent="0">
              <a:lnSpc>
                <a:spcPct val="90000"/>
              </a:lnSpc>
              <a:spcBef>
                <a:spcPts val="600"/>
              </a:spcBef>
              <a:spcAft>
                <a:spcPts val="600"/>
              </a:spcAft>
              <a:buNone/>
            </a:pPr>
            <a:r>
              <a:rPr lang="en-US" sz="2400" dirty="0">
                <a:solidFill>
                  <a:prstClr val="black"/>
                </a:solidFill>
              </a:rPr>
              <a:t>Have yellow-brown carotenoid accessory pigments</a:t>
            </a:r>
          </a:p>
          <a:p>
            <a:pPr marL="0" lvl="1" indent="0">
              <a:lnSpc>
                <a:spcPct val="90000"/>
              </a:lnSpc>
              <a:spcBef>
                <a:spcPts val="600"/>
              </a:spcBef>
              <a:spcAft>
                <a:spcPts val="600"/>
              </a:spcAft>
              <a:buNone/>
            </a:pPr>
            <a:r>
              <a:rPr lang="en-US" sz="2400" dirty="0">
                <a:solidFill>
                  <a:prstClr val="black"/>
                </a:solidFill>
              </a:rPr>
              <a:t>Unicellular or colonial</a:t>
            </a:r>
          </a:p>
          <a:p>
            <a:pPr marL="0" lvl="1" indent="0">
              <a:lnSpc>
                <a:spcPct val="90000"/>
              </a:lnSpc>
              <a:spcBef>
                <a:spcPts val="600"/>
              </a:spcBef>
              <a:spcAft>
                <a:spcPts val="600"/>
              </a:spcAft>
              <a:buNone/>
            </a:pPr>
            <a:r>
              <a:rPr lang="en-US" sz="2400" dirty="0">
                <a:solidFill>
                  <a:prstClr val="black"/>
                </a:solidFill>
              </a:rPr>
              <a:t>Usually have two flagella with tubular hairs</a:t>
            </a:r>
          </a:p>
          <a:p>
            <a:pPr marL="0" lvl="1" indent="0">
              <a:lnSpc>
                <a:spcPct val="90000"/>
              </a:lnSpc>
              <a:spcBef>
                <a:spcPts val="600"/>
              </a:spcBef>
              <a:spcAft>
                <a:spcPts val="600"/>
              </a:spcAft>
              <a:buNone/>
            </a:pPr>
            <a:r>
              <a:rPr lang="en-US" sz="2400" dirty="0">
                <a:solidFill>
                  <a:prstClr val="black"/>
                </a:solidFill>
              </a:rPr>
              <a:t>Many species are mixotrophs</a:t>
            </a:r>
          </a:p>
          <a:p>
            <a:pPr marL="269875" lvl="2" indent="-269875">
              <a:lnSpc>
                <a:spcPct val="90000"/>
              </a:lnSpc>
              <a:spcBef>
                <a:spcPts val="600"/>
              </a:spcBef>
              <a:spcAft>
                <a:spcPts val="600"/>
              </a:spcAft>
            </a:pPr>
            <a:r>
              <a:rPr lang="en-US" sz="2200" dirty="0">
                <a:solidFill>
                  <a:prstClr val="black"/>
                </a:solidFill>
              </a:rPr>
              <a:t>Capable of photosynthesis and phagocytosis</a:t>
            </a:r>
          </a:p>
          <a:p>
            <a:pPr marL="0" lvl="1" indent="0">
              <a:lnSpc>
                <a:spcPct val="90000"/>
              </a:lnSpc>
              <a:spcBef>
                <a:spcPts val="600"/>
              </a:spcBef>
              <a:spcAft>
                <a:spcPts val="600"/>
              </a:spcAft>
              <a:buNone/>
            </a:pPr>
            <a:r>
              <a:rPr lang="en-US" sz="2400" dirty="0">
                <a:solidFill>
                  <a:prstClr val="black"/>
                </a:solidFill>
              </a:rPr>
              <a:t>Contribute to freshwater and marine phytoplankton</a:t>
            </a:r>
          </a:p>
        </p:txBody>
      </p:sp>
      <p:sp>
        <p:nvSpPr>
          <p:cNvPr id="4" name="Slide Number Placeholder 3">
            <a:extLst>
              <a:ext uri="{FF2B5EF4-FFF2-40B4-BE49-F238E27FC236}">
                <a16:creationId xmlns:a16="http://schemas.microsoft.com/office/drawing/2014/main" id="{2503D004-0D75-490E-BE11-F79D8673E7AC}"/>
              </a:ext>
            </a:extLst>
          </p:cNvPr>
          <p:cNvSpPr>
            <a:spLocks noGrp="1"/>
          </p:cNvSpPr>
          <p:nvPr>
            <p:ph type="sldNum" sz="quarter" idx="4"/>
          </p:nvPr>
        </p:nvSpPr>
        <p:spPr/>
        <p:txBody>
          <a:bodyPr/>
          <a:lstStyle/>
          <a:p>
            <a:fld id="{68151E55-6873-49E2-B8D5-2F265E6F1973}" type="slidenum">
              <a:rPr lang="en-US" smtClean="0"/>
              <a:pPr/>
              <a:t>32</a:t>
            </a:fld>
            <a:endParaRPr lang="en-US" dirty="0"/>
          </a:p>
        </p:txBody>
      </p:sp>
    </p:spTree>
    <p:extLst>
      <p:ext uri="{BB962C8B-B14F-4D97-AF65-F5344CB8AC3E}">
        <p14:creationId xmlns:p14="http://schemas.microsoft.com/office/powerpoint/2010/main" val="40070660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CA0F6-6C0A-4746-813C-DD0065AF5FE9}"/>
              </a:ext>
            </a:extLst>
          </p:cNvPr>
          <p:cNvSpPr>
            <a:spLocks noGrp="1"/>
          </p:cNvSpPr>
          <p:nvPr>
            <p:ph type="title"/>
          </p:nvPr>
        </p:nvSpPr>
        <p:spPr>
          <a:xfrm>
            <a:off x="973012" y="-11722"/>
            <a:ext cx="7608280" cy="1274261"/>
          </a:xfrm>
        </p:spPr>
        <p:txBody>
          <a:bodyPr/>
          <a:lstStyle/>
          <a:p>
            <a:r>
              <a:rPr lang="en-US" altLang="en-US" i="1" dirty="0" err="1"/>
              <a:t>Ochromonas</a:t>
            </a:r>
            <a:r>
              <a:rPr lang="en-US" altLang="en-US" dirty="0"/>
              <a:t>, a Golden Brown Alga</a:t>
            </a:r>
            <a:endParaRPr lang="en-IN" dirty="0"/>
          </a:p>
        </p:txBody>
      </p:sp>
      <p:pic>
        <p:nvPicPr>
          <p:cNvPr id="8" name="Picture 2" descr="Diagram of leaf-shaped Ochromonas shows ovular plastids with pointed tips, circular nucleus and elongated flagella with tubular hairs. ">
            <a:extLst>
              <a:ext uri="{FF2B5EF4-FFF2-40B4-BE49-F238E27FC236}">
                <a16:creationId xmlns:a16="http://schemas.microsoft.com/office/drawing/2014/main" id="{F682B008-B0CB-4FC7-A2E7-8E593F16537E}"/>
              </a:ext>
            </a:extLst>
          </p:cNvPr>
          <p:cNvPicPr>
            <a:picLocks noChangeAspect="1"/>
          </p:cNvPicPr>
          <p:nvPr/>
        </p:nvPicPr>
        <p:blipFill>
          <a:blip r:embed="rId2"/>
          <a:stretch>
            <a:fillRect/>
          </a:stretch>
        </p:blipFill>
        <p:spPr>
          <a:xfrm>
            <a:off x="2101513" y="1262539"/>
            <a:ext cx="4940969" cy="4523875"/>
          </a:xfrm>
          <a:prstGeom prst="rect">
            <a:avLst/>
          </a:prstGeom>
        </p:spPr>
      </p:pic>
      <p:sp>
        <p:nvSpPr>
          <p:cNvPr id="5" name="Text Placeholder 3">
            <a:extLst>
              <a:ext uri="{FF2B5EF4-FFF2-40B4-BE49-F238E27FC236}">
                <a16:creationId xmlns:a16="http://schemas.microsoft.com/office/drawing/2014/main" id="{513F1C10-E4FF-422E-9C98-E3D43CBCF1F1}"/>
              </a:ext>
            </a:extLst>
          </p:cNvPr>
          <p:cNvSpPr>
            <a:spLocks noGrp="1"/>
          </p:cNvSpPr>
          <p:nvPr>
            <p:ph type="body" sz="quarter" idx="18"/>
          </p:nvPr>
        </p:nvSpPr>
        <p:spPr>
          <a:xfrm>
            <a:off x="3929951" y="6036431"/>
            <a:ext cx="1284095" cy="314325"/>
          </a:xfrm>
        </p:spPr>
        <p:txBody>
          <a:bodyPr>
            <a:normAutofit/>
          </a:bodyPr>
          <a:lstStyle/>
          <a:p>
            <a:r>
              <a:rPr lang="en-US" sz="1200" dirty="0"/>
              <a:t>Figure 21.11</a:t>
            </a:r>
          </a:p>
        </p:txBody>
      </p:sp>
      <p:sp>
        <p:nvSpPr>
          <p:cNvPr id="4" name="Slide Number Placeholder 4">
            <a:extLst>
              <a:ext uri="{FF2B5EF4-FFF2-40B4-BE49-F238E27FC236}">
                <a16:creationId xmlns:a16="http://schemas.microsoft.com/office/drawing/2014/main" id="{E14153AD-C6CE-4778-925C-9934F89E680E}"/>
              </a:ext>
            </a:extLst>
          </p:cNvPr>
          <p:cNvSpPr>
            <a:spLocks noGrp="1"/>
          </p:cNvSpPr>
          <p:nvPr>
            <p:ph type="sldNum" sz="quarter" idx="4"/>
          </p:nvPr>
        </p:nvSpPr>
        <p:spPr/>
        <p:txBody>
          <a:bodyPr/>
          <a:lstStyle/>
          <a:p>
            <a:fld id="{68151E55-6873-49E2-B8D5-2F265E6F1973}" type="slidenum">
              <a:rPr lang="en-US" smtClean="0"/>
              <a:pPr/>
              <a:t>33</a:t>
            </a:fld>
            <a:endParaRPr lang="en-US" dirty="0"/>
          </a:p>
        </p:txBody>
      </p:sp>
    </p:spTree>
    <p:extLst>
      <p:ext uri="{BB962C8B-B14F-4D97-AF65-F5344CB8AC3E}">
        <p14:creationId xmlns:p14="http://schemas.microsoft.com/office/powerpoint/2010/main" val="3092639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5D779-FBD3-4169-80E2-597C859B3FB8}"/>
              </a:ext>
            </a:extLst>
          </p:cNvPr>
          <p:cNvSpPr>
            <a:spLocks noGrp="1"/>
          </p:cNvSpPr>
          <p:nvPr>
            <p:ph type="title"/>
          </p:nvPr>
        </p:nvSpPr>
        <p:spPr>
          <a:xfrm>
            <a:off x="0" y="1"/>
            <a:ext cx="9144000" cy="996461"/>
          </a:xfrm>
        </p:spPr>
        <p:txBody>
          <a:bodyPr/>
          <a:lstStyle/>
          <a:p>
            <a:r>
              <a:rPr lang="en-US" altLang="en-US" kern="0" dirty="0"/>
              <a:t>Brown Algae</a:t>
            </a:r>
            <a:endParaRPr lang="en-IN" dirty="0"/>
          </a:p>
        </p:txBody>
      </p:sp>
      <p:sp>
        <p:nvSpPr>
          <p:cNvPr id="3" name="Text Placeholder 2">
            <a:extLst>
              <a:ext uri="{FF2B5EF4-FFF2-40B4-BE49-F238E27FC236}">
                <a16:creationId xmlns:a16="http://schemas.microsoft.com/office/drawing/2014/main" id="{3EADBD0E-CA07-4F0A-BBDD-B63240BF9AD9}"/>
              </a:ext>
            </a:extLst>
          </p:cNvPr>
          <p:cNvSpPr>
            <a:spLocks noGrp="1"/>
          </p:cNvSpPr>
          <p:nvPr>
            <p:ph type="body" sz="quarter" idx="19"/>
          </p:nvPr>
        </p:nvSpPr>
        <p:spPr>
          <a:xfrm>
            <a:off x="842963" y="1177179"/>
            <a:ext cx="7623676" cy="5330739"/>
          </a:xfrm>
        </p:spPr>
        <p:txBody>
          <a:bodyPr>
            <a:normAutofit/>
          </a:bodyPr>
          <a:lstStyle/>
          <a:p>
            <a:pPr marL="0" lvl="1" indent="0">
              <a:spcBef>
                <a:spcPts val="600"/>
              </a:spcBef>
              <a:spcAft>
                <a:spcPts val="600"/>
              </a:spcAft>
              <a:buNone/>
            </a:pPr>
            <a:r>
              <a:rPr lang="en-US" altLang="en-US" sz="2400" dirty="0">
                <a:solidFill>
                  <a:prstClr val="black"/>
                </a:solidFill>
              </a:rPr>
              <a:t>Most live in colder ocean waters along rocky coasts</a:t>
            </a:r>
          </a:p>
          <a:p>
            <a:pPr marL="0" lvl="1" indent="0">
              <a:spcBef>
                <a:spcPts val="600"/>
              </a:spcBef>
              <a:spcAft>
                <a:spcPts val="600"/>
              </a:spcAft>
              <a:buNone/>
            </a:pPr>
            <a:r>
              <a:rPr lang="en-US" altLang="en-US" sz="2400" dirty="0">
                <a:solidFill>
                  <a:prstClr val="black"/>
                </a:solidFill>
              </a:rPr>
              <a:t>Morphology:</a:t>
            </a:r>
          </a:p>
          <a:p>
            <a:pPr marL="269875" lvl="2" indent="-269875">
              <a:spcBef>
                <a:spcPts val="600"/>
              </a:spcBef>
              <a:spcAft>
                <a:spcPts val="600"/>
              </a:spcAft>
            </a:pPr>
            <a:r>
              <a:rPr lang="en-US" altLang="en-US" sz="2400" dirty="0">
                <a:solidFill>
                  <a:prstClr val="black"/>
                </a:solidFill>
              </a:rPr>
              <a:t>Some are small forms with simple filaments</a:t>
            </a:r>
          </a:p>
          <a:p>
            <a:pPr marL="269875" lvl="2" indent="-269875">
              <a:spcBef>
                <a:spcPts val="600"/>
              </a:spcBef>
              <a:spcAft>
                <a:spcPts val="600"/>
              </a:spcAft>
            </a:pPr>
            <a:r>
              <a:rPr lang="en-US" altLang="en-US" sz="2400" dirty="0">
                <a:solidFill>
                  <a:prstClr val="black"/>
                </a:solidFill>
              </a:rPr>
              <a:t>Others are large multicellular forms that may exceed 200 m in length</a:t>
            </a:r>
          </a:p>
          <a:p>
            <a:pPr marL="0" lvl="1" indent="0">
              <a:spcBef>
                <a:spcPts val="600"/>
              </a:spcBef>
              <a:spcAft>
                <a:spcPts val="600"/>
              </a:spcAft>
              <a:buNone/>
            </a:pPr>
            <a:r>
              <a:rPr lang="en-US" altLang="en-US" sz="2400" dirty="0">
                <a:solidFill>
                  <a:prstClr val="black"/>
                </a:solidFill>
              </a:rPr>
              <a:t>Accessory carotenoid pigment provides brown color</a:t>
            </a:r>
          </a:p>
          <a:p>
            <a:pPr marL="0" lvl="1" indent="0">
              <a:spcBef>
                <a:spcPts val="600"/>
              </a:spcBef>
              <a:spcAft>
                <a:spcPts val="600"/>
              </a:spcAft>
              <a:buNone/>
            </a:pPr>
            <a:r>
              <a:rPr lang="en-US" altLang="en-US" sz="2400" dirty="0">
                <a:solidFill>
                  <a:prstClr val="black"/>
                </a:solidFill>
              </a:rPr>
              <a:t>Excess food is stored as a carbohydrate called </a:t>
            </a:r>
            <a:r>
              <a:rPr lang="en-US" altLang="en-US" sz="2400" b="1" dirty="0">
                <a:solidFill>
                  <a:prstClr val="black"/>
                </a:solidFill>
              </a:rPr>
              <a:t>laminarin</a:t>
            </a:r>
            <a:endParaRPr lang="en-US" altLang="en-US" sz="2400" dirty="0">
              <a:solidFill>
                <a:prstClr val="black"/>
              </a:solidFill>
            </a:endParaRPr>
          </a:p>
          <a:p>
            <a:pPr>
              <a:spcBef>
                <a:spcPts val="600"/>
              </a:spcBef>
              <a:spcAft>
                <a:spcPts val="600"/>
              </a:spcAft>
            </a:pPr>
            <a:r>
              <a:rPr lang="en-US" altLang="en-US" sz="2400" dirty="0">
                <a:solidFill>
                  <a:prstClr val="black"/>
                </a:solidFill>
              </a:rPr>
              <a:t>Harvested for food and fertilizer</a:t>
            </a:r>
            <a:endParaRPr lang="en-US" altLang="en-US" sz="2400" i="1" dirty="0">
              <a:solidFill>
                <a:prstClr val="black"/>
              </a:solidFill>
            </a:endParaRPr>
          </a:p>
        </p:txBody>
      </p:sp>
      <p:sp>
        <p:nvSpPr>
          <p:cNvPr id="4" name="Slide Number Placeholder 3">
            <a:extLst>
              <a:ext uri="{FF2B5EF4-FFF2-40B4-BE49-F238E27FC236}">
                <a16:creationId xmlns:a16="http://schemas.microsoft.com/office/drawing/2014/main" id="{82379EDD-0EA7-424D-8C90-C88EC546EBD9}"/>
              </a:ext>
            </a:extLst>
          </p:cNvPr>
          <p:cNvSpPr>
            <a:spLocks noGrp="1"/>
          </p:cNvSpPr>
          <p:nvPr>
            <p:ph type="sldNum" sz="quarter" idx="4"/>
          </p:nvPr>
        </p:nvSpPr>
        <p:spPr/>
        <p:txBody>
          <a:bodyPr/>
          <a:lstStyle/>
          <a:p>
            <a:fld id="{68151E55-6873-49E2-B8D5-2F265E6F1973}" type="slidenum">
              <a:rPr lang="en-US" smtClean="0"/>
              <a:pPr/>
              <a:t>34</a:t>
            </a:fld>
            <a:endParaRPr lang="en-US" dirty="0"/>
          </a:p>
        </p:txBody>
      </p:sp>
    </p:spTree>
    <p:extLst>
      <p:ext uri="{BB962C8B-B14F-4D97-AF65-F5344CB8AC3E}">
        <p14:creationId xmlns:p14="http://schemas.microsoft.com/office/powerpoint/2010/main" val="20079981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57AD2-89C7-4CE3-AB96-9ED4DBC9AEE6}"/>
              </a:ext>
            </a:extLst>
          </p:cNvPr>
          <p:cNvSpPr>
            <a:spLocks noGrp="1"/>
          </p:cNvSpPr>
          <p:nvPr>
            <p:ph type="title"/>
          </p:nvPr>
        </p:nvSpPr>
        <p:spPr>
          <a:xfrm>
            <a:off x="0" y="1"/>
            <a:ext cx="9144000" cy="1078522"/>
          </a:xfrm>
        </p:spPr>
        <p:txBody>
          <a:bodyPr/>
          <a:lstStyle/>
          <a:p>
            <a:pPr>
              <a:lnSpc>
                <a:spcPct val="100000"/>
              </a:lnSpc>
            </a:pPr>
            <a:r>
              <a:rPr lang="en-US" altLang="en-US" kern="0" dirty="0"/>
              <a:t>More Brown Algae</a:t>
            </a:r>
            <a:endParaRPr lang="en-US" kern="0" dirty="0"/>
          </a:p>
        </p:txBody>
      </p:sp>
      <p:sp>
        <p:nvSpPr>
          <p:cNvPr id="3" name="Text Placeholder 2">
            <a:extLst>
              <a:ext uri="{FF2B5EF4-FFF2-40B4-BE49-F238E27FC236}">
                <a16:creationId xmlns:a16="http://schemas.microsoft.com/office/drawing/2014/main" id="{4BC95D74-9484-404E-B14E-611ACF083F51}"/>
              </a:ext>
            </a:extLst>
          </p:cNvPr>
          <p:cNvSpPr>
            <a:spLocks noGrp="1"/>
          </p:cNvSpPr>
          <p:nvPr>
            <p:ph type="body" sz="quarter" idx="19"/>
          </p:nvPr>
        </p:nvSpPr>
        <p:spPr>
          <a:xfrm>
            <a:off x="632497" y="1377023"/>
            <a:ext cx="7879006" cy="4025118"/>
          </a:xfrm>
        </p:spPr>
        <p:txBody>
          <a:bodyPr/>
          <a:lstStyle/>
          <a:p>
            <a:pPr marL="0" lvl="1" indent="0">
              <a:spcBef>
                <a:spcPts val="600"/>
              </a:spcBef>
              <a:spcAft>
                <a:spcPts val="600"/>
              </a:spcAft>
              <a:buNone/>
            </a:pPr>
            <a:r>
              <a:rPr lang="en-US" altLang="en-US" sz="2400" i="1" dirty="0">
                <a:solidFill>
                  <a:prstClr val="black"/>
                </a:solidFill>
              </a:rPr>
              <a:t>Laminaria</a:t>
            </a:r>
            <a:r>
              <a:rPr lang="en-US" altLang="en-US" sz="2400" dirty="0">
                <a:solidFill>
                  <a:prstClr val="black"/>
                </a:solidFill>
              </a:rPr>
              <a:t> (a kelp) and </a:t>
            </a:r>
            <a:r>
              <a:rPr lang="en-US" altLang="en-US" sz="2400" i="1" dirty="0" err="1">
                <a:solidFill>
                  <a:prstClr val="black"/>
                </a:solidFill>
              </a:rPr>
              <a:t>Fucus</a:t>
            </a:r>
            <a:r>
              <a:rPr lang="en-US" altLang="en-US" sz="2400" dirty="0">
                <a:solidFill>
                  <a:prstClr val="black"/>
                </a:solidFill>
              </a:rPr>
              <a:t> (rockweed) are common intertidal seaweeds</a:t>
            </a:r>
          </a:p>
          <a:p>
            <a:pPr>
              <a:spcBef>
                <a:spcPts val="600"/>
              </a:spcBef>
              <a:spcAft>
                <a:spcPts val="600"/>
              </a:spcAft>
            </a:pPr>
            <a:r>
              <a:rPr lang="en-US" altLang="en-US" sz="2400" i="1" dirty="0">
                <a:solidFill>
                  <a:prstClr val="black"/>
                </a:solidFill>
              </a:rPr>
              <a:t>Laminaria</a:t>
            </a:r>
            <a:r>
              <a:rPr lang="en-US" altLang="en-US" sz="2400" dirty="0">
                <a:solidFill>
                  <a:prstClr val="black"/>
                </a:solidFill>
              </a:rPr>
              <a:t> shows tissue differentiation</a:t>
            </a:r>
          </a:p>
          <a:p>
            <a:pPr marL="363538" lvl="2" indent="-363538">
              <a:spcBef>
                <a:spcPts val="600"/>
              </a:spcBef>
              <a:spcAft>
                <a:spcPts val="600"/>
              </a:spcAft>
            </a:pPr>
            <a:r>
              <a:rPr lang="en-US" altLang="en-US" sz="2200" dirty="0">
                <a:solidFill>
                  <a:prstClr val="black"/>
                </a:solidFill>
              </a:rPr>
              <a:t>Transports organic nutrients in a tissue resembling phloem in land plants</a:t>
            </a:r>
          </a:p>
          <a:p>
            <a:pPr marL="0" lvl="1" indent="0">
              <a:spcBef>
                <a:spcPts val="600"/>
              </a:spcBef>
              <a:spcAft>
                <a:spcPts val="600"/>
              </a:spcAft>
              <a:buNone/>
            </a:pPr>
            <a:r>
              <a:rPr lang="en-US" altLang="en-US" sz="2400" b="1" dirty="0" err="1">
                <a:solidFill>
                  <a:prstClr val="black"/>
                </a:solidFill>
              </a:rPr>
              <a:t>Macrocystis</a:t>
            </a:r>
            <a:r>
              <a:rPr lang="en-US" altLang="en-US" sz="2400" dirty="0">
                <a:solidFill>
                  <a:prstClr val="black"/>
                </a:solidFill>
              </a:rPr>
              <a:t> is the source of </a:t>
            </a:r>
            <a:r>
              <a:rPr lang="en-US" altLang="en-US" sz="2400" dirty="0" err="1">
                <a:solidFill>
                  <a:prstClr val="black"/>
                </a:solidFill>
              </a:rPr>
              <a:t>algin</a:t>
            </a:r>
            <a:r>
              <a:rPr lang="en-US" altLang="en-US" sz="2400" dirty="0">
                <a:solidFill>
                  <a:prstClr val="black"/>
                </a:solidFill>
              </a:rPr>
              <a:t>, a thickener for foods such as ice cream, sherbet, and cream cheese</a:t>
            </a:r>
          </a:p>
          <a:p>
            <a:pPr marL="0" lvl="1" indent="0">
              <a:spcBef>
                <a:spcPts val="600"/>
              </a:spcBef>
              <a:spcAft>
                <a:spcPts val="600"/>
              </a:spcAft>
              <a:buNone/>
            </a:pPr>
            <a:r>
              <a:rPr lang="en-US" altLang="en-US" sz="2400" dirty="0">
                <a:solidFill>
                  <a:prstClr val="black"/>
                </a:solidFill>
              </a:rPr>
              <a:t>Most brown algae have alternation of generations</a:t>
            </a:r>
          </a:p>
        </p:txBody>
      </p:sp>
      <p:sp>
        <p:nvSpPr>
          <p:cNvPr id="4" name="Slide Number Placeholder 3">
            <a:extLst>
              <a:ext uri="{FF2B5EF4-FFF2-40B4-BE49-F238E27FC236}">
                <a16:creationId xmlns:a16="http://schemas.microsoft.com/office/drawing/2014/main" id="{E15A8A8E-E6B7-46C2-9BFD-C63531781569}"/>
              </a:ext>
            </a:extLst>
          </p:cNvPr>
          <p:cNvSpPr>
            <a:spLocks noGrp="1"/>
          </p:cNvSpPr>
          <p:nvPr>
            <p:ph type="sldNum" sz="quarter" idx="4"/>
          </p:nvPr>
        </p:nvSpPr>
        <p:spPr/>
        <p:txBody>
          <a:bodyPr/>
          <a:lstStyle/>
          <a:p>
            <a:fld id="{68151E55-6873-49E2-B8D5-2F265E6F1973}" type="slidenum">
              <a:rPr lang="en-US" smtClean="0"/>
              <a:pPr/>
              <a:t>35</a:t>
            </a:fld>
            <a:endParaRPr lang="en-US" dirty="0"/>
          </a:p>
        </p:txBody>
      </p:sp>
    </p:spTree>
    <p:extLst>
      <p:ext uri="{BB962C8B-B14F-4D97-AF65-F5344CB8AC3E}">
        <p14:creationId xmlns:p14="http://schemas.microsoft.com/office/powerpoint/2010/main" val="42916368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9D460-843E-4549-BE15-21BB445253E8}"/>
              </a:ext>
            </a:extLst>
          </p:cNvPr>
          <p:cNvSpPr>
            <a:spLocks noGrp="1"/>
          </p:cNvSpPr>
          <p:nvPr>
            <p:ph type="title"/>
          </p:nvPr>
        </p:nvSpPr>
        <p:spPr>
          <a:xfrm>
            <a:off x="0" y="1"/>
            <a:ext cx="9144000" cy="1031630"/>
          </a:xfrm>
        </p:spPr>
        <p:txBody>
          <a:bodyPr/>
          <a:lstStyle/>
          <a:p>
            <a:r>
              <a:rPr lang="en-US" altLang="en-US" dirty="0"/>
              <a:t>Brown Algae Examples</a:t>
            </a:r>
            <a:endParaRPr lang="en-IN" dirty="0"/>
          </a:p>
        </p:txBody>
      </p:sp>
      <p:pic>
        <p:nvPicPr>
          <p:cNvPr id="7" name="Picture 2" descr="Examples of brown algae include Laminaria, Fucus, Nereocystis and Macrocystis. Labeled parts of fucus are holdfast, air bladder, blade, and stipe.">
            <a:extLst>
              <a:ext uri="{FF2B5EF4-FFF2-40B4-BE49-F238E27FC236}">
                <a16:creationId xmlns:a16="http://schemas.microsoft.com/office/drawing/2014/main" id="{A450B3BA-150D-49C5-AB7E-44BD562445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5237" y="1031630"/>
            <a:ext cx="6253526" cy="4751614"/>
          </a:xfrm>
          <a:prstGeom prst="rect">
            <a:avLst/>
          </a:prstGeom>
        </p:spPr>
      </p:pic>
      <p:sp>
        <p:nvSpPr>
          <p:cNvPr id="5" name="Text Placeholder 3">
            <a:extLst>
              <a:ext uri="{FF2B5EF4-FFF2-40B4-BE49-F238E27FC236}">
                <a16:creationId xmlns:a16="http://schemas.microsoft.com/office/drawing/2014/main" id="{2F20DA5F-8521-4782-9F15-D34AB6624148}"/>
              </a:ext>
            </a:extLst>
          </p:cNvPr>
          <p:cNvSpPr>
            <a:spLocks noGrp="1"/>
          </p:cNvSpPr>
          <p:nvPr>
            <p:ph type="body" sz="quarter" idx="18"/>
          </p:nvPr>
        </p:nvSpPr>
        <p:spPr>
          <a:xfrm>
            <a:off x="3812722" y="6036431"/>
            <a:ext cx="1518556" cy="314325"/>
          </a:xfrm>
        </p:spPr>
        <p:txBody>
          <a:bodyPr>
            <a:normAutofit/>
          </a:bodyPr>
          <a:lstStyle/>
          <a:p>
            <a:r>
              <a:rPr lang="en-US" sz="1200" dirty="0"/>
              <a:t>Figure 21.12</a:t>
            </a:r>
          </a:p>
        </p:txBody>
      </p:sp>
      <p:sp>
        <p:nvSpPr>
          <p:cNvPr id="4" name="Slide Number Placeholder 4">
            <a:extLst>
              <a:ext uri="{FF2B5EF4-FFF2-40B4-BE49-F238E27FC236}">
                <a16:creationId xmlns:a16="http://schemas.microsoft.com/office/drawing/2014/main" id="{E2AAEE01-1A9E-4278-A7E3-9EA9C1D4C646}"/>
              </a:ext>
            </a:extLst>
          </p:cNvPr>
          <p:cNvSpPr>
            <a:spLocks noGrp="1"/>
          </p:cNvSpPr>
          <p:nvPr>
            <p:ph type="sldNum" sz="quarter" idx="4"/>
          </p:nvPr>
        </p:nvSpPr>
        <p:spPr/>
        <p:txBody>
          <a:bodyPr/>
          <a:lstStyle/>
          <a:p>
            <a:fld id="{68151E55-6873-49E2-B8D5-2F265E6F1973}" type="slidenum">
              <a:rPr lang="en-US" smtClean="0"/>
              <a:pPr/>
              <a:t>36</a:t>
            </a:fld>
            <a:endParaRPr lang="en-US" dirty="0"/>
          </a:p>
        </p:txBody>
      </p:sp>
    </p:spTree>
    <p:extLst>
      <p:ext uri="{BB962C8B-B14F-4D97-AF65-F5344CB8AC3E}">
        <p14:creationId xmlns:p14="http://schemas.microsoft.com/office/powerpoint/2010/main" val="37093925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47F91-D778-460F-9DD5-A1994FCB7DC2}"/>
              </a:ext>
            </a:extLst>
          </p:cNvPr>
          <p:cNvSpPr>
            <a:spLocks noGrp="1"/>
          </p:cNvSpPr>
          <p:nvPr>
            <p:ph type="title"/>
          </p:nvPr>
        </p:nvSpPr>
        <p:spPr>
          <a:xfrm>
            <a:off x="0" y="1"/>
            <a:ext cx="9144000" cy="955027"/>
          </a:xfrm>
        </p:spPr>
        <p:txBody>
          <a:bodyPr/>
          <a:lstStyle/>
          <a:p>
            <a:pPr>
              <a:lnSpc>
                <a:spcPct val="100000"/>
              </a:lnSpc>
            </a:pPr>
            <a:r>
              <a:rPr lang="en-US" altLang="en-US" kern="0" dirty="0"/>
              <a:t>Oomycetes</a:t>
            </a:r>
            <a:endParaRPr lang="en-US" kern="0" dirty="0"/>
          </a:p>
        </p:txBody>
      </p:sp>
      <p:sp>
        <p:nvSpPr>
          <p:cNvPr id="3" name="Text Placeholder 2">
            <a:extLst>
              <a:ext uri="{FF2B5EF4-FFF2-40B4-BE49-F238E27FC236}">
                <a16:creationId xmlns:a16="http://schemas.microsoft.com/office/drawing/2014/main" id="{3D9C6545-869A-4EE9-B3D1-265C83BF75A3}"/>
              </a:ext>
            </a:extLst>
          </p:cNvPr>
          <p:cNvSpPr>
            <a:spLocks noGrp="1"/>
          </p:cNvSpPr>
          <p:nvPr>
            <p:ph type="body" sz="quarter" idx="19"/>
          </p:nvPr>
        </p:nvSpPr>
        <p:spPr>
          <a:xfrm>
            <a:off x="842963" y="1177180"/>
            <a:ext cx="7623676" cy="5422912"/>
          </a:xfrm>
        </p:spPr>
        <p:txBody>
          <a:bodyPr/>
          <a:lstStyle/>
          <a:p>
            <a:pPr>
              <a:spcBef>
                <a:spcPts val="600"/>
              </a:spcBef>
              <a:spcAft>
                <a:spcPts val="600"/>
              </a:spcAft>
            </a:pPr>
            <a:r>
              <a:rPr lang="en-US" sz="2200" dirty="0"/>
              <a:t>Fungus-like diploid protists also known as water molds</a:t>
            </a:r>
          </a:p>
          <a:p>
            <a:pPr>
              <a:spcBef>
                <a:spcPts val="600"/>
              </a:spcBef>
              <a:spcAft>
                <a:spcPts val="600"/>
              </a:spcAft>
            </a:pPr>
            <a:r>
              <a:rPr lang="en-US" sz="2200" dirty="0">
                <a:solidFill>
                  <a:prstClr val="black"/>
                </a:solidFill>
              </a:rPr>
              <a:t>Most live in the water</a:t>
            </a:r>
          </a:p>
          <a:p>
            <a:pPr>
              <a:spcBef>
                <a:spcPts val="600"/>
              </a:spcBef>
              <a:spcAft>
                <a:spcPts val="600"/>
              </a:spcAft>
            </a:pPr>
            <a:r>
              <a:rPr lang="en-US" sz="2200" dirty="0">
                <a:solidFill>
                  <a:prstClr val="black"/>
                </a:solidFill>
              </a:rPr>
              <a:t>Form furry growths on their food source</a:t>
            </a:r>
          </a:p>
          <a:p>
            <a:pPr>
              <a:spcBef>
                <a:spcPts val="600"/>
              </a:spcBef>
              <a:spcAft>
                <a:spcPts val="600"/>
              </a:spcAft>
            </a:pPr>
            <a:r>
              <a:rPr lang="en-US" sz="2200" dirty="0">
                <a:solidFill>
                  <a:prstClr val="black"/>
                </a:solidFill>
              </a:rPr>
              <a:t>Some live on land and parasitize insects and plants</a:t>
            </a:r>
          </a:p>
          <a:p>
            <a:pPr marL="0" lvl="1" indent="0">
              <a:spcBef>
                <a:spcPts val="600"/>
              </a:spcBef>
              <a:spcAft>
                <a:spcPts val="600"/>
              </a:spcAft>
              <a:buNone/>
            </a:pPr>
            <a:r>
              <a:rPr lang="en-US" sz="2200" dirty="0">
                <a:solidFill>
                  <a:prstClr val="black"/>
                </a:solidFill>
              </a:rPr>
              <a:t>Most are saprotrophic and feed on dead organic matter</a:t>
            </a:r>
          </a:p>
          <a:p>
            <a:pPr marL="0" lvl="1" indent="0">
              <a:spcBef>
                <a:spcPts val="600"/>
              </a:spcBef>
              <a:spcAft>
                <a:spcPts val="600"/>
              </a:spcAft>
              <a:buNone/>
            </a:pPr>
            <a:r>
              <a:rPr lang="en-US" sz="2200" dirty="0">
                <a:solidFill>
                  <a:prstClr val="black"/>
                </a:solidFill>
              </a:rPr>
              <a:t>Responsible for the potato famine in Ireland in the 1840s and the mildew of grapes in France in the 1870s</a:t>
            </a:r>
          </a:p>
          <a:p>
            <a:pPr marL="0" lvl="1" indent="0">
              <a:spcBef>
                <a:spcPts val="600"/>
              </a:spcBef>
              <a:spcAft>
                <a:spcPts val="600"/>
              </a:spcAft>
              <a:buNone/>
            </a:pPr>
            <a:r>
              <a:rPr lang="en-US" sz="2200" dirty="0">
                <a:solidFill>
                  <a:prstClr val="black"/>
                </a:solidFill>
              </a:rPr>
              <a:t>Cell walls composed largely of cellulose</a:t>
            </a:r>
          </a:p>
          <a:p>
            <a:pPr marL="0" lvl="1" indent="0">
              <a:spcBef>
                <a:spcPts val="600"/>
              </a:spcBef>
              <a:spcAft>
                <a:spcPts val="600"/>
              </a:spcAft>
              <a:buNone/>
            </a:pPr>
            <a:r>
              <a:rPr lang="en-US" sz="2200" dirty="0">
                <a:solidFill>
                  <a:prstClr val="black"/>
                </a:solidFill>
              </a:rPr>
              <a:t>Life cycle</a:t>
            </a:r>
          </a:p>
          <a:p>
            <a:pPr marL="363538" lvl="2" indent="-363538">
              <a:spcBef>
                <a:spcPts val="600"/>
              </a:spcBef>
              <a:spcAft>
                <a:spcPts val="600"/>
              </a:spcAft>
            </a:pPr>
            <a:r>
              <a:rPr lang="en-US" sz="2000" dirty="0">
                <a:solidFill>
                  <a:prstClr val="black"/>
                </a:solidFill>
              </a:rPr>
              <a:t>Produce asexual flagellated diploid zoospores</a:t>
            </a:r>
          </a:p>
          <a:p>
            <a:pPr marL="363538" lvl="2" indent="-363538">
              <a:spcBef>
                <a:spcPts val="600"/>
              </a:spcBef>
              <a:spcAft>
                <a:spcPts val="600"/>
              </a:spcAft>
            </a:pPr>
            <a:r>
              <a:rPr lang="en-US" sz="2000" dirty="0">
                <a:solidFill>
                  <a:prstClr val="black"/>
                </a:solidFill>
              </a:rPr>
              <a:t>Meiosis produces sexual haploid gametes</a:t>
            </a:r>
          </a:p>
        </p:txBody>
      </p:sp>
      <p:sp>
        <p:nvSpPr>
          <p:cNvPr id="4" name="Slide Number Placeholder 3">
            <a:extLst>
              <a:ext uri="{FF2B5EF4-FFF2-40B4-BE49-F238E27FC236}">
                <a16:creationId xmlns:a16="http://schemas.microsoft.com/office/drawing/2014/main" id="{C0205870-EE6C-4A04-9032-E5F3E0D91440}"/>
              </a:ext>
            </a:extLst>
          </p:cNvPr>
          <p:cNvSpPr>
            <a:spLocks noGrp="1"/>
          </p:cNvSpPr>
          <p:nvPr>
            <p:ph type="sldNum" sz="quarter" idx="4"/>
          </p:nvPr>
        </p:nvSpPr>
        <p:spPr/>
        <p:txBody>
          <a:bodyPr/>
          <a:lstStyle/>
          <a:p>
            <a:fld id="{68151E55-6873-49E2-B8D5-2F265E6F1973}" type="slidenum">
              <a:rPr lang="en-US" smtClean="0"/>
              <a:pPr/>
              <a:t>37</a:t>
            </a:fld>
            <a:endParaRPr lang="en-US" dirty="0"/>
          </a:p>
        </p:txBody>
      </p:sp>
    </p:spTree>
    <p:extLst>
      <p:ext uri="{BB962C8B-B14F-4D97-AF65-F5344CB8AC3E}">
        <p14:creationId xmlns:p14="http://schemas.microsoft.com/office/powerpoint/2010/main" val="27098393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F4437-F8D2-47D2-95C7-0C96425E868B}"/>
              </a:ext>
            </a:extLst>
          </p:cNvPr>
          <p:cNvSpPr>
            <a:spLocks noGrp="1"/>
          </p:cNvSpPr>
          <p:nvPr>
            <p:ph type="title"/>
          </p:nvPr>
        </p:nvSpPr>
        <p:spPr/>
        <p:txBody>
          <a:bodyPr/>
          <a:lstStyle/>
          <a:p>
            <a:r>
              <a:rPr lang="en-US" altLang="en-US" dirty="0"/>
              <a:t>Water Mold</a:t>
            </a:r>
            <a:endParaRPr lang="en-IN" dirty="0"/>
          </a:p>
        </p:txBody>
      </p:sp>
      <p:pic>
        <p:nvPicPr>
          <p:cNvPr id="8" name="Picture 2" descr="A dead gold fish is surrounded by thread-like filaments of water mold.">
            <a:extLst>
              <a:ext uri="{FF2B5EF4-FFF2-40B4-BE49-F238E27FC236}">
                <a16:creationId xmlns:a16="http://schemas.microsoft.com/office/drawing/2014/main" id="{4175E6D4-2564-4F0C-AB49-51436A6E7B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75" b="3239"/>
          <a:stretch/>
        </p:blipFill>
        <p:spPr bwMode="auto">
          <a:xfrm>
            <a:off x="1176338" y="1770184"/>
            <a:ext cx="6791325" cy="3495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3">
            <a:extLst>
              <a:ext uri="{FF2B5EF4-FFF2-40B4-BE49-F238E27FC236}">
                <a16:creationId xmlns:a16="http://schemas.microsoft.com/office/drawing/2014/main" id="{C2AF37D9-025C-4EF1-845D-58305EB69BBB}"/>
              </a:ext>
            </a:extLst>
          </p:cNvPr>
          <p:cNvSpPr>
            <a:spLocks noGrp="1"/>
          </p:cNvSpPr>
          <p:nvPr>
            <p:ph type="body" sz="quarter" idx="18"/>
          </p:nvPr>
        </p:nvSpPr>
        <p:spPr>
          <a:xfrm>
            <a:off x="3916098" y="5839213"/>
            <a:ext cx="1155141" cy="314325"/>
          </a:xfrm>
        </p:spPr>
        <p:txBody>
          <a:bodyPr>
            <a:normAutofit/>
          </a:bodyPr>
          <a:lstStyle/>
          <a:p>
            <a:r>
              <a:rPr lang="en-US" sz="1200" dirty="0"/>
              <a:t>Figure 21.13</a:t>
            </a:r>
          </a:p>
        </p:txBody>
      </p:sp>
      <p:sp>
        <p:nvSpPr>
          <p:cNvPr id="7" name="Text Placeholder 4">
            <a:extLst>
              <a:ext uri="{FF2B5EF4-FFF2-40B4-BE49-F238E27FC236}">
                <a16:creationId xmlns:a16="http://schemas.microsoft.com/office/drawing/2014/main" id="{F418FB92-920A-4AE7-B008-C92D14D67C11}"/>
              </a:ext>
            </a:extLst>
          </p:cNvPr>
          <p:cNvSpPr>
            <a:spLocks noGrp="1"/>
          </p:cNvSpPr>
          <p:nvPr>
            <p:ph type="body" sz="quarter" idx="21"/>
          </p:nvPr>
        </p:nvSpPr>
        <p:spPr/>
        <p:txBody>
          <a:bodyPr/>
          <a:lstStyle/>
          <a:p>
            <a:pPr lvl="0"/>
            <a:r>
              <a:rPr lang="en-US" sz="800" dirty="0"/>
              <a:t>Noble Proctor/Science Source</a:t>
            </a:r>
          </a:p>
        </p:txBody>
      </p:sp>
      <p:sp>
        <p:nvSpPr>
          <p:cNvPr id="4" name="Slide Number Placeholder 5">
            <a:extLst>
              <a:ext uri="{FF2B5EF4-FFF2-40B4-BE49-F238E27FC236}">
                <a16:creationId xmlns:a16="http://schemas.microsoft.com/office/drawing/2014/main" id="{78437D39-898E-4772-B6AA-5F2A30EFF441}"/>
              </a:ext>
            </a:extLst>
          </p:cNvPr>
          <p:cNvSpPr>
            <a:spLocks noGrp="1"/>
          </p:cNvSpPr>
          <p:nvPr>
            <p:ph type="sldNum" sz="quarter" idx="4"/>
          </p:nvPr>
        </p:nvSpPr>
        <p:spPr/>
        <p:txBody>
          <a:bodyPr/>
          <a:lstStyle/>
          <a:p>
            <a:fld id="{68151E55-6873-49E2-B8D5-2F265E6F1973}" type="slidenum">
              <a:rPr lang="en-US" smtClean="0"/>
              <a:pPr/>
              <a:t>38</a:t>
            </a:fld>
            <a:endParaRPr lang="en-US" dirty="0"/>
          </a:p>
        </p:txBody>
      </p:sp>
    </p:spTree>
    <p:extLst>
      <p:ext uri="{BB962C8B-B14F-4D97-AF65-F5344CB8AC3E}">
        <p14:creationId xmlns:p14="http://schemas.microsoft.com/office/powerpoint/2010/main" val="20434118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FCF74-FCF6-4FA5-8B26-20A8ED5D4EA3}"/>
              </a:ext>
            </a:extLst>
          </p:cNvPr>
          <p:cNvSpPr>
            <a:spLocks noGrp="1"/>
          </p:cNvSpPr>
          <p:nvPr>
            <p:ph type="title"/>
          </p:nvPr>
        </p:nvSpPr>
        <p:spPr>
          <a:xfrm>
            <a:off x="0" y="1"/>
            <a:ext cx="9144000" cy="1177177"/>
          </a:xfrm>
        </p:spPr>
        <p:txBody>
          <a:bodyPr/>
          <a:lstStyle/>
          <a:p>
            <a:r>
              <a:rPr lang="en-US" altLang="en-US" dirty="0"/>
              <a:t>21.4 Supergroup </a:t>
            </a:r>
            <a:r>
              <a:rPr lang="en-US" altLang="en-US" dirty="0" err="1"/>
              <a:t>Rhizaria</a:t>
            </a:r>
            <a:endParaRPr lang="en-IN" dirty="0"/>
          </a:p>
        </p:txBody>
      </p:sp>
      <p:sp>
        <p:nvSpPr>
          <p:cNvPr id="3" name="Text Placeholder 2">
            <a:extLst>
              <a:ext uri="{FF2B5EF4-FFF2-40B4-BE49-F238E27FC236}">
                <a16:creationId xmlns:a16="http://schemas.microsoft.com/office/drawing/2014/main" id="{2604CE3C-2923-41C7-BFFA-73DC90DCDB09}"/>
              </a:ext>
            </a:extLst>
          </p:cNvPr>
          <p:cNvSpPr>
            <a:spLocks noGrp="1"/>
          </p:cNvSpPr>
          <p:nvPr>
            <p:ph type="body" sz="quarter" idx="19"/>
          </p:nvPr>
        </p:nvSpPr>
        <p:spPr>
          <a:xfrm>
            <a:off x="842963" y="1177179"/>
            <a:ext cx="7398360" cy="5330739"/>
          </a:xfrm>
        </p:spPr>
        <p:txBody>
          <a:bodyPr/>
          <a:lstStyle/>
          <a:p>
            <a:pPr marL="0" lvl="1" indent="0">
              <a:spcBef>
                <a:spcPts val="0"/>
              </a:spcBef>
              <a:buNone/>
            </a:pPr>
            <a:r>
              <a:rPr lang="en-US" sz="2400" dirty="0"/>
              <a:t>Are comprised of cercozoans, </a:t>
            </a:r>
            <a:r>
              <a:rPr lang="en-US" sz="2400" dirty="0" err="1"/>
              <a:t>foraminiferans</a:t>
            </a:r>
            <a:r>
              <a:rPr lang="en-US" sz="2400" dirty="0"/>
              <a:t>, and radiolarians</a:t>
            </a:r>
          </a:p>
          <a:p>
            <a:pPr marL="269875" lvl="2" indent="-269875">
              <a:spcBef>
                <a:spcPts val="1200"/>
              </a:spcBef>
            </a:pPr>
            <a:r>
              <a:rPr lang="en-US" sz="2200" dirty="0"/>
              <a:t>Classified together based on rRNA sequence data</a:t>
            </a:r>
            <a:endParaRPr lang="en-US" sz="2200" b="1" dirty="0">
              <a:solidFill>
                <a:schemeClr val="bg2">
                  <a:lumMod val="25000"/>
                </a:schemeClr>
              </a:solidFill>
            </a:endParaRPr>
          </a:p>
          <a:p>
            <a:pPr marL="269875" lvl="2" indent="-269875">
              <a:spcBef>
                <a:spcPts val="1200"/>
              </a:spcBef>
            </a:pPr>
            <a:r>
              <a:rPr lang="en-US" sz="2200" dirty="0"/>
              <a:t>Members of this group do not share very many morphological characteristics</a:t>
            </a:r>
          </a:p>
          <a:p>
            <a:pPr marL="269875" lvl="2" indent="-269875">
              <a:spcBef>
                <a:spcPts val="1200"/>
              </a:spcBef>
            </a:pPr>
            <a:r>
              <a:rPr lang="en-US" sz="2200" dirty="0"/>
              <a:t>Commonalities include thin, threadlike </a:t>
            </a:r>
            <a:r>
              <a:rPr lang="en-US" sz="2200" b="1" dirty="0">
                <a:solidFill>
                  <a:srgbClr val="D90000"/>
                </a:solidFill>
              </a:rPr>
              <a:t>pseudopods</a:t>
            </a:r>
            <a:r>
              <a:rPr lang="en-US" sz="2200" dirty="0"/>
              <a:t> and many produce a shell that can be fossilized</a:t>
            </a:r>
          </a:p>
        </p:txBody>
      </p:sp>
      <p:sp>
        <p:nvSpPr>
          <p:cNvPr id="4" name="Slide Number Placeholder 3">
            <a:extLst>
              <a:ext uri="{FF2B5EF4-FFF2-40B4-BE49-F238E27FC236}">
                <a16:creationId xmlns:a16="http://schemas.microsoft.com/office/drawing/2014/main" id="{6BBAF17D-D565-44D2-88C4-101DEEC6F0BB}"/>
              </a:ext>
            </a:extLst>
          </p:cNvPr>
          <p:cNvSpPr>
            <a:spLocks noGrp="1"/>
          </p:cNvSpPr>
          <p:nvPr>
            <p:ph type="sldNum" sz="quarter" idx="4"/>
          </p:nvPr>
        </p:nvSpPr>
        <p:spPr/>
        <p:txBody>
          <a:bodyPr/>
          <a:lstStyle/>
          <a:p>
            <a:fld id="{68151E55-6873-49E2-B8D5-2F265E6F1973}" type="slidenum">
              <a:rPr lang="en-US" smtClean="0"/>
              <a:pPr/>
              <a:t>39</a:t>
            </a:fld>
            <a:endParaRPr lang="en-US" dirty="0"/>
          </a:p>
        </p:txBody>
      </p:sp>
    </p:spTree>
    <p:extLst>
      <p:ext uri="{BB962C8B-B14F-4D97-AF65-F5344CB8AC3E}">
        <p14:creationId xmlns:p14="http://schemas.microsoft.com/office/powerpoint/2010/main" val="21113549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5F49B-A8A0-4493-93B6-571759AB19C3}"/>
              </a:ext>
            </a:extLst>
          </p:cNvPr>
          <p:cNvSpPr>
            <a:spLocks noGrp="1"/>
          </p:cNvSpPr>
          <p:nvPr>
            <p:ph type="title"/>
          </p:nvPr>
        </p:nvSpPr>
        <p:spPr>
          <a:xfrm>
            <a:off x="0" y="1"/>
            <a:ext cx="9144000" cy="1177179"/>
          </a:xfrm>
        </p:spPr>
        <p:txBody>
          <a:bodyPr/>
          <a:lstStyle/>
          <a:p>
            <a:pPr>
              <a:lnSpc>
                <a:spcPct val="100000"/>
              </a:lnSpc>
            </a:pPr>
            <a:r>
              <a:rPr lang="en-US" altLang="en-US" kern="0" dirty="0" err="1"/>
              <a:t>Cercozoa</a:t>
            </a:r>
            <a:endParaRPr lang="en-US" kern="0" dirty="0"/>
          </a:p>
        </p:txBody>
      </p:sp>
      <p:sp>
        <p:nvSpPr>
          <p:cNvPr id="3" name="Text Placeholder 2">
            <a:extLst>
              <a:ext uri="{FF2B5EF4-FFF2-40B4-BE49-F238E27FC236}">
                <a16:creationId xmlns:a16="http://schemas.microsoft.com/office/drawing/2014/main" id="{0D8C28E0-543A-4264-ABEC-7421F6F0CCCA}"/>
              </a:ext>
            </a:extLst>
          </p:cNvPr>
          <p:cNvSpPr>
            <a:spLocks noGrp="1"/>
          </p:cNvSpPr>
          <p:nvPr>
            <p:ph type="body" sz="quarter" idx="19"/>
          </p:nvPr>
        </p:nvSpPr>
        <p:spPr>
          <a:xfrm>
            <a:off x="842963" y="1177180"/>
            <a:ext cx="7623676" cy="5141558"/>
          </a:xfrm>
        </p:spPr>
        <p:txBody>
          <a:bodyPr/>
          <a:lstStyle/>
          <a:p>
            <a:pPr marL="1588" lvl="1" indent="0">
              <a:buNone/>
            </a:pPr>
            <a:r>
              <a:rPr lang="en-US" sz="2400" dirty="0"/>
              <a:t>Have pseudopods or flagella</a:t>
            </a:r>
          </a:p>
          <a:p>
            <a:pPr marL="1588" lvl="1" indent="0">
              <a:buNone/>
            </a:pPr>
            <a:r>
              <a:rPr lang="en-US" sz="2400" dirty="0"/>
              <a:t>Many have an outer netlike appearance</a:t>
            </a:r>
          </a:p>
          <a:p>
            <a:pPr marL="1588" lvl="1" indent="0">
              <a:buNone/>
            </a:pPr>
            <a:r>
              <a:rPr lang="en-US" sz="2400" dirty="0"/>
              <a:t>Some species have sausage-shaped endosymbiotic cyanobacteria</a:t>
            </a:r>
          </a:p>
          <a:p>
            <a:pPr marL="1588" lvl="1" indent="0">
              <a:buNone/>
            </a:pPr>
            <a:r>
              <a:rPr lang="en-US" sz="2400" dirty="0"/>
              <a:t>Endosymbiosis event occurred recently</a:t>
            </a:r>
          </a:p>
          <a:p>
            <a:pPr marL="269875" lvl="2" indent="-269875"/>
            <a:r>
              <a:rPr lang="en-US" sz="2200" dirty="0"/>
              <a:t>100 million years ago</a:t>
            </a:r>
          </a:p>
        </p:txBody>
      </p:sp>
      <p:sp>
        <p:nvSpPr>
          <p:cNvPr id="4" name="Slide Number Placeholder 3">
            <a:extLst>
              <a:ext uri="{FF2B5EF4-FFF2-40B4-BE49-F238E27FC236}">
                <a16:creationId xmlns:a16="http://schemas.microsoft.com/office/drawing/2014/main" id="{6C6E228D-3684-4BA9-B48C-48A4E407CBDE}"/>
              </a:ext>
            </a:extLst>
          </p:cNvPr>
          <p:cNvSpPr>
            <a:spLocks noGrp="1"/>
          </p:cNvSpPr>
          <p:nvPr>
            <p:ph type="sldNum" sz="quarter" idx="4"/>
          </p:nvPr>
        </p:nvSpPr>
        <p:spPr/>
        <p:txBody>
          <a:bodyPr/>
          <a:lstStyle/>
          <a:p>
            <a:fld id="{68151E55-6873-49E2-B8D5-2F265E6F1973}" type="slidenum">
              <a:rPr lang="en-US" smtClean="0"/>
              <a:pPr/>
              <a:t>40</a:t>
            </a:fld>
            <a:endParaRPr lang="en-US" dirty="0"/>
          </a:p>
        </p:txBody>
      </p:sp>
    </p:spTree>
    <p:extLst>
      <p:ext uri="{BB962C8B-B14F-4D97-AF65-F5344CB8AC3E}">
        <p14:creationId xmlns:p14="http://schemas.microsoft.com/office/powerpoint/2010/main" val="34712415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3471F-2757-4211-981E-D84155BA41B3}"/>
              </a:ext>
            </a:extLst>
          </p:cNvPr>
          <p:cNvSpPr>
            <a:spLocks noGrp="1"/>
          </p:cNvSpPr>
          <p:nvPr>
            <p:ph type="title"/>
          </p:nvPr>
        </p:nvSpPr>
        <p:spPr>
          <a:xfrm>
            <a:off x="0" y="1"/>
            <a:ext cx="9144000" cy="1301261"/>
          </a:xfrm>
        </p:spPr>
        <p:txBody>
          <a:bodyPr/>
          <a:lstStyle/>
          <a:p>
            <a:r>
              <a:rPr lang="en-US" dirty="0"/>
              <a:t>The Cercozoan </a:t>
            </a:r>
            <a:r>
              <a:rPr lang="en-US" i="1" dirty="0" err="1"/>
              <a:t>Pulinella</a:t>
            </a:r>
            <a:r>
              <a:rPr lang="en-US" i="1" dirty="0"/>
              <a:t> </a:t>
            </a:r>
            <a:r>
              <a:rPr lang="en-US" i="1" dirty="0" err="1"/>
              <a:t>chromatophora</a:t>
            </a:r>
            <a:endParaRPr lang="en-IN" dirty="0"/>
          </a:p>
        </p:txBody>
      </p:sp>
      <p:pic>
        <p:nvPicPr>
          <p:cNvPr id="6" name="Picture 2" descr="Micrograph shows circular Pulinella chromatophora with spirally textured body on a scale of 10 micrometers. ">
            <a:extLst>
              <a:ext uri="{FF2B5EF4-FFF2-40B4-BE49-F238E27FC236}">
                <a16:creationId xmlns:a16="http://schemas.microsoft.com/office/drawing/2014/main" id="{6E4B79DA-642C-4AEC-BAD3-72A1B6ECD8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3238" y="1522974"/>
            <a:ext cx="7307773" cy="4448908"/>
          </a:xfrm>
          <a:prstGeom prst="rect">
            <a:avLst/>
          </a:prstGeom>
        </p:spPr>
      </p:pic>
      <p:sp>
        <p:nvSpPr>
          <p:cNvPr id="3" name="Text Placeholder 3">
            <a:extLst>
              <a:ext uri="{FF2B5EF4-FFF2-40B4-BE49-F238E27FC236}">
                <a16:creationId xmlns:a16="http://schemas.microsoft.com/office/drawing/2014/main" id="{02608103-7051-47DA-BD97-082B5DA4ED4F}"/>
              </a:ext>
            </a:extLst>
          </p:cNvPr>
          <p:cNvSpPr>
            <a:spLocks noGrp="1"/>
          </p:cNvSpPr>
          <p:nvPr>
            <p:ph type="body" sz="quarter" idx="19"/>
          </p:nvPr>
        </p:nvSpPr>
        <p:spPr>
          <a:xfrm>
            <a:off x="3997020" y="6193594"/>
            <a:ext cx="1149960" cy="314325"/>
          </a:xfrm>
        </p:spPr>
        <p:txBody>
          <a:bodyPr>
            <a:normAutofit/>
          </a:bodyPr>
          <a:lstStyle/>
          <a:p>
            <a:r>
              <a:rPr lang="en-US" sz="1200" dirty="0"/>
              <a:t>Figure 21.14</a:t>
            </a:r>
          </a:p>
        </p:txBody>
      </p:sp>
      <p:sp>
        <p:nvSpPr>
          <p:cNvPr id="4" name="Slide Number Placeholder 4">
            <a:extLst>
              <a:ext uri="{FF2B5EF4-FFF2-40B4-BE49-F238E27FC236}">
                <a16:creationId xmlns:a16="http://schemas.microsoft.com/office/drawing/2014/main" id="{BF62427C-CBF2-4616-98FE-724021E3F86E}"/>
              </a:ext>
            </a:extLst>
          </p:cNvPr>
          <p:cNvSpPr>
            <a:spLocks noGrp="1"/>
          </p:cNvSpPr>
          <p:nvPr>
            <p:ph type="sldNum" sz="quarter" idx="4"/>
          </p:nvPr>
        </p:nvSpPr>
        <p:spPr/>
        <p:txBody>
          <a:bodyPr/>
          <a:lstStyle/>
          <a:p>
            <a:fld id="{68151E55-6873-49E2-B8D5-2F265E6F1973}" type="slidenum">
              <a:rPr lang="en-US" smtClean="0"/>
              <a:pPr/>
              <a:t>41</a:t>
            </a:fld>
            <a:endParaRPr lang="en-US" dirty="0"/>
          </a:p>
        </p:txBody>
      </p:sp>
    </p:spTree>
    <p:extLst>
      <p:ext uri="{BB962C8B-B14F-4D97-AF65-F5344CB8AC3E}">
        <p14:creationId xmlns:p14="http://schemas.microsoft.com/office/powerpoint/2010/main" val="1225597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E0359-6C03-43B7-BEA5-65049FE00A39}"/>
              </a:ext>
            </a:extLst>
          </p:cNvPr>
          <p:cNvSpPr>
            <a:spLocks noGrp="1"/>
          </p:cNvSpPr>
          <p:nvPr>
            <p:ph type="title"/>
          </p:nvPr>
        </p:nvSpPr>
        <p:spPr>
          <a:xfrm>
            <a:off x="1148861" y="0"/>
            <a:ext cx="6846277" cy="1055077"/>
          </a:xfrm>
        </p:spPr>
        <p:txBody>
          <a:bodyPr/>
          <a:lstStyle/>
          <a:p>
            <a:pPr>
              <a:lnSpc>
                <a:spcPct val="100000"/>
              </a:lnSpc>
            </a:pPr>
            <a:r>
              <a:rPr lang="en-US" altLang="en-US" kern="0" dirty="0" err="1"/>
              <a:t>Foraminiferans</a:t>
            </a:r>
            <a:r>
              <a:rPr lang="en-US" altLang="en-US" kern="0" dirty="0"/>
              <a:t> and Radiolarians</a:t>
            </a:r>
            <a:endParaRPr lang="en-US" kern="0" dirty="0"/>
          </a:p>
        </p:txBody>
      </p:sp>
      <p:sp>
        <p:nvSpPr>
          <p:cNvPr id="3" name="Text Placeholder 2">
            <a:extLst>
              <a:ext uri="{FF2B5EF4-FFF2-40B4-BE49-F238E27FC236}">
                <a16:creationId xmlns:a16="http://schemas.microsoft.com/office/drawing/2014/main" id="{5F394F7E-10B0-4C3A-9362-A59265A09400}"/>
              </a:ext>
            </a:extLst>
          </p:cNvPr>
          <p:cNvSpPr>
            <a:spLocks noGrp="1"/>
          </p:cNvSpPr>
          <p:nvPr>
            <p:ph type="body" sz="quarter" idx="19"/>
          </p:nvPr>
        </p:nvSpPr>
        <p:spPr>
          <a:xfrm>
            <a:off x="500415" y="1055077"/>
            <a:ext cx="7623676" cy="5645064"/>
          </a:xfrm>
        </p:spPr>
        <p:txBody>
          <a:bodyPr>
            <a:normAutofit lnSpcReduction="10000"/>
          </a:bodyPr>
          <a:lstStyle/>
          <a:p>
            <a:pPr>
              <a:spcAft>
                <a:spcPts val="300"/>
              </a:spcAft>
            </a:pPr>
            <a:r>
              <a:rPr lang="en-US" sz="2400" b="1" dirty="0" err="1">
                <a:solidFill>
                  <a:srgbClr val="D90000"/>
                </a:solidFill>
              </a:rPr>
              <a:t>Foraminiferans</a:t>
            </a:r>
            <a:endParaRPr lang="en-US" sz="2400" b="1" dirty="0">
              <a:solidFill>
                <a:srgbClr val="D90000"/>
              </a:solidFill>
            </a:endParaRPr>
          </a:p>
          <a:p>
            <a:pPr>
              <a:spcAft>
                <a:spcPts val="300"/>
              </a:spcAft>
            </a:pPr>
            <a:r>
              <a:rPr lang="en-US" sz="2200" dirty="0"/>
              <a:t>Organisms with fine, threadlike pseudopods</a:t>
            </a:r>
          </a:p>
          <a:p>
            <a:pPr>
              <a:spcAft>
                <a:spcPts val="300"/>
              </a:spcAft>
            </a:pPr>
            <a:r>
              <a:rPr lang="en-US" sz="2200" dirty="0"/>
              <a:t>Skeleton is known as a </a:t>
            </a:r>
            <a:r>
              <a:rPr lang="en-US" sz="2200" i="1" dirty="0"/>
              <a:t>test</a:t>
            </a:r>
          </a:p>
          <a:p>
            <a:pPr marL="363538" lvl="1" indent="-363538">
              <a:spcAft>
                <a:spcPts val="300"/>
              </a:spcAft>
            </a:pPr>
            <a:r>
              <a:rPr lang="en-US" dirty="0" err="1"/>
              <a:t>Foraminiferan</a:t>
            </a:r>
            <a:r>
              <a:rPr lang="en-US" dirty="0"/>
              <a:t> test is composed of calcium carbonate and is multichambered</a:t>
            </a:r>
          </a:p>
          <a:p>
            <a:pPr marL="363538" lvl="1" indent="-363538">
              <a:spcAft>
                <a:spcPts val="300"/>
              </a:spcAft>
            </a:pPr>
            <a:r>
              <a:rPr lang="en-US" dirty="0"/>
              <a:t>Pseudopods extend through openings in test</a:t>
            </a:r>
          </a:p>
          <a:p>
            <a:pPr>
              <a:spcAft>
                <a:spcPts val="300"/>
              </a:spcAft>
            </a:pPr>
            <a:r>
              <a:rPr lang="en-US" sz="2200" dirty="0"/>
              <a:t>Each geological period has a distinctive form of </a:t>
            </a:r>
            <a:r>
              <a:rPr lang="en-US" sz="2200" dirty="0" err="1"/>
              <a:t>foraminiferan</a:t>
            </a:r>
            <a:endParaRPr lang="en-US" sz="2200" dirty="0"/>
          </a:p>
          <a:p>
            <a:pPr marL="363538" lvl="1" indent="-363538">
              <a:spcAft>
                <a:spcPts val="0"/>
              </a:spcAft>
            </a:pPr>
            <a:r>
              <a:rPr lang="en-US" dirty="0"/>
              <a:t>Can be used as index fossils to date sedimentary rock</a:t>
            </a:r>
          </a:p>
          <a:p>
            <a:pPr marL="363538" lvl="1" indent="-363538">
              <a:spcAft>
                <a:spcPts val="0"/>
              </a:spcAft>
            </a:pPr>
            <a:r>
              <a:rPr lang="en-US" dirty="0"/>
              <a:t>Ancient deposits formed the White Cliffs of Dover</a:t>
            </a:r>
          </a:p>
          <a:p>
            <a:pPr marL="457200" lvl="1" indent="0">
              <a:spcAft>
                <a:spcPts val="300"/>
              </a:spcAft>
              <a:buNone/>
            </a:pPr>
            <a:endParaRPr lang="en-US" dirty="0"/>
          </a:p>
          <a:p>
            <a:pPr>
              <a:spcAft>
                <a:spcPts val="300"/>
              </a:spcAft>
            </a:pPr>
            <a:r>
              <a:rPr lang="en-US" sz="2400" b="1" dirty="0">
                <a:solidFill>
                  <a:srgbClr val="D90000"/>
                </a:solidFill>
              </a:rPr>
              <a:t>Radiolarians</a:t>
            </a:r>
          </a:p>
          <a:p>
            <a:pPr marL="365760" lvl="1">
              <a:spcAft>
                <a:spcPts val="0"/>
              </a:spcAft>
            </a:pPr>
            <a:r>
              <a:rPr lang="en-US" sz="2200" dirty="0"/>
              <a:t>Test is comprised of silicon and are used as indicators of oil deposits on land and sea</a:t>
            </a:r>
          </a:p>
          <a:p>
            <a:pPr marL="365760" lvl="1">
              <a:spcAft>
                <a:spcPts val="300"/>
              </a:spcAft>
            </a:pPr>
            <a:r>
              <a:rPr lang="en-US" sz="2200" dirty="0"/>
              <a:t>Fossils date back to the Precambrian</a:t>
            </a:r>
            <a:endParaRPr lang="en-US" sz="2200" dirty="0">
              <a:solidFill>
                <a:schemeClr val="bg2">
                  <a:lumMod val="25000"/>
                </a:schemeClr>
              </a:solidFill>
            </a:endParaRPr>
          </a:p>
        </p:txBody>
      </p:sp>
      <p:sp>
        <p:nvSpPr>
          <p:cNvPr id="4" name="Slide Number Placeholder 3">
            <a:extLst>
              <a:ext uri="{FF2B5EF4-FFF2-40B4-BE49-F238E27FC236}">
                <a16:creationId xmlns:a16="http://schemas.microsoft.com/office/drawing/2014/main" id="{8672F87B-0EA4-4B54-AE4C-134C7AE3D0F5}"/>
              </a:ext>
            </a:extLst>
          </p:cNvPr>
          <p:cNvSpPr>
            <a:spLocks noGrp="1"/>
          </p:cNvSpPr>
          <p:nvPr>
            <p:ph type="sldNum" sz="quarter" idx="4"/>
          </p:nvPr>
        </p:nvSpPr>
        <p:spPr/>
        <p:txBody>
          <a:bodyPr/>
          <a:lstStyle/>
          <a:p>
            <a:fld id="{68151E55-6873-49E2-B8D5-2F265E6F1973}" type="slidenum">
              <a:rPr lang="en-US" smtClean="0"/>
              <a:pPr/>
              <a:t>42</a:t>
            </a:fld>
            <a:endParaRPr lang="en-US" dirty="0"/>
          </a:p>
        </p:txBody>
      </p:sp>
    </p:spTree>
    <p:extLst>
      <p:ext uri="{BB962C8B-B14F-4D97-AF65-F5344CB8AC3E}">
        <p14:creationId xmlns:p14="http://schemas.microsoft.com/office/powerpoint/2010/main" val="18707722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9A7EB9F-9CD8-4768-9354-58E233DB0C2D}"/>
              </a:ext>
            </a:extLst>
          </p:cNvPr>
          <p:cNvSpPr>
            <a:spLocks noGrp="1"/>
          </p:cNvSpPr>
          <p:nvPr>
            <p:ph type="title"/>
          </p:nvPr>
        </p:nvSpPr>
        <p:spPr>
          <a:xfrm>
            <a:off x="0" y="1"/>
            <a:ext cx="9144000" cy="1048433"/>
          </a:xfrm>
        </p:spPr>
        <p:txBody>
          <a:bodyPr/>
          <a:lstStyle/>
          <a:p>
            <a:r>
              <a:rPr lang="en-US" altLang="en-US" dirty="0" err="1"/>
              <a:t>Foraminiferans</a:t>
            </a:r>
            <a:r>
              <a:rPr lang="en-US" altLang="en-US" dirty="0"/>
              <a:t> and Radiolarians Examples</a:t>
            </a:r>
            <a:endParaRPr lang="en-IN" dirty="0"/>
          </a:p>
        </p:txBody>
      </p:sp>
      <p:pic>
        <p:nvPicPr>
          <p:cNvPr id="9" name="Picture 2" descr="Set of two micrographs comparing features of Foraminiferans and Radiolarians.">
            <a:extLst>
              <a:ext uri="{FF2B5EF4-FFF2-40B4-BE49-F238E27FC236}">
                <a16:creationId xmlns:a16="http://schemas.microsoft.com/office/drawing/2014/main" id="{D4D49646-13D1-488F-9D60-BB66439A650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073"/>
          <a:stretch/>
        </p:blipFill>
        <p:spPr>
          <a:xfrm>
            <a:off x="2504717" y="1053012"/>
            <a:ext cx="3964160" cy="5002230"/>
          </a:xfrm>
          <a:prstGeom prst="rect">
            <a:avLst/>
          </a:prstGeom>
        </p:spPr>
      </p:pic>
      <p:sp>
        <p:nvSpPr>
          <p:cNvPr id="6" name="Text Placeholder 3">
            <a:extLst>
              <a:ext uri="{FF2B5EF4-FFF2-40B4-BE49-F238E27FC236}">
                <a16:creationId xmlns:a16="http://schemas.microsoft.com/office/drawing/2014/main" id="{2448D559-443D-46E4-9BB6-9B8DE5C188CF}"/>
              </a:ext>
            </a:extLst>
          </p:cNvPr>
          <p:cNvSpPr>
            <a:spLocks noGrp="1"/>
          </p:cNvSpPr>
          <p:nvPr>
            <p:ph type="body" sz="quarter" idx="18"/>
          </p:nvPr>
        </p:nvSpPr>
        <p:spPr>
          <a:xfrm>
            <a:off x="3841468" y="5736339"/>
            <a:ext cx="1459941" cy="314325"/>
          </a:xfrm>
        </p:spPr>
        <p:txBody>
          <a:bodyPr>
            <a:normAutofit/>
          </a:bodyPr>
          <a:lstStyle/>
          <a:p>
            <a:r>
              <a:rPr lang="en-US" sz="1200" dirty="0"/>
              <a:t>Figure 21.15</a:t>
            </a:r>
          </a:p>
        </p:txBody>
      </p:sp>
      <p:sp>
        <p:nvSpPr>
          <p:cNvPr id="7" name="Text Placeholder 4">
            <a:extLst>
              <a:ext uri="{FF2B5EF4-FFF2-40B4-BE49-F238E27FC236}">
                <a16:creationId xmlns:a16="http://schemas.microsoft.com/office/drawing/2014/main" id="{7CE33553-6F02-4F03-8B29-CE64F4192737}"/>
              </a:ext>
            </a:extLst>
          </p:cNvPr>
          <p:cNvSpPr>
            <a:spLocks noGrp="1"/>
          </p:cNvSpPr>
          <p:nvPr>
            <p:ph type="body" sz="quarter" idx="19"/>
          </p:nvPr>
        </p:nvSpPr>
        <p:spPr>
          <a:xfrm>
            <a:off x="2903633" y="6076574"/>
            <a:ext cx="3166329" cy="405435"/>
          </a:xfrm>
        </p:spPr>
        <p:txBody>
          <a:bodyPr>
            <a:normAutofit/>
          </a:bodyPr>
          <a:lstStyle/>
          <a:p>
            <a:r>
              <a:rPr lang="en-US" sz="1200" dirty="0">
                <a:hlinkClick r:id="rId3" action="ppaction://hlinksldjump"/>
              </a:rPr>
              <a:t>Access the text alternative for slide images.</a:t>
            </a:r>
            <a:endParaRPr lang="en-IN" sz="1200" dirty="0"/>
          </a:p>
        </p:txBody>
      </p:sp>
      <p:sp>
        <p:nvSpPr>
          <p:cNvPr id="8" name="Text Placeholder 5">
            <a:extLst>
              <a:ext uri="{FF2B5EF4-FFF2-40B4-BE49-F238E27FC236}">
                <a16:creationId xmlns:a16="http://schemas.microsoft.com/office/drawing/2014/main" id="{A39CE312-635D-4D45-86FE-6301A64A6F62}"/>
              </a:ext>
            </a:extLst>
          </p:cNvPr>
          <p:cNvSpPr>
            <a:spLocks noGrp="1"/>
          </p:cNvSpPr>
          <p:nvPr>
            <p:ph type="body" sz="quarter" idx="21"/>
          </p:nvPr>
        </p:nvSpPr>
        <p:spPr/>
        <p:txBody>
          <a:bodyPr/>
          <a:lstStyle/>
          <a:p>
            <a:pPr lvl="0"/>
            <a:r>
              <a:rPr lang="en-US" sz="800" dirty="0"/>
              <a:t>(a): (cliffs): </a:t>
            </a:r>
            <a:r>
              <a:rPr lang="en-US" sz="800" dirty="0" err="1"/>
              <a:t>Platsee</a:t>
            </a:r>
            <a:r>
              <a:rPr lang="en-US" sz="800" dirty="0"/>
              <a:t>/Shutterstock; (inset): NHPA/</a:t>
            </a:r>
            <a:r>
              <a:rPr lang="en-US" sz="800" dirty="0" err="1"/>
              <a:t>SuperStock</a:t>
            </a:r>
            <a:r>
              <a:rPr lang="en-US" sz="800" dirty="0"/>
              <a:t>; (b): Eye of Science/Science Source</a:t>
            </a:r>
          </a:p>
        </p:txBody>
      </p:sp>
      <p:sp>
        <p:nvSpPr>
          <p:cNvPr id="4" name="Slide Number Placeholder 6">
            <a:extLst>
              <a:ext uri="{FF2B5EF4-FFF2-40B4-BE49-F238E27FC236}">
                <a16:creationId xmlns:a16="http://schemas.microsoft.com/office/drawing/2014/main" id="{F121996A-0FAC-43CC-9745-6D765871AF67}"/>
              </a:ext>
            </a:extLst>
          </p:cNvPr>
          <p:cNvSpPr>
            <a:spLocks noGrp="1"/>
          </p:cNvSpPr>
          <p:nvPr>
            <p:ph type="sldNum" sz="quarter" idx="4"/>
          </p:nvPr>
        </p:nvSpPr>
        <p:spPr/>
        <p:txBody>
          <a:bodyPr/>
          <a:lstStyle/>
          <a:p>
            <a:fld id="{68151E55-6873-49E2-B8D5-2F265E6F1973}" type="slidenum">
              <a:rPr lang="en-US" smtClean="0"/>
              <a:pPr/>
              <a:t>43</a:t>
            </a:fld>
            <a:endParaRPr lang="en-US" dirty="0"/>
          </a:p>
        </p:txBody>
      </p:sp>
    </p:spTree>
    <p:extLst>
      <p:ext uri="{BB962C8B-B14F-4D97-AF65-F5344CB8AC3E}">
        <p14:creationId xmlns:p14="http://schemas.microsoft.com/office/powerpoint/2010/main" val="5404753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A5EA9-B663-458C-A293-7C1E215A9FAA}"/>
              </a:ext>
            </a:extLst>
          </p:cNvPr>
          <p:cNvSpPr>
            <a:spLocks noGrp="1"/>
          </p:cNvSpPr>
          <p:nvPr>
            <p:ph type="title"/>
          </p:nvPr>
        </p:nvSpPr>
        <p:spPr/>
        <p:txBody>
          <a:bodyPr/>
          <a:lstStyle/>
          <a:p>
            <a:r>
              <a:rPr lang="en-US" dirty="0"/>
              <a:t>21.5 Supergroup Archaeplastida</a:t>
            </a:r>
            <a:endParaRPr lang="en-IN" dirty="0"/>
          </a:p>
        </p:txBody>
      </p:sp>
      <p:sp>
        <p:nvSpPr>
          <p:cNvPr id="3" name="Text Placeholder 2">
            <a:extLst>
              <a:ext uri="{FF2B5EF4-FFF2-40B4-BE49-F238E27FC236}">
                <a16:creationId xmlns:a16="http://schemas.microsoft.com/office/drawing/2014/main" id="{DDEDA8CC-C7F5-44B5-BCBA-3553EE916FE2}"/>
              </a:ext>
            </a:extLst>
          </p:cNvPr>
          <p:cNvSpPr>
            <a:spLocks noGrp="1"/>
          </p:cNvSpPr>
          <p:nvPr>
            <p:ph type="body" sz="quarter" idx="19"/>
          </p:nvPr>
        </p:nvSpPr>
        <p:spPr>
          <a:xfrm>
            <a:off x="529310" y="1020017"/>
            <a:ext cx="8085380" cy="5645064"/>
          </a:xfrm>
        </p:spPr>
        <p:txBody>
          <a:bodyPr/>
          <a:lstStyle/>
          <a:p>
            <a:pPr lvl="0">
              <a:lnSpc>
                <a:spcPct val="80000"/>
              </a:lnSpc>
              <a:spcAft>
                <a:spcPts val="900"/>
              </a:spcAft>
            </a:pPr>
            <a:r>
              <a:rPr lang="en-US" dirty="0">
                <a:solidFill>
                  <a:prstClr val="black"/>
                </a:solidFill>
              </a:rPr>
              <a:t>Includes land plants and other photosynthetic organisms that have plastids derived from endosymbiotic cyanobacteria</a:t>
            </a:r>
          </a:p>
          <a:p>
            <a:pPr lvl="0">
              <a:lnSpc>
                <a:spcPct val="80000"/>
              </a:lnSpc>
              <a:spcAft>
                <a:spcPts val="900"/>
              </a:spcAft>
            </a:pPr>
            <a:r>
              <a:rPr lang="en-US" b="1" dirty="0">
                <a:solidFill>
                  <a:srgbClr val="D90000"/>
                </a:solidFill>
              </a:rPr>
              <a:t>Red Algae</a:t>
            </a:r>
          </a:p>
          <a:p>
            <a:pPr marL="0" lvl="1" indent="0">
              <a:lnSpc>
                <a:spcPct val="80000"/>
              </a:lnSpc>
              <a:spcBef>
                <a:spcPts val="0"/>
              </a:spcBef>
              <a:spcAft>
                <a:spcPts val="900"/>
              </a:spcAft>
              <a:buNone/>
            </a:pPr>
            <a:r>
              <a:rPr lang="en-US" dirty="0">
                <a:solidFill>
                  <a:prstClr val="black"/>
                </a:solidFill>
              </a:rPr>
              <a:t>Multicellular seaweeds</a:t>
            </a:r>
          </a:p>
          <a:p>
            <a:pPr marL="0" lvl="1" indent="0">
              <a:lnSpc>
                <a:spcPct val="80000"/>
              </a:lnSpc>
              <a:spcBef>
                <a:spcPts val="0"/>
              </a:spcBef>
              <a:spcAft>
                <a:spcPts val="900"/>
              </a:spcAft>
              <a:buNone/>
            </a:pPr>
            <a:r>
              <a:rPr lang="en-US" dirty="0">
                <a:solidFill>
                  <a:prstClr val="black"/>
                </a:solidFill>
              </a:rPr>
              <a:t>Possess red and blue </a:t>
            </a:r>
            <a:r>
              <a:rPr lang="en-US" b="1" dirty="0">
                <a:solidFill>
                  <a:srgbClr val="D90000"/>
                </a:solidFill>
              </a:rPr>
              <a:t>accessory pigments</a:t>
            </a:r>
            <a:r>
              <a:rPr lang="en-US" dirty="0">
                <a:solidFill>
                  <a:prstClr val="black"/>
                </a:solidFill>
              </a:rPr>
              <a:t>, which transfer energy from absorbed light to the photosynthetic pigment chlorophyll during photosynthesis</a:t>
            </a:r>
          </a:p>
          <a:p>
            <a:pPr marL="0" lvl="1" indent="0">
              <a:lnSpc>
                <a:spcPct val="80000"/>
              </a:lnSpc>
              <a:spcBef>
                <a:spcPts val="0"/>
              </a:spcBef>
              <a:spcAft>
                <a:spcPts val="900"/>
              </a:spcAft>
              <a:buNone/>
            </a:pPr>
            <a:r>
              <a:rPr lang="en-US" dirty="0">
                <a:solidFill>
                  <a:prstClr val="black"/>
                </a:solidFill>
              </a:rPr>
              <a:t>Much smaller and more delicate than brown algae</a:t>
            </a:r>
          </a:p>
          <a:p>
            <a:pPr marL="0" lvl="1" indent="0">
              <a:lnSpc>
                <a:spcPct val="80000"/>
              </a:lnSpc>
              <a:spcBef>
                <a:spcPts val="0"/>
              </a:spcBef>
              <a:spcAft>
                <a:spcPts val="900"/>
              </a:spcAft>
              <a:buNone/>
            </a:pPr>
            <a:r>
              <a:rPr lang="en-US" dirty="0">
                <a:solidFill>
                  <a:prstClr val="black"/>
                </a:solidFill>
              </a:rPr>
              <a:t>Live mostly in warmer seawater, some at depths greater than 70 m</a:t>
            </a:r>
          </a:p>
          <a:p>
            <a:pPr marL="0" lvl="1" indent="0">
              <a:lnSpc>
                <a:spcPct val="80000"/>
              </a:lnSpc>
              <a:spcBef>
                <a:spcPts val="0"/>
              </a:spcBef>
              <a:spcAft>
                <a:spcPts val="900"/>
              </a:spcAft>
              <a:buNone/>
            </a:pPr>
            <a:r>
              <a:rPr lang="en-US" dirty="0">
                <a:solidFill>
                  <a:prstClr val="black"/>
                </a:solidFill>
              </a:rPr>
              <a:t>Economic Importance</a:t>
            </a:r>
          </a:p>
          <a:p>
            <a:pPr marL="269875" lvl="2" indent="-269875">
              <a:lnSpc>
                <a:spcPct val="80000"/>
              </a:lnSpc>
              <a:spcBef>
                <a:spcPts val="0"/>
              </a:spcBef>
              <a:spcAft>
                <a:spcPts val="900"/>
              </a:spcAft>
              <a:tabLst>
                <a:tab pos="269875" algn="l"/>
              </a:tabLst>
            </a:pPr>
            <a:r>
              <a:rPr lang="en-US" dirty="0">
                <a:solidFill>
                  <a:prstClr val="black"/>
                </a:solidFill>
              </a:rPr>
              <a:t>Agar – capsules for drugs, dental impressions, cosmetics, bacterial culture medium, electrophoresis, food prep</a:t>
            </a:r>
          </a:p>
          <a:p>
            <a:pPr marL="269875" lvl="2" indent="-269875">
              <a:lnSpc>
                <a:spcPct val="80000"/>
              </a:lnSpc>
              <a:spcBef>
                <a:spcPts val="0"/>
              </a:spcBef>
              <a:spcAft>
                <a:spcPts val="900"/>
              </a:spcAft>
              <a:tabLst>
                <a:tab pos="269875" algn="l"/>
              </a:tabLst>
            </a:pPr>
            <a:r>
              <a:rPr lang="en-US" dirty="0">
                <a:solidFill>
                  <a:prstClr val="black"/>
                </a:solidFill>
              </a:rPr>
              <a:t>Carrageenan – an emulsifying agent used in the production of chocolate and cosmetics</a:t>
            </a:r>
          </a:p>
          <a:p>
            <a:pPr marL="269875" lvl="2" indent="-269875">
              <a:lnSpc>
                <a:spcPct val="80000"/>
              </a:lnSpc>
              <a:spcBef>
                <a:spcPts val="0"/>
              </a:spcBef>
              <a:spcAft>
                <a:spcPts val="900"/>
              </a:spcAft>
              <a:tabLst>
                <a:tab pos="269875" algn="l"/>
              </a:tabLst>
            </a:pPr>
            <a:r>
              <a:rPr lang="en-US" dirty="0">
                <a:solidFill>
                  <a:prstClr val="black"/>
                </a:solidFill>
              </a:rPr>
              <a:t>The reddish-black wrappings around sushi rolls consist of processed </a:t>
            </a:r>
            <a:r>
              <a:rPr lang="en-US" i="1" dirty="0" err="1">
                <a:solidFill>
                  <a:prstClr val="black"/>
                </a:solidFill>
              </a:rPr>
              <a:t>Porphyra</a:t>
            </a:r>
            <a:r>
              <a:rPr lang="en-US" dirty="0">
                <a:solidFill>
                  <a:prstClr val="black"/>
                </a:solidFill>
              </a:rPr>
              <a:t> blades</a:t>
            </a:r>
          </a:p>
        </p:txBody>
      </p:sp>
      <p:sp>
        <p:nvSpPr>
          <p:cNvPr id="4" name="Slide Number Placeholder 3">
            <a:extLst>
              <a:ext uri="{FF2B5EF4-FFF2-40B4-BE49-F238E27FC236}">
                <a16:creationId xmlns:a16="http://schemas.microsoft.com/office/drawing/2014/main" id="{2B502A69-32D6-4984-8910-471EA4D42D31}"/>
              </a:ext>
            </a:extLst>
          </p:cNvPr>
          <p:cNvSpPr>
            <a:spLocks noGrp="1"/>
          </p:cNvSpPr>
          <p:nvPr>
            <p:ph type="sldNum" sz="quarter" idx="4"/>
          </p:nvPr>
        </p:nvSpPr>
        <p:spPr/>
        <p:txBody>
          <a:bodyPr/>
          <a:lstStyle/>
          <a:p>
            <a:fld id="{68151E55-6873-49E2-B8D5-2F265E6F1973}" type="slidenum">
              <a:rPr lang="en-US" smtClean="0"/>
              <a:pPr/>
              <a:t>44</a:t>
            </a:fld>
            <a:endParaRPr lang="en-US" dirty="0"/>
          </a:p>
        </p:txBody>
      </p:sp>
    </p:spTree>
    <p:extLst>
      <p:ext uri="{BB962C8B-B14F-4D97-AF65-F5344CB8AC3E}">
        <p14:creationId xmlns:p14="http://schemas.microsoft.com/office/powerpoint/2010/main" val="22433750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C5087-51A0-488D-BDB0-A505DFFD533C}"/>
              </a:ext>
            </a:extLst>
          </p:cNvPr>
          <p:cNvSpPr>
            <a:spLocks noGrp="1"/>
          </p:cNvSpPr>
          <p:nvPr>
            <p:ph type="title"/>
          </p:nvPr>
        </p:nvSpPr>
        <p:spPr>
          <a:xfrm>
            <a:off x="0" y="1"/>
            <a:ext cx="9144000" cy="1026355"/>
          </a:xfrm>
        </p:spPr>
        <p:txBody>
          <a:bodyPr/>
          <a:lstStyle/>
          <a:p>
            <a:r>
              <a:rPr lang="en-US" altLang="en-US" dirty="0"/>
              <a:t>Red Algae</a:t>
            </a:r>
            <a:endParaRPr lang="en-IN" dirty="0"/>
          </a:p>
        </p:txBody>
      </p:sp>
      <p:pic>
        <p:nvPicPr>
          <p:cNvPr id="7" name="Picture 2" descr="Close-up red algae depicted slimy glossy body.">
            <a:extLst>
              <a:ext uri="{FF2B5EF4-FFF2-40B4-BE49-F238E27FC236}">
                <a16:creationId xmlns:a16="http://schemas.microsoft.com/office/drawing/2014/main" id="{7B670CC3-2124-4A08-8CCB-0424EBAAF6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8462" y="1143000"/>
            <a:ext cx="5807075"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3">
            <a:extLst>
              <a:ext uri="{FF2B5EF4-FFF2-40B4-BE49-F238E27FC236}">
                <a16:creationId xmlns:a16="http://schemas.microsoft.com/office/drawing/2014/main" id="{2FBC2453-A703-4FE9-92E8-39819D77379D}"/>
              </a:ext>
            </a:extLst>
          </p:cNvPr>
          <p:cNvSpPr>
            <a:spLocks noGrp="1"/>
          </p:cNvSpPr>
          <p:nvPr>
            <p:ph type="body" sz="quarter" idx="18"/>
          </p:nvPr>
        </p:nvSpPr>
        <p:spPr>
          <a:xfrm>
            <a:off x="521258" y="5770086"/>
            <a:ext cx="8101481" cy="314325"/>
          </a:xfrm>
        </p:spPr>
        <p:txBody>
          <a:bodyPr>
            <a:normAutofit/>
          </a:bodyPr>
          <a:lstStyle/>
          <a:p>
            <a:r>
              <a:rPr lang="en-US" sz="1200" dirty="0"/>
              <a:t>Figure 21.16</a:t>
            </a:r>
          </a:p>
        </p:txBody>
      </p:sp>
      <p:sp>
        <p:nvSpPr>
          <p:cNvPr id="6" name="Text Placeholder 4">
            <a:extLst>
              <a:ext uri="{FF2B5EF4-FFF2-40B4-BE49-F238E27FC236}">
                <a16:creationId xmlns:a16="http://schemas.microsoft.com/office/drawing/2014/main" id="{47745449-9CE4-4FA6-96C7-4DA8C7152CB1}"/>
              </a:ext>
            </a:extLst>
          </p:cNvPr>
          <p:cNvSpPr>
            <a:spLocks noGrp="1"/>
          </p:cNvSpPr>
          <p:nvPr>
            <p:ph type="body" sz="quarter" idx="21"/>
          </p:nvPr>
        </p:nvSpPr>
        <p:spPr>
          <a:xfrm>
            <a:off x="7713784" y="6563439"/>
            <a:ext cx="908395" cy="142161"/>
          </a:xfrm>
        </p:spPr>
        <p:txBody>
          <a:bodyPr/>
          <a:lstStyle/>
          <a:p>
            <a:r>
              <a:rPr lang="en-US" altLang="en-US" dirty="0">
                <a:latin typeface="Arial Unicode MS"/>
                <a:ea typeface="Arial Unicode MS"/>
                <a:cs typeface="Arial" panose="020B0604020202020204" pitchFamily="34" charset="0"/>
              </a:rPr>
              <a:t>Steven P. Lynch</a:t>
            </a:r>
          </a:p>
        </p:txBody>
      </p:sp>
      <p:sp>
        <p:nvSpPr>
          <p:cNvPr id="4" name="Slide Number Placeholder 5">
            <a:extLst>
              <a:ext uri="{FF2B5EF4-FFF2-40B4-BE49-F238E27FC236}">
                <a16:creationId xmlns:a16="http://schemas.microsoft.com/office/drawing/2014/main" id="{14C6D7D2-19A8-4E94-926F-D57B6DE7B700}"/>
              </a:ext>
            </a:extLst>
          </p:cNvPr>
          <p:cNvSpPr>
            <a:spLocks noGrp="1"/>
          </p:cNvSpPr>
          <p:nvPr>
            <p:ph type="sldNum" sz="quarter" idx="4"/>
          </p:nvPr>
        </p:nvSpPr>
        <p:spPr/>
        <p:txBody>
          <a:bodyPr/>
          <a:lstStyle/>
          <a:p>
            <a:fld id="{68151E55-6873-49E2-B8D5-2F265E6F1973}" type="slidenum">
              <a:rPr lang="en-US" smtClean="0"/>
              <a:pPr/>
              <a:t>45</a:t>
            </a:fld>
            <a:endParaRPr lang="en-US" dirty="0"/>
          </a:p>
        </p:txBody>
      </p:sp>
    </p:spTree>
    <p:extLst>
      <p:ext uri="{BB962C8B-B14F-4D97-AF65-F5344CB8AC3E}">
        <p14:creationId xmlns:p14="http://schemas.microsoft.com/office/powerpoint/2010/main" val="35836744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FD78C-644C-4CD6-9854-D45C8A29CC89}"/>
              </a:ext>
            </a:extLst>
          </p:cNvPr>
          <p:cNvSpPr>
            <a:spLocks noGrp="1"/>
          </p:cNvSpPr>
          <p:nvPr>
            <p:ph type="title"/>
          </p:nvPr>
        </p:nvSpPr>
        <p:spPr/>
        <p:txBody>
          <a:bodyPr/>
          <a:lstStyle/>
          <a:p>
            <a:pPr>
              <a:lnSpc>
                <a:spcPct val="100000"/>
              </a:lnSpc>
            </a:pPr>
            <a:r>
              <a:rPr lang="en-US" altLang="en-US" kern="0" dirty="0"/>
              <a:t>Green Algae</a:t>
            </a:r>
            <a:endParaRPr lang="en-US" kern="0" dirty="0"/>
          </a:p>
        </p:txBody>
      </p:sp>
      <p:sp>
        <p:nvSpPr>
          <p:cNvPr id="3" name="Text Placeholder 2">
            <a:extLst>
              <a:ext uri="{FF2B5EF4-FFF2-40B4-BE49-F238E27FC236}">
                <a16:creationId xmlns:a16="http://schemas.microsoft.com/office/drawing/2014/main" id="{0862117B-BC42-4489-9D9B-472A0712DCAF}"/>
              </a:ext>
            </a:extLst>
          </p:cNvPr>
          <p:cNvSpPr>
            <a:spLocks noGrp="1"/>
          </p:cNvSpPr>
          <p:nvPr>
            <p:ph type="body" sz="quarter" idx="19"/>
          </p:nvPr>
        </p:nvSpPr>
        <p:spPr>
          <a:xfrm>
            <a:off x="842962" y="1177180"/>
            <a:ext cx="7949345" cy="5645064"/>
          </a:xfrm>
        </p:spPr>
        <p:txBody>
          <a:bodyPr/>
          <a:lstStyle/>
          <a:p>
            <a:pPr lvl="0">
              <a:lnSpc>
                <a:spcPct val="80000"/>
              </a:lnSpc>
              <a:spcAft>
                <a:spcPts val="900"/>
              </a:spcAft>
            </a:pPr>
            <a:r>
              <a:rPr lang="en-US" sz="2400" b="1" dirty="0">
                <a:solidFill>
                  <a:srgbClr val="D90000"/>
                </a:solidFill>
              </a:rPr>
              <a:t>Green algae </a:t>
            </a:r>
            <a:r>
              <a:rPr lang="en-US" sz="2400" dirty="0">
                <a:solidFill>
                  <a:prstClr val="black"/>
                </a:solidFill>
              </a:rPr>
              <a:t>refers to many phyla of protists that contain both chlorophylls </a:t>
            </a:r>
            <a:r>
              <a:rPr lang="en-US" sz="2400" i="1" dirty="0">
                <a:solidFill>
                  <a:prstClr val="black"/>
                </a:solidFill>
              </a:rPr>
              <a:t>a</a:t>
            </a:r>
            <a:r>
              <a:rPr lang="en-US" sz="2400" dirty="0">
                <a:solidFill>
                  <a:prstClr val="black"/>
                </a:solidFill>
              </a:rPr>
              <a:t> and </a:t>
            </a:r>
            <a:r>
              <a:rPr lang="en-US" sz="2400" i="1" dirty="0">
                <a:solidFill>
                  <a:prstClr val="black"/>
                </a:solidFill>
              </a:rPr>
              <a:t>b</a:t>
            </a:r>
            <a:r>
              <a:rPr lang="en-US" sz="2400" dirty="0">
                <a:solidFill>
                  <a:prstClr val="black"/>
                </a:solidFill>
              </a:rPr>
              <a:t> and carry out photosynthesis</a:t>
            </a:r>
          </a:p>
          <a:p>
            <a:pPr marL="0" lvl="1" indent="0">
              <a:lnSpc>
                <a:spcPct val="80000"/>
              </a:lnSpc>
              <a:spcBef>
                <a:spcPts val="600"/>
              </a:spcBef>
              <a:spcAft>
                <a:spcPts val="900"/>
              </a:spcAft>
              <a:buNone/>
            </a:pPr>
            <a:r>
              <a:rPr lang="en-US" sz="2200" dirty="0">
                <a:solidFill>
                  <a:prstClr val="black"/>
                </a:solidFill>
              </a:rPr>
              <a:t>Inhabit a variety of environments including oceans, freshwater, snowbanks, tree bark, and the backs of turtles</a:t>
            </a:r>
          </a:p>
          <a:p>
            <a:pPr marL="0" lvl="1" indent="0">
              <a:lnSpc>
                <a:spcPct val="80000"/>
              </a:lnSpc>
              <a:spcBef>
                <a:spcPts val="600"/>
              </a:spcBef>
              <a:spcAft>
                <a:spcPts val="900"/>
              </a:spcAft>
              <a:buNone/>
            </a:pPr>
            <a:r>
              <a:rPr lang="en-US" sz="2200" dirty="0">
                <a:solidFill>
                  <a:prstClr val="black"/>
                </a:solidFill>
              </a:rPr>
              <a:t>Many are symbionts with fungi, plants, or animals</a:t>
            </a:r>
          </a:p>
          <a:p>
            <a:pPr marL="0" lvl="1" indent="0">
              <a:lnSpc>
                <a:spcPct val="80000"/>
              </a:lnSpc>
              <a:spcBef>
                <a:spcPts val="600"/>
              </a:spcBef>
              <a:spcAft>
                <a:spcPts val="900"/>
              </a:spcAft>
              <a:buNone/>
            </a:pPr>
            <a:r>
              <a:rPr lang="en-US" sz="2200" dirty="0">
                <a:solidFill>
                  <a:prstClr val="black"/>
                </a:solidFill>
              </a:rPr>
              <a:t>Morphology varies</a:t>
            </a:r>
          </a:p>
          <a:p>
            <a:pPr marL="176213" lvl="2" indent="-176213">
              <a:lnSpc>
                <a:spcPct val="80000"/>
              </a:lnSpc>
              <a:spcBef>
                <a:spcPts val="600"/>
              </a:spcBef>
              <a:spcAft>
                <a:spcPts val="900"/>
              </a:spcAft>
            </a:pPr>
            <a:r>
              <a:rPr lang="en-US" sz="2000" dirty="0">
                <a:solidFill>
                  <a:prstClr val="black"/>
                </a:solidFill>
              </a:rPr>
              <a:t>The majority are unicellular, but some are filamentous or colonial</a:t>
            </a:r>
          </a:p>
          <a:p>
            <a:pPr marL="176213" lvl="2" indent="-176213">
              <a:lnSpc>
                <a:spcPct val="80000"/>
              </a:lnSpc>
              <a:spcBef>
                <a:spcPts val="600"/>
              </a:spcBef>
              <a:spcAft>
                <a:spcPts val="900"/>
              </a:spcAft>
            </a:pPr>
            <a:r>
              <a:rPr lang="en-US" sz="2000" dirty="0">
                <a:solidFill>
                  <a:prstClr val="black"/>
                </a:solidFill>
              </a:rPr>
              <a:t>Seaweeds are multicellular and resemble leaves of lettuce</a:t>
            </a:r>
          </a:p>
          <a:p>
            <a:pPr marL="176213" lvl="2" indent="-176213">
              <a:lnSpc>
                <a:spcPct val="80000"/>
              </a:lnSpc>
              <a:spcBef>
                <a:spcPts val="600"/>
              </a:spcBef>
              <a:spcAft>
                <a:spcPts val="900"/>
              </a:spcAft>
            </a:pPr>
            <a:r>
              <a:rPr lang="en-US" sz="2000" dirty="0">
                <a:solidFill>
                  <a:prstClr val="black"/>
                </a:solidFill>
              </a:rPr>
              <a:t>They may be orange-, red-, or rust-colored</a:t>
            </a:r>
          </a:p>
          <a:p>
            <a:pPr marL="0" lvl="1" indent="0">
              <a:lnSpc>
                <a:spcPct val="80000"/>
              </a:lnSpc>
              <a:spcBef>
                <a:spcPts val="600"/>
              </a:spcBef>
              <a:spcAft>
                <a:spcPts val="900"/>
              </a:spcAft>
              <a:buNone/>
            </a:pPr>
            <a:r>
              <a:rPr lang="en-US" sz="2200" dirty="0">
                <a:solidFill>
                  <a:prstClr val="black"/>
                </a:solidFill>
              </a:rPr>
              <a:t>Subdivided into two groups, the </a:t>
            </a:r>
            <a:r>
              <a:rPr lang="en-US" sz="2200" b="1" dirty="0">
                <a:solidFill>
                  <a:srgbClr val="D90000"/>
                </a:solidFill>
              </a:rPr>
              <a:t>chlorophytes</a:t>
            </a:r>
            <a:r>
              <a:rPr lang="en-US" sz="2200" dirty="0">
                <a:solidFill>
                  <a:prstClr val="black"/>
                </a:solidFill>
              </a:rPr>
              <a:t> and </a:t>
            </a:r>
            <a:r>
              <a:rPr lang="en-US" sz="2200" b="1" dirty="0">
                <a:solidFill>
                  <a:srgbClr val="D90000"/>
                </a:solidFill>
              </a:rPr>
              <a:t>charophytes</a:t>
            </a:r>
          </a:p>
          <a:p>
            <a:pPr marL="176213" lvl="2" indent="-176213">
              <a:lnSpc>
                <a:spcPct val="80000"/>
              </a:lnSpc>
              <a:spcBef>
                <a:spcPts val="600"/>
              </a:spcBef>
              <a:spcAft>
                <a:spcPts val="900"/>
              </a:spcAft>
            </a:pPr>
            <a:r>
              <a:rPr lang="en-US" sz="2000" dirty="0">
                <a:solidFill>
                  <a:prstClr val="black"/>
                </a:solidFill>
              </a:rPr>
              <a:t>Land plants are thought to be derived from charophytes</a:t>
            </a:r>
          </a:p>
        </p:txBody>
      </p:sp>
      <p:sp>
        <p:nvSpPr>
          <p:cNvPr id="4" name="Slide Number Placeholder 3">
            <a:extLst>
              <a:ext uri="{FF2B5EF4-FFF2-40B4-BE49-F238E27FC236}">
                <a16:creationId xmlns:a16="http://schemas.microsoft.com/office/drawing/2014/main" id="{E44B45D6-E02A-4DFC-BDDE-DFBAC9CDBF6A}"/>
              </a:ext>
            </a:extLst>
          </p:cNvPr>
          <p:cNvSpPr>
            <a:spLocks noGrp="1"/>
          </p:cNvSpPr>
          <p:nvPr>
            <p:ph type="sldNum" sz="quarter" idx="4"/>
          </p:nvPr>
        </p:nvSpPr>
        <p:spPr/>
        <p:txBody>
          <a:bodyPr/>
          <a:lstStyle/>
          <a:p>
            <a:fld id="{68151E55-6873-49E2-B8D5-2F265E6F1973}" type="slidenum">
              <a:rPr lang="en-US" smtClean="0"/>
              <a:pPr/>
              <a:t>46</a:t>
            </a:fld>
            <a:endParaRPr lang="en-US" dirty="0"/>
          </a:p>
        </p:txBody>
      </p:sp>
    </p:spTree>
    <p:extLst>
      <p:ext uri="{BB962C8B-B14F-4D97-AF65-F5344CB8AC3E}">
        <p14:creationId xmlns:p14="http://schemas.microsoft.com/office/powerpoint/2010/main" val="32434224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692A6-8F3A-443A-8803-C7138CE9CF54}"/>
              </a:ext>
            </a:extLst>
          </p:cNvPr>
          <p:cNvSpPr>
            <a:spLocks noGrp="1"/>
          </p:cNvSpPr>
          <p:nvPr>
            <p:ph type="title"/>
          </p:nvPr>
        </p:nvSpPr>
        <p:spPr/>
        <p:txBody>
          <a:bodyPr/>
          <a:lstStyle/>
          <a:p>
            <a:r>
              <a:rPr lang="en-US" altLang="en-US" dirty="0"/>
              <a:t>Chlorophytes</a:t>
            </a:r>
            <a:endParaRPr lang="en-IN" dirty="0"/>
          </a:p>
        </p:txBody>
      </p:sp>
      <p:sp>
        <p:nvSpPr>
          <p:cNvPr id="3" name="Text Placeholder 2">
            <a:extLst>
              <a:ext uri="{FF2B5EF4-FFF2-40B4-BE49-F238E27FC236}">
                <a16:creationId xmlns:a16="http://schemas.microsoft.com/office/drawing/2014/main" id="{D25ACF0F-6758-42AA-81FB-846AE9CF7618}"/>
              </a:ext>
            </a:extLst>
          </p:cNvPr>
          <p:cNvSpPr>
            <a:spLocks noGrp="1"/>
          </p:cNvSpPr>
          <p:nvPr>
            <p:ph type="body" sz="quarter" idx="19"/>
          </p:nvPr>
        </p:nvSpPr>
        <p:spPr>
          <a:xfrm>
            <a:off x="842963" y="1177180"/>
            <a:ext cx="7623676" cy="5645064"/>
          </a:xfrm>
        </p:spPr>
        <p:txBody>
          <a:bodyPr>
            <a:normAutofit fontScale="92500"/>
          </a:bodyPr>
          <a:lstStyle/>
          <a:p>
            <a:pPr>
              <a:spcBef>
                <a:spcPts val="600"/>
              </a:spcBef>
              <a:spcAft>
                <a:spcPts val="600"/>
              </a:spcAft>
            </a:pPr>
            <a:r>
              <a:rPr lang="en-US" altLang="en-US" sz="2400" i="1" dirty="0">
                <a:solidFill>
                  <a:prstClr val="black"/>
                </a:solidFill>
              </a:rPr>
              <a:t>Chlamydomonas: </a:t>
            </a:r>
            <a:r>
              <a:rPr lang="en-US" altLang="en-US" sz="2400" dirty="0">
                <a:solidFill>
                  <a:prstClr val="black"/>
                </a:solidFill>
              </a:rPr>
              <a:t>tiny chlorophyte that inhabits still, freshwater pools</a:t>
            </a:r>
          </a:p>
          <a:p>
            <a:pPr lvl="1">
              <a:spcBef>
                <a:spcPts val="600"/>
              </a:spcBef>
              <a:spcAft>
                <a:spcPts val="600"/>
              </a:spcAft>
            </a:pPr>
            <a:r>
              <a:rPr lang="en-US" altLang="en-US" sz="2100" dirty="0">
                <a:solidFill>
                  <a:prstClr val="black"/>
                </a:solidFill>
              </a:rPr>
              <a:t>Fossil ancestors date back over a billion years</a:t>
            </a:r>
          </a:p>
          <a:p>
            <a:pPr lvl="1">
              <a:spcBef>
                <a:spcPts val="600"/>
              </a:spcBef>
              <a:spcAft>
                <a:spcPts val="600"/>
              </a:spcAft>
            </a:pPr>
            <a:r>
              <a:rPr lang="en-US" altLang="en-US" sz="2100" dirty="0">
                <a:solidFill>
                  <a:prstClr val="black"/>
                </a:solidFill>
              </a:rPr>
              <a:t>Defined cell wall and a single, large, cup-shaped chloroplast</a:t>
            </a:r>
          </a:p>
          <a:p>
            <a:pPr lvl="1">
              <a:spcBef>
                <a:spcPts val="600"/>
              </a:spcBef>
              <a:spcAft>
                <a:spcPts val="600"/>
              </a:spcAft>
            </a:pPr>
            <a:r>
              <a:rPr lang="en-US" altLang="en-US" sz="2100" dirty="0">
                <a:solidFill>
                  <a:prstClr val="black"/>
                </a:solidFill>
              </a:rPr>
              <a:t>Chloroplast contains a </a:t>
            </a:r>
            <a:r>
              <a:rPr lang="en-US" altLang="en-US" sz="2100" b="1" dirty="0">
                <a:solidFill>
                  <a:prstClr val="black"/>
                </a:solidFill>
              </a:rPr>
              <a:t>pyrenoid</a:t>
            </a:r>
            <a:r>
              <a:rPr lang="en-US" altLang="en-US" sz="2100" dirty="0">
                <a:solidFill>
                  <a:prstClr val="black"/>
                </a:solidFill>
              </a:rPr>
              <a:t> where starch is synthesized</a:t>
            </a:r>
          </a:p>
          <a:p>
            <a:pPr lvl="1">
              <a:spcBef>
                <a:spcPts val="600"/>
              </a:spcBef>
              <a:spcAft>
                <a:spcPts val="600"/>
              </a:spcAft>
            </a:pPr>
            <a:r>
              <a:rPr lang="en-US" altLang="en-US" sz="2100" dirty="0">
                <a:solidFill>
                  <a:prstClr val="black"/>
                </a:solidFill>
              </a:rPr>
              <a:t>Many species have a bright red, light sensitive eyespot</a:t>
            </a:r>
          </a:p>
          <a:p>
            <a:pPr marL="714375" lvl="2" indent="-350838">
              <a:spcBef>
                <a:spcPts val="600"/>
              </a:spcBef>
              <a:spcAft>
                <a:spcPts val="600"/>
              </a:spcAft>
            </a:pPr>
            <a:r>
              <a:rPr lang="en-US" altLang="en-US" sz="1900" dirty="0">
                <a:solidFill>
                  <a:prstClr val="black"/>
                </a:solidFill>
              </a:rPr>
              <a:t>Guides organism toward light for photosynthesis</a:t>
            </a:r>
          </a:p>
          <a:p>
            <a:pPr marL="714375" lvl="2" indent="-350838">
              <a:spcBef>
                <a:spcPts val="600"/>
              </a:spcBef>
              <a:spcAft>
                <a:spcPts val="600"/>
              </a:spcAft>
            </a:pPr>
            <a:r>
              <a:rPr lang="en-US" altLang="en-US" sz="1900" dirty="0">
                <a:solidFill>
                  <a:prstClr val="black"/>
                </a:solidFill>
              </a:rPr>
              <a:t>In favorable conditions, </a:t>
            </a:r>
            <a:r>
              <a:rPr lang="en-US" altLang="en-US" sz="1900" i="1" dirty="0">
                <a:solidFill>
                  <a:prstClr val="black"/>
                </a:solidFill>
              </a:rPr>
              <a:t>Chlamydomonas</a:t>
            </a:r>
            <a:r>
              <a:rPr lang="en-US" altLang="en-US" sz="1900" dirty="0">
                <a:solidFill>
                  <a:prstClr val="black"/>
                </a:solidFill>
              </a:rPr>
              <a:t> exists as haploid cells </a:t>
            </a:r>
          </a:p>
          <a:p>
            <a:pPr marL="903288" lvl="3" indent="-188913">
              <a:spcBef>
                <a:spcPts val="600"/>
              </a:spcBef>
              <a:spcAft>
                <a:spcPts val="600"/>
              </a:spcAft>
            </a:pPr>
            <a:r>
              <a:rPr lang="en-US" altLang="en-US" sz="1700" dirty="0">
                <a:solidFill>
                  <a:prstClr val="black"/>
                </a:solidFill>
              </a:rPr>
              <a:t>Known as </a:t>
            </a:r>
            <a:r>
              <a:rPr lang="en-US" altLang="en-US" sz="1700" i="1" dirty="0">
                <a:solidFill>
                  <a:prstClr val="black"/>
                </a:solidFill>
              </a:rPr>
              <a:t>vegetative cells </a:t>
            </a:r>
            <a:r>
              <a:rPr lang="en-US" altLang="en-US" sz="1700" dirty="0">
                <a:solidFill>
                  <a:prstClr val="black"/>
                </a:solidFill>
              </a:rPr>
              <a:t>which</a:t>
            </a:r>
            <a:r>
              <a:rPr lang="en-US" altLang="en-US" sz="1700" i="1" dirty="0">
                <a:solidFill>
                  <a:prstClr val="black"/>
                </a:solidFill>
              </a:rPr>
              <a:t> </a:t>
            </a:r>
            <a:r>
              <a:rPr lang="en-US" altLang="en-US" sz="1700" dirty="0">
                <a:solidFill>
                  <a:prstClr val="black"/>
                </a:solidFill>
              </a:rPr>
              <a:t>reproduce asexually by mitosis</a:t>
            </a:r>
          </a:p>
          <a:p>
            <a:pPr marL="714375" lvl="2" indent="-350838">
              <a:spcBef>
                <a:spcPts val="600"/>
              </a:spcBef>
              <a:spcAft>
                <a:spcPts val="600"/>
              </a:spcAft>
            </a:pPr>
            <a:r>
              <a:rPr lang="en-US" altLang="en-US" sz="1900" dirty="0">
                <a:solidFill>
                  <a:prstClr val="black"/>
                </a:solidFill>
              </a:rPr>
              <a:t>In unfavorable conditions, </a:t>
            </a:r>
            <a:r>
              <a:rPr lang="en-US" altLang="en-US" sz="1900" i="1" dirty="0">
                <a:solidFill>
                  <a:prstClr val="black"/>
                </a:solidFill>
              </a:rPr>
              <a:t>Chlamydomonas </a:t>
            </a:r>
            <a:r>
              <a:rPr lang="en-US" altLang="en-US" sz="1900" dirty="0">
                <a:solidFill>
                  <a:prstClr val="black"/>
                </a:solidFill>
              </a:rPr>
              <a:t>reproduces sexually</a:t>
            </a:r>
          </a:p>
          <a:p>
            <a:pPr marL="903288" lvl="3" indent="-188913">
              <a:spcBef>
                <a:spcPts val="600"/>
              </a:spcBef>
              <a:spcAft>
                <a:spcPts val="600"/>
              </a:spcAft>
            </a:pPr>
            <a:r>
              <a:rPr lang="en-US" altLang="en-US" sz="1700" dirty="0">
                <a:solidFill>
                  <a:prstClr val="black"/>
                </a:solidFill>
              </a:rPr>
              <a:t>Produce zygospores which lay dormant until conditions are favorable</a:t>
            </a:r>
          </a:p>
          <a:p>
            <a:pPr marL="903288" lvl="3" indent="-188913">
              <a:spcBef>
                <a:spcPts val="600"/>
              </a:spcBef>
              <a:spcAft>
                <a:spcPts val="600"/>
              </a:spcAft>
            </a:pPr>
            <a:r>
              <a:rPr lang="en-US" altLang="en-US" sz="1700" dirty="0">
                <a:solidFill>
                  <a:prstClr val="black"/>
                </a:solidFill>
              </a:rPr>
              <a:t>Zygospores undergo meiosis producing zoospores which grow to become vegetative cells</a:t>
            </a:r>
          </a:p>
        </p:txBody>
      </p:sp>
      <p:sp>
        <p:nvSpPr>
          <p:cNvPr id="4" name="Slide Number Placeholder 3">
            <a:extLst>
              <a:ext uri="{FF2B5EF4-FFF2-40B4-BE49-F238E27FC236}">
                <a16:creationId xmlns:a16="http://schemas.microsoft.com/office/drawing/2014/main" id="{5D24D5D1-3B4B-4C71-AA9F-C383C6F2F174}"/>
              </a:ext>
            </a:extLst>
          </p:cNvPr>
          <p:cNvSpPr>
            <a:spLocks noGrp="1"/>
          </p:cNvSpPr>
          <p:nvPr>
            <p:ph type="sldNum" sz="quarter" idx="4"/>
          </p:nvPr>
        </p:nvSpPr>
        <p:spPr/>
        <p:txBody>
          <a:bodyPr/>
          <a:lstStyle/>
          <a:p>
            <a:fld id="{68151E55-6873-49E2-B8D5-2F265E6F1973}" type="slidenum">
              <a:rPr lang="en-US" smtClean="0"/>
              <a:pPr/>
              <a:t>47</a:t>
            </a:fld>
            <a:endParaRPr lang="en-US" dirty="0"/>
          </a:p>
        </p:txBody>
      </p:sp>
    </p:spTree>
    <p:extLst>
      <p:ext uri="{BB962C8B-B14F-4D97-AF65-F5344CB8AC3E}">
        <p14:creationId xmlns:p14="http://schemas.microsoft.com/office/powerpoint/2010/main" val="4692283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0610C-8A0B-4D7A-A311-3D45858FE837}"/>
              </a:ext>
            </a:extLst>
          </p:cNvPr>
          <p:cNvSpPr>
            <a:spLocks noGrp="1"/>
          </p:cNvSpPr>
          <p:nvPr>
            <p:ph type="title"/>
          </p:nvPr>
        </p:nvSpPr>
        <p:spPr>
          <a:xfrm>
            <a:off x="0" y="1"/>
            <a:ext cx="9144000" cy="1207476"/>
          </a:xfrm>
        </p:spPr>
        <p:txBody>
          <a:bodyPr/>
          <a:lstStyle/>
          <a:p>
            <a:r>
              <a:rPr lang="en-US" altLang="en-US" dirty="0"/>
              <a:t>Electron Micrograph of </a:t>
            </a:r>
            <a:r>
              <a:rPr lang="en-US" altLang="en-US" i="1" dirty="0"/>
              <a:t>Chlamydomonas</a:t>
            </a:r>
            <a:endParaRPr lang="en-IN" dirty="0"/>
          </a:p>
        </p:txBody>
      </p:sp>
      <p:pic>
        <p:nvPicPr>
          <p:cNvPr id="8" name="Picture 2" descr="Micrograph of Chlamydomonas shows cell wall, starch granule, pyrenoid, ovular chloroplast, circular nucleolus and nucleus with flagellum projections.">
            <a:extLst>
              <a:ext uri="{FF2B5EF4-FFF2-40B4-BE49-F238E27FC236}">
                <a16:creationId xmlns:a16="http://schemas.microsoft.com/office/drawing/2014/main" id="{E93CD5E0-03D6-4197-A79D-4D2B62BACA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75" b="2281"/>
          <a:stretch/>
        </p:blipFill>
        <p:spPr bwMode="auto">
          <a:xfrm>
            <a:off x="1718701" y="1207477"/>
            <a:ext cx="5705475" cy="4831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3">
            <a:extLst>
              <a:ext uri="{FF2B5EF4-FFF2-40B4-BE49-F238E27FC236}">
                <a16:creationId xmlns:a16="http://schemas.microsoft.com/office/drawing/2014/main" id="{E6C5ED1A-7296-46C2-99EA-97663E3D64DD}"/>
              </a:ext>
            </a:extLst>
          </p:cNvPr>
          <p:cNvSpPr>
            <a:spLocks noGrp="1"/>
          </p:cNvSpPr>
          <p:nvPr>
            <p:ph type="body" sz="quarter" idx="18"/>
          </p:nvPr>
        </p:nvSpPr>
        <p:spPr>
          <a:xfrm>
            <a:off x="3946975" y="6051521"/>
            <a:ext cx="1248926" cy="314325"/>
          </a:xfrm>
        </p:spPr>
        <p:txBody>
          <a:bodyPr>
            <a:normAutofit/>
          </a:bodyPr>
          <a:lstStyle/>
          <a:p>
            <a:r>
              <a:rPr lang="en-US" sz="1200" dirty="0"/>
              <a:t>Figure 21.17</a:t>
            </a:r>
          </a:p>
        </p:txBody>
      </p:sp>
      <p:sp>
        <p:nvSpPr>
          <p:cNvPr id="7" name="Text Placeholder 4">
            <a:extLst>
              <a:ext uri="{FF2B5EF4-FFF2-40B4-BE49-F238E27FC236}">
                <a16:creationId xmlns:a16="http://schemas.microsoft.com/office/drawing/2014/main" id="{3BD8DDCE-923C-43EA-B43D-9BAA11D404C4}"/>
              </a:ext>
            </a:extLst>
          </p:cNvPr>
          <p:cNvSpPr>
            <a:spLocks noGrp="1"/>
          </p:cNvSpPr>
          <p:nvPr>
            <p:ph type="body" sz="quarter" idx="21"/>
          </p:nvPr>
        </p:nvSpPr>
        <p:spPr/>
        <p:txBody>
          <a:bodyPr/>
          <a:lstStyle/>
          <a:p>
            <a:pPr lvl="0"/>
            <a:r>
              <a:rPr lang="en-US" sz="800" dirty="0" err="1"/>
              <a:t>Biophoto</a:t>
            </a:r>
            <a:r>
              <a:rPr lang="en-US" sz="800" dirty="0"/>
              <a:t> Associates/Science Source</a:t>
            </a:r>
          </a:p>
        </p:txBody>
      </p:sp>
      <p:sp>
        <p:nvSpPr>
          <p:cNvPr id="4" name="Slide Number Placeholder 5">
            <a:extLst>
              <a:ext uri="{FF2B5EF4-FFF2-40B4-BE49-F238E27FC236}">
                <a16:creationId xmlns:a16="http://schemas.microsoft.com/office/drawing/2014/main" id="{5E9A63CF-199C-4F81-A094-E520A2C6390C}"/>
              </a:ext>
            </a:extLst>
          </p:cNvPr>
          <p:cNvSpPr>
            <a:spLocks noGrp="1"/>
          </p:cNvSpPr>
          <p:nvPr>
            <p:ph type="sldNum" sz="quarter" idx="4"/>
          </p:nvPr>
        </p:nvSpPr>
        <p:spPr/>
        <p:txBody>
          <a:bodyPr/>
          <a:lstStyle/>
          <a:p>
            <a:fld id="{68151E55-6873-49E2-B8D5-2F265E6F1973}" type="slidenum">
              <a:rPr lang="en-US" smtClean="0"/>
              <a:pPr/>
              <a:t>48</a:t>
            </a:fld>
            <a:endParaRPr lang="en-US" dirty="0"/>
          </a:p>
        </p:txBody>
      </p:sp>
    </p:spTree>
    <p:extLst>
      <p:ext uri="{BB962C8B-B14F-4D97-AF65-F5344CB8AC3E}">
        <p14:creationId xmlns:p14="http://schemas.microsoft.com/office/powerpoint/2010/main" val="28875625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A0BC7-171B-48DE-A756-6441905E8DDC}"/>
              </a:ext>
            </a:extLst>
          </p:cNvPr>
          <p:cNvSpPr>
            <a:spLocks noGrp="1"/>
          </p:cNvSpPr>
          <p:nvPr>
            <p:ph type="title"/>
          </p:nvPr>
        </p:nvSpPr>
        <p:spPr/>
        <p:txBody>
          <a:bodyPr/>
          <a:lstStyle/>
          <a:p>
            <a:r>
              <a:rPr lang="en-US" altLang="en-US" sz="3600" dirty="0"/>
              <a:t>Haploid Life Cycle of </a:t>
            </a:r>
            <a:r>
              <a:rPr lang="en-US" altLang="en-US" sz="3600" i="1" dirty="0"/>
              <a:t>Chlamydomonas</a:t>
            </a:r>
            <a:endParaRPr lang="en-IN" sz="3600" dirty="0"/>
          </a:p>
        </p:txBody>
      </p:sp>
      <p:pic>
        <p:nvPicPr>
          <p:cNvPr id="8" name="Picture 2" descr="Illustration shows haploid and diploid lifecycle of Chlamydomonas demonstrating the process of fertilization and meiosis.  ">
            <a:extLst>
              <a:ext uri="{FF2B5EF4-FFF2-40B4-BE49-F238E27FC236}">
                <a16:creationId xmlns:a16="http://schemas.microsoft.com/office/drawing/2014/main" id="{D86F71EB-EDF1-48FA-B3C4-53F91E69EA43}"/>
              </a:ext>
            </a:extLst>
          </p:cNvPr>
          <p:cNvPicPr>
            <a:picLocks noChangeAspect="1"/>
          </p:cNvPicPr>
          <p:nvPr/>
        </p:nvPicPr>
        <p:blipFill>
          <a:blip r:embed="rId2"/>
          <a:stretch>
            <a:fillRect/>
          </a:stretch>
        </p:blipFill>
        <p:spPr>
          <a:xfrm>
            <a:off x="2668317" y="981870"/>
            <a:ext cx="3806240" cy="4746124"/>
          </a:xfrm>
          <a:prstGeom prst="rect">
            <a:avLst/>
          </a:prstGeom>
        </p:spPr>
      </p:pic>
      <p:sp>
        <p:nvSpPr>
          <p:cNvPr id="5" name="Text Placeholder 3">
            <a:extLst>
              <a:ext uri="{FF2B5EF4-FFF2-40B4-BE49-F238E27FC236}">
                <a16:creationId xmlns:a16="http://schemas.microsoft.com/office/drawing/2014/main" id="{F53BD5AF-ED4E-4952-888F-C1B2A07D2830}"/>
              </a:ext>
            </a:extLst>
          </p:cNvPr>
          <p:cNvSpPr>
            <a:spLocks noGrp="1"/>
          </p:cNvSpPr>
          <p:nvPr>
            <p:ph type="body" sz="quarter" idx="18"/>
          </p:nvPr>
        </p:nvSpPr>
        <p:spPr>
          <a:xfrm>
            <a:off x="4005590" y="5833821"/>
            <a:ext cx="1131695" cy="314325"/>
          </a:xfrm>
        </p:spPr>
        <p:txBody>
          <a:bodyPr>
            <a:normAutofit/>
          </a:bodyPr>
          <a:lstStyle/>
          <a:p>
            <a:r>
              <a:rPr lang="en-US" sz="1200" dirty="0"/>
              <a:t>Figure 21.18</a:t>
            </a:r>
          </a:p>
        </p:txBody>
      </p:sp>
      <p:sp>
        <p:nvSpPr>
          <p:cNvPr id="6" name="Text Placeholder 4">
            <a:extLst>
              <a:ext uri="{FF2B5EF4-FFF2-40B4-BE49-F238E27FC236}">
                <a16:creationId xmlns:a16="http://schemas.microsoft.com/office/drawing/2014/main" id="{F6ABEC54-85A6-45BA-B6BE-1CED75EDD40C}"/>
              </a:ext>
            </a:extLst>
          </p:cNvPr>
          <p:cNvSpPr>
            <a:spLocks noGrp="1"/>
          </p:cNvSpPr>
          <p:nvPr>
            <p:ph type="body" sz="quarter" idx="19"/>
          </p:nvPr>
        </p:nvSpPr>
        <p:spPr>
          <a:xfrm>
            <a:off x="2988274" y="6181802"/>
            <a:ext cx="3166329" cy="314325"/>
          </a:xfrm>
        </p:spPr>
        <p:txBody>
          <a:bodyPr>
            <a:normAutofit/>
          </a:bodyPr>
          <a:lstStyle/>
          <a:p>
            <a:r>
              <a:rPr lang="en-US" sz="1200" dirty="0">
                <a:hlinkClick r:id="rId3" action="ppaction://hlinksldjump"/>
              </a:rPr>
              <a:t>Access the text alternative for slide images.</a:t>
            </a:r>
            <a:endParaRPr lang="en-IN" sz="1200" dirty="0"/>
          </a:p>
        </p:txBody>
      </p:sp>
      <p:sp>
        <p:nvSpPr>
          <p:cNvPr id="4" name="Slide Number Placeholder 5">
            <a:extLst>
              <a:ext uri="{FF2B5EF4-FFF2-40B4-BE49-F238E27FC236}">
                <a16:creationId xmlns:a16="http://schemas.microsoft.com/office/drawing/2014/main" id="{3AFE238C-0EC6-450D-98C0-3873F3086966}"/>
              </a:ext>
            </a:extLst>
          </p:cNvPr>
          <p:cNvSpPr>
            <a:spLocks noGrp="1"/>
          </p:cNvSpPr>
          <p:nvPr>
            <p:ph type="sldNum" sz="quarter" idx="4"/>
          </p:nvPr>
        </p:nvSpPr>
        <p:spPr/>
        <p:txBody>
          <a:bodyPr/>
          <a:lstStyle/>
          <a:p>
            <a:fld id="{68151E55-6873-49E2-B8D5-2F265E6F1973}" type="slidenum">
              <a:rPr lang="en-US" smtClean="0"/>
              <a:pPr/>
              <a:t>49</a:t>
            </a:fld>
            <a:endParaRPr lang="en-US" dirty="0"/>
          </a:p>
        </p:txBody>
      </p:sp>
    </p:spTree>
    <p:extLst>
      <p:ext uri="{BB962C8B-B14F-4D97-AF65-F5344CB8AC3E}">
        <p14:creationId xmlns:p14="http://schemas.microsoft.com/office/powerpoint/2010/main" val="5736075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7E6FC-0119-478E-B583-039DDDCA296A}"/>
              </a:ext>
            </a:extLst>
          </p:cNvPr>
          <p:cNvSpPr>
            <a:spLocks noGrp="1"/>
          </p:cNvSpPr>
          <p:nvPr>
            <p:ph type="title"/>
          </p:nvPr>
        </p:nvSpPr>
        <p:spPr>
          <a:xfrm>
            <a:off x="0" y="1"/>
            <a:ext cx="9144000" cy="966748"/>
          </a:xfrm>
        </p:spPr>
        <p:txBody>
          <a:bodyPr/>
          <a:lstStyle/>
          <a:p>
            <a:r>
              <a:rPr lang="en-US" i="1" dirty="0"/>
              <a:t>Volvox</a:t>
            </a:r>
            <a:endParaRPr lang="en-IN" dirty="0"/>
          </a:p>
        </p:txBody>
      </p:sp>
      <p:sp>
        <p:nvSpPr>
          <p:cNvPr id="3" name="Text Placeholder 2">
            <a:extLst>
              <a:ext uri="{FF2B5EF4-FFF2-40B4-BE49-F238E27FC236}">
                <a16:creationId xmlns:a16="http://schemas.microsoft.com/office/drawing/2014/main" id="{5DE94007-D1C6-4431-AF40-692BDE547935}"/>
              </a:ext>
            </a:extLst>
          </p:cNvPr>
          <p:cNvSpPr>
            <a:spLocks noGrp="1"/>
          </p:cNvSpPr>
          <p:nvPr>
            <p:ph type="body" sz="quarter" idx="19"/>
          </p:nvPr>
        </p:nvSpPr>
        <p:spPr>
          <a:xfrm>
            <a:off x="842963" y="1177179"/>
            <a:ext cx="7623676" cy="5434635"/>
          </a:xfrm>
        </p:spPr>
        <p:txBody>
          <a:bodyPr>
            <a:normAutofit lnSpcReduction="10000"/>
          </a:bodyPr>
          <a:lstStyle/>
          <a:p>
            <a:pPr lvl="0">
              <a:spcBef>
                <a:spcPts val="600"/>
              </a:spcBef>
              <a:spcAft>
                <a:spcPts val="600"/>
              </a:spcAft>
            </a:pPr>
            <a:r>
              <a:rPr lang="en-US" sz="2400" dirty="0">
                <a:solidFill>
                  <a:prstClr val="black"/>
                </a:solidFill>
              </a:rPr>
              <a:t>Colonial green alga</a:t>
            </a:r>
          </a:p>
          <a:p>
            <a:pPr lvl="1">
              <a:spcBef>
                <a:spcPts val="600"/>
              </a:spcBef>
              <a:spcAft>
                <a:spcPts val="600"/>
              </a:spcAft>
            </a:pPr>
            <a:r>
              <a:rPr lang="en-US" sz="2200" dirty="0">
                <a:solidFill>
                  <a:prstClr val="black"/>
                </a:solidFill>
              </a:rPr>
              <a:t>A </a:t>
            </a:r>
            <a:r>
              <a:rPr lang="en-US" sz="2200" b="1" dirty="0">
                <a:solidFill>
                  <a:srgbClr val="D90000"/>
                </a:solidFill>
              </a:rPr>
              <a:t>colony</a:t>
            </a:r>
            <a:r>
              <a:rPr lang="en-US" sz="2200" dirty="0">
                <a:solidFill>
                  <a:prstClr val="black"/>
                </a:solidFill>
              </a:rPr>
              <a:t> is a loose association of independent cells</a:t>
            </a:r>
          </a:p>
          <a:p>
            <a:pPr>
              <a:spcBef>
                <a:spcPts val="600"/>
              </a:spcBef>
              <a:spcAft>
                <a:spcPts val="600"/>
              </a:spcAft>
            </a:pPr>
            <a:r>
              <a:rPr lang="en-US" sz="2400" dirty="0">
                <a:solidFill>
                  <a:prstClr val="black"/>
                </a:solidFill>
              </a:rPr>
              <a:t>A </a:t>
            </a:r>
            <a:r>
              <a:rPr lang="en-US" sz="2400" i="1" dirty="0">
                <a:solidFill>
                  <a:prstClr val="black"/>
                </a:solidFill>
              </a:rPr>
              <a:t>Volvox</a:t>
            </a:r>
            <a:r>
              <a:rPr lang="en-US" sz="2400" dirty="0">
                <a:solidFill>
                  <a:prstClr val="black"/>
                </a:solidFill>
              </a:rPr>
              <a:t> colony is a hollow sphere</a:t>
            </a:r>
          </a:p>
          <a:p>
            <a:pPr lvl="1">
              <a:spcBef>
                <a:spcPts val="600"/>
              </a:spcBef>
              <a:spcAft>
                <a:spcPts val="600"/>
              </a:spcAft>
            </a:pPr>
            <a:r>
              <a:rPr lang="en-US" sz="2200" dirty="0">
                <a:solidFill>
                  <a:prstClr val="black"/>
                </a:solidFill>
              </a:rPr>
              <a:t>Thousands of cells arranged in a single layer surrounding a watery interior</a:t>
            </a:r>
          </a:p>
          <a:p>
            <a:pPr lvl="1">
              <a:spcBef>
                <a:spcPts val="600"/>
              </a:spcBef>
              <a:spcAft>
                <a:spcPts val="600"/>
              </a:spcAft>
            </a:pPr>
            <a:r>
              <a:rPr lang="en-US" sz="2200" dirty="0">
                <a:solidFill>
                  <a:prstClr val="black"/>
                </a:solidFill>
              </a:rPr>
              <a:t>Colony moves because flagella beat in a coordinated fashion</a:t>
            </a:r>
          </a:p>
          <a:p>
            <a:pPr lvl="1">
              <a:spcBef>
                <a:spcPts val="600"/>
              </a:spcBef>
              <a:spcAft>
                <a:spcPts val="600"/>
              </a:spcAft>
            </a:pPr>
            <a:r>
              <a:rPr lang="en-US" sz="2200" dirty="0">
                <a:solidFill>
                  <a:prstClr val="black"/>
                </a:solidFill>
              </a:rPr>
              <a:t>Some cells are specialized for reproduction</a:t>
            </a:r>
          </a:p>
          <a:p>
            <a:pPr marL="714375" lvl="3" indent="-350838">
              <a:spcBef>
                <a:spcPts val="600"/>
              </a:spcBef>
              <a:spcAft>
                <a:spcPts val="600"/>
              </a:spcAft>
            </a:pPr>
            <a:r>
              <a:rPr lang="en-US" sz="2200" dirty="0">
                <a:solidFill>
                  <a:prstClr val="black"/>
                </a:solidFill>
              </a:rPr>
              <a:t>Each can divide asexually to form a new daughter colony within the parental colony</a:t>
            </a:r>
          </a:p>
          <a:p>
            <a:pPr marL="714375" lvl="3" indent="-350838">
              <a:spcBef>
                <a:spcPts val="600"/>
              </a:spcBef>
              <a:spcAft>
                <a:spcPts val="600"/>
              </a:spcAft>
            </a:pPr>
            <a:r>
              <a:rPr lang="en-US" sz="2200" dirty="0">
                <a:solidFill>
                  <a:prstClr val="black"/>
                </a:solidFill>
              </a:rPr>
              <a:t>The daughter colony leaves the parental colony by releasing an enzyme that dissolves away a portion of the parental colony</a:t>
            </a:r>
          </a:p>
        </p:txBody>
      </p:sp>
      <p:sp>
        <p:nvSpPr>
          <p:cNvPr id="4" name="Slide Number Placeholder 3">
            <a:extLst>
              <a:ext uri="{FF2B5EF4-FFF2-40B4-BE49-F238E27FC236}">
                <a16:creationId xmlns:a16="http://schemas.microsoft.com/office/drawing/2014/main" id="{52C933EC-66D2-49D7-83D6-97850E1B0187}"/>
              </a:ext>
            </a:extLst>
          </p:cNvPr>
          <p:cNvSpPr>
            <a:spLocks noGrp="1"/>
          </p:cNvSpPr>
          <p:nvPr>
            <p:ph type="sldNum" sz="quarter" idx="4"/>
          </p:nvPr>
        </p:nvSpPr>
        <p:spPr/>
        <p:txBody>
          <a:bodyPr/>
          <a:lstStyle/>
          <a:p>
            <a:fld id="{68151E55-6873-49E2-B8D5-2F265E6F1973}" type="slidenum">
              <a:rPr lang="en-US" smtClean="0"/>
              <a:pPr/>
              <a:t>50</a:t>
            </a:fld>
            <a:endParaRPr lang="en-US" dirty="0"/>
          </a:p>
        </p:txBody>
      </p:sp>
    </p:spTree>
    <p:extLst>
      <p:ext uri="{BB962C8B-B14F-4D97-AF65-F5344CB8AC3E}">
        <p14:creationId xmlns:p14="http://schemas.microsoft.com/office/powerpoint/2010/main" val="29419859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936E7-24CC-49DE-81F1-517F1D74F0AE}"/>
              </a:ext>
            </a:extLst>
          </p:cNvPr>
          <p:cNvSpPr>
            <a:spLocks noGrp="1"/>
          </p:cNvSpPr>
          <p:nvPr>
            <p:ph type="title"/>
          </p:nvPr>
        </p:nvSpPr>
        <p:spPr/>
        <p:txBody>
          <a:bodyPr/>
          <a:lstStyle/>
          <a:p>
            <a:r>
              <a:rPr lang="en-US" altLang="en-US" i="1" dirty="0"/>
              <a:t>Volvox </a:t>
            </a:r>
            <a:r>
              <a:rPr lang="en-US" altLang="en-US" dirty="0"/>
              <a:t>Example</a:t>
            </a:r>
            <a:endParaRPr lang="en-IN" dirty="0"/>
          </a:p>
        </p:txBody>
      </p:sp>
      <p:pic>
        <p:nvPicPr>
          <p:cNvPr id="8" name="Picture 2" descr="Microscopic view of colonies is marked with an inset depicted large, round daughter colony surrounded by small dots representing vegetative cells.">
            <a:extLst>
              <a:ext uri="{FF2B5EF4-FFF2-40B4-BE49-F238E27FC236}">
                <a16:creationId xmlns:a16="http://schemas.microsoft.com/office/drawing/2014/main" id="{0EBF16F9-A141-4B93-A95F-E2C4B034B32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338" b="2157"/>
          <a:stretch/>
        </p:blipFill>
        <p:spPr bwMode="auto">
          <a:xfrm>
            <a:off x="2676172" y="807735"/>
            <a:ext cx="3790534" cy="505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3">
            <a:extLst>
              <a:ext uri="{FF2B5EF4-FFF2-40B4-BE49-F238E27FC236}">
                <a16:creationId xmlns:a16="http://schemas.microsoft.com/office/drawing/2014/main" id="{7A433508-98FF-4AD1-A75C-86A6246A24FF}"/>
              </a:ext>
            </a:extLst>
          </p:cNvPr>
          <p:cNvSpPr>
            <a:spLocks noGrp="1"/>
          </p:cNvSpPr>
          <p:nvPr>
            <p:ph type="body" sz="quarter" idx="18"/>
          </p:nvPr>
        </p:nvSpPr>
        <p:spPr>
          <a:xfrm>
            <a:off x="3911807" y="5867477"/>
            <a:ext cx="1319264" cy="314325"/>
          </a:xfrm>
        </p:spPr>
        <p:txBody>
          <a:bodyPr>
            <a:normAutofit/>
          </a:bodyPr>
          <a:lstStyle/>
          <a:p>
            <a:r>
              <a:rPr lang="en-US" sz="1200" dirty="0"/>
              <a:t>Figure 21.19</a:t>
            </a:r>
          </a:p>
        </p:txBody>
      </p:sp>
      <p:sp>
        <p:nvSpPr>
          <p:cNvPr id="7" name="Text Placeholder 5">
            <a:extLst>
              <a:ext uri="{FF2B5EF4-FFF2-40B4-BE49-F238E27FC236}">
                <a16:creationId xmlns:a16="http://schemas.microsoft.com/office/drawing/2014/main" id="{A232BC1A-3A68-41D8-997E-DAF020822727}"/>
              </a:ext>
            </a:extLst>
          </p:cNvPr>
          <p:cNvSpPr>
            <a:spLocks noGrp="1"/>
          </p:cNvSpPr>
          <p:nvPr>
            <p:ph type="body" sz="quarter" idx="21"/>
          </p:nvPr>
        </p:nvSpPr>
        <p:spPr/>
        <p:txBody>
          <a:bodyPr/>
          <a:lstStyle/>
          <a:p>
            <a:pPr lvl="0"/>
            <a:r>
              <a:rPr lang="en-US" sz="800" dirty="0"/>
              <a:t>(main): Manfred </a:t>
            </a:r>
            <a:r>
              <a:rPr lang="en-US" sz="800" dirty="0" err="1"/>
              <a:t>Kage</a:t>
            </a:r>
            <a:r>
              <a:rPr lang="en-US" sz="800" dirty="0"/>
              <a:t>/Science Source; (inset): Manfred </a:t>
            </a:r>
            <a:r>
              <a:rPr lang="en-US" sz="800" dirty="0" err="1"/>
              <a:t>Kage</a:t>
            </a:r>
            <a:r>
              <a:rPr lang="en-US" sz="800" dirty="0"/>
              <a:t>/Science Source</a:t>
            </a:r>
          </a:p>
        </p:txBody>
      </p:sp>
      <p:sp>
        <p:nvSpPr>
          <p:cNvPr id="4" name="Slide Number Placeholder 6">
            <a:extLst>
              <a:ext uri="{FF2B5EF4-FFF2-40B4-BE49-F238E27FC236}">
                <a16:creationId xmlns:a16="http://schemas.microsoft.com/office/drawing/2014/main" id="{7C0ED084-49D0-41E6-A021-1170FEA91402}"/>
              </a:ext>
            </a:extLst>
          </p:cNvPr>
          <p:cNvSpPr>
            <a:spLocks noGrp="1"/>
          </p:cNvSpPr>
          <p:nvPr>
            <p:ph type="sldNum" sz="quarter" idx="4"/>
          </p:nvPr>
        </p:nvSpPr>
        <p:spPr/>
        <p:txBody>
          <a:bodyPr/>
          <a:lstStyle/>
          <a:p>
            <a:fld id="{68151E55-6873-49E2-B8D5-2F265E6F1973}" type="slidenum">
              <a:rPr lang="en-US" smtClean="0"/>
              <a:pPr/>
              <a:t>51</a:t>
            </a:fld>
            <a:endParaRPr lang="en-US" dirty="0"/>
          </a:p>
        </p:txBody>
      </p:sp>
    </p:spTree>
    <p:extLst>
      <p:ext uri="{BB962C8B-B14F-4D97-AF65-F5344CB8AC3E}">
        <p14:creationId xmlns:p14="http://schemas.microsoft.com/office/powerpoint/2010/main" val="33255644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51BB8-9494-4391-93B2-D08881846C6C}"/>
              </a:ext>
            </a:extLst>
          </p:cNvPr>
          <p:cNvSpPr>
            <a:spLocks noGrp="1"/>
          </p:cNvSpPr>
          <p:nvPr>
            <p:ph type="title"/>
          </p:nvPr>
        </p:nvSpPr>
        <p:spPr/>
        <p:txBody>
          <a:bodyPr/>
          <a:lstStyle/>
          <a:p>
            <a:r>
              <a:rPr lang="en-US" altLang="en-US" i="1" dirty="0"/>
              <a:t>Ulva</a:t>
            </a:r>
            <a:endParaRPr lang="en-IN" dirty="0"/>
          </a:p>
        </p:txBody>
      </p:sp>
      <p:sp>
        <p:nvSpPr>
          <p:cNvPr id="3" name="Text Placeholder 2">
            <a:extLst>
              <a:ext uri="{FF2B5EF4-FFF2-40B4-BE49-F238E27FC236}">
                <a16:creationId xmlns:a16="http://schemas.microsoft.com/office/drawing/2014/main" id="{7A4932D2-192C-435F-9C21-31ED06865FF1}"/>
              </a:ext>
            </a:extLst>
          </p:cNvPr>
          <p:cNvSpPr>
            <a:spLocks noGrp="1"/>
          </p:cNvSpPr>
          <p:nvPr>
            <p:ph type="body" sz="quarter" idx="19"/>
          </p:nvPr>
        </p:nvSpPr>
        <p:spPr>
          <a:xfrm>
            <a:off x="842962" y="1177179"/>
            <a:ext cx="7949345" cy="5330739"/>
          </a:xfrm>
        </p:spPr>
        <p:txBody>
          <a:bodyPr/>
          <a:lstStyle/>
          <a:p>
            <a:pPr lvl="0">
              <a:spcAft>
                <a:spcPts val="2000"/>
              </a:spcAft>
            </a:pPr>
            <a:r>
              <a:rPr lang="en-US" altLang="en-US" sz="2800" dirty="0">
                <a:solidFill>
                  <a:prstClr val="black"/>
                </a:solidFill>
              </a:rPr>
              <a:t>Multicellular green alga</a:t>
            </a:r>
          </a:p>
          <a:p>
            <a:pPr lvl="0">
              <a:spcAft>
                <a:spcPts val="2000"/>
              </a:spcAft>
            </a:pPr>
            <a:r>
              <a:rPr lang="en-US" altLang="en-US" sz="2800" dirty="0">
                <a:solidFill>
                  <a:prstClr val="black"/>
                </a:solidFill>
              </a:rPr>
              <a:t>Commonly called sea lettuce</a:t>
            </a:r>
          </a:p>
          <a:p>
            <a:pPr lvl="0">
              <a:spcAft>
                <a:spcPts val="2000"/>
              </a:spcAft>
            </a:pPr>
            <a:r>
              <a:rPr lang="en-US" altLang="en-US" sz="2800" dirty="0">
                <a:solidFill>
                  <a:prstClr val="black"/>
                </a:solidFill>
              </a:rPr>
              <a:t>Body is two cells thick and can be as much as a meter long.</a:t>
            </a:r>
          </a:p>
          <a:p>
            <a:pPr lvl="0">
              <a:spcAft>
                <a:spcPts val="2000"/>
              </a:spcAft>
            </a:pPr>
            <a:r>
              <a:rPr lang="en-US" altLang="en-US" sz="2800" dirty="0">
                <a:solidFill>
                  <a:prstClr val="black"/>
                </a:solidFill>
              </a:rPr>
              <a:t>Sexual cycle involves alternation of generations</a:t>
            </a:r>
          </a:p>
          <a:p>
            <a:pPr lvl="1">
              <a:spcBef>
                <a:spcPts val="0"/>
              </a:spcBef>
              <a:spcAft>
                <a:spcPts val="2000"/>
              </a:spcAft>
            </a:pPr>
            <a:r>
              <a:rPr lang="en-US" altLang="en-US" sz="2400" dirty="0">
                <a:solidFill>
                  <a:prstClr val="black"/>
                </a:solidFill>
              </a:rPr>
              <a:t>Similar to land plants</a:t>
            </a:r>
          </a:p>
        </p:txBody>
      </p:sp>
      <p:sp>
        <p:nvSpPr>
          <p:cNvPr id="4" name="Slide Number Placeholder 3">
            <a:extLst>
              <a:ext uri="{FF2B5EF4-FFF2-40B4-BE49-F238E27FC236}">
                <a16:creationId xmlns:a16="http://schemas.microsoft.com/office/drawing/2014/main" id="{034C0384-5749-4F46-BDBC-544D8BB07F87}"/>
              </a:ext>
            </a:extLst>
          </p:cNvPr>
          <p:cNvSpPr>
            <a:spLocks noGrp="1"/>
          </p:cNvSpPr>
          <p:nvPr>
            <p:ph type="sldNum" sz="quarter" idx="4"/>
          </p:nvPr>
        </p:nvSpPr>
        <p:spPr/>
        <p:txBody>
          <a:bodyPr/>
          <a:lstStyle/>
          <a:p>
            <a:fld id="{68151E55-6873-49E2-B8D5-2F265E6F1973}" type="slidenum">
              <a:rPr lang="en-US" smtClean="0"/>
              <a:pPr/>
              <a:t>52</a:t>
            </a:fld>
            <a:endParaRPr lang="en-US" dirty="0"/>
          </a:p>
        </p:txBody>
      </p:sp>
    </p:spTree>
    <p:extLst>
      <p:ext uri="{BB962C8B-B14F-4D97-AF65-F5344CB8AC3E}">
        <p14:creationId xmlns:p14="http://schemas.microsoft.com/office/powerpoint/2010/main" val="6528483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22D0C-F991-496B-B3C4-39B2705E3A6A}"/>
              </a:ext>
            </a:extLst>
          </p:cNvPr>
          <p:cNvSpPr>
            <a:spLocks noGrp="1"/>
          </p:cNvSpPr>
          <p:nvPr>
            <p:ph type="title"/>
          </p:nvPr>
        </p:nvSpPr>
        <p:spPr/>
        <p:txBody>
          <a:bodyPr/>
          <a:lstStyle/>
          <a:p>
            <a:r>
              <a:rPr lang="en-US" altLang="en-US" i="1" dirty="0"/>
              <a:t>Ulva </a:t>
            </a:r>
            <a:r>
              <a:rPr lang="en-US" altLang="en-US" dirty="0"/>
              <a:t>Example</a:t>
            </a:r>
            <a:endParaRPr lang="en-IN" dirty="0"/>
          </a:p>
        </p:txBody>
      </p:sp>
      <p:pic>
        <p:nvPicPr>
          <p:cNvPr id="8" name="Picture 2" descr="Cycle shows alternation of generations: sporophyte is 2n generation; meiosis produces spores; gametophyte is n generation.">
            <a:extLst>
              <a:ext uri="{FF2B5EF4-FFF2-40B4-BE49-F238E27FC236}">
                <a16:creationId xmlns:a16="http://schemas.microsoft.com/office/drawing/2014/main" id="{F887FB32-5810-4BE4-9E6D-35EDBB7998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49314" y="820440"/>
            <a:ext cx="2445372" cy="4978796"/>
          </a:xfrm>
          <a:prstGeom prst="rect">
            <a:avLst/>
          </a:prstGeom>
        </p:spPr>
      </p:pic>
      <p:sp>
        <p:nvSpPr>
          <p:cNvPr id="5" name="Text Placeholder 3">
            <a:extLst>
              <a:ext uri="{FF2B5EF4-FFF2-40B4-BE49-F238E27FC236}">
                <a16:creationId xmlns:a16="http://schemas.microsoft.com/office/drawing/2014/main" id="{6B21D8AA-3AA6-4540-A3A8-06E36964E636}"/>
              </a:ext>
            </a:extLst>
          </p:cNvPr>
          <p:cNvSpPr>
            <a:spLocks noGrp="1"/>
          </p:cNvSpPr>
          <p:nvPr>
            <p:ph type="body" sz="quarter" idx="18"/>
          </p:nvPr>
        </p:nvSpPr>
        <p:spPr>
          <a:xfrm>
            <a:off x="3865475" y="5920066"/>
            <a:ext cx="1413049" cy="314325"/>
          </a:xfrm>
        </p:spPr>
        <p:txBody>
          <a:bodyPr>
            <a:normAutofit/>
          </a:bodyPr>
          <a:lstStyle/>
          <a:p>
            <a:r>
              <a:rPr lang="en-US" sz="1200" dirty="0"/>
              <a:t>Figure 21.20</a:t>
            </a:r>
          </a:p>
        </p:txBody>
      </p:sp>
      <p:sp>
        <p:nvSpPr>
          <p:cNvPr id="6" name="Text Placeholder 4">
            <a:extLst>
              <a:ext uri="{FF2B5EF4-FFF2-40B4-BE49-F238E27FC236}">
                <a16:creationId xmlns:a16="http://schemas.microsoft.com/office/drawing/2014/main" id="{CBAE8BA0-B945-45CD-BC1A-30622B7D993B}"/>
              </a:ext>
            </a:extLst>
          </p:cNvPr>
          <p:cNvSpPr>
            <a:spLocks noGrp="1"/>
          </p:cNvSpPr>
          <p:nvPr>
            <p:ph type="body" sz="quarter" idx="19"/>
          </p:nvPr>
        </p:nvSpPr>
        <p:spPr>
          <a:xfrm>
            <a:off x="2973698" y="6249114"/>
            <a:ext cx="3196602" cy="314325"/>
          </a:xfrm>
        </p:spPr>
        <p:txBody>
          <a:bodyPr>
            <a:normAutofit/>
          </a:bodyPr>
          <a:lstStyle/>
          <a:p>
            <a:r>
              <a:rPr lang="en-US" sz="1200" dirty="0">
                <a:hlinkClick r:id="rId3" action="ppaction://hlinksldjump"/>
              </a:rPr>
              <a:t>Access the text alternative for slide images.</a:t>
            </a:r>
            <a:endParaRPr lang="en-IN" sz="1200" dirty="0"/>
          </a:p>
        </p:txBody>
      </p:sp>
      <p:sp>
        <p:nvSpPr>
          <p:cNvPr id="7" name="Text Placeholder 5">
            <a:extLst>
              <a:ext uri="{FF2B5EF4-FFF2-40B4-BE49-F238E27FC236}">
                <a16:creationId xmlns:a16="http://schemas.microsoft.com/office/drawing/2014/main" id="{22893B30-32B4-4702-A502-14E1DD35B891}"/>
              </a:ext>
            </a:extLst>
          </p:cNvPr>
          <p:cNvSpPr>
            <a:spLocks noGrp="1"/>
          </p:cNvSpPr>
          <p:nvPr>
            <p:ph type="body" sz="quarter" idx="21"/>
          </p:nvPr>
        </p:nvSpPr>
        <p:spPr>
          <a:xfrm>
            <a:off x="7186246" y="6563439"/>
            <a:ext cx="1435934" cy="258805"/>
          </a:xfrm>
        </p:spPr>
        <p:txBody>
          <a:bodyPr/>
          <a:lstStyle/>
          <a:p>
            <a:pPr lvl="0"/>
            <a:r>
              <a:rPr lang="en-US" sz="800" dirty="0"/>
              <a:t>(a): ©Evelyn Jo Johnson</a:t>
            </a:r>
          </a:p>
        </p:txBody>
      </p:sp>
      <p:sp>
        <p:nvSpPr>
          <p:cNvPr id="4" name="Slide Number Placeholder 6">
            <a:extLst>
              <a:ext uri="{FF2B5EF4-FFF2-40B4-BE49-F238E27FC236}">
                <a16:creationId xmlns:a16="http://schemas.microsoft.com/office/drawing/2014/main" id="{FCAD0D15-4A0B-41DD-8DEC-6502000BC114}"/>
              </a:ext>
            </a:extLst>
          </p:cNvPr>
          <p:cNvSpPr>
            <a:spLocks noGrp="1"/>
          </p:cNvSpPr>
          <p:nvPr>
            <p:ph type="sldNum" sz="quarter" idx="4"/>
          </p:nvPr>
        </p:nvSpPr>
        <p:spPr/>
        <p:txBody>
          <a:bodyPr/>
          <a:lstStyle/>
          <a:p>
            <a:fld id="{68151E55-6873-49E2-B8D5-2F265E6F1973}" type="slidenum">
              <a:rPr lang="en-US" smtClean="0"/>
              <a:pPr/>
              <a:t>53</a:t>
            </a:fld>
            <a:endParaRPr lang="en-US" dirty="0"/>
          </a:p>
        </p:txBody>
      </p:sp>
    </p:spTree>
    <p:extLst>
      <p:ext uri="{BB962C8B-B14F-4D97-AF65-F5344CB8AC3E}">
        <p14:creationId xmlns:p14="http://schemas.microsoft.com/office/powerpoint/2010/main" val="3195805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E46E1-7B40-4451-816B-B0ADAC00258E}"/>
              </a:ext>
            </a:extLst>
          </p:cNvPr>
          <p:cNvSpPr>
            <a:spLocks noGrp="1"/>
          </p:cNvSpPr>
          <p:nvPr>
            <p:ph type="title"/>
          </p:nvPr>
        </p:nvSpPr>
        <p:spPr>
          <a:xfrm>
            <a:off x="0" y="2"/>
            <a:ext cx="9144000" cy="797252"/>
          </a:xfrm>
        </p:spPr>
        <p:txBody>
          <a:bodyPr/>
          <a:lstStyle/>
          <a:p>
            <a:r>
              <a:rPr lang="en-US" altLang="en-US" sz="3600" dirty="0"/>
              <a:t>Charophytes</a:t>
            </a:r>
            <a:endParaRPr lang="en-IN" sz="3600" dirty="0"/>
          </a:p>
        </p:txBody>
      </p:sp>
      <p:sp>
        <p:nvSpPr>
          <p:cNvPr id="3" name="Text Placeholder 2">
            <a:extLst>
              <a:ext uri="{FF2B5EF4-FFF2-40B4-BE49-F238E27FC236}">
                <a16:creationId xmlns:a16="http://schemas.microsoft.com/office/drawing/2014/main" id="{F735C0A8-C3E8-42A4-968E-56CD55702590}"/>
              </a:ext>
            </a:extLst>
          </p:cNvPr>
          <p:cNvSpPr>
            <a:spLocks noGrp="1"/>
          </p:cNvSpPr>
          <p:nvPr>
            <p:ph type="body" sz="quarter" idx="19"/>
          </p:nvPr>
        </p:nvSpPr>
        <p:spPr>
          <a:xfrm>
            <a:off x="644736" y="797253"/>
            <a:ext cx="8024702" cy="5860228"/>
          </a:xfrm>
        </p:spPr>
        <p:txBody>
          <a:bodyPr/>
          <a:lstStyle/>
          <a:p>
            <a:pPr lvl="0">
              <a:lnSpc>
                <a:spcPct val="80000"/>
              </a:lnSpc>
              <a:spcAft>
                <a:spcPts val="1800"/>
              </a:spcAft>
            </a:pPr>
            <a:r>
              <a:rPr lang="en-US" sz="2400" dirty="0"/>
              <a:t>Charophytes </a:t>
            </a:r>
            <a:r>
              <a:rPr lang="en-US" sz="2400" dirty="0">
                <a:solidFill>
                  <a:prstClr val="black"/>
                </a:solidFill>
              </a:rPr>
              <a:t>are filamentous green algae</a:t>
            </a:r>
          </a:p>
          <a:p>
            <a:pPr lvl="1">
              <a:lnSpc>
                <a:spcPct val="80000"/>
              </a:lnSpc>
              <a:spcBef>
                <a:spcPts val="0"/>
              </a:spcBef>
              <a:spcAft>
                <a:spcPts val="1800"/>
              </a:spcAft>
            </a:pPr>
            <a:r>
              <a:rPr lang="en-US" sz="2200" b="1" dirty="0">
                <a:solidFill>
                  <a:srgbClr val="D90000"/>
                </a:solidFill>
              </a:rPr>
              <a:t>Filaments</a:t>
            </a:r>
            <a:r>
              <a:rPr lang="en-US" sz="2200" dirty="0">
                <a:solidFill>
                  <a:prstClr val="black"/>
                </a:solidFill>
              </a:rPr>
              <a:t> – end-to-end chains of cells</a:t>
            </a:r>
          </a:p>
          <a:p>
            <a:pPr lvl="0">
              <a:lnSpc>
                <a:spcPct val="80000"/>
              </a:lnSpc>
              <a:spcAft>
                <a:spcPts val="1800"/>
              </a:spcAft>
            </a:pPr>
            <a:r>
              <a:rPr lang="en-US" sz="2400" i="1" dirty="0">
                <a:solidFill>
                  <a:prstClr val="black"/>
                </a:solidFill>
              </a:rPr>
              <a:t>Spirogyra</a:t>
            </a:r>
            <a:r>
              <a:rPr lang="en-US" sz="2400" dirty="0">
                <a:solidFill>
                  <a:prstClr val="black"/>
                </a:solidFill>
              </a:rPr>
              <a:t> is an unbranched charophyte</a:t>
            </a:r>
          </a:p>
          <a:p>
            <a:pPr lvl="1">
              <a:lnSpc>
                <a:spcPct val="80000"/>
              </a:lnSpc>
              <a:spcBef>
                <a:spcPts val="0"/>
              </a:spcBef>
              <a:spcAft>
                <a:spcPts val="1800"/>
              </a:spcAft>
            </a:pPr>
            <a:r>
              <a:rPr lang="en-US" sz="2200" dirty="0">
                <a:solidFill>
                  <a:prstClr val="black"/>
                </a:solidFill>
              </a:rPr>
              <a:t>Found in green masses on the surfaces of ponds and streams</a:t>
            </a:r>
          </a:p>
          <a:p>
            <a:pPr lvl="1">
              <a:lnSpc>
                <a:spcPct val="80000"/>
              </a:lnSpc>
              <a:spcBef>
                <a:spcPts val="0"/>
              </a:spcBef>
              <a:spcAft>
                <a:spcPts val="1800"/>
              </a:spcAft>
            </a:pPr>
            <a:r>
              <a:rPr lang="en-US" sz="2200" dirty="0">
                <a:solidFill>
                  <a:prstClr val="black"/>
                </a:solidFill>
              </a:rPr>
              <a:t>Has ribbonlike, spiraled chloroplasts</a:t>
            </a:r>
          </a:p>
          <a:p>
            <a:pPr lvl="1">
              <a:lnSpc>
                <a:spcPct val="80000"/>
              </a:lnSpc>
              <a:spcBef>
                <a:spcPts val="0"/>
              </a:spcBef>
              <a:spcAft>
                <a:spcPts val="1800"/>
              </a:spcAft>
            </a:pPr>
            <a:r>
              <a:rPr lang="en-US" sz="2200" dirty="0">
                <a:solidFill>
                  <a:prstClr val="black"/>
                </a:solidFill>
              </a:rPr>
              <a:t>Sexual reproduction by </a:t>
            </a:r>
            <a:r>
              <a:rPr lang="en-US" sz="2200" b="1" dirty="0">
                <a:solidFill>
                  <a:srgbClr val="D90000"/>
                </a:solidFill>
              </a:rPr>
              <a:t>conjugation</a:t>
            </a:r>
          </a:p>
          <a:p>
            <a:pPr marL="625475" lvl="2" indent="-266700">
              <a:lnSpc>
                <a:spcPct val="80000"/>
              </a:lnSpc>
              <a:spcBef>
                <a:spcPts val="0"/>
              </a:spcBef>
              <a:spcAft>
                <a:spcPts val="1800"/>
              </a:spcAft>
            </a:pPr>
            <a:r>
              <a:rPr lang="en-US" sz="2000" dirty="0">
                <a:solidFill>
                  <a:prstClr val="black"/>
                </a:solidFill>
              </a:rPr>
              <a:t>A temporary union during which the cells exchange genetic material</a:t>
            </a:r>
          </a:p>
          <a:p>
            <a:pPr marL="625475" lvl="2" indent="-266700">
              <a:lnSpc>
                <a:spcPct val="80000"/>
              </a:lnSpc>
              <a:spcBef>
                <a:spcPts val="0"/>
              </a:spcBef>
              <a:spcAft>
                <a:spcPts val="1800"/>
              </a:spcAft>
            </a:pPr>
            <a:r>
              <a:rPr lang="en-US" sz="2000" dirty="0">
                <a:solidFill>
                  <a:prstClr val="black"/>
                </a:solidFill>
              </a:rPr>
              <a:t>Two haploid filaments line up parallel to each other</a:t>
            </a:r>
          </a:p>
          <a:p>
            <a:pPr marL="625475" lvl="2" indent="-266700">
              <a:lnSpc>
                <a:spcPct val="80000"/>
              </a:lnSpc>
              <a:spcBef>
                <a:spcPts val="0"/>
              </a:spcBef>
              <a:spcAft>
                <a:spcPts val="1800"/>
              </a:spcAft>
            </a:pPr>
            <a:r>
              <a:rPr lang="en-US" sz="2000" dirty="0">
                <a:solidFill>
                  <a:prstClr val="black"/>
                </a:solidFill>
              </a:rPr>
              <a:t>Cell contents of one filament move into the cells of the other filament forming diploid zygospores </a:t>
            </a:r>
          </a:p>
          <a:p>
            <a:pPr marL="625475" lvl="2" indent="-266700">
              <a:lnSpc>
                <a:spcPct val="80000"/>
              </a:lnSpc>
              <a:spcBef>
                <a:spcPts val="0"/>
              </a:spcBef>
              <a:spcAft>
                <a:spcPts val="1800"/>
              </a:spcAft>
            </a:pPr>
            <a:r>
              <a:rPr lang="en-US" sz="2000" dirty="0">
                <a:solidFill>
                  <a:prstClr val="black"/>
                </a:solidFill>
              </a:rPr>
              <a:t>Zygospores eventually undergo meiosis to produce new haploid filaments</a:t>
            </a:r>
          </a:p>
        </p:txBody>
      </p:sp>
      <p:sp>
        <p:nvSpPr>
          <p:cNvPr id="4" name="Slide Number Placeholder 3">
            <a:extLst>
              <a:ext uri="{FF2B5EF4-FFF2-40B4-BE49-F238E27FC236}">
                <a16:creationId xmlns:a16="http://schemas.microsoft.com/office/drawing/2014/main" id="{BC0A3603-E943-40AE-B4E4-4B142715CC64}"/>
              </a:ext>
            </a:extLst>
          </p:cNvPr>
          <p:cNvSpPr>
            <a:spLocks noGrp="1"/>
          </p:cNvSpPr>
          <p:nvPr>
            <p:ph type="sldNum" sz="quarter" idx="4"/>
          </p:nvPr>
        </p:nvSpPr>
        <p:spPr/>
        <p:txBody>
          <a:bodyPr/>
          <a:lstStyle/>
          <a:p>
            <a:fld id="{68151E55-6873-49E2-B8D5-2F265E6F1973}" type="slidenum">
              <a:rPr lang="en-US" smtClean="0"/>
              <a:pPr/>
              <a:t>54</a:t>
            </a:fld>
            <a:endParaRPr lang="en-US" dirty="0"/>
          </a:p>
        </p:txBody>
      </p:sp>
    </p:spTree>
    <p:extLst>
      <p:ext uri="{BB962C8B-B14F-4D97-AF65-F5344CB8AC3E}">
        <p14:creationId xmlns:p14="http://schemas.microsoft.com/office/powerpoint/2010/main" val="31771623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594B5-B0CF-4101-A0A6-C465883ED813}"/>
              </a:ext>
            </a:extLst>
          </p:cNvPr>
          <p:cNvSpPr>
            <a:spLocks noGrp="1"/>
          </p:cNvSpPr>
          <p:nvPr>
            <p:ph type="title"/>
          </p:nvPr>
        </p:nvSpPr>
        <p:spPr>
          <a:xfrm>
            <a:off x="0" y="2"/>
            <a:ext cx="9144000" cy="732234"/>
          </a:xfrm>
        </p:spPr>
        <p:txBody>
          <a:bodyPr/>
          <a:lstStyle/>
          <a:p>
            <a:r>
              <a:rPr lang="en-US" altLang="en-US" i="1" dirty="0"/>
              <a:t>Spirogyra</a:t>
            </a:r>
            <a:endParaRPr lang="en-IN" dirty="0"/>
          </a:p>
        </p:txBody>
      </p:sp>
      <p:pic>
        <p:nvPicPr>
          <p:cNvPr id="8" name="Picture 2" descr="Diagram of cell anatomy (a) and micrograph (b) of conjugation (enlarged 50 times).">
            <a:extLst>
              <a:ext uri="{FF2B5EF4-FFF2-40B4-BE49-F238E27FC236}">
                <a16:creationId xmlns:a16="http://schemas.microsoft.com/office/drawing/2014/main" id="{8167696A-E682-48CE-A912-A9201703E8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95266" y="793028"/>
            <a:ext cx="5353467" cy="4982903"/>
          </a:xfrm>
          <a:prstGeom prst="rect">
            <a:avLst/>
          </a:prstGeom>
        </p:spPr>
      </p:pic>
      <p:sp>
        <p:nvSpPr>
          <p:cNvPr id="5" name="Text Placeholder 3">
            <a:extLst>
              <a:ext uri="{FF2B5EF4-FFF2-40B4-BE49-F238E27FC236}">
                <a16:creationId xmlns:a16="http://schemas.microsoft.com/office/drawing/2014/main" id="{CC9F6B4F-C954-41EF-8803-36436EA22158}"/>
              </a:ext>
            </a:extLst>
          </p:cNvPr>
          <p:cNvSpPr>
            <a:spLocks noGrp="1"/>
          </p:cNvSpPr>
          <p:nvPr>
            <p:ph type="body" sz="quarter" idx="18"/>
          </p:nvPr>
        </p:nvSpPr>
        <p:spPr>
          <a:xfrm>
            <a:off x="3952391" y="5892230"/>
            <a:ext cx="1238093" cy="314325"/>
          </a:xfrm>
        </p:spPr>
        <p:txBody>
          <a:bodyPr>
            <a:normAutofit/>
          </a:bodyPr>
          <a:lstStyle/>
          <a:p>
            <a:r>
              <a:rPr lang="en-US" sz="1200" dirty="0"/>
              <a:t>Figure 21.21</a:t>
            </a:r>
          </a:p>
        </p:txBody>
      </p:sp>
      <p:sp>
        <p:nvSpPr>
          <p:cNvPr id="6" name="Text Placeholder 4">
            <a:extLst>
              <a:ext uri="{FF2B5EF4-FFF2-40B4-BE49-F238E27FC236}">
                <a16:creationId xmlns:a16="http://schemas.microsoft.com/office/drawing/2014/main" id="{66B34A56-DD11-4202-9253-3E972B3C705A}"/>
              </a:ext>
            </a:extLst>
          </p:cNvPr>
          <p:cNvSpPr>
            <a:spLocks noGrp="1"/>
          </p:cNvSpPr>
          <p:nvPr>
            <p:ph type="body" sz="quarter" idx="19"/>
          </p:nvPr>
        </p:nvSpPr>
        <p:spPr>
          <a:xfrm>
            <a:off x="3007862" y="6224880"/>
            <a:ext cx="3127153" cy="314325"/>
          </a:xfrm>
        </p:spPr>
        <p:txBody>
          <a:bodyPr>
            <a:normAutofit/>
          </a:bodyPr>
          <a:lstStyle/>
          <a:p>
            <a:r>
              <a:rPr lang="en-US" sz="1200" dirty="0">
                <a:hlinkClick r:id="rId3" action="ppaction://hlinksldjump"/>
              </a:rPr>
              <a:t>Access the text alternative for slide images.</a:t>
            </a:r>
            <a:endParaRPr lang="en-IN" sz="1200" dirty="0"/>
          </a:p>
        </p:txBody>
      </p:sp>
      <p:sp>
        <p:nvSpPr>
          <p:cNvPr id="7" name="Text Placeholder 5">
            <a:extLst>
              <a:ext uri="{FF2B5EF4-FFF2-40B4-BE49-F238E27FC236}">
                <a16:creationId xmlns:a16="http://schemas.microsoft.com/office/drawing/2014/main" id="{4245AFED-8748-40C1-BEB6-EC7DD6928185}"/>
              </a:ext>
            </a:extLst>
          </p:cNvPr>
          <p:cNvSpPr>
            <a:spLocks noGrp="1"/>
          </p:cNvSpPr>
          <p:nvPr>
            <p:ph type="body" sz="quarter" idx="21"/>
          </p:nvPr>
        </p:nvSpPr>
        <p:spPr/>
        <p:txBody>
          <a:bodyPr/>
          <a:lstStyle/>
          <a:p>
            <a:pPr lvl="0"/>
            <a:r>
              <a:rPr lang="en-US" altLang="en-US" sz="800" dirty="0">
                <a:solidFill>
                  <a:prstClr val="black"/>
                </a:solidFill>
                <a:latin typeface="Arial Unicode MS" pitchFamily="34" charset="-128"/>
              </a:rPr>
              <a:t>(b): M.I. Walker/Science Source</a:t>
            </a:r>
            <a:endParaRPr lang="en-US" altLang="en-US" sz="800" dirty="0">
              <a:solidFill>
                <a:prstClr val="black"/>
              </a:solidFill>
              <a:latin typeface="Arial" panose="020B0604020202020204" pitchFamily="34" charset="0"/>
            </a:endParaRPr>
          </a:p>
        </p:txBody>
      </p:sp>
      <p:sp>
        <p:nvSpPr>
          <p:cNvPr id="4" name="Slide Number Placeholder 6">
            <a:extLst>
              <a:ext uri="{FF2B5EF4-FFF2-40B4-BE49-F238E27FC236}">
                <a16:creationId xmlns:a16="http://schemas.microsoft.com/office/drawing/2014/main" id="{C85A4BAA-371F-4C4E-907C-4632575B5058}"/>
              </a:ext>
            </a:extLst>
          </p:cNvPr>
          <p:cNvSpPr>
            <a:spLocks noGrp="1"/>
          </p:cNvSpPr>
          <p:nvPr>
            <p:ph type="sldNum" sz="quarter" idx="4"/>
          </p:nvPr>
        </p:nvSpPr>
        <p:spPr/>
        <p:txBody>
          <a:bodyPr/>
          <a:lstStyle/>
          <a:p>
            <a:fld id="{68151E55-6873-49E2-B8D5-2F265E6F1973}" type="slidenum">
              <a:rPr lang="en-US" smtClean="0"/>
              <a:pPr/>
              <a:t>55</a:t>
            </a:fld>
            <a:endParaRPr lang="en-US" dirty="0"/>
          </a:p>
        </p:txBody>
      </p:sp>
    </p:spTree>
    <p:extLst>
      <p:ext uri="{BB962C8B-B14F-4D97-AF65-F5344CB8AC3E}">
        <p14:creationId xmlns:p14="http://schemas.microsoft.com/office/powerpoint/2010/main" val="13773629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0CA2F-831F-4A82-AF9C-9204F0A862B6}"/>
              </a:ext>
            </a:extLst>
          </p:cNvPr>
          <p:cNvSpPr>
            <a:spLocks noGrp="1"/>
          </p:cNvSpPr>
          <p:nvPr>
            <p:ph type="title"/>
          </p:nvPr>
        </p:nvSpPr>
        <p:spPr/>
        <p:txBody>
          <a:bodyPr/>
          <a:lstStyle/>
          <a:p>
            <a:pPr>
              <a:lnSpc>
                <a:spcPct val="100000"/>
              </a:lnSpc>
            </a:pPr>
            <a:r>
              <a:rPr lang="en-US" altLang="en-US" i="1" kern="0" dirty="0" err="1"/>
              <a:t>Chara</a:t>
            </a:r>
            <a:endParaRPr lang="en-US" i="1" kern="0" dirty="0"/>
          </a:p>
        </p:txBody>
      </p:sp>
      <p:sp>
        <p:nvSpPr>
          <p:cNvPr id="3" name="Text Placeholder 2">
            <a:extLst>
              <a:ext uri="{FF2B5EF4-FFF2-40B4-BE49-F238E27FC236}">
                <a16:creationId xmlns:a16="http://schemas.microsoft.com/office/drawing/2014/main" id="{712A9F58-FAF9-4EDE-9ECC-EDEE3509C50B}"/>
              </a:ext>
            </a:extLst>
          </p:cNvPr>
          <p:cNvSpPr>
            <a:spLocks noGrp="1"/>
          </p:cNvSpPr>
          <p:nvPr>
            <p:ph type="body" sz="quarter" idx="19"/>
          </p:nvPr>
        </p:nvSpPr>
        <p:spPr>
          <a:xfrm>
            <a:off x="461993" y="1197279"/>
            <a:ext cx="8220014" cy="5061574"/>
          </a:xfrm>
        </p:spPr>
        <p:txBody>
          <a:bodyPr>
            <a:normAutofit/>
          </a:bodyPr>
          <a:lstStyle/>
          <a:p>
            <a:pPr>
              <a:spcAft>
                <a:spcPts val="0"/>
              </a:spcAft>
            </a:pPr>
            <a:r>
              <a:rPr lang="en-US" sz="2400" i="1" dirty="0" err="1"/>
              <a:t>Chara</a:t>
            </a:r>
            <a:r>
              <a:rPr lang="en-US" sz="2400" dirty="0"/>
              <a:t> is a charophyte found in freshwater lakes and ponds</a:t>
            </a:r>
          </a:p>
          <a:p>
            <a:pPr marL="358775" lvl="1" indent="-358775">
              <a:lnSpc>
                <a:spcPct val="150000"/>
              </a:lnSpc>
              <a:spcAft>
                <a:spcPts val="0"/>
              </a:spcAft>
            </a:pPr>
            <a:r>
              <a:rPr lang="en-US" sz="2200" dirty="0"/>
              <a:t>Commonly called a stonewort</a:t>
            </a:r>
          </a:p>
          <a:p>
            <a:pPr marL="358775" lvl="1" indent="-358775">
              <a:lnSpc>
                <a:spcPct val="150000"/>
              </a:lnSpc>
              <a:spcAft>
                <a:spcPts val="0"/>
              </a:spcAft>
            </a:pPr>
            <a:r>
              <a:rPr lang="en-US" sz="2200" dirty="0"/>
              <a:t>Encrusted with calcium carbonate deposits</a:t>
            </a:r>
          </a:p>
          <a:p>
            <a:pPr marL="358775" lvl="1" indent="-358775">
              <a:lnSpc>
                <a:spcPct val="150000"/>
              </a:lnSpc>
              <a:spcAft>
                <a:spcPts val="0"/>
              </a:spcAft>
            </a:pPr>
            <a:r>
              <a:rPr lang="en-US" sz="2200" dirty="0"/>
              <a:t>Main strand of alga can be over a meter long</a:t>
            </a:r>
          </a:p>
          <a:p>
            <a:pPr marL="358775" lvl="1" indent="-358775">
              <a:lnSpc>
                <a:spcPct val="150000"/>
              </a:lnSpc>
              <a:spcAft>
                <a:spcPts val="0"/>
              </a:spcAft>
            </a:pPr>
            <a:r>
              <a:rPr lang="en-US" sz="2200" dirty="0"/>
              <a:t>Cells anchored by rhizoids</a:t>
            </a:r>
          </a:p>
          <a:p>
            <a:pPr marL="358775" lvl="1" indent="-358775">
              <a:lnSpc>
                <a:spcPct val="150000"/>
              </a:lnSpc>
              <a:spcAft>
                <a:spcPts val="0"/>
              </a:spcAft>
            </a:pPr>
            <a:r>
              <a:rPr lang="en-US" sz="2200" dirty="0"/>
              <a:t>Whorls of branches occur at multicellular nodes</a:t>
            </a:r>
          </a:p>
          <a:p>
            <a:pPr marL="358775" lvl="1" indent="-358775">
              <a:lnSpc>
                <a:spcPct val="150000"/>
              </a:lnSpc>
              <a:spcAft>
                <a:spcPts val="0"/>
              </a:spcAft>
            </a:pPr>
            <a:r>
              <a:rPr lang="en-US" sz="2200" dirty="0"/>
              <a:t>DNA sequencing data suggest the </a:t>
            </a:r>
            <a:r>
              <a:rPr lang="en-US" sz="2200" dirty="0" err="1"/>
              <a:t>stoneworts</a:t>
            </a:r>
            <a:r>
              <a:rPr lang="en-US" sz="2200" dirty="0"/>
              <a:t> are most closely related to land plants</a:t>
            </a:r>
          </a:p>
        </p:txBody>
      </p:sp>
      <p:sp>
        <p:nvSpPr>
          <p:cNvPr id="4" name="Slide Number Placeholder 3">
            <a:extLst>
              <a:ext uri="{FF2B5EF4-FFF2-40B4-BE49-F238E27FC236}">
                <a16:creationId xmlns:a16="http://schemas.microsoft.com/office/drawing/2014/main" id="{A1A63F0F-59E7-4B4A-AE72-6580F7731AFE}"/>
              </a:ext>
            </a:extLst>
          </p:cNvPr>
          <p:cNvSpPr>
            <a:spLocks noGrp="1"/>
          </p:cNvSpPr>
          <p:nvPr>
            <p:ph type="sldNum" sz="quarter" idx="4"/>
          </p:nvPr>
        </p:nvSpPr>
        <p:spPr/>
        <p:txBody>
          <a:bodyPr/>
          <a:lstStyle/>
          <a:p>
            <a:fld id="{68151E55-6873-49E2-B8D5-2F265E6F1973}" type="slidenum">
              <a:rPr lang="en-US" smtClean="0"/>
              <a:pPr/>
              <a:t>56</a:t>
            </a:fld>
            <a:endParaRPr lang="en-US" dirty="0"/>
          </a:p>
        </p:txBody>
      </p:sp>
    </p:spTree>
    <p:extLst>
      <p:ext uri="{BB962C8B-B14F-4D97-AF65-F5344CB8AC3E}">
        <p14:creationId xmlns:p14="http://schemas.microsoft.com/office/powerpoint/2010/main" val="404906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D2D62-207A-4869-A74B-3379F5434543}"/>
              </a:ext>
            </a:extLst>
          </p:cNvPr>
          <p:cNvSpPr>
            <a:spLocks noGrp="1"/>
          </p:cNvSpPr>
          <p:nvPr>
            <p:ph type="title"/>
          </p:nvPr>
        </p:nvSpPr>
        <p:spPr/>
        <p:txBody>
          <a:bodyPr/>
          <a:lstStyle/>
          <a:p>
            <a:r>
              <a:rPr lang="en-US" i="1" dirty="0" err="1"/>
              <a:t>Chara</a:t>
            </a:r>
            <a:r>
              <a:rPr lang="en-US" i="1" dirty="0"/>
              <a:t> </a:t>
            </a:r>
            <a:r>
              <a:rPr lang="en-US" dirty="0"/>
              <a:t>Examples</a:t>
            </a:r>
            <a:endParaRPr lang="en-IN" dirty="0"/>
          </a:p>
        </p:txBody>
      </p:sp>
      <p:pic>
        <p:nvPicPr>
          <p:cNvPr id="8" name="Picture 2" descr="Several branched individuals of chara (a), with single individual consisting of node, main axis, and branch (b). ">
            <a:extLst>
              <a:ext uri="{FF2B5EF4-FFF2-40B4-BE49-F238E27FC236}">
                <a16:creationId xmlns:a16="http://schemas.microsoft.com/office/drawing/2014/main" id="{D5C91BC7-FB5D-41AC-AC4E-002FC7C8A8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55" b="6205"/>
          <a:stretch/>
        </p:blipFill>
        <p:spPr bwMode="auto">
          <a:xfrm>
            <a:off x="1482163" y="956042"/>
            <a:ext cx="6178550" cy="4800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3">
            <a:extLst>
              <a:ext uri="{FF2B5EF4-FFF2-40B4-BE49-F238E27FC236}">
                <a16:creationId xmlns:a16="http://schemas.microsoft.com/office/drawing/2014/main" id="{83F3C207-A6C7-4569-84A8-C93BD5FBFDAA}"/>
              </a:ext>
            </a:extLst>
          </p:cNvPr>
          <p:cNvSpPr>
            <a:spLocks noGrp="1"/>
          </p:cNvSpPr>
          <p:nvPr>
            <p:ph type="body" sz="quarter" idx="18"/>
          </p:nvPr>
        </p:nvSpPr>
        <p:spPr>
          <a:xfrm>
            <a:off x="1482163" y="5792074"/>
            <a:ext cx="2550187" cy="314325"/>
          </a:xfrm>
        </p:spPr>
        <p:txBody>
          <a:bodyPr>
            <a:normAutofit/>
          </a:bodyPr>
          <a:lstStyle/>
          <a:p>
            <a:pPr marL="171450" lvl="0" indent="-171450">
              <a:buFont typeface="+mj-lt"/>
              <a:buAutoNum type="alphaLcPeriod"/>
            </a:pPr>
            <a:r>
              <a:rPr lang="en-US" sz="1450" i="1" dirty="0"/>
              <a:t>Chara, </a:t>
            </a:r>
            <a:r>
              <a:rPr lang="en-US" sz="1450" dirty="0"/>
              <a:t>several individuals</a:t>
            </a:r>
          </a:p>
        </p:txBody>
      </p:sp>
      <p:sp>
        <p:nvSpPr>
          <p:cNvPr id="7" name="Text Placeholder 4">
            <a:extLst>
              <a:ext uri="{FF2B5EF4-FFF2-40B4-BE49-F238E27FC236}">
                <a16:creationId xmlns:a16="http://schemas.microsoft.com/office/drawing/2014/main" id="{004EADC3-D9D4-451B-B707-EE8580C03921}"/>
              </a:ext>
            </a:extLst>
          </p:cNvPr>
          <p:cNvSpPr>
            <a:spLocks noGrp="1"/>
          </p:cNvSpPr>
          <p:nvPr>
            <p:ph type="body" sz="quarter" idx="19"/>
          </p:nvPr>
        </p:nvSpPr>
        <p:spPr>
          <a:xfrm>
            <a:off x="5111652" y="5792074"/>
            <a:ext cx="1806452" cy="314325"/>
          </a:xfrm>
        </p:spPr>
        <p:txBody>
          <a:bodyPr>
            <a:normAutofit/>
          </a:bodyPr>
          <a:lstStyle/>
          <a:p>
            <a:pPr marL="171450" lvl="0" indent="-171450">
              <a:buFont typeface="+mj-lt"/>
              <a:buAutoNum type="alphaLcPeriod" startAt="2"/>
            </a:pPr>
            <a:r>
              <a:rPr lang="en-US" sz="1450" dirty="0"/>
              <a:t>One individual</a:t>
            </a:r>
          </a:p>
        </p:txBody>
      </p:sp>
      <p:sp>
        <p:nvSpPr>
          <p:cNvPr id="3" name="Text Placeholder 5">
            <a:extLst>
              <a:ext uri="{FF2B5EF4-FFF2-40B4-BE49-F238E27FC236}">
                <a16:creationId xmlns:a16="http://schemas.microsoft.com/office/drawing/2014/main" id="{4549C400-C782-4A6B-A41F-98CE44422E58}"/>
              </a:ext>
            </a:extLst>
          </p:cNvPr>
          <p:cNvSpPr>
            <a:spLocks noGrp="1"/>
          </p:cNvSpPr>
          <p:nvPr>
            <p:ph type="body" sz="quarter" idx="20"/>
          </p:nvPr>
        </p:nvSpPr>
        <p:spPr>
          <a:xfrm>
            <a:off x="3949218" y="6226831"/>
            <a:ext cx="1088902" cy="314325"/>
          </a:xfrm>
        </p:spPr>
        <p:txBody>
          <a:bodyPr>
            <a:normAutofit/>
          </a:bodyPr>
          <a:lstStyle/>
          <a:p>
            <a:r>
              <a:rPr lang="en-US" sz="1200" dirty="0"/>
              <a:t>Figure 21.22</a:t>
            </a:r>
          </a:p>
        </p:txBody>
      </p:sp>
      <p:sp>
        <p:nvSpPr>
          <p:cNvPr id="5" name="Text Placeholder 6">
            <a:extLst>
              <a:ext uri="{FF2B5EF4-FFF2-40B4-BE49-F238E27FC236}">
                <a16:creationId xmlns:a16="http://schemas.microsoft.com/office/drawing/2014/main" id="{F4F9C67E-3026-417F-98F9-7DE47BC67B1D}"/>
              </a:ext>
            </a:extLst>
          </p:cNvPr>
          <p:cNvSpPr>
            <a:spLocks noGrp="1"/>
          </p:cNvSpPr>
          <p:nvPr>
            <p:ph type="body" sz="quarter" idx="21"/>
          </p:nvPr>
        </p:nvSpPr>
        <p:spPr/>
        <p:txBody>
          <a:bodyPr/>
          <a:lstStyle/>
          <a:p>
            <a:pPr lvl="0"/>
            <a:r>
              <a:rPr lang="en-US" dirty="0"/>
              <a:t>(a): Bob Gibbons/</a:t>
            </a:r>
            <a:r>
              <a:rPr lang="en-US" dirty="0" err="1"/>
              <a:t>Alamy</a:t>
            </a:r>
            <a:r>
              <a:rPr lang="en-US" dirty="0"/>
              <a:t> Stock Photo; (b): © Kingsley Stern</a:t>
            </a:r>
          </a:p>
        </p:txBody>
      </p:sp>
      <p:sp>
        <p:nvSpPr>
          <p:cNvPr id="4" name="Slide Number Placeholder 7">
            <a:extLst>
              <a:ext uri="{FF2B5EF4-FFF2-40B4-BE49-F238E27FC236}">
                <a16:creationId xmlns:a16="http://schemas.microsoft.com/office/drawing/2014/main" id="{1EC95095-E163-4F7C-B5B3-C9F6EAB7684A}"/>
              </a:ext>
            </a:extLst>
          </p:cNvPr>
          <p:cNvSpPr>
            <a:spLocks noGrp="1"/>
          </p:cNvSpPr>
          <p:nvPr>
            <p:ph type="sldNum" sz="quarter" idx="4"/>
          </p:nvPr>
        </p:nvSpPr>
        <p:spPr/>
        <p:txBody>
          <a:bodyPr/>
          <a:lstStyle/>
          <a:p>
            <a:fld id="{68151E55-6873-49E2-B8D5-2F265E6F1973}" type="slidenum">
              <a:rPr lang="en-US" smtClean="0"/>
              <a:pPr/>
              <a:t>57</a:t>
            </a:fld>
            <a:endParaRPr lang="en-US" dirty="0"/>
          </a:p>
        </p:txBody>
      </p:sp>
    </p:spTree>
    <p:extLst>
      <p:ext uri="{BB962C8B-B14F-4D97-AF65-F5344CB8AC3E}">
        <p14:creationId xmlns:p14="http://schemas.microsoft.com/office/powerpoint/2010/main" val="37629505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0B24C-CEC4-4094-800B-AB1079E997C9}"/>
              </a:ext>
            </a:extLst>
          </p:cNvPr>
          <p:cNvSpPr>
            <a:spLocks noGrp="1"/>
          </p:cNvSpPr>
          <p:nvPr>
            <p:ph type="title"/>
          </p:nvPr>
        </p:nvSpPr>
        <p:spPr/>
        <p:txBody>
          <a:bodyPr/>
          <a:lstStyle/>
          <a:p>
            <a:r>
              <a:rPr lang="en-US" dirty="0"/>
              <a:t>21.6 Supergroup Amoebozoa</a:t>
            </a:r>
            <a:endParaRPr lang="en-IN" dirty="0"/>
          </a:p>
        </p:txBody>
      </p:sp>
      <p:sp>
        <p:nvSpPr>
          <p:cNvPr id="3" name="Text Placeholder 2">
            <a:extLst>
              <a:ext uri="{FF2B5EF4-FFF2-40B4-BE49-F238E27FC236}">
                <a16:creationId xmlns:a16="http://schemas.microsoft.com/office/drawing/2014/main" id="{F496FF75-8758-4967-918C-A0B1647A3B74}"/>
              </a:ext>
            </a:extLst>
          </p:cNvPr>
          <p:cNvSpPr>
            <a:spLocks noGrp="1"/>
          </p:cNvSpPr>
          <p:nvPr>
            <p:ph type="body" sz="quarter" idx="19"/>
          </p:nvPr>
        </p:nvSpPr>
        <p:spPr>
          <a:xfrm>
            <a:off x="842963" y="1041722"/>
            <a:ext cx="7623676" cy="5816279"/>
          </a:xfrm>
        </p:spPr>
        <p:txBody>
          <a:bodyPr>
            <a:normAutofit lnSpcReduction="10000"/>
          </a:bodyPr>
          <a:lstStyle/>
          <a:p>
            <a:pPr lvl="0">
              <a:lnSpc>
                <a:spcPct val="90000"/>
              </a:lnSpc>
              <a:spcAft>
                <a:spcPts val="1500"/>
              </a:spcAft>
            </a:pPr>
            <a:r>
              <a:rPr lang="en-US" sz="2400" b="1" dirty="0">
                <a:solidFill>
                  <a:srgbClr val="D90000"/>
                </a:solidFill>
              </a:rPr>
              <a:t>Amoebozoans</a:t>
            </a:r>
            <a:r>
              <a:rPr lang="en-US" sz="2400" dirty="0">
                <a:solidFill>
                  <a:prstClr val="black"/>
                </a:solidFill>
              </a:rPr>
              <a:t> are protozoans that move by pseudopods</a:t>
            </a:r>
          </a:p>
          <a:p>
            <a:pPr marL="0" lvl="1" indent="0">
              <a:lnSpc>
                <a:spcPct val="90000"/>
              </a:lnSpc>
              <a:spcBef>
                <a:spcPts val="0"/>
              </a:spcBef>
              <a:buNone/>
            </a:pPr>
            <a:r>
              <a:rPr lang="en-US" sz="2200" dirty="0"/>
              <a:t>Pseudopods</a:t>
            </a:r>
            <a:r>
              <a:rPr lang="en-US" sz="2200" dirty="0">
                <a:solidFill>
                  <a:prstClr val="black"/>
                </a:solidFill>
              </a:rPr>
              <a:t> form when cytoplasm streams forward in a particular direction</a:t>
            </a:r>
          </a:p>
          <a:p>
            <a:pPr marL="0" lvl="1" indent="0">
              <a:lnSpc>
                <a:spcPct val="90000"/>
              </a:lnSpc>
              <a:spcBef>
                <a:spcPts val="1200"/>
              </a:spcBef>
              <a:buNone/>
            </a:pPr>
            <a:r>
              <a:rPr lang="en-US" sz="2200" b="1" dirty="0" err="1">
                <a:solidFill>
                  <a:srgbClr val="D90000"/>
                </a:solidFill>
              </a:rPr>
              <a:t>Amoeboids</a:t>
            </a:r>
            <a:r>
              <a:rPr lang="en-US" sz="2200" dirty="0">
                <a:solidFill>
                  <a:prstClr val="black"/>
                </a:solidFill>
              </a:rPr>
              <a:t> are protists that move and ingest their food with pseudopods</a:t>
            </a:r>
          </a:p>
          <a:p>
            <a:pPr marL="266700" lvl="2" indent="-266700">
              <a:lnSpc>
                <a:spcPct val="90000"/>
              </a:lnSpc>
              <a:spcBef>
                <a:spcPts val="1200"/>
              </a:spcBef>
              <a:spcAft>
                <a:spcPts val="0"/>
              </a:spcAft>
            </a:pPr>
            <a:r>
              <a:rPr lang="en-US" sz="2000" dirty="0">
                <a:solidFill>
                  <a:prstClr val="black"/>
                </a:solidFill>
              </a:rPr>
              <a:t>Feed by </a:t>
            </a:r>
            <a:r>
              <a:rPr lang="en-US" sz="2000" dirty="0"/>
              <a:t>phagocytosis</a:t>
            </a:r>
            <a:r>
              <a:rPr lang="en-US" sz="2000" dirty="0">
                <a:solidFill>
                  <a:prstClr val="black"/>
                </a:solidFill>
              </a:rPr>
              <a:t> </a:t>
            </a:r>
          </a:p>
          <a:p>
            <a:pPr marL="266700" lvl="2" indent="-266700">
              <a:lnSpc>
                <a:spcPct val="90000"/>
              </a:lnSpc>
              <a:spcBef>
                <a:spcPts val="1200"/>
              </a:spcBef>
              <a:spcAft>
                <a:spcPts val="0"/>
              </a:spcAft>
            </a:pPr>
            <a:r>
              <a:rPr lang="en-US" sz="2000" i="1" dirty="0">
                <a:solidFill>
                  <a:prstClr val="black"/>
                </a:solidFill>
              </a:rPr>
              <a:t>Amoeba proteus </a:t>
            </a:r>
            <a:r>
              <a:rPr lang="en-US" sz="2000" dirty="0">
                <a:solidFill>
                  <a:prstClr val="black"/>
                </a:solidFill>
              </a:rPr>
              <a:t>is commonly studied in biology labs</a:t>
            </a:r>
          </a:p>
          <a:p>
            <a:pPr marL="266700" lvl="2" indent="-266700">
              <a:lnSpc>
                <a:spcPct val="90000"/>
              </a:lnSpc>
              <a:spcBef>
                <a:spcPts val="1200"/>
              </a:spcBef>
              <a:spcAft>
                <a:spcPts val="0"/>
              </a:spcAft>
            </a:pPr>
            <a:r>
              <a:rPr lang="en-US" sz="2000" i="1" dirty="0">
                <a:solidFill>
                  <a:prstClr val="black"/>
                </a:solidFill>
              </a:rPr>
              <a:t>Entamoeba histolytica </a:t>
            </a:r>
            <a:r>
              <a:rPr lang="en-US" sz="2000" dirty="0">
                <a:solidFill>
                  <a:prstClr val="black"/>
                </a:solidFill>
              </a:rPr>
              <a:t>is a parasite of the human colon</a:t>
            </a:r>
          </a:p>
          <a:p>
            <a:pPr marL="531813" lvl="3" indent="-265113">
              <a:lnSpc>
                <a:spcPct val="90000"/>
              </a:lnSpc>
              <a:spcBef>
                <a:spcPts val="1200"/>
              </a:spcBef>
            </a:pPr>
            <a:r>
              <a:rPr lang="en-US" sz="1800" dirty="0">
                <a:solidFill>
                  <a:prstClr val="black"/>
                </a:solidFill>
              </a:rPr>
              <a:t>Causes amoebic dysentery</a:t>
            </a:r>
          </a:p>
          <a:p>
            <a:pPr marL="266700" lvl="2" indent="-266700">
              <a:lnSpc>
                <a:spcPct val="90000"/>
              </a:lnSpc>
              <a:spcBef>
                <a:spcPts val="1200"/>
              </a:spcBef>
            </a:pPr>
            <a:r>
              <a:rPr lang="en-US" sz="2000" i="1" dirty="0">
                <a:solidFill>
                  <a:prstClr val="black"/>
                </a:solidFill>
              </a:rPr>
              <a:t>Naegleria </a:t>
            </a:r>
            <a:r>
              <a:rPr lang="en-US" sz="2000" i="1" dirty="0" err="1">
                <a:solidFill>
                  <a:prstClr val="black"/>
                </a:solidFill>
              </a:rPr>
              <a:t>fowleri</a:t>
            </a:r>
            <a:r>
              <a:rPr lang="en-US" sz="2000" i="1" dirty="0">
                <a:solidFill>
                  <a:prstClr val="black"/>
                </a:solidFill>
              </a:rPr>
              <a:t> </a:t>
            </a:r>
            <a:r>
              <a:rPr lang="en-US" sz="2000" dirty="0">
                <a:solidFill>
                  <a:prstClr val="black"/>
                </a:solidFill>
              </a:rPr>
              <a:t>is known as the “brain eating amoeba”</a:t>
            </a:r>
          </a:p>
          <a:p>
            <a:pPr marL="531813" lvl="3" indent="-265113">
              <a:lnSpc>
                <a:spcPct val="90000"/>
              </a:lnSpc>
              <a:spcBef>
                <a:spcPts val="1200"/>
              </a:spcBef>
              <a:spcAft>
                <a:spcPts val="0"/>
              </a:spcAft>
            </a:pPr>
            <a:r>
              <a:rPr lang="en-US" sz="1800" dirty="0">
                <a:solidFill>
                  <a:prstClr val="black"/>
                </a:solidFill>
              </a:rPr>
              <a:t>Can cause a fatal brain infection</a:t>
            </a:r>
          </a:p>
          <a:p>
            <a:pPr marL="531813" lvl="3" indent="-265113">
              <a:lnSpc>
                <a:spcPct val="90000"/>
              </a:lnSpc>
              <a:spcBef>
                <a:spcPts val="1200"/>
              </a:spcBef>
              <a:spcAft>
                <a:spcPts val="0"/>
              </a:spcAft>
            </a:pPr>
            <a:r>
              <a:rPr lang="en-US" sz="1800" dirty="0">
                <a:solidFill>
                  <a:prstClr val="black"/>
                </a:solidFill>
              </a:rPr>
              <a:t>Lives in warm freshwater and can be acquired by inhaling water when swimming</a:t>
            </a:r>
          </a:p>
          <a:p>
            <a:pPr marL="746125" lvl="3">
              <a:lnSpc>
                <a:spcPct val="90000"/>
              </a:lnSpc>
              <a:spcBef>
                <a:spcPts val="1200"/>
              </a:spcBef>
            </a:pPr>
            <a:endParaRPr lang="en-US" dirty="0">
              <a:solidFill>
                <a:prstClr val="black"/>
              </a:solidFill>
            </a:endParaRPr>
          </a:p>
          <a:p>
            <a:endParaRPr lang="en-IN" dirty="0"/>
          </a:p>
        </p:txBody>
      </p:sp>
      <p:sp>
        <p:nvSpPr>
          <p:cNvPr id="4" name="Slide Number Placeholder 3">
            <a:extLst>
              <a:ext uri="{FF2B5EF4-FFF2-40B4-BE49-F238E27FC236}">
                <a16:creationId xmlns:a16="http://schemas.microsoft.com/office/drawing/2014/main" id="{62272866-D49C-4AD8-8049-1030BF295640}"/>
              </a:ext>
            </a:extLst>
          </p:cNvPr>
          <p:cNvSpPr>
            <a:spLocks noGrp="1"/>
          </p:cNvSpPr>
          <p:nvPr>
            <p:ph type="sldNum" sz="quarter" idx="4"/>
          </p:nvPr>
        </p:nvSpPr>
        <p:spPr/>
        <p:txBody>
          <a:bodyPr/>
          <a:lstStyle/>
          <a:p>
            <a:fld id="{68151E55-6873-49E2-B8D5-2F265E6F1973}" type="slidenum">
              <a:rPr lang="en-US" smtClean="0"/>
              <a:pPr/>
              <a:t>58</a:t>
            </a:fld>
            <a:endParaRPr lang="en-US" dirty="0"/>
          </a:p>
        </p:txBody>
      </p:sp>
    </p:spTree>
    <p:extLst>
      <p:ext uri="{BB962C8B-B14F-4D97-AF65-F5344CB8AC3E}">
        <p14:creationId xmlns:p14="http://schemas.microsoft.com/office/powerpoint/2010/main" val="11568002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345BB-10AF-4AC9-B849-F3F92269210D}"/>
              </a:ext>
            </a:extLst>
          </p:cNvPr>
          <p:cNvSpPr>
            <a:spLocks noGrp="1"/>
          </p:cNvSpPr>
          <p:nvPr>
            <p:ph type="title"/>
          </p:nvPr>
        </p:nvSpPr>
        <p:spPr/>
        <p:txBody>
          <a:bodyPr/>
          <a:lstStyle/>
          <a:p>
            <a:r>
              <a:rPr lang="en-US" altLang="en-US" i="1" dirty="0"/>
              <a:t>Amoeba proteus</a:t>
            </a:r>
            <a:endParaRPr lang="en-IN" dirty="0"/>
          </a:p>
        </p:txBody>
      </p:sp>
      <p:pic>
        <p:nvPicPr>
          <p:cNvPr id="8" name="Picture 2" descr="Diagram of Amoeba proteus shows plasma membrane, contractile and food vacuole, nucleus and nucleolus, mitochondrion, cytoplasm and pseudopod.">
            <a:extLst>
              <a:ext uri="{FF2B5EF4-FFF2-40B4-BE49-F238E27FC236}">
                <a16:creationId xmlns:a16="http://schemas.microsoft.com/office/drawing/2014/main" id="{7F3DE048-B1F9-4B57-8E33-FB50E7DB087D}"/>
              </a:ext>
            </a:extLst>
          </p:cNvPr>
          <p:cNvPicPr>
            <a:picLocks noChangeAspect="1"/>
          </p:cNvPicPr>
          <p:nvPr/>
        </p:nvPicPr>
        <p:blipFill>
          <a:blip r:embed="rId2"/>
          <a:stretch>
            <a:fillRect/>
          </a:stretch>
        </p:blipFill>
        <p:spPr>
          <a:xfrm>
            <a:off x="1924050" y="1175115"/>
            <a:ext cx="5295900" cy="4443664"/>
          </a:xfrm>
          <a:prstGeom prst="rect">
            <a:avLst/>
          </a:prstGeom>
        </p:spPr>
      </p:pic>
      <p:sp>
        <p:nvSpPr>
          <p:cNvPr id="5" name="Text Placeholder 3">
            <a:extLst>
              <a:ext uri="{FF2B5EF4-FFF2-40B4-BE49-F238E27FC236}">
                <a16:creationId xmlns:a16="http://schemas.microsoft.com/office/drawing/2014/main" id="{C027EE5F-F5B8-4E30-8FA7-750A8836A281}"/>
              </a:ext>
            </a:extLst>
          </p:cNvPr>
          <p:cNvSpPr>
            <a:spLocks noGrp="1"/>
          </p:cNvSpPr>
          <p:nvPr>
            <p:ph type="body" sz="quarter" idx="18"/>
          </p:nvPr>
        </p:nvSpPr>
        <p:spPr>
          <a:xfrm>
            <a:off x="3808270" y="5845681"/>
            <a:ext cx="1527460" cy="314325"/>
          </a:xfrm>
        </p:spPr>
        <p:txBody>
          <a:bodyPr>
            <a:normAutofit/>
          </a:bodyPr>
          <a:lstStyle/>
          <a:p>
            <a:r>
              <a:rPr lang="en-US" sz="1200" dirty="0"/>
              <a:t>Figure 21.23</a:t>
            </a:r>
          </a:p>
        </p:txBody>
      </p:sp>
      <p:sp>
        <p:nvSpPr>
          <p:cNvPr id="4" name="Slide Number Placeholder 4">
            <a:extLst>
              <a:ext uri="{FF2B5EF4-FFF2-40B4-BE49-F238E27FC236}">
                <a16:creationId xmlns:a16="http://schemas.microsoft.com/office/drawing/2014/main" id="{38DCFC2F-D090-4062-8B55-29E58F314DCD}"/>
              </a:ext>
            </a:extLst>
          </p:cNvPr>
          <p:cNvSpPr>
            <a:spLocks noGrp="1"/>
          </p:cNvSpPr>
          <p:nvPr>
            <p:ph type="sldNum" sz="quarter" idx="4"/>
          </p:nvPr>
        </p:nvSpPr>
        <p:spPr/>
        <p:txBody>
          <a:bodyPr/>
          <a:lstStyle/>
          <a:p>
            <a:fld id="{68151E55-6873-49E2-B8D5-2F265E6F1973}" type="slidenum">
              <a:rPr lang="en-US" smtClean="0"/>
              <a:pPr/>
              <a:t>59</a:t>
            </a:fld>
            <a:endParaRPr lang="en-US" dirty="0"/>
          </a:p>
        </p:txBody>
      </p:sp>
    </p:spTree>
    <p:extLst>
      <p:ext uri="{BB962C8B-B14F-4D97-AF65-F5344CB8AC3E}">
        <p14:creationId xmlns:p14="http://schemas.microsoft.com/office/powerpoint/2010/main" val="8729970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89619-12DF-41E4-A4F7-F422C3589B17}"/>
              </a:ext>
            </a:extLst>
          </p:cNvPr>
          <p:cNvSpPr>
            <a:spLocks noGrp="1"/>
          </p:cNvSpPr>
          <p:nvPr>
            <p:ph type="title"/>
          </p:nvPr>
        </p:nvSpPr>
        <p:spPr/>
        <p:txBody>
          <a:bodyPr/>
          <a:lstStyle/>
          <a:p>
            <a:r>
              <a:rPr lang="en-US" altLang="en-US" dirty="0"/>
              <a:t>Slime Molds</a:t>
            </a:r>
            <a:endParaRPr lang="en-IN" dirty="0"/>
          </a:p>
        </p:txBody>
      </p:sp>
      <p:sp>
        <p:nvSpPr>
          <p:cNvPr id="3" name="Text Placeholder 2">
            <a:extLst>
              <a:ext uri="{FF2B5EF4-FFF2-40B4-BE49-F238E27FC236}">
                <a16:creationId xmlns:a16="http://schemas.microsoft.com/office/drawing/2014/main" id="{57DB8636-A06E-42B1-8E94-689036CF9615}"/>
              </a:ext>
            </a:extLst>
          </p:cNvPr>
          <p:cNvSpPr>
            <a:spLocks noGrp="1"/>
          </p:cNvSpPr>
          <p:nvPr>
            <p:ph type="body" sz="quarter" idx="19"/>
          </p:nvPr>
        </p:nvSpPr>
        <p:spPr>
          <a:xfrm>
            <a:off x="842963" y="1177180"/>
            <a:ext cx="7623676" cy="5431964"/>
          </a:xfrm>
        </p:spPr>
        <p:txBody>
          <a:bodyPr/>
          <a:lstStyle/>
          <a:p>
            <a:pPr marL="0" lvl="1" indent="0">
              <a:lnSpc>
                <a:spcPct val="80000"/>
              </a:lnSpc>
              <a:spcBef>
                <a:spcPts val="0"/>
              </a:spcBef>
              <a:buNone/>
            </a:pPr>
            <a:r>
              <a:rPr lang="en-US" sz="2400" dirty="0">
                <a:solidFill>
                  <a:prstClr val="black"/>
                </a:solidFill>
              </a:rPr>
              <a:t>Important decomposers</a:t>
            </a:r>
            <a:endParaRPr lang="en-US" sz="2400" i="1" dirty="0">
              <a:solidFill>
                <a:prstClr val="black"/>
              </a:solidFill>
            </a:endParaRPr>
          </a:p>
          <a:p>
            <a:pPr marL="358775" lvl="2" indent="-358775">
              <a:lnSpc>
                <a:spcPct val="80000"/>
              </a:lnSpc>
              <a:spcBef>
                <a:spcPts val="1200"/>
              </a:spcBef>
            </a:pPr>
            <a:r>
              <a:rPr lang="en-US" sz="2200" dirty="0">
                <a:solidFill>
                  <a:prstClr val="black"/>
                </a:solidFill>
              </a:rPr>
              <a:t>Feed on dead plant material</a:t>
            </a:r>
          </a:p>
          <a:p>
            <a:pPr marL="358775" lvl="2" indent="-358775">
              <a:lnSpc>
                <a:spcPct val="80000"/>
              </a:lnSpc>
              <a:spcBef>
                <a:spcPts val="1200"/>
              </a:spcBef>
            </a:pPr>
            <a:r>
              <a:rPr lang="en-US" sz="2200" dirty="0">
                <a:solidFill>
                  <a:prstClr val="black"/>
                </a:solidFill>
              </a:rPr>
              <a:t>Once classified as fungi but lack cell walls and have flagellated cells at some point in life cycle</a:t>
            </a:r>
          </a:p>
          <a:p>
            <a:pPr marL="0" lvl="1" indent="0">
              <a:lnSpc>
                <a:spcPct val="80000"/>
              </a:lnSpc>
              <a:spcBef>
                <a:spcPts val="1200"/>
              </a:spcBef>
              <a:buNone/>
            </a:pPr>
            <a:r>
              <a:rPr lang="en-US" sz="2400" dirty="0">
                <a:solidFill>
                  <a:prstClr val="black"/>
                </a:solidFill>
              </a:rPr>
              <a:t>Vegetative state is mobile and amoeboid</a:t>
            </a:r>
          </a:p>
          <a:p>
            <a:pPr marL="0" lvl="1" indent="0">
              <a:lnSpc>
                <a:spcPct val="80000"/>
              </a:lnSpc>
              <a:spcBef>
                <a:spcPts val="1200"/>
              </a:spcBef>
              <a:buNone/>
            </a:pPr>
            <a:r>
              <a:rPr lang="en-US" sz="2400" dirty="0">
                <a:solidFill>
                  <a:prstClr val="black"/>
                </a:solidFill>
              </a:rPr>
              <a:t>Produce spores by meiosis</a:t>
            </a:r>
          </a:p>
          <a:p>
            <a:pPr marL="358775" lvl="2" indent="-358775">
              <a:lnSpc>
                <a:spcPct val="80000"/>
              </a:lnSpc>
              <a:spcBef>
                <a:spcPts val="1200"/>
              </a:spcBef>
            </a:pPr>
            <a:r>
              <a:rPr lang="en-US" sz="2200" dirty="0">
                <a:solidFill>
                  <a:prstClr val="black"/>
                </a:solidFill>
              </a:rPr>
              <a:t>Spores germinate to form gametes</a:t>
            </a:r>
          </a:p>
          <a:p>
            <a:pPr marL="0" lvl="1" indent="0">
              <a:lnSpc>
                <a:spcPct val="80000"/>
              </a:lnSpc>
              <a:spcBef>
                <a:spcPts val="1200"/>
              </a:spcBef>
              <a:buNone/>
            </a:pPr>
            <a:r>
              <a:rPr lang="en-US" sz="2400" dirty="0">
                <a:solidFill>
                  <a:prstClr val="black"/>
                </a:solidFill>
              </a:rPr>
              <a:t>Two forms of slime molds</a:t>
            </a:r>
          </a:p>
          <a:p>
            <a:pPr marL="358775" lvl="2" indent="-358775">
              <a:lnSpc>
                <a:spcPct val="80000"/>
              </a:lnSpc>
              <a:spcBef>
                <a:spcPts val="1200"/>
              </a:spcBef>
            </a:pPr>
            <a:r>
              <a:rPr lang="en-US" sz="2200" dirty="0">
                <a:solidFill>
                  <a:prstClr val="black"/>
                </a:solidFill>
              </a:rPr>
              <a:t>Plasmodial slime molds</a:t>
            </a:r>
          </a:p>
          <a:p>
            <a:pPr marL="358775" lvl="2" indent="-358775">
              <a:lnSpc>
                <a:spcPct val="80000"/>
              </a:lnSpc>
              <a:spcBef>
                <a:spcPts val="1200"/>
              </a:spcBef>
            </a:pPr>
            <a:r>
              <a:rPr lang="en-US" sz="2200" dirty="0">
                <a:solidFill>
                  <a:prstClr val="black"/>
                </a:solidFill>
              </a:rPr>
              <a:t>Cellular slime molds</a:t>
            </a:r>
          </a:p>
        </p:txBody>
      </p:sp>
      <p:sp>
        <p:nvSpPr>
          <p:cNvPr id="4" name="Slide Number Placeholder 3">
            <a:extLst>
              <a:ext uri="{FF2B5EF4-FFF2-40B4-BE49-F238E27FC236}">
                <a16:creationId xmlns:a16="http://schemas.microsoft.com/office/drawing/2014/main" id="{DFB9DE12-2D6B-4B78-B301-834C7D05EB5B}"/>
              </a:ext>
            </a:extLst>
          </p:cNvPr>
          <p:cNvSpPr>
            <a:spLocks noGrp="1"/>
          </p:cNvSpPr>
          <p:nvPr>
            <p:ph type="sldNum" sz="quarter" idx="4"/>
          </p:nvPr>
        </p:nvSpPr>
        <p:spPr/>
        <p:txBody>
          <a:bodyPr/>
          <a:lstStyle/>
          <a:p>
            <a:fld id="{68151E55-6873-49E2-B8D5-2F265E6F1973}" type="slidenum">
              <a:rPr lang="en-US" smtClean="0"/>
              <a:pPr/>
              <a:t>60</a:t>
            </a:fld>
            <a:endParaRPr lang="en-US" dirty="0"/>
          </a:p>
        </p:txBody>
      </p:sp>
    </p:spTree>
    <p:extLst>
      <p:ext uri="{BB962C8B-B14F-4D97-AF65-F5344CB8AC3E}">
        <p14:creationId xmlns:p14="http://schemas.microsoft.com/office/powerpoint/2010/main" val="41169171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639F5-812F-4BEB-9ECB-926D3F1175AA}"/>
              </a:ext>
            </a:extLst>
          </p:cNvPr>
          <p:cNvSpPr>
            <a:spLocks noGrp="1"/>
          </p:cNvSpPr>
          <p:nvPr>
            <p:ph type="title"/>
          </p:nvPr>
        </p:nvSpPr>
        <p:spPr/>
        <p:txBody>
          <a:bodyPr/>
          <a:lstStyle/>
          <a:p>
            <a:r>
              <a:rPr lang="en-US" altLang="en-US" dirty="0"/>
              <a:t>Plasmodial Slime Molds</a:t>
            </a:r>
            <a:endParaRPr lang="en-IN" dirty="0"/>
          </a:p>
        </p:txBody>
      </p:sp>
      <p:sp>
        <p:nvSpPr>
          <p:cNvPr id="3" name="Text Placeholder 2">
            <a:extLst>
              <a:ext uri="{FF2B5EF4-FFF2-40B4-BE49-F238E27FC236}">
                <a16:creationId xmlns:a16="http://schemas.microsoft.com/office/drawing/2014/main" id="{2CBE3888-B9DB-4DCC-8672-E6F789A9E6FE}"/>
              </a:ext>
            </a:extLst>
          </p:cNvPr>
          <p:cNvSpPr>
            <a:spLocks noGrp="1"/>
          </p:cNvSpPr>
          <p:nvPr>
            <p:ph type="body" sz="quarter" idx="19"/>
          </p:nvPr>
        </p:nvSpPr>
        <p:spPr>
          <a:xfrm>
            <a:off x="842963" y="948214"/>
            <a:ext cx="7623676" cy="5813929"/>
          </a:xfrm>
        </p:spPr>
        <p:txBody>
          <a:bodyPr>
            <a:normAutofit lnSpcReduction="10000"/>
          </a:bodyPr>
          <a:lstStyle/>
          <a:p>
            <a:pPr marL="0" lvl="1" indent="0">
              <a:lnSpc>
                <a:spcPct val="80000"/>
              </a:lnSpc>
              <a:spcBef>
                <a:spcPts val="0"/>
              </a:spcBef>
              <a:buNone/>
            </a:pPr>
            <a:r>
              <a:rPr lang="en-US" sz="2400" dirty="0">
                <a:solidFill>
                  <a:prstClr val="black"/>
                </a:solidFill>
              </a:rPr>
              <a:t>Body in the form of a </a:t>
            </a:r>
            <a:r>
              <a:rPr lang="en-US" sz="2400" b="1" dirty="0">
                <a:solidFill>
                  <a:prstClr val="black"/>
                </a:solidFill>
              </a:rPr>
              <a:t>plasmodium</a:t>
            </a:r>
          </a:p>
          <a:p>
            <a:pPr marL="266700" lvl="2" indent="-266700">
              <a:lnSpc>
                <a:spcPct val="80000"/>
              </a:lnSpc>
              <a:spcBef>
                <a:spcPts val="1200"/>
              </a:spcBef>
              <a:spcAft>
                <a:spcPts val="0"/>
              </a:spcAft>
            </a:pPr>
            <a:r>
              <a:rPr lang="en-US" sz="2200" dirty="0">
                <a:solidFill>
                  <a:prstClr val="black"/>
                </a:solidFill>
              </a:rPr>
              <a:t>Diploid, multinucleated, </a:t>
            </a:r>
            <a:r>
              <a:rPr lang="en-US" sz="2200" dirty="0" err="1">
                <a:solidFill>
                  <a:prstClr val="black"/>
                </a:solidFill>
              </a:rPr>
              <a:t>sluglike</a:t>
            </a:r>
            <a:r>
              <a:rPr lang="en-US" sz="2200" dirty="0">
                <a:solidFill>
                  <a:prstClr val="black"/>
                </a:solidFill>
              </a:rPr>
              <a:t> cytoplasmic mass</a:t>
            </a:r>
          </a:p>
          <a:p>
            <a:pPr marL="266700" lvl="2" indent="-266700">
              <a:lnSpc>
                <a:spcPct val="80000"/>
              </a:lnSpc>
              <a:spcBef>
                <a:spcPts val="1200"/>
              </a:spcBef>
              <a:spcAft>
                <a:spcPts val="0"/>
              </a:spcAft>
            </a:pPr>
            <a:r>
              <a:rPr lang="en-US" sz="2200" dirty="0">
                <a:solidFill>
                  <a:prstClr val="black"/>
                </a:solidFill>
              </a:rPr>
              <a:t>Surrounded by a slimy sheath</a:t>
            </a:r>
          </a:p>
          <a:p>
            <a:pPr marL="0" lvl="1" indent="0">
              <a:spcBef>
                <a:spcPts val="1200"/>
              </a:spcBef>
              <a:buNone/>
            </a:pPr>
            <a:r>
              <a:rPr lang="en-US" sz="2400" dirty="0">
                <a:solidFill>
                  <a:prstClr val="black"/>
                </a:solidFill>
              </a:rPr>
              <a:t>Consumes decaying plant material as it creeps along  ground</a:t>
            </a:r>
          </a:p>
          <a:p>
            <a:pPr marL="0" lvl="1" indent="0">
              <a:lnSpc>
                <a:spcPct val="80000"/>
              </a:lnSpc>
              <a:spcBef>
                <a:spcPts val="1200"/>
              </a:spcBef>
              <a:buNone/>
            </a:pPr>
            <a:r>
              <a:rPr lang="en-US" sz="2400" dirty="0">
                <a:solidFill>
                  <a:prstClr val="black"/>
                </a:solidFill>
              </a:rPr>
              <a:t>In unfavorable conditions, produces many </a:t>
            </a:r>
            <a:r>
              <a:rPr lang="en-US" sz="2400" b="1" dirty="0">
                <a:solidFill>
                  <a:srgbClr val="D90000"/>
                </a:solidFill>
              </a:rPr>
              <a:t>sporangia</a:t>
            </a:r>
            <a:r>
              <a:rPr lang="en-US" sz="2400" dirty="0">
                <a:solidFill>
                  <a:prstClr val="black"/>
                </a:solidFill>
              </a:rPr>
              <a:t>, reproductive structures which produce spores</a:t>
            </a:r>
          </a:p>
          <a:p>
            <a:pPr marL="0" lvl="1" indent="0">
              <a:lnSpc>
                <a:spcPct val="80000"/>
              </a:lnSpc>
              <a:spcBef>
                <a:spcPts val="1200"/>
              </a:spcBef>
              <a:buNone/>
            </a:pPr>
            <a:r>
              <a:rPr lang="en-US" sz="2400" dirty="0">
                <a:solidFill>
                  <a:prstClr val="black"/>
                </a:solidFill>
              </a:rPr>
              <a:t>Aggregate of sporangia is called a fruiting body</a:t>
            </a:r>
          </a:p>
          <a:p>
            <a:pPr marL="0" lvl="1" indent="0">
              <a:lnSpc>
                <a:spcPct val="80000"/>
              </a:lnSpc>
              <a:spcBef>
                <a:spcPts val="1200"/>
              </a:spcBef>
              <a:buNone/>
            </a:pPr>
            <a:r>
              <a:rPr lang="en-US" sz="2400" dirty="0">
                <a:solidFill>
                  <a:prstClr val="black"/>
                </a:solidFill>
              </a:rPr>
              <a:t>Spores can remain dormant until environmental conditions are suitable</a:t>
            </a:r>
          </a:p>
          <a:p>
            <a:pPr marL="266700" lvl="2" indent="-266700">
              <a:lnSpc>
                <a:spcPct val="80000"/>
              </a:lnSpc>
              <a:spcBef>
                <a:spcPts val="1200"/>
              </a:spcBef>
              <a:spcAft>
                <a:spcPts val="0"/>
              </a:spcAft>
            </a:pPr>
            <a:r>
              <a:rPr lang="en-US" sz="2200" dirty="0">
                <a:solidFill>
                  <a:prstClr val="black"/>
                </a:solidFill>
              </a:rPr>
              <a:t>Spores germinate to form either a haploid flagellated cell or an amoeboid cell</a:t>
            </a:r>
          </a:p>
          <a:p>
            <a:pPr marL="266700" lvl="2" indent="-266700">
              <a:lnSpc>
                <a:spcPct val="80000"/>
              </a:lnSpc>
              <a:spcBef>
                <a:spcPts val="1200"/>
              </a:spcBef>
              <a:spcAft>
                <a:spcPts val="0"/>
              </a:spcAft>
            </a:pPr>
            <a:r>
              <a:rPr lang="en-US" sz="2200" dirty="0">
                <a:solidFill>
                  <a:prstClr val="black"/>
                </a:solidFill>
              </a:rPr>
              <a:t>Two haploid cells fuse to form a zygote that grows into a multinucleated plasmodium</a:t>
            </a:r>
          </a:p>
        </p:txBody>
      </p:sp>
      <p:sp>
        <p:nvSpPr>
          <p:cNvPr id="4" name="Slide Number Placeholder 3">
            <a:extLst>
              <a:ext uri="{FF2B5EF4-FFF2-40B4-BE49-F238E27FC236}">
                <a16:creationId xmlns:a16="http://schemas.microsoft.com/office/drawing/2014/main" id="{76CF63C2-79E9-4D1A-B046-F17C53261C48}"/>
              </a:ext>
            </a:extLst>
          </p:cNvPr>
          <p:cNvSpPr>
            <a:spLocks noGrp="1"/>
          </p:cNvSpPr>
          <p:nvPr>
            <p:ph type="sldNum" sz="quarter" idx="4"/>
          </p:nvPr>
        </p:nvSpPr>
        <p:spPr/>
        <p:txBody>
          <a:bodyPr/>
          <a:lstStyle/>
          <a:p>
            <a:fld id="{68151E55-6873-49E2-B8D5-2F265E6F1973}" type="slidenum">
              <a:rPr lang="en-US" smtClean="0"/>
              <a:pPr/>
              <a:t>61</a:t>
            </a:fld>
            <a:endParaRPr lang="en-US" dirty="0"/>
          </a:p>
        </p:txBody>
      </p:sp>
    </p:spTree>
    <p:extLst>
      <p:ext uri="{BB962C8B-B14F-4D97-AF65-F5344CB8AC3E}">
        <p14:creationId xmlns:p14="http://schemas.microsoft.com/office/powerpoint/2010/main" val="39172984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3A0F2-2A61-4438-A0E7-F849CE368906}"/>
              </a:ext>
            </a:extLst>
          </p:cNvPr>
          <p:cNvSpPr>
            <a:spLocks noGrp="1"/>
          </p:cNvSpPr>
          <p:nvPr>
            <p:ph type="title"/>
          </p:nvPr>
        </p:nvSpPr>
        <p:spPr>
          <a:xfrm>
            <a:off x="0" y="1"/>
            <a:ext cx="9144000" cy="1177179"/>
          </a:xfrm>
        </p:spPr>
        <p:txBody>
          <a:bodyPr/>
          <a:lstStyle/>
          <a:p>
            <a:pPr>
              <a:lnSpc>
                <a:spcPct val="100000"/>
              </a:lnSpc>
            </a:pPr>
            <a:r>
              <a:rPr lang="en-US" altLang="en-US" kern="0" dirty="0"/>
              <a:t>Cellular Slime Molds</a:t>
            </a:r>
            <a:endParaRPr lang="en-US" kern="0" dirty="0"/>
          </a:p>
        </p:txBody>
      </p:sp>
      <p:sp>
        <p:nvSpPr>
          <p:cNvPr id="3" name="Text Placeholder 2">
            <a:extLst>
              <a:ext uri="{FF2B5EF4-FFF2-40B4-BE49-F238E27FC236}">
                <a16:creationId xmlns:a16="http://schemas.microsoft.com/office/drawing/2014/main" id="{4D263E96-5867-428C-9389-EB5E9E3D4216}"/>
              </a:ext>
            </a:extLst>
          </p:cNvPr>
          <p:cNvSpPr>
            <a:spLocks noGrp="1"/>
          </p:cNvSpPr>
          <p:nvPr>
            <p:ph type="body" sz="quarter" idx="19"/>
          </p:nvPr>
        </p:nvSpPr>
        <p:spPr>
          <a:xfrm>
            <a:off x="842963" y="1177180"/>
            <a:ext cx="7768602" cy="5455114"/>
          </a:xfrm>
        </p:spPr>
        <p:txBody>
          <a:bodyPr/>
          <a:lstStyle/>
          <a:p>
            <a:pPr marL="0" lvl="1" indent="0">
              <a:spcBef>
                <a:spcPts val="600"/>
              </a:spcBef>
              <a:spcAft>
                <a:spcPts val="600"/>
              </a:spcAft>
              <a:buNone/>
            </a:pPr>
            <a:r>
              <a:rPr lang="en-US" sz="2400" dirty="0">
                <a:solidFill>
                  <a:prstClr val="black"/>
                </a:solidFill>
              </a:rPr>
              <a:t>Exist as individual amoeboid cells</a:t>
            </a:r>
          </a:p>
          <a:p>
            <a:pPr marL="0" lvl="1" indent="0">
              <a:spcBef>
                <a:spcPts val="600"/>
              </a:spcBef>
              <a:spcAft>
                <a:spcPts val="600"/>
              </a:spcAft>
              <a:buNone/>
            </a:pPr>
            <a:r>
              <a:rPr lang="en-US" sz="2400" dirty="0">
                <a:solidFill>
                  <a:prstClr val="black"/>
                </a:solidFill>
              </a:rPr>
              <a:t>Common in soil and feed on bacteria and yeasts</a:t>
            </a:r>
          </a:p>
          <a:p>
            <a:pPr marL="0" lvl="1" indent="0">
              <a:spcBef>
                <a:spcPts val="600"/>
              </a:spcBef>
              <a:spcAft>
                <a:spcPts val="600"/>
              </a:spcAft>
              <a:buNone/>
            </a:pPr>
            <a:r>
              <a:rPr lang="en-US" sz="2400" dirty="0">
                <a:solidFill>
                  <a:prstClr val="black"/>
                </a:solidFill>
              </a:rPr>
              <a:t>Cells release a chemical when environmental conditions are unfavorable</a:t>
            </a:r>
          </a:p>
          <a:p>
            <a:pPr marL="266700" lvl="2" indent="-266700">
              <a:spcBef>
                <a:spcPts val="600"/>
              </a:spcBef>
              <a:spcAft>
                <a:spcPts val="600"/>
              </a:spcAft>
            </a:pPr>
            <a:r>
              <a:rPr lang="en-US" sz="2200" dirty="0">
                <a:solidFill>
                  <a:prstClr val="black"/>
                </a:solidFill>
              </a:rPr>
              <a:t>Cells then aggregate and form a </a:t>
            </a:r>
            <a:r>
              <a:rPr lang="en-US" sz="2200" dirty="0" err="1">
                <a:solidFill>
                  <a:prstClr val="black"/>
                </a:solidFill>
              </a:rPr>
              <a:t>pseudoplasmodium</a:t>
            </a:r>
            <a:endParaRPr lang="en-US" sz="2200" dirty="0">
              <a:solidFill>
                <a:prstClr val="black"/>
              </a:solidFill>
            </a:endParaRPr>
          </a:p>
          <a:p>
            <a:pPr marL="531813" lvl="3" indent="-265113">
              <a:spcBef>
                <a:spcPts val="600"/>
              </a:spcBef>
              <a:spcAft>
                <a:spcPts val="600"/>
              </a:spcAft>
            </a:pPr>
            <a:r>
              <a:rPr lang="en-US" sz="2000" dirty="0">
                <a:solidFill>
                  <a:prstClr val="black"/>
                </a:solidFill>
              </a:rPr>
              <a:t>Forms sporangia and spores</a:t>
            </a:r>
          </a:p>
          <a:p>
            <a:pPr marL="531813" lvl="3" indent="-265113">
              <a:spcBef>
                <a:spcPts val="600"/>
              </a:spcBef>
              <a:spcAft>
                <a:spcPts val="600"/>
              </a:spcAft>
            </a:pPr>
            <a:r>
              <a:rPr lang="en-US" sz="2000" dirty="0">
                <a:solidFill>
                  <a:prstClr val="black"/>
                </a:solidFill>
              </a:rPr>
              <a:t>When environmental conditions improve spores germinate releasing amoeboid cells</a:t>
            </a:r>
          </a:p>
        </p:txBody>
      </p:sp>
      <p:sp>
        <p:nvSpPr>
          <p:cNvPr id="4" name="Slide Number Placeholder 3">
            <a:extLst>
              <a:ext uri="{FF2B5EF4-FFF2-40B4-BE49-F238E27FC236}">
                <a16:creationId xmlns:a16="http://schemas.microsoft.com/office/drawing/2014/main" id="{7285D75B-081F-4149-AB5A-ECD1CE2EBC24}"/>
              </a:ext>
            </a:extLst>
          </p:cNvPr>
          <p:cNvSpPr>
            <a:spLocks noGrp="1"/>
          </p:cNvSpPr>
          <p:nvPr>
            <p:ph type="sldNum" sz="quarter" idx="4"/>
          </p:nvPr>
        </p:nvSpPr>
        <p:spPr/>
        <p:txBody>
          <a:bodyPr/>
          <a:lstStyle/>
          <a:p>
            <a:fld id="{68151E55-6873-49E2-B8D5-2F265E6F1973}" type="slidenum">
              <a:rPr lang="en-US" smtClean="0"/>
              <a:pPr/>
              <a:t>62</a:t>
            </a:fld>
            <a:endParaRPr lang="en-US" dirty="0"/>
          </a:p>
        </p:txBody>
      </p:sp>
    </p:spTree>
    <p:extLst>
      <p:ext uri="{BB962C8B-B14F-4D97-AF65-F5344CB8AC3E}">
        <p14:creationId xmlns:p14="http://schemas.microsoft.com/office/powerpoint/2010/main" val="39136414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9FA5D-302C-49AA-9F30-8C828583FE8B}"/>
              </a:ext>
            </a:extLst>
          </p:cNvPr>
          <p:cNvSpPr>
            <a:spLocks noGrp="1"/>
          </p:cNvSpPr>
          <p:nvPr>
            <p:ph type="title"/>
          </p:nvPr>
        </p:nvSpPr>
        <p:spPr/>
        <p:txBody>
          <a:bodyPr/>
          <a:lstStyle/>
          <a:p>
            <a:r>
              <a:rPr lang="en-US" altLang="en-US" dirty="0"/>
              <a:t>Life Cycle of a Slime Mold</a:t>
            </a:r>
            <a:endParaRPr lang="en-IN" dirty="0"/>
          </a:p>
        </p:txBody>
      </p:sp>
      <p:pic>
        <p:nvPicPr>
          <p:cNvPr id="8" name="Picture 2" descr="Set of two illustrations is marked a and b shows life cycle of slime mold.">
            <a:extLst>
              <a:ext uri="{FF2B5EF4-FFF2-40B4-BE49-F238E27FC236}">
                <a16:creationId xmlns:a16="http://schemas.microsoft.com/office/drawing/2014/main" id="{64E595EE-AD54-4FBA-B27C-474EFB133D0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040" b="1461"/>
          <a:stretch/>
        </p:blipFill>
        <p:spPr bwMode="auto">
          <a:xfrm>
            <a:off x="3543176" y="763929"/>
            <a:ext cx="2254593" cy="5097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3">
            <a:extLst>
              <a:ext uri="{FF2B5EF4-FFF2-40B4-BE49-F238E27FC236}">
                <a16:creationId xmlns:a16="http://schemas.microsoft.com/office/drawing/2014/main" id="{10428ACA-8512-454E-9145-C534298E8FE7}"/>
              </a:ext>
            </a:extLst>
          </p:cNvPr>
          <p:cNvSpPr>
            <a:spLocks noGrp="1"/>
          </p:cNvSpPr>
          <p:nvPr>
            <p:ph type="body" sz="quarter" idx="18"/>
          </p:nvPr>
        </p:nvSpPr>
        <p:spPr>
          <a:xfrm>
            <a:off x="3987113" y="5916508"/>
            <a:ext cx="1168645" cy="314325"/>
          </a:xfrm>
        </p:spPr>
        <p:txBody>
          <a:bodyPr>
            <a:normAutofit/>
          </a:bodyPr>
          <a:lstStyle/>
          <a:p>
            <a:r>
              <a:rPr lang="en-US" sz="1200" dirty="0"/>
              <a:t>Figure 21.24</a:t>
            </a:r>
          </a:p>
        </p:txBody>
      </p:sp>
      <p:sp>
        <p:nvSpPr>
          <p:cNvPr id="6" name="Text Placeholder 4">
            <a:extLst>
              <a:ext uri="{FF2B5EF4-FFF2-40B4-BE49-F238E27FC236}">
                <a16:creationId xmlns:a16="http://schemas.microsoft.com/office/drawing/2014/main" id="{5F2F8561-EC9D-4C6C-BF03-51DDF4AE9A75}"/>
              </a:ext>
            </a:extLst>
          </p:cNvPr>
          <p:cNvSpPr>
            <a:spLocks noGrp="1"/>
          </p:cNvSpPr>
          <p:nvPr>
            <p:ph type="body" sz="quarter" idx="19"/>
          </p:nvPr>
        </p:nvSpPr>
        <p:spPr>
          <a:xfrm>
            <a:off x="3007860" y="6244788"/>
            <a:ext cx="3127153" cy="314325"/>
          </a:xfrm>
        </p:spPr>
        <p:txBody>
          <a:bodyPr>
            <a:normAutofit/>
          </a:bodyPr>
          <a:lstStyle/>
          <a:p>
            <a:r>
              <a:rPr lang="en-US" sz="1200" dirty="0">
                <a:hlinkClick r:id="rId3" action="ppaction://hlinksldjump"/>
              </a:rPr>
              <a:t>Access the text alternative for slide images.</a:t>
            </a:r>
            <a:endParaRPr lang="en-IN" sz="1200" dirty="0"/>
          </a:p>
        </p:txBody>
      </p:sp>
      <p:sp>
        <p:nvSpPr>
          <p:cNvPr id="7" name="Text Placeholder 5">
            <a:extLst>
              <a:ext uri="{FF2B5EF4-FFF2-40B4-BE49-F238E27FC236}">
                <a16:creationId xmlns:a16="http://schemas.microsoft.com/office/drawing/2014/main" id="{84426F05-6E74-4660-9EA4-6AE420CED71E}"/>
              </a:ext>
            </a:extLst>
          </p:cNvPr>
          <p:cNvSpPr>
            <a:spLocks noGrp="1"/>
          </p:cNvSpPr>
          <p:nvPr>
            <p:ph type="body" sz="quarter" idx="21"/>
          </p:nvPr>
        </p:nvSpPr>
        <p:spPr/>
        <p:txBody>
          <a:bodyPr/>
          <a:lstStyle/>
          <a:p>
            <a:pPr lvl="0"/>
            <a:r>
              <a:rPr lang="en-US" sz="800" dirty="0"/>
              <a:t>(photos): (left): NHPA/</a:t>
            </a:r>
            <a:r>
              <a:rPr lang="en-US" sz="800" dirty="0" err="1"/>
              <a:t>SuperStock</a:t>
            </a:r>
            <a:r>
              <a:rPr lang="en-US" sz="800" dirty="0"/>
              <a:t>; (right): </a:t>
            </a:r>
            <a:r>
              <a:rPr lang="en-US" sz="800" dirty="0" err="1"/>
              <a:t>NaturePL</a:t>
            </a:r>
            <a:r>
              <a:rPr lang="en-US" sz="800" dirty="0"/>
              <a:t>/</a:t>
            </a:r>
            <a:r>
              <a:rPr lang="en-US" sz="800" dirty="0" err="1"/>
              <a:t>SuperStock</a:t>
            </a:r>
            <a:endParaRPr lang="en-US" sz="800" dirty="0"/>
          </a:p>
        </p:txBody>
      </p:sp>
      <p:sp>
        <p:nvSpPr>
          <p:cNvPr id="4" name="Slide Number Placeholder 6">
            <a:extLst>
              <a:ext uri="{FF2B5EF4-FFF2-40B4-BE49-F238E27FC236}">
                <a16:creationId xmlns:a16="http://schemas.microsoft.com/office/drawing/2014/main" id="{4854D567-0815-4EC1-80D6-54518A573ED0}"/>
              </a:ext>
            </a:extLst>
          </p:cNvPr>
          <p:cNvSpPr>
            <a:spLocks noGrp="1"/>
          </p:cNvSpPr>
          <p:nvPr>
            <p:ph type="sldNum" sz="quarter" idx="4"/>
          </p:nvPr>
        </p:nvSpPr>
        <p:spPr/>
        <p:txBody>
          <a:bodyPr/>
          <a:lstStyle/>
          <a:p>
            <a:fld id="{68151E55-6873-49E2-B8D5-2F265E6F1973}" type="slidenum">
              <a:rPr lang="en-US" smtClean="0"/>
              <a:pPr/>
              <a:t>63</a:t>
            </a:fld>
            <a:endParaRPr lang="en-US" dirty="0"/>
          </a:p>
        </p:txBody>
      </p:sp>
    </p:spTree>
    <p:extLst>
      <p:ext uri="{BB962C8B-B14F-4D97-AF65-F5344CB8AC3E}">
        <p14:creationId xmlns:p14="http://schemas.microsoft.com/office/powerpoint/2010/main" val="37222716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B0DB0-38E8-4B64-ADB1-B1C4A5E2CF05}"/>
              </a:ext>
            </a:extLst>
          </p:cNvPr>
          <p:cNvSpPr>
            <a:spLocks noGrp="1"/>
          </p:cNvSpPr>
          <p:nvPr>
            <p:ph type="title"/>
          </p:nvPr>
        </p:nvSpPr>
        <p:spPr/>
        <p:txBody>
          <a:bodyPr/>
          <a:lstStyle/>
          <a:p>
            <a:r>
              <a:rPr lang="en-US" altLang="en-US" dirty="0"/>
              <a:t>21.7 Supergroup </a:t>
            </a:r>
            <a:r>
              <a:rPr lang="en-US" altLang="en-US" dirty="0" err="1"/>
              <a:t>Opisthokonta</a:t>
            </a:r>
            <a:endParaRPr lang="en-IN" dirty="0"/>
          </a:p>
        </p:txBody>
      </p:sp>
      <p:sp>
        <p:nvSpPr>
          <p:cNvPr id="3" name="Text Placeholder 2">
            <a:extLst>
              <a:ext uri="{FF2B5EF4-FFF2-40B4-BE49-F238E27FC236}">
                <a16:creationId xmlns:a16="http://schemas.microsoft.com/office/drawing/2014/main" id="{4C64638A-A6B3-4086-A2A8-0656A539C504}"/>
              </a:ext>
            </a:extLst>
          </p:cNvPr>
          <p:cNvSpPr>
            <a:spLocks noGrp="1"/>
          </p:cNvSpPr>
          <p:nvPr>
            <p:ph type="body" sz="quarter" idx="19"/>
          </p:nvPr>
        </p:nvSpPr>
        <p:spPr>
          <a:xfrm>
            <a:off x="842963" y="1177179"/>
            <a:ext cx="7467660" cy="5330739"/>
          </a:xfrm>
        </p:spPr>
        <p:txBody>
          <a:bodyPr/>
          <a:lstStyle/>
          <a:p>
            <a:pPr marL="0" lvl="1" indent="0">
              <a:lnSpc>
                <a:spcPct val="150000"/>
              </a:lnSpc>
              <a:spcBef>
                <a:spcPts val="0"/>
              </a:spcBef>
              <a:buNone/>
            </a:pPr>
            <a:r>
              <a:rPr lang="en-US" sz="2400" dirty="0">
                <a:solidFill>
                  <a:prstClr val="black"/>
                </a:solidFill>
              </a:rPr>
              <a:t>This supergroup includes animals, fungi, and several closely related protists</a:t>
            </a:r>
          </a:p>
          <a:p>
            <a:pPr marL="266700" lvl="2" indent="-266700">
              <a:spcBef>
                <a:spcPts val="0"/>
              </a:spcBef>
            </a:pPr>
            <a:r>
              <a:rPr lang="en-US" sz="2200" b="1" dirty="0">
                <a:solidFill>
                  <a:srgbClr val="D90000"/>
                </a:solidFill>
              </a:rPr>
              <a:t>Choanoflagellates</a:t>
            </a:r>
            <a:r>
              <a:rPr lang="en-US" sz="2000" dirty="0">
                <a:solidFill>
                  <a:prstClr val="black"/>
                </a:solidFill>
              </a:rPr>
              <a:t> </a:t>
            </a:r>
          </a:p>
          <a:p>
            <a:pPr marL="531813" lvl="3" indent="-265113">
              <a:spcBef>
                <a:spcPts val="0"/>
              </a:spcBef>
            </a:pPr>
            <a:r>
              <a:rPr lang="en-US" sz="2000" dirty="0">
                <a:solidFill>
                  <a:prstClr val="black"/>
                </a:solidFill>
              </a:rPr>
              <a:t>Some single-celled and some colonial</a:t>
            </a:r>
          </a:p>
          <a:p>
            <a:pPr marL="531813" lvl="3" indent="-265113">
              <a:spcBef>
                <a:spcPts val="0"/>
              </a:spcBef>
            </a:pPr>
            <a:r>
              <a:rPr lang="en-US" sz="2000" dirty="0">
                <a:solidFill>
                  <a:prstClr val="black"/>
                </a:solidFill>
              </a:rPr>
              <a:t>Filter feeders with cells that resemble the choanocytes found inside sponges </a:t>
            </a:r>
          </a:p>
          <a:p>
            <a:pPr marL="531813" lvl="3" indent="-265113">
              <a:spcBef>
                <a:spcPts val="0"/>
              </a:spcBef>
            </a:pPr>
            <a:r>
              <a:rPr lang="en-US" sz="2000" dirty="0">
                <a:solidFill>
                  <a:prstClr val="black"/>
                </a:solidFill>
              </a:rPr>
              <a:t>Filter feeders </a:t>
            </a:r>
          </a:p>
          <a:p>
            <a:pPr marL="890588" lvl="4" indent="-358775">
              <a:lnSpc>
                <a:spcPct val="150000"/>
              </a:lnSpc>
              <a:spcBef>
                <a:spcPts val="0"/>
              </a:spcBef>
            </a:pPr>
            <a:r>
              <a:rPr lang="en-US" sz="1800" dirty="0">
                <a:solidFill>
                  <a:prstClr val="black"/>
                </a:solidFill>
              </a:rPr>
              <a:t>Each cell has a posterior flagella surrounded by a collar</a:t>
            </a:r>
          </a:p>
          <a:p>
            <a:pPr marL="890588" lvl="4" indent="-358775">
              <a:lnSpc>
                <a:spcPct val="150000"/>
              </a:lnSpc>
              <a:spcBef>
                <a:spcPts val="0"/>
              </a:spcBef>
            </a:pPr>
            <a:r>
              <a:rPr lang="en-US" sz="1800" dirty="0">
                <a:solidFill>
                  <a:prstClr val="black"/>
                </a:solidFill>
              </a:rPr>
              <a:t>As flagella moves, water is drawn through cell and food captured by phagocytosis</a:t>
            </a:r>
          </a:p>
        </p:txBody>
      </p:sp>
      <p:sp>
        <p:nvSpPr>
          <p:cNvPr id="4" name="Slide Number Placeholder 3">
            <a:extLst>
              <a:ext uri="{FF2B5EF4-FFF2-40B4-BE49-F238E27FC236}">
                <a16:creationId xmlns:a16="http://schemas.microsoft.com/office/drawing/2014/main" id="{9F9D5764-A3D0-42A7-969A-45575CF1D030}"/>
              </a:ext>
            </a:extLst>
          </p:cNvPr>
          <p:cNvSpPr>
            <a:spLocks noGrp="1"/>
          </p:cNvSpPr>
          <p:nvPr>
            <p:ph type="sldNum" sz="quarter" idx="4"/>
          </p:nvPr>
        </p:nvSpPr>
        <p:spPr/>
        <p:txBody>
          <a:bodyPr/>
          <a:lstStyle/>
          <a:p>
            <a:fld id="{68151E55-6873-49E2-B8D5-2F265E6F1973}" type="slidenum">
              <a:rPr lang="en-US" smtClean="0"/>
              <a:pPr/>
              <a:t>64</a:t>
            </a:fld>
            <a:endParaRPr lang="en-US" dirty="0"/>
          </a:p>
        </p:txBody>
      </p:sp>
    </p:spTree>
    <p:extLst>
      <p:ext uri="{BB962C8B-B14F-4D97-AF65-F5344CB8AC3E}">
        <p14:creationId xmlns:p14="http://schemas.microsoft.com/office/powerpoint/2010/main" val="40319238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B43DF-39F1-4B34-910A-1262DB17EE64}"/>
              </a:ext>
            </a:extLst>
          </p:cNvPr>
          <p:cNvSpPr>
            <a:spLocks noGrp="1"/>
          </p:cNvSpPr>
          <p:nvPr>
            <p:ph type="title"/>
          </p:nvPr>
        </p:nvSpPr>
        <p:spPr/>
        <p:txBody>
          <a:bodyPr/>
          <a:lstStyle/>
          <a:p>
            <a:r>
              <a:rPr lang="en-US" altLang="en-US" dirty="0"/>
              <a:t>Colonial Choanoflagellates</a:t>
            </a:r>
            <a:endParaRPr lang="en-IN" dirty="0"/>
          </a:p>
        </p:txBody>
      </p:sp>
      <p:pic>
        <p:nvPicPr>
          <p:cNvPr id="10" name="Picture 2" descr="Set of two illustrations compares colonization of Codonosiga and Proterospongia.">
            <a:extLst>
              <a:ext uri="{FF2B5EF4-FFF2-40B4-BE49-F238E27FC236}">
                <a16:creationId xmlns:a16="http://schemas.microsoft.com/office/drawing/2014/main" id="{75F6A9D1-2656-42FA-97DC-066314D94A29}"/>
              </a:ext>
            </a:extLst>
          </p:cNvPr>
          <p:cNvPicPr>
            <a:picLocks noChangeAspect="1"/>
          </p:cNvPicPr>
          <p:nvPr/>
        </p:nvPicPr>
        <p:blipFill rotWithShape="1">
          <a:blip r:embed="rId2"/>
          <a:srcRect b="6115"/>
          <a:stretch/>
        </p:blipFill>
        <p:spPr>
          <a:xfrm>
            <a:off x="713874" y="1360549"/>
            <a:ext cx="7716252" cy="3830429"/>
          </a:xfrm>
          <a:prstGeom prst="rect">
            <a:avLst/>
          </a:prstGeom>
        </p:spPr>
      </p:pic>
      <p:sp>
        <p:nvSpPr>
          <p:cNvPr id="6" name="Text Placeholder 3">
            <a:extLst>
              <a:ext uri="{FF2B5EF4-FFF2-40B4-BE49-F238E27FC236}">
                <a16:creationId xmlns:a16="http://schemas.microsoft.com/office/drawing/2014/main" id="{FBD7F197-1B3F-470E-BAE2-C4BB560B7AA9}"/>
              </a:ext>
            </a:extLst>
          </p:cNvPr>
          <p:cNvSpPr>
            <a:spLocks noGrp="1"/>
          </p:cNvSpPr>
          <p:nvPr>
            <p:ph type="body" sz="quarter" idx="19"/>
          </p:nvPr>
        </p:nvSpPr>
        <p:spPr>
          <a:xfrm>
            <a:off x="713874" y="5145976"/>
            <a:ext cx="1309928" cy="314325"/>
          </a:xfrm>
        </p:spPr>
        <p:txBody>
          <a:bodyPr>
            <a:normAutofit/>
          </a:bodyPr>
          <a:lstStyle/>
          <a:p>
            <a:pPr marL="168275" lvl="0" indent="-168275">
              <a:buFont typeface="+mj-lt"/>
              <a:buAutoNum type="alphaLcPeriod"/>
            </a:pPr>
            <a:r>
              <a:rPr lang="en-US" sz="1200" b="1" i="1" dirty="0" err="1"/>
              <a:t>Codonosiga</a:t>
            </a:r>
            <a:endParaRPr lang="en-US" sz="1200" b="1" i="1" dirty="0"/>
          </a:p>
        </p:txBody>
      </p:sp>
      <p:sp>
        <p:nvSpPr>
          <p:cNvPr id="7" name="Text Placeholder 4">
            <a:extLst>
              <a:ext uri="{FF2B5EF4-FFF2-40B4-BE49-F238E27FC236}">
                <a16:creationId xmlns:a16="http://schemas.microsoft.com/office/drawing/2014/main" id="{CE13F923-53D0-4DFE-86FB-2121F88769D1}"/>
              </a:ext>
            </a:extLst>
          </p:cNvPr>
          <p:cNvSpPr>
            <a:spLocks noGrp="1"/>
          </p:cNvSpPr>
          <p:nvPr>
            <p:ph type="body" sz="quarter" idx="20"/>
          </p:nvPr>
        </p:nvSpPr>
        <p:spPr>
          <a:xfrm>
            <a:off x="4794591" y="5116538"/>
            <a:ext cx="1479771" cy="314325"/>
          </a:xfrm>
        </p:spPr>
        <p:txBody>
          <a:bodyPr>
            <a:normAutofit/>
          </a:bodyPr>
          <a:lstStyle/>
          <a:p>
            <a:pPr marL="168275" lvl="0" indent="-168275">
              <a:buFont typeface="+mj-lt"/>
              <a:buAutoNum type="alphaLcPeriod" startAt="2"/>
            </a:pPr>
            <a:r>
              <a:rPr lang="en-US" sz="1200" b="1" i="1" dirty="0" err="1"/>
              <a:t>Proterospongia</a:t>
            </a:r>
            <a:endParaRPr lang="en-US" sz="1200" b="1" i="1" dirty="0"/>
          </a:p>
        </p:txBody>
      </p:sp>
      <p:sp>
        <p:nvSpPr>
          <p:cNvPr id="5" name="Text Placeholder 5">
            <a:extLst>
              <a:ext uri="{FF2B5EF4-FFF2-40B4-BE49-F238E27FC236}">
                <a16:creationId xmlns:a16="http://schemas.microsoft.com/office/drawing/2014/main" id="{6375A7D1-9384-4118-818E-26105A1ED54D}"/>
              </a:ext>
            </a:extLst>
          </p:cNvPr>
          <p:cNvSpPr>
            <a:spLocks noGrp="1"/>
          </p:cNvSpPr>
          <p:nvPr>
            <p:ph type="body" sz="quarter" idx="18"/>
          </p:nvPr>
        </p:nvSpPr>
        <p:spPr>
          <a:xfrm>
            <a:off x="517658" y="6074152"/>
            <a:ext cx="8101481" cy="314325"/>
          </a:xfrm>
        </p:spPr>
        <p:txBody>
          <a:bodyPr>
            <a:normAutofit/>
          </a:bodyPr>
          <a:lstStyle/>
          <a:p>
            <a:r>
              <a:rPr lang="en-US" sz="1200" dirty="0"/>
              <a:t>Figure 21.25</a:t>
            </a:r>
          </a:p>
        </p:txBody>
      </p:sp>
      <p:sp>
        <p:nvSpPr>
          <p:cNvPr id="8" name="Text Placeholder 6">
            <a:extLst>
              <a:ext uri="{FF2B5EF4-FFF2-40B4-BE49-F238E27FC236}">
                <a16:creationId xmlns:a16="http://schemas.microsoft.com/office/drawing/2014/main" id="{90862E1A-A272-4E4E-8A76-E51DDB2C6251}"/>
              </a:ext>
            </a:extLst>
          </p:cNvPr>
          <p:cNvSpPr>
            <a:spLocks noGrp="1"/>
          </p:cNvSpPr>
          <p:nvPr>
            <p:ph type="body" sz="quarter" idx="21"/>
          </p:nvPr>
        </p:nvSpPr>
        <p:spPr>
          <a:xfrm>
            <a:off x="3035240" y="6359039"/>
            <a:ext cx="3239122" cy="314325"/>
          </a:xfrm>
        </p:spPr>
        <p:txBody>
          <a:bodyPr>
            <a:noAutofit/>
          </a:bodyPr>
          <a:lstStyle/>
          <a:p>
            <a:r>
              <a:rPr lang="en-US" sz="1200" dirty="0">
                <a:hlinkClick r:id="rId3" action="ppaction://hlinksldjump"/>
              </a:rPr>
              <a:t>Access the text alternative for slide images.</a:t>
            </a:r>
            <a:endParaRPr lang="en-IN" sz="1200" dirty="0"/>
          </a:p>
        </p:txBody>
      </p:sp>
      <p:sp>
        <p:nvSpPr>
          <p:cNvPr id="4" name="Slide Number Placeholder 7">
            <a:extLst>
              <a:ext uri="{FF2B5EF4-FFF2-40B4-BE49-F238E27FC236}">
                <a16:creationId xmlns:a16="http://schemas.microsoft.com/office/drawing/2014/main" id="{A90FD520-E005-4A05-B92D-EEDAB94152B4}"/>
              </a:ext>
            </a:extLst>
          </p:cNvPr>
          <p:cNvSpPr>
            <a:spLocks noGrp="1"/>
          </p:cNvSpPr>
          <p:nvPr>
            <p:ph type="sldNum" sz="quarter" idx="4"/>
          </p:nvPr>
        </p:nvSpPr>
        <p:spPr/>
        <p:txBody>
          <a:bodyPr/>
          <a:lstStyle/>
          <a:p>
            <a:fld id="{68151E55-6873-49E2-B8D5-2F265E6F1973}" type="slidenum">
              <a:rPr lang="en-US" smtClean="0"/>
              <a:pPr/>
              <a:t>65</a:t>
            </a:fld>
            <a:endParaRPr lang="en-US" dirty="0"/>
          </a:p>
        </p:txBody>
      </p:sp>
    </p:spTree>
    <p:extLst>
      <p:ext uri="{BB962C8B-B14F-4D97-AF65-F5344CB8AC3E}">
        <p14:creationId xmlns:p14="http://schemas.microsoft.com/office/powerpoint/2010/main" val="9325531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2DB381F5-A910-4EE2-B9E1-BF7DADBC82F5}"/>
              </a:ext>
            </a:extLst>
          </p:cNvPr>
          <p:cNvSpPr>
            <a:spLocks noGrp="1"/>
          </p:cNvSpPr>
          <p:nvPr>
            <p:ph type="title"/>
          </p:nvPr>
        </p:nvSpPr>
        <p:spPr/>
        <p:txBody>
          <a:bodyPr/>
          <a:lstStyle/>
          <a:p>
            <a:r>
              <a:rPr lang="en-IN" dirty="0"/>
              <a:t>End of main content</a:t>
            </a:r>
          </a:p>
        </p:txBody>
      </p:sp>
      <p:sp>
        <p:nvSpPr>
          <p:cNvPr id="3" name="Content Placeholder 8">
            <a:extLst>
              <a:ext uri="{FF2B5EF4-FFF2-40B4-BE49-F238E27FC236}">
                <a16:creationId xmlns:a16="http://schemas.microsoft.com/office/drawing/2014/main" id="{C147BDAA-BF94-4517-8E21-220BED7BB9BF}"/>
              </a:ext>
            </a:extLst>
          </p:cNvPr>
          <p:cNvSpPr txBox="1">
            <a:spLocks/>
          </p:cNvSpPr>
          <p:nvPr/>
        </p:nvSpPr>
        <p:spPr>
          <a:xfrm>
            <a:off x="0" y="6383045"/>
            <a:ext cx="9144000" cy="474955"/>
          </a:xfrm>
          <a:prstGeom prst="rect">
            <a:avLst/>
          </a:prstGeom>
        </p:spPr>
        <p:txBody>
          <a:bodyPr anchor="ct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31503895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7D552-265F-4B72-AC96-158D0C5E1A32}"/>
              </a:ext>
            </a:extLst>
          </p:cNvPr>
          <p:cNvSpPr>
            <a:spLocks noGrp="1"/>
          </p:cNvSpPr>
          <p:nvPr>
            <p:ph type="title"/>
          </p:nvPr>
        </p:nvSpPr>
        <p:spPr/>
        <p:txBody>
          <a:bodyPr/>
          <a:lstStyle/>
          <a:p>
            <a:r>
              <a:rPr lang="en-US" noProof="0"/>
              <a:t>Accessibility Content: Text Alternatives for Images</a:t>
            </a:r>
            <a:endParaRPr lang="en-IN" dirty="0"/>
          </a:p>
        </p:txBody>
      </p:sp>
    </p:spTree>
    <p:extLst>
      <p:ext uri="{BB962C8B-B14F-4D97-AF65-F5344CB8AC3E}">
        <p14:creationId xmlns:p14="http://schemas.microsoft.com/office/powerpoint/2010/main" val="2475115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4C2933-9AB3-4B95-A07A-9B3AC82FF331}"/>
              </a:ext>
            </a:extLst>
          </p:cNvPr>
          <p:cNvSpPr>
            <a:spLocks noGrp="1"/>
          </p:cNvSpPr>
          <p:nvPr>
            <p:ph type="title"/>
          </p:nvPr>
        </p:nvSpPr>
        <p:spPr/>
        <p:txBody>
          <a:bodyPr/>
          <a:lstStyle/>
          <a:p>
            <a:r>
              <a:rPr lang="en-US" altLang="en-US" sz="3200" dirty="0"/>
              <a:t>Proposed Evolutionary Relationships Among the Eukaryotic Supergroups</a:t>
            </a:r>
            <a:r>
              <a:rPr lang="en-US" sz="3200" dirty="0"/>
              <a:t> - Text Alternative</a:t>
            </a:r>
            <a:endParaRPr lang="en-IN" sz="3200" dirty="0"/>
          </a:p>
        </p:txBody>
      </p:sp>
      <p:sp>
        <p:nvSpPr>
          <p:cNvPr id="5" name="Text Placeholder 2">
            <a:extLst>
              <a:ext uri="{FF2B5EF4-FFF2-40B4-BE49-F238E27FC236}">
                <a16:creationId xmlns:a16="http://schemas.microsoft.com/office/drawing/2014/main" id="{180637A7-959C-46FA-8053-AB4BA177A1E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6" name="Content Placeholder 3">
            <a:extLst>
              <a:ext uri="{FF2B5EF4-FFF2-40B4-BE49-F238E27FC236}">
                <a16:creationId xmlns:a16="http://schemas.microsoft.com/office/drawing/2014/main" id="{EB74C14A-55D6-4118-8DF9-A182DABB7080}"/>
              </a:ext>
            </a:extLst>
          </p:cNvPr>
          <p:cNvSpPr>
            <a:spLocks noGrp="1"/>
          </p:cNvSpPr>
          <p:nvPr>
            <p:ph sz="quarter" idx="21"/>
          </p:nvPr>
        </p:nvSpPr>
        <p:spPr/>
        <p:txBody>
          <a:bodyPr/>
          <a:lstStyle/>
          <a:p>
            <a:r>
              <a:rPr lang="en-IN" dirty="0"/>
              <a:t>Common eukaryotic ancestor branches into </a:t>
            </a:r>
            <a:r>
              <a:rPr lang="en-IN" dirty="0" err="1"/>
              <a:t>excavata</a:t>
            </a:r>
            <a:r>
              <a:rPr lang="en-IN" dirty="0"/>
              <a:t> species as: diplomonads, </a:t>
            </a:r>
            <a:r>
              <a:rPr lang="en-IN" dirty="0" err="1"/>
              <a:t>parabasalids</a:t>
            </a:r>
            <a:r>
              <a:rPr lang="en-IN" dirty="0"/>
              <a:t> and euglenozoans. </a:t>
            </a:r>
          </a:p>
          <a:p>
            <a:r>
              <a:rPr lang="en-IN" dirty="0"/>
              <a:t>Common eukaryotic ancestor branches into </a:t>
            </a:r>
            <a:r>
              <a:rPr lang="en-IN" dirty="0" err="1"/>
              <a:t>chromalveolata</a:t>
            </a:r>
            <a:r>
              <a:rPr lang="en-IN" dirty="0"/>
              <a:t>  species as: dinoflagellates, apicomplexans and ciliates (through alveolates) and diatoms, golden algae, brown algae and Oomycetes (through </a:t>
            </a:r>
            <a:r>
              <a:rPr lang="en-IN" dirty="0" err="1"/>
              <a:t>stramenopiles</a:t>
            </a:r>
            <a:r>
              <a:rPr lang="en-IN" dirty="0"/>
              <a:t>). </a:t>
            </a:r>
          </a:p>
          <a:p>
            <a:r>
              <a:rPr lang="en-IN" dirty="0"/>
              <a:t>Common eukaryotic ancestor branches into </a:t>
            </a:r>
            <a:r>
              <a:rPr lang="en-IN" dirty="0" err="1"/>
              <a:t>rhizaria</a:t>
            </a:r>
            <a:r>
              <a:rPr lang="en-IN" dirty="0"/>
              <a:t> species as: cercozoans, </a:t>
            </a:r>
            <a:r>
              <a:rPr lang="en-IN" dirty="0" err="1"/>
              <a:t>forams</a:t>
            </a:r>
            <a:r>
              <a:rPr lang="en-IN" dirty="0"/>
              <a:t> and Radiolarians. </a:t>
            </a:r>
          </a:p>
          <a:p>
            <a:r>
              <a:rPr lang="en-IN" dirty="0"/>
              <a:t>Common eukaryotic ancestor branches into </a:t>
            </a:r>
            <a:r>
              <a:rPr lang="en-IN" dirty="0" err="1"/>
              <a:t>archaeplastida</a:t>
            </a:r>
            <a:r>
              <a:rPr lang="en-IN" dirty="0"/>
              <a:t> species as: red algae, chlorophytes (green algae) and land plants. </a:t>
            </a:r>
          </a:p>
          <a:p>
            <a:r>
              <a:rPr lang="en-IN" dirty="0"/>
              <a:t>Common eukaryotic ancestor branches into </a:t>
            </a:r>
            <a:r>
              <a:rPr lang="en-IN" dirty="0" err="1"/>
              <a:t>amoebozo</a:t>
            </a:r>
            <a:r>
              <a:rPr lang="en-IN" dirty="0"/>
              <a:t> species as: </a:t>
            </a:r>
            <a:r>
              <a:rPr lang="en-IN" dirty="0" err="1"/>
              <a:t>amoebozoa</a:t>
            </a:r>
            <a:r>
              <a:rPr lang="en-IN" dirty="0"/>
              <a:t>.</a:t>
            </a:r>
          </a:p>
          <a:p>
            <a:r>
              <a:rPr lang="en-IN" dirty="0"/>
              <a:t>Common eukaryotic ancestor branches into </a:t>
            </a:r>
            <a:r>
              <a:rPr lang="en-IN" dirty="0" err="1"/>
              <a:t>opisthokonta</a:t>
            </a:r>
            <a:r>
              <a:rPr lang="en-IN" dirty="0"/>
              <a:t> species as: fungi, choanoflagellates and animals. </a:t>
            </a:r>
          </a:p>
        </p:txBody>
      </p:sp>
      <p:sp>
        <p:nvSpPr>
          <p:cNvPr id="7" name="Text Placeholder 4">
            <a:extLst>
              <a:ext uri="{FF2B5EF4-FFF2-40B4-BE49-F238E27FC236}">
                <a16:creationId xmlns:a16="http://schemas.microsoft.com/office/drawing/2014/main" id="{19F13CA7-A55A-49B3-9604-348B81AE2D8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3" name="Slide Number Placeholder 5">
            <a:extLst>
              <a:ext uri="{FF2B5EF4-FFF2-40B4-BE49-F238E27FC236}">
                <a16:creationId xmlns:a16="http://schemas.microsoft.com/office/drawing/2014/main" id="{CC239667-E29E-4838-9BC8-1A87FE42C43A}"/>
              </a:ext>
            </a:extLst>
          </p:cNvPr>
          <p:cNvSpPr>
            <a:spLocks noGrp="1"/>
          </p:cNvSpPr>
          <p:nvPr>
            <p:ph type="sldNum" sz="quarter" idx="10"/>
          </p:nvPr>
        </p:nvSpPr>
        <p:spPr/>
        <p:txBody>
          <a:bodyPr/>
          <a:lstStyle/>
          <a:p>
            <a:fld id="{68151E55-6873-49E2-B8D5-2F265E6F1973}" type="slidenum">
              <a:rPr lang="en-US" smtClean="0"/>
              <a:pPr/>
              <a:t>68</a:t>
            </a:fld>
            <a:endParaRPr lang="en-US" dirty="0"/>
          </a:p>
        </p:txBody>
      </p:sp>
    </p:spTree>
    <p:extLst>
      <p:ext uri="{BB962C8B-B14F-4D97-AF65-F5344CB8AC3E}">
        <p14:creationId xmlns:p14="http://schemas.microsoft.com/office/powerpoint/2010/main" val="6519154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77643-87D6-4A1F-9FCC-C367B711F47B}"/>
              </a:ext>
            </a:extLst>
          </p:cNvPr>
          <p:cNvSpPr>
            <a:spLocks noGrp="1"/>
          </p:cNvSpPr>
          <p:nvPr>
            <p:ph type="title"/>
          </p:nvPr>
        </p:nvSpPr>
        <p:spPr/>
        <p:txBody>
          <a:bodyPr/>
          <a:lstStyle/>
          <a:p>
            <a:r>
              <a:rPr lang="en-US" i="1" dirty="0"/>
              <a:t>Euglena</a:t>
            </a:r>
            <a:r>
              <a:rPr lang="en-US" dirty="0"/>
              <a:t> - Text Alternative</a:t>
            </a:r>
            <a:endParaRPr lang="en-IN" dirty="0"/>
          </a:p>
        </p:txBody>
      </p:sp>
      <p:sp>
        <p:nvSpPr>
          <p:cNvPr id="3" name="Text Placeholder 2">
            <a:extLst>
              <a:ext uri="{FF2B5EF4-FFF2-40B4-BE49-F238E27FC236}">
                <a16:creationId xmlns:a16="http://schemas.microsoft.com/office/drawing/2014/main" id="{D3BE7B1D-5800-4C09-B865-DE7D6C0E21EC}"/>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9B0CE474-F5B5-4C7C-9F4E-1C33CBA3823C}"/>
              </a:ext>
            </a:extLst>
          </p:cNvPr>
          <p:cNvSpPr>
            <a:spLocks noGrp="1"/>
          </p:cNvSpPr>
          <p:nvPr>
            <p:ph sz="quarter" idx="21"/>
          </p:nvPr>
        </p:nvSpPr>
        <p:spPr/>
        <p:txBody>
          <a:bodyPr/>
          <a:lstStyle/>
          <a:p>
            <a:r>
              <a:rPr lang="en-IN" dirty="0"/>
              <a:t>Diagram of leaf shaped Euglena shows a longitudinal short  and long flagellum, ovular contractile vacuole, ovular eyespot, photoreceptor, carbohydrate granule, circular nucleus, nucleolus, pyrenoid and ovular chloroplast and pellicle band across circumference. </a:t>
            </a:r>
          </a:p>
          <a:p>
            <a:r>
              <a:rPr lang="en-IN" dirty="0"/>
              <a:t>Micrograph shows multiple leaf-shaped Euglena with textured bodies, purple nucleus and red nucleolus within it. </a:t>
            </a:r>
          </a:p>
        </p:txBody>
      </p:sp>
      <p:sp>
        <p:nvSpPr>
          <p:cNvPr id="5" name="Text Placeholder 4">
            <a:extLst>
              <a:ext uri="{FF2B5EF4-FFF2-40B4-BE49-F238E27FC236}">
                <a16:creationId xmlns:a16="http://schemas.microsoft.com/office/drawing/2014/main" id="{11F0CACF-C1B2-436A-919D-097EF0D66A5C}"/>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EDBDD1C4-8B67-4415-8986-67E4C7B28EAB}"/>
              </a:ext>
            </a:extLst>
          </p:cNvPr>
          <p:cNvSpPr>
            <a:spLocks noGrp="1"/>
          </p:cNvSpPr>
          <p:nvPr>
            <p:ph type="sldNum" sz="quarter" idx="10"/>
          </p:nvPr>
        </p:nvSpPr>
        <p:spPr/>
        <p:txBody>
          <a:bodyPr/>
          <a:lstStyle/>
          <a:p>
            <a:fld id="{68151E55-6873-49E2-B8D5-2F265E6F1973}" type="slidenum">
              <a:rPr lang="en-US" smtClean="0"/>
              <a:t>69</a:t>
            </a:fld>
            <a:endParaRPr lang="en-US" dirty="0"/>
          </a:p>
        </p:txBody>
      </p:sp>
    </p:spTree>
    <p:extLst>
      <p:ext uri="{BB962C8B-B14F-4D97-AF65-F5344CB8AC3E}">
        <p14:creationId xmlns:p14="http://schemas.microsoft.com/office/powerpoint/2010/main" val="28025743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A4149-6CDA-4BA6-B4FE-179AE730CC0B}"/>
              </a:ext>
            </a:extLst>
          </p:cNvPr>
          <p:cNvSpPr>
            <a:spLocks noGrp="1"/>
          </p:cNvSpPr>
          <p:nvPr>
            <p:ph type="title"/>
          </p:nvPr>
        </p:nvSpPr>
        <p:spPr/>
        <p:txBody>
          <a:bodyPr/>
          <a:lstStyle/>
          <a:p>
            <a:r>
              <a:rPr lang="en-US" altLang="en-US" dirty="0"/>
              <a:t>Life Cycle of </a:t>
            </a:r>
            <a:r>
              <a:rPr lang="en-US" altLang="en-US" i="1" dirty="0"/>
              <a:t>Plasmodium vivax</a:t>
            </a:r>
            <a:r>
              <a:rPr lang="en-US" dirty="0"/>
              <a:t> - Text Alternative</a:t>
            </a:r>
            <a:endParaRPr lang="en-IN" dirty="0"/>
          </a:p>
        </p:txBody>
      </p:sp>
      <p:sp>
        <p:nvSpPr>
          <p:cNvPr id="3" name="Text Placeholder 2">
            <a:extLst>
              <a:ext uri="{FF2B5EF4-FFF2-40B4-BE49-F238E27FC236}">
                <a16:creationId xmlns:a16="http://schemas.microsoft.com/office/drawing/2014/main" id="{5172CA2D-BE6F-4559-B1F9-8D54500E8FF4}"/>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DA245944-1D4A-4597-BAC6-BD74A0716999}"/>
              </a:ext>
            </a:extLst>
          </p:cNvPr>
          <p:cNvSpPr>
            <a:spLocks noGrp="1"/>
          </p:cNvSpPr>
          <p:nvPr>
            <p:ph sz="quarter" idx="21"/>
          </p:nvPr>
        </p:nvSpPr>
        <p:spPr/>
        <p:txBody>
          <a:bodyPr/>
          <a:lstStyle/>
          <a:p>
            <a:r>
              <a:rPr lang="en-US" dirty="0"/>
              <a:t>1. In the gut of a female Anopheles mosquito, gametes fuse, and the zygote undergoes many divisions to produce sporozoites, which migrate to her salivary gland. 2. When the mosquito bites a human, the sporozoites pass from the mosquito salivary glands into the bloodstream and then the liver of the host. 3. Asexual spores (merozoites) produced in liver cells enter the blood-stream and then the red blood cells, where they feed as trophozoites. 4. When the red blood cells rupture, merozoites invade and reproduce asexually inside new red blood cells. 5. Merozoites and toxins pour into the bloodstream when the red blood cells rupture. 6. Some merozoites become gametocytes, which enter the bloodstream. If taken up by a mosquito, they become gametes.</a:t>
            </a:r>
            <a:endParaRPr lang="en-IN" dirty="0"/>
          </a:p>
        </p:txBody>
      </p:sp>
      <p:sp>
        <p:nvSpPr>
          <p:cNvPr id="5" name="Text Placeholder 4">
            <a:extLst>
              <a:ext uri="{FF2B5EF4-FFF2-40B4-BE49-F238E27FC236}">
                <a16:creationId xmlns:a16="http://schemas.microsoft.com/office/drawing/2014/main" id="{A1F76E9F-BA30-4E6E-B5A1-7A0BDADC968F}"/>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299B6403-D243-4554-A2B6-EC4CA77368C4}"/>
              </a:ext>
            </a:extLst>
          </p:cNvPr>
          <p:cNvSpPr>
            <a:spLocks noGrp="1"/>
          </p:cNvSpPr>
          <p:nvPr>
            <p:ph type="sldNum" sz="quarter" idx="10"/>
          </p:nvPr>
        </p:nvSpPr>
        <p:spPr/>
        <p:txBody>
          <a:bodyPr/>
          <a:lstStyle/>
          <a:p>
            <a:fld id="{68151E55-6873-49E2-B8D5-2F265E6F1973}" type="slidenum">
              <a:rPr lang="en-US" smtClean="0"/>
              <a:t>70</a:t>
            </a:fld>
            <a:endParaRPr lang="en-US" dirty="0"/>
          </a:p>
        </p:txBody>
      </p:sp>
    </p:spTree>
    <p:extLst>
      <p:ext uri="{BB962C8B-B14F-4D97-AF65-F5344CB8AC3E}">
        <p14:creationId xmlns:p14="http://schemas.microsoft.com/office/powerpoint/2010/main" val="32110642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81B2B-3CAB-4FB2-95EE-65E263EF86E7}"/>
              </a:ext>
            </a:extLst>
          </p:cNvPr>
          <p:cNvSpPr>
            <a:spLocks noGrp="1"/>
          </p:cNvSpPr>
          <p:nvPr>
            <p:ph type="title"/>
          </p:nvPr>
        </p:nvSpPr>
        <p:spPr/>
        <p:txBody>
          <a:bodyPr/>
          <a:lstStyle/>
          <a:p>
            <a:r>
              <a:rPr lang="en-US" dirty="0"/>
              <a:t>Ciliates Examples - Text Alternative</a:t>
            </a:r>
            <a:endParaRPr lang="en-IN" dirty="0"/>
          </a:p>
        </p:txBody>
      </p:sp>
      <p:sp>
        <p:nvSpPr>
          <p:cNvPr id="3" name="Text Placeholder 2">
            <a:extLst>
              <a:ext uri="{FF2B5EF4-FFF2-40B4-BE49-F238E27FC236}">
                <a16:creationId xmlns:a16="http://schemas.microsoft.com/office/drawing/2014/main" id="{912BCC30-62AC-4AA6-9A2F-37A45AEE069E}"/>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F5CF83D6-81DE-4ACD-AAA6-1701E801C751}"/>
              </a:ext>
            </a:extLst>
          </p:cNvPr>
          <p:cNvSpPr>
            <a:spLocks noGrp="1"/>
          </p:cNvSpPr>
          <p:nvPr>
            <p:ph sz="quarter" idx="21"/>
          </p:nvPr>
        </p:nvSpPr>
        <p:spPr/>
        <p:txBody>
          <a:bodyPr/>
          <a:lstStyle/>
          <a:p>
            <a:r>
              <a:rPr lang="en-IN" dirty="0"/>
              <a:t>A) Diagram of ovoid Paramecium shows a pellicle across the circumference, circular anal pore, ovular micronucleus and macronucleus, spots of </a:t>
            </a:r>
            <a:r>
              <a:rPr lang="en-IN" dirty="0" err="1"/>
              <a:t>trichocyst</a:t>
            </a:r>
            <a:r>
              <a:rPr lang="en-IN" dirty="0"/>
              <a:t>, contractile vacuole (partially full), circular food vacuole, irregular shaped oral groove and gullet, circular contractile vacuole (full) with projections of cilia. </a:t>
            </a:r>
          </a:p>
          <a:p>
            <a:r>
              <a:rPr lang="en-IN" dirty="0"/>
              <a:t>Micrograph of Paramecium shows circular depressions of contractile vacuole (full) and food vacuole with structures of oral groove and cilia.</a:t>
            </a:r>
          </a:p>
          <a:p>
            <a:r>
              <a:rPr lang="en-IN" dirty="0"/>
              <a:t>B) Micrograph (enlarged 100 times) shows during conjugation two paramecia first unite at oral areas with two elongated nuclei. </a:t>
            </a:r>
          </a:p>
          <a:p>
            <a:r>
              <a:rPr lang="en-IN" dirty="0"/>
              <a:t>C) Micrograph (enlarged 125 times) shows cylindrical bodies of Stentor with broad upper bases with circular oral groove, contractile and food vacuoles with external projections of cilia. </a:t>
            </a:r>
          </a:p>
        </p:txBody>
      </p:sp>
      <p:sp>
        <p:nvSpPr>
          <p:cNvPr id="5" name="Text Placeholder 4">
            <a:extLst>
              <a:ext uri="{FF2B5EF4-FFF2-40B4-BE49-F238E27FC236}">
                <a16:creationId xmlns:a16="http://schemas.microsoft.com/office/drawing/2014/main" id="{4884D1AD-B841-476B-B604-4138481029B6}"/>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F0B4548-640C-42F0-8934-43D4F0010875}"/>
              </a:ext>
            </a:extLst>
          </p:cNvPr>
          <p:cNvSpPr>
            <a:spLocks noGrp="1"/>
          </p:cNvSpPr>
          <p:nvPr>
            <p:ph type="sldNum" sz="quarter" idx="10"/>
          </p:nvPr>
        </p:nvSpPr>
        <p:spPr/>
        <p:txBody>
          <a:bodyPr/>
          <a:lstStyle/>
          <a:p>
            <a:fld id="{68151E55-6873-49E2-B8D5-2F265E6F1973}" type="slidenum">
              <a:rPr lang="en-US" smtClean="0"/>
              <a:t>71</a:t>
            </a:fld>
            <a:endParaRPr lang="en-US" dirty="0"/>
          </a:p>
        </p:txBody>
      </p:sp>
    </p:spTree>
    <p:extLst>
      <p:ext uri="{BB962C8B-B14F-4D97-AF65-F5344CB8AC3E}">
        <p14:creationId xmlns:p14="http://schemas.microsoft.com/office/powerpoint/2010/main" val="1245306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3A9A-B867-41E8-8F7C-D5E06E7B2A77}"/>
              </a:ext>
            </a:extLst>
          </p:cNvPr>
          <p:cNvSpPr>
            <a:spLocks noGrp="1"/>
          </p:cNvSpPr>
          <p:nvPr>
            <p:ph type="title"/>
          </p:nvPr>
        </p:nvSpPr>
        <p:spPr/>
        <p:txBody>
          <a:bodyPr/>
          <a:lstStyle/>
          <a:p>
            <a:r>
              <a:rPr lang="en-US" altLang="en-US" dirty="0" err="1"/>
              <a:t>Foraminiferans</a:t>
            </a:r>
            <a:r>
              <a:rPr lang="en-US" altLang="en-US" dirty="0"/>
              <a:t> and Radiolarians Examples</a:t>
            </a:r>
            <a:r>
              <a:rPr lang="en-US" dirty="0"/>
              <a:t> - Text Alternative</a:t>
            </a:r>
            <a:endParaRPr lang="en-IN" dirty="0"/>
          </a:p>
        </p:txBody>
      </p:sp>
      <p:sp>
        <p:nvSpPr>
          <p:cNvPr id="3" name="Text Placeholder 2">
            <a:extLst>
              <a:ext uri="{FF2B5EF4-FFF2-40B4-BE49-F238E27FC236}">
                <a16:creationId xmlns:a16="http://schemas.microsoft.com/office/drawing/2014/main" id="{E0654B24-E5AF-4B4E-8594-3A86A40E3446}"/>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B41AD352-5895-44ED-AABD-4E8DEC8B84FF}"/>
              </a:ext>
            </a:extLst>
          </p:cNvPr>
          <p:cNvSpPr>
            <a:spLocks noGrp="1"/>
          </p:cNvSpPr>
          <p:nvPr>
            <p:ph sz="quarter" idx="21"/>
          </p:nvPr>
        </p:nvSpPr>
        <p:spPr/>
        <p:txBody>
          <a:bodyPr/>
          <a:lstStyle/>
          <a:p>
            <a:pPr marL="271463" indent="-271463">
              <a:buFont typeface="+mj-lt"/>
              <a:buAutoNum type="alphaLcPeriod"/>
            </a:pPr>
            <a:r>
              <a:rPr lang="en-US" dirty="0">
                <a:solidFill>
                  <a:srgbClr val="000000"/>
                </a:solidFill>
              </a:rPr>
              <a:t>Microscopic view of </a:t>
            </a:r>
            <a:r>
              <a:rPr lang="en-US" dirty="0" err="1">
                <a:solidFill>
                  <a:srgbClr val="000000"/>
                </a:solidFill>
              </a:rPr>
              <a:t>Foraminiferans</a:t>
            </a:r>
            <a:r>
              <a:rPr lang="en-US" dirty="0">
                <a:solidFill>
                  <a:srgbClr val="000000"/>
                </a:solidFill>
              </a:rPr>
              <a:t> and white deposits on edge of cliff (top). Microscopic view shows spherical body with pores on the surface and spiny white skeleton of silica.</a:t>
            </a:r>
            <a:endParaRPr lang="en-US" dirty="0"/>
          </a:p>
        </p:txBody>
      </p:sp>
      <p:sp>
        <p:nvSpPr>
          <p:cNvPr id="5" name="Text Placeholder 4">
            <a:extLst>
              <a:ext uri="{FF2B5EF4-FFF2-40B4-BE49-F238E27FC236}">
                <a16:creationId xmlns:a16="http://schemas.microsoft.com/office/drawing/2014/main" id="{7A8B6D6E-2F54-4E22-AAC8-3F110A86DE3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EFF2537-FDC8-4CD5-A2E9-2164E3AE715A}"/>
              </a:ext>
            </a:extLst>
          </p:cNvPr>
          <p:cNvSpPr>
            <a:spLocks noGrp="1"/>
          </p:cNvSpPr>
          <p:nvPr>
            <p:ph type="sldNum" sz="quarter" idx="10"/>
          </p:nvPr>
        </p:nvSpPr>
        <p:spPr/>
        <p:txBody>
          <a:bodyPr/>
          <a:lstStyle/>
          <a:p>
            <a:fld id="{68151E55-6873-49E2-B8D5-2F265E6F1973}" type="slidenum">
              <a:rPr lang="en-US" smtClean="0"/>
              <a:t>72</a:t>
            </a:fld>
            <a:endParaRPr lang="en-US" dirty="0"/>
          </a:p>
        </p:txBody>
      </p:sp>
    </p:spTree>
    <p:extLst>
      <p:ext uri="{BB962C8B-B14F-4D97-AF65-F5344CB8AC3E}">
        <p14:creationId xmlns:p14="http://schemas.microsoft.com/office/powerpoint/2010/main" val="20783133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0D034-2B00-4EAA-9ACF-AD93E654B045}"/>
              </a:ext>
            </a:extLst>
          </p:cNvPr>
          <p:cNvSpPr>
            <a:spLocks noGrp="1"/>
          </p:cNvSpPr>
          <p:nvPr>
            <p:ph type="title"/>
          </p:nvPr>
        </p:nvSpPr>
        <p:spPr/>
        <p:txBody>
          <a:bodyPr/>
          <a:lstStyle/>
          <a:p>
            <a:r>
              <a:rPr lang="en-US" altLang="en-US" dirty="0"/>
              <a:t>Haploid Life Cycle of </a:t>
            </a:r>
            <a:r>
              <a:rPr lang="en-US" altLang="en-US" i="1" dirty="0"/>
              <a:t>Chlamydomonas</a:t>
            </a:r>
            <a:r>
              <a:rPr lang="en-US" dirty="0"/>
              <a:t> - Text Alternative</a:t>
            </a:r>
            <a:endParaRPr lang="en-IN" dirty="0"/>
          </a:p>
        </p:txBody>
      </p:sp>
      <p:sp>
        <p:nvSpPr>
          <p:cNvPr id="3" name="Text Placeholder 2">
            <a:extLst>
              <a:ext uri="{FF2B5EF4-FFF2-40B4-BE49-F238E27FC236}">
                <a16:creationId xmlns:a16="http://schemas.microsoft.com/office/drawing/2014/main" id="{FBCA71D0-F701-41B9-A507-553E4CBB4AE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B3806C87-EB69-469C-9B7B-F3CE099D9146}"/>
              </a:ext>
            </a:extLst>
          </p:cNvPr>
          <p:cNvSpPr>
            <a:spLocks noGrp="1"/>
          </p:cNvSpPr>
          <p:nvPr>
            <p:ph sz="quarter" idx="21"/>
          </p:nvPr>
        </p:nvSpPr>
        <p:spPr/>
        <p:txBody>
          <a:bodyPr/>
          <a:lstStyle/>
          <a:p>
            <a:r>
              <a:rPr lang="en-US" dirty="0"/>
              <a:t>Diagram of circular Chlamydomonas shows circular eyespot, nucleus with nucleolus, layers of chloroplast, circular pyrenoid and starch granule with long projections of flagellum. </a:t>
            </a:r>
          </a:p>
          <a:p>
            <a:r>
              <a:rPr lang="en-US" dirty="0"/>
              <a:t>Haploid (n): </a:t>
            </a:r>
          </a:p>
          <a:p>
            <a:r>
              <a:rPr lang="en-US" dirty="0"/>
              <a:t>Asexual Reproduction:</a:t>
            </a:r>
          </a:p>
          <a:p>
            <a:r>
              <a:rPr lang="en-US" dirty="0"/>
              <a:t>Daughter cells (n) lead into the Chlamydomonas body which leads to daughter cell formation.</a:t>
            </a:r>
          </a:p>
          <a:p>
            <a:r>
              <a:rPr lang="en-US" dirty="0"/>
              <a:t>Diploid (2n): </a:t>
            </a:r>
          </a:p>
          <a:p>
            <a:r>
              <a:rPr lang="en-US" dirty="0"/>
              <a:t>Sexual Reproduction:</a:t>
            </a:r>
          </a:p>
          <a:p>
            <a:r>
              <a:rPr lang="en-US" dirty="0"/>
              <a:t>Meiosis results in the formation of zoospores (n) leading to adult vegetative cell (n) which is lead into the body of Chlamydomonas leading to gamete formation (n), gametes pairing (n) which after fertilization results in the formation of zygote (2n) further resulting in zygospore (2n).</a:t>
            </a:r>
            <a:endParaRPr lang="en-IN" dirty="0"/>
          </a:p>
        </p:txBody>
      </p:sp>
      <p:sp>
        <p:nvSpPr>
          <p:cNvPr id="5" name="Text Placeholder 4">
            <a:extLst>
              <a:ext uri="{FF2B5EF4-FFF2-40B4-BE49-F238E27FC236}">
                <a16:creationId xmlns:a16="http://schemas.microsoft.com/office/drawing/2014/main" id="{66E452D4-4505-449F-A2D6-992B13012665}"/>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20B43B11-5F0C-49B7-81E7-45B37796E6A2}"/>
              </a:ext>
            </a:extLst>
          </p:cNvPr>
          <p:cNvSpPr>
            <a:spLocks noGrp="1"/>
          </p:cNvSpPr>
          <p:nvPr>
            <p:ph type="sldNum" sz="quarter" idx="10"/>
          </p:nvPr>
        </p:nvSpPr>
        <p:spPr/>
        <p:txBody>
          <a:bodyPr/>
          <a:lstStyle/>
          <a:p>
            <a:fld id="{68151E55-6873-49E2-B8D5-2F265E6F1973}" type="slidenum">
              <a:rPr lang="en-US" smtClean="0"/>
              <a:t>73</a:t>
            </a:fld>
            <a:endParaRPr lang="en-US" dirty="0"/>
          </a:p>
        </p:txBody>
      </p:sp>
    </p:spTree>
    <p:extLst>
      <p:ext uri="{BB962C8B-B14F-4D97-AF65-F5344CB8AC3E}">
        <p14:creationId xmlns:p14="http://schemas.microsoft.com/office/powerpoint/2010/main" val="19182442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55274-F5BE-41D7-8E71-5339A5A15BD7}"/>
              </a:ext>
            </a:extLst>
          </p:cNvPr>
          <p:cNvSpPr>
            <a:spLocks noGrp="1"/>
          </p:cNvSpPr>
          <p:nvPr>
            <p:ph type="title"/>
          </p:nvPr>
        </p:nvSpPr>
        <p:spPr/>
        <p:txBody>
          <a:bodyPr/>
          <a:lstStyle/>
          <a:p>
            <a:r>
              <a:rPr lang="en-US" altLang="en-US" i="1" dirty="0"/>
              <a:t>Ulva </a:t>
            </a:r>
            <a:r>
              <a:rPr lang="en-US" altLang="en-US" dirty="0"/>
              <a:t>Example</a:t>
            </a:r>
            <a:r>
              <a:rPr lang="en-US" dirty="0"/>
              <a:t> - Text Alternative</a:t>
            </a:r>
            <a:endParaRPr lang="en-IN" dirty="0"/>
          </a:p>
        </p:txBody>
      </p:sp>
      <p:sp>
        <p:nvSpPr>
          <p:cNvPr id="3" name="Text Placeholder 2">
            <a:extLst>
              <a:ext uri="{FF2B5EF4-FFF2-40B4-BE49-F238E27FC236}">
                <a16:creationId xmlns:a16="http://schemas.microsoft.com/office/drawing/2014/main" id="{44FB5964-E8D1-415B-8500-8EE6AC6C120C}"/>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C6A9182B-9807-4670-9432-6085E3A791E9}"/>
              </a:ext>
            </a:extLst>
          </p:cNvPr>
          <p:cNvSpPr>
            <a:spLocks noGrp="1"/>
          </p:cNvSpPr>
          <p:nvPr>
            <p:ph sz="quarter" idx="21"/>
          </p:nvPr>
        </p:nvSpPr>
        <p:spPr/>
        <p:txBody>
          <a:bodyPr/>
          <a:lstStyle/>
          <a:p>
            <a:r>
              <a:rPr lang="en-IN" dirty="0"/>
              <a:t>A) Micrograph a green Ulva </a:t>
            </a:r>
            <a:r>
              <a:rPr lang="en-IN" dirty="0" err="1"/>
              <a:t>lactuca</a:t>
            </a:r>
            <a:r>
              <a:rPr lang="en-IN" dirty="0"/>
              <a:t> with folded body structure. </a:t>
            </a:r>
          </a:p>
          <a:p>
            <a:r>
              <a:rPr lang="en-IN" dirty="0"/>
              <a:t>B) Alternation of generations life cycle: </a:t>
            </a:r>
          </a:p>
          <a:p>
            <a:r>
              <a:rPr lang="en-IN" dirty="0"/>
              <a:t>Sporophyte (2n) leads to sporangium which undergoes meiosis, resulting in the formation of spore, gametophyte (n) and further results into gametes which undergo fertilization to form a zygote.</a:t>
            </a:r>
          </a:p>
          <a:p>
            <a:r>
              <a:rPr lang="en-IN" dirty="0"/>
              <a:t>Zygote, sporophyte and sporangium are diploid (2n) while spore, gametophyte and gametes are haploid (n). </a:t>
            </a:r>
          </a:p>
        </p:txBody>
      </p:sp>
      <p:sp>
        <p:nvSpPr>
          <p:cNvPr id="5" name="Text Placeholder 4">
            <a:extLst>
              <a:ext uri="{FF2B5EF4-FFF2-40B4-BE49-F238E27FC236}">
                <a16:creationId xmlns:a16="http://schemas.microsoft.com/office/drawing/2014/main" id="{20CF92C7-3E54-4E19-8194-37E16AA43FE9}"/>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E3F1B061-FFED-4441-82C3-AF8530546D09}"/>
              </a:ext>
            </a:extLst>
          </p:cNvPr>
          <p:cNvSpPr>
            <a:spLocks noGrp="1"/>
          </p:cNvSpPr>
          <p:nvPr>
            <p:ph type="sldNum" sz="quarter" idx="10"/>
          </p:nvPr>
        </p:nvSpPr>
        <p:spPr/>
        <p:txBody>
          <a:bodyPr/>
          <a:lstStyle/>
          <a:p>
            <a:fld id="{68151E55-6873-49E2-B8D5-2F265E6F1973}" type="slidenum">
              <a:rPr lang="en-US" smtClean="0"/>
              <a:t>74</a:t>
            </a:fld>
            <a:endParaRPr lang="en-US" dirty="0"/>
          </a:p>
        </p:txBody>
      </p:sp>
    </p:spTree>
    <p:extLst>
      <p:ext uri="{BB962C8B-B14F-4D97-AF65-F5344CB8AC3E}">
        <p14:creationId xmlns:p14="http://schemas.microsoft.com/office/powerpoint/2010/main" val="39202493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E59EC-3904-48FB-9FA2-E0C092A42FFE}"/>
              </a:ext>
            </a:extLst>
          </p:cNvPr>
          <p:cNvSpPr>
            <a:spLocks noGrp="1"/>
          </p:cNvSpPr>
          <p:nvPr>
            <p:ph type="title"/>
          </p:nvPr>
        </p:nvSpPr>
        <p:spPr/>
        <p:txBody>
          <a:bodyPr/>
          <a:lstStyle/>
          <a:p>
            <a:r>
              <a:rPr lang="en-US" altLang="en-US" i="1" dirty="0"/>
              <a:t>Spirogyra</a:t>
            </a:r>
            <a:r>
              <a:rPr lang="en-US" dirty="0"/>
              <a:t> - Text Alternative</a:t>
            </a:r>
            <a:endParaRPr lang="en-IN" dirty="0"/>
          </a:p>
        </p:txBody>
      </p:sp>
      <p:sp>
        <p:nvSpPr>
          <p:cNvPr id="3" name="Text Placeholder 2">
            <a:extLst>
              <a:ext uri="{FF2B5EF4-FFF2-40B4-BE49-F238E27FC236}">
                <a16:creationId xmlns:a16="http://schemas.microsoft.com/office/drawing/2014/main" id="{BF5F90D4-C2A0-4767-B3A4-739794F75EF2}"/>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3DBCD836-A006-43B3-A97A-8B71B29B1F42}"/>
              </a:ext>
            </a:extLst>
          </p:cNvPr>
          <p:cNvSpPr>
            <a:spLocks noGrp="1"/>
          </p:cNvSpPr>
          <p:nvPr>
            <p:ph sz="quarter" idx="21"/>
          </p:nvPr>
        </p:nvSpPr>
        <p:spPr/>
        <p:txBody>
          <a:bodyPr/>
          <a:lstStyle/>
          <a:p>
            <a:r>
              <a:rPr lang="en-IN" dirty="0"/>
              <a:t>A) A rectangular cell shows cell wall, coiled chloroplast structures with voids of vacuole, circular nucleus, cytoplasm and circular pyrenoid with layers of chloroplasts. </a:t>
            </a:r>
          </a:p>
          <a:p>
            <a:r>
              <a:rPr lang="en-IN" dirty="0"/>
              <a:t>B) Micrograph of conjugation shows a chain of ovular zygotes with textured surfaces.</a:t>
            </a:r>
          </a:p>
        </p:txBody>
      </p:sp>
      <p:sp>
        <p:nvSpPr>
          <p:cNvPr id="5" name="Text Placeholder 4">
            <a:extLst>
              <a:ext uri="{FF2B5EF4-FFF2-40B4-BE49-F238E27FC236}">
                <a16:creationId xmlns:a16="http://schemas.microsoft.com/office/drawing/2014/main" id="{FE1B3FB3-78E4-4F97-8021-76A39550E296}"/>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B3039BF2-DB2D-4CB9-B69D-684B0078AB6B}"/>
              </a:ext>
            </a:extLst>
          </p:cNvPr>
          <p:cNvSpPr>
            <a:spLocks noGrp="1"/>
          </p:cNvSpPr>
          <p:nvPr>
            <p:ph type="sldNum" sz="quarter" idx="10"/>
          </p:nvPr>
        </p:nvSpPr>
        <p:spPr/>
        <p:txBody>
          <a:bodyPr/>
          <a:lstStyle/>
          <a:p>
            <a:fld id="{68151E55-6873-49E2-B8D5-2F265E6F1973}" type="slidenum">
              <a:rPr lang="en-US" smtClean="0"/>
              <a:t>75</a:t>
            </a:fld>
            <a:endParaRPr lang="en-US" dirty="0"/>
          </a:p>
        </p:txBody>
      </p:sp>
    </p:spTree>
    <p:extLst>
      <p:ext uri="{BB962C8B-B14F-4D97-AF65-F5344CB8AC3E}">
        <p14:creationId xmlns:p14="http://schemas.microsoft.com/office/powerpoint/2010/main" val="4326469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773A3-C78D-4CAF-9932-F58E0E6E33D3}"/>
              </a:ext>
            </a:extLst>
          </p:cNvPr>
          <p:cNvSpPr>
            <a:spLocks noGrp="1"/>
          </p:cNvSpPr>
          <p:nvPr>
            <p:ph type="title"/>
          </p:nvPr>
        </p:nvSpPr>
        <p:spPr/>
        <p:txBody>
          <a:bodyPr/>
          <a:lstStyle/>
          <a:p>
            <a:r>
              <a:rPr lang="en-US" altLang="en-US" dirty="0"/>
              <a:t>Life Cycle of a Slime Mold</a:t>
            </a:r>
            <a:r>
              <a:rPr lang="en-US" dirty="0"/>
              <a:t> - Text Alternative</a:t>
            </a:r>
            <a:endParaRPr lang="en-IN" dirty="0"/>
          </a:p>
        </p:txBody>
      </p:sp>
      <p:sp>
        <p:nvSpPr>
          <p:cNvPr id="3" name="Text Placeholder 2">
            <a:extLst>
              <a:ext uri="{FF2B5EF4-FFF2-40B4-BE49-F238E27FC236}">
                <a16:creationId xmlns:a16="http://schemas.microsoft.com/office/drawing/2014/main" id="{3B946E7D-B4AA-4C93-9859-3EE972790478}"/>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62C2EDD8-310E-40BC-9020-9198B941C993}"/>
              </a:ext>
            </a:extLst>
          </p:cNvPr>
          <p:cNvSpPr>
            <a:spLocks noGrp="1"/>
          </p:cNvSpPr>
          <p:nvPr>
            <p:ph sz="quarter" idx="21"/>
          </p:nvPr>
        </p:nvSpPr>
        <p:spPr/>
        <p:txBody>
          <a:bodyPr/>
          <a:lstStyle/>
          <a:p>
            <a:r>
              <a:rPr lang="en-US" dirty="0"/>
              <a:t>The cycle from fertilization to meiosis: </a:t>
            </a:r>
          </a:p>
          <a:p>
            <a:r>
              <a:rPr lang="en-US" dirty="0"/>
              <a:t>Diploid (2n):</a:t>
            </a:r>
          </a:p>
          <a:p>
            <a:r>
              <a:rPr lang="en-US" dirty="0"/>
              <a:t>Zygote leads to young plasmodium, leading to mature plasmodium which leads to beginning of sporangia formation, finally leading to young sporangium. </a:t>
            </a:r>
          </a:p>
          <a:p>
            <a:r>
              <a:rPr lang="en-US" dirty="0"/>
              <a:t>The cycle from meiosis to fertilization: </a:t>
            </a:r>
          </a:p>
          <a:p>
            <a:r>
              <a:rPr lang="en-US" dirty="0"/>
              <a:t>Haploid (n):</a:t>
            </a:r>
          </a:p>
          <a:p>
            <a:r>
              <a:rPr lang="en-US" dirty="0"/>
              <a:t>Mature sporangium leads to spore formation which leads to germinating spore, leading to amoeboid cells which finally leads to fusion. Germinating spore also lead to flagellated cells further resulting in fertilization. </a:t>
            </a:r>
          </a:p>
        </p:txBody>
      </p:sp>
      <p:sp>
        <p:nvSpPr>
          <p:cNvPr id="5" name="Text Placeholder 4">
            <a:extLst>
              <a:ext uri="{FF2B5EF4-FFF2-40B4-BE49-F238E27FC236}">
                <a16:creationId xmlns:a16="http://schemas.microsoft.com/office/drawing/2014/main" id="{4206ADF1-1667-4992-BFFF-6C6B93DABD12}"/>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9F6BB581-305B-49AA-8AF0-9AC7FEF7D2BA}"/>
              </a:ext>
            </a:extLst>
          </p:cNvPr>
          <p:cNvSpPr>
            <a:spLocks noGrp="1"/>
          </p:cNvSpPr>
          <p:nvPr>
            <p:ph type="sldNum" sz="quarter" idx="10"/>
          </p:nvPr>
        </p:nvSpPr>
        <p:spPr/>
        <p:txBody>
          <a:bodyPr/>
          <a:lstStyle/>
          <a:p>
            <a:fld id="{68151E55-6873-49E2-B8D5-2F265E6F1973}" type="slidenum">
              <a:rPr lang="en-US" smtClean="0"/>
              <a:t>76</a:t>
            </a:fld>
            <a:endParaRPr lang="en-US" dirty="0"/>
          </a:p>
        </p:txBody>
      </p:sp>
    </p:spTree>
    <p:extLst>
      <p:ext uri="{BB962C8B-B14F-4D97-AF65-F5344CB8AC3E}">
        <p14:creationId xmlns:p14="http://schemas.microsoft.com/office/powerpoint/2010/main" val="38313930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F30C9-C7F1-454E-BC42-7949AF3C4AC9}"/>
              </a:ext>
            </a:extLst>
          </p:cNvPr>
          <p:cNvSpPr>
            <a:spLocks noGrp="1"/>
          </p:cNvSpPr>
          <p:nvPr>
            <p:ph type="title"/>
          </p:nvPr>
        </p:nvSpPr>
        <p:spPr/>
        <p:txBody>
          <a:bodyPr/>
          <a:lstStyle/>
          <a:p>
            <a:r>
              <a:rPr lang="en-US" altLang="en-US" dirty="0"/>
              <a:t>Colonial Choanoflagellates</a:t>
            </a:r>
            <a:r>
              <a:rPr lang="en-US" dirty="0"/>
              <a:t> - Text Alternative</a:t>
            </a:r>
            <a:endParaRPr lang="en-IN" dirty="0"/>
          </a:p>
        </p:txBody>
      </p:sp>
      <p:sp>
        <p:nvSpPr>
          <p:cNvPr id="3" name="Text Placeholder 2">
            <a:extLst>
              <a:ext uri="{FF2B5EF4-FFF2-40B4-BE49-F238E27FC236}">
                <a16:creationId xmlns:a16="http://schemas.microsoft.com/office/drawing/2014/main" id="{A6A69B57-9417-4E23-84BE-4D0FA173A38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3DBE42C5-C27E-4CF0-AD26-82E7C0F314D6}"/>
              </a:ext>
            </a:extLst>
          </p:cNvPr>
          <p:cNvSpPr>
            <a:spLocks noGrp="1"/>
          </p:cNvSpPr>
          <p:nvPr>
            <p:ph sz="quarter" idx="21"/>
          </p:nvPr>
        </p:nvSpPr>
        <p:spPr/>
        <p:txBody>
          <a:bodyPr/>
          <a:lstStyle/>
          <a:p>
            <a:pPr>
              <a:buFont typeface="+mj-lt"/>
              <a:buAutoNum type="alphaLcPeriod"/>
            </a:pPr>
            <a:r>
              <a:rPr lang="en-US" dirty="0">
                <a:solidFill>
                  <a:srgbClr val="000000"/>
                </a:solidFill>
              </a:rPr>
              <a:t>A) </a:t>
            </a:r>
            <a:r>
              <a:rPr lang="en-US" dirty="0" err="1">
                <a:solidFill>
                  <a:srgbClr val="000000"/>
                </a:solidFill>
              </a:rPr>
              <a:t>Codonosiga</a:t>
            </a:r>
            <a:r>
              <a:rPr lang="en-US" dirty="0">
                <a:solidFill>
                  <a:srgbClr val="000000"/>
                </a:solidFill>
              </a:rPr>
              <a:t> colony is depicted as funnel shaped colonies anchored on a slender stalk. B) </a:t>
            </a:r>
            <a:r>
              <a:rPr lang="en-US" dirty="0" err="1">
                <a:solidFill>
                  <a:srgbClr val="000000"/>
                </a:solidFill>
              </a:rPr>
              <a:t>Proterospongia</a:t>
            </a:r>
            <a:r>
              <a:rPr lang="en-US" dirty="0">
                <a:solidFill>
                  <a:srgbClr val="000000"/>
                </a:solidFill>
              </a:rPr>
              <a:t> colony is shown as number of cells embedded in jelly-like matrix.</a:t>
            </a:r>
            <a:endParaRPr lang="en-US" dirty="0"/>
          </a:p>
        </p:txBody>
      </p:sp>
      <p:sp>
        <p:nvSpPr>
          <p:cNvPr id="5" name="Text Placeholder 4">
            <a:extLst>
              <a:ext uri="{FF2B5EF4-FFF2-40B4-BE49-F238E27FC236}">
                <a16:creationId xmlns:a16="http://schemas.microsoft.com/office/drawing/2014/main" id="{2E252884-2AF6-4E34-A56D-AF94B4B3B85C}"/>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7D29BED-7932-49E5-8CA9-32B429BD49D2}"/>
              </a:ext>
            </a:extLst>
          </p:cNvPr>
          <p:cNvSpPr>
            <a:spLocks noGrp="1"/>
          </p:cNvSpPr>
          <p:nvPr>
            <p:ph type="sldNum" sz="quarter" idx="10"/>
          </p:nvPr>
        </p:nvSpPr>
        <p:spPr/>
        <p:txBody>
          <a:bodyPr/>
          <a:lstStyle/>
          <a:p>
            <a:fld id="{68151E55-6873-49E2-B8D5-2F265E6F1973}" type="slidenum">
              <a:rPr lang="en-US" smtClean="0"/>
              <a:t>77</a:t>
            </a:fld>
            <a:endParaRPr lang="en-US" dirty="0"/>
          </a:p>
        </p:txBody>
      </p:sp>
    </p:spTree>
    <p:extLst>
      <p:ext uri="{BB962C8B-B14F-4D97-AF65-F5344CB8AC3E}">
        <p14:creationId xmlns:p14="http://schemas.microsoft.com/office/powerpoint/2010/main" val="174742034"/>
      </p:ext>
    </p:extLst>
  </p:cSld>
  <p:clrMapOvr>
    <a:masterClrMapping/>
  </p:clrMapOvr>
</p:sld>
</file>

<file path=ppt/theme/theme1.xml><?xml version="1.0" encoding="utf-8"?>
<a:theme xmlns:a="http://schemas.openxmlformats.org/drawingml/2006/main" name="CHAPTER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Body_Slid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HAPTER CLOSING">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GLOSSARY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GLOSSARY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6.xml><?xml version="1.0" encoding="utf-8"?>
<a:theme xmlns:a="http://schemas.openxmlformats.org/drawingml/2006/main" name="APPENDIX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7.xml><?xml version="1.0" encoding="utf-8"?>
<a:theme xmlns:a="http://schemas.openxmlformats.org/drawingml/2006/main" name="APPENDIX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8.xml><?xml version="1.0" encoding="utf-8"?>
<a:theme xmlns:a="http://schemas.openxmlformats.org/drawingml/2006/main" name="APPENDIX TITLE SUBTITL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docProps/app.xml><?xml version="1.0" encoding="utf-8"?>
<Properties xmlns="http://schemas.openxmlformats.org/officeDocument/2006/extended-properties" xmlns:vt="http://schemas.openxmlformats.org/officeDocument/2006/docPropsVTypes">
  <Template/>
  <TotalTime>282</TotalTime>
  <Words>3761</Words>
  <Application>Microsoft Office PowerPoint</Application>
  <PresentationFormat>On-screen Show (4:3)</PresentationFormat>
  <Paragraphs>563</Paragraphs>
  <Slides>77</Slides>
  <Notes>0</Notes>
  <HiddenSlides>11</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77</vt:i4>
      </vt:variant>
    </vt:vector>
  </HeadingPairs>
  <TitlesOfParts>
    <vt:vector size="93" baseType="lpstr">
      <vt:lpstr>Arial</vt:lpstr>
      <vt:lpstr>Arial (Body)</vt:lpstr>
      <vt:lpstr>Arial (Headings)</vt:lpstr>
      <vt:lpstr>Arial Unicode MS</vt:lpstr>
      <vt:lpstr>Calibri</vt:lpstr>
      <vt:lpstr>Calibri (Body)</vt:lpstr>
      <vt:lpstr>Calibri (Headings)</vt:lpstr>
      <vt:lpstr>Symbol</vt:lpstr>
      <vt:lpstr>CHAPTER OPENER</vt:lpstr>
      <vt:lpstr>Body_Slide</vt:lpstr>
      <vt:lpstr>CHAPTER CLOSING</vt:lpstr>
      <vt:lpstr>GLOSSARY OPENER</vt:lpstr>
      <vt:lpstr>GLOSSARY CONTENT</vt:lpstr>
      <vt:lpstr>APPENDIX OPENER</vt:lpstr>
      <vt:lpstr>APPENDIX CONTENT</vt:lpstr>
      <vt:lpstr>APPENDIX TITLE SUBTITLE</vt:lpstr>
      <vt:lpstr>Biology</vt:lpstr>
      <vt:lpstr>Outline</vt:lpstr>
      <vt:lpstr>21.1 General Biology of Protists</vt:lpstr>
      <vt:lpstr>Nutrition of Protists</vt:lpstr>
      <vt:lpstr>Life Cycle of Protists</vt:lpstr>
      <vt:lpstr>Biology of Protists</vt:lpstr>
      <vt:lpstr>Evolution and Diversity of Protists</vt:lpstr>
      <vt:lpstr>Supergroups</vt:lpstr>
      <vt:lpstr>Proposed Evolutionary Relationships Among the Eukaryotic Supergroups</vt:lpstr>
      <vt:lpstr>21.2 Supergroup Excavata</vt:lpstr>
      <vt:lpstr>Diplomonads and Parabasalids</vt:lpstr>
      <vt:lpstr>Parabasalids and Diplomonads</vt:lpstr>
      <vt:lpstr>Giardia lamblia</vt:lpstr>
      <vt:lpstr>Trichomonas vaginalis</vt:lpstr>
      <vt:lpstr>Euglenozoans</vt:lpstr>
      <vt:lpstr>Euglenids</vt:lpstr>
      <vt:lpstr>Euglena</vt:lpstr>
      <vt:lpstr>Kinetoplastids</vt:lpstr>
      <vt:lpstr>Trypanosoma brucei</vt:lpstr>
      <vt:lpstr>21.3 Supergroup Chromalveolata</vt:lpstr>
      <vt:lpstr>Stramenopiles</vt:lpstr>
      <vt:lpstr>Dinoflagellates</vt:lpstr>
      <vt:lpstr>Dinoflagellate Features</vt:lpstr>
      <vt:lpstr>A Typical Dinoflagellate</vt:lpstr>
      <vt:lpstr>Dinoflagellate Bloom and Fish Kill</vt:lpstr>
      <vt:lpstr>Apicomplexans</vt:lpstr>
      <vt:lpstr>Life Cycle of Plasmodium vivax</vt:lpstr>
      <vt:lpstr>Ciliates</vt:lpstr>
      <vt:lpstr>Ciliates Examples</vt:lpstr>
      <vt:lpstr>Diatoms</vt:lpstr>
      <vt:lpstr>Diatoms Example</vt:lpstr>
      <vt:lpstr>Golden Brown Algae</vt:lpstr>
      <vt:lpstr>Ochromonas, a Golden Brown Alga</vt:lpstr>
      <vt:lpstr>Brown Algae</vt:lpstr>
      <vt:lpstr>More Brown Algae</vt:lpstr>
      <vt:lpstr>Brown Algae Examples</vt:lpstr>
      <vt:lpstr>Oomycetes</vt:lpstr>
      <vt:lpstr>Water Mold</vt:lpstr>
      <vt:lpstr>21.4 Supergroup Rhizaria</vt:lpstr>
      <vt:lpstr>Cercozoa</vt:lpstr>
      <vt:lpstr>The Cercozoan Pulinella chromatophora</vt:lpstr>
      <vt:lpstr>Foraminiferans and Radiolarians</vt:lpstr>
      <vt:lpstr>Foraminiferans and Radiolarians Examples</vt:lpstr>
      <vt:lpstr>21.5 Supergroup Archaeplastida</vt:lpstr>
      <vt:lpstr>Red Algae</vt:lpstr>
      <vt:lpstr>Green Algae</vt:lpstr>
      <vt:lpstr>Chlorophytes</vt:lpstr>
      <vt:lpstr>Electron Micrograph of Chlamydomonas</vt:lpstr>
      <vt:lpstr>Haploid Life Cycle of Chlamydomonas</vt:lpstr>
      <vt:lpstr>Volvox</vt:lpstr>
      <vt:lpstr>Volvox Example</vt:lpstr>
      <vt:lpstr>Ulva</vt:lpstr>
      <vt:lpstr>Ulva Example</vt:lpstr>
      <vt:lpstr>Charophytes</vt:lpstr>
      <vt:lpstr>Spirogyra</vt:lpstr>
      <vt:lpstr>Chara</vt:lpstr>
      <vt:lpstr>Chara Examples</vt:lpstr>
      <vt:lpstr>21.6 Supergroup Amoebozoa</vt:lpstr>
      <vt:lpstr>Amoeba proteus</vt:lpstr>
      <vt:lpstr>Slime Molds</vt:lpstr>
      <vt:lpstr>Plasmodial Slime Molds</vt:lpstr>
      <vt:lpstr>Cellular Slime Molds</vt:lpstr>
      <vt:lpstr>Life Cycle of a Slime Mold</vt:lpstr>
      <vt:lpstr>21.7 Supergroup Opisthokonta</vt:lpstr>
      <vt:lpstr>Colonial Choanoflagellates</vt:lpstr>
      <vt:lpstr>End of main content</vt:lpstr>
      <vt:lpstr>Accessibility Content: Text Alternatives for Images</vt:lpstr>
      <vt:lpstr>Proposed Evolutionary Relationships Among the Eukaryotic Supergroups - Text Alternative</vt:lpstr>
      <vt:lpstr>Euglena - Text Alternative</vt:lpstr>
      <vt:lpstr>Life Cycle of Plasmodium vivax - Text Alternative</vt:lpstr>
      <vt:lpstr>Ciliates Examples - Text Alternative</vt:lpstr>
      <vt:lpstr>Foraminiferans and Radiolarians Examples - Text Alternative</vt:lpstr>
      <vt:lpstr>Haploid Life Cycle of Chlamydomonas - Text Alternative</vt:lpstr>
      <vt:lpstr>Ulva Example - Text Alternative</vt:lpstr>
      <vt:lpstr>Spirogyra - Text Alternative</vt:lpstr>
      <vt:lpstr>Life Cycle of a Slime Mold - Text Alternative</vt:lpstr>
      <vt:lpstr>Colonial Choanoflagellates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 Chaudhary</dc:creator>
  <cp:lastModifiedBy>Cheryl Boice</cp:lastModifiedBy>
  <cp:revision>263</cp:revision>
  <dcterms:created xsi:type="dcterms:W3CDTF">2021-02-05T09:33:46Z</dcterms:created>
  <dcterms:modified xsi:type="dcterms:W3CDTF">2026-08-19T16:12:39Z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814e929-9946-42b9-880c-679f75b74d03_Enabled">
    <vt:lpwstr>true</vt:lpwstr>
  </property>
  <property fmtid="{D5CDD505-2E9C-101B-9397-08002B2CF9AE}" pid="3" name="MSIP_Label_9814e929-9946-42b9-880c-679f75b74d03_SetDate">
    <vt:lpwstr>2026-08-19T16:12:39Z</vt:lpwstr>
  </property>
  <property fmtid="{D5CDD505-2E9C-101B-9397-08002B2CF9AE}" pid="4" name="MSIP_Label_9814e929-9946-42b9-880c-679f75b74d03_Method">
    <vt:lpwstr>Standard</vt:lpwstr>
  </property>
  <property fmtid="{D5CDD505-2E9C-101B-9397-08002B2CF9AE}" pid="5" name="MSIP_Label_9814e929-9946-42b9-880c-679f75b74d03_Name">
    <vt:lpwstr>defa4170-0d19-0005-0004-bc88714345d2</vt:lpwstr>
  </property>
  <property fmtid="{D5CDD505-2E9C-101B-9397-08002B2CF9AE}" pid="6" name="MSIP_Label_9814e929-9946-42b9-880c-679f75b74d03_SiteId">
    <vt:lpwstr>997282f8-6935-42d5-8c5a-69e9a71596d3</vt:lpwstr>
  </property>
  <property fmtid="{D5CDD505-2E9C-101B-9397-08002B2CF9AE}" pid="7" name="MSIP_Label_9814e929-9946-42b9-880c-679f75b74d03_ActionId">
    <vt:lpwstr>cd5ad58f-6ce0-4d99-b5cb-ce8a6c57b6fb</vt:lpwstr>
  </property>
  <property fmtid="{D5CDD505-2E9C-101B-9397-08002B2CF9AE}" pid="8" name="MSIP_Label_9814e929-9946-42b9-880c-679f75b74d03_ContentBits">
    <vt:lpwstr>0</vt:lpwstr>
  </property>
  <property fmtid="{D5CDD505-2E9C-101B-9397-08002B2CF9AE}" pid="9" name="MSIP_Label_9814e929-9946-42b9-880c-679f75b74d03_Tag">
    <vt:lpwstr>10, 3, 0, 1</vt:lpwstr>
  </property>
</Properties>
</file>
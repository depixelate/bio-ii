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sldIdLst>
    <p:sldId id="256" r:id="rId9"/>
    <p:sldId id="262" r:id="rId10"/>
    <p:sldId id="263" r:id="rId11"/>
    <p:sldId id="265" r:id="rId12"/>
    <p:sldId id="266" r:id="rId13"/>
    <p:sldId id="267" r:id="rId14"/>
    <p:sldId id="268" r:id="rId15"/>
    <p:sldId id="269" r:id="rId16"/>
    <p:sldId id="270" r:id="rId17"/>
    <p:sldId id="271" r:id="rId18"/>
    <p:sldId id="288" r:id="rId19"/>
    <p:sldId id="279" r:id="rId20"/>
    <p:sldId id="280" r:id="rId21"/>
    <p:sldId id="281" r:id="rId22"/>
    <p:sldId id="282" r:id="rId23"/>
    <p:sldId id="283" r:id="rId24"/>
    <p:sldId id="284" r:id="rId25"/>
    <p:sldId id="285" r:id="rId26"/>
    <p:sldId id="286" r:id="rId27"/>
    <p:sldId id="287" r:id="rId28"/>
    <p:sldId id="289" r:id="rId29"/>
    <p:sldId id="290" r:id="rId30"/>
    <p:sldId id="291" r:id="rId31"/>
    <p:sldId id="299" r:id="rId32"/>
    <p:sldId id="293" r:id="rId33"/>
    <p:sldId id="292" r:id="rId34"/>
    <p:sldId id="294" r:id="rId35"/>
    <p:sldId id="295" r:id="rId36"/>
    <p:sldId id="296" r:id="rId37"/>
    <p:sldId id="297" r:id="rId38"/>
    <p:sldId id="298"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20" r:id="rId58"/>
    <p:sldId id="323" r:id="rId59"/>
    <p:sldId id="319" r:id="rId60"/>
    <p:sldId id="264" r:id="rId61"/>
    <p:sldId id="259" r:id="rId62"/>
    <p:sldId id="260" r:id="rId63"/>
    <p:sldId id="273" r:id="rId64"/>
    <p:sldId id="275" r:id="rId65"/>
    <p:sldId id="276" r:id="rId66"/>
    <p:sldId id="321" r:id="rId67"/>
    <p:sldId id="322" r:id="rId6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262"/>
            <p14:sldId id="263"/>
            <p14:sldId id="265"/>
            <p14:sldId id="266"/>
            <p14:sldId id="267"/>
            <p14:sldId id="268"/>
            <p14:sldId id="269"/>
            <p14:sldId id="270"/>
            <p14:sldId id="271"/>
            <p14:sldId id="288"/>
            <p14:sldId id="279"/>
            <p14:sldId id="280"/>
            <p14:sldId id="281"/>
            <p14:sldId id="282"/>
            <p14:sldId id="283"/>
            <p14:sldId id="284"/>
            <p14:sldId id="285"/>
            <p14:sldId id="286"/>
            <p14:sldId id="287"/>
            <p14:sldId id="289"/>
            <p14:sldId id="290"/>
            <p14:sldId id="291"/>
            <p14:sldId id="299"/>
            <p14:sldId id="293"/>
            <p14:sldId id="292"/>
            <p14:sldId id="294"/>
            <p14:sldId id="295"/>
            <p14:sldId id="296"/>
            <p14:sldId id="297"/>
            <p14:sldId id="298"/>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20"/>
            <p14:sldId id="323"/>
            <p14:sldId id="319"/>
            <p14:sldId id="264"/>
          </p14:sldIdLst>
        </p14:section>
        <p14:section name="Appendix: Image Descriptions for Unsighted Students" id="{190CAB3E-E7E3-4FE1-933B-0DC940C329C4}">
          <p14:sldIdLst>
            <p14:sldId id="259"/>
            <p14:sldId id="260"/>
            <p14:sldId id="273"/>
            <p14:sldId id="275"/>
            <p14:sldId id="276"/>
            <p14:sldId id="321"/>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96229" autoAdjust="0"/>
  </p:normalViewPr>
  <p:slideViewPr>
    <p:cSldViewPr snapToGrid="0">
      <p:cViewPr varScale="1">
        <p:scale>
          <a:sx n="103" d="100"/>
          <a:sy n="103" d="100"/>
        </p:scale>
        <p:origin x="2082" y="102"/>
      </p:cViewPr>
      <p:guideLst/>
    </p:cSldViewPr>
  </p:slideViewPr>
  <p:outlineViewPr>
    <p:cViewPr>
      <p:scale>
        <a:sx n="33" d="100"/>
        <a:sy n="33" d="100"/>
      </p:scale>
      <p:origin x="0" y="-3876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7" Type="http://schemas.openxmlformats.org/officeDocument/2006/relationships/slideMaster" Target="slideMasters/slideMaster7.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slide" Target="slide39.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Subtitle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a:t>
            </a:r>
            <a:r>
              <a:rPr lang="en-US" altLang="en-US" sz="1800" dirty="0" err="1">
                <a:solidFill>
                  <a:schemeClr val="tx1"/>
                </a:solidFill>
                <a:effectLst/>
                <a:latin typeface="+mj-lt"/>
              </a:rPr>
              <a:t>Windelspecht</a:t>
            </a:r>
            <a:endParaRPr lang="en-IN" sz="1800" dirty="0">
              <a:solidFill>
                <a:schemeClr val="tx1"/>
              </a:solidFill>
              <a:effectLst/>
              <a:latin typeface="+mj-lt"/>
            </a:endParaRPr>
          </a:p>
        </p:txBody>
      </p:sp>
      <p:sp>
        <p:nvSpPr>
          <p:cNvPr id="6" name="Conten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72000" y="3792324"/>
            <a:ext cx="4572000" cy="622300"/>
          </a:xfrm>
        </p:spPr>
        <p:txBody>
          <a:bodyPr/>
          <a:lstStyle/>
          <a:p>
            <a:pPr>
              <a:spcBef>
                <a:spcPts val="0"/>
              </a:spcBef>
            </a:pPr>
            <a:r>
              <a:rPr lang="en-US" altLang="en-US" sz="2800" b="0" dirty="0"/>
              <a:t>Chapter 22 </a:t>
            </a:r>
          </a:p>
          <a:p>
            <a:pPr>
              <a:spcBef>
                <a:spcPts val="0"/>
              </a:spcBef>
            </a:pPr>
            <a:r>
              <a:rPr lang="en-US" altLang="en-US" sz="2800" b="0" dirty="0"/>
              <a:t>Fungi Evolution and Diversity</a:t>
            </a:r>
          </a:p>
          <a:p>
            <a:pPr>
              <a:spcBef>
                <a:spcPts val="0"/>
              </a:spcBef>
            </a:pPr>
            <a:r>
              <a:rPr lang="en-US" altLang="en-US" sz="2800" b="0" dirty="0"/>
              <a:t>Lecture Outline</a:t>
            </a:r>
          </a:p>
        </p:txBody>
      </p:sp>
      <p:sp>
        <p:nvSpPr>
          <p:cNvPr id="8" name="Content Placeholder 8">
            <a:extLst>
              <a:ext uri="{FF2B5EF4-FFF2-40B4-BE49-F238E27FC236}">
                <a16:creationId xmlns:a16="http://schemas.microsoft.com/office/drawing/2014/main" id="{3CFCD7C5-EA7C-4E20-A620-38C65C5C845F}"/>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8941B0B-1809-492E-ACFF-6768CC723330}"/>
              </a:ext>
            </a:extLst>
          </p:cNvPr>
          <p:cNvSpPr>
            <a:spLocks noGrp="1"/>
          </p:cNvSpPr>
          <p:nvPr>
            <p:ph type="title"/>
          </p:nvPr>
        </p:nvSpPr>
        <p:spPr/>
        <p:txBody>
          <a:bodyPr/>
          <a:lstStyle/>
          <a:p>
            <a:r>
              <a:rPr lang="en-US" dirty="0"/>
              <a:t>Outline</a:t>
            </a:r>
            <a:endParaRPr lang="en-IN" dirty="0"/>
          </a:p>
        </p:txBody>
      </p:sp>
      <p:sp>
        <p:nvSpPr>
          <p:cNvPr id="2" name="Text Placeholder 2">
            <a:extLst>
              <a:ext uri="{FF2B5EF4-FFF2-40B4-BE49-F238E27FC236}">
                <a16:creationId xmlns:a16="http://schemas.microsoft.com/office/drawing/2014/main" id="{7B5E444A-C19E-4B8A-A5A3-4A6E4B9A96A6}"/>
              </a:ext>
            </a:extLst>
          </p:cNvPr>
          <p:cNvSpPr>
            <a:spLocks noGrp="1"/>
          </p:cNvSpPr>
          <p:nvPr>
            <p:ph type="body" sz="quarter" idx="19"/>
          </p:nvPr>
        </p:nvSpPr>
        <p:spPr>
          <a:xfrm>
            <a:off x="842963" y="1177180"/>
            <a:ext cx="7623676" cy="3805128"/>
          </a:xfrm>
        </p:spPr>
        <p:txBody>
          <a:bodyPr>
            <a:normAutofit/>
          </a:bodyPr>
          <a:lstStyle/>
          <a:p>
            <a:pPr lvl="0">
              <a:spcAft>
                <a:spcPts val="2000"/>
              </a:spcAft>
            </a:pPr>
            <a:r>
              <a:rPr lang="en-US" altLang="en-US" sz="3200" dirty="0">
                <a:solidFill>
                  <a:prstClr val="black"/>
                </a:solidFill>
              </a:rPr>
              <a:t>22.1 Evolution and Characteristics of Fungi</a:t>
            </a:r>
          </a:p>
          <a:p>
            <a:pPr lvl="0">
              <a:spcAft>
                <a:spcPts val="2000"/>
              </a:spcAft>
            </a:pPr>
            <a:r>
              <a:rPr lang="en-US" altLang="en-US" sz="3200" dirty="0">
                <a:solidFill>
                  <a:prstClr val="black"/>
                </a:solidFill>
              </a:rPr>
              <a:t>22.2 Diversity of Fungi</a:t>
            </a:r>
          </a:p>
          <a:p>
            <a:pPr lvl="0">
              <a:spcAft>
                <a:spcPts val="2000"/>
              </a:spcAft>
            </a:pPr>
            <a:r>
              <a:rPr lang="en-US" altLang="en-US" sz="3200" dirty="0">
                <a:solidFill>
                  <a:prstClr val="black"/>
                </a:solidFill>
              </a:rPr>
              <a:t>22.3 Symbiotic Relationships of Fungi</a:t>
            </a:r>
          </a:p>
        </p:txBody>
      </p:sp>
      <p:sp>
        <p:nvSpPr>
          <p:cNvPr id="4" name="Slide Number Placeholder 3">
            <a:extLst>
              <a:ext uri="{FF2B5EF4-FFF2-40B4-BE49-F238E27FC236}">
                <a16:creationId xmlns:a16="http://schemas.microsoft.com/office/drawing/2014/main" id="{06FD65B7-960F-4FF5-B858-E6E7B20D1CC7}"/>
              </a:ext>
            </a:extLst>
          </p:cNvPr>
          <p:cNvSpPr>
            <a:spLocks noGrp="1"/>
          </p:cNvSpPr>
          <p:nvPr>
            <p:ph type="sldNum" sz="quarter" idx="4"/>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338123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6F8EA-94DA-4D34-888B-85B53C34DE00}"/>
              </a:ext>
            </a:extLst>
          </p:cNvPr>
          <p:cNvSpPr>
            <a:spLocks noGrp="1"/>
          </p:cNvSpPr>
          <p:nvPr>
            <p:ph type="title"/>
          </p:nvPr>
        </p:nvSpPr>
        <p:spPr>
          <a:xfrm>
            <a:off x="1208216" y="0"/>
            <a:ext cx="6893169" cy="1389807"/>
          </a:xfrm>
        </p:spPr>
        <p:txBody>
          <a:bodyPr/>
          <a:lstStyle/>
          <a:p>
            <a:r>
              <a:rPr lang="en-US" dirty="0"/>
              <a:t>22.1 Evolution and Characteristics of Fungi</a:t>
            </a:r>
            <a:endParaRPr lang="en-IN" dirty="0"/>
          </a:p>
        </p:txBody>
      </p:sp>
      <p:sp>
        <p:nvSpPr>
          <p:cNvPr id="6" name="Text Placeholder 2">
            <a:extLst>
              <a:ext uri="{FF2B5EF4-FFF2-40B4-BE49-F238E27FC236}">
                <a16:creationId xmlns:a16="http://schemas.microsoft.com/office/drawing/2014/main" id="{469DDC96-8FB7-4A80-B8BB-56DC711BF8E5}"/>
              </a:ext>
            </a:extLst>
          </p:cNvPr>
          <p:cNvSpPr>
            <a:spLocks noGrp="1"/>
          </p:cNvSpPr>
          <p:nvPr>
            <p:ph type="body" sz="quarter" idx="19"/>
          </p:nvPr>
        </p:nvSpPr>
        <p:spPr>
          <a:xfrm>
            <a:off x="587633" y="1752027"/>
            <a:ext cx="7879006" cy="3704707"/>
          </a:xfrm>
        </p:spPr>
        <p:txBody>
          <a:bodyPr/>
          <a:lstStyle/>
          <a:p>
            <a:pPr lvl="0">
              <a:spcBef>
                <a:spcPts val="600"/>
              </a:spcBef>
              <a:spcAft>
                <a:spcPts val="600"/>
              </a:spcAft>
            </a:pPr>
            <a:r>
              <a:rPr lang="en-US" sz="2600" dirty="0">
                <a:solidFill>
                  <a:prstClr val="black"/>
                </a:solidFill>
              </a:rPr>
              <a:t>The </a:t>
            </a:r>
            <a:r>
              <a:rPr lang="en-US" sz="2600" b="1" dirty="0">
                <a:solidFill>
                  <a:srgbClr val="D90000"/>
                </a:solidFill>
              </a:rPr>
              <a:t>fungi</a:t>
            </a:r>
            <a:r>
              <a:rPr lang="en-US" sz="2600" dirty="0">
                <a:solidFill>
                  <a:prstClr val="black"/>
                </a:solidFill>
              </a:rPr>
              <a:t> are classified in supergroup </a:t>
            </a:r>
            <a:r>
              <a:rPr lang="en-US" sz="2600" dirty="0" err="1">
                <a:solidFill>
                  <a:prstClr val="black"/>
                </a:solidFill>
              </a:rPr>
              <a:t>Opisthokonta</a:t>
            </a:r>
            <a:r>
              <a:rPr lang="en-US" sz="2600" dirty="0">
                <a:solidFill>
                  <a:prstClr val="black"/>
                </a:solidFill>
              </a:rPr>
              <a:t> and include over 140,000 species</a:t>
            </a:r>
          </a:p>
          <a:p>
            <a:pPr>
              <a:spcBef>
                <a:spcPts val="600"/>
              </a:spcBef>
              <a:spcAft>
                <a:spcPts val="600"/>
              </a:spcAft>
            </a:pPr>
            <a:r>
              <a:rPr lang="en-US" sz="2600" dirty="0">
                <a:solidFill>
                  <a:prstClr val="black"/>
                </a:solidFill>
              </a:rPr>
              <a:t>Fungi consist mostly of multicellular eukaryotes that share a common mode of nutrition</a:t>
            </a:r>
          </a:p>
          <a:p>
            <a:pPr marL="269875" lvl="2" indent="-269875">
              <a:spcBef>
                <a:spcPts val="600"/>
              </a:spcBef>
              <a:spcAft>
                <a:spcPts val="600"/>
              </a:spcAft>
            </a:pPr>
            <a:r>
              <a:rPr lang="en-US" sz="2400" dirty="0">
                <a:solidFill>
                  <a:prstClr val="black"/>
                </a:solidFill>
              </a:rPr>
              <a:t>Heterotrophic and </a:t>
            </a:r>
            <a:r>
              <a:rPr lang="en-US" sz="2400" b="1" dirty="0">
                <a:solidFill>
                  <a:srgbClr val="D90000"/>
                </a:solidFill>
              </a:rPr>
              <a:t>saprotrophic</a:t>
            </a:r>
          </a:p>
          <a:p>
            <a:pPr marL="620713" lvl="3" indent="-350838">
              <a:spcBef>
                <a:spcPts val="600"/>
              </a:spcBef>
              <a:spcAft>
                <a:spcPts val="600"/>
              </a:spcAft>
            </a:pPr>
            <a:r>
              <a:rPr lang="en-US" sz="2200" dirty="0">
                <a:solidFill>
                  <a:prstClr val="black"/>
                </a:solidFill>
              </a:rPr>
              <a:t>Cells release digestive enzymes that break down and then absorb resultant nutrient molecules</a:t>
            </a:r>
          </a:p>
        </p:txBody>
      </p:sp>
      <p:sp>
        <p:nvSpPr>
          <p:cNvPr id="4" name="Slide Number Placeholder 3">
            <a:extLst>
              <a:ext uri="{FF2B5EF4-FFF2-40B4-BE49-F238E27FC236}">
                <a16:creationId xmlns:a16="http://schemas.microsoft.com/office/drawing/2014/main" id="{AD9D0EF6-80F7-49A7-8805-6D2418433608}"/>
              </a:ext>
            </a:extLst>
          </p:cNvPr>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23148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D291C-BC5C-4ECF-AC2E-3BE6F5C27AFA}"/>
              </a:ext>
            </a:extLst>
          </p:cNvPr>
          <p:cNvSpPr>
            <a:spLocks noGrp="1"/>
          </p:cNvSpPr>
          <p:nvPr>
            <p:ph type="title"/>
          </p:nvPr>
        </p:nvSpPr>
        <p:spPr>
          <a:xfrm>
            <a:off x="0" y="1"/>
            <a:ext cx="9144000" cy="1104404"/>
          </a:xfrm>
        </p:spPr>
        <p:txBody>
          <a:bodyPr/>
          <a:lstStyle/>
          <a:p>
            <a:r>
              <a:rPr lang="en-US" altLang="en-US" dirty="0"/>
              <a:t>Evolution of Fungi</a:t>
            </a:r>
            <a:endParaRPr lang="en-IN" dirty="0"/>
          </a:p>
        </p:txBody>
      </p:sp>
      <p:sp>
        <p:nvSpPr>
          <p:cNvPr id="3" name="Text Placeholder 2">
            <a:extLst>
              <a:ext uri="{FF2B5EF4-FFF2-40B4-BE49-F238E27FC236}">
                <a16:creationId xmlns:a16="http://schemas.microsoft.com/office/drawing/2014/main" id="{51CAE839-EE05-4BC2-9B78-5618830DD98D}"/>
              </a:ext>
            </a:extLst>
          </p:cNvPr>
          <p:cNvSpPr>
            <a:spLocks noGrp="1"/>
          </p:cNvSpPr>
          <p:nvPr>
            <p:ph type="body" sz="quarter" idx="19"/>
          </p:nvPr>
        </p:nvSpPr>
        <p:spPr>
          <a:xfrm>
            <a:off x="760162" y="1331559"/>
            <a:ext cx="7623676" cy="5071220"/>
          </a:xfrm>
        </p:spPr>
        <p:txBody>
          <a:bodyPr>
            <a:normAutofit/>
          </a:bodyPr>
          <a:lstStyle/>
          <a:p>
            <a:pPr marL="342900" indent="-342900">
              <a:spcAft>
                <a:spcPts val="1500"/>
              </a:spcAft>
              <a:buFont typeface="Arial" panose="020B0604020202020204" pitchFamily="34" charset="0"/>
              <a:buChar char="•"/>
            </a:pPr>
            <a:r>
              <a:rPr lang="en-US" altLang="en-US" sz="2600" dirty="0"/>
              <a:t>Classification of fungal phyla is ongoing and incomplete</a:t>
            </a:r>
          </a:p>
          <a:p>
            <a:pPr marL="342900" indent="-342900">
              <a:spcAft>
                <a:spcPts val="1500"/>
              </a:spcAft>
              <a:buFont typeface="Arial" panose="020B0604020202020204" pitchFamily="34" charset="0"/>
              <a:buChar char="•"/>
            </a:pPr>
            <a:r>
              <a:rPr lang="en-US" altLang="en-US" sz="2600" dirty="0"/>
              <a:t>Recent studies have determined the previously identified groups are not monophyletic</a:t>
            </a:r>
          </a:p>
          <a:p>
            <a:pPr marL="342900" indent="-342900">
              <a:spcAft>
                <a:spcPts val="1500"/>
              </a:spcAft>
              <a:buFont typeface="Arial" panose="020B0604020202020204" pitchFamily="34" charset="0"/>
              <a:buChar char="•"/>
            </a:pPr>
            <a:r>
              <a:rPr lang="en-US" altLang="en-US" sz="2600" dirty="0"/>
              <a:t>Six groups are currently recognized</a:t>
            </a:r>
          </a:p>
        </p:txBody>
      </p:sp>
      <p:sp>
        <p:nvSpPr>
          <p:cNvPr id="4" name="Slide Number Placeholder 3">
            <a:extLst>
              <a:ext uri="{FF2B5EF4-FFF2-40B4-BE49-F238E27FC236}">
                <a16:creationId xmlns:a16="http://schemas.microsoft.com/office/drawing/2014/main" id="{7A624110-3D50-42AE-AAEF-457CB49E7F42}"/>
              </a:ext>
            </a:extLst>
          </p:cNvPr>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4127558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C6822-EDBA-46A0-BC9C-92094BA0362D}"/>
              </a:ext>
            </a:extLst>
          </p:cNvPr>
          <p:cNvSpPr>
            <a:spLocks noGrp="1"/>
          </p:cNvSpPr>
          <p:nvPr>
            <p:ph type="title"/>
          </p:nvPr>
        </p:nvSpPr>
        <p:spPr>
          <a:xfrm>
            <a:off x="392162" y="0"/>
            <a:ext cx="8358554" cy="1109868"/>
          </a:xfrm>
        </p:spPr>
        <p:txBody>
          <a:bodyPr/>
          <a:lstStyle/>
          <a:p>
            <a:r>
              <a:rPr lang="en-US" altLang="en-US" sz="3600" dirty="0"/>
              <a:t>Evolutionary Relationships Among the Fungi</a:t>
            </a:r>
            <a:endParaRPr lang="en-IN" sz="3600" dirty="0"/>
          </a:p>
        </p:txBody>
      </p:sp>
      <p:pic>
        <p:nvPicPr>
          <p:cNvPr id="7" name="Picture 2" descr="Cladogram shows common eukaryotic ancestor branching into opisthokonta, amoebozo,  archaeplastida, rhizaria, chromalveolata and excavata subgroups.">
            <a:extLst>
              <a:ext uri="{FF2B5EF4-FFF2-40B4-BE49-F238E27FC236}">
                <a16:creationId xmlns:a16="http://schemas.microsoft.com/office/drawing/2014/main" id="{7B650D91-0BCB-4806-9642-D072D0D157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99" y="1106157"/>
            <a:ext cx="6776250" cy="4427427"/>
          </a:xfrm>
          <a:prstGeom prst="rect">
            <a:avLst/>
          </a:prstGeom>
        </p:spPr>
      </p:pic>
      <p:sp>
        <p:nvSpPr>
          <p:cNvPr id="5" name="Text Placeholder 3">
            <a:extLst>
              <a:ext uri="{FF2B5EF4-FFF2-40B4-BE49-F238E27FC236}">
                <a16:creationId xmlns:a16="http://schemas.microsoft.com/office/drawing/2014/main" id="{01F35269-918E-4476-B4AD-FD06091D25CC}"/>
              </a:ext>
            </a:extLst>
          </p:cNvPr>
          <p:cNvSpPr>
            <a:spLocks noGrp="1"/>
          </p:cNvSpPr>
          <p:nvPr>
            <p:ph type="body" sz="quarter" idx="18"/>
          </p:nvPr>
        </p:nvSpPr>
        <p:spPr>
          <a:xfrm>
            <a:off x="3812160" y="5533584"/>
            <a:ext cx="1518556" cy="314325"/>
          </a:xfrm>
        </p:spPr>
        <p:txBody>
          <a:bodyPr>
            <a:normAutofit/>
          </a:bodyPr>
          <a:lstStyle/>
          <a:p>
            <a:r>
              <a:rPr lang="en-US" sz="1200" dirty="0"/>
              <a:t>Figure 22.1</a:t>
            </a:r>
          </a:p>
        </p:txBody>
      </p:sp>
      <p:sp>
        <p:nvSpPr>
          <p:cNvPr id="6" name="Text Placeholder 4">
            <a:extLst>
              <a:ext uri="{FF2B5EF4-FFF2-40B4-BE49-F238E27FC236}">
                <a16:creationId xmlns:a16="http://schemas.microsoft.com/office/drawing/2014/main" id="{DAE2C097-BA9C-426F-B59A-5B3B076AFB67}"/>
              </a:ext>
            </a:extLst>
          </p:cNvPr>
          <p:cNvSpPr>
            <a:spLocks noGrp="1"/>
          </p:cNvSpPr>
          <p:nvPr>
            <p:ph type="body" sz="quarter" idx="19"/>
          </p:nvPr>
        </p:nvSpPr>
        <p:spPr>
          <a:xfrm>
            <a:off x="2912074" y="5879269"/>
            <a:ext cx="3318729"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5CF316E3-9271-479F-B653-0E4B751372E7}"/>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104509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23762-3E7B-4243-AF1F-6FCB217C553F}"/>
              </a:ext>
            </a:extLst>
          </p:cNvPr>
          <p:cNvSpPr>
            <a:spLocks noGrp="1"/>
          </p:cNvSpPr>
          <p:nvPr>
            <p:ph type="title"/>
          </p:nvPr>
        </p:nvSpPr>
        <p:spPr>
          <a:xfrm>
            <a:off x="0" y="1"/>
            <a:ext cx="9144000" cy="999722"/>
          </a:xfrm>
        </p:spPr>
        <p:txBody>
          <a:bodyPr/>
          <a:lstStyle/>
          <a:p>
            <a:r>
              <a:rPr lang="en-US" altLang="en-US" dirty="0"/>
              <a:t>Evolution of Protists</a:t>
            </a:r>
            <a:endParaRPr lang="en-IN" dirty="0"/>
          </a:p>
        </p:txBody>
      </p:sp>
      <p:sp>
        <p:nvSpPr>
          <p:cNvPr id="3" name="Text Placeholder 2">
            <a:extLst>
              <a:ext uri="{FF2B5EF4-FFF2-40B4-BE49-F238E27FC236}">
                <a16:creationId xmlns:a16="http://schemas.microsoft.com/office/drawing/2014/main" id="{8FA32093-EA18-4909-A61F-89CEDAC029EF}"/>
              </a:ext>
            </a:extLst>
          </p:cNvPr>
          <p:cNvSpPr>
            <a:spLocks noGrp="1"/>
          </p:cNvSpPr>
          <p:nvPr>
            <p:ph type="body" sz="quarter" idx="19"/>
          </p:nvPr>
        </p:nvSpPr>
        <p:spPr>
          <a:xfrm>
            <a:off x="842963" y="1177180"/>
            <a:ext cx="7623676" cy="5153282"/>
          </a:xfrm>
        </p:spPr>
        <p:txBody>
          <a:bodyPr/>
          <a:lstStyle/>
          <a:p>
            <a:pPr>
              <a:spcAft>
                <a:spcPts val="1500"/>
              </a:spcAft>
            </a:pPr>
            <a:r>
              <a:rPr lang="en-US" altLang="en-US" sz="2400" dirty="0"/>
              <a:t>Protists evolved some 1.5 </a:t>
            </a:r>
            <a:r>
              <a:rPr lang="en-US" sz="2400" dirty="0"/>
              <a:t>Billion Years Ago (BYA)</a:t>
            </a:r>
          </a:p>
          <a:p>
            <a:pPr marL="0" lvl="1" indent="0">
              <a:spcBef>
                <a:spcPts val="0"/>
              </a:spcBef>
              <a:buNone/>
            </a:pPr>
            <a:r>
              <a:rPr lang="en-US" altLang="en-US" sz="2200" dirty="0"/>
              <a:t>Plants, animals, and fungi trace their ancestry to protists</a:t>
            </a:r>
          </a:p>
          <a:p>
            <a:pPr marL="0" lvl="1" indent="0">
              <a:spcBef>
                <a:spcPts val="1600"/>
              </a:spcBef>
              <a:buNone/>
            </a:pPr>
            <a:r>
              <a:rPr lang="en-US" altLang="en-US" sz="2200" dirty="0"/>
              <a:t>Molecular data tells us that animals and fungi shared a more recent common ancestor than animals and plants</a:t>
            </a:r>
          </a:p>
          <a:p>
            <a:pPr marL="269875" lvl="2" indent="-269875"/>
            <a:r>
              <a:rPr lang="en-US" altLang="en-US" sz="2000" dirty="0"/>
              <a:t>A flagellated, unicellular protist was most likely the common ancestor of fungi and animals</a:t>
            </a:r>
          </a:p>
          <a:p>
            <a:pPr marL="269875" lvl="2" indent="-269875"/>
            <a:r>
              <a:rPr lang="en-US" altLang="en-US" sz="2000" dirty="0"/>
              <a:t>Multicellular forms evolved after animals and fungi split into two different lineages</a:t>
            </a:r>
          </a:p>
        </p:txBody>
      </p:sp>
      <p:sp>
        <p:nvSpPr>
          <p:cNvPr id="4" name="Slide Number Placeholder 3">
            <a:extLst>
              <a:ext uri="{FF2B5EF4-FFF2-40B4-BE49-F238E27FC236}">
                <a16:creationId xmlns:a16="http://schemas.microsoft.com/office/drawing/2014/main" id="{E86DA7FE-A613-4A8A-8D7B-3232570DFB8A}"/>
              </a:ext>
            </a:extLst>
          </p:cNvPr>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1382430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8333D-29BF-407C-9D1F-2AC33650653A}"/>
              </a:ext>
            </a:extLst>
          </p:cNvPr>
          <p:cNvSpPr>
            <a:spLocks noGrp="1"/>
          </p:cNvSpPr>
          <p:nvPr>
            <p:ph type="title"/>
          </p:nvPr>
        </p:nvSpPr>
        <p:spPr>
          <a:xfrm>
            <a:off x="0" y="1"/>
            <a:ext cx="9144000" cy="1128155"/>
          </a:xfrm>
        </p:spPr>
        <p:txBody>
          <a:bodyPr/>
          <a:lstStyle/>
          <a:p>
            <a:r>
              <a:rPr lang="en-US" dirty="0"/>
              <a:t>Fossils and Fungi</a:t>
            </a:r>
            <a:endParaRPr lang="en-IN" dirty="0"/>
          </a:p>
        </p:txBody>
      </p:sp>
      <p:sp>
        <p:nvSpPr>
          <p:cNvPr id="3" name="Text Placeholder 2">
            <a:extLst>
              <a:ext uri="{FF2B5EF4-FFF2-40B4-BE49-F238E27FC236}">
                <a16:creationId xmlns:a16="http://schemas.microsoft.com/office/drawing/2014/main" id="{81BAB1EA-74A6-4EE0-852D-1BB5AE87DE51}"/>
              </a:ext>
            </a:extLst>
          </p:cNvPr>
          <p:cNvSpPr>
            <a:spLocks noGrp="1"/>
          </p:cNvSpPr>
          <p:nvPr>
            <p:ph type="body" sz="quarter" idx="19"/>
          </p:nvPr>
        </p:nvSpPr>
        <p:spPr>
          <a:xfrm>
            <a:off x="641082" y="1474064"/>
            <a:ext cx="7623676" cy="3549200"/>
          </a:xfrm>
        </p:spPr>
        <p:txBody>
          <a:bodyPr/>
          <a:lstStyle/>
          <a:p>
            <a:pPr>
              <a:spcBef>
                <a:spcPts val="600"/>
              </a:spcBef>
              <a:spcAft>
                <a:spcPts val="600"/>
              </a:spcAft>
            </a:pPr>
            <a:r>
              <a:rPr lang="en-US" altLang="en-US" sz="2400" dirty="0"/>
              <a:t>Fungal anatomy doesn’t lend itself to becoming fossilized</a:t>
            </a:r>
          </a:p>
          <a:p>
            <a:pPr marL="269875" lvl="2" indent="-269875">
              <a:spcBef>
                <a:spcPts val="600"/>
              </a:spcBef>
              <a:spcAft>
                <a:spcPts val="600"/>
              </a:spcAft>
            </a:pPr>
            <a:r>
              <a:rPr lang="en-US" altLang="en-US" sz="2200" dirty="0"/>
              <a:t>It probably evolved a lot earlier than the earliest known fungal fossil dated 460 MYA</a:t>
            </a:r>
          </a:p>
          <a:p>
            <a:pPr marL="269875" lvl="2" indent="-269875">
              <a:spcBef>
                <a:spcPts val="600"/>
              </a:spcBef>
              <a:spcAft>
                <a:spcPts val="600"/>
              </a:spcAft>
            </a:pPr>
            <a:r>
              <a:rPr lang="en-US" altLang="en-US" sz="2200" dirty="0"/>
              <a:t>Mycorrhizae are evident in plant fossils</a:t>
            </a:r>
          </a:p>
          <a:p>
            <a:pPr marL="446088" lvl="3" indent="-176213">
              <a:spcBef>
                <a:spcPts val="600"/>
              </a:spcBef>
              <a:spcAft>
                <a:spcPts val="600"/>
              </a:spcAft>
            </a:pPr>
            <a:r>
              <a:rPr lang="en-US" altLang="en-US" sz="2000" dirty="0"/>
              <a:t>Fungi may have been instrumental in colonization of land by plants</a:t>
            </a:r>
          </a:p>
        </p:txBody>
      </p:sp>
      <p:sp>
        <p:nvSpPr>
          <p:cNvPr id="4" name="Slide Number Placeholder 3">
            <a:extLst>
              <a:ext uri="{FF2B5EF4-FFF2-40B4-BE49-F238E27FC236}">
                <a16:creationId xmlns:a16="http://schemas.microsoft.com/office/drawing/2014/main" id="{FF73A587-CCF3-4FB3-967D-0AF0A2863D7E}"/>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1682642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62FA4-C843-46A1-835B-A2AA943E469D}"/>
              </a:ext>
            </a:extLst>
          </p:cNvPr>
          <p:cNvSpPr>
            <a:spLocks noGrp="1"/>
          </p:cNvSpPr>
          <p:nvPr>
            <p:ph type="title"/>
          </p:nvPr>
        </p:nvSpPr>
        <p:spPr/>
        <p:txBody>
          <a:bodyPr/>
          <a:lstStyle/>
          <a:p>
            <a:r>
              <a:rPr lang="en-US" altLang="en-US" dirty="0"/>
              <a:t>Structure of Fungi</a:t>
            </a:r>
            <a:endParaRPr lang="en-IN" dirty="0"/>
          </a:p>
        </p:txBody>
      </p:sp>
      <p:sp>
        <p:nvSpPr>
          <p:cNvPr id="3" name="Text Placeholder 2">
            <a:extLst>
              <a:ext uri="{FF2B5EF4-FFF2-40B4-BE49-F238E27FC236}">
                <a16:creationId xmlns:a16="http://schemas.microsoft.com/office/drawing/2014/main" id="{930EC059-2203-4973-BD67-020CB56FBCE2}"/>
              </a:ext>
            </a:extLst>
          </p:cNvPr>
          <p:cNvSpPr>
            <a:spLocks noGrp="1"/>
          </p:cNvSpPr>
          <p:nvPr>
            <p:ph type="body" sz="quarter" idx="19"/>
          </p:nvPr>
        </p:nvSpPr>
        <p:spPr>
          <a:xfrm>
            <a:off x="529310" y="1262540"/>
            <a:ext cx="8085379" cy="4784370"/>
          </a:xfrm>
        </p:spPr>
        <p:txBody>
          <a:bodyPr>
            <a:normAutofit/>
          </a:bodyPr>
          <a:lstStyle/>
          <a:p>
            <a:pPr marL="0" lvl="1" indent="0">
              <a:lnSpc>
                <a:spcPct val="80000"/>
              </a:lnSpc>
              <a:spcBef>
                <a:spcPts val="0"/>
              </a:spcBef>
              <a:spcAft>
                <a:spcPts val="0"/>
              </a:spcAft>
              <a:buNone/>
            </a:pPr>
            <a:r>
              <a:rPr lang="en-US" sz="2200" dirty="0">
                <a:solidFill>
                  <a:prstClr val="black"/>
                </a:solidFill>
              </a:rPr>
              <a:t>Body (thallus) of most fungi is a multicellular </a:t>
            </a:r>
            <a:r>
              <a:rPr lang="en-US" sz="2200" b="1" dirty="0">
                <a:solidFill>
                  <a:srgbClr val="D90000"/>
                </a:solidFill>
              </a:rPr>
              <a:t>mycelium</a:t>
            </a:r>
            <a:r>
              <a:rPr lang="en-US" sz="2200" dirty="0">
                <a:solidFill>
                  <a:prstClr val="black"/>
                </a:solidFill>
              </a:rPr>
              <a:t> (yeasts are unicellular)</a:t>
            </a:r>
          </a:p>
          <a:p>
            <a:pPr marL="269875" lvl="2" indent="-269875">
              <a:lnSpc>
                <a:spcPct val="80000"/>
              </a:lnSpc>
              <a:spcBef>
                <a:spcPts val="1200"/>
              </a:spcBef>
              <a:spcAft>
                <a:spcPts val="0"/>
              </a:spcAft>
              <a:tabLst>
                <a:tab pos="269875" algn="l"/>
              </a:tabLst>
            </a:pPr>
            <a:r>
              <a:rPr lang="en-US" sz="2000" dirty="0">
                <a:solidFill>
                  <a:prstClr val="black"/>
                </a:solidFill>
              </a:rPr>
              <a:t>Consists of a vast network of thread-like </a:t>
            </a:r>
            <a:r>
              <a:rPr lang="en-US" sz="2000" b="1" dirty="0">
                <a:solidFill>
                  <a:srgbClr val="D90000"/>
                </a:solidFill>
              </a:rPr>
              <a:t>hyphae</a:t>
            </a:r>
          </a:p>
          <a:p>
            <a:pPr marL="539750" lvl="3" indent="-269875">
              <a:lnSpc>
                <a:spcPct val="80000"/>
              </a:lnSpc>
              <a:spcBef>
                <a:spcPts val="1200"/>
              </a:spcBef>
              <a:spcAft>
                <a:spcPts val="0"/>
              </a:spcAft>
            </a:pPr>
            <a:r>
              <a:rPr lang="en-US" sz="1800" dirty="0"/>
              <a:t>Hyphae</a:t>
            </a:r>
            <a:r>
              <a:rPr lang="en-US" sz="1800" b="1" dirty="0">
                <a:solidFill>
                  <a:srgbClr val="ACCBF9">
                    <a:lumMod val="25000"/>
                  </a:srgbClr>
                </a:solidFill>
              </a:rPr>
              <a:t> </a:t>
            </a:r>
            <a:r>
              <a:rPr lang="en-US" sz="1800" dirty="0">
                <a:solidFill>
                  <a:prstClr val="black"/>
                </a:solidFill>
              </a:rPr>
              <a:t>give the </a:t>
            </a:r>
            <a:r>
              <a:rPr lang="en-US" sz="1800" dirty="0"/>
              <a:t>mycelium</a:t>
            </a:r>
            <a:r>
              <a:rPr lang="en-US" sz="1800" dirty="0">
                <a:solidFill>
                  <a:prstClr val="black"/>
                </a:solidFill>
              </a:rPr>
              <a:t> a large surface area to maximize absorption</a:t>
            </a:r>
            <a:endParaRPr lang="en-US" sz="1800" b="1" dirty="0">
              <a:solidFill>
                <a:srgbClr val="ACCBF9">
                  <a:lumMod val="25000"/>
                </a:srgbClr>
              </a:solidFill>
            </a:endParaRPr>
          </a:p>
          <a:p>
            <a:pPr marL="269875" lvl="3" indent="-269875">
              <a:lnSpc>
                <a:spcPct val="80000"/>
              </a:lnSpc>
              <a:spcBef>
                <a:spcPts val="1200"/>
              </a:spcBef>
              <a:tabLst>
                <a:tab pos="269875" algn="l"/>
              </a:tabLst>
            </a:pPr>
            <a:r>
              <a:rPr lang="en-US" sz="2000" dirty="0"/>
              <a:t>Some fungi have</a:t>
            </a:r>
            <a:r>
              <a:rPr lang="en-US" sz="2000" b="1" dirty="0">
                <a:solidFill>
                  <a:srgbClr val="ACCBF9">
                    <a:lumMod val="25000"/>
                  </a:srgbClr>
                </a:solidFill>
              </a:rPr>
              <a:t> </a:t>
            </a:r>
            <a:r>
              <a:rPr lang="en-US" sz="2000" b="1" dirty="0">
                <a:solidFill>
                  <a:srgbClr val="D90000"/>
                </a:solidFill>
              </a:rPr>
              <a:t>septate</a:t>
            </a:r>
            <a:r>
              <a:rPr lang="en-US" sz="2000" dirty="0">
                <a:solidFill>
                  <a:prstClr val="black"/>
                </a:solidFill>
              </a:rPr>
              <a:t> hyphae</a:t>
            </a:r>
          </a:p>
          <a:p>
            <a:pPr marL="539750" lvl="4" indent="-269875">
              <a:lnSpc>
                <a:spcPct val="80000"/>
              </a:lnSpc>
              <a:spcBef>
                <a:spcPts val="600"/>
              </a:spcBef>
            </a:pPr>
            <a:r>
              <a:rPr lang="en-US" sz="1800" b="1" dirty="0">
                <a:solidFill>
                  <a:srgbClr val="D90000"/>
                </a:solidFill>
              </a:rPr>
              <a:t>Septa</a:t>
            </a:r>
            <a:r>
              <a:rPr lang="en-US" sz="1800" dirty="0">
                <a:solidFill>
                  <a:prstClr val="black"/>
                </a:solidFill>
              </a:rPr>
              <a:t>, are porous cross walls that partition hyphae into individual cells</a:t>
            </a:r>
          </a:p>
          <a:p>
            <a:pPr marL="539750" lvl="4" indent="-269875">
              <a:lnSpc>
                <a:spcPct val="80000"/>
              </a:lnSpc>
              <a:spcBef>
                <a:spcPts val="600"/>
              </a:spcBef>
            </a:pPr>
            <a:r>
              <a:rPr lang="en-US" sz="1800" dirty="0">
                <a:solidFill>
                  <a:prstClr val="black"/>
                </a:solidFill>
              </a:rPr>
              <a:t>Pores allow cytoplasm and other materials to pass easily from cell to cell</a:t>
            </a:r>
          </a:p>
          <a:p>
            <a:pPr marL="269875" lvl="3" indent="-269875">
              <a:lnSpc>
                <a:spcPct val="80000"/>
              </a:lnSpc>
              <a:spcBef>
                <a:spcPts val="1200"/>
              </a:spcBef>
              <a:spcAft>
                <a:spcPts val="0"/>
              </a:spcAft>
              <a:tabLst>
                <a:tab pos="269875" algn="l"/>
              </a:tabLst>
            </a:pPr>
            <a:r>
              <a:rPr lang="en-US" sz="2000" dirty="0"/>
              <a:t>Some fungi have aseptate</a:t>
            </a:r>
            <a:r>
              <a:rPr lang="en-US" sz="2000" dirty="0">
                <a:solidFill>
                  <a:prstClr val="black"/>
                </a:solidFill>
              </a:rPr>
              <a:t> hyphae</a:t>
            </a:r>
          </a:p>
          <a:p>
            <a:pPr marL="539750" lvl="4" indent="-269875">
              <a:lnSpc>
                <a:spcPct val="80000"/>
              </a:lnSpc>
              <a:spcBef>
                <a:spcPts val="1200"/>
              </a:spcBef>
            </a:pPr>
            <a:r>
              <a:rPr lang="en-US" sz="1800" dirty="0">
                <a:solidFill>
                  <a:prstClr val="black"/>
                </a:solidFill>
              </a:rPr>
              <a:t>Hyphae are multinucleated because they are not partitioned into cells </a:t>
            </a:r>
          </a:p>
          <a:p>
            <a:pPr marL="0" lvl="1" indent="0">
              <a:lnSpc>
                <a:spcPct val="80000"/>
              </a:lnSpc>
              <a:spcBef>
                <a:spcPts val="1200"/>
              </a:spcBef>
              <a:spcAft>
                <a:spcPts val="0"/>
              </a:spcAft>
              <a:buNone/>
            </a:pPr>
            <a:r>
              <a:rPr lang="en-US" sz="2200" dirty="0">
                <a:solidFill>
                  <a:prstClr val="black"/>
                </a:solidFill>
              </a:rPr>
              <a:t>Fungal cell walls composed of </a:t>
            </a:r>
            <a:r>
              <a:rPr lang="en-US" sz="2200" b="1" dirty="0">
                <a:solidFill>
                  <a:srgbClr val="D90000"/>
                </a:solidFill>
              </a:rPr>
              <a:t>chitin</a:t>
            </a:r>
            <a:r>
              <a:rPr lang="en-US" sz="2200" dirty="0">
                <a:solidFill>
                  <a:prstClr val="black"/>
                </a:solidFill>
              </a:rPr>
              <a:t>, like insect exoskeletons</a:t>
            </a:r>
          </a:p>
          <a:p>
            <a:pPr marL="0" lvl="1" indent="0">
              <a:lnSpc>
                <a:spcPct val="80000"/>
              </a:lnSpc>
              <a:spcBef>
                <a:spcPts val="1200"/>
              </a:spcBef>
              <a:buNone/>
            </a:pPr>
            <a:r>
              <a:rPr lang="en-US" sz="2200" dirty="0">
                <a:solidFill>
                  <a:prstClr val="black"/>
                </a:solidFill>
              </a:rPr>
              <a:t>Excess food is stored as glycogen as in animals</a:t>
            </a:r>
          </a:p>
        </p:txBody>
      </p:sp>
      <p:sp>
        <p:nvSpPr>
          <p:cNvPr id="4" name="Slide Number Placeholder 3">
            <a:extLst>
              <a:ext uri="{FF2B5EF4-FFF2-40B4-BE49-F238E27FC236}">
                <a16:creationId xmlns:a16="http://schemas.microsoft.com/office/drawing/2014/main" id="{EED6130D-87ED-4ABC-8C17-CF0B24E8B4DA}"/>
              </a:ext>
            </a:extLst>
          </p:cNvPr>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1555451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B1A4B-6E6A-4CF0-80DB-C8B64E773B55}"/>
              </a:ext>
            </a:extLst>
          </p:cNvPr>
          <p:cNvSpPr>
            <a:spLocks noGrp="1"/>
          </p:cNvSpPr>
          <p:nvPr>
            <p:ph type="title"/>
          </p:nvPr>
        </p:nvSpPr>
        <p:spPr/>
        <p:txBody>
          <a:bodyPr/>
          <a:lstStyle/>
          <a:p>
            <a:r>
              <a:rPr lang="en-US" altLang="en-US" dirty="0"/>
              <a:t>Mycelia and Hyphae of Fungi</a:t>
            </a:r>
            <a:endParaRPr lang="en-IN" dirty="0"/>
          </a:p>
        </p:txBody>
      </p:sp>
      <p:pic>
        <p:nvPicPr>
          <p:cNvPr id="8" name="Picture 2" descr="Example of fungal mycelium made from hyphae growing as a white mass on strawberries. Individual hyphal filaments can be either septate or aseptate">
            <a:extLst>
              <a:ext uri="{FF2B5EF4-FFF2-40B4-BE49-F238E27FC236}">
                <a16:creationId xmlns:a16="http://schemas.microsoft.com/office/drawing/2014/main" id="{3D9B257A-DCCA-4D76-B7E1-E282892C557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776"/>
          <a:stretch/>
        </p:blipFill>
        <p:spPr>
          <a:xfrm>
            <a:off x="328620" y="1456111"/>
            <a:ext cx="8485632" cy="2360750"/>
          </a:xfrm>
          <a:prstGeom prst="rect">
            <a:avLst/>
          </a:prstGeom>
        </p:spPr>
      </p:pic>
      <p:sp>
        <p:nvSpPr>
          <p:cNvPr id="5" name="Text Placeholder 3">
            <a:extLst>
              <a:ext uri="{FF2B5EF4-FFF2-40B4-BE49-F238E27FC236}">
                <a16:creationId xmlns:a16="http://schemas.microsoft.com/office/drawing/2014/main" id="{40DD274B-AA7A-48D2-AFF1-67FE103519D7}"/>
              </a:ext>
            </a:extLst>
          </p:cNvPr>
          <p:cNvSpPr>
            <a:spLocks noGrp="1"/>
          </p:cNvSpPr>
          <p:nvPr>
            <p:ph type="body" sz="quarter" idx="18"/>
          </p:nvPr>
        </p:nvSpPr>
        <p:spPr>
          <a:xfrm>
            <a:off x="3876633" y="3872381"/>
            <a:ext cx="1389603" cy="314325"/>
          </a:xfrm>
        </p:spPr>
        <p:txBody>
          <a:bodyPr>
            <a:normAutofit/>
          </a:bodyPr>
          <a:lstStyle/>
          <a:p>
            <a:r>
              <a:rPr lang="en-US" sz="1200" dirty="0"/>
              <a:t>Figure 22.2</a:t>
            </a:r>
          </a:p>
        </p:txBody>
      </p:sp>
      <p:sp>
        <p:nvSpPr>
          <p:cNvPr id="7" name="Text Placeholder 5">
            <a:extLst>
              <a:ext uri="{FF2B5EF4-FFF2-40B4-BE49-F238E27FC236}">
                <a16:creationId xmlns:a16="http://schemas.microsoft.com/office/drawing/2014/main" id="{794A138A-B5BF-4448-863B-9D0B80E99627}"/>
              </a:ext>
            </a:extLst>
          </p:cNvPr>
          <p:cNvSpPr>
            <a:spLocks noGrp="1"/>
          </p:cNvSpPr>
          <p:nvPr>
            <p:ph type="body" sz="quarter" idx="21"/>
          </p:nvPr>
        </p:nvSpPr>
        <p:spPr/>
        <p:txBody>
          <a:bodyPr/>
          <a:lstStyle/>
          <a:p>
            <a:pPr lvl="0"/>
            <a:r>
              <a:rPr lang="en-US" sz="800" dirty="0"/>
              <a:t>(a): Matt Meadows/</a:t>
            </a:r>
            <a:r>
              <a:rPr lang="en-US" sz="800" dirty="0" err="1"/>
              <a:t>Photolibrary</a:t>
            </a:r>
            <a:r>
              <a:rPr lang="en-US" sz="800" dirty="0"/>
              <a:t>/Getty Images; (b)</a:t>
            </a:r>
            <a:r>
              <a:rPr lang="en-US" sz="800" dirty="0">
                <a:sym typeface="Wingdings" panose="05000000000000000000" pitchFamily="2" charset="2"/>
              </a:rPr>
              <a:t>: Andrew </a:t>
            </a:r>
            <a:r>
              <a:rPr lang="en-US" sz="800" dirty="0" err="1">
                <a:sym typeface="Wingdings" panose="05000000000000000000" pitchFamily="2" charset="2"/>
              </a:rPr>
              <a:t>Syred</a:t>
            </a:r>
            <a:r>
              <a:rPr lang="en-US" sz="800" dirty="0">
                <a:sym typeface="Wingdings" panose="05000000000000000000" pitchFamily="2" charset="2"/>
              </a:rPr>
              <a:t>/Science Source</a:t>
            </a:r>
            <a:endParaRPr lang="en-US" sz="800" dirty="0"/>
          </a:p>
        </p:txBody>
      </p:sp>
      <p:sp>
        <p:nvSpPr>
          <p:cNvPr id="4" name="Slide Number Placeholder 6">
            <a:extLst>
              <a:ext uri="{FF2B5EF4-FFF2-40B4-BE49-F238E27FC236}">
                <a16:creationId xmlns:a16="http://schemas.microsoft.com/office/drawing/2014/main" id="{83C2B3D4-2A72-4832-BD9B-AE96AA3A5A35}"/>
              </a:ext>
            </a:extLst>
          </p:cNvPr>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1897509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DA5A7-7219-4CC7-956E-E9644DF7298E}"/>
              </a:ext>
            </a:extLst>
          </p:cNvPr>
          <p:cNvSpPr>
            <a:spLocks noGrp="1"/>
          </p:cNvSpPr>
          <p:nvPr>
            <p:ph type="title"/>
          </p:nvPr>
        </p:nvSpPr>
        <p:spPr/>
        <p:txBody>
          <a:bodyPr/>
          <a:lstStyle/>
          <a:p>
            <a:r>
              <a:rPr lang="en-US" altLang="en-US" dirty="0"/>
              <a:t>Reproduction of Fungi</a:t>
            </a:r>
            <a:endParaRPr lang="en-IN" dirty="0"/>
          </a:p>
        </p:txBody>
      </p:sp>
      <p:sp>
        <p:nvSpPr>
          <p:cNvPr id="3" name="Text Placeholder 3">
            <a:extLst>
              <a:ext uri="{FF2B5EF4-FFF2-40B4-BE49-F238E27FC236}">
                <a16:creationId xmlns:a16="http://schemas.microsoft.com/office/drawing/2014/main" id="{14129508-6601-49C8-8482-377A25679EE8}"/>
              </a:ext>
            </a:extLst>
          </p:cNvPr>
          <p:cNvSpPr>
            <a:spLocks noGrp="1"/>
          </p:cNvSpPr>
          <p:nvPr>
            <p:ph type="body" sz="quarter" idx="19"/>
          </p:nvPr>
        </p:nvSpPr>
        <p:spPr>
          <a:xfrm>
            <a:off x="842963" y="1177180"/>
            <a:ext cx="7623676" cy="3007958"/>
          </a:xfrm>
        </p:spPr>
        <p:txBody>
          <a:bodyPr/>
          <a:lstStyle/>
          <a:p>
            <a:pPr marL="269875" lvl="2" indent="-269875">
              <a:spcBef>
                <a:spcPts val="1200"/>
              </a:spcBef>
              <a:buNone/>
              <a:tabLst>
                <a:tab pos="269875" algn="l"/>
              </a:tabLst>
            </a:pPr>
            <a:r>
              <a:rPr lang="en-US" sz="2400" dirty="0">
                <a:solidFill>
                  <a:prstClr val="black"/>
                </a:solidFill>
              </a:rPr>
              <a:t>Both sexual and asexual reproduction occur in fungi</a:t>
            </a:r>
          </a:p>
          <a:p>
            <a:pPr marL="269875" lvl="3" indent="-269875">
              <a:spcBef>
                <a:spcPts val="1200"/>
              </a:spcBef>
              <a:tabLst>
                <a:tab pos="269875" algn="l"/>
              </a:tabLst>
            </a:pPr>
            <a:r>
              <a:rPr lang="en-US" sz="2200" dirty="0">
                <a:solidFill>
                  <a:prstClr val="black"/>
                </a:solidFill>
              </a:rPr>
              <a:t>Sexual reproduction involves three stages:</a:t>
            </a:r>
          </a:p>
          <a:p>
            <a:pPr marL="539750" lvl="4" indent="-269875">
              <a:spcBef>
                <a:spcPts val="1200"/>
              </a:spcBef>
            </a:pPr>
            <a:r>
              <a:rPr lang="en-US" sz="2000" dirty="0">
                <a:solidFill>
                  <a:prstClr val="black"/>
                </a:solidFill>
              </a:rPr>
              <a:t>Haploid Hyphae</a:t>
            </a:r>
          </a:p>
          <a:p>
            <a:pPr marL="539750" lvl="4" indent="-269875">
              <a:spcBef>
                <a:spcPts val="1200"/>
              </a:spcBef>
            </a:pPr>
            <a:r>
              <a:rPr lang="en-US" sz="2000" dirty="0">
                <a:solidFill>
                  <a:prstClr val="black"/>
                </a:solidFill>
              </a:rPr>
              <a:t>Dikaryotic Stage (two nuclei)</a:t>
            </a:r>
          </a:p>
          <a:p>
            <a:pPr marL="539750" lvl="4" indent="-269875">
              <a:spcBef>
                <a:spcPts val="1200"/>
              </a:spcBef>
            </a:pPr>
            <a:r>
              <a:rPr lang="en-US" sz="2000" dirty="0">
                <a:solidFill>
                  <a:prstClr val="black"/>
                </a:solidFill>
              </a:rPr>
              <a:t>Diploid Zygote</a:t>
            </a:r>
          </a:p>
        </p:txBody>
      </p:sp>
      <p:pic>
        <p:nvPicPr>
          <p:cNvPr id="5" name="Picture 2" descr="Haploid hyphae fuse to form dikaryotic hyphae which then form hyphae with diploid zygotes when the nuclei fuse. Meiosis then leads to haploid hyphae.">
            <a:extLst>
              <a:ext uri="{FF2B5EF4-FFF2-40B4-BE49-F238E27FC236}">
                <a16:creationId xmlns:a16="http://schemas.microsoft.com/office/drawing/2014/main" id="{A271FC4D-45AE-4937-8CE2-B8F4C27FDB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270"/>
          <a:stretch/>
        </p:blipFill>
        <p:spPr bwMode="auto">
          <a:xfrm>
            <a:off x="771095" y="4414104"/>
            <a:ext cx="7400632" cy="1979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4">
            <a:extLst>
              <a:ext uri="{FF2B5EF4-FFF2-40B4-BE49-F238E27FC236}">
                <a16:creationId xmlns:a16="http://schemas.microsoft.com/office/drawing/2014/main" id="{0DE92640-0326-4C1D-BB68-BA2519DEDA60}"/>
              </a:ext>
            </a:extLst>
          </p:cNvPr>
          <p:cNvSpPr>
            <a:spLocks noGrp="1"/>
          </p:cNvSpPr>
          <p:nvPr>
            <p:ph type="sldNum" sz="quarter" idx="4"/>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3355406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E40D8-8A72-4886-8EC1-F607ABAFC964}"/>
              </a:ext>
            </a:extLst>
          </p:cNvPr>
          <p:cNvSpPr>
            <a:spLocks noGrp="1"/>
          </p:cNvSpPr>
          <p:nvPr>
            <p:ph type="title"/>
          </p:nvPr>
        </p:nvSpPr>
        <p:spPr>
          <a:xfrm>
            <a:off x="0" y="1"/>
            <a:ext cx="9144000" cy="1068778"/>
          </a:xfrm>
        </p:spPr>
        <p:txBody>
          <a:bodyPr/>
          <a:lstStyle/>
          <a:p>
            <a:r>
              <a:rPr lang="en-US" altLang="en-US" dirty="0"/>
              <a:t>Sexual Reproduction of Fungi</a:t>
            </a:r>
            <a:endParaRPr lang="en-IN" dirty="0"/>
          </a:p>
        </p:txBody>
      </p:sp>
      <p:sp>
        <p:nvSpPr>
          <p:cNvPr id="3" name="Text Placeholder 2">
            <a:extLst>
              <a:ext uri="{FF2B5EF4-FFF2-40B4-BE49-F238E27FC236}">
                <a16:creationId xmlns:a16="http://schemas.microsoft.com/office/drawing/2014/main" id="{8C681555-DC6D-41D1-BD68-3C126CD9113B}"/>
              </a:ext>
            </a:extLst>
          </p:cNvPr>
          <p:cNvSpPr>
            <a:spLocks noGrp="1"/>
          </p:cNvSpPr>
          <p:nvPr>
            <p:ph type="body" sz="quarter" idx="19"/>
          </p:nvPr>
        </p:nvSpPr>
        <p:spPr>
          <a:xfrm>
            <a:off x="486702" y="1200929"/>
            <a:ext cx="7820391" cy="3810457"/>
          </a:xfrm>
        </p:spPr>
        <p:txBody>
          <a:bodyPr/>
          <a:lstStyle/>
          <a:p>
            <a:pPr lvl="0">
              <a:spcBef>
                <a:spcPts val="600"/>
              </a:spcBef>
              <a:spcAft>
                <a:spcPts val="600"/>
              </a:spcAft>
            </a:pPr>
            <a:r>
              <a:rPr lang="en-US" sz="2800" dirty="0">
                <a:solidFill>
                  <a:prstClr val="black"/>
                </a:solidFill>
              </a:rPr>
              <a:t>During sexual reproduction, hyphae from two different mating types fuse</a:t>
            </a:r>
          </a:p>
          <a:p>
            <a:pPr marL="269875" lvl="2" indent="-269875">
              <a:spcBef>
                <a:spcPts val="600"/>
              </a:spcBef>
              <a:spcAft>
                <a:spcPts val="600"/>
              </a:spcAft>
            </a:pPr>
            <a:r>
              <a:rPr lang="en-US" sz="2400" dirty="0">
                <a:solidFill>
                  <a:prstClr val="black"/>
                </a:solidFill>
              </a:rPr>
              <a:t>Hyphae that contain paired haploid nuclei are said to be </a:t>
            </a:r>
            <a:r>
              <a:rPr lang="en-US" sz="2400" b="1" dirty="0">
                <a:solidFill>
                  <a:srgbClr val="D90000"/>
                </a:solidFill>
              </a:rPr>
              <a:t>dikaryotic</a:t>
            </a:r>
            <a:endParaRPr lang="en-US" sz="2400" dirty="0">
              <a:solidFill>
                <a:srgbClr val="D90000"/>
              </a:solidFill>
            </a:endParaRPr>
          </a:p>
          <a:p>
            <a:pPr marL="269875" lvl="2" indent="-269875">
              <a:spcBef>
                <a:spcPts val="600"/>
              </a:spcBef>
              <a:spcAft>
                <a:spcPts val="600"/>
              </a:spcAft>
            </a:pPr>
            <a:r>
              <a:rPr lang="en-US" sz="2400" dirty="0">
                <a:solidFill>
                  <a:prstClr val="black"/>
                </a:solidFill>
              </a:rPr>
              <a:t>Nuclear fusion produces a diploid nucleus, which produces haploid </a:t>
            </a:r>
            <a:r>
              <a:rPr lang="en-US" sz="2400" b="1" dirty="0">
                <a:solidFill>
                  <a:srgbClr val="D90000"/>
                </a:solidFill>
              </a:rPr>
              <a:t>spores</a:t>
            </a:r>
            <a:r>
              <a:rPr lang="en-US" sz="2400" dirty="0">
                <a:solidFill>
                  <a:prstClr val="black"/>
                </a:solidFill>
              </a:rPr>
              <a:t> by meiosis</a:t>
            </a:r>
          </a:p>
          <a:p>
            <a:pPr marL="269875" lvl="2" indent="-269875">
              <a:spcBef>
                <a:spcPts val="600"/>
              </a:spcBef>
              <a:spcAft>
                <a:spcPts val="600"/>
              </a:spcAft>
            </a:pPr>
            <a:r>
              <a:rPr lang="en-US" sz="2400" dirty="0">
                <a:solidFill>
                  <a:prstClr val="black"/>
                </a:solidFill>
              </a:rPr>
              <a:t>Spores germinate directly into haploid hyphae without embryological development</a:t>
            </a:r>
          </a:p>
        </p:txBody>
      </p:sp>
      <p:sp>
        <p:nvSpPr>
          <p:cNvPr id="4" name="Slide Number Placeholder 3">
            <a:extLst>
              <a:ext uri="{FF2B5EF4-FFF2-40B4-BE49-F238E27FC236}">
                <a16:creationId xmlns:a16="http://schemas.microsoft.com/office/drawing/2014/main" id="{B58A480C-7789-4D06-9BEC-A25B2AD62361}"/>
              </a:ext>
            </a:extLst>
          </p:cNvPr>
          <p:cNvSpPr>
            <a:spLocks noGrp="1"/>
          </p:cNvSpPr>
          <p:nvPr>
            <p:ph type="sldNum" sz="quarter" idx="4"/>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1659934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8C8586C-8315-4804-B3D3-1975BDA33814}"/>
              </a:ext>
            </a:extLst>
          </p:cNvPr>
          <p:cNvSpPr>
            <a:spLocks noGrp="1"/>
          </p:cNvSpPr>
          <p:nvPr>
            <p:ph type="title"/>
          </p:nvPr>
        </p:nvSpPr>
        <p:spPr/>
        <p:txBody>
          <a:bodyPr/>
          <a:lstStyle/>
          <a:p>
            <a:r>
              <a:rPr lang="en-US" altLang="en-US" dirty="0"/>
              <a:t>Terrestrial Fungi</a:t>
            </a:r>
            <a:endParaRPr lang="en-IN" dirty="0"/>
          </a:p>
        </p:txBody>
      </p:sp>
      <p:sp>
        <p:nvSpPr>
          <p:cNvPr id="6" name="Text Placeholder 2">
            <a:extLst>
              <a:ext uri="{FF2B5EF4-FFF2-40B4-BE49-F238E27FC236}">
                <a16:creationId xmlns:a16="http://schemas.microsoft.com/office/drawing/2014/main" id="{25D44D71-A880-425F-A736-EE83172DFA71}"/>
              </a:ext>
            </a:extLst>
          </p:cNvPr>
          <p:cNvSpPr>
            <a:spLocks noGrp="1"/>
          </p:cNvSpPr>
          <p:nvPr>
            <p:ph type="body" sz="quarter" idx="19"/>
          </p:nvPr>
        </p:nvSpPr>
        <p:spPr>
          <a:xfrm>
            <a:off x="950913" y="1165456"/>
            <a:ext cx="7623676" cy="1483958"/>
          </a:xfrm>
        </p:spPr>
        <p:txBody>
          <a:bodyPr>
            <a:normAutofit/>
          </a:bodyPr>
          <a:lstStyle/>
          <a:p>
            <a:pPr lvl="0">
              <a:lnSpc>
                <a:spcPct val="80000"/>
              </a:lnSpc>
              <a:spcAft>
                <a:spcPts val="1000"/>
              </a:spcAft>
            </a:pPr>
            <a:r>
              <a:rPr lang="en-US" sz="2400" dirty="0">
                <a:solidFill>
                  <a:prstClr val="black"/>
                </a:solidFill>
              </a:rPr>
              <a:t>Terrestrial fungi usually produce nonmotile </a:t>
            </a:r>
            <a:r>
              <a:rPr lang="en-US" sz="2400" dirty="0"/>
              <a:t>spores:</a:t>
            </a:r>
          </a:p>
          <a:p>
            <a:pPr marL="363538" lvl="2" indent="-363538">
              <a:lnSpc>
                <a:spcPct val="80000"/>
              </a:lnSpc>
              <a:spcBef>
                <a:spcPts val="0"/>
              </a:spcBef>
            </a:pPr>
            <a:r>
              <a:rPr lang="en-US" sz="2200" dirty="0">
                <a:solidFill>
                  <a:prstClr val="black"/>
                </a:solidFill>
              </a:rPr>
              <a:t>Reproductive cell that develops into a new organism without the need to fuse with another reproductive cell</a:t>
            </a:r>
          </a:p>
        </p:txBody>
      </p:sp>
      <p:sp>
        <p:nvSpPr>
          <p:cNvPr id="7" name="Text Placeholder 3">
            <a:extLst>
              <a:ext uri="{FF2B5EF4-FFF2-40B4-BE49-F238E27FC236}">
                <a16:creationId xmlns:a16="http://schemas.microsoft.com/office/drawing/2014/main" id="{9AE31D41-2BF2-4672-BAD2-93E22EF10CE5}"/>
              </a:ext>
            </a:extLst>
          </p:cNvPr>
          <p:cNvSpPr>
            <a:spLocks noGrp="1"/>
          </p:cNvSpPr>
          <p:nvPr>
            <p:ph type="body" sz="quarter" idx="20"/>
          </p:nvPr>
        </p:nvSpPr>
        <p:spPr>
          <a:xfrm>
            <a:off x="950913" y="2473568"/>
            <a:ext cx="7515726" cy="3741273"/>
          </a:xfrm>
        </p:spPr>
        <p:txBody>
          <a:bodyPr/>
          <a:lstStyle/>
          <a:p>
            <a:pPr>
              <a:lnSpc>
                <a:spcPct val="80000"/>
              </a:lnSpc>
              <a:spcAft>
                <a:spcPts val="1000"/>
              </a:spcAft>
            </a:pPr>
            <a:r>
              <a:rPr lang="en-US" sz="2400" dirty="0">
                <a:solidFill>
                  <a:prstClr val="black"/>
                </a:solidFill>
              </a:rPr>
              <a:t>Asexual reproduction usually involves the production of windblown spores</a:t>
            </a:r>
          </a:p>
          <a:p>
            <a:pPr lvl="1">
              <a:lnSpc>
                <a:spcPct val="80000"/>
              </a:lnSpc>
              <a:spcBef>
                <a:spcPts val="0"/>
              </a:spcBef>
              <a:spcAft>
                <a:spcPts val="1000"/>
              </a:spcAft>
            </a:pPr>
            <a:r>
              <a:rPr lang="en-US" sz="2200" dirty="0">
                <a:solidFill>
                  <a:prstClr val="black"/>
                </a:solidFill>
              </a:rPr>
              <a:t>Large mushroom can produce billions of spores in a few days</a:t>
            </a:r>
          </a:p>
          <a:p>
            <a:pPr lvl="1">
              <a:lnSpc>
                <a:spcPct val="80000"/>
              </a:lnSpc>
              <a:spcBef>
                <a:spcPts val="0"/>
              </a:spcBef>
              <a:spcAft>
                <a:spcPts val="1000"/>
              </a:spcAft>
            </a:pPr>
            <a:r>
              <a:rPr lang="en-US" sz="2200" dirty="0">
                <a:solidFill>
                  <a:prstClr val="black"/>
                </a:solidFill>
              </a:rPr>
              <a:t>When a spore lands on an appropriate food source it germinates and grows</a:t>
            </a:r>
          </a:p>
          <a:p>
            <a:pPr>
              <a:lnSpc>
                <a:spcPct val="80000"/>
              </a:lnSpc>
              <a:spcAft>
                <a:spcPts val="1000"/>
              </a:spcAft>
            </a:pPr>
            <a:r>
              <a:rPr lang="en-US" sz="2400" dirty="0">
                <a:solidFill>
                  <a:prstClr val="black"/>
                </a:solidFill>
              </a:rPr>
              <a:t>Unicellular yeasts reproduce asexually by </a:t>
            </a:r>
            <a:r>
              <a:rPr lang="en-US" sz="2400" b="1" dirty="0">
                <a:solidFill>
                  <a:srgbClr val="D90000"/>
                </a:solidFill>
              </a:rPr>
              <a:t>budding</a:t>
            </a:r>
            <a:endParaRPr lang="en-US" sz="2400" dirty="0">
              <a:solidFill>
                <a:srgbClr val="D90000"/>
              </a:solidFill>
            </a:endParaRPr>
          </a:p>
          <a:p>
            <a:pPr marL="363538" lvl="2" indent="-363538">
              <a:lnSpc>
                <a:spcPct val="80000"/>
              </a:lnSpc>
              <a:spcBef>
                <a:spcPts val="0"/>
              </a:spcBef>
            </a:pPr>
            <a:r>
              <a:rPr lang="en-US" sz="2200" dirty="0">
                <a:solidFill>
                  <a:prstClr val="black"/>
                </a:solidFill>
              </a:rPr>
              <a:t>Small cell forms from a parent cell and eventually is pinched off</a:t>
            </a:r>
          </a:p>
        </p:txBody>
      </p:sp>
      <p:sp>
        <p:nvSpPr>
          <p:cNvPr id="4" name="Slide Number Placeholder 4">
            <a:extLst>
              <a:ext uri="{FF2B5EF4-FFF2-40B4-BE49-F238E27FC236}">
                <a16:creationId xmlns:a16="http://schemas.microsoft.com/office/drawing/2014/main" id="{9CCD5CC1-9BFF-408A-9992-2110287DDA9B}"/>
              </a:ext>
            </a:extLst>
          </p:cNvPr>
          <p:cNvSpPr>
            <a:spLocks noGrp="1"/>
          </p:cNvSpPr>
          <p:nvPr>
            <p:ph type="sldNum" sz="quarter" idx="4"/>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3295962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10216-9E38-499A-A73D-60EEF7B35ADF}"/>
              </a:ext>
            </a:extLst>
          </p:cNvPr>
          <p:cNvSpPr>
            <a:spLocks noGrp="1"/>
          </p:cNvSpPr>
          <p:nvPr>
            <p:ph type="title"/>
          </p:nvPr>
        </p:nvSpPr>
        <p:spPr/>
        <p:txBody>
          <a:bodyPr/>
          <a:lstStyle/>
          <a:p>
            <a:r>
              <a:rPr lang="en-US" altLang="en-US" dirty="0"/>
              <a:t>22.2 Diversity of Fungi</a:t>
            </a:r>
            <a:endParaRPr lang="en-IN" dirty="0"/>
          </a:p>
        </p:txBody>
      </p:sp>
      <p:sp>
        <p:nvSpPr>
          <p:cNvPr id="3" name="Text Placeholder 2">
            <a:extLst>
              <a:ext uri="{FF2B5EF4-FFF2-40B4-BE49-F238E27FC236}">
                <a16:creationId xmlns:a16="http://schemas.microsoft.com/office/drawing/2014/main" id="{BD6AB567-E43F-4E2E-A4E3-55B3363EB9A5}"/>
              </a:ext>
            </a:extLst>
          </p:cNvPr>
          <p:cNvSpPr>
            <a:spLocks noGrp="1"/>
          </p:cNvSpPr>
          <p:nvPr>
            <p:ph type="body" sz="quarter" idx="19"/>
          </p:nvPr>
        </p:nvSpPr>
        <p:spPr>
          <a:xfrm>
            <a:off x="614912" y="999025"/>
            <a:ext cx="7914175" cy="5458082"/>
          </a:xfrm>
        </p:spPr>
        <p:txBody>
          <a:bodyPr>
            <a:normAutofit fontScale="77500" lnSpcReduction="20000"/>
          </a:bodyPr>
          <a:lstStyle/>
          <a:p>
            <a:pPr>
              <a:lnSpc>
                <a:spcPct val="120000"/>
              </a:lnSpc>
              <a:spcBef>
                <a:spcPts val="600"/>
              </a:spcBef>
              <a:spcAft>
                <a:spcPts val="600"/>
              </a:spcAft>
            </a:pPr>
            <a:r>
              <a:rPr lang="en-US" sz="3100" dirty="0"/>
              <a:t>In 1969, R. H. Whittaker classified fungi as a separate group from protists, plants, animals, and photosynthetic organisms</a:t>
            </a:r>
          </a:p>
          <a:p>
            <a:pPr marL="269875" lvl="2" indent="-269875">
              <a:lnSpc>
                <a:spcPct val="120000"/>
              </a:lnSpc>
              <a:spcBef>
                <a:spcPts val="600"/>
              </a:spcBef>
              <a:spcAft>
                <a:spcPts val="600"/>
              </a:spcAft>
            </a:pPr>
            <a:r>
              <a:rPr lang="en-US" sz="2800" dirty="0"/>
              <a:t>His reasoning was that fungi are the only type of multicellular organism to be saprotrophic</a:t>
            </a:r>
          </a:p>
          <a:p>
            <a:pPr marL="0" lvl="1" indent="0">
              <a:lnSpc>
                <a:spcPct val="120000"/>
              </a:lnSpc>
              <a:spcBef>
                <a:spcPts val="600"/>
              </a:spcBef>
              <a:spcAft>
                <a:spcPts val="600"/>
              </a:spcAft>
              <a:buNone/>
            </a:pPr>
            <a:r>
              <a:rPr lang="en-US" sz="3100" dirty="0"/>
              <a:t>Currently, fungi are thought to be the closest multicellular relative of animals</a:t>
            </a:r>
          </a:p>
          <a:p>
            <a:pPr marL="269875" lvl="2" indent="-269875">
              <a:lnSpc>
                <a:spcPct val="120000"/>
              </a:lnSpc>
              <a:spcBef>
                <a:spcPts val="600"/>
              </a:spcBef>
              <a:spcAft>
                <a:spcPts val="600"/>
              </a:spcAft>
            </a:pPr>
            <a:r>
              <a:rPr lang="en-US" sz="2800" dirty="0"/>
              <a:t>Fungi and animals classified in supergroup </a:t>
            </a:r>
            <a:r>
              <a:rPr lang="en-US" sz="2800" dirty="0" err="1"/>
              <a:t>Opisthokonta</a:t>
            </a:r>
            <a:endParaRPr lang="en-US" sz="2800" dirty="0"/>
          </a:p>
          <a:p>
            <a:pPr marL="0" lvl="1" indent="0">
              <a:lnSpc>
                <a:spcPct val="120000"/>
              </a:lnSpc>
              <a:spcBef>
                <a:spcPts val="600"/>
              </a:spcBef>
              <a:spcAft>
                <a:spcPts val="600"/>
              </a:spcAft>
              <a:buNone/>
            </a:pPr>
            <a:r>
              <a:rPr lang="en-US" sz="3100" dirty="0"/>
              <a:t>Phylogenetic relationships among fungi have been the cause of much debate</a:t>
            </a:r>
          </a:p>
          <a:p>
            <a:pPr marL="269875" lvl="2" indent="-269875">
              <a:lnSpc>
                <a:spcPct val="120000"/>
              </a:lnSpc>
              <a:spcBef>
                <a:spcPts val="600"/>
              </a:spcBef>
              <a:spcAft>
                <a:spcPts val="600"/>
              </a:spcAft>
            </a:pPr>
            <a:r>
              <a:rPr lang="en-US" sz="2800" dirty="0"/>
              <a:t>Understanding of fungal phylogeny is going through many revisions based on molecular sequence data</a:t>
            </a:r>
          </a:p>
        </p:txBody>
      </p:sp>
      <p:sp>
        <p:nvSpPr>
          <p:cNvPr id="4" name="Slide Number Placeholder 3">
            <a:extLst>
              <a:ext uri="{FF2B5EF4-FFF2-40B4-BE49-F238E27FC236}">
                <a16:creationId xmlns:a16="http://schemas.microsoft.com/office/drawing/2014/main" id="{2C91DC34-7F7C-46AB-BEEF-103E49D3DCDE}"/>
              </a:ext>
            </a:extLst>
          </p:cNvPr>
          <p:cNvSpPr>
            <a:spLocks noGrp="1"/>
          </p:cNvSpPr>
          <p:nvPr>
            <p:ph type="sldNum" sz="quarter" idx="4"/>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3079519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00685-B695-4ECD-A106-4B2A31756FF4}"/>
              </a:ext>
            </a:extLst>
          </p:cNvPr>
          <p:cNvSpPr>
            <a:spLocks noGrp="1"/>
          </p:cNvSpPr>
          <p:nvPr>
            <p:ph type="title"/>
          </p:nvPr>
        </p:nvSpPr>
        <p:spPr>
          <a:xfrm>
            <a:off x="0" y="2"/>
            <a:ext cx="9144000" cy="835854"/>
          </a:xfrm>
        </p:spPr>
        <p:txBody>
          <a:bodyPr/>
          <a:lstStyle/>
          <a:p>
            <a:r>
              <a:rPr lang="en-US" dirty="0"/>
              <a:t>Features of the Fungi Phyla</a:t>
            </a:r>
            <a:endParaRPr lang="en-IN" dirty="0"/>
          </a:p>
        </p:txBody>
      </p:sp>
      <p:sp>
        <p:nvSpPr>
          <p:cNvPr id="5" name="Text Placeholder 2">
            <a:extLst>
              <a:ext uri="{FF2B5EF4-FFF2-40B4-BE49-F238E27FC236}">
                <a16:creationId xmlns:a16="http://schemas.microsoft.com/office/drawing/2014/main" id="{37A3A194-A92A-43FA-9AB2-4D92B09599C4}"/>
              </a:ext>
            </a:extLst>
          </p:cNvPr>
          <p:cNvSpPr>
            <a:spLocks noGrp="1"/>
          </p:cNvSpPr>
          <p:nvPr>
            <p:ph type="body" sz="quarter" idx="19"/>
          </p:nvPr>
        </p:nvSpPr>
        <p:spPr>
          <a:xfrm>
            <a:off x="215658" y="682571"/>
            <a:ext cx="4256575" cy="464051"/>
          </a:xfrm>
        </p:spPr>
        <p:txBody>
          <a:bodyPr>
            <a:normAutofit/>
          </a:bodyPr>
          <a:lstStyle/>
          <a:p>
            <a:r>
              <a:rPr lang="en-US" sz="1800" b="1" dirty="0">
                <a:solidFill>
                  <a:srgbClr val="0070C0"/>
                </a:solidFill>
              </a:rPr>
              <a:t>Table 22.1 </a:t>
            </a:r>
            <a:r>
              <a:rPr lang="en-US" sz="1800" dirty="0"/>
              <a:t>Features of the Fungi Phyla</a:t>
            </a:r>
          </a:p>
        </p:txBody>
      </p:sp>
      <p:graphicFrame>
        <p:nvGraphicFramePr>
          <p:cNvPr id="8" name="Table">
            <a:extLst>
              <a:ext uri="{FF2B5EF4-FFF2-40B4-BE49-F238E27FC236}">
                <a16:creationId xmlns:a16="http://schemas.microsoft.com/office/drawing/2014/main" id="{9226F7D1-5538-42B1-A0AF-BA9977207F87}"/>
              </a:ext>
            </a:extLst>
          </p:cNvPr>
          <p:cNvGraphicFramePr>
            <a:graphicFrameLocks noGrp="1"/>
          </p:cNvGraphicFramePr>
          <p:nvPr>
            <p:extLst>
              <p:ext uri="{D42A27DB-BD31-4B8C-83A1-F6EECF244321}">
                <p14:modId xmlns:p14="http://schemas.microsoft.com/office/powerpoint/2010/main" val="3910691857"/>
              </p:ext>
            </p:extLst>
          </p:nvPr>
        </p:nvGraphicFramePr>
        <p:xfrm>
          <a:off x="215658" y="1112959"/>
          <a:ext cx="8712684" cy="5394960"/>
        </p:xfrm>
        <a:graphic>
          <a:graphicData uri="http://schemas.openxmlformats.org/drawingml/2006/table">
            <a:tbl>
              <a:tblPr firstRow="1" bandRow="1">
                <a:tableStyleId>{5940675A-B579-460E-94D1-54222C63F5DA}</a:tableStyleId>
              </a:tblPr>
              <a:tblGrid>
                <a:gridCol w="3076911">
                  <a:extLst>
                    <a:ext uri="{9D8B030D-6E8A-4147-A177-3AD203B41FA5}">
                      <a16:colId xmlns:a16="http://schemas.microsoft.com/office/drawing/2014/main" val="3399100295"/>
                    </a:ext>
                  </a:extLst>
                </a:gridCol>
                <a:gridCol w="5635773">
                  <a:extLst>
                    <a:ext uri="{9D8B030D-6E8A-4147-A177-3AD203B41FA5}">
                      <a16:colId xmlns:a16="http://schemas.microsoft.com/office/drawing/2014/main" val="390411889"/>
                    </a:ext>
                  </a:extLst>
                </a:gridCol>
              </a:tblGrid>
              <a:tr h="358483">
                <a:tc>
                  <a:txBody>
                    <a:bodyPr/>
                    <a:lstStyle/>
                    <a:p>
                      <a:r>
                        <a:rPr lang="en-IN" dirty="0"/>
                        <a:t>Fungal Lineage</a:t>
                      </a:r>
                    </a:p>
                  </a:txBody>
                  <a:tcPr/>
                </a:tc>
                <a:tc>
                  <a:txBody>
                    <a:bodyPr/>
                    <a:lstStyle/>
                    <a:p>
                      <a:r>
                        <a:rPr lang="en-IN" dirty="0"/>
                        <a:t>Characteristics</a:t>
                      </a:r>
                    </a:p>
                  </a:txBody>
                  <a:tcPr/>
                </a:tc>
                <a:extLst>
                  <a:ext uri="{0D108BD9-81ED-4DB2-BD59-A6C34878D82A}">
                    <a16:rowId xmlns:a16="http://schemas.microsoft.com/office/drawing/2014/main" val="2738968422"/>
                  </a:ext>
                </a:extLst>
              </a:tr>
              <a:tr h="627346">
                <a:tc>
                  <a:txBody>
                    <a:bodyPr/>
                    <a:lstStyle/>
                    <a:p>
                      <a:r>
                        <a:rPr lang="en-IN" dirty="0" err="1"/>
                        <a:t>Blastocladiomycota</a:t>
                      </a:r>
                      <a:endParaRPr lang="en-IN" dirty="0"/>
                    </a:p>
                  </a:txBody>
                  <a:tcPr/>
                </a:tc>
                <a:tc>
                  <a:txBody>
                    <a:bodyPr/>
                    <a:lstStyle/>
                    <a:p>
                      <a:r>
                        <a:rPr lang="en-US" dirty="0"/>
                        <a:t>Contains zoospores and can exhibit an alternation-of-generations life cycle similar to plants</a:t>
                      </a:r>
                      <a:endParaRPr lang="en-IN" dirty="0"/>
                    </a:p>
                  </a:txBody>
                  <a:tcPr/>
                </a:tc>
                <a:extLst>
                  <a:ext uri="{0D108BD9-81ED-4DB2-BD59-A6C34878D82A}">
                    <a16:rowId xmlns:a16="http://schemas.microsoft.com/office/drawing/2014/main" val="402517217"/>
                  </a:ext>
                </a:extLst>
              </a:tr>
              <a:tr h="896208">
                <a:tc>
                  <a:txBody>
                    <a:bodyPr/>
                    <a:lstStyle/>
                    <a:p>
                      <a:r>
                        <a:rPr lang="en-IN" dirty="0"/>
                        <a:t>Zygomycota</a:t>
                      </a:r>
                    </a:p>
                  </a:txBody>
                  <a:tcPr/>
                </a:tc>
                <a:tc>
                  <a:txBody>
                    <a:bodyPr/>
                    <a:lstStyle/>
                    <a:p>
                      <a:r>
                        <a:rPr lang="en-US" dirty="0"/>
                        <a:t>Contain hyphae without septa. Sexual spores are called zygospores. Most commonly associated with species that produce black bread mold.</a:t>
                      </a:r>
                      <a:endParaRPr lang="en-IN" dirty="0"/>
                    </a:p>
                  </a:txBody>
                  <a:tcPr/>
                </a:tc>
                <a:extLst>
                  <a:ext uri="{0D108BD9-81ED-4DB2-BD59-A6C34878D82A}">
                    <a16:rowId xmlns:a16="http://schemas.microsoft.com/office/drawing/2014/main" val="2240272054"/>
                  </a:ext>
                </a:extLst>
              </a:tr>
              <a:tr h="896208">
                <a:tc>
                  <a:txBody>
                    <a:bodyPr/>
                    <a:lstStyle/>
                    <a:p>
                      <a:r>
                        <a:rPr lang="en-IN" dirty="0" err="1"/>
                        <a:t>Neocallimastigiomycota</a:t>
                      </a:r>
                      <a:endParaRPr lang="en-IN" dirty="0"/>
                    </a:p>
                  </a:txBody>
                  <a:tcPr/>
                </a:tc>
                <a:tc>
                  <a:txBody>
                    <a:bodyPr/>
                    <a:lstStyle/>
                    <a:p>
                      <a:r>
                        <a:rPr lang="en-US" dirty="0"/>
                        <a:t>Fungi with no mitochondria. Use </a:t>
                      </a:r>
                      <a:r>
                        <a:rPr lang="en-US" dirty="0" err="1"/>
                        <a:t>araerobic</a:t>
                      </a:r>
                      <a:r>
                        <a:rPr lang="en-US" dirty="0"/>
                        <a:t> metabolism to grow in the guts of herbivores Zoospores found in their life cycle</a:t>
                      </a:r>
                      <a:endParaRPr lang="en-IN" dirty="0"/>
                    </a:p>
                  </a:txBody>
                  <a:tcPr/>
                </a:tc>
                <a:extLst>
                  <a:ext uri="{0D108BD9-81ED-4DB2-BD59-A6C34878D82A}">
                    <a16:rowId xmlns:a16="http://schemas.microsoft.com/office/drawing/2014/main" val="2729882902"/>
                  </a:ext>
                </a:extLst>
              </a:tr>
              <a:tr h="627346">
                <a:tc>
                  <a:txBody>
                    <a:bodyPr/>
                    <a:lstStyle/>
                    <a:p>
                      <a:r>
                        <a:rPr lang="en-IN" dirty="0"/>
                        <a:t>Chytridiomycota</a:t>
                      </a:r>
                    </a:p>
                  </a:txBody>
                  <a:tcPr/>
                </a:tc>
                <a:tc>
                  <a:txBody>
                    <a:bodyPr/>
                    <a:lstStyle/>
                    <a:p>
                      <a:r>
                        <a:rPr lang="en-US" dirty="0"/>
                        <a:t>Aquatic single-celled fungi </a:t>
                      </a:r>
                      <a:r>
                        <a:rPr lang="en-US" dirty="0" err="1"/>
                        <a:t>wth</a:t>
                      </a:r>
                      <a:r>
                        <a:rPr lang="en-US" dirty="0"/>
                        <a:t> zoospores. Can be animal parasites.</a:t>
                      </a:r>
                      <a:endParaRPr lang="en-IN" dirty="0"/>
                    </a:p>
                  </a:txBody>
                  <a:tcPr/>
                </a:tc>
                <a:extLst>
                  <a:ext uri="{0D108BD9-81ED-4DB2-BD59-A6C34878D82A}">
                    <a16:rowId xmlns:a16="http://schemas.microsoft.com/office/drawing/2014/main" val="1694614706"/>
                  </a:ext>
                </a:extLst>
              </a:tr>
              <a:tr h="358483">
                <a:tc>
                  <a:txBody>
                    <a:bodyPr/>
                    <a:lstStyle/>
                    <a:p>
                      <a:r>
                        <a:rPr lang="en-IN" dirty="0" err="1"/>
                        <a:t>Glomeromycota</a:t>
                      </a:r>
                      <a:endParaRPr lang="en-IN" dirty="0"/>
                    </a:p>
                  </a:txBody>
                  <a:tcPr/>
                </a:tc>
                <a:tc>
                  <a:txBody>
                    <a:bodyPr/>
                    <a:lstStyle/>
                    <a:p>
                      <a:r>
                        <a:rPr lang="en-IN" dirty="0"/>
                        <a:t>Form arbuscular mycorrhizae</a:t>
                      </a:r>
                    </a:p>
                  </a:txBody>
                  <a:tcPr/>
                </a:tc>
                <a:extLst>
                  <a:ext uri="{0D108BD9-81ED-4DB2-BD59-A6C34878D82A}">
                    <a16:rowId xmlns:a16="http://schemas.microsoft.com/office/drawing/2014/main" val="406985401"/>
                  </a:ext>
                </a:extLst>
              </a:tr>
              <a:tr h="627346">
                <a:tc>
                  <a:txBody>
                    <a:bodyPr/>
                    <a:lstStyle/>
                    <a:p>
                      <a:r>
                        <a:rPr lang="en-IN" dirty="0"/>
                        <a:t>Ascomycota</a:t>
                      </a:r>
                    </a:p>
                  </a:txBody>
                  <a:tcPr/>
                </a:tc>
                <a:tc>
                  <a:txBody>
                    <a:bodyPr/>
                    <a:lstStyle/>
                    <a:p>
                      <a:r>
                        <a:rPr lang="en-US" dirty="0"/>
                        <a:t>Asexual reproduction on conidiophores and </a:t>
                      </a:r>
                      <a:r>
                        <a:rPr lang="en-US" dirty="0" err="1"/>
                        <a:t>terual</a:t>
                      </a:r>
                      <a:r>
                        <a:rPr lang="en-US" dirty="0"/>
                        <a:t> reproduction in a fruiting body called an ascus</a:t>
                      </a:r>
                      <a:endParaRPr lang="en-IN" dirty="0"/>
                    </a:p>
                  </a:txBody>
                  <a:tcPr/>
                </a:tc>
                <a:extLst>
                  <a:ext uri="{0D108BD9-81ED-4DB2-BD59-A6C34878D82A}">
                    <a16:rowId xmlns:a16="http://schemas.microsoft.com/office/drawing/2014/main" val="2983656027"/>
                  </a:ext>
                </a:extLst>
              </a:tr>
              <a:tr h="896208">
                <a:tc>
                  <a:txBody>
                    <a:bodyPr/>
                    <a:lstStyle/>
                    <a:p>
                      <a:r>
                        <a:rPr lang="en-IN" dirty="0" err="1"/>
                        <a:t>Basidiomy</a:t>
                      </a:r>
                      <a:r>
                        <a:rPr lang="en-IN" dirty="0"/>
                        <a:t> </a:t>
                      </a:r>
                      <a:r>
                        <a:rPr lang="en-IN" dirty="0" err="1"/>
                        <a:t>cota</a:t>
                      </a:r>
                      <a:endParaRPr lang="en-IN" dirty="0"/>
                    </a:p>
                  </a:txBody>
                  <a:tcPr/>
                </a:tc>
                <a:tc>
                  <a:txBody>
                    <a:bodyPr/>
                    <a:lstStyle/>
                    <a:p>
                      <a:r>
                        <a:rPr lang="en-US" dirty="0"/>
                        <a:t>Possesses the most commonly recognized fruiting bodies (Le mushrooms, puffball with haploid spores called basidiospores</a:t>
                      </a:r>
                      <a:endParaRPr lang="en-IN" dirty="0"/>
                    </a:p>
                  </a:txBody>
                  <a:tcPr/>
                </a:tc>
                <a:extLst>
                  <a:ext uri="{0D108BD9-81ED-4DB2-BD59-A6C34878D82A}">
                    <a16:rowId xmlns:a16="http://schemas.microsoft.com/office/drawing/2014/main" val="306180832"/>
                  </a:ext>
                </a:extLst>
              </a:tr>
            </a:tbl>
          </a:graphicData>
        </a:graphic>
      </p:graphicFrame>
      <p:sp>
        <p:nvSpPr>
          <p:cNvPr id="6" name="Table summary 4" hidden="1">
            <a:extLst>
              <a:ext uri="{FF2B5EF4-FFF2-40B4-BE49-F238E27FC236}">
                <a16:creationId xmlns:a16="http://schemas.microsoft.com/office/drawing/2014/main" id="{7E898A4B-9605-460F-A828-82A25D317668}"/>
              </a:ext>
            </a:extLst>
          </p:cNvPr>
          <p:cNvSpPr>
            <a:spLocks noGrp="1"/>
          </p:cNvSpPr>
          <p:nvPr>
            <p:ph type="body" sz="quarter" idx="20"/>
          </p:nvPr>
        </p:nvSpPr>
        <p:spPr>
          <a:xfrm>
            <a:off x="1623156" y="3284072"/>
            <a:ext cx="5698154" cy="1721682"/>
          </a:xfrm>
        </p:spPr>
        <p:txBody>
          <a:bodyPr>
            <a:normAutofit/>
          </a:bodyPr>
          <a:lstStyle/>
          <a:p>
            <a:r>
              <a:rPr lang="en-US" dirty="0"/>
              <a:t>Table divided into two columns summarizes features of the fungi phyla. The column headers are: Fungal lineage and characteristics. </a:t>
            </a:r>
            <a:endParaRPr lang="en-IN" dirty="0"/>
          </a:p>
        </p:txBody>
      </p:sp>
      <p:sp>
        <p:nvSpPr>
          <p:cNvPr id="4" name="Slide Number Placeholder 5">
            <a:extLst>
              <a:ext uri="{FF2B5EF4-FFF2-40B4-BE49-F238E27FC236}">
                <a16:creationId xmlns:a16="http://schemas.microsoft.com/office/drawing/2014/main" id="{82B87746-DA90-4172-916B-88F9B599E186}"/>
              </a:ext>
            </a:extLst>
          </p:cNvPr>
          <p:cNvSpPr>
            <a:spLocks noGrp="1"/>
          </p:cNvSpPr>
          <p:nvPr>
            <p:ph type="sldNum" sz="quarter" idx="4"/>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344490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65ABE-4526-49E5-A449-184AD471D5CD}"/>
              </a:ext>
            </a:extLst>
          </p:cNvPr>
          <p:cNvSpPr>
            <a:spLocks noGrp="1"/>
          </p:cNvSpPr>
          <p:nvPr>
            <p:ph type="title"/>
          </p:nvPr>
        </p:nvSpPr>
        <p:spPr>
          <a:xfrm>
            <a:off x="0" y="1"/>
            <a:ext cx="9144000" cy="1312984"/>
          </a:xfrm>
        </p:spPr>
        <p:txBody>
          <a:bodyPr/>
          <a:lstStyle/>
          <a:p>
            <a:r>
              <a:rPr lang="en-US" altLang="en-US" dirty="0"/>
              <a:t>Microsporidia Are Parasitic Fungal Relatives</a:t>
            </a:r>
            <a:endParaRPr lang="en-IN" dirty="0"/>
          </a:p>
        </p:txBody>
      </p:sp>
      <p:sp>
        <p:nvSpPr>
          <p:cNvPr id="5" name="Text Placeholder 2">
            <a:extLst>
              <a:ext uri="{FF2B5EF4-FFF2-40B4-BE49-F238E27FC236}">
                <a16:creationId xmlns:a16="http://schemas.microsoft.com/office/drawing/2014/main" id="{C3ECE2E0-D05B-4E3B-A49A-4D7A79B4C804}"/>
              </a:ext>
            </a:extLst>
          </p:cNvPr>
          <p:cNvSpPr>
            <a:spLocks noGrp="1"/>
          </p:cNvSpPr>
          <p:nvPr>
            <p:ph type="body" sz="quarter" idx="19"/>
          </p:nvPr>
        </p:nvSpPr>
        <p:spPr>
          <a:xfrm>
            <a:off x="842963" y="1471867"/>
            <a:ext cx="7623676" cy="2697297"/>
          </a:xfrm>
        </p:spPr>
        <p:txBody>
          <a:bodyPr>
            <a:normAutofit lnSpcReduction="10000"/>
          </a:bodyPr>
          <a:lstStyle/>
          <a:p>
            <a:pPr>
              <a:spcAft>
                <a:spcPts val="600"/>
              </a:spcAft>
            </a:pPr>
            <a:r>
              <a:rPr lang="en-US" sz="2400" dirty="0"/>
              <a:t>It is unclear how microsporidians fit within kingdom Fungi</a:t>
            </a:r>
            <a:endParaRPr lang="en-US" altLang="en-US" sz="2400" dirty="0">
              <a:solidFill>
                <a:prstClr val="black"/>
              </a:solidFill>
            </a:endParaRPr>
          </a:p>
          <a:p>
            <a:pPr lvl="1">
              <a:spcBef>
                <a:spcPts val="0"/>
              </a:spcBef>
              <a:spcAft>
                <a:spcPts val="600"/>
              </a:spcAft>
            </a:pPr>
            <a:r>
              <a:rPr lang="en-US" altLang="en-US" sz="2200" dirty="0">
                <a:solidFill>
                  <a:prstClr val="black"/>
                </a:solidFill>
              </a:rPr>
              <a:t>Currently, they are considered a “sister group” to fungi</a:t>
            </a:r>
          </a:p>
          <a:p>
            <a:pPr>
              <a:spcAft>
                <a:spcPts val="600"/>
              </a:spcAft>
            </a:pPr>
            <a:r>
              <a:rPr lang="en-US" altLang="en-US" sz="2400" dirty="0">
                <a:solidFill>
                  <a:prstClr val="black"/>
                </a:solidFill>
              </a:rPr>
              <a:t>Microsporidia are single-celled, obligate, intracellular animal parasites</a:t>
            </a:r>
          </a:p>
          <a:p>
            <a:pPr marL="363538" lvl="2" indent="-363538">
              <a:spcBef>
                <a:spcPts val="0"/>
              </a:spcBef>
              <a:spcAft>
                <a:spcPts val="600"/>
              </a:spcAft>
            </a:pPr>
            <a:r>
              <a:rPr lang="en-US" altLang="en-US" sz="2200" dirty="0">
                <a:solidFill>
                  <a:prstClr val="black"/>
                </a:solidFill>
              </a:rPr>
              <a:t>Biologists used to think they were an ancient line of protist</a:t>
            </a:r>
          </a:p>
        </p:txBody>
      </p:sp>
      <p:sp>
        <p:nvSpPr>
          <p:cNvPr id="6" name="Text Placeholder 3">
            <a:extLst>
              <a:ext uri="{FF2B5EF4-FFF2-40B4-BE49-F238E27FC236}">
                <a16:creationId xmlns:a16="http://schemas.microsoft.com/office/drawing/2014/main" id="{8187DB04-8C92-4E06-BC55-8557E999A336}"/>
              </a:ext>
            </a:extLst>
          </p:cNvPr>
          <p:cNvSpPr>
            <a:spLocks noGrp="1"/>
          </p:cNvSpPr>
          <p:nvPr>
            <p:ph type="body" sz="quarter" idx="20"/>
          </p:nvPr>
        </p:nvSpPr>
        <p:spPr>
          <a:xfrm>
            <a:off x="814137" y="4169164"/>
            <a:ext cx="7515726" cy="2338755"/>
          </a:xfrm>
        </p:spPr>
        <p:txBody>
          <a:bodyPr/>
          <a:lstStyle/>
          <a:p>
            <a:pPr>
              <a:spcBef>
                <a:spcPts val="600"/>
              </a:spcBef>
              <a:spcAft>
                <a:spcPts val="600"/>
              </a:spcAft>
            </a:pPr>
            <a:r>
              <a:rPr lang="en-US" altLang="en-US" sz="2400" i="1" dirty="0">
                <a:solidFill>
                  <a:prstClr val="black"/>
                </a:solidFill>
              </a:rPr>
              <a:t>E. cuniculi </a:t>
            </a:r>
            <a:r>
              <a:rPr lang="en-US" altLang="en-US" sz="2400" dirty="0">
                <a:solidFill>
                  <a:prstClr val="black"/>
                </a:solidFill>
              </a:rPr>
              <a:t>and other microsporidia cause diseases in immunocompromised patients</a:t>
            </a:r>
          </a:p>
          <a:p>
            <a:pPr marL="0" lvl="1" indent="0">
              <a:spcBef>
                <a:spcPts val="600"/>
              </a:spcBef>
              <a:spcAft>
                <a:spcPts val="600"/>
              </a:spcAft>
              <a:buNone/>
            </a:pPr>
            <a:r>
              <a:rPr lang="en-US" altLang="en-US" sz="2400" dirty="0">
                <a:solidFill>
                  <a:prstClr val="black"/>
                </a:solidFill>
              </a:rPr>
              <a:t>Microsporidians infect hosts with spores, which infect intestinal or neuronal cells</a:t>
            </a:r>
          </a:p>
        </p:txBody>
      </p:sp>
      <p:sp>
        <p:nvSpPr>
          <p:cNvPr id="4" name="Slide Number Placeholder 4">
            <a:extLst>
              <a:ext uri="{FF2B5EF4-FFF2-40B4-BE49-F238E27FC236}">
                <a16:creationId xmlns:a16="http://schemas.microsoft.com/office/drawing/2014/main" id="{A701F0E6-08E6-488B-9D95-36F2D8477F9B}"/>
              </a:ext>
            </a:extLst>
          </p:cNvPr>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507435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A6BD8-E7CE-4DEB-966D-B67C7ED752D9}"/>
              </a:ext>
            </a:extLst>
          </p:cNvPr>
          <p:cNvSpPr>
            <a:spLocks noGrp="1"/>
          </p:cNvSpPr>
          <p:nvPr>
            <p:ph type="title"/>
          </p:nvPr>
        </p:nvSpPr>
        <p:spPr>
          <a:xfrm>
            <a:off x="0" y="1"/>
            <a:ext cx="9144000" cy="1875691"/>
          </a:xfrm>
        </p:spPr>
        <p:txBody>
          <a:bodyPr/>
          <a:lstStyle/>
          <a:p>
            <a:r>
              <a:rPr lang="en-US" sz="3600" dirty="0"/>
              <a:t>Illustration of the Infectious Spore of Microsporidium </a:t>
            </a:r>
            <a:r>
              <a:rPr lang="en-US" sz="3600" i="1" dirty="0"/>
              <a:t>Encephalitozoon cuniculi</a:t>
            </a:r>
            <a:endParaRPr lang="en-IN" sz="3600" dirty="0"/>
          </a:p>
        </p:txBody>
      </p:sp>
      <p:pic>
        <p:nvPicPr>
          <p:cNvPr id="6" name="Picture 2" descr="Microscopic view of spore of microsporidian Encephalitozoon cuniculi shows an oval cell with a blue coiling the cell with contents of cell present inside.">
            <a:extLst>
              <a:ext uri="{FF2B5EF4-FFF2-40B4-BE49-F238E27FC236}">
                <a16:creationId xmlns:a16="http://schemas.microsoft.com/office/drawing/2014/main" id="{2A28553D-A16A-4E70-8802-D23069746E3A}"/>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7231" y="1730193"/>
            <a:ext cx="4289536" cy="4299278"/>
          </a:xfrm>
          <a:prstGeom prst="rect">
            <a:avLst/>
          </a:prstGeom>
        </p:spPr>
      </p:pic>
      <p:sp>
        <p:nvSpPr>
          <p:cNvPr id="5" name="Text Placeholder 3">
            <a:extLst>
              <a:ext uri="{FF2B5EF4-FFF2-40B4-BE49-F238E27FC236}">
                <a16:creationId xmlns:a16="http://schemas.microsoft.com/office/drawing/2014/main" id="{157AE247-7E43-4390-952A-6CC11E696D12}"/>
              </a:ext>
            </a:extLst>
          </p:cNvPr>
          <p:cNvSpPr>
            <a:spLocks noGrp="1"/>
          </p:cNvSpPr>
          <p:nvPr>
            <p:ph type="body" sz="quarter" idx="18"/>
          </p:nvPr>
        </p:nvSpPr>
        <p:spPr>
          <a:xfrm>
            <a:off x="3929952" y="6029471"/>
            <a:ext cx="1284095" cy="314325"/>
          </a:xfrm>
        </p:spPr>
        <p:txBody>
          <a:bodyPr>
            <a:normAutofit/>
          </a:bodyPr>
          <a:lstStyle/>
          <a:p>
            <a:r>
              <a:rPr lang="en-US" sz="1200" dirty="0"/>
              <a:t>Figure 22.3</a:t>
            </a:r>
          </a:p>
        </p:txBody>
      </p:sp>
      <p:sp>
        <p:nvSpPr>
          <p:cNvPr id="7" name="Text Placeholder 4">
            <a:extLst>
              <a:ext uri="{FF2B5EF4-FFF2-40B4-BE49-F238E27FC236}">
                <a16:creationId xmlns:a16="http://schemas.microsoft.com/office/drawing/2014/main" id="{D15873F5-E863-40AE-9449-843B4217C47D}"/>
              </a:ext>
            </a:extLst>
          </p:cNvPr>
          <p:cNvSpPr>
            <a:spLocks noGrp="1"/>
          </p:cNvSpPr>
          <p:nvPr>
            <p:ph type="body" sz="quarter" idx="21"/>
          </p:nvPr>
        </p:nvSpPr>
        <p:spPr>
          <a:xfrm>
            <a:off x="7561384" y="6563439"/>
            <a:ext cx="1060795" cy="258805"/>
          </a:xfrm>
        </p:spPr>
        <p:txBody>
          <a:bodyPr/>
          <a:lstStyle/>
          <a:p>
            <a:r>
              <a:rPr lang="en-US" dirty="0" err="1"/>
              <a:t>SciePro</a:t>
            </a:r>
            <a:r>
              <a:rPr lang="en-US" dirty="0"/>
              <a:t>/Shutterstock</a:t>
            </a:r>
          </a:p>
        </p:txBody>
      </p:sp>
      <p:sp>
        <p:nvSpPr>
          <p:cNvPr id="4" name="Slide Number Placeholder 5">
            <a:extLst>
              <a:ext uri="{FF2B5EF4-FFF2-40B4-BE49-F238E27FC236}">
                <a16:creationId xmlns:a16="http://schemas.microsoft.com/office/drawing/2014/main" id="{03132BED-8CE1-4505-B077-74C70F4C8689}"/>
              </a:ext>
            </a:extLst>
          </p:cNvPr>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4065760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CDC2A-BC09-4399-A477-62A940E5741F}"/>
              </a:ext>
            </a:extLst>
          </p:cNvPr>
          <p:cNvSpPr>
            <a:spLocks noGrp="1"/>
          </p:cNvSpPr>
          <p:nvPr>
            <p:ph type="title"/>
          </p:nvPr>
        </p:nvSpPr>
        <p:spPr/>
        <p:txBody>
          <a:bodyPr/>
          <a:lstStyle/>
          <a:p>
            <a:r>
              <a:rPr lang="en-US" altLang="en-US" dirty="0"/>
              <a:t>Fungi with Zoospores</a:t>
            </a:r>
            <a:endParaRPr lang="en-IN" dirty="0"/>
          </a:p>
        </p:txBody>
      </p:sp>
      <p:sp>
        <p:nvSpPr>
          <p:cNvPr id="3" name="Text Placeholder 2">
            <a:extLst>
              <a:ext uri="{FF2B5EF4-FFF2-40B4-BE49-F238E27FC236}">
                <a16:creationId xmlns:a16="http://schemas.microsoft.com/office/drawing/2014/main" id="{E2A67CE9-5910-4CE3-A6D3-10ED457A883D}"/>
              </a:ext>
            </a:extLst>
          </p:cNvPr>
          <p:cNvSpPr>
            <a:spLocks noGrp="1"/>
          </p:cNvSpPr>
          <p:nvPr>
            <p:ph type="body" sz="quarter" idx="19"/>
          </p:nvPr>
        </p:nvSpPr>
        <p:spPr>
          <a:xfrm>
            <a:off x="529310" y="1085007"/>
            <a:ext cx="8085379" cy="5422912"/>
          </a:xfrm>
        </p:spPr>
        <p:txBody>
          <a:bodyPr/>
          <a:lstStyle/>
          <a:p>
            <a:pPr>
              <a:spcAft>
                <a:spcPts val="1500"/>
              </a:spcAft>
            </a:pPr>
            <a:r>
              <a:rPr lang="en-US" sz="2600" b="1" dirty="0">
                <a:solidFill>
                  <a:srgbClr val="D90000"/>
                </a:solidFill>
              </a:rPr>
              <a:t>Zoospore</a:t>
            </a:r>
            <a:r>
              <a:rPr lang="en-US" sz="2600" dirty="0"/>
              <a:t> is an asexual spore with a flagellum</a:t>
            </a:r>
          </a:p>
          <a:p>
            <a:pPr lvl="1">
              <a:spcBef>
                <a:spcPts val="0"/>
              </a:spcBef>
              <a:spcAft>
                <a:spcPts val="1500"/>
              </a:spcAft>
            </a:pPr>
            <a:r>
              <a:rPr lang="en-US" sz="2400" dirty="0"/>
              <a:t>Spore can swim in moist soil or aquatic environments until it lands on a substrate and germinates</a:t>
            </a:r>
          </a:p>
          <a:p>
            <a:pPr lvl="1">
              <a:spcBef>
                <a:spcPts val="0"/>
              </a:spcBef>
              <a:spcAft>
                <a:spcPts val="1500"/>
              </a:spcAft>
            </a:pPr>
            <a:r>
              <a:rPr lang="en-US" sz="2400" dirty="0"/>
              <a:t>Placement of the flagella in their spores suggests a shared ancestry of fungi and choanoflagellates </a:t>
            </a:r>
          </a:p>
          <a:p>
            <a:pPr lvl="1">
              <a:spcBef>
                <a:spcPts val="0"/>
              </a:spcBef>
              <a:spcAft>
                <a:spcPts val="1500"/>
              </a:spcAft>
            </a:pPr>
            <a:r>
              <a:rPr lang="en-US" sz="2400" dirty="0"/>
              <a:t>Three phyla of true fungi with zoospores: </a:t>
            </a:r>
            <a:r>
              <a:rPr lang="en-US" sz="2400" dirty="0" err="1"/>
              <a:t>Blastocladiomycota</a:t>
            </a:r>
            <a:r>
              <a:rPr lang="en-US" sz="2400" dirty="0"/>
              <a:t>, </a:t>
            </a:r>
            <a:r>
              <a:rPr lang="en-US" sz="2400" dirty="0" err="1"/>
              <a:t>Neocallimastigomycota</a:t>
            </a:r>
            <a:r>
              <a:rPr lang="en-US" sz="2400" dirty="0"/>
              <a:t>, and Chytridiomycota </a:t>
            </a:r>
          </a:p>
        </p:txBody>
      </p:sp>
      <p:sp>
        <p:nvSpPr>
          <p:cNvPr id="4" name="Slide Number Placeholder 3">
            <a:extLst>
              <a:ext uri="{FF2B5EF4-FFF2-40B4-BE49-F238E27FC236}">
                <a16:creationId xmlns:a16="http://schemas.microsoft.com/office/drawing/2014/main" id="{6F1E7797-DBE5-4F28-90D7-4FD67CB23F71}"/>
              </a:ext>
            </a:extLst>
          </p:cNvPr>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3682172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3DB48-4808-4A81-803C-65F8A569C97B}"/>
              </a:ext>
            </a:extLst>
          </p:cNvPr>
          <p:cNvSpPr>
            <a:spLocks noGrp="1"/>
          </p:cNvSpPr>
          <p:nvPr>
            <p:ph type="title"/>
          </p:nvPr>
        </p:nvSpPr>
        <p:spPr/>
        <p:txBody>
          <a:bodyPr/>
          <a:lstStyle/>
          <a:p>
            <a:r>
              <a:rPr lang="en-US" i="1" dirty="0" err="1"/>
              <a:t>Blastocladiomycota</a:t>
            </a:r>
            <a:r>
              <a:rPr lang="en-US" altLang="en-US" dirty="0"/>
              <a:t> </a:t>
            </a:r>
            <a:endParaRPr lang="en-IN" dirty="0"/>
          </a:p>
        </p:txBody>
      </p:sp>
      <p:sp>
        <p:nvSpPr>
          <p:cNvPr id="3" name="Text Placeholder 2">
            <a:extLst>
              <a:ext uri="{FF2B5EF4-FFF2-40B4-BE49-F238E27FC236}">
                <a16:creationId xmlns:a16="http://schemas.microsoft.com/office/drawing/2014/main" id="{C3A27556-E1F6-4965-9021-89DFACFFC0C8}"/>
              </a:ext>
            </a:extLst>
          </p:cNvPr>
          <p:cNvSpPr>
            <a:spLocks noGrp="1"/>
          </p:cNvSpPr>
          <p:nvPr>
            <p:ph type="body" sz="quarter" idx="19"/>
          </p:nvPr>
        </p:nvSpPr>
        <p:spPr>
          <a:xfrm>
            <a:off x="842962" y="948214"/>
            <a:ext cx="7996237" cy="5909786"/>
          </a:xfrm>
        </p:spPr>
        <p:txBody>
          <a:bodyPr/>
          <a:lstStyle/>
          <a:p>
            <a:pPr>
              <a:spcBef>
                <a:spcPts val="600"/>
              </a:spcBef>
              <a:spcAft>
                <a:spcPts val="600"/>
              </a:spcAft>
            </a:pPr>
            <a:r>
              <a:rPr lang="en-US" sz="2400" dirty="0" err="1"/>
              <a:t>Blastocladiomycetes</a:t>
            </a:r>
            <a:r>
              <a:rPr lang="en-US" sz="2400" dirty="0"/>
              <a:t>, also known as </a:t>
            </a:r>
            <a:r>
              <a:rPr lang="en-US" sz="2400" dirty="0" err="1"/>
              <a:t>blastoclads</a:t>
            </a:r>
            <a:r>
              <a:rPr lang="en-US" sz="2400" dirty="0"/>
              <a:t>, are found in terrestrial or aquatic environments</a:t>
            </a:r>
          </a:p>
          <a:p>
            <a:pPr>
              <a:spcBef>
                <a:spcPts val="600"/>
              </a:spcBef>
              <a:spcAft>
                <a:spcPts val="600"/>
              </a:spcAft>
            </a:pPr>
            <a:r>
              <a:rPr lang="en-US" sz="2400" dirty="0"/>
              <a:t>All members produce asexual zoospores and some species will also exhibit an alternation-of-generations life cycle similar to plants</a:t>
            </a:r>
          </a:p>
          <a:p>
            <a:pPr>
              <a:spcBef>
                <a:spcPts val="600"/>
              </a:spcBef>
              <a:spcAft>
                <a:spcPts val="600"/>
              </a:spcAft>
            </a:pPr>
            <a:r>
              <a:rPr lang="en-US" sz="2400" dirty="0"/>
              <a:t>Many </a:t>
            </a:r>
            <a:r>
              <a:rPr lang="en-US" sz="2400" dirty="0" err="1"/>
              <a:t>blastocads</a:t>
            </a:r>
            <a:r>
              <a:rPr lang="en-US" sz="2400" dirty="0"/>
              <a:t> are parasites of plants, invertebrates, and algae</a:t>
            </a:r>
          </a:p>
          <a:p>
            <a:pPr lvl="1">
              <a:spcBef>
                <a:spcPts val="600"/>
              </a:spcBef>
              <a:spcAft>
                <a:spcPts val="600"/>
              </a:spcAft>
            </a:pPr>
            <a:r>
              <a:rPr lang="en-US" sz="2200" i="1" dirty="0" err="1"/>
              <a:t>Physoderma</a:t>
            </a:r>
            <a:r>
              <a:rPr lang="en-US" sz="2200" i="1" dirty="0"/>
              <a:t> maydis</a:t>
            </a:r>
            <a:r>
              <a:rPr lang="en-US" sz="2200" dirty="0"/>
              <a:t>, is a plant pathogen that causes brown spot and stalk rot on corn </a:t>
            </a:r>
          </a:p>
          <a:p>
            <a:pPr marL="620713" lvl="2" indent="-257175">
              <a:spcBef>
                <a:spcPts val="600"/>
              </a:spcBef>
              <a:spcAft>
                <a:spcPts val="600"/>
              </a:spcAft>
            </a:pPr>
            <a:r>
              <a:rPr lang="en-US" sz="2000" dirty="0"/>
              <a:t>Spore-producing structures called sporangia remain dormant in the soil and are wind dispersed onto the leaves of a corn plant</a:t>
            </a:r>
          </a:p>
          <a:p>
            <a:pPr marL="620713" lvl="2" indent="-257175">
              <a:spcBef>
                <a:spcPts val="600"/>
              </a:spcBef>
              <a:spcAft>
                <a:spcPts val="600"/>
              </a:spcAft>
            </a:pPr>
            <a:r>
              <a:rPr lang="en-US" sz="2000" dirty="0"/>
              <a:t>If plant gets wet, the sporangia produce zoospores that swim and infect the young tissues of developing plants</a:t>
            </a:r>
          </a:p>
        </p:txBody>
      </p:sp>
      <p:sp>
        <p:nvSpPr>
          <p:cNvPr id="4" name="Slide Number Placeholder 3">
            <a:extLst>
              <a:ext uri="{FF2B5EF4-FFF2-40B4-BE49-F238E27FC236}">
                <a16:creationId xmlns:a16="http://schemas.microsoft.com/office/drawing/2014/main" id="{997879D3-456E-48AD-A0C3-96082E4546AE}"/>
              </a:ext>
            </a:extLst>
          </p:cNvPr>
          <p:cNvSpPr>
            <a:spLocks noGrp="1"/>
          </p:cNvSpPr>
          <p:nvPr>
            <p:ph type="sldNum" sz="quarter" idx="4"/>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1015396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BD168-306B-4AD3-91E2-F4ECF9BA1409}"/>
              </a:ext>
            </a:extLst>
          </p:cNvPr>
          <p:cNvSpPr>
            <a:spLocks noGrp="1"/>
          </p:cNvSpPr>
          <p:nvPr>
            <p:ph type="title"/>
          </p:nvPr>
        </p:nvSpPr>
        <p:spPr>
          <a:xfrm>
            <a:off x="0" y="1"/>
            <a:ext cx="9144000" cy="791051"/>
          </a:xfrm>
        </p:spPr>
        <p:txBody>
          <a:bodyPr/>
          <a:lstStyle/>
          <a:p>
            <a:r>
              <a:rPr lang="en-US" i="1" dirty="0" err="1"/>
              <a:t>Neocallimastigomycota</a:t>
            </a:r>
            <a:r>
              <a:rPr lang="en-US" i="1" dirty="0"/>
              <a:t> </a:t>
            </a:r>
            <a:endParaRPr lang="en-IN" dirty="0"/>
          </a:p>
        </p:txBody>
      </p:sp>
      <p:sp>
        <p:nvSpPr>
          <p:cNvPr id="3" name="Text Placeholder 2">
            <a:extLst>
              <a:ext uri="{FF2B5EF4-FFF2-40B4-BE49-F238E27FC236}">
                <a16:creationId xmlns:a16="http://schemas.microsoft.com/office/drawing/2014/main" id="{3ED072D6-8A94-4202-9E38-D31363787C96}"/>
              </a:ext>
            </a:extLst>
          </p:cNvPr>
          <p:cNvSpPr>
            <a:spLocks noGrp="1"/>
          </p:cNvSpPr>
          <p:nvPr>
            <p:ph type="body" sz="quarter" idx="19"/>
          </p:nvPr>
        </p:nvSpPr>
        <p:spPr>
          <a:xfrm>
            <a:off x="557955" y="791052"/>
            <a:ext cx="7908684" cy="5874030"/>
          </a:xfrm>
        </p:spPr>
        <p:txBody>
          <a:bodyPr>
            <a:normAutofit/>
          </a:bodyPr>
          <a:lstStyle/>
          <a:p>
            <a:pPr>
              <a:spcBef>
                <a:spcPts val="600"/>
              </a:spcBef>
              <a:spcAft>
                <a:spcPts val="600"/>
              </a:spcAft>
            </a:pPr>
            <a:r>
              <a:rPr lang="en-US" sz="2200" dirty="0" err="1"/>
              <a:t>Neocallimastigomycetes</a:t>
            </a:r>
            <a:r>
              <a:rPr lang="en-US" sz="2200" dirty="0"/>
              <a:t> lack mitochondria, are anaerobic, and live exclusively in the guts of ruminants and other herbivores</a:t>
            </a:r>
          </a:p>
          <a:p>
            <a:pPr>
              <a:spcBef>
                <a:spcPts val="600"/>
              </a:spcBef>
              <a:spcAft>
                <a:spcPts val="600"/>
              </a:spcAft>
            </a:pPr>
            <a:r>
              <a:rPr lang="en-US" sz="2200" dirty="0"/>
              <a:t>Ruminants, like sheep and cows, and nonmammalian herbivores like some lizards, depend on these fungi to enzymatically break down cellulose and lignin</a:t>
            </a:r>
          </a:p>
          <a:p>
            <a:pPr lvl="1">
              <a:spcBef>
                <a:spcPts val="600"/>
              </a:spcBef>
              <a:spcAft>
                <a:spcPts val="600"/>
              </a:spcAft>
            </a:pPr>
            <a:r>
              <a:rPr lang="en-US" dirty="0"/>
              <a:t>Without these fungi, these animals would not be able to obtain sufficient nutrition and calories from their plant-based diets</a:t>
            </a:r>
          </a:p>
          <a:p>
            <a:pPr>
              <a:spcBef>
                <a:spcPts val="600"/>
              </a:spcBef>
              <a:spcAft>
                <a:spcPts val="600"/>
              </a:spcAft>
            </a:pPr>
            <a:r>
              <a:rPr lang="en-US" sz="2200" dirty="0"/>
              <a:t>The genome of </a:t>
            </a:r>
            <a:r>
              <a:rPr lang="en-US" sz="2200" i="1" dirty="0" err="1"/>
              <a:t>Neocallimastix</a:t>
            </a:r>
            <a:r>
              <a:rPr lang="en-US" sz="2200" dirty="0"/>
              <a:t> has genes that code for digestive enzymes that originally were present in bacteria</a:t>
            </a:r>
          </a:p>
          <a:p>
            <a:pPr lvl="1">
              <a:spcBef>
                <a:spcPts val="600"/>
              </a:spcBef>
              <a:spcAft>
                <a:spcPts val="600"/>
              </a:spcAft>
            </a:pPr>
            <a:r>
              <a:rPr lang="en-US" dirty="0"/>
              <a:t>The genes were obtained through horizontal gene transfer, a method of sharing DNA between unrelated species</a:t>
            </a:r>
          </a:p>
          <a:p>
            <a:pPr>
              <a:spcBef>
                <a:spcPts val="600"/>
              </a:spcBef>
              <a:spcAft>
                <a:spcPts val="600"/>
              </a:spcAft>
            </a:pPr>
            <a:r>
              <a:rPr lang="en-US" sz="2200" dirty="0"/>
              <a:t>Due to the anaerobic growth of these fungi and their abilities to degrade cellulose at relatively high temperatures, they have potential uses in biotechnology for biofuel production</a:t>
            </a:r>
          </a:p>
        </p:txBody>
      </p:sp>
      <p:sp>
        <p:nvSpPr>
          <p:cNvPr id="4" name="Slide Number Placeholder 3">
            <a:extLst>
              <a:ext uri="{FF2B5EF4-FFF2-40B4-BE49-F238E27FC236}">
                <a16:creationId xmlns:a16="http://schemas.microsoft.com/office/drawing/2014/main" id="{3F460E2E-55F9-4263-A310-E152E0DA3859}"/>
              </a:ext>
            </a:extLst>
          </p:cNvPr>
          <p:cNvSpPr>
            <a:spLocks noGrp="1"/>
          </p:cNvSpPr>
          <p:nvPr>
            <p:ph type="sldNum" sz="quarter" idx="4"/>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3520717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6E4B4-04B7-4FE9-9F73-786EBE238244}"/>
              </a:ext>
            </a:extLst>
          </p:cNvPr>
          <p:cNvSpPr>
            <a:spLocks noGrp="1"/>
          </p:cNvSpPr>
          <p:nvPr>
            <p:ph type="title"/>
          </p:nvPr>
        </p:nvSpPr>
        <p:spPr/>
        <p:txBody>
          <a:bodyPr/>
          <a:lstStyle/>
          <a:p>
            <a:r>
              <a:rPr lang="en-US" i="1" dirty="0"/>
              <a:t>Chytridiomycota</a:t>
            </a:r>
            <a:endParaRPr lang="en-IN" dirty="0"/>
          </a:p>
        </p:txBody>
      </p:sp>
      <p:sp>
        <p:nvSpPr>
          <p:cNvPr id="3" name="Text Placeholder 2">
            <a:extLst>
              <a:ext uri="{FF2B5EF4-FFF2-40B4-BE49-F238E27FC236}">
                <a16:creationId xmlns:a16="http://schemas.microsoft.com/office/drawing/2014/main" id="{D7451C76-396A-41A9-A50F-501B198F2979}"/>
              </a:ext>
            </a:extLst>
          </p:cNvPr>
          <p:cNvSpPr>
            <a:spLocks noGrp="1"/>
          </p:cNvSpPr>
          <p:nvPr>
            <p:ph type="body" sz="quarter" idx="19"/>
          </p:nvPr>
        </p:nvSpPr>
        <p:spPr>
          <a:xfrm>
            <a:off x="842962" y="844062"/>
            <a:ext cx="7890729" cy="6013937"/>
          </a:xfrm>
        </p:spPr>
        <p:txBody>
          <a:bodyPr/>
          <a:lstStyle/>
          <a:p>
            <a:pPr>
              <a:spcBef>
                <a:spcPts val="600"/>
              </a:spcBef>
              <a:spcAft>
                <a:spcPts val="600"/>
              </a:spcAft>
            </a:pPr>
            <a:r>
              <a:rPr lang="en-US" sz="2400" dirty="0"/>
              <a:t>Chytrids include the simplest fungi, which may resemble the first fungi to have evolved </a:t>
            </a:r>
          </a:p>
          <a:p>
            <a:pPr>
              <a:spcBef>
                <a:spcPts val="600"/>
              </a:spcBef>
              <a:spcAft>
                <a:spcPts val="600"/>
              </a:spcAft>
            </a:pPr>
            <a:r>
              <a:rPr lang="en-US" sz="2400" dirty="0"/>
              <a:t>Some chytrids are single cells; others form branched aseptate hyphae</a:t>
            </a:r>
          </a:p>
          <a:p>
            <a:pPr>
              <a:spcBef>
                <a:spcPts val="600"/>
              </a:spcBef>
              <a:spcAft>
                <a:spcPts val="600"/>
              </a:spcAft>
            </a:pPr>
            <a:r>
              <a:rPr lang="en-US" sz="2400" dirty="0"/>
              <a:t>Most reproduce asexually through production of zoospores </a:t>
            </a:r>
          </a:p>
          <a:p>
            <a:pPr>
              <a:spcBef>
                <a:spcPts val="600"/>
              </a:spcBef>
              <a:spcAft>
                <a:spcPts val="600"/>
              </a:spcAft>
            </a:pPr>
            <a:r>
              <a:rPr lang="en-US" sz="2400" dirty="0"/>
              <a:t>Chytrids play a role in decay and digestion of dead aquatic organisms, but some are parasites of living plants, animals, and protists </a:t>
            </a:r>
          </a:p>
          <a:p>
            <a:pPr marL="269875" lvl="1" indent="-269875">
              <a:spcBef>
                <a:spcPts val="600"/>
              </a:spcBef>
              <a:spcAft>
                <a:spcPts val="600"/>
              </a:spcAft>
            </a:pPr>
            <a:r>
              <a:rPr lang="en-US" dirty="0"/>
              <a:t>Parasitic chytrid </a:t>
            </a:r>
            <a:r>
              <a:rPr lang="en-US" i="1" dirty="0"/>
              <a:t>Batrachochytrium </a:t>
            </a:r>
            <a:r>
              <a:rPr lang="en-US" i="1" dirty="0" err="1"/>
              <a:t>dendrobatidis</a:t>
            </a:r>
            <a:r>
              <a:rPr lang="en-US" i="1" dirty="0"/>
              <a:t> </a:t>
            </a:r>
            <a:r>
              <a:rPr lang="en-US" dirty="0"/>
              <a:t>has decimated populations of over 200 species of frogs, resulting in a large loss of amphibian biodiversity</a:t>
            </a:r>
          </a:p>
          <a:p>
            <a:pPr marL="269875" lvl="1" indent="-269875">
              <a:spcBef>
                <a:spcPts val="600"/>
              </a:spcBef>
              <a:spcAft>
                <a:spcPts val="600"/>
              </a:spcAft>
            </a:pPr>
            <a:r>
              <a:rPr lang="en-US" dirty="0"/>
              <a:t>Chytrid infects frog’s skin; ultimately inhibits oxygen and water intake; electrolyte imbalances result in cardiac arrest, death</a:t>
            </a:r>
          </a:p>
        </p:txBody>
      </p:sp>
      <p:sp>
        <p:nvSpPr>
          <p:cNvPr id="4" name="Slide Number Placeholder 3">
            <a:extLst>
              <a:ext uri="{FF2B5EF4-FFF2-40B4-BE49-F238E27FC236}">
                <a16:creationId xmlns:a16="http://schemas.microsoft.com/office/drawing/2014/main" id="{EF3CEC4E-F09F-42F2-B66F-19C0F536A8FD}"/>
              </a:ext>
            </a:extLst>
          </p:cNvPr>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135223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4FFA67C-266F-4671-BD16-532F52435609}"/>
              </a:ext>
            </a:extLst>
          </p:cNvPr>
          <p:cNvSpPr>
            <a:spLocks noGrp="1"/>
          </p:cNvSpPr>
          <p:nvPr>
            <p:ph type="title"/>
          </p:nvPr>
        </p:nvSpPr>
        <p:spPr>
          <a:xfrm>
            <a:off x="0" y="1"/>
            <a:ext cx="9144000" cy="1195753"/>
          </a:xfrm>
        </p:spPr>
        <p:txBody>
          <a:bodyPr/>
          <a:lstStyle/>
          <a:p>
            <a:r>
              <a:rPr lang="en-US" dirty="0"/>
              <a:t>Fungal Phyla with Zoospores</a:t>
            </a:r>
            <a:endParaRPr lang="en-IN" dirty="0"/>
          </a:p>
        </p:txBody>
      </p:sp>
      <p:pic>
        <p:nvPicPr>
          <p:cNvPr id="3" name="Picture 2" descr="a) A corn leaf with yellow pigment; b) a spherical structure with thread-like projections; and c) an algal wall with hyphae and chytrid. ">
            <a:extLst>
              <a:ext uri="{FF2B5EF4-FFF2-40B4-BE49-F238E27FC236}">
                <a16:creationId xmlns:a16="http://schemas.microsoft.com/office/drawing/2014/main" id="{7F1EAB14-00F4-4FBD-BDC1-EDBEA61AB2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3263" y="894315"/>
            <a:ext cx="2737472" cy="5169877"/>
          </a:xfrm>
          <a:prstGeom prst="rect">
            <a:avLst/>
          </a:prstGeom>
        </p:spPr>
      </p:pic>
      <p:sp>
        <p:nvSpPr>
          <p:cNvPr id="6" name="Text Placeholder 3">
            <a:extLst>
              <a:ext uri="{FF2B5EF4-FFF2-40B4-BE49-F238E27FC236}">
                <a16:creationId xmlns:a16="http://schemas.microsoft.com/office/drawing/2014/main" id="{539FB2F3-DF9F-44E8-932B-D18CDF60E8E0}"/>
              </a:ext>
            </a:extLst>
          </p:cNvPr>
          <p:cNvSpPr>
            <a:spLocks noGrp="1"/>
          </p:cNvSpPr>
          <p:nvPr>
            <p:ph type="body" sz="quarter" idx="18"/>
          </p:nvPr>
        </p:nvSpPr>
        <p:spPr>
          <a:xfrm>
            <a:off x="3894783" y="6134532"/>
            <a:ext cx="1354433" cy="314325"/>
          </a:xfrm>
        </p:spPr>
        <p:txBody>
          <a:bodyPr>
            <a:normAutofit/>
          </a:bodyPr>
          <a:lstStyle/>
          <a:p>
            <a:r>
              <a:rPr lang="en-US" sz="1200" dirty="0"/>
              <a:t>Figure 22.4</a:t>
            </a:r>
          </a:p>
        </p:txBody>
      </p:sp>
      <p:sp>
        <p:nvSpPr>
          <p:cNvPr id="8" name="Text Placeholder 4">
            <a:extLst>
              <a:ext uri="{FF2B5EF4-FFF2-40B4-BE49-F238E27FC236}">
                <a16:creationId xmlns:a16="http://schemas.microsoft.com/office/drawing/2014/main" id="{81C4B764-2FBF-4E4A-8299-844B314FAB73}"/>
              </a:ext>
            </a:extLst>
          </p:cNvPr>
          <p:cNvSpPr>
            <a:spLocks noGrp="1"/>
          </p:cNvSpPr>
          <p:nvPr>
            <p:ph type="body" sz="quarter" idx="21"/>
          </p:nvPr>
        </p:nvSpPr>
        <p:spPr>
          <a:xfrm>
            <a:off x="3083168" y="6563439"/>
            <a:ext cx="5539011" cy="258805"/>
          </a:xfrm>
        </p:spPr>
        <p:txBody>
          <a:bodyPr/>
          <a:lstStyle/>
          <a:p>
            <a:pPr lvl="0"/>
            <a:r>
              <a:rPr lang="en-US" dirty="0"/>
              <a:t>(a): Daren Mueller/Iowa State University/Bugwood.org; (c): ©Reproduced with permission of the Freshwater Biological Association on behalf of The Estate of Dr Hilda Canter-Lund. ©The Freshwater Biological Association.</a:t>
            </a:r>
          </a:p>
        </p:txBody>
      </p:sp>
      <p:sp>
        <p:nvSpPr>
          <p:cNvPr id="4" name="Slide Number Placeholder 5">
            <a:extLst>
              <a:ext uri="{FF2B5EF4-FFF2-40B4-BE49-F238E27FC236}">
                <a16:creationId xmlns:a16="http://schemas.microsoft.com/office/drawing/2014/main" id="{787DA767-F2F6-4BC7-BE68-5991C8BDB2DE}"/>
              </a:ext>
            </a:extLst>
          </p:cNvPr>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1296109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69E44-B177-4100-B392-C4CE3AAF9124}"/>
              </a:ext>
            </a:extLst>
          </p:cNvPr>
          <p:cNvSpPr>
            <a:spLocks noGrp="1"/>
          </p:cNvSpPr>
          <p:nvPr>
            <p:ph type="title"/>
          </p:nvPr>
        </p:nvSpPr>
        <p:spPr>
          <a:xfrm>
            <a:off x="0" y="1"/>
            <a:ext cx="9144000" cy="1043353"/>
          </a:xfrm>
        </p:spPr>
        <p:txBody>
          <a:bodyPr/>
          <a:lstStyle/>
          <a:p>
            <a:r>
              <a:rPr lang="en-US" dirty="0"/>
              <a:t>Zygomycota Produce Zygospores</a:t>
            </a:r>
            <a:endParaRPr lang="en-IN" dirty="0"/>
          </a:p>
        </p:txBody>
      </p:sp>
      <p:sp>
        <p:nvSpPr>
          <p:cNvPr id="3" name="Text Placeholder 2">
            <a:extLst>
              <a:ext uri="{FF2B5EF4-FFF2-40B4-BE49-F238E27FC236}">
                <a16:creationId xmlns:a16="http://schemas.microsoft.com/office/drawing/2014/main" id="{60633B5F-D07A-4040-8407-A057CD825ABD}"/>
              </a:ext>
            </a:extLst>
          </p:cNvPr>
          <p:cNvSpPr>
            <a:spLocks noGrp="1"/>
          </p:cNvSpPr>
          <p:nvPr>
            <p:ph type="body" sz="quarter" idx="19"/>
          </p:nvPr>
        </p:nvSpPr>
        <p:spPr>
          <a:xfrm>
            <a:off x="650081" y="1133713"/>
            <a:ext cx="7843837" cy="4590574"/>
          </a:xfrm>
        </p:spPr>
        <p:txBody>
          <a:bodyPr/>
          <a:lstStyle/>
          <a:p>
            <a:pPr>
              <a:spcAft>
                <a:spcPts val="1500"/>
              </a:spcAft>
            </a:pPr>
            <a:r>
              <a:rPr lang="en-US" sz="2400" dirty="0"/>
              <a:t>Phylum Zygomycota is not monophyletic, and many of the relationships within this group have yet to be resolved</a:t>
            </a:r>
          </a:p>
          <a:p>
            <a:pPr>
              <a:spcAft>
                <a:spcPts val="1500"/>
              </a:spcAft>
            </a:pPr>
            <a:r>
              <a:rPr lang="en-US" sz="2400" dirty="0"/>
              <a:t>Zygospore fungi live off plant and animal remains in the soil or in bakery goods in the pantry</a:t>
            </a:r>
          </a:p>
          <a:p>
            <a:pPr lvl="1">
              <a:spcBef>
                <a:spcPts val="0"/>
              </a:spcBef>
              <a:spcAft>
                <a:spcPts val="1500"/>
              </a:spcAft>
            </a:pPr>
            <a:r>
              <a:rPr lang="en-US" sz="2200" dirty="0"/>
              <a:t>Some are parasites of soil protists, worms, and insects such as the housefly</a:t>
            </a:r>
            <a:endParaRPr lang="en-US" sz="2200" i="1" dirty="0">
              <a:solidFill>
                <a:prstClr val="black"/>
              </a:solidFill>
            </a:endParaRPr>
          </a:p>
        </p:txBody>
      </p:sp>
      <p:sp>
        <p:nvSpPr>
          <p:cNvPr id="4" name="Slide Number Placeholder 3">
            <a:extLst>
              <a:ext uri="{FF2B5EF4-FFF2-40B4-BE49-F238E27FC236}">
                <a16:creationId xmlns:a16="http://schemas.microsoft.com/office/drawing/2014/main" id="{790B5570-3974-4452-AAFE-D04A0780A68B}"/>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2511853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78BB-0174-43FD-A3BC-00436379D381}"/>
              </a:ext>
            </a:extLst>
          </p:cNvPr>
          <p:cNvSpPr>
            <a:spLocks noGrp="1"/>
          </p:cNvSpPr>
          <p:nvPr>
            <p:ph type="title"/>
          </p:nvPr>
        </p:nvSpPr>
        <p:spPr/>
        <p:txBody>
          <a:bodyPr/>
          <a:lstStyle/>
          <a:p>
            <a:r>
              <a:rPr lang="en-US" i="1" dirty="0"/>
              <a:t>Rhizopus </a:t>
            </a:r>
            <a:r>
              <a:rPr lang="en-US" i="1" dirty="0" err="1"/>
              <a:t>stolonifer</a:t>
            </a:r>
            <a:endParaRPr lang="en-IN" dirty="0"/>
          </a:p>
        </p:txBody>
      </p:sp>
      <p:sp>
        <p:nvSpPr>
          <p:cNvPr id="3" name="Text Placeholder 2">
            <a:extLst>
              <a:ext uri="{FF2B5EF4-FFF2-40B4-BE49-F238E27FC236}">
                <a16:creationId xmlns:a16="http://schemas.microsoft.com/office/drawing/2014/main" id="{61A82F2B-3754-4FC3-A9E3-5ACD4B329B07}"/>
              </a:ext>
            </a:extLst>
          </p:cNvPr>
          <p:cNvSpPr>
            <a:spLocks noGrp="1"/>
          </p:cNvSpPr>
          <p:nvPr>
            <p:ph type="body" sz="quarter" idx="19"/>
          </p:nvPr>
        </p:nvSpPr>
        <p:spPr>
          <a:xfrm>
            <a:off x="760162" y="948214"/>
            <a:ext cx="7623676" cy="5330739"/>
          </a:xfrm>
        </p:spPr>
        <p:txBody>
          <a:bodyPr>
            <a:normAutofit fontScale="92500" lnSpcReduction="20000"/>
          </a:bodyPr>
          <a:lstStyle/>
          <a:p>
            <a:pPr>
              <a:spcBef>
                <a:spcPts val="600"/>
              </a:spcBef>
              <a:spcAft>
                <a:spcPts val="600"/>
              </a:spcAft>
            </a:pPr>
            <a:r>
              <a:rPr lang="en-US" sz="2600" i="1" dirty="0"/>
              <a:t>Rhizopus stolonifera </a:t>
            </a:r>
            <a:r>
              <a:rPr lang="en-US" sz="2600" dirty="0"/>
              <a:t>is also known as the black bread mold</a:t>
            </a:r>
          </a:p>
          <a:p>
            <a:pPr>
              <a:spcBef>
                <a:spcPts val="600"/>
              </a:spcBef>
              <a:spcAft>
                <a:spcPts val="600"/>
              </a:spcAft>
            </a:pPr>
            <a:r>
              <a:rPr lang="en-US" sz="2600" dirty="0"/>
              <a:t>Rhizopus has both a sexual and an asexual phase in its life cycle </a:t>
            </a:r>
          </a:p>
          <a:p>
            <a:pPr>
              <a:spcBef>
                <a:spcPts val="600"/>
              </a:spcBef>
              <a:spcAft>
                <a:spcPts val="600"/>
              </a:spcAft>
            </a:pPr>
            <a:r>
              <a:rPr lang="en-US" sz="2600" dirty="0"/>
              <a:t>The body of this fungus is composed of mostly aseptate hyphae that can specialize to perform various tasks</a:t>
            </a:r>
          </a:p>
          <a:p>
            <a:pPr marL="269875" lvl="1" indent="-269875">
              <a:spcBef>
                <a:spcPts val="600"/>
              </a:spcBef>
              <a:spcAft>
                <a:spcPts val="600"/>
              </a:spcAft>
            </a:pPr>
            <a:r>
              <a:rPr lang="en-US" sz="2400" dirty="0"/>
              <a:t>Rhizopus exhibits three kinds of specialized hyphae: </a:t>
            </a:r>
          </a:p>
          <a:p>
            <a:pPr lvl="2">
              <a:spcBef>
                <a:spcPts val="600"/>
              </a:spcBef>
              <a:spcAft>
                <a:spcPts val="600"/>
              </a:spcAft>
            </a:pPr>
            <a:r>
              <a:rPr lang="en-US" sz="2200" b="1" dirty="0" err="1"/>
              <a:t>Stolons</a:t>
            </a:r>
            <a:r>
              <a:rPr lang="en-US" sz="2200" b="1" dirty="0"/>
              <a:t>: </a:t>
            </a:r>
            <a:r>
              <a:rPr lang="en-US" sz="2200" dirty="0"/>
              <a:t>horizontal hyphae that exist on the surface of the bread</a:t>
            </a:r>
          </a:p>
          <a:p>
            <a:pPr lvl="2">
              <a:spcBef>
                <a:spcPts val="600"/>
              </a:spcBef>
              <a:spcAft>
                <a:spcPts val="600"/>
              </a:spcAft>
            </a:pPr>
            <a:r>
              <a:rPr lang="en-US" sz="2200" b="1" dirty="0"/>
              <a:t>Rhizoids: </a:t>
            </a:r>
            <a:r>
              <a:rPr lang="en-US" sz="2200" dirty="0"/>
              <a:t>hyphae that grow into bread, anchor the mycelium, and carry out digestion</a:t>
            </a:r>
          </a:p>
          <a:p>
            <a:pPr lvl="2">
              <a:spcBef>
                <a:spcPts val="600"/>
              </a:spcBef>
              <a:spcAft>
                <a:spcPts val="600"/>
              </a:spcAft>
            </a:pPr>
            <a:r>
              <a:rPr lang="en-US" sz="2200" b="1" dirty="0"/>
              <a:t>Sporangiophores</a:t>
            </a:r>
            <a:r>
              <a:rPr lang="en-US" sz="2200" dirty="0"/>
              <a:t>: aerial hyphae that bear sporangia</a:t>
            </a:r>
          </a:p>
          <a:p>
            <a:pPr marL="809625" lvl="3" indent="-269875">
              <a:spcBef>
                <a:spcPts val="600"/>
              </a:spcBef>
              <a:spcAft>
                <a:spcPts val="600"/>
              </a:spcAft>
            </a:pPr>
            <a:r>
              <a:rPr lang="en-US" sz="1900" b="1" dirty="0">
                <a:solidFill>
                  <a:srgbClr val="D90000"/>
                </a:solidFill>
              </a:rPr>
              <a:t>Sporangium</a:t>
            </a:r>
            <a:r>
              <a:rPr lang="en-US" sz="1900" dirty="0"/>
              <a:t> is a capsule that produces haploid spores, called </a:t>
            </a:r>
            <a:r>
              <a:rPr lang="en-US" sz="1900" b="1" dirty="0"/>
              <a:t>sporangiospores</a:t>
            </a:r>
            <a:r>
              <a:rPr lang="en-US" sz="1900" dirty="0"/>
              <a:t>, during the asexual phase of reproduction </a:t>
            </a:r>
          </a:p>
        </p:txBody>
      </p:sp>
      <p:sp>
        <p:nvSpPr>
          <p:cNvPr id="4" name="Slide Number Placeholder 3">
            <a:extLst>
              <a:ext uri="{FF2B5EF4-FFF2-40B4-BE49-F238E27FC236}">
                <a16:creationId xmlns:a16="http://schemas.microsoft.com/office/drawing/2014/main" id="{DE185384-5300-4A60-B21F-3A4F153679D4}"/>
              </a:ext>
            </a:extLst>
          </p:cNvPr>
          <p:cNvSpPr>
            <a:spLocks noGrp="1"/>
          </p:cNvSpPr>
          <p:nvPr>
            <p:ph type="sldNum" sz="quarter" idx="4"/>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2894226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55AE3-C003-4BB9-BED2-E406E57736F4}"/>
              </a:ext>
            </a:extLst>
          </p:cNvPr>
          <p:cNvSpPr>
            <a:spLocks noGrp="1"/>
          </p:cNvSpPr>
          <p:nvPr>
            <p:ph type="title"/>
          </p:nvPr>
        </p:nvSpPr>
        <p:spPr>
          <a:xfrm>
            <a:off x="0" y="1"/>
            <a:ext cx="9144000" cy="766871"/>
          </a:xfrm>
        </p:spPr>
        <p:txBody>
          <a:bodyPr/>
          <a:lstStyle/>
          <a:p>
            <a:r>
              <a:rPr lang="en-US" dirty="0"/>
              <a:t>Zygospores</a:t>
            </a:r>
            <a:endParaRPr lang="en-IN" dirty="0"/>
          </a:p>
        </p:txBody>
      </p:sp>
      <p:sp>
        <p:nvSpPr>
          <p:cNvPr id="3" name="Text Placeholder 2">
            <a:extLst>
              <a:ext uri="{FF2B5EF4-FFF2-40B4-BE49-F238E27FC236}">
                <a16:creationId xmlns:a16="http://schemas.microsoft.com/office/drawing/2014/main" id="{179FAF8A-E1D1-4D82-AB03-C732ABCDE75A}"/>
              </a:ext>
            </a:extLst>
          </p:cNvPr>
          <p:cNvSpPr>
            <a:spLocks noGrp="1"/>
          </p:cNvSpPr>
          <p:nvPr>
            <p:ph type="body" sz="quarter" idx="19"/>
          </p:nvPr>
        </p:nvSpPr>
        <p:spPr>
          <a:xfrm>
            <a:off x="760161" y="867508"/>
            <a:ext cx="7985253" cy="5544428"/>
          </a:xfrm>
        </p:spPr>
        <p:txBody>
          <a:bodyPr/>
          <a:lstStyle/>
          <a:p>
            <a:pPr>
              <a:spcAft>
                <a:spcPts val="1500"/>
              </a:spcAft>
            </a:pPr>
            <a:r>
              <a:rPr lang="en-US" sz="2400" b="1" dirty="0">
                <a:solidFill>
                  <a:srgbClr val="D90000"/>
                </a:solidFill>
              </a:rPr>
              <a:t>Zygospores</a:t>
            </a:r>
            <a:r>
              <a:rPr lang="en-US" sz="2400" dirty="0"/>
              <a:t> are diploid spores produced during sexual reproduction</a:t>
            </a:r>
          </a:p>
          <a:p>
            <a:pPr>
              <a:spcAft>
                <a:spcPts val="1500"/>
              </a:spcAft>
            </a:pPr>
            <a:r>
              <a:rPr lang="en-US" sz="2400" dirty="0"/>
              <a:t>Two mating types of hyphae, termed plus (+) and minus (−), are chemically attracted to one another, and they grow toward each other until they touch </a:t>
            </a:r>
          </a:p>
          <a:p>
            <a:pPr lvl="1">
              <a:spcBef>
                <a:spcPts val="0"/>
              </a:spcBef>
              <a:spcAft>
                <a:spcPts val="1500"/>
              </a:spcAft>
            </a:pPr>
            <a:r>
              <a:rPr lang="en-US" sz="2200" dirty="0"/>
              <a:t>Hyphae then form </a:t>
            </a:r>
            <a:r>
              <a:rPr lang="en-US" sz="2200" b="1" dirty="0"/>
              <a:t>gametangium</a:t>
            </a:r>
            <a:r>
              <a:rPr lang="en-US" sz="2200" dirty="0"/>
              <a:t> that merge, and the nuclei fuse to form a diploid zygote</a:t>
            </a:r>
          </a:p>
          <a:p>
            <a:pPr marL="620713" lvl="2" indent="-257175">
              <a:spcBef>
                <a:spcPts val="0"/>
              </a:spcBef>
              <a:spcAft>
                <a:spcPts val="1500"/>
              </a:spcAft>
            </a:pPr>
            <a:r>
              <a:rPr lang="en-US" sz="2000" dirty="0"/>
              <a:t>A thick wall develops around the zygote, which is now called a zygospore</a:t>
            </a:r>
          </a:p>
          <a:p>
            <a:pPr marL="903288" lvl="3" indent="-282575">
              <a:spcBef>
                <a:spcPts val="0"/>
              </a:spcBef>
              <a:spcAft>
                <a:spcPts val="1500"/>
              </a:spcAft>
            </a:pPr>
            <a:r>
              <a:rPr lang="en-US" sz="1800" dirty="0"/>
              <a:t>Zygospore undergoes a period of dormancy before new haploid sporangiospores are formed by meiosis</a:t>
            </a:r>
          </a:p>
          <a:p>
            <a:pPr marL="903288" lvl="3" indent="-282575">
              <a:spcBef>
                <a:spcPts val="0"/>
              </a:spcBef>
              <a:spcAft>
                <a:spcPts val="1500"/>
              </a:spcAft>
            </a:pPr>
            <a:r>
              <a:rPr lang="en-US" sz="1800" dirty="0"/>
              <a:t>Sporangiophores with sporangia at their tips germinate from the zygospore, and many sporangiospores are released and dispersed by air currents</a:t>
            </a:r>
          </a:p>
        </p:txBody>
      </p:sp>
      <p:sp>
        <p:nvSpPr>
          <p:cNvPr id="4" name="Slide Number Placeholder 3">
            <a:extLst>
              <a:ext uri="{FF2B5EF4-FFF2-40B4-BE49-F238E27FC236}">
                <a16:creationId xmlns:a16="http://schemas.microsoft.com/office/drawing/2014/main" id="{FD2B558D-CF8E-4EF1-8316-64CF43E9A0A3}"/>
              </a:ext>
            </a:extLst>
          </p:cNvPr>
          <p:cNvSpPr>
            <a:spLocks noGrp="1"/>
          </p:cNvSpPr>
          <p:nvPr>
            <p:ph type="sldNum" sz="quarter" idx="4"/>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1290625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307F7-AF62-4807-8D4A-52387E46CD59}"/>
              </a:ext>
            </a:extLst>
          </p:cNvPr>
          <p:cNvSpPr>
            <a:spLocks noGrp="1"/>
          </p:cNvSpPr>
          <p:nvPr>
            <p:ph type="title"/>
          </p:nvPr>
        </p:nvSpPr>
        <p:spPr/>
        <p:txBody>
          <a:bodyPr/>
          <a:lstStyle/>
          <a:p>
            <a:r>
              <a:rPr lang="en-US" altLang="en-US" sz="3600" dirty="0"/>
              <a:t>Black Bread Mold, </a:t>
            </a:r>
            <a:r>
              <a:rPr lang="en-US" altLang="en-US" sz="3600" i="1" dirty="0"/>
              <a:t>Rhizopus </a:t>
            </a:r>
            <a:r>
              <a:rPr lang="en-US" altLang="en-US" sz="3600" i="1" dirty="0" err="1"/>
              <a:t>stolonifer</a:t>
            </a:r>
            <a:endParaRPr lang="en-IN" sz="3600" dirty="0"/>
          </a:p>
        </p:txBody>
      </p:sp>
      <p:pic>
        <p:nvPicPr>
          <p:cNvPr id="8" name="Picture 2" descr="Illustration shows formation of sporangiophore, sporangium using nuclear and cytoplasmic fusion and meiosis as described from 1 through 5. ">
            <a:extLst>
              <a:ext uri="{FF2B5EF4-FFF2-40B4-BE49-F238E27FC236}">
                <a16:creationId xmlns:a16="http://schemas.microsoft.com/office/drawing/2014/main" id="{D218CAB6-49A5-4F95-B8A8-6292C938E9D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914"/>
          <a:stretch/>
        </p:blipFill>
        <p:spPr>
          <a:xfrm>
            <a:off x="908304" y="1043354"/>
            <a:ext cx="7327392" cy="4503850"/>
          </a:xfrm>
          <a:prstGeom prst="rect">
            <a:avLst/>
          </a:prstGeom>
        </p:spPr>
      </p:pic>
      <p:sp>
        <p:nvSpPr>
          <p:cNvPr id="5" name="Text Placeholder 3">
            <a:extLst>
              <a:ext uri="{FF2B5EF4-FFF2-40B4-BE49-F238E27FC236}">
                <a16:creationId xmlns:a16="http://schemas.microsoft.com/office/drawing/2014/main" id="{5E3EE5AA-774E-418D-A69B-14AE242C2B40}"/>
              </a:ext>
            </a:extLst>
          </p:cNvPr>
          <p:cNvSpPr>
            <a:spLocks noGrp="1"/>
          </p:cNvSpPr>
          <p:nvPr>
            <p:ph type="body" sz="quarter" idx="18"/>
          </p:nvPr>
        </p:nvSpPr>
        <p:spPr>
          <a:xfrm>
            <a:off x="4017875" y="5773871"/>
            <a:ext cx="1108249" cy="314325"/>
          </a:xfrm>
        </p:spPr>
        <p:txBody>
          <a:bodyPr>
            <a:normAutofit/>
          </a:bodyPr>
          <a:lstStyle/>
          <a:p>
            <a:r>
              <a:rPr lang="en-US" sz="1200" dirty="0"/>
              <a:t>Figure 22.5</a:t>
            </a:r>
          </a:p>
        </p:txBody>
      </p:sp>
      <p:sp>
        <p:nvSpPr>
          <p:cNvPr id="6" name="Text Placeholder 4">
            <a:extLst>
              <a:ext uri="{FF2B5EF4-FFF2-40B4-BE49-F238E27FC236}">
                <a16:creationId xmlns:a16="http://schemas.microsoft.com/office/drawing/2014/main" id="{4B131382-7F45-48AD-87BA-80F7F2FFAB27}"/>
              </a:ext>
            </a:extLst>
          </p:cNvPr>
          <p:cNvSpPr>
            <a:spLocks noGrp="1"/>
          </p:cNvSpPr>
          <p:nvPr>
            <p:ph type="body" sz="quarter" idx="19"/>
          </p:nvPr>
        </p:nvSpPr>
        <p:spPr>
          <a:xfrm>
            <a:off x="2982974" y="6088196"/>
            <a:ext cx="3178052"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8283A337-CF59-4196-9507-87707529A596}"/>
              </a:ext>
            </a:extLst>
          </p:cNvPr>
          <p:cNvSpPr>
            <a:spLocks noGrp="1"/>
          </p:cNvSpPr>
          <p:nvPr>
            <p:ph type="sldNum" sz="quarter" idx="4"/>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1317564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55AE3-C003-4BB9-BED2-E406E57736F4}"/>
              </a:ext>
            </a:extLst>
          </p:cNvPr>
          <p:cNvSpPr>
            <a:spLocks noGrp="1"/>
          </p:cNvSpPr>
          <p:nvPr>
            <p:ph type="title"/>
          </p:nvPr>
        </p:nvSpPr>
        <p:spPr>
          <a:xfrm>
            <a:off x="0" y="1"/>
            <a:ext cx="9144000" cy="1125414"/>
          </a:xfrm>
        </p:spPr>
        <p:txBody>
          <a:bodyPr/>
          <a:lstStyle/>
          <a:p>
            <a:r>
              <a:rPr lang="en-US" sz="3600" dirty="0" err="1"/>
              <a:t>Glomeromycota</a:t>
            </a:r>
            <a:r>
              <a:rPr lang="en-US" sz="3600" dirty="0"/>
              <a:t> Includes Important Symbiotic Fungi</a:t>
            </a:r>
            <a:endParaRPr lang="en-IN" sz="3600" dirty="0"/>
          </a:p>
        </p:txBody>
      </p:sp>
      <p:sp>
        <p:nvSpPr>
          <p:cNvPr id="3" name="Text Placeholder 2">
            <a:extLst>
              <a:ext uri="{FF2B5EF4-FFF2-40B4-BE49-F238E27FC236}">
                <a16:creationId xmlns:a16="http://schemas.microsoft.com/office/drawing/2014/main" id="{179FAF8A-E1D1-4D82-AB03-C732ABCDE75A}"/>
              </a:ext>
            </a:extLst>
          </p:cNvPr>
          <p:cNvSpPr>
            <a:spLocks noGrp="1"/>
          </p:cNvSpPr>
          <p:nvPr>
            <p:ph type="body" sz="quarter" idx="19"/>
          </p:nvPr>
        </p:nvSpPr>
        <p:spPr>
          <a:xfrm>
            <a:off x="842963" y="1491505"/>
            <a:ext cx="7623676" cy="5330739"/>
          </a:xfrm>
        </p:spPr>
        <p:txBody>
          <a:bodyPr/>
          <a:lstStyle/>
          <a:p>
            <a:pPr>
              <a:spcAft>
                <a:spcPts val="1500"/>
              </a:spcAft>
            </a:pPr>
            <a:r>
              <a:rPr lang="en-US" sz="2400" b="1" dirty="0"/>
              <a:t>Arbuscular mycorrhizal </a:t>
            </a:r>
            <a:r>
              <a:rPr lang="en-US" sz="2400" dirty="0"/>
              <a:t>(AM) fungi are a relatively small group of about 230 species</a:t>
            </a:r>
          </a:p>
          <a:p>
            <a:pPr marL="0" lvl="1" indent="0">
              <a:spcBef>
                <a:spcPts val="0"/>
              </a:spcBef>
              <a:buNone/>
            </a:pPr>
            <a:r>
              <a:rPr lang="en-US" sz="2400" dirty="0"/>
              <a:t>Arbuscules are branching invaginations that the fungus makes when it invades plant roots </a:t>
            </a:r>
          </a:p>
          <a:p>
            <a:pPr marL="0" lvl="1" indent="0">
              <a:buNone/>
            </a:pPr>
            <a:r>
              <a:rPr lang="en-US" sz="2400" dirty="0"/>
              <a:t>Mycorrhizae are a mutualistic association of plants and fungi</a:t>
            </a:r>
          </a:p>
          <a:p>
            <a:pPr marL="269875" lvl="2" indent="-269875"/>
            <a:r>
              <a:rPr lang="en-US" sz="2200" dirty="0"/>
              <a:t>They play a critical role in the ability of plants to absorb nutrients with their roots</a:t>
            </a:r>
          </a:p>
          <a:p>
            <a:pPr marL="269875" lvl="2" indent="-269875"/>
            <a:r>
              <a:rPr lang="en-US" sz="2200" dirty="0"/>
              <a:t>Majority of plants have a mutually beneficial relationship, or symbiosis, with AM fungi</a:t>
            </a:r>
          </a:p>
        </p:txBody>
      </p:sp>
      <p:sp>
        <p:nvSpPr>
          <p:cNvPr id="4" name="Slide Number Placeholder 3">
            <a:extLst>
              <a:ext uri="{FF2B5EF4-FFF2-40B4-BE49-F238E27FC236}">
                <a16:creationId xmlns:a16="http://schemas.microsoft.com/office/drawing/2014/main" id="{FD2B558D-CF8E-4EF1-8316-64CF43E9A0A3}"/>
              </a:ext>
            </a:extLst>
          </p:cNvPr>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2433045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D012-6BD8-45BA-AEAB-47AEECD8C0BD}"/>
              </a:ext>
            </a:extLst>
          </p:cNvPr>
          <p:cNvSpPr>
            <a:spLocks noGrp="1"/>
          </p:cNvSpPr>
          <p:nvPr>
            <p:ph type="title"/>
          </p:nvPr>
        </p:nvSpPr>
        <p:spPr>
          <a:xfrm>
            <a:off x="0" y="1"/>
            <a:ext cx="9144000" cy="1177179"/>
          </a:xfrm>
        </p:spPr>
        <p:txBody>
          <a:bodyPr/>
          <a:lstStyle/>
          <a:p>
            <a:r>
              <a:rPr lang="en-US" sz="3600" dirty="0"/>
              <a:t>Ascomycetes Produce a Fruiting Body Called an Ascocarp</a:t>
            </a:r>
            <a:endParaRPr lang="en-IN" sz="3600" dirty="0"/>
          </a:p>
        </p:txBody>
      </p:sp>
      <p:sp>
        <p:nvSpPr>
          <p:cNvPr id="3" name="Text Placeholder 2">
            <a:extLst>
              <a:ext uri="{FF2B5EF4-FFF2-40B4-BE49-F238E27FC236}">
                <a16:creationId xmlns:a16="http://schemas.microsoft.com/office/drawing/2014/main" id="{DE67D869-0BA6-41F7-BBD5-B7D51A7942F2}"/>
              </a:ext>
            </a:extLst>
          </p:cNvPr>
          <p:cNvSpPr>
            <a:spLocks noGrp="1"/>
          </p:cNvSpPr>
          <p:nvPr>
            <p:ph type="body" sz="quarter" idx="19"/>
          </p:nvPr>
        </p:nvSpPr>
        <p:spPr>
          <a:xfrm>
            <a:off x="842963" y="1177180"/>
            <a:ext cx="7623676" cy="5645064"/>
          </a:xfrm>
        </p:spPr>
        <p:txBody>
          <a:bodyPr/>
          <a:lstStyle/>
          <a:p>
            <a:pPr>
              <a:spcBef>
                <a:spcPts val="600"/>
              </a:spcBef>
              <a:spcAft>
                <a:spcPts val="600"/>
              </a:spcAft>
            </a:pPr>
            <a:r>
              <a:rPr lang="en-US" sz="2200" dirty="0"/>
              <a:t>Members of the Ascomycota phylum are called </a:t>
            </a:r>
            <a:r>
              <a:rPr lang="en-US" sz="2200" b="1" dirty="0">
                <a:solidFill>
                  <a:srgbClr val="D90000"/>
                </a:solidFill>
              </a:rPr>
              <a:t>sac fungi</a:t>
            </a:r>
          </a:p>
          <a:p>
            <a:pPr lvl="1">
              <a:spcBef>
                <a:spcPts val="600"/>
              </a:spcBef>
              <a:spcAft>
                <a:spcPts val="600"/>
              </a:spcAft>
            </a:pPr>
            <a:r>
              <a:rPr lang="en-US" dirty="0"/>
              <a:t>Phylum includes 64,000 species can reproduce asexually or sexually</a:t>
            </a:r>
          </a:p>
          <a:p>
            <a:pPr lvl="1">
              <a:spcBef>
                <a:spcPts val="600"/>
              </a:spcBef>
              <a:spcAft>
                <a:spcPts val="600"/>
              </a:spcAft>
            </a:pPr>
            <a:r>
              <a:rPr lang="en-US" dirty="0"/>
              <a:t>Multicellular </a:t>
            </a:r>
            <a:r>
              <a:rPr lang="en-US" b="1" dirty="0">
                <a:solidFill>
                  <a:srgbClr val="D90000"/>
                </a:solidFill>
              </a:rPr>
              <a:t>molds</a:t>
            </a:r>
            <a:r>
              <a:rPr lang="en-US" dirty="0"/>
              <a:t> and single-celled </a:t>
            </a:r>
            <a:r>
              <a:rPr lang="en-US" b="1" dirty="0">
                <a:solidFill>
                  <a:srgbClr val="D90000"/>
                </a:solidFill>
              </a:rPr>
              <a:t>yeasts</a:t>
            </a:r>
            <a:r>
              <a:rPr lang="en-US" dirty="0"/>
              <a:t> are the most common morphological types</a:t>
            </a:r>
          </a:p>
          <a:p>
            <a:pPr lvl="1">
              <a:spcBef>
                <a:spcPts val="600"/>
              </a:spcBef>
              <a:spcAft>
                <a:spcPts val="600"/>
              </a:spcAft>
            </a:pPr>
            <a:r>
              <a:rPr lang="en-US" dirty="0"/>
              <a:t>Sac fungi play an essential ecological role in recycling by digesting materials that do not easily decompose, such as cellulose, lignin, and collagen</a:t>
            </a:r>
          </a:p>
          <a:p>
            <a:pPr marL="620713" lvl="2" indent="-257175">
              <a:spcBef>
                <a:spcPts val="600"/>
              </a:spcBef>
              <a:spcAft>
                <a:spcPts val="600"/>
              </a:spcAft>
            </a:pPr>
            <a:r>
              <a:rPr lang="en-US" dirty="0"/>
              <a:t>Members of this phylum are also ecologically important, due to their relationships with plants, algae, and some animals</a:t>
            </a:r>
          </a:p>
          <a:p>
            <a:pPr lvl="1">
              <a:spcBef>
                <a:spcPts val="600"/>
              </a:spcBef>
              <a:spcAft>
                <a:spcPts val="600"/>
              </a:spcAft>
            </a:pPr>
            <a:r>
              <a:rPr lang="en-US" dirty="0"/>
              <a:t>Members of this phylum also have an important economic role</a:t>
            </a:r>
          </a:p>
          <a:p>
            <a:pPr marL="620713" lvl="2" indent="-257175">
              <a:spcBef>
                <a:spcPts val="600"/>
              </a:spcBef>
              <a:spcAft>
                <a:spcPts val="600"/>
              </a:spcAft>
            </a:pPr>
            <a:r>
              <a:rPr lang="en-US" dirty="0"/>
              <a:t>Some species, mainly yeasts, are used to produce foods, while others cause food spoilage and can produce toxins</a:t>
            </a:r>
          </a:p>
          <a:p>
            <a:pPr marL="620713" lvl="2" indent="-257175">
              <a:spcBef>
                <a:spcPts val="600"/>
              </a:spcBef>
              <a:spcAft>
                <a:spcPts val="600"/>
              </a:spcAft>
            </a:pPr>
            <a:r>
              <a:rPr lang="en-US" dirty="0"/>
              <a:t>Fungal infections are of medical importance, as is the production of antibiotics from sac fungi</a:t>
            </a:r>
            <a:endParaRPr lang="en-US" dirty="0">
              <a:solidFill>
                <a:prstClr val="black"/>
              </a:solidFill>
            </a:endParaRPr>
          </a:p>
        </p:txBody>
      </p:sp>
      <p:sp>
        <p:nvSpPr>
          <p:cNvPr id="4" name="Slide Number Placeholder 3">
            <a:extLst>
              <a:ext uri="{FF2B5EF4-FFF2-40B4-BE49-F238E27FC236}">
                <a16:creationId xmlns:a16="http://schemas.microsoft.com/office/drawing/2014/main" id="{D98C06D7-C705-4BC2-BC26-18C44610506F}"/>
              </a:ext>
            </a:extLst>
          </p:cNvPr>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1278792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546B8-7B04-4AEE-A0AF-09AC5AD34969}"/>
              </a:ext>
            </a:extLst>
          </p:cNvPr>
          <p:cNvSpPr>
            <a:spLocks noGrp="1"/>
          </p:cNvSpPr>
          <p:nvPr>
            <p:ph type="title"/>
          </p:nvPr>
        </p:nvSpPr>
        <p:spPr>
          <a:xfrm>
            <a:off x="0" y="1"/>
            <a:ext cx="9144000" cy="948213"/>
          </a:xfrm>
        </p:spPr>
        <p:txBody>
          <a:bodyPr/>
          <a:lstStyle/>
          <a:p>
            <a:r>
              <a:rPr lang="en-US" dirty="0"/>
              <a:t>Reproduction</a:t>
            </a:r>
            <a:endParaRPr lang="en-IN" dirty="0"/>
          </a:p>
        </p:txBody>
      </p:sp>
      <p:sp>
        <p:nvSpPr>
          <p:cNvPr id="3" name="Text Placeholder 2">
            <a:extLst>
              <a:ext uri="{FF2B5EF4-FFF2-40B4-BE49-F238E27FC236}">
                <a16:creationId xmlns:a16="http://schemas.microsoft.com/office/drawing/2014/main" id="{ACD4AB31-BE5B-476F-9B8B-3AF8F6C3338A}"/>
              </a:ext>
            </a:extLst>
          </p:cNvPr>
          <p:cNvSpPr>
            <a:spLocks noGrp="1"/>
          </p:cNvSpPr>
          <p:nvPr>
            <p:ph type="body" sz="quarter" idx="19"/>
          </p:nvPr>
        </p:nvSpPr>
        <p:spPr>
          <a:xfrm>
            <a:off x="866408" y="948214"/>
            <a:ext cx="7925899" cy="5645064"/>
          </a:xfrm>
        </p:spPr>
        <p:txBody>
          <a:bodyPr>
            <a:normAutofit lnSpcReduction="10000"/>
          </a:bodyPr>
          <a:lstStyle/>
          <a:p>
            <a:pPr>
              <a:spcBef>
                <a:spcPts val="600"/>
              </a:spcBef>
              <a:spcAft>
                <a:spcPts val="600"/>
              </a:spcAft>
            </a:pPr>
            <a:r>
              <a:rPr lang="en-US" dirty="0"/>
              <a:t>Asexual reproduction is most common among these fungi</a:t>
            </a:r>
          </a:p>
          <a:p>
            <a:pPr lvl="1">
              <a:spcBef>
                <a:spcPts val="600"/>
              </a:spcBef>
              <a:spcAft>
                <a:spcPts val="600"/>
              </a:spcAft>
            </a:pPr>
            <a:r>
              <a:rPr lang="en-US" sz="1800" dirty="0"/>
              <a:t>Yeasts usually reproduce by asexual budding, in which a small cell forms and pinches off as it grows to full size</a:t>
            </a:r>
          </a:p>
          <a:p>
            <a:pPr lvl="1">
              <a:spcBef>
                <a:spcPts val="600"/>
              </a:spcBef>
              <a:spcAft>
                <a:spcPts val="600"/>
              </a:spcAft>
            </a:pPr>
            <a:r>
              <a:rPr lang="en-US" sz="1800" dirty="0"/>
              <a:t>Molds tend to produce spores called conidia, or </a:t>
            </a:r>
            <a:r>
              <a:rPr lang="en-US" sz="1800" b="1" dirty="0" err="1">
                <a:solidFill>
                  <a:srgbClr val="D90000"/>
                </a:solidFill>
              </a:rPr>
              <a:t>conidiospores</a:t>
            </a:r>
            <a:r>
              <a:rPr lang="en-US" sz="1800" dirty="0"/>
              <a:t> that</a:t>
            </a:r>
            <a:r>
              <a:rPr lang="en-US" sz="1800" b="1" dirty="0"/>
              <a:t> </a:t>
            </a:r>
            <a:r>
              <a:rPr lang="en-US" sz="1800" dirty="0"/>
              <a:t>are dispersed by wind</a:t>
            </a:r>
          </a:p>
          <a:p>
            <a:pPr lvl="0">
              <a:spcBef>
                <a:spcPts val="600"/>
              </a:spcBef>
              <a:spcAft>
                <a:spcPts val="600"/>
              </a:spcAft>
            </a:pPr>
            <a:r>
              <a:rPr lang="en-US" dirty="0"/>
              <a:t>Sexual reproduction takes place in a fruiting body</a:t>
            </a:r>
          </a:p>
          <a:p>
            <a:pPr lvl="1">
              <a:spcBef>
                <a:spcPts val="600"/>
              </a:spcBef>
              <a:spcAft>
                <a:spcPts val="600"/>
              </a:spcAft>
            </a:pPr>
            <a:r>
              <a:rPr lang="en-US" sz="1800" dirty="0"/>
              <a:t> A </a:t>
            </a:r>
            <a:r>
              <a:rPr lang="en-US" sz="1800" b="1" dirty="0">
                <a:solidFill>
                  <a:srgbClr val="D90000"/>
                </a:solidFill>
              </a:rPr>
              <a:t>fruiting body </a:t>
            </a:r>
            <a:r>
              <a:rPr lang="en-US" sz="1800" dirty="0"/>
              <a:t>is a structure that is formed to produce and enhance the release of spores</a:t>
            </a:r>
          </a:p>
          <a:p>
            <a:pPr marL="620713" lvl="2">
              <a:spcBef>
                <a:spcPts val="600"/>
              </a:spcBef>
              <a:spcAft>
                <a:spcPts val="600"/>
              </a:spcAft>
            </a:pPr>
            <a:r>
              <a:rPr lang="en-US" sz="1600" dirty="0"/>
              <a:t>Sexual spores develop in an ascus, a fingerlike sac that develops during sexual reproduction </a:t>
            </a:r>
          </a:p>
          <a:p>
            <a:pPr marL="620713" lvl="2">
              <a:spcBef>
                <a:spcPts val="600"/>
              </a:spcBef>
              <a:spcAft>
                <a:spcPts val="600"/>
              </a:spcAft>
            </a:pPr>
            <a:r>
              <a:rPr lang="en-US" sz="1600" dirty="0"/>
              <a:t>Asci are found within a fruiting body called an </a:t>
            </a:r>
            <a:r>
              <a:rPr lang="en-US" sz="1600" b="1" dirty="0"/>
              <a:t>ascocarp</a:t>
            </a:r>
          </a:p>
          <a:p>
            <a:pPr marL="620713" lvl="2">
              <a:spcBef>
                <a:spcPts val="600"/>
              </a:spcBef>
              <a:spcAft>
                <a:spcPts val="600"/>
              </a:spcAft>
            </a:pPr>
            <a:r>
              <a:rPr lang="en-US" sz="1600" dirty="0"/>
              <a:t>Within the ascus the hyphae are dikaryotic</a:t>
            </a:r>
          </a:p>
          <a:p>
            <a:pPr marL="903288" lvl="3" indent="-282575">
              <a:spcBef>
                <a:spcPts val="600"/>
              </a:spcBef>
              <a:spcAft>
                <a:spcPts val="600"/>
              </a:spcAft>
            </a:pPr>
            <a:r>
              <a:rPr lang="en-US" sz="1600" dirty="0"/>
              <a:t>Two nuclei fuse to create diploid cells that in turn undergo meiosis to become new haploid cells called ascospores</a:t>
            </a:r>
          </a:p>
          <a:p>
            <a:pPr marL="903288" lvl="3" indent="-282575">
              <a:spcBef>
                <a:spcPts val="600"/>
              </a:spcBef>
              <a:spcAft>
                <a:spcPts val="600"/>
              </a:spcAft>
            </a:pPr>
            <a:r>
              <a:rPr lang="en-US" sz="1600" b="1" dirty="0">
                <a:solidFill>
                  <a:srgbClr val="D90000"/>
                </a:solidFill>
              </a:rPr>
              <a:t>Ascospores</a:t>
            </a:r>
            <a:r>
              <a:rPr lang="en-US" sz="1600" dirty="0"/>
              <a:t> are released and dispersed by the wind after bursting from a swollen ascus.</a:t>
            </a:r>
            <a:endParaRPr lang="en-US" sz="1600" dirty="0">
              <a:solidFill>
                <a:prstClr val="black"/>
              </a:solidFill>
            </a:endParaRPr>
          </a:p>
        </p:txBody>
      </p:sp>
      <p:sp>
        <p:nvSpPr>
          <p:cNvPr id="4" name="Slide Number Placeholder 3">
            <a:extLst>
              <a:ext uri="{FF2B5EF4-FFF2-40B4-BE49-F238E27FC236}">
                <a16:creationId xmlns:a16="http://schemas.microsoft.com/office/drawing/2014/main" id="{857FD2DA-2E0C-44F0-830F-2B954A6A027F}"/>
              </a:ext>
            </a:extLst>
          </p:cNvPr>
          <p:cNvSpPr>
            <a:spLocks noGrp="1"/>
          </p:cNvSpPr>
          <p:nvPr>
            <p:ph type="sldNum" sz="quarter" idx="4"/>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3372097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855480F-8973-4918-8B08-C28CB32D0DE9}"/>
              </a:ext>
            </a:extLst>
          </p:cNvPr>
          <p:cNvSpPr>
            <a:spLocks noGrp="1"/>
          </p:cNvSpPr>
          <p:nvPr>
            <p:ph type="title"/>
          </p:nvPr>
        </p:nvSpPr>
        <p:spPr>
          <a:xfrm>
            <a:off x="456167" y="-23446"/>
            <a:ext cx="8241323" cy="1206762"/>
          </a:xfrm>
        </p:spPr>
        <p:txBody>
          <a:bodyPr/>
          <a:lstStyle/>
          <a:p>
            <a:r>
              <a:rPr lang="en-US" altLang="en-US" dirty="0"/>
              <a:t>Asexual Reproduction in Sac Fungi</a:t>
            </a:r>
            <a:endParaRPr lang="en-IN" dirty="0"/>
          </a:p>
        </p:txBody>
      </p:sp>
      <p:pic>
        <p:nvPicPr>
          <p:cNvPr id="9" name="Picture 2" descr="A) Microscopic view shows a budding yeast cell and a bud scar. B) Microscopic view shows chain of round cells, conidia attached to conidiophore.">
            <a:extLst>
              <a:ext uri="{FF2B5EF4-FFF2-40B4-BE49-F238E27FC236}">
                <a16:creationId xmlns:a16="http://schemas.microsoft.com/office/drawing/2014/main" id="{8A65BA88-E3F6-4F52-9A7C-FF4120840B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56" b="3857"/>
          <a:stretch/>
        </p:blipFill>
        <p:spPr bwMode="auto">
          <a:xfrm>
            <a:off x="719209" y="1338139"/>
            <a:ext cx="7704455" cy="4159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3">
            <a:extLst>
              <a:ext uri="{FF2B5EF4-FFF2-40B4-BE49-F238E27FC236}">
                <a16:creationId xmlns:a16="http://schemas.microsoft.com/office/drawing/2014/main" id="{4F9B0BFC-04B9-499B-A0B9-FB9C836A7FFA}"/>
              </a:ext>
            </a:extLst>
          </p:cNvPr>
          <p:cNvSpPr>
            <a:spLocks noGrp="1"/>
          </p:cNvSpPr>
          <p:nvPr>
            <p:ph type="body" sz="quarter" idx="18"/>
          </p:nvPr>
        </p:nvSpPr>
        <p:spPr>
          <a:xfrm>
            <a:off x="4017310" y="5595998"/>
            <a:ext cx="1108249" cy="314325"/>
          </a:xfrm>
        </p:spPr>
        <p:txBody>
          <a:bodyPr>
            <a:normAutofit/>
          </a:bodyPr>
          <a:lstStyle/>
          <a:p>
            <a:r>
              <a:rPr lang="en-US" sz="1200" dirty="0"/>
              <a:t>Figure 22.6</a:t>
            </a:r>
          </a:p>
        </p:txBody>
      </p:sp>
      <p:sp>
        <p:nvSpPr>
          <p:cNvPr id="8" name="Text Placeholder 5">
            <a:extLst>
              <a:ext uri="{FF2B5EF4-FFF2-40B4-BE49-F238E27FC236}">
                <a16:creationId xmlns:a16="http://schemas.microsoft.com/office/drawing/2014/main" id="{4741A391-47F4-4A32-8685-F4DAA168D732}"/>
              </a:ext>
            </a:extLst>
          </p:cNvPr>
          <p:cNvSpPr>
            <a:spLocks noGrp="1"/>
          </p:cNvSpPr>
          <p:nvPr>
            <p:ph type="body" sz="quarter" idx="21"/>
          </p:nvPr>
        </p:nvSpPr>
        <p:spPr/>
        <p:txBody>
          <a:bodyPr/>
          <a:lstStyle/>
          <a:p>
            <a:pPr lvl="0"/>
            <a:r>
              <a:rPr lang="en-US" dirty="0"/>
              <a:t>(a): Science Photo/Library/Getty Images; (b): Dennis Kunkel Microscopy, Inc./</a:t>
            </a:r>
            <a:r>
              <a:rPr lang="en-US" dirty="0" err="1"/>
              <a:t>Diomedia</a:t>
            </a:r>
            <a:endParaRPr lang="en-US" dirty="0"/>
          </a:p>
        </p:txBody>
      </p:sp>
      <p:sp>
        <p:nvSpPr>
          <p:cNvPr id="4" name="Slide Number Placeholder 6">
            <a:extLst>
              <a:ext uri="{FF2B5EF4-FFF2-40B4-BE49-F238E27FC236}">
                <a16:creationId xmlns:a16="http://schemas.microsoft.com/office/drawing/2014/main" id="{3612E811-C358-4EF1-95C0-A46E603348BF}"/>
              </a:ext>
            </a:extLst>
          </p:cNvPr>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686831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7A79-A568-4E74-8C5F-E09C087EDD5F}"/>
              </a:ext>
            </a:extLst>
          </p:cNvPr>
          <p:cNvSpPr>
            <a:spLocks noGrp="1"/>
          </p:cNvSpPr>
          <p:nvPr>
            <p:ph type="title"/>
          </p:nvPr>
        </p:nvSpPr>
        <p:spPr/>
        <p:txBody>
          <a:bodyPr/>
          <a:lstStyle/>
          <a:p>
            <a:r>
              <a:rPr lang="en-US" altLang="en-US" dirty="0"/>
              <a:t>Sexual Reproduction in Sac Fungi</a:t>
            </a:r>
            <a:endParaRPr lang="en-IN" dirty="0"/>
          </a:p>
        </p:txBody>
      </p:sp>
      <p:pic>
        <p:nvPicPr>
          <p:cNvPr id="8" name="Picture 2" descr="Set of two diagrams show the parts of cup fungus and morel. ">
            <a:extLst>
              <a:ext uri="{FF2B5EF4-FFF2-40B4-BE49-F238E27FC236}">
                <a16:creationId xmlns:a16="http://schemas.microsoft.com/office/drawing/2014/main" id="{B01F97FB-D578-40F6-A124-730505BE217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817"/>
          <a:stretch/>
        </p:blipFill>
        <p:spPr>
          <a:xfrm>
            <a:off x="1359407" y="1003734"/>
            <a:ext cx="6425184" cy="4478304"/>
          </a:xfrm>
          <a:prstGeom prst="rect">
            <a:avLst/>
          </a:prstGeom>
        </p:spPr>
      </p:pic>
      <p:sp>
        <p:nvSpPr>
          <p:cNvPr id="5" name="Text Placeholder 3">
            <a:extLst>
              <a:ext uri="{FF2B5EF4-FFF2-40B4-BE49-F238E27FC236}">
                <a16:creationId xmlns:a16="http://schemas.microsoft.com/office/drawing/2014/main" id="{5C2577E0-3763-427A-8CC6-C2E6AFD1CCE0}"/>
              </a:ext>
            </a:extLst>
          </p:cNvPr>
          <p:cNvSpPr>
            <a:spLocks noGrp="1"/>
          </p:cNvSpPr>
          <p:nvPr>
            <p:ph type="body" sz="quarter" idx="18"/>
          </p:nvPr>
        </p:nvSpPr>
        <p:spPr>
          <a:xfrm>
            <a:off x="3865475" y="5681377"/>
            <a:ext cx="1413049" cy="314325"/>
          </a:xfrm>
        </p:spPr>
        <p:txBody>
          <a:bodyPr>
            <a:normAutofit/>
          </a:bodyPr>
          <a:lstStyle/>
          <a:p>
            <a:r>
              <a:rPr lang="en-US" sz="1200" dirty="0"/>
              <a:t>Figure 22.7</a:t>
            </a:r>
          </a:p>
        </p:txBody>
      </p:sp>
      <p:sp>
        <p:nvSpPr>
          <p:cNvPr id="6" name="Text Placeholder 4">
            <a:extLst>
              <a:ext uri="{FF2B5EF4-FFF2-40B4-BE49-F238E27FC236}">
                <a16:creationId xmlns:a16="http://schemas.microsoft.com/office/drawing/2014/main" id="{7E85F226-F338-42F4-832C-5C8E5CFF27FC}"/>
              </a:ext>
            </a:extLst>
          </p:cNvPr>
          <p:cNvSpPr>
            <a:spLocks noGrp="1"/>
          </p:cNvSpPr>
          <p:nvPr>
            <p:ph type="body" sz="quarter" idx="19"/>
          </p:nvPr>
        </p:nvSpPr>
        <p:spPr>
          <a:xfrm>
            <a:off x="2965389" y="6023462"/>
            <a:ext cx="3213222" cy="314325"/>
          </a:xfrm>
        </p:spPr>
        <p:txBody>
          <a:bodyPr>
            <a:normAutofit/>
          </a:bodyPr>
          <a:lstStyle/>
          <a:p>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2CBD2AD4-3797-407C-B1BF-6452E3E1FF00}"/>
              </a:ext>
            </a:extLst>
          </p:cNvPr>
          <p:cNvSpPr>
            <a:spLocks noGrp="1"/>
          </p:cNvSpPr>
          <p:nvPr>
            <p:ph type="body" sz="quarter" idx="21"/>
          </p:nvPr>
        </p:nvSpPr>
        <p:spPr>
          <a:xfrm>
            <a:off x="2964828" y="6563439"/>
            <a:ext cx="5657352" cy="258805"/>
          </a:xfrm>
        </p:spPr>
        <p:txBody>
          <a:bodyPr/>
          <a:lstStyle/>
          <a:p>
            <a:pPr lvl="0"/>
            <a:r>
              <a:rPr lang="en-US" dirty="0"/>
              <a:t>(photos): (a): Carol Wolfe; (b, morel ascocarp): Bear Dancer Studios/Mark </a:t>
            </a:r>
            <a:r>
              <a:rPr lang="en-US" dirty="0" err="1"/>
              <a:t>Dierker</a:t>
            </a:r>
            <a:r>
              <a:rPr lang="en-US" dirty="0"/>
              <a:t>; (b, ascospores): Carolina Biological Supply/</a:t>
            </a:r>
            <a:r>
              <a:rPr lang="en-US" dirty="0" err="1"/>
              <a:t>Diomedia</a:t>
            </a:r>
            <a:endParaRPr lang="en-US" dirty="0"/>
          </a:p>
        </p:txBody>
      </p:sp>
      <p:sp>
        <p:nvSpPr>
          <p:cNvPr id="4" name="Slide Number Placeholder 6">
            <a:extLst>
              <a:ext uri="{FF2B5EF4-FFF2-40B4-BE49-F238E27FC236}">
                <a16:creationId xmlns:a16="http://schemas.microsoft.com/office/drawing/2014/main" id="{240D0034-A50C-4935-A54F-8D1AB95A604C}"/>
              </a:ext>
            </a:extLst>
          </p:cNvPr>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3384448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97218-91A8-45C6-9226-F032840D59A6}"/>
              </a:ext>
            </a:extLst>
          </p:cNvPr>
          <p:cNvSpPr>
            <a:spLocks noGrp="1"/>
          </p:cNvSpPr>
          <p:nvPr>
            <p:ph type="title"/>
          </p:nvPr>
        </p:nvSpPr>
        <p:spPr/>
        <p:txBody>
          <a:bodyPr/>
          <a:lstStyle/>
          <a:p>
            <a:r>
              <a:rPr lang="en-US" dirty="0"/>
              <a:t>Food Industry</a:t>
            </a:r>
            <a:endParaRPr lang="en-IN" dirty="0"/>
          </a:p>
        </p:txBody>
      </p:sp>
      <p:sp>
        <p:nvSpPr>
          <p:cNvPr id="3" name="Text Placeholder 2">
            <a:extLst>
              <a:ext uri="{FF2B5EF4-FFF2-40B4-BE49-F238E27FC236}">
                <a16:creationId xmlns:a16="http://schemas.microsoft.com/office/drawing/2014/main" id="{704C8DD3-4BAC-43B6-A2A8-E4DD2DC7BD7F}"/>
              </a:ext>
            </a:extLst>
          </p:cNvPr>
          <p:cNvSpPr>
            <a:spLocks noGrp="1"/>
          </p:cNvSpPr>
          <p:nvPr>
            <p:ph type="body" sz="quarter" idx="19"/>
          </p:nvPr>
        </p:nvSpPr>
        <p:spPr>
          <a:xfrm>
            <a:off x="842963" y="948215"/>
            <a:ext cx="7623676" cy="5559704"/>
          </a:xfrm>
        </p:spPr>
        <p:txBody>
          <a:bodyPr>
            <a:normAutofit/>
          </a:bodyPr>
          <a:lstStyle/>
          <a:p>
            <a:pPr>
              <a:lnSpc>
                <a:spcPct val="80000"/>
              </a:lnSpc>
              <a:spcAft>
                <a:spcPts val="1500"/>
              </a:spcAft>
            </a:pPr>
            <a:r>
              <a:rPr lang="en-US" sz="2400" dirty="0"/>
              <a:t>Yeast </a:t>
            </a:r>
            <a:r>
              <a:rPr lang="en-US" sz="2400" i="1" dirty="0"/>
              <a:t>Saccharomyces cerevisiae </a:t>
            </a:r>
            <a:r>
              <a:rPr lang="en-US" sz="2400" dirty="0"/>
              <a:t>is widely used in the baking and brewing industries</a:t>
            </a:r>
          </a:p>
          <a:p>
            <a:pPr lvl="1">
              <a:lnSpc>
                <a:spcPct val="80000"/>
              </a:lnSpc>
              <a:spcBef>
                <a:spcPts val="0"/>
              </a:spcBef>
              <a:spcAft>
                <a:spcPts val="1500"/>
              </a:spcAft>
            </a:pPr>
            <a:r>
              <a:rPr lang="en-US" sz="2200" dirty="0"/>
              <a:t>Through the process of fermentation, yeast can produce ethanol and carbon dioxide gas</a:t>
            </a:r>
          </a:p>
          <a:p>
            <a:pPr lvl="1">
              <a:lnSpc>
                <a:spcPct val="80000"/>
              </a:lnSpc>
              <a:spcBef>
                <a:spcPts val="0"/>
              </a:spcBef>
              <a:spcAft>
                <a:spcPts val="1500"/>
              </a:spcAft>
            </a:pPr>
            <a:r>
              <a:rPr lang="en-US" sz="2200" dirty="0"/>
              <a:t>Bread rises because of the gas given off during baking</a:t>
            </a:r>
          </a:p>
          <a:p>
            <a:pPr lvl="1">
              <a:lnSpc>
                <a:spcPct val="80000"/>
              </a:lnSpc>
              <a:spcBef>
                <a:spcPts val="0"/>
              </a:spcBef>
              <a:spcAft>
                <a:spcPts val="1500"/>
              </a:spcAft>
            </a:pPr>
            <a:r>
              <a:rPr lang="en-US" sz="2200" dirty="0"/>
              <a:t>Beer, wine, and liquor obtain their alcohol by fermenting yeast</a:t>
            </a:r>
          </a:p>
          <a:p>
            <a:pPr lvl="1">
              <a:lnSpc>
                <a:spcPct val="80000"/>
              </a:lnSpc>
              <a:spcBef>
                <a:spcPts val="0"/>
              </a:spcBef>
              <a:spcAft>
                <a:spcPts val="1500"/>
              </a:spcAft>
            </a:pPr>
            <a:r>
              <a:rPr lang="en-US" sz="2200" dirty="0"/>
              <a:t>Genus </a:t>
            </a:r>
            <a:r>
              <a:rPr lang="en-US" sz="2200" i="1" dirty="0"/>
              <a:t>Aspergillus</a:t>
            </a:r>
            <a:r>
              <a:rPr lang="en-US" sz="2200" dirty="0"/>
              <a:t> are molds used to produce soy sauce and the Japanese food miso by fermentation of soybeans</a:t>
            </a:r>
          </a:p>
          <a:p>
            <a:pPr lvl="1">
              <a:lnSpc>
                <a:spcPct val="80000"/>
              </a:lnSpc>
              <a:spcBef>
                <a:spcPts val="0"/>
              </a:spcBef>
              <a:spcAft>
                <a:spcPts val="1500"/>
              </a:spcAft>
            </a:pPr>
            <a:r>
              <a:rPr lang="en-US" sz="2200" dirty="0"/>
              <a:t>Cheese industry uses the mold </a:t>
            </a:r>
            <a:r>
              <a:rPr lang="en-US" sz="2200" i="1" dirty="0"/>
              <a:t>Penicillium</a:t>
            </a:r>
            <a:r>
              <a:rPr lang="en-US" sz="2200" dirty="0"/>
              <a:t> to make blue cheese, Roquefort, Camembert, Brie, and Stilton </a:t>
            </a:r>
          </a:p>
          <a:p>
            <a:pPr lvl="1">
              <a:lnSpc>
                <a:spcPct val="80000"/>
              </a:lnSpc>
              <a:spcBef>
                <a:spcPts val="0"/>
              </a:spcBef>
              <a:spcAft>
                <a:spcPts val="1500"/>
              </a:spcAft>
            </a:pPr>
            <a:r>
              <a:rPr lang="en-US" sz="2200" dirty="0"/>
              <a:t>Molds can also be detrimental to the food industry because they accelerate spoilage and can release toxins on food like peanuts and grains  </a:t>
            </a:r>
            <a:endParaRPr lang="en-US" sz="2200" dirty="0">
              <a:solidFill>
                <a:prstClr val="black"/>
              </a:solidFill>
            </a:endParaRPr>
          </a:p>
          <a:p>
            <a:endParaRPr lang="en-IN" dirty="0"/>
          </a:p>
        </p:txBody>
      </p:sp>
      <p:sp>
        <p:nvSpPr>
          <p:cNvPr id="4" name="Slide Number Placeholder 3">
            <a:extLst>
              <a:ext uri="{FF2B5EF4-FFF2-40B4-BE49-F238E27FC236}">
                <a16:creationId xmlns:a16="http://schemas.microsoft.com/office/drawing/2014/main" id="{CC036473-157E-4B03-9644-13290FC02EA3}"/>
              </a:ext>
            </a:extLst>
          </p:cNvPr>
          <p:cNvSpPr>
            <a:spLocks noGrp="1"/>
          </p:cNvSpPr>
          <p:nvPr>
            <p:ph type="sldNum" sz="quarter" idx="4"/>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2270517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297CF-4CEC-406D-8D4F-4FC18367BCD4}"/>
              </a:ext>
            </a:extLst>
          </p:cNvPr>
          <p:cNvSpPr>
            <a:spLocks noGrp="1"/>
          </p:cNvSpPr>
          <p:nvPr>
            <p:ph type="title"/>
          </p:nvPr>
        </p:nvSpPr>
        <p:spPr/>
        <p:txBody>
          <a:bodyPr/>
          <a:lstStyle/>
          <a:p>
            <a:r>
              <a:rPr lang="en-US" sz="3400" dirty="0"/>
              <a:t>Importance for Humans</a:t>
            </a:r>
            <a:endParaRPr lang="en-IN" sz="3400" dirty="0"/>
          </a:p>
        </p:txBody>
      </p:sp>
      <p:sp>
        <p:nvSpPr>
          <p:cNvPr id="3" name="Text Placeholder 2">
            <a:extLst>
              <a:ext uri="{FF2B5EF4-FFF2-40B4-BE49-F238E27FC236}">
                <a16:creationId xmlns:a16="http://schemas.microsoft.com/office/drawing/2014/main" id="{8BA83B28-17E6-461C-A2C9-D4BB6F95B67A}"/>
              </a:ext>
            </a:extLst>
          </p:cNvPr>
          <p:cNvSpPr>
            <a:spLocks noGrp="1"/>
          </p:cNvSpPr>
          <p:nvPr>
            <p:ph type="body" sz="quarter" idx="19"/>
          </p:nvPr>
        </p:nvSpPr>
        <p:spPr>
          <a:xfrm>
            <a:off x="842963" y="948214"/>
            <a:ext cx="7623676" cy="5909786"/>
          </a:xfrm>
        </p:spPr>
        <p:txBody>
          <a:bodyPr>
            <a:normAutofit lnSpcReduction="10000"/>
          </a:bodyPr>
          <a:lstStyle/>
          <a:p>
            <a:pPr>
              <a:spcBef>
                <a:spcPts val="600"/>
              </a:spcBef>
              <a:spcAft>
                <a:spcPts val="600"/>
              </a:spcAft>
            </a:pPr>
            <a:r>
              <a:rPr lang="en-US" sz="2200" dirty="0"/>
              <a:t>Yeasts can be harmful to humans</a:t>
            </a:r>
          </a:p>
          <a:p>
            <a:pPr lvl="1">
              <a:spcBef>
                <a:spcPts val="600"/>
              </a:spcBef>
              <a:spcAft>
                <a:spcPts val="600"/>
              </a:spcAft>
            </a:pPr>
            <a:r>
              <a:rPr lang="en-US" i="1" dirty="0"/>
              <a:t>Candida albicans </a:t>
            </a:r>
            <a:r>
              <a:rPr lang="en-US" dirty="0"/>
              <a:t>is a yeast that is normally found on the body</a:t>
            </a:r>
          </a:p>
          <a:p>
            <a:pPr marL="620713" lvl="2" indent="-257175">
              <a:spcBef>
                <a:spcPts val="600"/>
              </a:spcBef>
              <a:spcAft>
                <a:spcPts val="600"/>
              </a:spcAft>
            </a:pPr>
            <a:r>
              <a:rPr lang="en-US" dirty="0"/>
              <a:t>When the balance of </a:t>
            </a:r>
            <a:r>
              <a:rPr lang="en-US" i="1" dirty="0"/>
              <a:t>Candida</a:t>
            </a:r>
            <a:r>
              <a:rPr lang="en-US" dirty="0"/>
              <a:t> and other microorganisms is disturbed, yeast proliferates, causing oral thrush in newborns or vaginal infections in women </a:t>
            </a:r>
          </a:p>
          <a:p>
            <a:pPr marL="620713" lvl="2" indent="-257175">
              <a:spcBef>
                <a:spcPts val="600"/>
              </a:spcBef>
              <a:spcAft>
                <a:spcPts val="600"/>
              </a:spcAft>
            </a:pPr>
            <a:r>
              <a:rPr lang="en-US" dirty="0"/>
              <a:t>Moldlike fungi cause infections of the skin called tineas</a:t>
            </a:r>
          </a:p>
          <a:p>
            <a:pPr marL="903288" lvl="3" indent="-282575">
              <a:spcBef>
                <a:spcPts val="600"/>
              </a:spcBef>
              <a:spcAft>
                <a:spcPts val="600"/>
              </a:spcAft>
            </a:pPr>
            <a:r>
              <a:rPr lang="en-US" sz="1600" dirty="0"/>
              <a:t>Athlete’s foot, jock itch, and ringworm are all tineas characterized by itching, peeling skin, or a raised inflammation </a:t>
            </a:r>
          </a:p>
          <a:p>
            <a:pPr marL="903288" lvl="3" indent="-282575">
              <a:spcBef>
                <a:spcPts val="600"/>
              </a:spcBef>
              <a:spcAft>
                <a:spcPts val="600"/>
              </a:spcAft>
            </a:pPr>
            <a:r>
              <a:rPr lang="en-US" sz="1600" dirty="0"/>
              <a:t>Patients with AIDS or other immunocompromised conditions are particularly susceptible to fungal infections</a:t>
            </a:r>
          </a:p>
          <a:p>
            <a:pPr marL="903288" lvl="3" indent="-282575">
              <a:spcBef>
                <a:spcPts val="600"/>
              </a:spcBef>
              <a:spcAft>
                <a:spcPts val="600"/>
              </a:spcAft>
            </a:pPr>
            <a:r>
              <a:rPr lang="en-US" sz="1600" dirty="0"/>
              <a:t>The strong similarities between fungal and human cells make it difficult to design fungal medications that do not harm patients</a:t>
            </a:r>
          </a:p>
          <a:p>
            <a:pPr marL="620713" lvl="2" indent="-257175">
              <a:spcBef>
                <a:spcPts val="600"/>
              </a:spcBef>
              <a:spcAft>
                <a:spcPts val="600"/>
              </a:spcAft>
            </a:pPr>
            <a:r>
              <a:rPr lang="en-US" dirty="0"/>
              <a:t>Many sac fungi have antibiotic and antimicrobial properties</a:t>
            </a:r>
          </a:p>
          <a:p>
            <a:pPr marL="903288" lvl="3" indent="-282575">
              <a:spcBef>
                <a:spcPts val="600"/>
              </a:spcBef>
              <a:spcAft>
                <a:spcPts val="600"/>
              </a:spcAft>
            </a:pPr>
            <a:r>
              <a:rPr lang="en-US" sz="1600" dirty="0"/>
              <a:t>Certain members of genus </a:t>
            </a:r>
            <a:r>
              <a:rPr lang="en-US" sz="1600" i="1" dirty="0"/>
              <a:t>Penicillium</a:t>
            </a:r>
            <a:r>
              <a:rPr lang="en-US" sz="1600" dirty="0"/>
              <a:t> produce antibiotic penicillin, which is a treatment for bacterial infections; another produces cyclosporine, which controls the immune system to prevent organ rejection after a transplant</a:t>
            </a:r>
          </a:p>
          <a:p>
            <a:pPr marL="620713" lvl="2" indent="-257175">
              <a:spcBef>
                <a:spcPts val="600"/>
              </a:spcBef>
              <a:spcAft>
                <a:spcPts val="600"/>
              </a:spcAft>
            </a:pPr>
            <a:r>
              <a:rPr lang="en-US" dirty="0"/>
              <a:t>Many geneticists use ascomycetes as model organisms </a:t>
            </a:r>
            <a:endParaRPr lang="en-US" dirty="0">
              <a:solidFill>
                <a:prstClr val="black"/>
              </a:solidFill>
            </a:endParaRPr>
          </a:p>
        </p:txBody>
      </p:sp>
      <p:sp>
        <p:nvSpPr>
          <p:cNvPr id="4" name="Slide Number Placeholder 3">
            <a:extLst>
              <a:ext uri="{FF2B5EF4-FFF2-40B4-BE49-F238E27FC236}">
                <a16:creationId xmlns:a16="http://schemas.microsoft.com/office/drawing/2014/main" id="{81D1313F-7D94-461B-AF66-D10A1F39AB3B}"/>
              </a:ext>
            </a:extLst>
          </p:cNvPr>
          <p:cNvSpPr>
            <a:spLocks noGrp="1"/>
          </p:cNvSpPr>
          <p:nvPr>
            <p:ph type="sldNum" sz="quarter" idx="4"/>
          </p:nvPr>
        </p:nvSpPr>
        <p:spPr/>
        <p:txBody>
          <a:bodyPr/>
          <a:lstStyle/>
          <a:p>
            <a:fld id="{68151E55-6873-49E2-B8D5-2F265E6F1973}" type="slidenum">
              <a:rPr lang="en-US" smtClean="0"/>
              <a:pPr/>
              <a:t>32</a:t>
            </a:fld>
            <a:endParaRPr lang="en-US" dirty="0"/>
          </a:p>
        </p:txBody>
      </p:sp>
    </p:spTree>
    <p:extLst>
      <p:ext uri="{BB962C8B-B14F-4D97-AF65-F5344CB8AC3E}">
        <p14:creationId xmlns:p14="http://schemas.microsoft.com/office/powerpoint/2010/main" val="4115651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CEC44-C8DA-48C0-9FB7-B341400FEB74}"/>
              </a:ext>
            </a:extLst>
          </p:cNvPr>
          <p:cNvSpPr>
            <a:spLocks noGrp="1"/>
          </p:cNvSpPr>
          <p:nvPr>
            <p:ph type="title"/>
          </p:nvPr>
        </p:nvSpPr>
        <p:spPr>
          <a:xfrm>
            <a:off x="0" y="1"/>
            <a:ext cx="9144000" cy="1209385"/>
          </a:xfrm>
        </p:spPr>
        <p:txBody>
          <a:bodyPr/>
          <a:lstStyle/>
          <a:p>
            <a:r>
              <a:rPr lang="en-US" dirty="0"/>
              <a:t>Fungal Infections</a:t>
            </a:r>
            <a:endParaRPr lang="en-IN" dirty="0"/>
          </a:p>
        </p:txBody>
      </p:sp>
      <p:pic>
        <p:nvPicPr>
          <p:cNvPr id="8" name="Picture 2" descr="A) Opened mouth shows thick white lesions covering the dorsum of tongue. B) Close-up shows a ring-shaped, raised, red, scaly rash present behind the ear.">
            <a:extLst>
              <a:ext uri="{FF2B5EF4-FFF2-40B4-BE49-F238E27FC236}">
                <a16:creationId xmlns:a16="http://schemas.microsoft.com/office/drawing/2014/main" id="{4A6F20E6-09D5-4C54-9702-87C0A914827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432" b="4987"/>
          <a:stretch/>
        </p:blipFill>
        <p:spPr>
          <a:xfrm>
            <a:off x="1306799" y="1392469"/>
            <a:ext cx="6530401" cy="3026996"/>
          </a:xfrm>
          <a:prstGeom prst="rect">
            <a:avLst/>
          </a:prstGeom>
        </p:spPr>
      </p:pic>
      <p:sp>
        <p:nvSpPr>
          <p:cNvPr id="5" name="Text Placeholder 3">
            <a:extLst>
              <a:ext uri="{FF2B5EF4-FFF2-40B4-BE49-F238E27FC236}">
                <a16:creationId xmlns:a16="http://schemas.microsoft.com/office/drawing/2014/main" id="{926DA50D-DE16-49FC-A62C-21888FCECE00}"/>
              </a:ext>
            </a:extLst>
          </p:cNvPr>
          <p:cNvSpPr>
            <a:spLocks noGrp="1"/>
          </p:cNvSpPr>
          <p:nvPr>
            <p:ph type="body" sz="quarter" idx="18"/>
          </p:nvPr>
        </p:nvSpPr>
        <p:spPr>
          <a:xfrm>
            <a:off x="521258" y="5334289"/>
            <a:ext cx="8101481" cy="314325"/>
          </a:xfrm>
        </p:spPr>
        <p:txBody>
          <a:bodyPr>
            <a:normAutofit/>
          </a:bodyPr>
          <a:lstStyle/>
          <a:p>
            <a:r>
              <a:rPr lang="en-US" sz="1200" dirty="0"/>
              <a:t>Figure 22.8</a:t>
            </a:r>
          </a:p>
        </p:txBody>
      </p:sp>
      <p:sp>
        <p:nvSpPr>
          <p:cNvPr id="7" name="Text Placeholder 4">
            <a:extLst>
              <a:ext uri="{FF2B5EF4-FFF2-40B4-BE49-F238E27FC236}">
                <a16:creationId xmlns:a16="http://schemas.microsoft.com/office/drawing/2014/main" id="{2380EF71-34B8-46F5-AA84-69254D785CFD}"/>
              </a:ext>
            </a:extLst>
          </p:cNvPr>
          <p:cNvSpPr>
            <a:spLocks noGrp="1"/>
          </p:cNvSpPr>
          <p:nvPr>
            <p:ph type="body" sz="quarter" idx="21"/>
          </p:nvPr>
        </p:nvSpPr>
        <p:spPr>
          <a:xfrm>
            <a:off x="5345722" y="6563439"/>
            <a:ext cx="3276457" cy="258805"/>
          </a:xfrm>
        </p:spPr>
        <p:txBody>
          <a:bodyPr/>
          <a:lstStyle/>
          <a:p>
            <a:pPr lvl="0"/>
            <a:r>
              <a:rPr lang="en-US" dirty="0"/>
              <a:t>(a): Dr. M. A. </a:t>
            </a:r>
            <a:r>
              <a:rPr lang="en-US" dirty="0" err="1"/>
              <a:t>Ansary</a:t>
            </a:r>
            <a:r>
              <a:rPr lang="en-US" dirty="0"/>
              <a:t>/Science Source; (b): John Hadfield/SPL/Science Source</a:t>
            </a:r>
          </a:p>
        </p:txBody>
      </p:sp>
      <p:sp>
        <p:nvSpPr>
          <p:cNvPr id="4" name="Slide Number Placeholder 5">
            <a:extLst>
              <a:ext uri="{FF2B5EF4-FFF2-40B4-BE49-F238E27FC236}">
                <a16:creationId xmlns:a16="http://schemas.microsoft.com/office/drawing/2014/main" id="{33A533C1-32D5-4D3A-890B-20EFB480BC07}"/>
              </a:ext>
            </a:extLst>
          </p:cNvPr>
          <p:cNvSpPr>
            <a:spLocks noGrp="1"/>
          </p:cNvSpPr>
          <p:nvPr>
            <p:ph type="sldNum" sz="quarter" idx="4"/>
          </p:nvPr>
        </p:nvSpPr>
        <p:spPr/>
        <p:txBody>
          <a:bodyPr/>
          <a:lstStyle/>
          <a:p>
            <a:fld id="{68151E55-6873-49E2-B8D5-2F265E6F1973}" type="slidenum">
              <a:rPr lang="en-US" smtClean="0"/>
              <a:pPr/>
              <a:t>33</a:t>
            </a:fld>
            <a:endParaRPr lang="en-US" dirty="0"/>
          </a:p>
        </p:txBody>
      </p:sp>
    </p:spTree>
    <p:extLst>
      <p:ext uri="{BB962C8B-B14F-4D97-AF65-F5344CB8AC3E}">
        <p14:creationId xmlns:p14="http://schemas.microsoft.com/office/powerpoint/2010/main" val="3361336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2D30-EE63-43B9-9290-50B713F58493}"/>
              </a:ext>
            </a:extLst>
          </p:cNvPr>
          <p:cNvSpPr>
            <a:spLocks noGrp="1"/>
          </p:cNvSpPr>
          <p:nvPr>
            <p:ph type="title"/>
          </p:nvPr>
        </p:nvSpPr>
        <p:spPr>
          <a:xfrm>
            <a:off x="0" y="1"/>
            <a:ext cx="9144000" cy="1266091"/>
          </a:xfrm>
        </p:spPr>
        <p:txBody>
          <a:bodyPr/>
          <a:lstStyle/>
          <a:p>
            <a:r>
              <a:rPr lang="en-US" dirty="0"/>
              <a:t>Basidiomycetes Produce a Fruiting Body Called a Basidiocarp</a:t>
            </a:r>
            <a:endParaRPr lang="en-IN" dirty="0"/>
          </a:p>
        </p:txBody>
      </p:sp>
      <p:sp>
        <p:nvSpPr>
          <p:cNvPr id="3" name="Text Placeholder 2">
            <a:extLst>
              <a:ext uri="{FF2B5EF4-FFF2-40B4-BE49-F238E27FC236}">
                <a16:creationId xmlns:a16="http://schemas.microsoft.com/office/drawing/2014/main" id="{0047EA2B-D606-4E50-BB64-9769BAC0DD7D}"/>
              </a:ext>
            </a:extLst>
          </p:cNvPr>
          <p:cNvSpPr>
            <a:spLocks noGrp="1"/>
          </p:cNvSpPr>
          <p:nvPr>
            <p:ph type="body" sz="quarter" idx="19"/>
          </p:nvPr>
        </p:nvSpPr>
        <p:spPr>
          <a:xfrm>
            <a:off x="842963" y="1652954"/>
            <a:ext cx="7623676" cy="4854964"/>
          </a:xfrm>
        </p:spPr>
        <p:txBody>
          <a:bodyPr/>
          <a:lstStyle/>
          <a:p>
            <a:r>
              <a:rPr lang="en-US" sz="2400" dirty="0"/>
              <a:t>The phylum Basidiomycota, or </a:t>
            </a:r>
            <a:r>
              <a:rPr lang="en-US" sz="2400" b="1" dirty="0">
                <a:solidFill>
                  <a:srgbClr val="D90000"/>
                </a:solidFill>
              </a:rPr>
              <a:t>club fungi</a:t>
            </a:r>
            <a:r>
              <a:rPr lang="en-US" sz="2400" dirty="0"/>
              <a:t>, consists of over 31,000 species</a:t>
            </a:r>
          </a:p>
          <a:p>
            <a:pPr lvl="1"/>
            <a:r>
              <a:rPr lang="en-US" sz="2200" dirty="0"/>
              <a:t>Phylum includes mushrooms, toadstools, puffballs, shelf fungi, jelly fungi, bird’s-nest fungi, and stinkhorns are basidiomycetes</a:t>
            </a:r>
          </a:p>
          <a:p>
            <a:pPr lvl="1"/>
            <a:r>
              <a:rPr lang="en-US" sz="2200" dirty="0"/>
              <a:t>Includes plant diseases, such as smuts and rusts </a:t>
            </a:r>
          </a:p>
          <a:p>
            <a:pPr lvl="1"/>
            <a:r>
              <a:rPr lang="en-US" sz="2200" dirty="0"/>
              <a:t>Approximately 75 species of basidiomycetes are considered poisonous</a:t>
            </a:r>
          </a:p>
        </p:txBody>
      </p:sp>
      <p:sp>
        <p:nvSpPr>
          <p:cNvPr id="4" name="Slide Number Placeholder 3">
            <a:extLst>
              <a:ext uri="{FF2B5EF4-FFF2-40B4-BE49-F238E27FC236}">
                <a16:creationId xmlns:a16="http://schemas.microsoft.com/office/drawing/2014/main" id="{8600409C-513D-4038-8EF0-460BE157F056}"/>
              </a:ext>
            </a:extLst>
          </p:cNvPr>
          <p:cNvSpPr>
            <a:spLocks noGrp="1"/>
          </p:cNvSpPr>
          <p:nvPr>
            <p:ph type="sldNum" sz="quarter" idx="4"/>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4002663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CFE75-596E-481D-B3B4-9EA7DEA8C225}"/>
              </a:ext>
            </a:extLst>
          </p:cNvPr>
          <p:cNvSpPr>
            <a:spLocks noGrp="1"/>
          </p:cNvSpPr>
          <p:nvPr>
            <p:ph type="title"/>
          </p:nvPr>
        </p:nvSpPr>
        <p:spPr/>
        <p:txBody>
          <a:bodyPr/>
          <a:lstStyle/>
          <a:p>
            <a:r>
              <a:rPr lang="en-US" dirty="0"/>
              <a:t>The Biology of Club Fungi</a:t>
            </a:r>
            <a:endParaRPr lang="en-IN" dirty="0"/>
          </a:p>
        </p:txBody>
      </p:sp>
      <p:sp>
        <p:nvSpPr>
          <p:cNvPr id="3" name="Text Placeholder 2">
            <a:extLst>
              <a:ext uri="{FF2B5EF4-FFF2-40B4-BE49-F238E27FC236}">
                <a16:creationId xmlns:a16="http://schemas.microsoft.com/office/drawing/2014/main" id="{847B0FA7-CAF8-4A9D-8DAA-A4B8117C2CFC}"/>
              </a:ext>
            </a:extLst>
          </p:cNvPr>
          <p:cNvSpPr>
            <a:spLocks noGrp="1"/>
          </p:cNvSpPr>
          <p:nvPr>
            <p:ph type="body" sz="quarter" idx="19"/>
          </p:nvPr>
        </p:nvSpPr>
        <p:spPr>
          <a:xfrm>
            <a:off x="842963" y="1177179"/>
            <a:ext cx="7623676" cy="5330739"/>
          </a:xfrm>
        </p:spPr>
        <p:txBody>
          <a:bodyPr/>
          <a:lstStyle/>
          <a:p>
            <a:r>
              <a:rPr lang="en-US" sz="2400" dirty="0"/>
              <a:t>The mycelium is composed of septate hyphae</a:t>
            </a:r>
          </a:p>
          <a:p>
            <a:r>
              <a:rPr lang="en-US" sz="2400" dirty="0"/>
              <a:t>Most members of this phylum are saprotrophs, feeding on dead and decaying organic matter</a:t>
            </a:r>
          </a:p>
          <a:p>
            <a:r>
              <a:rPr lang="en-US" sz="2400" dirty="0"/>
              <a:t>They usually reproduce sexually</a:t>
            </a:r>
          </a:p>
          <a:p>
            <a:pPr lvl="1"/>
            <a:r>
              <a:rPr lang="en-US" sz="2200" dirty="0"/>
              <a:t>Basidiomycota, refers to the </a:t>
            </a:r>
            <a:r>
              <a:rPr lang="en-US" sz="2200" b="1" dirty="0">
                <a:solidFill>
                  <a:srgbClr val="D90000"/>
                </a:solidFill>
              </a:rPr>
              <a:t>basidium</a:t>
            </a:r>
            <a:r>
              <a:rPr lang="en-US" sz="2200" dirty="0"/>
              <a:t>, a club-shaped structure which produces spores called basidiospores</a:t>
            </a:r>
          </a:p>
          <a:p>
            <a:pPr lvl="1"/>
            <a:r>
              <a:rPr lang="en-US" sz="2200" dirty="0"/>
              <a:t>Basidia are located within a fruiting body called a basidiocarp, which we recognize as a mushroom</a:t>
            </a:r>
          </a:p>
        </p:txBody>
      </p:sp>
      <p:sp>
        <p:nvSpPr>
          <p:cNvPr id="4" name="Slide Number Placeholder 3">
            <a:extLst>
              <a:ext uri="{FF2B5EF4-FFF2-40B4-BE49-F238E27FC236}">
                <a16:creationId xmlns:a16="http://schemas.microsoft.com/office/drawing/2014/main" id="{2C5A1869-4625-4350-AD87-43952FE4E1BB}"/>
              </a:ext>
            </a:extLst>
          </p:cNvPr>
          <p:cNvSpPr>
            <a:spLocks noGrp="1"/>
          </p:cNvSpPr>
          <p:nvPr>
            <p:ph type="sldNum" sz="quarter" idx="4"/>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28418477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4C8CB-0DAD-4B02-905D-9C8A7050D592}"/>
              </a:ext>
            </a:extLst>
          </p:cNvPr>
          <p:cNvSpPr>
            <a:spLocks noGrp="1"/>
          </p:cNvSpPr>
          <p:nvPr>
            <p:ph type="title"/>
          </p:nvPr>
        </p:nvSpPr>
        <p:spPr>
          <a:xfrm>
            <a:off x="0" y="1"/>
            <a:ext cx="9144000" cy="1183552"/>
          </a:xfrm>
        </p:spPr>
        <p:txBody>
          <a:bodyPr/>
          <a:lstStyle/>
          <a:p>
            <a:r>
              <a:rPr lang="en-US" dirty="0"/>
              <a:t>Mushrooms</a:t>
            </a:r>
            <a:endParaRPr lang="en-IN" dirty="0"/>
          </a:p>
        </p:txBody>
      </p:sp>
      <p:sp>
        <p:nvSpPr>
          <p:cNvPr id="3" name="Text Placeholder 2">
            <a:extLst>
              <a:ext uri="{FF2B5EF4-FFF2-40B4-BE49-F238E27FC236}">
                <a16:creationId xmlns:a16="http://schemas.microsoft.com/office/drawing/2014/main" id="{C414DA98-7DEF-4D6A-B10D-C1E947D64981}"/>
              </a:ext>
            </a:extLst>
          </p:cNvPr>
          <p:cNvSpPr>
            <a:spLocks noGrp="1"/>
          </p:cNvSpPr>
          <p:nvPr>
            <p:ph type="body" sz="quarter" idx="19"/>
          </p:nvPr>
        </p:nvSpPr>
        <p:spPr>
          <a:xfrm>
            <a:off x="474360" y="1183553"/>
            <a:ext cx="7992279" cy="5481528"/>
          </a:xfrm>
        </p:spPr>
        <p:txBody>
          <a:bodyPr/>
          <a:lstStyle/>
          <a:p>
            <a:r>
              <a:rPr lang="en-US" sz="2400" dirty="0"/>
              <a:t>Mushrooms are composed of tightly packed hyphae whose walled-off ends become basidia</a:t>
            </a:r>
          </a:p>
          <a:p>
            <a:pPr lvl="1"/>
            <a:r>
              <a:rPr lang="en-US" dirty="0"/>
              <a:t>In gilled mushrooms, the basidia are located on folds called gills</a:t>
            </a:r>
          </a:p>
          <a:p>
            <a:pPr lvl="1"/>
            <a:r>
              <a:rPr lang="en-US" dirty="0"/>
              <a:t>In shelf fungi and pore mushrooms the basidia terminate in tubes</a:t>
            </a:r>
          </a:p>
          <a:p>
            <a:pPr lvl="1"/>
            <a:r>
              <a:rPr lang="en-US" dirty="0"/>
              <a:t>Basidiocarp is lined by basidia, where nuclear fusion, meiosis, and spore production occur</a:t>
            </a:r>
          </a:p>
          <a:p>
            <a:pPr marL="620713" lvl="2" indent="-257175"/>
            <a:r>
              <a:rPr lang="en-US" dirty="0"/>
              <a:t>Basidiospores are windblown</a:t>
            </a:r>
          </a:p>
          <a:p>
            <a:pPr marL="620713" lvl="2" indent="-257175"/>
            <a:r>
              <a:rPr lang="en-US" dirty="0"/>
              <a:t>It is estimated that some large mushrooms can produce up to 40 million spores per hour</a:t>
            </a:r>
          </a:p>
        </p:txBody>
      </p:sp>
      <p:sp>
        <p:nvSpPr>
          <p:cNvPr id="4" name="Slide Number Placeholder 3">
            <a:extLst>
              <a:ext uri="{FF2B5EF4-FFF2-40B4-BE49-F238E27FC236}">
                <a16:creationId xmlns:a16="http://schemas.microsoft.com/office/drawing/2014/main" id="{A111CD48-FF7A-43A8-B58B-6F21F96DBFF3}"/>
              </a:ext>
            </a:extLst>
          </p:cNvPr>
          <p:cNvSpPr>
            <a:spLocks noGrp="1"/>
          </p:cNvSpPr>
          <p:nvPr>
            <p:ph type="sldNum" sz="quarter" idx="4"/>
          </p:nvPr>
        </p:nvSpPr>
        <p:spPr/>
        <p:txBody>
          <a:bodyPr/>
          <a:lstStyle/>
          <a:p>
            <a:fld id="{68151E55-6873-49E2-B8D5-2F265E6F1973}" type="slidenum">
              <a:rPr lang="en-US" smtClean="0"/>
              <a:pPr/>
              <a:t>36</a:t>
            </a:fld>
            <a:endParaRPr lang="en-US" dirty="0"/>
          </a:p>
        </p:txBody>
      </p:sp>
    </p:spTree>
    <p:extLst>
      <p:ext uri="{BB962C8B-B14F-4D97-AF65-F5344CB8AC3E}">
        <p14:creationId xmlns:p14="http://schemas.microsoft.com/office/powerpoint/2010/main" val="16208685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D020-EA2E-4C0A-B04D-5BD8692C3878}"/>
              </a:ext>
            </a:extLst>
          </p:cNvPr>
          <p:cNvSpPr>
            <a:spLocks noGrp="1"/>
          </p:cNvSpPr>
          <p:nvPr>
            <p:ph type="title"/>
          </p:nvPr>
        </p:nvSpPr>
        <p:spPr>
          <a:xfrm>
            <a:off x="1019346" y="5376"/>
            <a:ext cx="7104185" cy="1213824"/>
          </a:xfrm>
        </p:spPr>
        <p:txBody>
          <a:bodyPr/>
          <a:lstStyle/>
          <a:p>
            <a:r>
              <a:rPr lang="en-US" altLang="en-US" dirty="0"/>
              <a:t>A Poisonous Mushroom, </a:t>
            </a:r>
            <a:r>
              <a:rPr lang="en-US" altLang="en-US" i="1" dirty="0"/>
              <a:t>Amanita phalloides</a:t>
            </a:r>
            <a:endParaRPr lang="en-IN" dirty="0"/>
          </a:p>
        </p:txBody>
      </p:sp>
      <p:pic>
        <p:nvPicPr>
          <p:cNvPr id="8" name="Picture 2" descr="Close-up of Amanita phalloides shows yellowish, smooth dry cap, skirt-like annulus with fringed edge and a fragile and fragmentary cup.">
            <a:extLst>
              <a:ext uri="{FF2B5EF4-FFF2-40B4-BE49-F238E27FC236}">
                <a16:creationId xmlns:a16="http://schemas.microsoft.com/office/drawing/2014/main" id="{952CAFAA-747A-4858-96CA-ECF8374E76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331" b="2046"/>
          <a:stretch/>
        </p:blipFill>
        <p:spPr bwMode="auto">
          <a:xfrm>
            <a:off x="2109224" y="1316061"/>
            <a:ext cx="4924425" cy="4877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3">
            <a:extLst>
              <a:ext uri="{FF2B5EF4-FFF2-40B4-BE49-F238E27FC236}">
                <a16:creationId xmlns:a16="http://schemas.microsoft.com/office/drawing/2014/main" id="{F10D89F4-C50A-4E7C-8F8D-68BBC09E2ED0}"/>
              </a:ext>
            </a:extLst>
          </p:cNvPr>
          <p:cNvSpPr>
            <a:spLocks noGrp="1"/>
          </p:cNvSpPr>
          <p:nvPr>
            <p:ph type="body" sz="quarter" idx="19"/>
          </p:nvPr>
        </p:nvSpPr>
        <p:spPr>
          <a:xfrm>
            <a:off x="4084380" y="6221354"/>
            <a:ext cx="974114" cy="314325"/>
          </a:xfrm>
        </p:spPr>
        <p:txBody>
          <a:bodyPr>
            <a:normAutofit/>
          </a:bodyPr>
          <a:lstStyle/>
          <a:p>
            <a:r>
              <a:rPr lang="en-US" sz="1200" dirty="0"/>
              <a:t>Figure 22A</a:t>
            </a:r>
          </a:p>
        </p:txBody>
      </p:sp>
      <p:sp>
        <p:nvSpPr>
          <p:cNvPr id="7" name="Text Placeholder 4">
            <a:extLst>
              <a:ext uri="{FF2B5EF4-FFF2-40B4-BE49-F238E27FC236}">
                <a16:creationId xmlns:a16="http://schemas.microsoft.com/office/drawing/2014/main" id="{4174F813-114A-4EC3-A7F0-880825F1FC6D}"/>
              </a:ext>
            </a:extLst>
          </p:cNvPr>
          <p:cNvSpPr>
            <a:spLocks noGrp="1"/>
          </p:cNvSpPr>
          <p:nvPr>
            <p:ph type="body" sz="quarter" idx="21"/>
          </p:nvPr>
        </p:nvSpPr>
        <p:spPr/>
        <p:txBody>
          <a:bodyPr/>
          <a:lstStyle/>
          <a:p>
            <a:pPr lvl="0"/>
            <a:r>
              <a:rPr lang="en-US" dirty="0"/>
              <a:t>De Agostini/Getty Images</a:t>
            </a:r>
          </a:p>
        </p:txBody>
      </p:sp>
      <p:sp>
        <p:nvSpPr>
          <p:cNvPr id="4" name="Slide Number Placeholder 5">
            <a:extLst>
              <a:ext uri="{FF2B5EF4-FFF2-40B4-BE49-F238E27FC236}">
                <a16:creationId xmlns:a16="http://schemas.microsoft.com/office/drawing/2014/main" id="{FC146720-57AD-4833-B671-BBBC1742EDB7}"/>
              </a:ext>
            </a:extLst>
          </p:cNvPr>
          <p:cNvSpPr>
            <a:spLocks noGrp="1"/>
          </p:cNvSpPr>
          <p:nvPr>
            <p:ph type="sldNum" sz="quarter" idx="4"/>
          </p:nvPr>
        </p:nvSpPr>
        <p:spPr/>
        <p:txBody>
          <a:bodyPr/>
          <a:lstStyle/>
          <a:p>
            <a:fld id="{68151E55-6873-49E2-B8D5-2F265E6F1973}" type="slidenum">
              <a:rPr lang="en-US" smtClean="0"/>
              <a:pPr/>
              <a:t>37</a:t>
            </a:fld>
            <a:endParaRPr lang="en-US" dirty="0"/>
          </a:p>
        </p:txBody>
      </p:sp>
    </p:spTree>
    <p:extLst>
      <p:ext uri="{BB962C8B-B14F-4D97-AF65-F5344CB8AC3E}">
        <p14:creationId xmlns:p14="http://schemas.microsoft.com/office/powerpoint/2010/main" val="1132265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8BFD6B3-F78D-4F76-BF35-C5C42DBE520D}"/>
              </a:ext>
            </a:extLst>
          </p:cNvPr>
          <p:cNvSpPr>
            <a:spLocks noGrp="1"/>
          </p:cNvSpPr>
          <p:nvPr>
            <p:ph type="title"/>
          </p:nvPr>
        </p:nvSpPr>
        <p:spPr>
          <a:xfrm>
            <a:off x="463061" y="0"/>
            <a:ext cx="8217877" cy="1160584"/>
          </a:xfrm>
        </p:spPr>
        <p:txBody>
          <a:bodyPr/>
          <a:lstStyle/>
          <a:p>
            <a:r>
              <a:rPr lang="en-US" altLang="en-US" dirty="0"/>
              <a:t>Ergot Infection of Rye, Caused by </a:t>
            </a:r>
            <a:r>
              <a:rPr lang="en-US" altLang="en-US" i="1" dirty="0" err="1"/>
              <a:t>Claviceps</a:t>
            </a:r>
            <a:r>
              <a:rPr lang="en-US" altLang="en-US" i="1" dirty="0"/>
              <a:t> </a:t>
            </a:r>
            <a:r>
              <a:rPr lang="en-US" altLang="en-US" i="1" dirty="0" err="1"/>
              <a:t>purpurea</a:t>
            </a:r>
            <a:endParaRPr lang="en-IN" dirty="0"/>
          </a:p>
        </p:txBody>
      </p:sp>
      <p:pic>
        <p:nvPicPr>
          <p:cNvPr id="9" name="Picture 2" descr="Close-up of a hard, purple-black body formed over one of the grains of rye.">
            <a:extLst>
              <a:ext uri="{FF2B5EF4-FFF2-40B4-BE49-F238E27FC236}">
                <a16:creationId xmlns:a16="http://schemas.microsoft.com/office/drawing/2014/main" id="{77156953-EED2-48A8-B203-D57005302B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33" b="2118"/>
          <a:stretch/>
        </p:blipFill>
        <p:spPr bwMode="auto">
          <a:xfrm>
            <a:off x="1995486" y="1310492"/>
            <a:ext cx="5153025" cy="489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a:extLst>
              <a:ext uri="{FF2B5EF4-FFF2-40B4-BE49-F238E27FC236}">
                <a16:creationId xmlns:a16="http://schemas.microsoft.com/office/drawing/2014/main" id="{818B2144-7D34-4269-9F8D-1568D7ED7F82}"/>
              </a:ext>
            </a:extLst>
          </p:cNvPr>
          <p:cNvSpPr>
            <a:spLocks noGrp="1"/>
          </p:cNvSpPr>
          <p:nvPr>
            <p:ph type="body" sz="quarter" idx="19"/>
          </p:nvPr>
        </p:nvSpPr>
        <p:spPr>
          <a:xfrm>
            <a:off x="3914409" y="6350756"/>
            <a:ext cx="1114791" cy="314325"/>
          </a:xfrm>
        </p:spPr>
        <p:txBody>
          <a:bodyPr>
            <a:normAutofit/>
          </a:bodyPr>
          <a:lstStyle/>
          <a:p>
            <a:r>
              <a:rPr lang="en-US" sz="1200" dirty="0"/>
              <a:t>Figure 22B</a:t>
            </a:r>
          </a:p>
        </p:txBody>
      </p:sp>
      <p:sp>
        <p:nvSpPr>
          <p:cNvPr id="8" name="Text Placeholder 4">
            <a:extLst>
              <a:ext uri="{FF2B5EF4-FFF2-40B4-BE49-F238E27FC236}">
                <a16:creationId xmlns:a16="http://schemas.microsoft.com/office/drawing/2014/main" id="{AF1CEC9F-6F5E-49AC-B4F3-65A1973BB332}"/>
              </a:ext>
            </a:extLst>
          </p:cNvPr>
          <p:cNvSpPr>
            <a:spLocks noGrp="1"/>
          </p:cNvSpPr>
          <p:nvPr>
            <p:ph type="body" sz="quarter" idx="21"/>
          </p:nvPr>
        </p:nvSpPr>
        <p:spPr>
          <a:xfrm>
            <a:off x="6752492" y="6563439"/>
            <a:ext cx="1869688" cy="258805"/>
          </a:xfrm>
        </p:spPr>
        <p:txBody>
          <a:bodyPr/>
          <a:lstStyle/>
          <a:p>
            <a:pPr lvl="0"/>
            <a:r>
              <a:rPr lang="en-US" sz="800" dirty="0"/>
              <a:t>Wildlife GmbH/</a:t>
            </a:r>
            <a:r>
              <a:rPr lang="en-US" sz="800" dirty="0" err="1"/>
              <a:t>Alamy</a:t>
            </a:r>
            <a:r>
              <a:rPr lang="en-US" sz="800" dirty="0"/>
              <a:t> Stock Photo</a:t>
            </a:r>
          </a:p>
        </p:txBody>
      </p:sp>
      <p:sp>
        <p:nvSpPr>
          <p:cNvPr id="4" name="Slide Number Placeholder 5">
            <a:extLst>
              <a:ext uri="{FF2B5EF4-FFF2-40B4-BE49-F238E27FC236}">
                <a16:creationId xmlns:a16="http://schemas.microsoft.com/office/drawing/2014/main" id="{B6164685-7FEF-4796-BAAF-2E233ACF2926}"/>
              </a:ext>
            </a:extLst>
          </p:cNvPr>
          <p:cNvSpPr>
            <a:spLocks noGrp="1"/>
          </p:cNvSpPr>
          <p:nvPr>
            <p:ph type="sldNum" sz="quarter" idx="4"/>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554177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49B4-B6E5-48B7-B1B6-D2433D130228}"/>
              </a:ext>
            </a:extLst>
          </p:cNvPr>
          <p:cNvSpPr>
            <a:spLocks noGrp="1"/>
          </p:cNvSpPr>
          <p:nvPr>
            <p:ph type="title"/>
          </p:nvPr>
        </p:nvSpPr>
        <p:spPr/>
        <p:txBody>
          <a:bodyPr/>
          <a:lstStyle/>
          <a:p>
            <a:r>
              <a:rPr lang="en-US" dirty="0"/>
              <a:t>Life Cycle of a Typical Mushroom</a:t>
            </a:r>
            <a:endParaRPr lang="en-IN" dirty="0"/>
          </a:p>
        </p:txBody>
      </p:sp>
      <p:pic>
        <p:nvPicPr>
          <p:cNvPr id="7" name="Picture 2" descr="Details the steps in the typical life cycle of a mushroom : CYTOPLASMIC FUSION to form a dikaryotic mycellum, and NUCLEAR FUSION followed by MEIOSIS.">
            <a:extLst>
              <a:ext uri="{FF2B5EF4-FFF2-40B4-BE49-F238E27FC236}">
                <a16:creationId xmlns:a16="http://schemas.microsoft.com/office/drawing/2014/main" id="{70419708-6C4E-4524-A880-98CED3882C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038" y="1094981"/>
            <a:ext cx="7501922" cy="4668037"/>
          </a:xfrm>
          <a:prstGeom prst="rect">
            <a:avLst/>
          </a:prstGeom>
        </p:spPr>
      </p:pic>
      <p:sp>
        <p:nvSpPr>
          <p:cNvPr id="5" name="Text Placeholder 3">
            <a:extLst>
              <a:ext uri="{FF2B5EF4-FFF2-40B4-BE49-F238E27FC236}">
                <a16:creationId xmlns:a16="http://schemas.microsoft.com/office/drawing/2014/main" id="{5E92D451-3DA1-44D0-B3E9-3F9591836306}"/>
              </a:ext>
            </a:extLst>
          </p:cNvPr>
          <p:cNvSpPr>
            <a:spLocks noGrp="1"/>
          </p:cNvSpPr>
          <p:nvPr>
            <p:ph type="body" sz="quarter" idx="18"/>
          </p:nvPr>
        </p:nvSpPr>
        <p:spPr>
          <a:xfrm>
            <a:off x="4040761" y="5930112"/>
            <a:ext cx="1061356" cy="314325"/>
          </a:xfrm>
        </p:spPr>
        <p:txBody>
          <a:bodyPr>
            <a:normAutofit/>
          </a:bodyPr>
          <a:lstStyle/>
          <a:p>
            <a:r>
              <a:rPr lang="en-US" sz="1200" dirty="0"/>
              <a:t>Figure 22.9</a:t>
            </a:r>
          </a:p>
        </p:txBody>
      </p:sp>
      <p:sp>
        <p:nvSpPr>
          <p:cNvPr id="6" name="Text Placeholder 4">
            <a:extLst>
              <a:ext uri="{FF2B5EF4-FFF2-40B4-BE49-F238E27FC236}">
                <a16:creationId xmlns:a16="http://schemas.microsoft.com/office/drawing/2014/main" id="{68651969-BD4E-4708-BBE1-2152931F49D4}"/>
              </a:ext>
            </a:extLst>
          </p:cNvPr>
          <p:cNvSpPr>
            <a:spLocks noGrp="1"/>
          </p:cNvSpPr>
          <p:nvPr>
            <p:ph type="body" sz="quarter" idx="19"/>
          </p:nvPr>
        </p:nvSpPr>
        <p:spPr>
          <a:xfrm>
            <a:off x="2972540" y="6244437"/>
            <a:ext cx="3197798"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E6E29FEF-D021-472D-82B1-6AD3B72051F7}"/>
              </a:ext>
            </a:extLst>
          </p:cNvPr>
          <p:cNvSpPr>
            <a:spLocks noGrp="1"/>
          </p:cNvSpPr>
          <p:nvPr>
            <p:ph type="sldNum" sz="quarter" idx="4"/>
          </p:nvPr>
        </p:nvSpPr>
        <p:spPr/>
        <p:txBody>
          <a:bodyPr/>
          <a:lstStyle/>
          <a:p>
            <a:fld id="{68151E55-6873-49E2-B8D5-2F265E6F1973}" type="slidenum">
              <a:rPr lang="en-US" smtClean="0"/>
              <a:pPr/>
              <a:t>39</a:t>
            </a:fld>
            <a:endParaRPr lang="en-US" dirty="0"/>
          </a:p>
        </p:txBody>
      </p:sp>
    </p:spTree>
    <p:extLst>
      <p:ext uri="{BB962C8B-B14F-4D97-AF65-F5344CB8AC3E}">
        <p14:creationId xmlns:p14="http://schemas.microsoft.com/office/powerpoint/2010/main" val="33913676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60A1-9879-47C5-A1C6-987DECA20F84}"/>
              </a:ext>
            </a:extLst>
          </p:cNvPr>
          <p:cNvSpPr>
            <a:spLocks noGrp="1"/>
          </p:cNvSpPr>
          <p:nvPr>
            <p:ph type="title"/>
          </p:nvPr>
        </p:nvSpPr>
        <p:spPr/>
        <p:txBody>
          <a:bodyPr/>
          <a:lstStyle/>
          <a:p>
            <a:r>
              <a:rPr lang="en-US" altLang="en-US" dirty="0"/>
              <a:t>Club Fungi</a:t>
            </a:r>
            <a:endParaRPr lang="en-IN" dirty="0"/>
          </a:p>
        </p:txBody>
      </p:sp>
      <p:pic>
        <p:nvPicPr>
          <p:cNvPr id="8" name="Picture 2" descr="Examples of club fungi include shelf fungus, pore mushrooms, puffballs, bird’s-nest fungi, and stinkhorns.">
            <a:extLst>
              <a:ext uri="{FF2B5EF4-FFF2-40B4-BE49-F238E27FC236}">
                <a16:creationId xmlns:a16="http://schemas.microsoft.com/office/drawing/2014/main" id="{A0184485-C2E7-47FD-BC1C-6F8F057AB28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29" b="5627"/>
          <a:stretch/>
        </p:blipFill>
        <p:spPr bwMode="auto">
          <a:xfrm>
            <a:off x="557212" y="1184873"/>
            <a:ext cx="8029575" cy="4259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3">
            <a:extLst>
              <a:ext uri="{FF2B5EF4-FFF2-40B4-BE49-F238E27FC236}">
                <a16:creationId xmlns:a16="http://schemas.microsoft.com/office/drawing/2014/main" id="{8A461728-5FBA-449C-A3CB-1E432F525C4D}"/>
              </a:ext>
            </a:extLst>
          </p:cNvPr>
          <p:cNvSpPr>
            <a:spLocks noGrp="1"/>
          </p:cNvSpPr>
          <p:nvPr>
            <p:ph type="body" sz="quarter" idx="18"/>
          </p:nvPr>
        </p:nvSpPr>
        <p:spPr>
          <a:xfrm>
            <a:off x="3970983" y="5923963"/>
            <a:ext cx="1202033" cy="314325"/>
          </a:xfrm>
        </p:spPr>
        <p:txBody>
          <a:bodyPr>
            <a:normAutofit/>
          </a:bodyPr>
          <a:lstStyle/>
          <a:p>
            <a:r>
              <a:rPr lang="en-US" sz="1200" dirty="0"/>
              <a:t>Figure 22.10</a:t>
            </a:r>
          </a:p>
        </p:txBody>
      </p:sp>
      <p:sp>
        <p:nvSpPr>
          <p:cNvPr id="7" name="Text Placeholder 4">
            <a:extLst>
              <a:ext uri="{FF2B5EF4-FFF2-40B4-BE49-F238E27FC236}">
                <a16:creationId xmlns:a16="http://schemas.microsoft.com/office/drawing/2014/main" id="{AEE79666-97BD-4739-BBE9-F456EFB1067F}"/>
              </a:ext>
            </a:extLst>
          </p:cNvPr>
          <p:cNvSpPr>
            <a:spLocks noGrp="1"/>
          </p:cNvSpPr>
          <p:nvPr>
            <p:ph type="body" sz="quarter" idx="21"/>
          </p:nvPr>
        </p:nvSpPr>
        <p:spPr>
          <a:xfrm>
            <a:off x="3592233" y="6474947"/>
            <a:ext cx="5105257" cy="294560"/>
          </a:xfrm>
        </p:spPr>
        <p:txBody>
          <a:bodyPr/>
          <a:lstStyle/>
          <a:p>
            <a:pPr lvl="0"/>
            <a:r>
              <a:rPr lang="en-US" sz="800" dirty="0"/>
              <a:t>(a): Alexander von Duren/</a:t>
            </a:r>
            <a:r>
              <a:rPr lang="en-US" sz="800" dirty="0" err="1"/>
              <a:t>imagebroker</a:t>
            </a:r>
            <a:r>
              <a:rPr lang="en-US" sz="800" dirty="0"/>
              <a:t>/</a:t>
            </a:r>
            <a:r>
              <a:rPr lang="en-US" sz="800" dirty="0" err="1"/>
              <a:t>Alamy</a:t>
            </a:r>
            <a:r>
              <a:rPr lang="en-US" sz="800" dirty="0"/>
              <a:t> Stock Photo; (b): De Agostini/Getty Images; (c): Dr. Robert Siegel/Stanford University; (d): Ed Reschke/Getty Images; (e): David Plummer/</a:t>
            </a:r>
            <a:r>
              <a:rPr lang="en-US" sz="800" dirty="0" err="1"/>
              <a:t>Alamy</a:t>
            </a:r>
            <a:r>
              <a:rPr lang="en-US" sz="800" dirty="0"/>
              <a:t> Stock Photo</a:t>
            </a:r>
          </a:p>
        </p:txBody>
      </p:sp>
      <p:sp>
        <p:nvSpPr>
          <p:cNvPr id="4" name="Slide Number Placeholder 5">
            <a:extLst>
              <a:ext uri="{FF2B5EF4-FFF2-40B4-BE49-F238E27FC236}">
                <a16:creationId xmlns:a16="http://schemas.microsoft.com/office/drawing/2014/main" id="{7F5FAB94-8268-47DC-BFEC-2DB8E5D46747}"/>
              </a:ext>
            </a:extLst>
          </p:cNvPr>
          <p:cNvSpPr>
            <a:spLocks noGrp="1"/>
          </p:cNvSpPr>
          <p:nvPr>
            <p:ph type="sldNum" sz="quarter" idx="4"/>
          </p:nvPr>
        </p:nvSpPr>
        <p:spPr/>
        <p:txBody>
          <a:bodyPr/>
          <a:lstStyle/>
          <a:p>
            <a:fld id="{68151E55-6873-49E2-B8D5-2F265E6F1973}" type="slidenum">
              <a:rPr lang="en-US" smtClean="0"/>
              <a:pPr/>
              <a:t>40</a:t>
            </a:fld>
            <a:endParaRPr lang="en-US" dirty="0"/>
          </a:p>
        </p:txBody>
      </p:sp>
    </p:spTree>
    <p:extLst>
      <p:ext uri="{BB962C8B-B14F-4D97-AF65-F5344CB8AC3E}">
        <p14:creationId xmlns:p14="http://schemas.microsoft.com/office/powerpoint/2010/main" val="34856553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9776A-C74C-4656-A2EA-96C1678D0C5C}"/>
              </a:ext>
            </a:extLst>
          </p:cNvPr>
          <p:cNvSpPr>
            <a:spLocks noGrp="1"/>
          </p:cNvSpPr>
          <p:nvPr>
            <p:ph type="title"/>
          </p:nvPr>
        </p:nvSpPr>
        <p:spPr>
          <a:xfrm>
            <a:off x="0" y="1"/>
            <a:ext cx="9144000" cy="1177179"/>
          </a:xfrm>
        </p:spPr>
        <p:txBody>
          <a:bodyPr/>
          <a:lstStyle/>
          <a:p>
            <a:r>
              <a:rPr lang="en-US" altLang="en-US" dirty="0"/>
              <a:t>22.3 Symbiotic Relationships of Fungi</a:t>
            </a:r>
            <a:endParaRPr lang="en-IN" dirty="0"/>
          </a:p>
        </p:txBody>
      </p:sp>
      <p:sp>
        <p:nvSpPr>
          <p:cNvPr id="3" name="Text Placeholder 2">
            <a:extLst>
              <a:ext uri="{FF2B5EF4-FFF2-40B4-BE49-F238E27FC236}">
                <a16:creationId xmlns:a16="http://schemas.microsoft.com/office/drawing/2014/main" id="{2A2DB8F4-309E-4F74-9073-CB45331F27F9}"/>
              </a:ext>
            </a:extLst>
          </p:cNvPr>
          <p:cNvSpPr>
            <a:spLocks noGrp="1"/>
          </p:cNvSpPr>
          <p:nvPr>
            <p:ph type="body" sz="quarter" idx="19"/>
          </p:nvPr>
        </p:nvSpPr>
        <p:spPr>
          <a:xfrm>
            <a:off x="842963" y="1491504"/>
            <a:ext cx="7623676" cy="5330739"/>
          </a:xfrm>
        </p:spPr>
        <p:txBody>
          <a:bodyPr/>
          <a:lstStyle/>
          <a:p>
            <a:pPr lvl="0">
              <a:lnSpc>
                <a:spcPct val="90000"/>
              </a:lnSpc>
              <a:spcAft>
                <a:spcPts val="1500"/>
              </a:spcAft>
            </a:pPr>
            <a:r>
              <a:rPr lang="en-US" sz="2400" b="1" dirty="0">
                <a:solidFill>
                  <a:srgbClr val="D90000"/>
                </a:solidFill>
              </a:rPr>
              <a:t>Symbiosis</a:t>
            </a:r>
            <a:r>
              <a:rPr lang="en-US" sz="2400" dirty="0"/>
              <a:t> is a close association between two different species</a:t>
            </a:r>
          </a:p>
          <a:p>
            <a:pPr lvl="1">
              <a:lnSpc>
                <a:spcPct val="90000"/>
              </a:lnSpc>
              <a:spcBef>
                <a:spcPts val="0"/>
              </a:spcBef>
              <a:spcAft>
                <a:spcPts val="1500"/>
              </a:spcAft>
            </a:pPr>
            <a:r>
              <a:rPr lang="en-US" sz="2200" dirty="0"/>
              <a:t>Sometimes the association is </a:t>
            </a:r>
            <a:r>
              <a:rPr lang="en-US" sz="2200" b="1" dirty="0">
                <a:solidFill>
                  <a:srgbClr val="D90000"/>
                </a:solidFill>
              </a:rPr>
              <a:t>mutualistic</a:t>
            </a:r>
            <a:r>
              <a:rPr lang="en-US" sz="2200" b="1" dirty="0">
                <a:solidFill>
                  <a:srgbClr val="1F497D"/>
                </a:solidFill>
              </a:rPr>
              <a:t> </a:t>
            </a:r>
          </a:p>
          <a:p>
            <a:pPr marL="620713" lvl="2" indent="-257175">
              <a:lnSpc>
                <a:spcPct val="90000"/>
              </a:lnSpc>
              <a:spcBef>
                <a:spcPts val="0"/>
              </a:spcBef>
              <a:spcAft>
                <a:spcPts val="1500"/>
              </a:spcAft>
            </a:pPr>
            <a:r>
              <a:rPr lang="en-US" sz="2000" dirty="0"/>
              <a:t>Beneficial to both species </a:t>
            </a:r>
          </a:p>
          <a:p>
            <a:pPr marL="809625" lvl="3" indent="-188913">
              <a:lnSpc>
                <a:spcPct val="90000"/>
              </a:lnSpc>
              <a:spcBef>
                <a:spcPts val="0"/>
              </a:spcBef>
              <a:spcAft>
                <a:spcPts val="1500"/>
              </a:spcAft>
            </a:pPr>
            <a:r>
              <a:rPr lang="en-US" sz="1800" dirty="0"/>
              <a:t>Examples are lichens and mycorrhizae</a:t>
            </a:r>
          </a:p>
          <a:p>
            <a:pPr lvl="1">
              <a:lnSpc>
                <a:spcPct val="90000"/>
              </a:lnSpc>
              <a:spcBef>
                <a:spcPts val="0"/>
              </a:spcBef>
              <a:spcAft>
                <a:spcPts val="1500"/>
              </a:spcAft>
            </a:pPr>
            <a:r>
              <a:rPr lang="en-US" sz="2200" dirty="0"/>
              <a:t>A symbiosis can be </a:t>
            </a:r>
            <a:r>
              <a:rPr lang="en-US" sz="2200" b="1" dirty="0">
                <a:solidFill>
                  <a:srgbClr val="D90000"/>
                </a:solidFill>
              </a:rPr>
              <a:t>parasitic</a:t>
            </a:r>
          </a:p>
          <a:p>
            <a:pPr marL="620713" lvl="2" indent="-257175">
              <a:lnSpc>
                <a:spcPct val="90000"/>
              </a:lnSpc>
              <a:spcBef>
                <a:spcPts val="0"/>
              </a:spcBef>
              <a:spcAft>
                <a:spcPts val="1500"/>
              </a:spcAft>
            </a:pPr>
            <a:r>
              <a:rPr lang="en-US" sz="2000" dirty="0"/>
              <a:t>Relationship benefits one partner, while the other partner is harmed</a:t>
            </a:r>
          </a:p>
          <a:p>
            <a:pPr marL="620713" lvl="2" indent="-257175">
              <a:lnSpc>
                <a:spcPct val="90000"/>
              </a:lnSpc>
              <a:spcBef>
                <a:spcPts val="0"/>
              </a:spcBef>
              <a:spcAft>
                <a:spcPts val="1500"/>
              </a:spcAft>
            </a:pPr>
            <a:r>
              <a:rPr lang="en-US" sz="2000" dirty="0"/>
              <a:t>Fungi are able to parasitize plants, animals, and even other fungi </a:t>
            </a:r>
            <a:endParaRPr lang="en-US" sz="2000" dirty="0">
              <a:solidFill>
                <a:prstClr val="black"/>
              </a:solidFill>
            </a:endParaRPr>
          </a:p>
        </p:txBody>
      </p:sp>
      <p:sp>
        <p:nvSpPr>
          <p:cNvPr id="4" name="Slide Number Placeholder 3">
            <a:extLst>
              <a:ext uri="{FF2B5EF4-FFF2-40B4-BE49-F238E27FC236}">
                <a16:creationId xmlns:a16="http://schemas.microsoft.com/office/drawing/2014/main" id="{5E6267D0-85CD-4094-8C06-0469802C16BE}"/>
              </a:ext>
            </a:extLst>
          </p:cNvPr>
          <p:cNvSpPr>
            <a:spLocks noGrp="1"/>
          </p:cNvSpPr>
          <p:nvPr>
            <p:ph type="sldNum" sz="quarter" idx="4"/>
          </p:nvPr>
        </p:nvSpPr>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2932333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EF9C6-E6F2-4523-A469-926FE7FEC883}"/>
              </a:ext>
            </a:extLst>
          </p:cNvPr>
          <p:cNvSpPr>
            <a:spLocks noGrp="1"/>
          </p:cNvSpPr>
          <p:nvPr>
            <p:ph type="title"/>
          </p:nvPr>
        </p:nvSpPr>
        <p:spPr/>
        <p:txBody>
          <a:bodyPr/>
          <a:lstStyle/>
          <a:p>
            <a:r>
              <a:rPr lang="en-US" altLang="en-US" sz="3600" dirty="0"/>
              <a:t> </a:t>
            </a:r>
            <a:r>
              <a:rPr lang="en-US" sz="3600" dirty="0"/>
              <a:t>Fungal Parasitism: Infections in Plants</a:t>
            </a:r>
            <a:endParaRPr lang="en-IN" sz="3600" dirty="0"/>
          </a:p>
        </p:txBody>
      </p:sp>
      <p:sp>
        <p:nvSpPr>
          <p:cNvPr id="3" name="Text Placeholder 2">
            <a:extLst>
              <a:ext uri="{FF2B5EF4-FFF2-40B4-BE49-F238E27FC236}">
                <a16:creationId xmlns:a16="http://schemas.microsoft.com/office/drawing/2014/main" id="{C33C116E-6452-4FF6-8008-2A46365116F5}"/>
              </a:ext>
            </a:extLst>
          </p:cNvPr>
          <p:cNvSpPr>
            <a:spLocks noGrp="1"/>
          </p:cNvSpPr>
          <p:nvPr>
            <p:ph type="body" sz="quarter" idx="19"/>
          </p:nvPr>
        </p:nvSpPr>
        <p:spPr>
          <a:xfrm>
            <a:off x="842963" y="1177180"/>
            <a:ext cx="7623676" cy="5680820"/>
          </a:xfrm>
        </p:spPr>
        <p:txBody>
          <a:bodyPr/>
          <a:lstStyle/>
          <a:p>
            <a:pPr lvl="0">
              <a:lnSpc>
                <a:spcPct val="90000"/>
              </a:lnSpc>
              <a:spcAft>
                <a:spcPts val="1500"/>
              </a:spcAft>
            </a:pPr>
            <a:r>
              <a:rPr lang="en-US" sz="2400" dirty="0"/>
              <a:t>Many fungal parasites of plants exist</a:t>
            </a:r>
          </a:p>
          <a:p>
            <a:pPr lvl="1">
              <a:lnSpc>
                <a:spcPct val="90000"/>
              </a:lnSpc>
              <a:spcBef>
                <a:spcPts val="0"/>
              </a:spcBef>
              <a:spcAft>
                <a:spcPts val="1500"/>
              </a:spcAft>
            </a:pPr>
            <a:r>
              <a:rPr lang="en-US" sz="2200" dirty="0"/>
              <a:t>The ascomycete, </a:t>
            </a:r>
            <a:r>
              <a:rPr lang="en-US" sz="2200" i="1" dirty="0" err="1"/>
              <a:t>Ophiostoma</a:t>
            </a:r>
            <a:r>
              <a:rPr lang="en-US" sz="2200" dirty="0"/>
              <a:t>, wiped out elm trees in the United States by causing Dutch elm disease</a:t>
            </a:r>
          </a:p>
          <a:p>
            <a:pPr lvl="1">
              <a:lnSpc>
                <a:spcPct val="90000"/>
              </a:lnSpc>
              <a:spcBef>
                <a:spcPts val="0"/>
              </a:spcBef>
              <a:spcAft>
                <a:spcPts val="1500"/>
              </a:spcAft>
            </a:pPr>
            <a:r>
              <a:rPr lang="en-US" sz="2200" i="1" dirty="0" err="1"/>
              <a:t>Physoderma</a:t>
            </a:r>
            <a:r>
              <a:rPr lang="en-US" sz="2200" i="1" dirty="0"/>
              <a:t> maydis</a:t>
            </a:r>
            <a:r>
              <a:rPr lang="en-US" sz="2200" dirty="0"/>
              <a:t> is a corn parasite</a:t>
            </a:r>
          </a:p>
          <a:p>
            <a:pPr lvl="1">
              <a:lnSpc>
                <a:spcPct val="90000"/>
              </a:lnSpc>
              <a:spcBef>
                <a:spcPts val="0"/>
              </a:spcBef>
              <a:spcAft>
                <a:spcPts val="1500"/>
              </a:spcAft>
            </a:pPr>
            <a:r>
              <a:rPr lang="en-US" sz="2200" dirty="0"/>
              <a:t>Smuts and rusts are basidiomycetes that parasitize cereal crops, such as corn, wheat, oats, and rye</a:t>
            </a:r>
          </a:p>
          <a:p>
            <a:pPr marL="620713" lvl="2" indent="-257175">
              <a:lnSpc>
                <a:spcPct val="90000"/>
              </a:lnSpc>
              <a:spcBef>
                <a:spcPts val="0"/>
              </a:spcBef>
              <a:spcAft>
                <a:spcPts val="1500"/>
              </a:spcAft>
            </a:pPr>
            <a:r>
              <a:rPr lang="en-US" sz="2000" dirty="0"/>
              <a:t>They are of great economic importance because of the crop losses they cause every year</a:t>
            </a:r>
            <a:endParaRPr lang="en-US" sz="2000" dirty="0">
              <a:solidFill>
                <a:prstClr val="black"/>
              </a:solidFill>
            </a:endParaRPr>
          </a:p>
        </p:txBody>
      </p:sp>
      <p:sp>
        <p:nvSpPr>
          <p:cNvPr id="4" name="Slide Number Placeholder 3">
            <a:extLst>
              <a:ext uri="{FF2B5EF4-FFF2-40B4-BE49-F238E27FC236}">
                <a16:creationId xmlns:a16="http://schemas.microsoft.com/office/drawing/2014/main" id="{69C754DC-23FA-44FF-B440-0D7009FCCCFE}"/>
              </a:ext>
            </a:extLst>
          </p:cNvPr>
          <p:cNvSpPr>
            <a:spLocks noGrp="1"/>
          </p:cNvSpPr>
          <p:nvPr>
            <p:ph type="sldNum" sz="quarter" idx="4"/>
          </p:nvPr>
        </p:nvSpPr>
        <p:spPr/>
        <p:txBody>
          <a:bodyPr/>
          <a:lstStyle/>
          <a:p>
            <a:fld id="{68151E55-6873-49E2-B8D5-2F265E6F1973}" type="slidenum">
              <a:rPr lang="en-US" smtClean="0"/>
              <a:pPr/>
              <a:t>42</a:t>
            </a:fld>
            <a:endParaRPr lang="en-US" dirty="0"/>
          </a:p>
        </p:txBody>
      </p:sp>
    </p:spTree>
    <p:extLst>
      <p:ext uri="{BB962C8B-B14F-4D97-AF65-F5344CB8AC3E}">
        <p14:creationId xmlns:p14="http://schemas.microsoft.com/office/powerpoint/2010/main" val="20945547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D921951-ECB7-4F4C-A47D-E6EE01C5B081}"/>
              </a:ext>
            </a:extLst>
          </p:cNvPr>
          <p:cNvSpPr>
            <a:spLocks noGrp="1"/>
          </p:cNvSpPr>
          <p:nvPr>
            <p:ph type="title"/>
          </p:nvPr>
        </p:nvSpPr>
        <p:spPr/>
        <p:txBody>
          <a:bodyPr/>
          <a:lstStyle/>
          <a:p>
            <a:r>
              <a:rPr lang="en-US" altLang="en-US" dirty="0"/>
              <a:t>Smuts and Rusts</a:t>
            </a:r>
            <a:endParaRPr lang="en-IN" dirty="0"/>
          </a:p>
        </p:txBody>
      </p:sp>
      <p:pic>
        <p:nvPicPr>
          <p:cNvPr id="10" name="Picture 2" descr="a) A corn smut with b) Micrograph shows labels for leaf and fungus. ">
            <a:extLst>
              <a:ext uri="{FF2B5EF4-FFF2-40B4-BE49-F238E27FC236}">
                <a16:creationId xmlns:a16="http://schemas.microsoft.com/office/drawing/2014/main" id="{3EA58BBB-29CC-4C60-A27F-1B51502F1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8095" y="913247"/>
            <a:ext cx="3227809" cy="5045741"/>
          </a:xfrm>
          <a:prstGeom prst="rect">
            <a:avLst/>
          </a:prstGeom>
        </p:spPr>
      </p:pic>
      <p:sp>
        <p:nvSpPr>
          <p:cNvPr id="6" name="Text Placeholder 3">
            <a:extLst>
              <a:ext uri="{FF2B5EF4-FFF2-40B4-BE49-F238E27FC236}">
                <a16:creationId xmlns:a16="http://schemas.microsoft.com/office/drawing/2014/main" id="{A684A325-BD9E-4DF0-8B80-519ADFF4DA27}"/>
              </a:ext>
            </a:extLst>
          </p:cNvPr>
          <p:cNvSpPr>
            <a:spLocks noGrp="1"/>
          </p:cNvSpPr>
          <p:nvPr>
            <p:ph type="body" sz="quarter" idx="18"/>
          </p:nvPr>
        </p:nvSpPr>
        <p:spPr/>
        <p:txBody>
          <a:bodyPr>
            <a:normAutofit/>
          </a:bodyPr>
          <a:lstStyle/>
          <a:p>
            <a:r>
              <a:rPr lang="en-US" sz="1200" dirty="0"/>
              <a:t>Figure 22.11</a:t>
            </a:r>
          </a:p>
        </p:txBody>
      </p:sp>
      <p:sp>
        <p:nvSpPr>
          <p:cNvPr id="8" name="Text Placeholder 4">
            <a:extLst>
              <a:ext uri="{FF2B5EF4-FFF2-40B4-BE49-F238E27FC236}">
                <a16:creationId xmlns:a16="http://schemas.microsoft.com/office/drawing/2014/main" id="{FCE28D07-EFEA-4119-A90A-899502D878CD}"/>
              </a:ext>
            </a:extLst>
          </p:cNvPr>
          <p:cNvSpPr>
            <a:spLocks noGrp="1"/>
          </p:cNvSpPr>
          <p:nvPr>
            <p:ph type="body" sz="quarter" idx="21"/>
          </p:nvPr>
        </p:nvSpPr>
        <p:spPr/>
        <p:txBody>
          <a:bodyPr/>
          <a:lstStyle/>
          <a:p>
            <a:pPr lvl="0"/>
            <a:r>
              <a:rPr lang="en-US" sz="800" dirty="0"/>
              <a:t>(a): Carol </a:t>
            </a:r>
            <a:r>
              <a:rPr lang="en-US" sz="800" dirty="0" err="1"/>
              <a:t>Dembinsky</a:t>
            </a:r>
            <a:r>
              <a:rPr lang="en-US" sz="800" dirty="0"/>
              <a:t>/</a:t>
            </a:r>
            <a:r>
              <a:rPr lang="en-US" sz="800" dirty="0" err="1"/>
              <a:t>Dembinsky</a:t>
            </a:r>
            <a:r>
              <a:rPr lang="en-US" sz="800" dirty="0"/>
              <a:t> Photo Associates/</a:t>
            </a:r>
            <a:r>
              <a:rPr lang="en-US" sz="800" dirty="0" err="1"/>
              <a:t>Alamy</a:t>
            </a:r>
            <a:r>
              <a:rPr lang="en-US" sz="800" dirty="0"/>
              <a:t> Stock Photo; (b): Patrick Lynch/Science Source</a:t>
            </a:r>
          </a:p>
        </p:txBody>
      </p:sp>
      <p:sp>
        <p:nvSpPr>
          <p:cNvPr id="4" name="Slide Number Placeholder 5">
            <a:extLst>
              <a:ext uri="{FF2B5EF4-FFF2-40B4-BE49-F238E27FC236}">
                <a16:creationId xmlns:a16="http://schemas.microsoft.com/office/drawing/2014/main" id="{FBF08170-5932-4DB4-9D93-7CA17F783E0E}"/>
              </a:ext>
            </a:extLst>
          </p:cNvPr>
          <p:cNvSpPr>
            <a:spLocks noGrp="1"/>
          </p:cNvSpPr>
          <p:nvPr>
            <p:ph type="sldNum" sz="quarter" idx="4"/>
          </p:nvPr>
        </p:nvSpPr>
        <p:spPr/>
        <p:txBody>
          <a:bodyPr/>
          <a:lstStyle/>
          <a:p>
            <a:fld id="{68151E55-6873-49E2-B8D5-2F265E6F1973}" type="slidenum">
              <a:rPr lang="en-US" smtClean="0"/>
              <a:pPr/>
              <a:t>43</a:t>
            </a:fld>
            <a:endParaRPr lang="en-US" dirty="0"/>
          </a:p>
        </p:txBody>
      </p:sp>
    </p:spTree>
    <p:extLst>
      <p:ext uri="{BB962C8B-B14F-4D97-AF65-F5344CB8AC3E}">
        <p14:creationId xmlns:p14="http://schemas.microsoft.com/office/powerpoint/2010/main" val="4088488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38B73-5EF9-4583-99CD-564ACC4D6B1B}"/>
              </a:ext>
            </a:extLst>
          </p:cNvPr>
          <p:cNvSpPr>
            <a:spLocks noGrp="1"/>
          </p:cNvSpPr>
          <p:nvPr>
            <p:ph type="title"/>
          </p:nvPr>
        </p:nvSpPr>
        <p:spPr/>
        <p:txBody>
          <a:bodyPr/>
          <a:lstStyle/>
          <a:p>
            <a:r>
              <a:rPr lang="en-US" altLang="en-US" dirty="0"/>
              <a:t> </a:t>
            </a:r>
            <a:r>
              <a:rPr lang="en-US" dirty="0"/>
              <a:t>Infections in Animals</a:t>
            </a:r>
            <a:endParaRPr lang="en-IN" dirty="0"/>
          </a:p>
        </p:txBody>
      </p:sp>
      <p:sp>
        <p:nvSpPr>
          <p:cNvPr id="3" name="Text Placeholder 2">
            <a:extLst>
              <a:ext uri="{FF2B5EF4-FFF2-40B4-BE49-F238E27FC236}">
                <a16:creationId xmlns:a16="http://schemas.microsoft.com/office/drawing/2014/main" id="{66E098A3-CB3E-4883-A080-701B2D76B26D}"/>
              </a:ext>
            </a:extLst>
          </p:cNvPr>
          <p:cNvSpPr>
            <a:spLocks noGrp="1"/>
          </p:cNvSpPr>
          <p:nvPr>
            <p:ph type="body" sz="quarter" idx="19"/>
          </p:nvPr>
        </p:nvSpPr>
        <p:spPr>
          <a:xfrm>
            <a:off x="381260" y="896139"/>
            <a:ext cx="8085379" cy="5663856"/>
          </a:xfrm>
        </p:spPr>
        <p:txBody>
          <a:bodyPr>
            <a:normAutofit/>
          </a:bodyPr>
          <a:lstStyle/>
          <a:p>
            <a:pPr lvl="0">
              <a:lnSpc>
                <a:spcPct val="90000"/>
              </a:lnSpc>
              <a:spcAft>
                <a:spcPts val="0"/>
              </a:spcAft>
            </a:pPr>
            <a:r>
              <a:rPr lang="en-US" sz="2400" dirty="0"/>
              <a:t>Invertebrates and vertebrates can be parasitized by fungi</a:t>
            </a:r>
          </a:p>
          <a:p>
            <a:pPr lvl="1">
              <a:lnSpc>
                <a:spcPct val="90000"/>
              </a:lnSpc>
              <a:spcBef>
                <a:spcPts val="1200"/>
              </a:spcBef>
              <a:spcAft>
                <a:spcPts val="0"/>
              </a:spcAft>
            </a:pPr>
            <a:r>
              <a:rPr lang="en-US" sz="2200" dirty="0"/>
              <a:t>Hyphae traps can catch nematodes and digest them while still alive</a:t>
            </a:r>
          </a:p>
          <a:p>
            <a:pPr lvl="1">
              <a:lnSpc>
                <a:spcPct val="90000"/>
              </a:lnSpc>
              <a:spcBef>
                <a:spcPts val="1200"/>
              </a:spcBef>
              <a:spcAft>
                <a:spcPts val="0"/>
              </a:spcAft>
            </a:pPr>
            <a:r>
              <a:rPr lang="en-US" sz="2200" dirty="0"/>
              <a:t>Insect exoskeletons can be penetrated by germinating spores that eventually take over their bodies </a:t>
            </a:r>
          </a:p>
          <a:p>
            <a:pPr lvl="1">
              <a:lnSpc>
                <a:spcPct val="90000"/>
              </a:lnSpc>
              <a:spcBef>
                <a:spcPts val="1200"/>
              </a:spcBef>
              <a:spcAft>
                <a:spcPts val="0"/>
              </a:spcAft>
            </a:pPr>
            <a:r>
              <a:rPr lang="en-US" sz="2200" dirty="0"/>
              <a:t>Vertebrates, such as reptiles, can be attacked by molds, and amphibian populations are declining worldwide because of chytrid infections</a:t>
            </a:r>
          </a:p>
          <a:p>
            <a:pPr lvl="1">
              <a:lnSpc>
                <a:spcPct val="90000"/>
              </a:lnSpc>
              <a:spcBef>
                <a:spcPts val="1200"/>
              </a:spcBef>
              <a:spcAft>
                <a:spcPts val="0"/>
              </a:spcAft>
            </a:pPr>
            <a:r>
              <a:rPr lang="en-US" sz="2200" dirty="0"/>
              <a:t>Fungal infection has decimated bat populations mainly along East Coast of United States and Canada</a:t>
            </a:r>
          </a:p>
          <a:p>
            <a:pPr marL="620713" lvl="2" indent="-257175">
              <a:lnSpc>
                <a:spcPct val="90000"/>
              </a:lnSpc>
              <a:spcBef>
                <a:spcPts val="1200"/>
              </a:spcBef>
              <a:spcAft>
                <a:spcPts val="0"/>
              </a:spcAft>
            </a:pPr>
            <a:r>
              <a:rPr lang="en-US" sz="2000" dirty="0"/>
              <a:t>Ascomycete called </a:t>
            </a:r>
            <a:r>
              <a:rPr lang="en-US" sz="2000" i="1" dirty="0"/>
              <a:t>Pseudogymnoascus </a:t>
            </a:r>
            <a:r>
              <a:rPr lang="en-US" sz="2000" i="1" dirty="0" err="1"/>
              <a:t>destructans</a:t>
            </a:r>
            <a:r>
              <a:rPr lang="en-US" sz="2000" i="1" dirty="0"/>
              <a:t> </a:t>
            </a:r>
            <a:r>
              <a:rPr lang="en-US" sz="2000" dirty="0"/>
              <a:t>is responsible for white nose syndrome</a:t>
            </a:r>
          </a:p>
          <a:p>
            <a:pPr marL="903288" lvl="3" indent="-282575">
              <a:lnSpc>
                <a:spcPct val="90000"/>
              </a:lnSpc>
              <a:spcBef>
                <a:spcPts val="1200"/>
              </a:spcBef>
              <a:spcAft>
                <a:spcPts val="0"/>
              </a:spcAft>
            </a:pPr>
            <a:r>
              <a:rPr lang="en-US" sz="1800" dirty="0"/>
              <a:t>Characterized by white fungus growing on infected bats’ muzzles</a:t>
            </a:r>
          </a:p>
          <a:p>
            <a:pPr marL="903288" lvl="3" indent="-282575">
              <a:lnSpc>
                <a:spcPct val="90000"/>
              </a:lnSpc>
              <a:spcBef>
                <a:spcPts val="1200"/>
              </a:spcBef>
              <a:spcAft>
                <a:spcPts val="0"/>
              </a:spcAft>
            </a:pPr>
            <a:r>
              <a:rPr lang="en-US" sz="1800" dirty="0"/>
              <a:t>Infection disturbs hibernating bats by waking them up during the winter months, causing them to look for food and starve to death</a:t>
            </a:r>
            <a:endParaRPr lang="en-US" sz="1800" dirty="0">
              <a:solidFill>
                <a:prstClr val="black"/>
              </a:solidFill>
            </a:endParaRPr>
          </a:p>
        </p:txBody>
      </p:sp>
      <p:sp>
        <p:nvSpPr>
          <p:cNvPr id="4" name="Slide Number Placeholder 3">
            <a:extLst>
              <a:ext uri="{FF2B5EF4-FFF2-40B4-BE49-F238E27FC236}">
                <a16:creationId xmlns:a16="http://schemas.microsoft.com/office/drawing/2014/main" id="{46C191C7-745D-41AC-9E53-A16ACC92DE8B}"/>
              </a:ext>
            </a:extLst>
          </p:cNvPr>
          <p:cNvSpPr>
            <a:spLocks noGrp="1"/>
          </p:cNvSpPr>
          <p:nvPr>
            <p:ph type="sldNum" sz="quarter" idx="4"/>
          </p:nvPr>
        </p:nvSpPr>
        <p:spPr/>
        <p:txBody>
          <a:bodyPr/>
          <a:lstStyle/>
          <a:p>
            <a:fld id="{68151E55-6873-49E2-B8D5-2F265E6F1973}" type="slidenum">
              <a:rPr lang="en-US" smtClean="0"/>
              <a:pPr/>
              <a:t>44</a:t>
            </a:fld>
            <a:endParaRPr lang="en-US" dirty="0"/>
          </a:p>
        </p:txBody>
      </p:sp>
    </p:spTree>
    <p:extLst>
      <p:ext uri="{BB962C8B-B14F-4D97-AF65-F5344CB8AC3E}">
        <p14:creationId xmlns:p14="http://schemas.microsoft.com/office/powerpoint/2010/main" val="20712770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2D075-D476-4B0A-93E0-728FD59CEC3B}"/>
              </a:ext>
            </a:extLst>
          </p:cNvPr>
          <p:cNvSpPr>
            <a:spLocks noGrp="1"/>
          </p:cNvSpPr>
          <p:nvPr>
            <p:ph type="title"/>
          </p:nvPr>
        </p:nvSpPr>
        <p:spPr>
          <a:xfrm>
            <a:off x="0" y="1"/>
            <a:ext cx="9144000" cy="1055076"/>
          </a:xfrm>
        </p:spPr>
        <p:txBody>
          <a:bodyPr/>
          <a:lstStyle/>
          <a:p>
            <a:r>
              <a:rPr lang="en-US" dirty="0"/>
              <a:t>Animal Parasites</a:t>
            </a:r>
            <a:endParaRPr lang="en-IN" dirty="0"/>
          </a:p>
        </p:txBody>
      </p:sp>
      <p:pic>
        <p:nvPicPr>
          <p:cNvPr id="8" name="Picture 2" descr="A) A dead fly with two fruiting bodies emerging on either side of its head. B) Close-up of bats exhibiting a  mold on their muzzles.">
            <a:extLst>
              <a:ext uri="{FF2B5EF4-FFF2-40B4-BE49-F238E27FC236}">
                <a16:creationId xmlns:a16="http://schemas.microsoft.com/office/drawing/2014/main" id="{C9005E24-12D0-47CD-A646-614FE33411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7315" y="987387"/>
            <a:ext cx="3164003" cy="4598702"/>
          </a:xfrm>
          <a:prstGeom prst="rect">
            <a:avLst/>
          </a:prstGeom>
        </p:spPr>
      </p:pic>
      <p:sp>
        <p:nvSpPr>
          <p:cNvPr id="5" name="Text Placeholder 3">
            <a:extLst>
              <a:ext uri="{FF2B5EF4-FFF2-40B4-BE49-F238E27FC236}">
                <a16:creationId xmlns:a16="http://schemas.microsoft.com/office/drawing/2014/main" id="{3085BF1B-E3E3-4AEA-A412-D36D3405AB8B}"/>
              </a:ext>
            </a:extLst>
          </p:cNvPr>
          <p:cNvSpPr>
            <a:spLocks noGrp="1"/>
          </p:cNvSpPr>
          <p:nvPr>
            <p:ph type="body" sz="quarter" idx="18"/>
          </p:nvPr>
        </p:nvSpPr>
        <p:spPr>
          <a:xfrm>
            <a:off x="3653899" y="5673885"/>
            <a:ext cx="1835079" cy="314325"/>
          </a:xfrm>
        </p:spPr>
        <p:txBody>
          <a:bodyPr>
            <a:normAutofit/>
          </a:bodyPr>
          <a:lstStyle/>
          <a:p>
            <a:r>
              <a:rPr lang="en-US" sz="1200" dirty="0"/>
              <a:t>Figure 22.12</a:t>
            </a:r>
          </a:p>
        </p:txBody>
      </p:sp>
      <p:sp>
        <p:nvSpPr>
          <p:cNvPr id="7" name="Text Placeholder 5">
            <a:extLst>
              <a:ext uri="{FF2B5EF4-FFF2-40B4-BE49-F238E27FC236}">
                <a16:creationId xmlns:a16="http://schemas.microsoft.com/office/drawing/2014/main" id="{28CD38C9-E2FA-4360-9B30-606CD4CC8A0B}"/>
              </a:ext>
            </a:extLst>
          </p:cNvPr>
          <p:cNvSpPr>
            <a:spLocks noGrp="1"/>
          </p:cNvSpPr>
          <p:nvPr>
            <p:ph type="body" sz="quarter" idx="21"/>
          </p:nvPr>
        </p:nvSpPr>
        <p:spPr/>
        <p:txBody>
          <a:bodyPr/>
          <a:lstStyle/>
          <a:p>
            <a:pPr lvl="0"/>
            <a:r>
              <a:rPr lang="en-US" dirty="0"/>
              <a:t>(a): </a:t>
            </a:r>
            <a:r>
              <a:rPr lang="en-US" dirty="0" err="1"/>
              <a:t>khlungcenter</a:t>
            </a:r>
            <a:r>
              <a:rPr lang="en-US" dirty="0"/>
              <a:t>/Shutterstock; (b): Source: Al Hicks/New York Department of Environmental Conservation/USGS</a:t>
            </a:r>
          </a:p>
        </p:txBody>
      </p:sp>
      <p:sp>
        <p:nvSpPr>
          <p:cNvPr id="4" name="Slide Number Placeholder 6">
            <a:extLst>
              <a:ext uri="{FF2B5EF4-FFF2-40B4-BE49-F238E27FC236}">
                <a16:creationId xmlns:a16="http://schemas.microsoft.com/office/drawing/2014/main" id="{D16CED60-1AA7-4DB3-B310-267E0B77658E}"/>
              </a:ext>
            </a:extLst>
          </p:cNvPr>
          <p:cNvSpPr>
            <a:spLocks noGrp="1"/>
          </p:cNvSpPr>
          <p:nvPr>
            <p:ph type="sldNum" sz="quarter" idx="4"/>
          </p:nvPr>
        </p:nvSpPr>
        <p:spPr/>
        <p:txBody>
          <a:bodyPr/>
          <a:lstStyle/>
          <a:p>
            <a:fld id="{68151E55-6873-49E2-B8D5-2F265E6F1973}" type="slidenum">
              <a:rPr lang="en-US" smtClean="0"/>
              <a:pPr/>
              <a:t>45</a:t>
            </a:fld>
            <a:endParaRPr lang="en-US" dirty="0"/>
          </a:p>
        </p:txBody>
      </p:sp>
    </p:spTree>
    <p:extLst>
      <p:ext uri="{BB962C8B-B14F-4D97-AF65-F5344CB8AC3E}">
        <p14:creationId xmlns:p14="http://schemas.microsoft.com/office/powerpoint/2010/main" val="23655600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68024-416E-4643-95C2-15F26141A522}"/>
              </a:ext>
            </a:extLst>
          </p:cNvPr>
          <p:cNvSpPr>
            <a:spLocks noGrp="1"/>
          </p:cNvSpPr>
          <p:nvPr>
            <p:ph type="title"/>
          </p:nvPr>
        </p:nvSpPr>
        <p:spPr/>
        <p:txBody>
          <a:bodyPr/>
          <a:lstStyle/>
          <a:p>
            <a:r>
              <a:rPr lang="en-US" dirty="0"/>
              <a:t>Lichens: Mutualistic or Parasitic? </a:t>
            </a:r>
            <a:endParaRPr lang="en-IN" dirty="0"/>
          </a:p>
        </p:txBody>
      </p:sp>
      <p:sp>
        <p:nvSpPr>
          <p:cNvPr id="3" name="Text Placeholder 2">
            <a:extLst>
              <a:ext uri="{FF2B5EF4-FFF2-40B4-BE49-F238E27FC236}">
                <a16:creationId xmlns:a16="http://schemas.microsoft.com/office/drawing/2014/main" id="{B1A802AD-DA18-46D4-A8A4-EA7B2D02EAE2}"/>
              </a:ext>
            </a:extLst>
          </p:cNvPr>
          <p:cNvSpPr>
            <a:spLocks noGrp="1"/>
          </p:cNvSpPr>
          <p:nvPr>
            <p:ph type="body" sz="quarter" idx="19"/>
          </p:nvPr>
        </p:nvSpPr>
        <p:spPr>
          <a:xfrm>
            <a:off x="842963" y="1177179"/>
            <a:ext cx="7623676" cy="5330740"/>
          </a:xfrm>
        </p:spPr>
        <p:txBody>
          <a:bodyPr/>
          <a:lstStyle/>
          <a:p>
            <a:pPr lvl="0">
              <a:lnSpc>
                <a:spcPct val="90000"/>
              </a:lnSpc>
              <a:spcAft>
                <a:spcPts val="2000"/>
              </a:spcAft>
            </a:pPr>
            <a:r>
              <a:rPr lang="en-US" sz="2400" dirty="0"/>
              <a:t>Lichens are an association between fungi and a photosynthesizing partner</a:t>
            </a:r>
          </a:p>
          <a:p>
            <a:pPr lvl="1">
              <a:lnSpc>
                <a:spcPct val="90000"/>
              </a:lnSpc>
              <a:spcBef>
                <a:spcPts val="0"/>
              </a:spcBef>
              <a:spcAft>
                <a:spcPts val="2000"/>
              </a:spcAft>
            </a:pPr>
            <a:r>
              <a:rPr lang="en-US" sz="2200" dirty="0"/>
              <a:t>Partner can be either a cyanobacterium or green alga</a:t>
            </a:r>
          </a:p>
          <a:p>
            <a:pPr lvl="1">
              <a:lnSpc>
                <a:spcPct val="90000"/>
              </a:lnSpc>
              <a:spcBef>
                <a:spcPts val="0"/>
              </a:spcBef>
              <a:spcAft>
                <a:spcPts val="2000"/>
              </a:spcAft>
            </a:pPr>
            <a:r>
              <a:rPr lang="en-US" sz="2200" dirty="0"/>
              <a:t>Until recently, all lichens were thought to include only two organisms</a:t>
            </a:r>
          </a:p>
          <a:p>
            <a:pPr marL="620713" lvl="2" indent="-257175">
              <a:lnSpc>
                <a:spcPct val="90000"/>
              </a:lnSpc>
              <a:spcBef>
                <a:spcPts val="0"/>
              </a:spcBef>
              <a:spcAft>
                <a:spcPts val="2000"/>
              </a:spcAft>
            </a:pPr>
            <a:r>
              <a:rPr lang="en-US" sz="2000" dirty="0"/>
              <a:t>Current research shows that some lichens actually contain three partners: a photosynthesizing partner, one ascomycete and one basidiomycete</a:t>
            </a:r>
            <a:endParaRPr lang="en-US" sz="2000" dirty="0">
              <a:solidFill>
                <a:prstClr val="black"/>
              </a:solidFill>
            </a:endParaRPr>
          </a:p>
        </p:txBody>
      </p:sp>
      <p:sp>
        <p:nvSpPr>
          <p:cNvPr id="4" name="Slide Number Placeholder 3">
            <a:extLst>
              <a:ext uri="{FF2B5EF4-FFF2-40B4-BE49-F238E27FC236}">
                <a16:creationId xmlns:a16="http://schemas.microsoft.com/office/drawing/2014/main" id="{E38BE612-18C8-4F3A-A30C-8CFF5DA23DA3}"/>
              </a:ext>
            </a:extLst>
          </p:cNvPr>
          <p:cNvSpPr>
            <a:spLocks noGrp="1"/>
          </p:cNvSpPr>
          <p:nvPr>
            <p:ph type="sldNum" sz="quarter" idx="4"/>
          </p:nvPr>
        </p:nvSpPr>
        <p:spPr/>
        <p:txBody>
          <a:bodyPr/>
          <a:lstStyle/>
          <a:p>
            <a:fld id="{68151E55-6873-49E2-B8D5-2F265E6F1973}" type="slidenum">
              <a:rPr lang="en-US" smtClean="0"/>
              <a:pPr/>
              <a:t>46</a:t>
            </a:fld>
            <a:endParaRPr lang="en-US" dirty="0"/>
          </a:p>
        </p:txBody>
      </p:sp>
    </p:spTree>
    <p:extLst>
      <p:ext uri="{BB962C8B-B14F-4D97-AF65-F5344CB8AC3E}">
        <p14:creationId xmlns:p14="http://schemas.microsoft.com/office/powerpoint/2010/main" val="30782284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EB953-9A83-4F93-ABE4-4BA458B3DE35}"/>
              </a:ext>
            </a:extLst>
          </p:cNvPr>
          <p:cNvSpPr>
            <a:spLocks noGrp="1"/>
          </p:cNvSpPr>
          <p:nvPr>
            <p:ph type="title"/>
          </p:nvPr>
        </p:nvSpPr>
        <p:spPr/>
        <p:txBody>
          <a:bodyPr/>
          <a:lstStyle/>
          <a:p>
            <a:r>
              <a:rPr lang="en-US" dirty="0"/>
              <a:t>Lichens</a:t>
            </a:r>
            <a:endParaRPr lang="en-IN" dirty="0"/>
          </a:p>
        </p:txBody>
      </p:sp>
      <p:sp>
        <p:nvSpPr>
          <p:cNvPr id="3" name="Text Placeholder 2">
            <a:extLst>
              <a:ext uri="{FF2B5EF4-FFF2-40B4-BE49-F238E27FC236}">
                <a16:creationId xmlns:a16="http://schemas.microsoft.com/office/drawing/2014/main" id="{647CE88A-5661-4E73-9733-CFF4B100E6E9}"/>
              </a:ext>
            </a:extLst>
          </p:cNvPr>
          <p:cNvSpPr>
            <a:spLocks noGrp="1"/>
          </p:cNvSpPr>
          <p:nvPr>
            <p:ph type="body" sz="quarter" idx="19"/>
          </p:nvPr>
        </p:nvSpPr>
        <p:spPr>
          <a:xfrm>
            <a:off x="842963" y="1177179"/>
            <a:ext cx="7623676" cy="5235343"/>
          </a:xfrm>
        </p:spPr>
        <p:txBody>
          <a:bodyPr/>
          <a:lstStyle/>
          <a:p>
            <a:pPr lvl="0">
              <a:lnSpc>
                <a:spcPct val="90000"/>
              </a:lnSpc>
              <a:spcAft>
                <a:spcPts val="2000"/>
              </a:spcAft>
            </a:pPr>
            <a:r>
              <a:rPr lang="en-US" sz="2400" dirty="0"/>
              <a:t>In the past, lichens were assumed to be mutualistic relationships where</a:t>
            </a:r>
          </a:p>
          <a:p>
            <a:pPr lvl="1">
              <a:lnSpc>
                <a:spcPct val="90000"/>
              </a:lnSpc>
              <a:spcBef>
                <a:spcPts val="0"/>
              </a:spcBef>
              <a:spcAft>
                <a:spcPts val="2000"/>
              </a:spcAft>
            </a:pPr>
            <a:r>
              <a:rPr lang="en-US" sz="2200" dirty="0"/>
              <a:t>Fungal partner(s) received nutrients from the algal cells</a:t>
            </a:r>
          </a:p>
          <a:p>
            <a:pPr lvl="1">
              <a:lnSpc>
                <a:spcPct val="90000"/>
              </a:lnSpc>
              <a:spcBef>
                <a:spcPts val="0"/>
              </a:spcBef>
              <a:spcAft>
                <a:spcPts val="2000"/>
              </a:spcAft>
            </a:pPr>
            <a:r>
              <a:rPr lang="en-US" sz="2200" dirty="0"/>
              <a:t>Algal cells were protected from desiccation by the fungi</a:t>
            </a:r>
          </a:p>
          <a:p>
            <a:pPr>
              <a:lnSpc>
                <a:spcPct val="90000"/>
              </a:lnSpc>
              <a:spcAft>
                <a:spcPts val="2000"/>
              </a:spcAft>
            </a:pPr>
            <a:r>
              <a:rPr lang="en-US" sz="2400" dirty="0"/>
              <a:t>Lichens may involve a controlled form of parasitism of the algal cells by the fungi</a:t>
            </a:r>
          </a:p>
          <a:p>
            <a:pPr lvl="1">
              <a:lnSpc>
                <a:spcPct val="90000"/>
              </a:lnSpc>
              <a:spcBef>
                <a:spcPts val="0"/>
              </a:spcBef>
              <a:spcAft>
                <a:spcPts val="2000"/>
              </a:spcAft>
            </a:pPr>
            <a:r>
              <a:rPr lang="en-US" sz="2200" dirty="0"/>
              <a:t>Algae do not benefit from the relationship</a:t>
            </a:r>
          </a:p>
        </p:txBody>
      </p:sp>
      <p:sp>
        <p:nvSpPr>
          <p:cNvPr id="4" name="Slide Number Placeholder 3">
            <a:extLst>
              <a:ext uri="{FF2B5EF4-FFF2-40B4-BE49-F238E27FC236}">
                <a16:creationId xmlns:a16="http://schemas.microsoft.com/office/drawing/2014/main" id="{E2178C8A-1679-4FC7-9894-CB43BB5A5AD2}"/>
              </a:ext>
            </a:extLst>
          </p:cNvPr>
          <p:cNvSpPr>
            <a:spLocks noGrp="1"/>
          </p:cNvSpPr>
          <p:nvPr>
            <p:ph type="sldNum" sz="quarter" idx="4"/>
          </p:nvPr>
        </p:nvSpPr>
        <p:spPr/>
        <p:txBody>
          <a:bodyPr/>
          <a:lstStyle/>
          <a:p>
            <a:fld id="{68151E55-6873-49E2-B8D5-2F265E6F1973}" type="slidenum">
              <a:rPr lang="en-US" smtClean="0"/>
              <a:pPr/>
              <a:t>47</a:t>
            </a:fld>
            <a:endParaRPr lang="en-US" dirty="0"/>
          </a:p>
        </p:txBody>
      </p:sp>
    </p:spTree>
    <p:extLst>
      <p:ext uri="{BB962C8B-B14F-4D97-AF65-F5344CB8AC3E}">
        <p14:creationId xmlns:p14="http://schemas.microsoft.com/office/powerpoint/2010/main" val="19508207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111D7-5D42-4956-AA32-393921CDFF80}"/>
              </a:ext>
            </a:extLst>
          </p:cNvPr>
          <p:cNvSpPr>
            <a:spLocks noGrp="1"/>
          </p:cNvSpPr>
          <p:nvPr>
            <p:ph type="title"/>
          </p:nvPr>
        </p:nvSpPr>
        <p:spPr>
          <a:xfrm>
            <a:off x="0" y="1"/>
            <a:ext cx="9144000" cy="1078522"/>
          </a:xfrm>
        </p:spPr>
        <p:txBody>
          <a:bodyPr/>
          <a:lstStyle/>
          <a:p>
            <a:r>
              <a:rPr lang="en-US" sz="3600" dirty="0"/>
              <a:t>Lichen Shape and Environment</a:t>
            </a:r>
            <a:endParaRPr lang="en-IN" sz="3600" dirty="0"/>
          </a:p>
        </p:txBody>
      </p:sp>
      <p:sp>
        <p:nvSpPr>
          <p:cNvPr id="3" name="Text Placeholder 2">
            <a:extLst>
              <a:ext uri="{FF2B5EF4-FFF2-40B4-BE49-F238E27FC236}">
                <a16:creationId xmlns:a16="http://schemas.microsoft.com/office/drawing/2014/main" id="{2F597501-AD5D-4A72-B037-99F7D2AEB7EC}"/>
              </a:ext>
            </a:extLst>
          </p:cNvPr>
          <p:cNvSpPr>
            <a:spLocks noGrp="1"/>
          </p:cNvSpPr>
          <p:nvPr>
            <p:ph type="body" sz="quarter" idx="19"/>
          </p:nvPr>
        </p:nvSpPr>
        <p:spPr>
          <a:xfrm>
            <a:off x="842963" y="1177179"/>
            <a:ext cx="7623676" cy="5330739"/>
          </a:xfrm>
        </p:spPr>
        <p:txBody>
          <a:bodyPr>
            <a:normAutofit lnSpcReduction="10000"/>
          </a:bodyPr>
          <a:lstStyle/>
          <a:p>
            <a:pPr>
              <a:spcBef>
                <a:spcPts val="600"/>
              </a:spcBef>
              <a:spcAft>
                <a:spcPts val="600"/>
              </a:spcAft>
            </a:pPr>
            <a:r>
              <a:rPr lang="en-US" sz="2400" dirty="0"/>
              <a:t>Three types of lichens are recognized by shape:</a:t>
            </a:r>
          </a:p>
          <a:p>
            <a:pPr lvl="1">
              <a:spcBef>
                <a:spcPts val="600"/>
              </a:spcBef>
              <a:spcAft>
                <a:spcPts val="600"/>
              </a:spcAft>
            </a:pPr>
            <a:r>
              <a:rPr lang="en-US" sz="2200" dirty="0"/>
              <a:t>Compact crustose lichens are often seen on bare rocks or tree bark</a:t>
            </a:r>
          </a:p>
          <a:p>
            <a:pPr lvl="1">
              <a:spcBef>
                <a:spcPts val="600"/>
              </a:spcBef>
              <a:spcAft>
                <a:spcPts val="600"/>
              </a:spcAft>
            </a:pPr>
            <a:r>
              <a:rPr lang="en-US" sz="2200" dirty="0"/>
              <a:t>Fruticose lichens are </a:t>
            </a:r>
            <a:r>
              <a:rPr lang="en-US" sz="2200" dirty="0" err="1"/>
              <a:t>shrublike</a:t>
            </a:r>
            <a:endParaRPr lang="en-US" sz="2200" dirty="0"/>
          </a:p>
          <a:p>
            <a:pPr lvl="1">
              <a:spcBef>
                <a:spcPts val="600"/>
              </a:spcBef>
              <a:spcAft>
                <a:spcPts val="600"/>
              </a:spcAft>
            </a:pPr>
            <a:r>
              <a:rPr lang="en-US" sz="2200" dirty="0"/>
              <a:t>Foliose lichens are leaflike </a:t>
            </a:r>
          </a:p>
          <a:p>
            <a:pPr>
              <a:spcBef>
                <a:spcPts val="600"/>
              </a:spcBef>
              <a:spcAft>
                <a:spcPts val="600"/>
              </a:spcAft>
            </a:pPr>
            <a:r>
              <a:rPr lang="en-US" sz="2400" dirty="0"/>
              <a:t>Lichens are efficient at acquiring nutrients and moisture</a:t>
            </a:r>
          </a:p>
          <a:p>
            <a:pPr lvl="1">
              <a:spcBef>
                <a:spcPts val="600"/>
              </a:spcBef>
              <a:spcAft>
                <a:spcPts val="600"/>
              </a:spcAft>
            </a:pPr>
            <a:r>
              <a:rPr lang="en-US" sz="2200" dirty="0"/>
              <a:t>They can survive in areas of low moisture and low temperature</a:t>
            </a:r>
          </a:p>
          <a:p>
            <a:pPr lvl="1">
              <a:spcBef>
                <a:spcPts val="600"/>
              </a:spcBef>
              <a:spcAft>
                <a:spcPts val="600"/>
              </a:spcAft>
            </a:pPr>
            <a:r>
              <a:rPr lang="en-US" sz="2200" dirty="0"/>
              <a:t>They can survive in areas with poor or no soil</a:t>
            </a:r>
          </a:p>
          <a:p>
            <a:pPr lvl="1">
              <a:spcBef>
                <a:spcPts val="600"/>
              </a:spcBef>
              <a:spcAft>
                <a:spcPts val="600"/>
              </a:spcAft>
            </a:pPr>
            <a:r>
              <a:rPr lang="en-US" sz="2200" dirty="0"/>
              <a:t>They produce and improve the soil, thus making it suitable for plants </a:t>
            </a:r>
          </a:p>
          <a:p>
            <a:pPr lvl="1">
              <a:spcBef>
                <a:spcPts val="600"/>
              </a:spcBef>
              <a:spcAft>
                <a:spcPts val="600"/>
              </a:spcAft>
            </a:pPr>
            <a:r>
              <a:rPr lang="en-US" sz="2200" dirty="0"/>
              <a:t>Lichens cannot survive where the air is polluted </a:t>
            </a:r>
          </a:p>
        </p:txBody>
      </p:sp>
      <p:sp>
        <p:nvSpPr>
          <p:cNvPr id="4" name="Slide Number Placeholder 3">
            <a:extLst>
              <a:ext uri="{FF2B5EF4-FFF2-40B4-BE49-F238E27FC236}">
                <a16:creationId xmlns:a16="http://schemas.microsoft.com/office/drawing/2014/main" id="{0DB7E0EF-8F84-4E58-AA0C-47671F73F80D}"/>
              </a:ext>
            </a:extLst>
          </p:cNvPr>
          <p:cNvSpPr>
            <a:spLocks noGrp="1"/>
          </p:cNvSpPr>
          <p:nvPr>
            <p:ph type="sldNum" sz="quarter" idx="4"/>
          </p:nvPr>
        </p:nvSpPr>
        <p:spPr/>
        <p:txBody>
          <a:bodyPr/>
          <a:lstStyle/>
          <a:p>
            <a:fld id="{68151E55-6873-49E2-B8D5-2F265E6F1973}" type="slidenum">
              <a:rPr lang="en-US" smtClean="0"/>
              <a:pPr/>
              <a:t>48</a:t>
            </a:fld>
            <a:endParaRPr lang="en-US" dirty="0"/>
          </a:p>
        </p:txBody>
      </p:sp>
    </p:spTree>
    <p:extLst>
      <p:ext uri="{BB962C8B-B14F-4D97-AF65-F5344CB8AC3E}">
        <p14:creationId xmlns:p14="http://schemas.microsoft.com/office/powerpoint/2010/main" val="3070587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E55D36-8015-495D-898D-B4C35BD636CB}"/>
              </a:ext>
            </a:extLst>
          </p:cNvPr>
          <p:cNvSpPr>
            <a:spLocks noGrp="1"/>
          </p:cNvSpPr>
          <p:nvPr>
            <p:ph type="title"/>
          </p:nvPr>
        </p:nvSpPr>
        <p:spPr/>
        <p:txBody>
          <a:bodyPr/>
          <a:lstStyle/>
          <a:p>
            <a:r>
              <a:rPr lang="en-US" altLang="en-US" dirty="0"/>
              <a:t>Lichen Morphology</a:t>
            </a:r>
            <a:endParaRPr lang="en-IN" dirty="0"/>
          </a:p>
        </p:txBody>
      </p:sp>
      <p:pic>
        <p:nvPicPr>
          <p:cNvPr id="3" name="Picture 2" descr="Set of three illustrations are marked a through c.">
            <a:extLst>
              <a:ext uri="{FF2B5EF4-FFF2-40B4-BE49-F238E27FC236}">
                <a16:creationId xmlns:a16="http://schemas.microsoft.com/office/drawing/2014/main" id="{471D0050-0EEF-4B1E-89E6-50594722A9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654" y="1177637"/>
            <a:ext cx="7454690" cy="4687752"/>
          </a:xfrm>
          <a:prstGeom prst="rect">
            <a:avLst/>
          </a:prstGeom>
        </p:spPr>
      </p:pic>
      <p:sp>
        <p:nvSpPr>
          <p:cNvPr id="6" name="Text Placeholder 3">
            <a:extLst>
              <a:ext uri="{FF2B5EF4-FFF2-40B4-BE49-F238E27FC236}">
                <a16:creationId xmlns:a16="http://schemas.microsoft.com/office/drawing/2014/main" id="{3DAF2C4C-9E01-4E7B-A1BA-B391AF66FE43}"/>
              </a:ext>
            </a:extLst>
          </p:cNvPr>
          <p:cNvSpPr>
            <a:spLocks noGrp="1"/>
          </p:cNvSpPr>
          <p:nvPr>
            <p:ph type="body" sz="quarter" idx="18"/>
          </p:nvPr>
        </p:nvSpPr>
        <p:spPr>
          <a:xfrm>
            <a:off x="521258" y="5893149"/>
            <a:ext cx="8101481" cy="314325"/>
          </a:xfrm>
        </p:spPr>
        <p:txBody>
          <a:bodyPr>
            <a:normAutofit/>
          </a:bodyPr>
          <a:lstStyle/>
          <a:p>
            <a:r>
              <a:rPr lang="en-US" sz="1200" dirty="0"/>
              <a:t>Figure 22.13</a:t>
            </a:r>
          </a:p>
        </p:txBody>
      </p:sp>
      <p:sp>
        <p:nvSpPr>
          <p:cNvPr id="7" name="Text Placeholder 4">
            <a:extLst>
              <a:ext uri="{FF2B5EF4-FFF2-40B4-BE49-F238E27FC236}">
                <a16:creationId xmlns:a16="http://schemas.microsoft.com/office/drawing/2014/main" id="{A5D89EEA-9155-452C-9750-D5726A68CF8B}"/>
              </a:ext>
            </a:extLst>
          </p:cNvPr>
          <p:cNvSpPr>
            <a:spLocks noGrp="1"/>
          </p:cNvSpPr>
          <p:nvPr>
            <p:ph type="body" sz="quarter" idx="19"/>
          </p:nvPr>
        </p:nvSpPr>
        <p:spPr>
          <a:xfrm>
            <a:off x="2959527" y="6221354"/>
            <a:ext cx="3224945" cy="314325"/>
          </a:xfrm>
        </p:spPr>
        <p:txBody>
          <a:bodyPr>
            <a:normAutofit/>
          </a:bodyPr>
          <a:lstStyle/>
          <a:p>
            <a:r>
              <a:rPr lang="en-US" sz="1200" dirty="0">
                <a:hlinkClick r:id="rId3"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477F8425-4465-41B6-AE49-C25B85051786}"/>
              </a:ext>
            </a:extLst>
          </p:cNvPr>
          <p:cNvSpPr>
            <a:spLocks noGrp="1"/>
          </p:cNvSpPr>
          <p:nvPr>
            <p:ph type="body" sz="quarter" idx="21"/>
          </p:nvPr>
        </p:nvSpPr>
        <p:spPr>
          <a:xfrm>
            <a:off x="3798276" y="6563439"/>
            <a:ext cx="4823903" cy="258805"/>
          </a:xfrm>
        </p:spPr>
        <p:txBody>
          <a:bodyPr/>
          <a:lstStyle/>
          <a:p>
            <a:pPr lvl="0"/>
            <a:r>
              <a:rPr lang="en-US" sz="800" dirty="0"/>
              <a:t>(a): Dr. Jeremy Burgess/Science Source; (b): Steven P. Lynch; (c)</a:t>
            </a:r>
            <a:r>
              <a:rPr lang="en-US" sz="800" dirty="0">
                <a:sym typeface="Wingdings" panose="05000000000000000000" pitchFamily="2" charset="2"/>
              </a:rPr>
              <a:t>: </a:t>
            </a:r>
            <a:r>
              <a:rPr lang="en-US" sz="800" dirty="0" err="1">
                <a:sym typeface="Wingdings" panose="05000000000000000000" pitchFamily="2" charset="2"/>
              </a:rPr>
              <a:t>y</a:t>
            </a:r>
            <a:r>
              <a:rPr lang="en-US" sz="800" dirty="0" err="1"/>
              <a:t>ogesh</a:t>
            </a:r>
            <a:r>
              <a:rPr lang="en-US" sz="800" dirty="0"/>
              <a:t> more/</a:t>
            </a:r>
            <a:r>
              <a:rPr lang="en-US" sz="800" dirty="0" err="1"/>
              <a:t>Alamy</a:t>
            </a:r>
            <a:r>
              <a:rPr lang="en-US" sz="800" dirty="0"/>
              <a:t> Stock Photo</a:t>
            </a:r>
          </a:p>
        </p:txBody>
      </p:sp>
      <p:sp>
        <p:nvSpPr>
          <p:cNvPr id="4" name="Slide Number Placeholder 6">
            <a:extLst>
              <a:ext uri="{FF2B5EF4-FFF2-40B4-BE49-F238E27FC236}">
                <a16:creationId xmlns:a16="http://schemas.microsoft.com/office/drawing/2014/main" id="{6613EA0C-E9E6-4C35-8120-CC0F46359E36}"/>
              </a:ext>
            </a:extLst>
          </p:cNvPr>
          <p:cNvSpPr>
            <a:spLocks noGrp="1"/>
          </p:cNvSpPr>
          <p:nvPr>
            <p:ph type="sldNum" sz="quarter" idx="4"/>
          </p:nvPr>
        </p:nvSpPr>
        <p:spPr/>
        <p:txBody>
          <a:bodyPr/>
          <a:lstStyle/>
          <a:p>
            <a:fld id="{68151E55-6873-49E2-B8D5-2F265E6F1973}" type="slidenum">
              <a:rPr lang="en-US" smtClean="0"/>
              <a:pPr/>
              <a:t>49</a:t>
            </a:fld>
            <a:endParaRPr lang="en-US" dirty="0"/>
          </a:p>
        </p:txBody>
      </p:sp>
    </p:spTree>
    <p:extLst>
      <p:ext uri="{BB962C8B-B14F-4D97-AF65-F5344CB8AC3E}">
        <p14:creationId xmlns:p14="http://schemas.microsoft.com/office/powerpoint/2010/main" val="4003115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21C29-3AF7-4464-AB41-DF0CFC30C09F}"/>
              </a:ext>
            </a:extLst>
          </p:cNvPr>
          <p:cNvSpPr>
            <a:spLocks noGrp="1"/>
          </p:cNvSpPr>
          <p:nvPr>
            <p:ph type="title"/>
          </p:nvPr>
        </p:nvSpPr>
        <p:spPr>
          <a:xfrm>
            <a:off x="760162" y="11724"/>
            <a:ext cx="7623676" cy="1177179"/>
          </a:xfrm>
        </p:spPr>
        <p:txBody>
          <a:bodyPr/>
          <a:lstStyle/>
          <a:p>
            <a:r>
              <a:rPr lang="en-US" sz="3600" dirty="0"/>
              <a:t>Mycorrhizae: Mutualistic for Both Plant and Fungal Partners</a:t>
            </a:r>
            <a:endParaRPr lang="en-IN" sz="3600" dirty="0"/>
          </a:p>
        </p:txBody>
      </p:sp>
      <p:sp>
        <p:nvSpPr>
          <p:cNvPr id="3" name="Text Placeholder 2">
            <a:extLst>
              <a:ext uri="{FF2B5EF4-FFF2-40B4-BE49-F238E27FC236}">
                <a16:creationId xmlns:a16="http://schemas.microsoft.com/office/drawing/2014/main" id="{CF7443F4-D2CC-4B61-8D4A-39EE6FEAED24}"/>
              </a:ext>
            </a:extLst>
          </p:cNvPr>
          <p:cNvSpPr>
            <a:spLocks noGrp="1"/>
          </p:cNvSpPr>
          <p:nvPr>
            <p:ph type="body" sz="quarter" idx="19"/>
          </p:nvPr>
        </p:nvSpPr>
        <p:spPr>
          <a:xfrm>
            <a:off x="609050" y="1339214"/>
            <a:ext cx="7925899" cy="5330739"/>
          </a:xfrm>
        </p:spPr>
        <p:txBody>
          <a:bodyPr/>
          <a:lstStyle/>
          <a:p>
            <a:pPr>
              <a:spcBef>
                <a:spcPts val="600"/>
              </a:spcBef>
              <a:spcAft>
                <a:spcPts val="600"/>
              </a:spcAft>
            </a:pPr>
            <a:r>
              <a:rPr lang="en-US" sz="2200" b="1" dirty="0">
                <a:solidFill>
                  <a:srgbClr val="D90000"/>
                </a:solidFill>
              </a:rPr>
              <a:t>Mycorrhizae</a:t>
            </a:r>
            <a:r>
              <a:rPr lang="en-US" sz="2200" dirty="0"/>
              <a:t> are mutualistic relationships between soil fungi and the roots of most plants</a:t>
            </a:r>
          </a:p>
          <a:p>
            <a:pPr lvl="1">
              <a:spcBef>
                <a:spcPts val="600"/>
              </a:spcBef>
              <a:spcAft>
                <a:spcPts val="600"/>
              </a:spcAft>
            </a:pPr>
            <a:r>
              <a:rPr lang="en-US" dirty="0"/>
              <a:t>Plants whose roots are invaded by mycorrhizae grow more successfully in poor soils</a:t>
            </a:r>
          </a:p>
          <a:p>
            <a:pPr marL="620713" lvl="2" indent="-257175">
              <a:spcBef>
                <a:spcPts val="600"/>
              </a:spcBef>
              <a:spcAft>
                <a:spcPts val="600"/>
              </a:spcAft>
            </a:pPr>
            <a:r>
              <a:rPr lang="en-US" dirty="0"/>
              <a:t>Mycorrhizae help plants obtain nutrients like phosphate from the soil</a:t>
            </a:r>
          </a:p>
          <a:p>
            <a:pPr lvl="1">
              <a:spcBef>
                <a:spcPts val="600"/>
              </a:spcBef>
              <a:spcAft>
                <a:spcPts val="600"/>
              </a:spcAft>
            </a:pPr>
            <a:r>
              <a:rPr lang="en-US" dirty="0"/>
              <a:t>Fungal partner is either a </a:t>
            </a:r>
            <a:r>
              <a:rPr lang="en-US" dirty="0" err="1"/>
              <a:t>glomeromycete</a:t>
            </a:r>
            <a:r>
              <a:rPr lang="en-US" dirty="0"/>
              <a:t> or a sac fungus</a:t>
            </a:r>
          </a:p>
          <a:p>
            <a:pPr marL="620713" lvl="2" indent="-257175">
              <a:spcBef>
                <a:spcPts val="600"/>
              </a:spcBef>
              <a:spcAft>
                <a:spcPts val="600"/>
              </a:spcAft>
            </a:pPr>
            <a:r>
              <a:rPr lang="en-US" dirty="0" err="1"/>
              <a:t>Ectomycorrhizae</a:t>
            </a:r>
            <a:r>
              <a:rPr lang="en-US" dirty="0"/>
              <a:t> form a mantle that is exterior to the root, and they grow between cell walls</a:t>
            </a:r>
          </a:p>
          <a:p>
            <a:pPr marL="620713" lvl="2" indent="-257175">
              <a:spcBef>
                <a:spcPts val="600"/>
              </a:spcBef>
              <a:spcAft>
                <a:spcPts val="600"/>
              </a:spcAft>
            </a:pPr>
            <a:r>
              <a:rPr lang="en-US" dirty="0" err="1"/>
              <a:t>Endomycorrhizae</a:t>
            </a:r>
            <a:r>
              <a:rPr lang="en-US" dirty="0"/>
              <a:t> penetrate only the cell walls </a:t>
            </a:r>
          </a:p>
          <a:p>
            <a:pPr marL="903288" lvl="3" indent="-282575">
              <a:spcBef>
                <a:spcPts val="600"/>
              </a:spcBef>
              <a:spcAft>
                <a:spcPts val="600"/>
              </a:spcAft>
            </a:pPr>
            <a:r>
              <a:rPr lang="en-US" sz="1600" dirty="0"/>
              <a:t>Presence of the fungus gives the plant a greater absorptive surface for the intake of minerals</a:t>
            </a:r>
          </a:p>
          <a:p>
            <a:pPr marL="1160463" lvl="4" indent="-257175">
              <a:spcBef>
                <a:spcPts val="600"/>
              </a:spcBef>
              <a:spcAft>
                <a:spcPts val="600"/>
              </a:spcAft>
            </a:pPr>
            <a:r>
              <a:rPr lang="en-US" sz="1600" dirty="0"/>
              <a:t>Fungus benefits from the association by receiving carbohydrates from the plant</a:t>
            </a:r>
          </a:p>
        </p:txBody>
      </p:sp>
      <p:sp>
        <p:nvSpPr>
          <p:cNvPr id="4" name="Slide Number Placeholder 3">
            <a:extLst>
              <a:ext uri="{FF2B5EF4-FFF2-40B4-BE49-F238E27FC236}">
                <a16:creationId xmlns:a16="http://schemas.microsoft.com/office/drawing/2014/main" id="{545F9CF1-D9A2-4160-98BD-FD849D32375C}"/>
              </a:ext>
            </a:extLst>
          </p:cNvPr>
          <p:cNvSpPr>
            <a:spLocks noGrp="1"/>
          </p:cNvSpPr>
          <p:nvPr>
            <p:ph type="sldNum" sz="quarter" idx="4"/>
          </p:nvPr>
        </p:nvSpPr>
        <p:spPr/>
        <p:txBody>
          <a:bodyPr/>
          <a:lstStyle/>
          <a:p>
            <a:fld id="{68151E55-6873-49E2-B8D5-2F265E6F1973}" type="slidenum">
              <a:rPr lang="en-US" smtClean="0"/>
              <a:pPr/>
              <a:t>50</a:t>
            </a:fld>
            <a:endParaRPr lang="en-US" dirty="0"/>
          </a:p>
        </p:txBody>
      </p:sp>
    </p:spTree>
    <p:extLst>
      <p:ext uri="{BB962C8B-B14F-4D97-AF65-F5344CB8AC3E}">
        <p14:creationId xmlns:p14="http://schemas.microsoft.com/office/powerpoint/2010/main" val="26709023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3802D-BAA9-4A9D-9FC6-9401F009DCC9}"/>
              </a:ext>
            </a:extLst>
          </p:cNvPr>
          <p:cNvSpPr>
            <a:spLocks noGrp="1"/>
          </p:cNvSpPr>
          <p:nvPr>
            <p:ph type="title"/>
          </p:nvPr>
        </p:nvSpPr>
        <p:spPr/>
        <p:txBody>
          <a:bodyPr/>
          <a:lstStyle/>
          <a:p>
            <a:r>
              <a:rPr kumimoji="0" lang="en-US" sz="3600" b="1" i="0" u="none" strike="noStrike" kern="1200" cap="none" spc="0" normalizeH="0" baseline="0" noProof="0" dirty="0" err="1">
                <a:ln>
                  <a:noFill/>
                </a:ln>
                <a:solidFill>
                  <a:srgbClr val="242852"/>
                </a:solidFill>
                <a:effectLst/>
                <a:uLnTx/>
                <a:uFillTx/>
                <a:latin typeface="Arial (Headings)"/>
                <a:ea typeface="+mn-ea"/>
                <a:cs typeface="Calibri" panose="020F0502020204030204" pitchFamily="34" charset="0"/>
              </a:rPr>
              <a:t>Endomycorrhizae</a:t>
            </a:r>
            <a:r>
              <a:rPr kumimoji="0" lang="en-US" sz="3600" b="1" i="0" u="none" strike="noStrike" kern="1200" cap="none" spc="0" normalizeH="0" baseline="0" noProof="0" dirty="0">
                <a:ln>
                  <a:noFill/>
                </a:ln>
                <a:solidFill>
                  <a:srgbClr val="242852"/>
                </a:solidFill>
                <a:effectLst/>
                <a:uLnTx/>
                <a:uFillTx/>
                <a:latin typeface="Arial (Headings)"/>
                <a:ea typeface="+mn-ea"/>
                <a:cs typeface="Calibri" panose="020F0502020204030204" pitchFamily="34" charset="0"/>
              </a:rPr>
              <a:t> and </a:t>
            </a:r>
            <a:r>
              <a:rPr kumimoji="0" lang="en-US" sz="3600" b="1" i="0" u="none" strike="noStrike" kern="1200" cap="none" spc="0" normalizeH="0" baseline="0" noProof="0" dirty="0" err="1">
                <a:ln>
                  <a:noFill/>
                </a:ln>
                <a:solidFill>
                  <a:srgbClr val="242852"/>
                </a:solidFill>
                <a:effectLst/>
                <a:uLnTx/>
                <a:uFillTx/>
                <a:latin typeface="Arial (Headings)"/>
                <a:ea typeface="+mn-ea"/>
                <a:cs typeface="Calibri" panose="020F0502020204030204" pitchFamily="34" charset="0"/>
              </a:rPr>
              <a:t>Ectomychorrhizae</a:t>
            </a:r>
            <a:endParaRPr lang="en-US" dirty="0"/>
          </a:p>
        </p:txBody>
      </p:sp>
      <p:pic>
        <p:nvPicPr>
          <p:cNvPr id="7" name="Picture 2" descr="Set of two illustrations marked a and b depict anatomy of endomycorrhizae (a) and ectomycorrhizae (b).">
            <a:extLst>
              <a:ext uri="{FF2B5EF4-FFF2-40B4-BE49-F238E27FC236}">
                <a16:creationId xmlns:a16="http://schemas.microsoft.com/office/drawing/2014/main" id="{78E1D980-7B22-44BA-B486-5C94BA99834E}"/>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2865" y="909758"/>
            <a:ext cx="2667770" cy="4838096"/>
          </a:xfrm>
          <a:prstGeom prst="rect">
            <a:avLst/>
          </a:prstGeom>
        </p:spPr>
      </p:pic>
      <p:sp>
        <p:nvSpPr>
          <p:cNvPr id="3" name="Content Placeholder 2">
            <a:extLst>
              <a:ext uri="{FF2B5EF4-FFF2-40B4-BE49-F238E27FC236}">
                <a16:creationId xmlns:a16="http://schemas.microsoft.com/office/drawing/2014/main" id="{D54611A2-EC8A-493A-9BFB-9E32127260CD}"/>
              </a:ext>
            </a:extLst>
          </p:cNvPr>
          <p:cNvSpPr>
            <a:spLocks noGrp="1"/>
          </p:cNvSpPr>
          <p:nvPr>
            <p:ph sz="quarter" idx="11"/>
          </p:nvPr>
        </p:nvSpPr>
        <p:spPr>
          <a:xfrm>
            <a:off x="520698" y="5841654"/>
            <a:ext cx="8101480" cy="406342"/>
          </a:xfrm>
        </p:spPr>
        <p:txBody>
          <a:body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Arial (Body)"/>
                <a:ea typeface="+mn-ea"/>
                <a:cs typeface="Calibri" panose="020F0502020204030204" pitchFamily="34" charset="0"/>
              </a:rPr>
              <a:t>Figure 22.14</a:t>
            </a:r>
          </a:p>
        </p:txBody>
      </p:sp>
      <p:sp>
        <p:nvSpPr>
          <p:cNvPr id="4" name="Text Placeholder 3">
            <a:extLst>
              <a:ext uri="{FF2B5EF4-FFF2-40B4-BE49-F238E27FC236}">
                <a16:creationId xmlns:a16="http://schemas.microsoft.com/office/drawing/2014/main" id="{E2993D36-A1C4-41BE-B5B0-85EA88BB28FA}"/>
              </a:ext>
            </a:extLst>
          </p:cNvPr>
          <p:cNvSpPr>
            <a:spLocks noGrp="1"/>
          </p:cNvSpPr>
          <p:nvPr>
            <p:ph type="body" sz="quarter" idx="20"/>
          </p:nvPr>
        </p:nvSpPr>
        <p:spPr>
          <a:xfrm>
            <a:off x="521260" y="6155314"/>
            <a:ext cx="8101481" cy="314325"/>
          </a:xfrm>
        </p:spPr>
        <p:txBody>
          <a:bodyPr/>
          <a:lstStyle/>
          <a:p>
            <a:pPr marL="0" marR="0" lvl="0" indent="0"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Calibri" panose="020F0502020204030204" pitchFamily="34" charset="0"/>
                <a:hlinkClick r:id="rId3" action="ppaction://hlinksldjump"/>
              </a:rPr>
              <a:t>Access the text alternative for slide images.</a:t>
            </a:r>
            <a:endParaRPr kumimoji="0" lang="en-US" sz="1200" b="0" i="0" u="none" strike="noStrike" kern="1200" cap="none" spc="0" normalizeH="0" baseline="0" noProof="0" dirty="0">
              <a:ln>
                <a:noFill/>
              </a:ln>
              <a:solidFill>
                <a:srgbClr val="000000"/>
              </a:solidFill>
              <a:effectLst/>
              <a:uLnTx/>
              <a:uFillTx/>
              <a:latin typeface="Arial"/>
              <a:ea typeface="+mn-ea"/>
              <a:cs typeface="Calibri" panose="020F0502020204030204" pitchFamily="34" charset="0"/>
            </a:endParaRPr>
          </a:p>
        </p:txBody>
      </p:sp>
      <p:sp>
        <p:nvSpPr>
          <p:cNvPr id="5" name="Text Placeholder 4">
            <a:extLst>
              <a:ext uri="{FF2B5EF4-FFF2-40B4-BE49-F238E27FC236}">
                <a16:creationId xmlns:a16="http://schemas.microsoft.com/office/drawing/2014/main" id="{1AA352F9-3C51-4CE1-AFDE-28F2FBCE504C}"/>
              </a:ext>
            </a:extLst>
          </p:cNvPr>
          <p:cNvSpPr>
            <a:spLocks noGrp="1"/>
          </p:cNvSpPr>
          <p:nvPr>
            <p:ph type="body" sz="quarter" idx="21"/>
          </p:nvPr>
        </p:nvSpPr>
        <p:spPr/>
        <p:txBody>
          <a:body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000000"/>
                </a:solidFill>
                <a:effectLst/>
                <a:uLnTx/>
                <a:uFillTx/>
                <a:latin typeface="Arial (Body)"/>
                <a:ea typeface="+mn-ea"/>
                <a:cs typeface="Calibri" panose="020F0502020204030204" pitchFamily="34" charset="0"/>
              </a:rPr>
              <a:t>(a): Eye of Science/Science Source; (b): H.B. </a:t>
            </a:r>
            <a:r>
              <a:rPr kumimoji="0" lang="en-US" sz="700" b="0" i="0" u="none" strike="noStrike" kern="1200" cap="none" spc="0" normalizeH="0" baseline="0" noProof="0" dirty="0" err="1">
                <a:ln>
                  <a:noFill/>
                </a:ln>
                <a:solidFill>
                  <a:srgbClr val="000000"/>
                </a:solidFill>
                <a:effectLst/>
                <a:uLnTx/>
                <a:uFillTx/>
                <a:latin typeface="Arial (Body)"/>
                <a:ea typeface="+mn-ea"/>
                <a:cs typeface="Calibri" panose="020F0502020204030204" pitchFamily="34" charset="0"/>
              </a:rPr>
              <a:t>Massicotte</a:t>
            </a:r>
            <a:r>
              <a:rPr kumimoji="0" lang="en-US" sz="700" b="0" i="0" u="none" strike="noStrike" kern="1200" cap="none" spc="0" normalizeH="0" baseline="0" noProof="0" dirty="0">
                <a:ln>
                  <a:noFill/>
                </a:ln>
                <a:solidFill>
                  <a:srgbClr val="000000"/>
                </a:solidFill>
                <a:effectLst/>
                <a:uLnTx/>
                <a:uFillTx/>
                <a:latin typeface="Arial (Body)"/>
                <a:ea typeface="+mn-ea"/>
                <a:cs typeface="Calibri" panose="020F0502020204030204" pitchFamily="34" charset="0"/>
              </a:rPr>
              <a:t>, R.L. Peterson and L.H. Melville</a:t>
            </a:r>
          </a:p>
        </p:txBody>
      </p:sp>
      <p:sp>
        <p:nvSpPr>
          <p:cNvPr id="6" name="Slide Number Placeholder 5">
            <a:extLst>
              <a:ext uri="{FF2B5EF4-FFF2-40B4-BE49-F238E27FC236}">
                <a16:creationId xmlns:a16="http://schemas.microsoft.com/office/drawing/2014/main" id="{05BFA9E7-CBF9-468E-972F-845AD870B843}"/>
              </a:ext>
            </a:extLst>
          </p:cNvPr>
          <p:cNvSpPr>
            <a:spLocks noGrp="1"/>
          </p:cNvSpPr>
          <p:nvPr>
            <p:ph type="sldNum" sz="quarter" idx="4"/>
          </p:nvPr>
        </p:nvSpPr>
        <p:spPr/>
        <p:txBody>
          <a:bodyPr/>
          <a:lstStyle/>
          <a:p>
            <a:fld id="{68151E55-6873-49E2-B8D5-2F265E6F1973}" type="slidenum">
              <a:rPr lang="en-US" smtClean="0"/>
              <a:pPr/>
              <a:t>51</a:t>
            </a:fld>
            <a:endParaRPr lang="en-US" dirty="0"/>
          </a:p>
        </p:txBody>
      </p:sp>
    </p:spTree>
    <p:extLst>
      <p:ext uri="{BB962C8B-B14F-4D97-AF65-F5344CB8AC3E}">
        <p14:creationId xmlns:p14="http://schemas.microsoft.com/office/powerpoint/2010/main" val="31736695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C7163-8577-41E5-8B10-01891AC0F5E8}"/>
              </a:ext>
            </a:extLst>
          </p:cNvPr>
          <p:cNvSpPr>
            <a:spLocks noGrp="1"/>
          </p:cNvSpPr>
          <p:nvPr>
            <p:ph type="title"/>
          </p:nvPr>
        </p:nvSpPr>
        <p:spPr>
          <a:xfrm>
            <a:off x="0" y="1"/>
            <a:ext cx="9144000" cy="1125146"/>
          </a:xfrm>
        </p:spPr>
        <p:txBody>
          <a:bodyPr/>
          <a:lstStyle/>
          <a:p>
            <a:r>
              <a:rPr lang="en-US" dirty="0"/>
              <a:t>A Black Truffle</a:t>
            </a:r>
            <a:endParaRPr lang="en-IN" dirty="0"/>
          </a:p>
        </p:txBody>
      </p:sp>
      <p:pic>
        <p:nvPicPr>
          <p:cNvPr id="7" name="Picture 2" descr="Close-up of trees is marked with an inset highlighting  excised black truffle.">
            <a:extLst>
              <a:ext uri="{FF2B5EF4-FFF2-40B4-BE49-F238E27FC236}">
                <a16:creationId xmlns:a16="http://schemas.microsoft.com/office/drawing/2014/main" id="{F28D889D-58DE-4EF6-97CA-56FBFBD1B76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359" b="2662"/>
          <a:stretch/>
        </p:blipFill>
        <p:spPr>
          <a:xfrm>
            <a:off x="2437397" y="1402935"/>
            <a:ext cx="4268082" cy="4329918"/>
          </a:xfrm>
          <a:prstGeom prst="rect">
            <a:avLst/>
          </a:prstGeom>
        </p:spPr>
      </p:pic>
      <p:sp>
        <p:nvSpPr>
          <p:cNvPr id="3" name="Text Placeholder 3">
            <a:extLst>
              <a:ext uri="{FF2B5EF4-FFF2-40B4-BE49-F238E27FC236}">
                <a16:creationId xmlns:a16="http://schemas.microsoft.com/office/drawing/2014/main" id="{3E54161B-CE04-4940-81A5-121808C383B3}"/>
              </a:ext>
            </a:extLst>
          </p:cNvPr>
          <p:cNvSpPr>
            <a:spLocks noGrp="1"/>
          </p:cNvSpPr>
          <p:nvPr>
            <p:ph type="body" sz="quarter" idx="18"/>
          </p:nvPr>
        </p:nvSpPr>
        <p:spPr>
          <a:xfrm>
            <a:off x="3794575" y="5800165"/>
            <a:ext cx="1553726" cy="314325"/>
          </a:xfrm>
        </p:spPr>
        <p:txBody>
          <a:bodyPr>
            <a:normAutofit/>
          </a:bodyPr>
          <a:lstStyle/>
          <a:p>
            <a:r>
              <a:rPr lang="en-US" sz="1200" dirty="0"/>
              <a:t>Figure 22.15</a:t>
            </a:r>
          </a:p>
        </p:txBody>
      </p:sp>
      <p:sp>
        <p:nvSpPr>
          <p:cNvPr id="6" name="Text Placeholder 5">
            <a:extLst>
              <a:ext uri="{FF2B5EF4-FFF2-40B4-BE49-F238E27FC236}">
                <a16:creationId xmlns:a16="http://schemas.microsoft.com/office/drawing/2014/main" id="{BAF36B76-DA14-451F-9164-95B0E0CF13EA}"/>
              </a:ext>
            </a:extLst>
          </p:cNvPr>
          <p:cNvSpPr>
            <a:spLocks noGrp="1"/>
          </p:cNvSpPr>
          <p:nvPr>
            <p:ph type="body" sz="quarter" idx="21"/>
          </p:nvPr>
        </p:nvSpPr>
        <p:spPr/>
        <p:txBody>
          <a:bodyPr/>
          <a:lstStyle/>
          <a:p>
            <a:pPr lvl="0"/>
            <a:r>
              <a:rPr lang="en-US" sz="800" dirty="0"/>
              <a:t>(truffles): </a:t>
            </a:r>
            <a:r>
              <a:rPr lang="en-US" sz="800" dirty="0" err="1"/>
              <a:t>Biosphoto</a:t>
            </a:r>
            <a:r>
              <a:rPr lang="en-US" sz="800" dirty="0"/>
              <a:t>/</a:t>
            </a:r>
            <a:r>
              <a:rPr lang="en-US" sz="800" dirty="0" err="1"/>
              <a:t>SuperStock</a:t>
            </a:r>
            <a:r>
              <a:rPr lang="en-US" sz="800" dirty="0"/>
              <a:t>; (trees): </a:t>
            </a:r>
            <a:r>
              <a:rPr lang="en-US" sz="800" dirty="0" err="1"/>
              <a:t>bonzami</a:t>
            </a:r>
            <a:r>
              <a:rPr lang="en-US" sz="800" dirty="0"/>
              <a:t> Emmanuelle/</a:t>
            </a:r>
            <a:r>
              <a:rPr lang="en-US" sz="800" dirty="0" err="1"/>
              <a:t>Alamy</a:t>
            </a:r>
            <a:r>
              <a:rPr lang="en-US" sz="800" dirty="0"/>
              <a:t> Stock Photo</a:t>
            </a:r>
          </a:p>
        </p:txBody>
      </p:sp>
      <p:sp>
        <p:nvSpPr>
          <p:cNvPr id="4" name="Slide Number Placeholder 6">
            <a:extLst>
              <a:ext uri="{FF2B5EF4-FFF2-40B4-BE49-F238E27FC236}">
                <a16:creationId xmlns:a16="http://schemas.microsoft.com/office/drawing/2014/main" id="{7C4C82B1-BC9F-46EE-828F-7C1B7DDC884F}"/>
              </a:ext>
            </a:extLst>
          </p:cNvPr>
          <p:cNvSpPr>
            <a:spLocks noGrp="1"/>
          </p:cNvSpPr>
          <p:nvPr>
            <p:ph type="sldNum" sz="quarter" idx="4"/>
          </p:nvPr>
        </p:nvSpPr>
        <p:spPr/>
        <p:txBody>
          <a:bodyPr/>
          <a:lstStyle/>
          <a:p>
            <a:fld id="{68151E55-6873-49E2-B8D5-2F265E6F1973}" type="slidenum">
              <a:rPr lang="en-US" smtClean="0"/>
              <a:pPr/>
              <a:t>52</a:t>
            </a:fld>
            <a:endParaRPr lang="en-US" dirty="0"/>
          </a:p>
        </p:txBody>
      </p:sp>
    </p:spTree>
    <p:extLst>
      <p:ext uri="{BB962C8B-B14F-4D97-AF65-F5344CB8AC3E}">
        <p14:creationId xmlns:p14="http://schemas.microsoft.com/office/powerpoint/2010/main" val="7569965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3CFCD7C5-EA7C-4E20-A620-38C65C5C845F}"/>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31503895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dirty="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dirty="0"/>
              <a:t>Evolutionary Relationships Among the Fungi </a:t>
            </a:r>
            <a:r>
              <a:rPr lang="en-US" dirty="0"/>
              <a:t>- Text Alternative</a:t>
            </a:r>
            <a:endParaRPr lang="en-IN"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IN" dirty="0"/>
              <a:t>Common eukaryotic ancestor branches into </a:t>
            </a:r>
            <a:r>
              <a:rPr lang="en-IN" dirty="0" err="1"/>
              <a:t>excavata</a:t>
            </a:r>
            <a:r>
              <a:rPr lang="en-IN" dirty="0"/>
              <a:t> species as: diplomonads, </a:t>
            </a:r>
            <a:r>
              <a:rPr lang="en-IN" dirty="0" err="1"/>
              <a:t>parabasalids</a:t>
            </a:r>
            <a:r>
              <a:rPr lang="en-IN" dirty="0"/>
              <a:t> and euglenozoans. </a:t>
            </a:r>
          </a:p>
          <a:p>
            <a:r>
              <a:rPr lang="en-IN" dirty="0"/>
              <a:t>Common eukaryotic ancestor branches into </a:t>
            </a:r>
            <a:r>
              <a:rPr lang="en-IN" dirty="0" err="1"/>
              <a:t>chromalveolata</a:t>
            </a:r>
            <a:r>
              <a:rPr lang="en-IN" dirty="0"/>
              <a:t>  species as: dinoflagellates, apicomplexans and ciliates (through alveolates) and diatoms, golden algae, brown algae and Oomycetes (through </a:t>
            </a:r>
            <a:r>
              <a:rPr lang="en-IN" dirty="0" err="1"/>
              <a:t>stramenopiles</a:t>
            </a:r>
            <a:r>
              <a:rPr lang="en-IN" dirty="0"/>
              <a:t>). </a:t>
            </a:r>
          </a:p>
          <a:p>
            <a:r>
              <a:rPr lang="en-IN" dirty="0"/>
              <a:t>Common eukaryotic ancestor branches into </a:t>
            </a:r>
            <a:r>
              <a:rPr lang="en-IN" dirty="0" err="1"/>
              <a:t>rhizaria</a:t>
            </a:r>
            <a:r>
              <a:rPr lang="en-IN" dirty="0"/>
              <a:t> species as: cercozoans, </a:t>
            </a:r>
            <a:r>
              <a:rPr lang="en-IN" dirty="0" err="1"/>
              <a:t>forams</a:t>
            </a:r>
            <a:r>
              <a:rPr lang="en-IN" dirty="0"/>
              <a:t> and Radiolarians. </a:t>
            </a:r>
          </a:p>
          <a:p>
            <a:r>
              <a:rPr lang="en-IN" dirty="0"/>
              <a:t>Common eukaryotic ancestor branches into </a:t>
            </a:r>
            <a:r>
              <a:rPr lang="en-IN" dirty="0" err="1"/>
              <a:t>archaeplastida</a:t>
            </a:r>
            <a:r>
              <a:rPr lang="en-IN" dirty="0"/>
              <a:t> species as: red algae, chlorophytes (green algae) and land plants. </a:t>
            </a:r>
          </a:p>
          <a:p>
            <a:r>
              <a:rPr lang="en-IN" dirty="0"/>
              <a:t>Common eukaryotic ancestor branches into </a:t>
            </a:r>
            <a:r>
              <a:rPr lang="en-IN" dirty="0" err="1"/>
              <a:t>amoebozo</a:t>
            </a:r>
            <a:r>
              <a:rPr lang="en-IN" dirty="0"/>
              <a:t> species as: </a:t>
            </a:r>
            <a:r>
              <a:rPr lang="en-IN" dirty="0" err="1"/>
              <a:t>amoebozoa</a:t>
            </a:r>
            <a:r>
              <a:rPr lang="en-IN" dirty="0"/>
              <a:t>.</a:t>
            </a:r>
          </a:p>
          <a:p>
            <a:r>
              <a:rPr lang="en-IN" dirty="0"/>
              <a:t>Common eukaryotic ancestor branches into </a:t>
            </a:r>
            <a:r>
              <a:rPr lang="en-IN" dirty="0" err="1"/>
              <a:t>opisthokonta</a:t>
            </a:r>
            <a:r>
              <a:rPr lang="en-IN" dirty="0"/>
              <a:t> species as: fungi, choanoflagellates and animals. </a:t>
            </a:r>
          </a:p>
          <a:p>
            <a:r>
              <a:rPr lang="en-IN" dirty="0"/>
              <a:t>Fungi species lead to </a:t>
            </a:r>
            <a:r>
              <a:rPr lang="en-IN" dirty="0" err="1"/>
              <a:t>blastocladiomycota</a:t>
            </a:r>
            <a:r>
              <a:rPr lang="en-IN" dirty="0"/>
              <a:t>, </a:t>
            </a:r>
            <a:r>
              <a:rPr lang="en-IN" dirty="0" err="1"/>
              <a:t>zygomycota</a:t>
            </a:r>
            <a:r>
              <a:rPr lang="en-IN" dirty="0"/>
              <a:t>, </a:t>
            </a:r>
            <a:r>
              <a:rPr lang="en-IN" dirty="0" err="1"/>
              <a:t>neocallimastigomycota</a:t>
            </a:r>
            <a:r>
              <a:rPr lang="en-IN" dirty="0"/>
              <a:t> and </a:t>
            </a:r>
            <a:r>
              <a:rPr lang="en-IN" dirty="0" err="1"/>
              <a:t>chytridiomycota</a:t>
            </a:r>
            <a:r>
              <a:rPr lang="en-IN" dirty="0"/>
              <a:t>, </a:t>
            </a:r>
            <a:r>
              <a:rPr lang="en-IN" dirty="0" err="1"/>
              <a:t>glomeromycota</a:t>
            </a:r>
            <a:r>
              <a:rPr lang="en-IN" dirty="0"/>
              <a:t>, </a:t>
            </a:r>
            <a:r>
              <a:rPr lang="en-IN" dirty="0" err="1"/>
              <a:t>basidiomycota</a:t>
            </a:r>
            <a:r>
              <a:rPr lang="en-IN" dirty="0"/>
              <a:t> and </a:t>
            </a:r>
            <a:r>
              <a:rPr lang="en-IN" dirty="0" err="1"/>
              <a:t>ascomycota</a:t>
            </a:r>
            <a:r>
              <a:rPr lang="en-IN" dirty="0"/>
              <a:t>.</a:t>
            </a:r>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55</a:t>
            </a:fld>
            <a:endParaRPr lang="en-US" dirty="0"/>
          </a:p>
        </p:txBody>
      </p:sp>
    </p:spTree>
    <p:extLst>
      <p:ext uri="{BB962C8B-B14F-4D97-AF65-F5344CB8AC3E}">
        <p14:creationId xmlns:p14="http://schemas.microsoft.com/office/powerpoint/2010/main" val="6519154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F709-7FA1-4C4D-BD2E-4F09BE8803A9}"/>
              </a:ext>
            </a:extLst>
          </p:cNvPr>
          <p:cNvSpPr>
            <a:spLocks noGrp="1"/>
          </p:cNvSpPr>
          <p:nvPr>
            <p:ph type="title"/>
          </p:nvPr>
        </p:nvSpPr>
        <p:spPr/>
        <p:txBody>
          <a:bodyPr/>
          <a:lstStyle/>
          <a:p>
            <a:r>
              <a:rPr lang="en-US" altLang="en-US" dirty="0"/>
              <a:t>Black Bread Mold, </a:t>
            </a:r>
            <a:r>
              <a:rPr lang="en-US" altLang="en-US" i="1" dirty="0"/>
              <a:t>Rhizopus </a:t>
            </a:r>
            <a:r>
              <a:rPr lang="en-US" altLang="en-US" i="1" dirty="0" err="1"/>
              <a:t>stolonifer</a:t>
            </a:r>
            <a:r>
              <a:rPr lang="en-US" dirty="0"/>
              <a:t> - Text Alternative</a:t>
            </a:r>
            <a:endParaRPr lang="en-IN" dirty="0"/>
          </a:p>
        </p:txBody>
      </p:sp>
      <p:sp>
        <p:nvSpPr>
          <p:cNvPr id="3" name="Text Placeholder 2">
            <a:extLst>
              <a:ext uri="{FF2B5EF4-FFF2-40B4-BE49-F238E27FC236}">
                <a16:creationId xmlns:a16="http://schemas.microsoft.com/office/drawing/2014/main" id="{01FE191B-5F9F-4B38-AFDD-E1CF07D36D77}"/>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CA255792-ED95-4173-A02B-AA16DD8C3AA3}"/>
              </a:ext>
            </a:extLst>
          </p:cNvPr>
          <p:cNvSpPr>
            <a:spLocks noGrp="1"/>
          </p:cNvSpPr>
          <p:nvPr>
            <p:ph sz="quarter" idx="21"/>
          </p:nvPr>
        </p:nvSpPr>
        <p:spPr/>
        <p:txBody>
          <a:bodyPr/>
          <a:lstStyle/>
          <a:p>
            <a:r>
              <a:rPr lang="en-US" dirty="0"/>
              <a:t>1. Hyphae of opposite mating types touch.</a:t>
            </a:r>
          </a:p>
          <a:p>
            <a:r>
              <a:rPr lang="en-US" dirty="0"/>
              <a:t>2. Gametangia form at the end of each hypha.</a:t>
            </a:r>
          </a:p>
          <a:p>
            <a:r>
              <a:rPr lang="en-US" dirty="0"/>
              <a:t>3. Gametangia merge and nuclei pair, then fuse.</a:t>
            </a:r>
          </a:p>
          <a:p>
            <a:r>
              <a:rPr lang="en-US" dirty="0"/>
              <a:t>4. A thick wall develops around the cell.</a:t>
            </a:r>
          </a:p>
          <a:p>
            <a:r>
              <a:rPr lang="en-US" dirty="0"/>
              <a:t>5. Sporangiophores develop, and spores are released from sporangium.</a:t>
            </a:r>
            <a:endParaRPr lang="en-IN" dirty="0"/>
          </a:p>
        </p:txBody>
      </p:sp>
      <p:sp>
        <p:nvSpPr>
          <p:cNvPr id="5" name="Text Placeholder 4">
            <a:extLst>
              <a:ext uri="{FF2B5EF4-FFF2-40B4-BE49-F238E27FC236}">
                <a16:creationId xmlns:a16="http://schemas.microsoft.com/office/drawing/2014/main" id="{489666B5-1613-4D47-B6FA-9986838A9655}"/>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4BD6AEF3-DECD-4A84-9741-41DFDC6AAA79}"/>
              </a:ext>
            </a:extLst>
          </p:cNvPr>
          <p:cNvSpPr>
            <a:spLocks noGrp="1"/>
          </p:cNvSpPr>
          <p:nvPr>
            <p:ph type="sldNum" sz="quarter" idx="10"/>
          </p:nvPr>
        </p:nvSpPr>
        <p:spPr/>
        <p:txBody>
          <a:bodyPr/>
          <a:lstStyle/>
          <a:p>
            <a:fld id="{68151E55-6873-49E2-B8D5-2F265E6F1973}" type="slidenum">
              <a:rPr lang="en-US" smtClean="0"/>
              <a:t>56</a:t>
            </a:fld>
            <a:endParaRPr lang="en-US" dirty="0"/>
          </a:p>
        </p:txBody>
      </p:sp>
    </p:spTree>
    <p:extLst>
      <p:ext uri="{BB962C8B-B14F-4D97-AF65-F5344CB8AC3E}">
        <p14:creationId xmlns:p14="http://schemas.microsoft.com/office/powerpoint/2010/main" val="39524891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90B93-287A-4911-A266-A89234E31FAF}"/>
              </a:ext>
            </a:extLst>
          </p:cNvPr>
          <p:cNvSpPr>
            <a:spLocks noGrp="1"/>
          </p:cNvSpPr>
          <p:nvPr>
            <p:ph type="title"/>
          </p:nvPr>
        </p:nvSpPr>
        <p:spPr/>
        <p:txBody>
          <a:bodyPr/>
          <a:lstStyle/>
          <a:p>
            <a:r>
              <a:rPr lang="en-US" altLang="en-US" dirty="0"/>
              <a:t>Sexual Reproduction in Sac Fungi</a:t>
            </a:r>
            <a:r>
              <a:rPr lang="en-US" dirty="0"/>
              <a:t> - Text Alternative</a:t>
            </a:r>
            <a:endParaRPr lang="en-IN" dirty="0"/>
          </a:p>
        </p:txBody>
      </p:sp>
      <p:sp>
        <p:nvSpPr>
          <p:cNvPr id="3" name="Text Placeholder 2">
            <a:extLst>
              <a:ext uri="{FF2B5EF4-FFF2-40B4-BE49-F238E27FC236}">
                <a16:creationId xmlns:a16="http://schemas.microsoft.com/office/drawing/2014/main" id="{C947E89A-BE93-4D20-8C90-F6CE52A112AD}"/>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ABB785BE-A4EF-409F-B1D7-D75A0B01E158}"/>
              </a:ext>
            </a:extLst>
          </p:cNvPr>
          <p:cNvSpPr>
            <a:spLocks noGrp="1"/>
          </p:cNvSpPr>
          <p:nvPr>
            <p:ph sz="quarter" idx="21"/>
          </p:nvPr>
        </p:nvSpPr>
        <p:spPr/>
        <p:txBody>
          <a:bodyPr/>
          <a:lstStyle/>
          <a:p>
            <a:r>
              <a:rPr lang="en-IN" dirty="0"/>
              <a:t>A) Ascocarp of the cup fungus, </a:t>
            </a:r>
            <a:r>
              <a:rPr lang="en-IN" dirty="0" err="1"/>
              <a:t>Sarcoscypha</a:t>
            </a:r>
            <a:r>
              <a:rPr lang="en-IN" dirty="0"/>
              <a:t>: </a:t>
            </a:r>
          </a:p>
          <a:p>
            <a:r>
              <a:rPr lang="en-IN" dirty="0"/>
              <a:t>It shows ascospores and dikaryotic hyphae across the cup, with nuclear fusion, zygote (2n), meiosis, mature ascus, positive mating type (n) spore, male organ, female organ and negative mating type (n) spore.</a:t>
            </a:r>
          </a:p>
          <a:p>
            <a:r>
              <a:rPr lang="en-IN" dirty="0"/>
              <a:t>Ascocarp of the morel, </a:t>
            </a:r>
            <a:r>
              <a:rPr lang="en-IN" dirty="0" err="1"/>
              <a:t>Arcshceolclar</a:t>
            </a:r>
            <a:r>
              <a:rPr lang="en-IN" dirty="0"/>
              <a:t>: </a:t>
            </a:r>
          </a:p>
          <a:p>
            <a:r>
              <a:rPr lang="en-IN" dirty="0"/>
              <a:t>It shows pits and ridge of pit on the exterior with asci and hollow </a:t>
            </a:r>
            <a:r>
              <a:rPr lang="en-IN" dirty="0" err="1"/>
              <a:t>center</a:t>
            </a:r>
            <a:r>
              <a:rPr lang="en-IN" dirty="0"/>
              <a:t>.</a:t>
            </a:r>
          </a:p>
          <a:p>
            <a:r>
              <a:rPr lang="en-IN" dirty="0"/>
              <a:t>Micrograph of asci shows multiple ovular ascospores. </a:t>
            </a:r>
          </a:p>
        </p:txBody>
      </p:sp>
      <p:sp>
        <p:nvSpPr>
          <p:cNvPr id="5" name="Text Placeholder 4">
            <a:extLst>
              <a:ext uri="{FF2B5EF4-FFF2-40B4-BE49-F238E27FC236}">
                <a16:creationId xmlns:a16="http://schemas.microsoft.com/office/drawing/2014/main" id="{065D1732-7B02-4FED-9E3C-F1648C5CFF2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2A51E991-C347-43FA-908B-03A8D27F78A0}"/>
              </a:ext>
            </a:extLst>
          </p:cNvPr>
          <p:cNvSpPr>
            <a:spLocks noGrp="1"/>
          </p:cNvSpPr>
          <p:nvPr>
            <p:ph type="sldNum" sz="quarter" idx="10"/>
          </p:nvPr>
        </p:nvSpPr>
        <p:spPr/>
        <p:txBody>
          <a:bodyPr/>
          <a:lstStyle/>
          <a:p>
            <a:fld id="{68151E55-6873-49E2-B8D5-2F265E6F1973}" type="slidenum">
              <a:rPr lang="en-US" smtClean="0"/>
              <a:t>57</a:t>
            </a:fld>
            <a:endParaRPr lang="en-US" dirty="0"/>
          </a:p>
        </p:txBody>
      </p:sp>
    </p:spTree>
    <p:extLst>
      <p:ext uri="{BB962C8B-B14F-4D97-AF65-F5344CB8AC3E}">
        <p14:creationId xmlns:p14="http://schemas.microsoft.com/office/powerpoint/2010/main" val="18444517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37319-8AA2-4007-A904-FC6EBF5B4F2D}"/>
              </a:ext>
            </a:extLst>
          </p:cNvPr>
          <p:cNvSpPr>
            <a:spLocks noGrp="1"/>
          </p:cNvSpPr>
          <p:nvPr>
            <p:ph type="title"/>
          </p:nvPr>
        </p:nvSpPr>
        <p:spPr/>
        <p:txBody>
          <a:bodyPr/>
          <a:lstStyle/>
          <a:p>
            <a:r>
              <a:rPr lang="en-US" dirty="0"/>
              <a:t>Life Cycle of a Typical Mushroom - Text Alternative</a:t>
            </a:r>
            <a:endParaRPr lang="en-IN" dirty="0"/>
          </a:p>
        </p:txBody>
      </p:sp>
      <p:sp>
        <p:nvSpPr>
          <p:cNvPr id="3" name="Text Placeholder 2">
            <a:extLst>
              <a:ext uri="{FF2B5EF4-FFF2-40B4-BE49-F238E27FC236}">
                <a16:creationId xmlns:a16="http://schemas.microsoft.com/office/drawing/2014/main" id="{26F91DC4-DEC8-4851-9654-C1B2F98FB05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C03C5A95-B501-486F-9FDE-125CD5BF007F}"/>
              </a:ext>
            </a:extLst>
          </p:cNvPr>
          <p:cNvSpPr>
            <a:spLocks noGrp="1"/>
          </p:cNvSpPr>
          <p:nvPr>
            <p:ph sz="quarter" idx="21"/>
          </p:nvPr>
        </p:nvSpPr>
        <p:spPr/>
        <p:txBody>
          <a:bodyPr/>
          <a:lstStyle/>
          <a:p>
            <a:r>
              <a:rPr lang="en-IN" dirty="0"/>
              <a:t>Illustrates the following steps: 1.Cytoplasmic fusion, resulting in dikaryotic mycelium. 2. A mycelium forms to produce mushrooms (basidiocarps). 3. Basidia form on gills of mushroom. 4. Nuclear fusion results in diploid nucleus. 5. Meiosis occurs and basidiospores are produced. 6. Basidiospores are released. 7. Germination of spores results in haploid hyphae. </a:t>
            </a:r>
          </a:p>
        </p:txBody>
      </p:sp>
      <p:sp>
        <p:nvSpPr>
          <p:cNvPr id="5" name="Text Placeholder 4">
            <a:extLst>
              <a:ext uri="{FF2B5EF4-FFF2-40B4-BE49-F238E27FC236}">
                <a16:creationId xmlns:a16="http://schemas.microsoft.com/office/drawing/2014/main" id="{1ECB549D-EC5E-4786-8932-BF3D3376143F}"/>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07D1C289-F7A5-41A1-A988-694E821EA5AC}"/>
              </a:ext>
            </a:extLst>
          </p:cNvPr>
          <p:cNvSpPr>
            <a:spLocks noGrp="1"/>
          </p:cNvSpPr>
          <p:nvPr>
            <p:ph type="sldNum" sz="quarter" idx="10"/>
          </p:nvPr>
        </p:nvSpPr>
        <p:spPr/>
        <p:txBody>
          <a:bodyPr/>
          <a:lstStyle/>
          <a:p>
            <a:fld id="{68151E55-6873-49E2-B8D5-2F265E6F1973}" type="slidenum">
              <a:rPr lang="en-US" smtClean="0"/>
              <a:t>58</a:t>
            </a:fld>
            <a:endParaRPr lang="en-US" dirty="0"/>
          </a:p>
        </p:txBody>
      </p:sp>
    </p:spTree>
    <p:extLst>
      <p:ext uri="{BB962C8B-B14F-4D97-AF65-F5344CB8AC3E}">
        <p14:creationId xmlns:p14="http://schemas.microsoft.com/office/powerpoint/2010/main" val="114894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78E92-F771-4FDC-9727-F0853E621169}"/>
              </a:ext>
            </a:extLst>
          </p:cNvPr>
          <p:cNvSpPr>
            <a:spLocks noGrp="1"/>
          </p:cNvSpPr>
          <p:nvPr>
            <p:ph type="title"/>
          </p:nvPr>
        </p:nvSpPr>
        <p:spPr/>
        <p:txBody>
          <a:bodyPr/>
          <a:lstStyle/>
          <a:p>
            <a:r>
              <a:rPr lang="en-US" altLang="en-US" dirty="0"/>
              <a:t>Lichen Morphology</a:t>
            </a:r>
            <a:r>
              <a:rPr lang="en-US" dirty="0"/>
              <a:t> - Text Alternative</a:t>
            </a:r>
            <a:endParaRPr lang="en-IN" dirty="0"/>
          </a:p>
        </p:txBody>
      </p:sp>
      <p:sp>
        <p:nvSpPr>
          <p:cNvPr id="3" name="Text Placeholder 2">
            <a:extLst>
              <a:ext uri="{FF2B5EF4-FFF2-40B4-BE49-F238E27FC236}">
                <a16:creationId xmlns:a16="http://schemas.microsoft.com/office/drawing/2014/main" id="{DD74E5FC-2915-4DE9-955F-73CBB34CAEF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C6D0D59-D2B3-436F-9E68-FDFA6331BEB8}"/>
              </a:ext>
            </a:extLst>
          </p:cNvPr>
          <p:cNvSpPr>
            <a:spLocks noGrp="1"/>
          </p:cNvSpPr>
          <p:nvPr>
            <p:ph sz="quarter" idx="21"/>
          </p:nvPr>
        </p:nvSpPr>
        <p:spPr/>
        <p:txBody>
          <a:bodyPr/>
          <a:lstStyle/>
          <a:p>
            <a:pPr lvl="0"/>
            <a:r>
              <a:rPr lang="en-US" dirty="0"/>
              <a:t>A) A cross-section of a compact crustose lichen shows labels for reproductive unit, fungal hyphae, and algal cell.</a:t>
            </a:r>
          </a:p>
          <a:p>
            <a:pPr lvl="0"/>
            <a:r>
              <a:rPr lang="en-US" dirty="0"/>
              <a:t>b. Microscopic view of Fruticose lichens shows label for sac fungi reproductive cups. </a:t>
            </a:r>
          </a:p>
          <a:p>
            <a:pPr lvl="0"/>
            <a:r>
              <a:rPr lang="en-US" dirty="0"/>
              <a:t>c. Foliose lichens are leaf like.</a:t>
            </a:r>
            <a:endParaRPr lang="en-GB" dirty="0"/>
          </a:p>
        </p:txBody>
      </p:sp>
      <p:sp>
        <p:nvSpPr>
          <p:cNvPr id="5" name="Text Placeholder 4">
            <a:extLst>
              <a:ext uri="{FF2B5EF4-FFF2-40B4-BE49-F238E27FC236}">
                <a16:creationId xmlns:a16="http://schemas.microsoft.com/office/drawing/2014/main" id="{8A0635D5-898E-41B7-A3A1-094EC122D431}"/>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2519E0D2-B8CA-4B14-B34B-CDF6C84C24B3}"/>
              </a:ext>
            </a:extLst>
          </p:cNvPr>
          <p:cNvSpPr>
            <a:spLocks noGrp="1"/>
          </p:cNvSpPr>
          <p:nvPr>
            <p:ph type="sldNum" sz="quarter" idx="10"/>
          </p:nvPr>
        </p:nvSpPr>
        <p:spPr/>
        <p:txBody>
          <a:bodyPr/>
          <a:lstStyle/>
          <a:p>
            <a:fld id="{68151E55-6873-49E2-B8D5-2F265E6F1973}" type="slidenum">
              <a:rPr lang="en-US" smtClean="0"/>
              <a:t>59</a:t>
            </a:fld>
            <a:endParaRPr lang="en-US" dirty="0"/>
          </a:p>
        </p:txBody>
      </p:sp>
    </p:spTree>
    <p:extLst>
      <p:ext uri="{BB962C8B-B14F-4D97-AF65-F5344CB8AC3E}">
        <p14:creationId xmlns:p14="http://schemas.microsoft.com/office/powerpoint/2010/main" val="1371856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FC51D-721B-4DA6-B8EF-F383D548609C}"/>
              </a:ext>
            </a:extLst>
          </p:cNvPr>
          <p:cNvSpPr>
            <a:spLocks noGrp="1"/>
          </p:cNvSpPr>
          <p:nvPr>
            <p:ph type="title"/>
          </p:nvPr>
        </p:nvSpPr>
        <p:spPr/>
        <p:txBody>
          <a:bodyPr/>
          <a:lstStyle/>
          <a:p>
            <a:r>
              <a:rPr lang="en-US" dirty="0" err="1"/>
              <a:t>Endomycorrhizae</a:t>
            </a:r>
            <a:r>
              <a:rPr lang="en-US" dirty="0"/>
              <a:t> and </a:t>
            </a:r>
            <a:r>
              <a:rPr lang="en-US" dirty="0" err="1"/>
              <a:t>Ectomychorrhizae</a:t>
            </a:r>
            <a:r>
              <a:rPr lang="en-US" dirty="0"/>
              <a:t> - Text Alternative</a:t>
            </a:r>
            <a:endParaRPr lang="en-IN" dirty="0"/>
          </a:p>
        </p:txBody>
      </p:sp>
      <p:sp>
        <p:nvSpPr>
          <p:cNvPr id="3" name="Text Placeholder 2">
            <a:extLst>
              <a:ext uri="{FF2B5EF4-FFF2-40B4-BE49-F238E27FC236}">
                <a16:creationId xmlns:a16="http://schemas.microsoft.com/office/drawing/2014/main" id="{119B7CDF-2CA1-469C-9B04-2CBA2E7AD92D}"/>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2D5B576D-7531-4C17-9FB0-A66447C317AB}"/>
              </a:ext>
            </a:extLst>
          </p:cNvPr>
          <p:cNvSpPr>
            <a:spLocks noGrp="1"/>
          </p:cNvSpPr>
          <p:nvPr>
            <p:ph sz="quarter" idx="21"/>
          </p:nvPr>
        </p:nvSpPr>
        <p:spPr/>
        <p:txBody>
          <a:bodyPr/>
          <a:lstStyle/>
          <a:p>
            <a:pPr lvl="0"/>
            <a:r>
              <a:rPr lang="en-GB" dirty="0"/>
              <a:t>a. In </a:t>
            </a:r>
            <a:r>
              <a:rPr lang="en-GB" dirty="0" err="1"/>
              <a:t>endomycorrhizae</a:t>
            </a:r>
            <a:r>
              <a:rPr lang="en-GB" dirty="0"/>
              <a:t>, fungal hyphae penetrate the root cell wall. </a:t>
            </a:r>
          </a:p>
          <a:p>
            <a:pPr lvl="0"/>
            <a:r>
              <a:rPr lang="en-GB" dirty="0"/>
              <a:t>b. In </a:t>
            </a:r>
            <a:r>
              <a:rPr lang="en-GB" dirty="0" err="1"/>
              <a:t>ectomycorrhizae</a:t>
            </a:r>
            <a:r>
              <a:rPr lang="en-GB" dirty="0"/>
              <a:t>, fungal hyphae grow around roots or between cells, but never penetrate the cells. Microscopic view on the right shows Y-shaped structure.</a:t>
            </a:r>
          </a:p>
        </p:txBody>
      </p:sp>
      <p:sp>
        <p:nvSpPr>
          <p:cNvPr id="5" name="Text Placeholder 4">
            <a:extLst>
              <a:ext uri="{FF2B5EF4-FFF2-40B4-BE49-F238E27FC236}">
                <a16:creationId xmlns:a16="http://schemas.microsoft.com/office/drawing/2014/main" id="{1C39483D-C2E1-4495-8D89-3E6E96E9F93F}"/>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8700F4BD-BD33-4001-93F1-EBFB05FC2DE3}"/>
              </a:ext>
            </a:extLst>
          </p:cNvPr>
          <p:cNvSpPr>
            <a:spLocks noGrp="1"/>
          </p:cNvSpPr>
          <p:nvPr>
            <p:ph type="sldNum" sz="quarter" idx="10"/>
          </p:nvPr>
        </p:nvSpPr>
        <p:spPr/>
        <p:txBody>
          <a:bodyPr/>
          <a:lstStyle/>
          <a:p>
            <a:fld id="{68151E55-6873-49E2-B8D5-2F265E6F1973}" type="slidenum">
              <a:rPr lang="en-US" smtClean="0"/>
              <a:t>60</a:t>
            </a:fld>
            <a:endParaRPr lang="en-US" dirty="0"/>
          </a:p>
        </p:txBody>
      </p:sp>
    </p:spTree>
    <p:extLst>
      <p:ext uri="{BB962C8B-B14F-4D97-AF65-F5344CB8AC3E}">
        <p14:creationId xmlns:p14="http://schemas.microsoft.com/office/powerpoint/2010/main" val="1248753425"/>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docProps/app.xml><?xml version="1.0" encoding="utf-8"?>
<Properties xmlns="http://schemas.openxmlformats.org/officeDocument/2006/extended-properties" xmlns:vt="http://schemas.openxmlformats.org/officeDocument/2006/docPropsVTypes">
  <Template/>
  <TotalTime>324</TotalTime>
  <Words>3906</Words>
  <Application>Microsoft Office PowerPoint</Application>
  <PresentationFormat>On-screen Show (4:3)</PresentationFormat>
  <Paragraphs>410</Paragraphs>
  <Slides>60</Slides>
  <Notes>0</Notes>
  <HiddenSlides>7</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60</vt:i4>
      </vt:variant>
    </vt:vector>
  </HeadingPairs>
  <TitlesOfParts>
    <vt:vector size="76" baseType="lpstr">
      <vt:lpstr>Arial</vt:lpstr>
      <vt:lpstr>Arial (Body)</vt:lpstr>
      <vt:lpstr>Arial (Headings)</vt:lpstr>
      <vt:lpstr>Calibri</vt:lpstr>
      <vt:lpstr>Calibri (Body)</vt:lpstr>
      <vt:lpstr>Calibri (Headings)</vt:lpstr>
      <vt:lpstr>Symbol</vt:lpstr>
      <vt:lpstr>Wingdings</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22.1 Evolution and Characteristics of Fungi</vt:lpstr>
      <vt:lpstr>Evolution of Fungi</vt:lpstr>
      <vt:lpstr>Evolutionary Relationships Among the Fungi</vt:lpstr>
      <vt:lpstr>Evolution of Protists</vt:lpstr>
      <vt:lpstr>Fossils and Fungi</vt:lpstr>
      <vt:lpstr>Structure of Fungi</vt:lpstr>
      <vt:lpstr>Mycelia and Hyphae of Fungi</vt:lpstr>
      <vt:lpstr>Reproduction of Fungi</vt:lpstr>
      <vt:lpstr>Sexual Reproduction of Fungi</vt:lpstr>
      <vt:lpstr>Terrestrial Fungi</vt:lpstr>
      <vt:lpstr>22.2 Diversity of Fungi</vt:lpstr>
      <vt:lpstr>Features of the Fungi Phyla</vt:lpstr>
      <vt:lpstr>Microsporidia Are Parasitic Fungal Relatives</vt:lpstr>
      <vt:lpstr>Illustration of the Infectious Spore of Microsporidium Encephalitozoon cuniculi</vt:lpstr>
      <vt:lpstr>Fungi with Zoospores</vt:lpstr>
      <vt:lpstr>Blastocladiomycota </vt:lpstr>
      <vt:lpstr>Neocallimastigomycota </vt:lpstr>
      <vt:lpstr>Chytridiomycota</vt:lpstr>
      <vt:lpstr>Fungal Phyla with Zoospores</vt:lpstr>
      <vt:lpstr>Zygomycota Produce Zygospores</vt:lpstr>
      <vt:lpstr>Rhizopus stolonifer</vt:lpstr>
      <vt:lpstr>Zygospores</vt:lpstr>
      <vt:lpstr>Black Bread Mold, Rhizopus stolonifer</vt:lpstr>
      <vt:lpstr>Glomeromycota Includes Important Symbiotic Fungi</vt:lpstr>
      <vt:lpstr>Ascomycetes Produce a Fruiting Body Called an Ascocarp</vt:lpstr>
      <vt:lpstr>Reproduction</vt:lpstr>
      <vt:lpstr>Asexual Reproduction in Sac Fungi</vt:lpstr>
      <vt:lpstr>Sexual Reproduction in Sac Fungi</vt:lpstr>
      <vt:lpstr>Food Industry</vt:lpstr>
      <vt:lpstr>Importance for Humans</vt:lpstr>
      <vt:lpstr>Fungal Infections</vt:lpstr>
      <vt:lpstr>Basidiomycetes Produce a Fruiting Body Called a Basidiocarp</vt:lpstr>
      <vt:lpstr>The Biology of Club Fungi</vt:lpstr>
      <vt:lpstr>Mushrooms</vt:lpstr>
      <vt:lpstr>A Poisonous Mushroom, Amanita phalloides</vt:lpstr>
      <vt:lpstr>Ergot Infection of Rye, Caused by Claviceps purpurea</vt:lpstr>
      <vt:lpstr>Life Cycle of a Typical Mushroom</vt:lpstr>
      <vt:lpstr>Club Fungi</vt:lpstr>
      <vt:lpstr>22.3 Symbiotic Relationships of Fungi</vt:lpstr>
      <vt:lpstr> Fungal Parasitism: Infections in Plants</vt:lpstr>
      <vt:lpstr>Smuts and Rusts</vt:lpstr>
      <vt:lpstr> Infections in Animals</vt:lpstr>
      <vt:lpstr>Animal Parasites</vt:lpstr>
      <vt:lpstr>Lichens: Mutualistic or Parasitic? </vt:lpstr>
      <vt:lpstr>Lichens</vt:lpstr>
      <vt:lpstr>Lichen Shape and Environment</vt:lpstr>
      <vt:lpstr>Lichen Morphology</vt:lpstr>
      <vt:lpstr>Mycorrhizae: Mutualistic for Both Plant and Fungal Partners</vt:lpstr>
      <vt:lpstr>Endomycorrhizae and Ectomychorrhizae</vt:lpstr>
      <vt:lpstr>A Black Truffle</vt:lpstr>
      <vt:lpstr>End of main content</vt:lpstr>
      <vt:lpstr>Accessibility Content: Text Alternatives for Images</vt:lpstr>
      <vt:lpstr>Evolutionary Relationships Among the Fungi - Text Alternative</vt:lpstr>
      <vt:lpstr>Black Bread Mold, Rhizopus stolonifer - Text Alternative</vt:lpstr>
      <vt:lpstr>Sexual Reproduction in Sac Fungi - Text Alternative</vt:lpstr>
      <vt:lpstr>Life Cycle of a Typical Mushroom - Text Alternative</vt:lpstr>
      <vt:lpstr>Lichen Morphology - Text Alternative</vt:lpstr>
      <vt:lpstr>Endomycorrhizae and Ectomychorrhizae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22: Fungi Evolution and Diversity Lecture Outline</dc:title>
  <dc:creator>Aman Chaudhary</dc:creator>
  <cp:lastModifiedBy>Cheryl Boice</cp:lastModifiedBy>
  <cp:revision>233</cp:revision>
  <dcterms:created xsi:type="dcterms:W3CDTF">2021-02-05T09:33:46Z</dcterms:created>
  <dcterms:modified xsi:type="dcterms:W3CDTF">2026-08-19T16:17:38Z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814e929-9946-42b9-880c-679f75b74d03_Enabled">
    <vt:lpwstr>true</vt:lpwstr>
  </property>
  <property fmtid="{D5CDD505-2E9C-101B-9397-08002B2CF9AE}" pid="3" name="MSIP_Label_9814e929-9946-42b9-880c-679f75b74d03_SetDate">
    <vt:lpwstr>2026-08-19T16:15:30Z</vt:lpwstr>
  </property>
  <property fmtid="{D5CDD505-2E9C-101B-9397-08002B2CF9AE}" pid="4" name="MSIP_Label_9814e929-9946-42b9-880c-679f75b74d03_Method">
    <vt:lpwstr>Standard</vt:lpwstr>
  </property>
  <property fmtid="{D5CDD505-2E9C-101B-9397-08002B2CF9AE}" pid="5" name="MSIP_Label_9814e929-9946-42b9-880c-679f75b74d03_Name">
    <vt:lpwstr>defa4170-0d19-0005-0004-bc88714345d2</vt:lpwstr>
  </property>
  <property fmtid="{D5CDD505-2E9C-101B-9397-08002B2CF9AE}" pid="6" name="MSIP_Label_9814e929-9946-42b9-880c-679f75b74d03_SiteId">
    <vt:lpwstr>997282f8-6935-42d5-8c5a-69e9a71596d3</vt:lpwstr>
  </property>
  <property fmtid="{D5CDD505-2E9C-101B-9397-08002B2CF9AE}" pid="7" name="MSIP_Label_9814e929-9946-42b9-880c-679f75b74d03_ActionId">
    <vt:lpwstr>9ce1ab75-8d87-4082-acc7-029ddb7f0789</vt:lpwstr>
  </property>
  <property fmtid="{D5CDD505-2E9C-101B-9397-08002B2CF9AE}" pid="8" name="MSIP_Label_9814e929-9946-42b9-880c-679f75b74d03_ContentBits">
    <vt:lpwstr>0</vt:lpwstr>
  </property>
  <property fmtid="{D5CDD505-2E9C-101B-9397-08002B2CF9AE}" pid="9" name="MSIP_Label_9814e929-9946-42b9-880c-679f75b74d03_Tag">
    <vt:lpwstr>10, 3, 0, 1</vt:lpwstr>
  </property>
</Properties>
</file>
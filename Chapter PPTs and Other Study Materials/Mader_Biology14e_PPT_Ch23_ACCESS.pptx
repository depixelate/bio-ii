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theme/theme5.xml" ContentType="application/vnd.openxmlformats-officedocument.theme+xml"/>
  <Override PartName="/ppt/slideLayouts/slideLayout19.xml" ContentType="application/vnd.openxmlformats-officedocument.presentationml.slideLayout+xml"/>
  <Override PartName="/ppt/theme/theme6.xml" ContentType="application/vnd.openxmlformats-officedocument.theme+xml"/>
  <Override PartName="/ppt/slideLayouts/slideLayout20.xml" ContentType="application/vnd.openxmlformats-officedocument.presentationml.slideLayout+xml"/>
  <Override PartName="/ppt/theme/theme7.xml" ContentType="application/vnd.openxmlformats-officedocument.theme+xml"/>
  <Override PartName="/ppt/slideLayouts/slideLayout2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notesMasterIdLst>
    <p:notesMasterId r:id="rId123"/>
  </p:notesMasterIdLst>
  <p:sldIdLst>
    <p:sldId id="256" r:id="rId9"/>
    <p:sldId id="862" r:id="rId10"/>
    <p:sldId id="934" r:id="rId11"/>
    <p:sldId id="992" r:id="rId12"/>
    <p:sldId id="947" r:id="rId13"/>
    <p:sldId id="909" r:id="rId14"/>
    <p:sldId id="991" r:id="rId15"/>
    <p:sldId id="936" r:id="rId16"/>
    <p:sldId id="935" r:id="rId17"/>
    <p:sldId id="1030" r:id="rId18"/>
    <p:sldId id="1031" r:id="rId19"/>
    <p:sldId id="866" r:id="rId20"/>
    <p:sldId id="910" r:id="rId21"/>
    <p:sldId id="995" r:id="rId22"/>
    <p:sldId id="911" r:id="rId23"/>
    <p:sldId id="875" r:id="rId24"/>
    <p:sldId id="876" r:id="rId25"/>
    <p:sldId id="915" r:id="rId26"/>
    <p:sldId id="953" r:id="rId27"/>
    <p:sldId id="914" r:id="rId28"/>
    <p:sldId id="952" r:id="rId29"/>
    <p:sldId id="1032" r:id="rId30"/>
    <p:sldId id="959" r:id="rId31"/>
    <p:sldId id="1084" r:id="rId32"/>
    <p:sldId id="1085" r:id="rId33"/>
    <p:sldId id="1103" r:id="rId34"/>
    <p:sldId id="1105" r:id="rId35"/>
    <p:sldId id="1088" r:id="rId36"/>
    <p:sldId id="1089" r:id="rId37"/>
    <p:sldId id="1004" r:id="rId38"/>
    <p:sldId id="880" r:id="rId39"/>
    <p:sldId id="1033" r:id="rId40"/>
    <p:sldId id="917" r:id="rId41"/>
    <p:sldId id="883" r:id="rId42"/>
    <p:sldId id="938" r:id="rId43"/>
    <p:sldId id="885" r:id="rId44"/>
    <p:sldId id="940" r:id="rId45"/>
    <p:sldId id="949" r:id="rId46"/>
    <p:sldId id="920" r:id="rId47"/>
    <p:sldId id="887" r:id="rId48"/>
    <p:sldId id="921" r:id="rId49"/>
    <p:sldId id="950" r:id="rId50"/>
    <p:sldId id="1000" r:id="rId51"/>
    <p:sldId id="922" r:id="rId52"/>
    <p:sldId id="923" r:id="rId53"/>
    <p:sldId id="1090" r:id="rId54"/>
    <p:sldId id="1091" r:id="rId55"/>
    <p:sldId id="1092" r:id="rId56"/>
    <p:sldId id="1093" r:id="rId57"/>
    <p:sldId id="1107" r:id="rId58"/>
    <p:sldId id="1109" r:id="rId59"/>
    <p:sldId id="978" r:id="rId60"/>
    <p:sldId id="941" r:id="rId61"/>
    <p:sldId id="891" r:id="rId62"/>
    <p:sldId id="1034" r:id="rId63"/>
    <p:sldId id="1035" r:id="rId64"/>
    <p:sldId id="892" r:id="rId65"/>
    <p:sldId id="893" r:id="rId66"/>
    <p:sldId id="924" r:id="rId67"/>
    <p:sldId id="925" r:id="rId68"/>
    <p:sldId id="1096" r:id="rId69"/>
    <p:sldId id="1111" r:id="rId70"/>
    <p:sldId id="1098" r:id="rId71"/>
    <p:sldId id="1099" r:id="rId72"/>
    <p:sldId id="1113" r:id="rId73"/>
    <p:sldId id="1115" r:id="rId74"/>
    <p:sldId id="1117" r:id="rId75"/>
    <p:sldId id="989" r:id="rId76"/>
    <p:sldId id="942" r:id="rId77"/>
    <p:sldId id="954" r:id="rId78"/>
    <p:sldId id="1002" r:id="rId79"/>
    <p:sldId id="898" r:id="rId80"/>
    <p:sldId id="927" r:id="rId81"/>
    <p:sldId id="955" r:id="rId82"/>
    <p:sldId id="928" r:id="rId83"/>
    <p:sldId id="929" r:id="rId84"/>
    <p:sldId id="900" r:id="rId85"/>
    <p:sldId id="1036" r:id="rId86"/>
    <p:sldId id="930" r:id="rId87"/>
    <p:sldId id="901" r:id="rId88"/>
    <p:sldId id="1037" r:id="rId89"/>
    <p:sldId id="931" r:id="rId90"/>
    <p:sldId id="956" r:id="rId91"/>
    <p:sldId id="1038" r:id="rId92"/>
    <p:sldId id="933" r:id="rId93"/>
    <p:sldId id="1039" r:id="rId94"/>
    <p:sldId id="1040" r:id="rId95"/>
    <p:sldId id="1041" r:id="rId96"/>
    <p:sldId id="932" r:id="rId97"/>
    <p:sldId id="907" r:id="rId98"/>
    <p:sldId id="1003" r:id="rId99"/>
    <p:sldId id="264" r:id="rId100"/>
    <p:sldId id="259" r:id="rId101"/>
    <p:sldId id="260" r:id="rId102"/>
    <p:sldId id="1042" r:id="rId103"/>
    <p:sldId id="1064" r:id="rId104"/>
    <p:sldId id="1065" r:id="rId105"/>
    <p:sldId id="1066" r:id="rId106"/>
    <p:sldId id="1067" r:id="rId107"/>
    <p:sldId id="1104" r:id="rId108"/>
    <p:sldId id="1106" r:id="rId109"/>
    <p:sldId id="1069" r:id="rId110"/>
    <p:sldId id="1071" r:id="rId111"/>
    <p:sldId id="1072" r:id="rId112"/>
    <p:sldId id="1108" r:id="rId113"/>
    <p:sldId id="1110" r:id="rId114"/>
    <p:sldId id="1073" r:id="rId115"/>
    <p:sldId id="1112" r:id="rId116"/>
    <p:sldId id="1114" r:id="rId117"/>
    <p:sldId id="1116" r:id="rId118"/>
    <p:sldId id="1118" r:id="rId119"/>
    <p:sldId id="1075" r:id="rId120"/>
    <p:sldId id="1077" r:id="rId121"/>
    <p:sldId id="1079" r:id="rId1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862"/>
            <p14:sldId id="934"/>
            <p14:sldId id="992"/>
            <p14:sldId id="947"/>
            <p14:sldId id="909"/>
            <p14:sldId id="991"/>
            <p14:sldId id="936"/>
            <p14:sldId id="935"/>
            <p14:sldId id="1030"/>
            <p14:sldId id="1031"/>
            <p14:sldId id="866"/>
            <p14:sldId id="910"/>
            <p14:sldId id="995"/>
            <p14:sldId id="911"/>
            <p14:sldId id="875"/>
            <p14:sldId id="876"/>
            <p14:sldId id="915"/>
            <p14:sldId id="953"/>
            <p14:sldId id="914"/>
            <p14:sldId id="952"/>
            <p14:sldId id="1032"/>
            <p14:sldId id="959"/>
            <p14:sldId id="1084"/>
            <p14:sldId id="1085"/>
            <p14:sldId id="1103"/>
            <p14:sldId id="1105"/>
            <p14:sldId id="1088"/>
            <p14:sldId id="1089"/>
            <p14:sldId id="1004"/>
            <p14:sldId id="880"/>
            <p14:sldId id="1033"/>
            <p14:sldId id="917"/>
            <p14:sldId id="883"/>
            <p14:sldId id="938"/>
            <p14:sldId id="885"/>
            <p14:sldId id="940"/>
            <p14:sldId id="949"/>
            <p14:sldId id="920"/>
            <p14:sldId id="887"/>
            <p14:sldId id="921"/>
            <p14:sldId id="950"/>
            <p14:sldId id="1000"/>
            <p14:sldId id="922"/>
            <p14:sldId id="923"/>
            <p14:sldId id="1090"/>
            <p14:sldId id="1091"/>
            <p14:sldId id="1092"/>
            <p14:sldId id="1093"/>
            <p14:sldId id="1107"/>
            <p14:sldId id="1109"/>
            <p14:sldId id="978"/>
            <p14:sldId id="941"/>
            <p14:sldId id="891"/>
            <p14:sldId id="1034"/>
            <p14:sldId id="1035"/>
            <p14:sldId id="892"/>
            <p14:sldId id="893"/>
            <p14:sldId id="924"/>
            <p14:sldId id="925"/>
            <p14:sldId id="1096"/>
            <p14:sldId id="1111"/>
            <p14:sldId id="1098"/>
            <p14:sldId id="1099"/>
            <p14:sldId id="1113"/>
            <p14:sldId id="1115"/>
            <p14:sldId id="1117"/>
            <p14:sldId id="989"/>
            <p14:sldId id="942"/>
            <p14:sldId id="954"/>
            <p14:sldId id="1002"/>
            <p14:sldId id="898"/>
            <p14:sldId id="927"/>
            <p14:sldId id="955"/>
            <p14:sldId id="928"/>
            <p14:sldId id="929"/>
            <p14:sldId id="900"/>
            <p14:sldId id="1036"/>
            <p14:sldId id="930"/>
            <p14:sldId id="901"/>
            <p14:sldId id="1037"/>
            <p14:sldId id="931"/>
            <p14:sldId id="956"/>
            <p14:sldId id="1038"/>
            <p14:sldId id="933"/>
            <p14:sldId id="1039"/>
            <p14:sldId id="1040"/>
            <p14:sldId id="1041"/>
            <p14:sldId id="932"/>
            <p14:sldId id="907"/>
            <p14:sldId id="1003"/>
            <p14:sldId id="264"/>
          </p14:sldIdLst>
        </p14:section>
        <p14:section name="Appendix: Image Descriptions for Unsighted Students" id="{190CAB3E-E7E3-4FE1-933B-0DC940C329C4}">
          <p14:sldIdLst>
            <p14:sldId id="259"/>
            <p14:sldId id="260"/>
            <p14:sldId id="1042"/>
            <p14:sldId id="1064"/>
            <p14:sldId id="1065"/>
            <p14:sldId id="1066"/>
            <p14:sldId id="1067"/>
            <p14:sldId id="1104"/>
            <p14:sldId id="1106"/>
            <p14:sldId id="1069"/>
            <p14:sldId id="1071"/>
            <p14:sldId id="1072"/>
            <p14:sldId id="1108"/>
            <p14:sldId id="1110"/>
            <p14:sldId id="1073"/>
            <p14:sldId id="1112"/>
            <p14:sldId id="1114"/>
            <p14:sldId id="1116"/>
            <p14:sldId id="1118"/>
            <p14:sldId id="1075"/>
            <p14:sldId id="1077"/>
            <p14:sldId id="10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01848"/>
    <a:srgbClr val="002F8E"/>
    <a:srgbClr val="081D48"/>
    <a:srgbClr val="3E485E"/>
    <a:srgbClr val="5251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25" autoAdjust="0"/>
    <p:restoredTop sz="86391" autoAdjust="0"/>
  </p:normalViewPr>
  <p:slideViewPr>
    <p:cSldViewPr snapToGrid="0">
      <p:cViewPr varScale="1">
        <p:scale>
          <a:sx n="95" d="100"/>
          <a:sy n="95" d="100"/>
        </p:scale>
        <p:origin x="954" y="84"/>
      </p:cViewPr>
      <p:guideLst/>
    </p:cSldViewPr>
  </p:slideViewPr>
  <p:outlineViewPr>
    <p:cViewPr>
      <p:scale>
        <a:sx n="33" d="100"/>
        <a:sy n="33" d="100"/>
      </p:scale>
      <p:origin x="0" y="-1845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117" Type="http://schemas.openxmlformats.org/officeDocument/2006/relationships/slide" Target="slides/slide109.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slide" Target="slides/slide81.xml"/><Relationship Id="rId112" Type="http://schemas.openxmlformats.org/officeDocument/2006/relationships/slide" Target="slides/slide104.xml"/><Relationship Id="rId16" Type="http://schemas.openxmlformats.org/officeDocument/2006/relationships/slide" Target="slides/slide8.xml"/><Relationship Id="rId107" Type="http://schemas.openxmlformats.org/officeDocument/2006/relationships/slide" Target="slides/slide99.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102" Type="http://schemas.openxmlformats.org/officeDocument/2006/relationships/slide" Target="slides/slide94.xml"/><Relationship Id="rId123" Type="http://schemas.openxmlformats.org/officeDocument/2006/relationships/notesMaster" Target="notesMasters/notesMaster1.xml"/><Relationship Id="rId5" Type="http://schemas.openxmlformats.org/officeDocument/2006/relationships/slideMaster" Target="slideMasters/slideMaster5.xml"/><Relationship Id="rId90" Type="http://schemas.openxmlformats.org/officeDocument/2006/relationships/slide" Target="slides/slide82.xml"/><Relationship Id="rId95" Type="http://schemas.openxmlformats.org/officeDocument/2006/relationships/slide" Target="slides/slide87.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113" Type="http://schemas.openxmlformats.org/officeDocument/2006/relationships/slide" Target="slides/slide105.xml"/><Relationship Id="rId118" Type="http://schemas.openxmlformats.org/officeDocument/2006/relationships/slide" Target="slides/slide110.xml"/><Relationship Id="rId80" Type="http://schemas.openxmlformats.org/officeDocument/2006/relationships/slide" Target="slides/slide72.xml"/><Relationship Id="rId85" Type="http://schemas.openxmlformats.org/officeDocument/2006/relationships/slide" Target="slides/slide77.xml"/><Relationship Id="rId12" Type="http://schemas.openxmlformats.org/officeDocument/2006/relationships/slide" Target="slides/slide4.xml"/><Relationship Id="rId17" Type="http://schemas.openxmlformats.org/officeDocument/2006/relationships/slide" Target="slides/slide9.xml"/><Relationship Id="rId33" Type="http://schemas.openxmlformats.org/officeDocument/2006/relationships/slide" Target="slides/slide25.xml"/><Relationship Id="rId38" Type="http://schemas.openxmlformats.org/officeDocument/2006/relationships/slide" Target="slides/slide30.xml"/><Relationship Id="rId59" Type="http://schemas.openxmlformats.org/officeDocument/2006/relationships/slide" Target="slides/slide51.xml"/><Relationship Id="rId103" Type="http://schemas.openxmlformats.org/officeDocument/2006/relationships/slide" Target="slides/slide95.xml"/><Relationship Id="rId108" Type="http://schemas.openxmlformats.org/officeDocument/2006/relationships/slide" Target="slides/slide100.xml"/><Relationship Id="rId124" Type="http://schemas.openxmlformats.org/officeDocument/2006/relationships/presProps" Target="presProps.xml"/><Relationship Id="rId54" Type="http://schemas.openxmlformats.org/officeDocument/2006/relationships/slide" Target="slides/slide46.xml"/><Relationship Id="rId70" Type="http://schemas.openxmlformats.org/officeDocument/2006/relationships/slide" Target="slides/slide62.xml"/><Relationship Id="rId75" Type="http://schemas.openxmlformats.org/officeDocument/2006/relationships/slide" Target="slides/slide67.xml"/><Relationship Id="rId91" Type="http://schemas.openxmlformats.org/officeDocument/2006/relationships/slide" Target="slides/slide83.xml"/><Relationship Id="rId96" Type="http://schemas.openxmlformats.org/officeDocument/2006/relationships/slide" Target="slides/slide88.xml"/><Relationship Id="rId1" Type="http://schemas.openxmlformats.org/officeDocument/2006/relationships/slideMaster" Target="slideMasters/slideMaster1.xml"/><Relationship Id="rId6" Type="http://schemas.openxmlformats.org/officeDocument/2006/relationships/slideMaster" Target="slideMasters/slideMaster6.xml"/><Relationship Id="rId23" Type="http://schemas.openxmlformats.org/officeDocument/2006/relationships/slide" Target="slides/slide15.xml"/><Relationship Id="rId28" Type="http://schemas.openxmlformats.org/officeDocument/2006/relationships/slide" Target="slides/slide20.xml"/><Relationship Id="rId49" Type="http://schemas.openxmlformats.org/officeDocument/2006/relationships/slide" Target="slides/slide41.xml"/><Relationship Id="rId114" Type="http://schemas.openxmlformats.org/officeDocument/2006/relationships/slide" Target="slides/slide106.xml"/><Relationship Id="rId119" Type="http://schemas.openxmlformats.org/officeDocument/2006/relationships/slide" Target="slides/slide111.xml"/><Relationship Id="rId44" Type="http://schemas.openxmlformats.org/officeDocument/2006/relationships/slide" Target="slides/slide36.xml"/><Relationship Id="rId60" Type="http://schemas.openxmlformats.org/officeDocument/2006/relationships/slide" Target="slides/slide52.xml"/><Relationship Id="rId65" Type="http://schemas.openxmlformats.org/officeDocument/2006/relationships/slide" Target="slides/slide57.xml"/><Relationship Id="rId81" Type="http://schemas.openxmlformats.org/officeDocument/2006/relationships/slide" Target="slides/slide73.xml"/><Relationship Id="rId86" Type="http://schemas.openxmlformats.org/officeDocument/2006/relationships/slide" Target="slides/slide78.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109" Type="http://schemas.openxmlformats.org/officeDocument/2006/relationships/slide" Target="slides/slide10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97" Type="http://schemas.openxmlformats.org/officeDocument/2006/relationships/slide" Target="slides/slide89.xml"/><Relationship Id="rId104" Type="http://schemas.openxmlformats.org/officeDocument/2006/relationships/slide" Target="slides/slide96.xml"/><Relationship Id="rId120" Type="http://schemas.openxmlformats.org/officeDocument/2006/relationships/slide" Target="slides/slide112.xml"/><Relationship Id="rId125" Type="http://schemas.openxmlformats.org/officeDocument/2006/relationships/viewProps" Target="viewProps.xml"/><Relationship Id="rId7" Type="http://schemas.openxmlformats.org/officeDocument/2006/relationships/slideMaster" Target="slideMasters/slideMaster7.xml"/><Relationship Id="rId71" Type="http://schemas.openxmlformats.org/officeDocument/2006/relationships/slide" Target="slides/slide63.xml"/><Relationship Id="rId92" Type="http://schemas.openxmlformats.org/officeDocument/2006/relationships/slide" Target="slides/slide84.xml"/><Relationship Id="rId2" Type="http://schemas.openxmlformats.org/officeDocument/2006/relationships/slideMaster" Target="slideMasters/slideMaster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110" Type="http://schemas.openxmlformats.org/officeDocument/2006/relationships/slide" Target="slides/slide102.xml"/><Relationship Id="rId115" Type="http://schemas.openxmlformats.org/officeDocument/2006/relationships/slide" Target="slides/slide107.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 Id="rId100" Type="http://schemas.openxmlformats.org/officeDocument/2006/relationships/slide" Target="slides/slide92.xml"/><Relationship Id="rId105" Type="http://schemas.openxmlformats.org/officeDocument/2006/relationships/slide" Target="slides/slide97.xml"/><Relationship Id="rId126"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43.xml"/><Relationship Id="rId72" Type="http://schemas.openxmlformats.org/officeDocument/2006/relationships/slide" Target="slides/slide64.xml"/><Relationship Id="rId93" Type="http://schemas.openxmlformats.org/officeDocument/2006/relationships/slide" Target="slides/slide85.xml"/><Relationship Id="rId98" Type="http://schemas.openxmlformats.org/officeDocument/2006/relationships/slide" Target="slides/slide90.xml"/><Relationship Id="rId121" Type="http://schemas.openxmlformats.org/officeDocument/2006/relationships/slide" Target="slides/slide113.xml"/><Relationship Id="rId3" Type="http://schemas.openxmlformats.org/officeDocument/2006/relationships/slideMaster" Target="slideMasters/slideMaster3.xml"/><Relationship Id="rId25" Type="http://schemas.openxmlformats.org/officeDocument/2006/relationships/slide" Target="slides/slide17.xml"/><Relationship Id="rId46" Type="http://schemas.openxmlformats.org/officeDocument/2006/relationships/slide" Target="slides/slide38.xml"/><Relationship Id="rId67" Type="http://schemas.openxmlformats.org/officeDocument/2006/relationships/slide" Target="slides/slide59.xml"/><Relationship Id="rId116" Type="http://schemas.openxmlformats.org/officeDocument/2006/relationships/slide" Target="slides/slide108.xml"/><Relationship Id="rId20" Type="http://schemas.openxmlformats.org/officeDocument/2006/relationships/slide" Target="slides/slide12.xml"/><Relationship Id="rId41" Type="http://schemas.openxmlformats.org/officeDocument/2006/relationships/slide" Target="slides/slide33.xml"/><Relationship Id="rId62" Type="http://schemas.openxmlformats.org/officeDocument/2006/relationships/slide" Target="slides/slide54.xml"/><Relationship Id="rId83" Type="http://schemas.openxmlformats.org/officeDocument/2006/relationships/slide" Target="slides/slide75.xml"/><Relationship Id="rId88" Type="http://schemas.openxmlformats.org/officeDocument/2006/relationships/slide" Target="slides/slide80.xml"/><Relationship Id="rId111" Type="http://schemas.openxmlformats.org/officeDocument/2006/relationships/slide" Target="slides/slide103.xml"/><Relationship Id="rId15" Type="http://schemas.openxmlformats.org/officeDocument/2006/relationships/slide" Target="slides/slide7.xml"/><Relationship Id="rId36" Type="http://schemas.openxmlformats.org/officeDocument/2006/relationships/slide" Target="slides/slide28.xml"/><Relationship Id="rId57" Type="http://schemas.openxmlformats.org/officeDocument/2006/relationships/slide" Target="slides/slide49.xml"/><Relationship Id="rId106" Type="http://schemas.openxmlformats.org/officeDocument/2006/relationships/slide" Target="slides/slide98.xml"/><Relationship Id="rId127" Type="http://schemas.openxmlformats.org/officeDocument/2006/relationships/tableStyles" Target="tableStyles.xml"/><Relationship Id="rId10" Type="http://schemas.openxmlformats.org/officeDocument/2006/relationships/slide" Target="slides/slide2.xml"/><Relationship Id="rId31" Type="http://schemas.openxmlformats.org/officeDocument/2006/relationships/slide" Target="slides/slide23.xml"/><Relationship Id="rId52" Type="http://schemas.openxmlformats.org/officeDocument/2006/relationships/slide" Target="slides/slide44.xml"/><Relationship Id="rId73" Type="http://schemas.openxmlformats.org/officeDocument/2006/relationships/slide" Target="slides/slide65.xml"/><Relationship Id="rId78" Type="http://schemas.openxmlformats.org/officeDocument/2006/relationships/slide" Target="slides/slide70.xml"/><Relationship Id="rId94" Type="http://schemas.openxmlformats.org/officeDocument/2006/relationships/slide" Target="slides/slide86.xml"/><Relationship Id="rId99" Type="http://schemas.openxmlformats.org/officeDocument/2006/relationships/slide" Target="slides/slide91.xml"/><Relationship Id="rId101" Type="http://schemas.openxmlformats.org/officeDocument/2006/relationships/slide" Target="slides/slide93.xml"/><Relationship Id="rId122" Type="http://schemas.openxmlformats.org/officeDocument/2006/relationships/slide" Target="slides/slide114.xml"/><Relationship Id="rId4" Type="http://schemas.openxmlformats.org/officeDocument/2006/relationships/slideMaster" Target="slideMasters/slideMaster4.xml"/><Relationship Id="rId9"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2F66B9-2679-4EF6-A964-F4F0D597BE08}" type="datetimeFigureOut">
              <a:rPr lang="en-IN" smtClean="0"/>
              <a:t>30-03-2021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8AFE5E-CB4E-44AD-ADD3-4E74438CEC4D}" type="slidenum">
              <a:rPr lang="en-IN" smtClean="0"/>
              <a:t>‹#›</a:t>
            </a:fld>
            <a:endParaRPr lang="en-IN"/>
          </a:p>
        </p:txBody>
      </p:sp>
    </p:spTree>
    <p:extLst>
      <p:ext uri="{BB962C8B-B14F-4D97-AF65-F5344CB8AC3E}">
        <p14:creationId xmlns:p14="http://schemas.microsoft.com/office/powerpoint/2010/main" val="3251952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a:ln/>
        </p:spPr>
      </p:sp>
      <p:sp>
        <p:nvSpPr>
          <p:cNvPr id="1044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351C6B99-2DC6-4A14-8FA2-DBA68083E67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a:t>
            </a:fld>
            <a:endParaRPr lang="en-US" altLang="en-US" dirty="0"/>
          </a:p>
        </p:txBody>
      </p:sp>
    </p:spTree>
    <p:extLst>
      <p:ext uri="{BB962C8B-B14F-4D97-AF65-F5344CB8AC3E}">
        <p14:creationId xmlns:p14="http://schemas.microsoft.com/office/powerpoint/2010/main" val="210123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a:ln/>
        </p:spPr>
      </p:sp>
      <p:sp>
        <p:nvSpPr>
          <p:cNvPr id="1054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2083AA4-0D4E-4F38-872B-5F0A2F27438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a:t>
            </a:fld>
            <a:endParaRPr lang="en-US" altLang="en-US" dirty="0"/>
          </a:p>
        </p:txBody>
      </p:sp>
    </p:spTree>
    <p:extLst>
      <p:ext uri="{BB962C8B-B14F-4D97-AF65-F5344CB8AC3E}">
        <p14:creationId xmlns:p14="http://schemas.microsoft.com/office/powerpoint/2010/main" val="3382053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27F1F64A-82E6-4362-97F3-2086F3B0DFD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a:t>
            </a:fld>
            <a:endParaRPr lang="en-US" altLang="en-US" dirty="0"/>
          </a:p>
        </p:txBody>
      </p:sp>
    </p:spTree>
    <p:extLst>
      <p:ext uri="{BB962C8B-B14F-4D97-AF65-F5344CB8AC3E}">
        <p14:creationId xmlns:p14="http://schemas.microsoft.com/office/powerpoint/2010/main" val="3680855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a:ln/>
        </p:spPr>
      </p:sp>
      <p:sp>
        <p:nvSpPr>
          <p:cNvPr id="1064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3F2420AB-177C-4705-BB3E-0E17449DF74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a:t>
            </a:fld>
            <a:endParaRPr lang="en-US" altLang="en-US" dirty="0"/>
          </a:p>
        </p:txBody>
      </p:sp>
    </p:spTree>
    <p:extLst>
      <p:ext uri="{BB962C8B-B14F-4D97-AF65-F5344CB8AC3E}">
        <p14:creationId xmlns:p14="http://schemas.microsoft.com/office/powerpoint/2010/main" val="3647343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a:ln/>
        </p:spPr>
      </p:sp>
      <p:sp>
        <p:nvSpPr>
          <p:cNvPr id="1095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21BE5714-A0D4-4280-96D3-57CC25A97BE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a:t>
            </a:fld>
            <a:endParaRPr lang="en-US" altLang="en-US" dirty="0"/>
          </a:p>
        </p:txBody>
      </p:sp>
    </p:spTree>
    <p:extLst>
      <p:ext uri="{BB962C8B-B14F-4D97-AF65-F5344CB8AC3E}">
        <p14:creationId xmlns:p14="http://schemas.microsoft.com/office/powerpoint/2010/main" val="4002313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1DC17E69-799B-49D8-9D45-8F936C719F4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a:t>
            </a:fld>
            <a:endParaRPr lang="en-US" altLang="en-US" dirty="0"/>
          </a:p>
        </p:txBody>
      </p:sp>
    </p:spTree>
    <p:extLst>
      <p:ext uri="{BB962C8B-B14F-4D97-AF65-F5344CB8AC3E}">
        <p14:creationId xmlns:p14="http://schemas.microsoft.com/office/powerpoint/2010/main" val="2986818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555678E-3094-44FD-9EC5-8ABE416DBF6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a:t>
            </a:fld>
            <a:endParaRPr lang="en-US" altLang="en-US" dirty="0"/>
          </a:p>
        </p:txBody>
      </p:sp>
    </p:spTree>
    <p:extLst>
      <p:ext uri="{BB962C8B-B14F-4D97-AF65-F5344CB8AC3E}">
        <p14:creationId xmlns:p14="http://schemas.microsoft.com/office/powerpoint/2010/main" val="2936558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85C43DA-6D0D-4B27-B091-0A6699D5C02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a:t>
            </a:fld>
            <a:endParaRPr lang="en-US" altLang="en-US" dirty="0"/>
          </a:p>
        </p:txBody>
      </p:sp>
    </p:spTree>
    <p:extLst>
      <p:ext uri="{BB962C8B-B14F-4D97-AF65-F5344CB8AC3E}">
        <p14:creationId xmlns:p14="http://schemas.microsoft.com/office/powerpoint/2010/main" val="2343598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a:ln/>
        </p:spPr>
      </p:sp>
      <p:sp>
        <p:nvSpPr>
          <p:cNvPr id="1116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013668A-DAE8-4B87-94EA-7EC6275134E0}"/>
              </a:ext>
            </a:extLst>
          </p:cNvPr>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ea typeface="+mn-ea"/>
                <a:cs typeface="Arial" panose="020B0604020202020204" pitchFamily="34" charset="0"/>
              </a:rPr>
              <a:t>Slide </a:t>
            </a:r>
            <a:fld id="{D7F3AFFE-B8AD-4D09-9186-44CA76B356ED}" type="slidenum">
              <a:rPr kumimoji="0" lang="en-US" altLang="en-US" sz="1200" b="0" i="0" u="none" strike="noStrike" kern="1200" cap="none" spc="0" normalizeH="0" baseline="0" noProof="0" smtClean="0">
                <a:ln>
                  <a:noFill/>
                </a:ln>
                <a:solidFill>
                  <a:srgbClr val="000000"/>
                </a:solidFill>
                <a:effectLst/>
                <a:uLnTx/>
                <a:uFillTx/>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dirty="0">
              <a:ln>
                <a:noFill/>
              </a:ln>
              <a:solidFill>
                <a:srgbClr val="000000"/>
              </a:solidFill>
              <a:effectLst/>
              <a:uLnTx/>
              <a:uFillTx/>
              <a:ea typeface="+mn-ea"/>
              <a:cs typeface="Arial" panose="020B0604020202020204" pitchFamily="34" charset="0"/>
            </a:endParaRPr>
          </a:p>
        </p:txBody>
      </p:sp>
    </p:spTree>
    <p:extLst>
      <p:ext uri="{BB962C8B-B14F-4D97-AF65-F5344CB8AC3E}">
        <p14:creationId xmlns:p14="http://schemas.microsoft.com/office/powerpoint/2010/main" val="9426754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85C43DA-6D0D-4B27-B091-0A6699D5C02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11</a:t>
            </a:fld>
            <a:endParaRPr lang="en-US" altLang="en-US" dirty="0"/>
          </a:p>
        </p:txBody>
      </p:sp>
    </p:spTree>
    <p:extLst>
      <p:ext uri="{BB962C8B-B14F-4D97-AF65-F5344CB8AC3E}">
        <p14:creationId xmlns:p14="http://schemas.microsoft.com/office/powerpoint/2010/main" val="268886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D4FA277D-6B19-4E51-AC8C-6F872DD6266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12</a:t>
            </a:fld>
            <a:endParaRPr lang="en-US" altLang="en-US" dirty="0"/>
          </a:p>
        </p:txBody>
      </p:sp>
    </p:spTree>
    <p:extLst>
      <p:ext uri="{BB962C8B-B14F-4D97-AF65-F5344CB8AC3E}">
        <p14:creationId xmlns:p14="http://schemas.microsoft.com/office/powerpoint/2010/main" val="2005525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a:ln/>
        </p:spPr>
      </p:sp>
      <p:sp>
        <p:nvSpPr>
          <p:cNvPr id="1136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27EBC78-6856-44FD-BA2D-C3F283A7668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13</a:t>
            </a:fld>
            <a:endParaRPr lang="en-US" altLang="en-US" dirty="0"/>
          </a:p>
        </p:txBody>
      </p:sp>
    </p:spTree>
    <p:extLst>
      <p:ext uri="{BB962C8B-B14F-4D97-AF65-F5344CB8AC3E}">
        <p14:creationId xmlns:p14="http://schemas.microsoft.com/office/powerpoint/2010/main" val="1523714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10" name="Slide Number Placeholder 9">
            <a:extLst>
              <a:ext uri="{FF2B5EF4-FFF2-40B4-BE49-F238E27FC236}">
                <a16:creationId xmlns:a16="http://schemas.microsoft.com/office/drawing/2014/main" id="{8ED39ED2-31C8-4C53-8FA2-CD00632FAA5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14</a:t>
            </a:fld>
            <a:endParaRPr lang="en-US" altLang="en-US" dirty="0"/>
          </a:p>
        </p:txBody>
      </p:sp>
    </p:spTree>
    <p:extLst>
      <p:ext uri="{BB962C8B-B14F-4D97-AF65-F5344CB8AC3E}">
        <p14:creationId xmlns:p14="http://schemas.microsoft.com/office/powerpoint/2010/main" val="13411325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a:ln/>
        </p:spPr>
      </p:sp>
      <p:sp>
        <p:nvSpPr>
          <p:cNvPr id="1146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F8B6DCC9-8854-45C4-9038-851C356D69A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15</a:t>
            </a:fld>
            <a:endParaRPr lang="en-US" altLang="en-US" dirty="0"/>
          </a:p>
        </p:txBody>
      </p:sp>
    </p:spTree>
    <p:extLst>
      <p:ext uri="{BB962C8B-B14F-4D97-AF65-F5344CB8AC3E}">
        <p14:creationId xmlns:p14="http://schemas.microsoft.com/office/powerpoint/2010/main" val="4215648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a:ln/>
        </p:spPr>
      </p:sp>
      <p:sp>
        <p:nvSpPr>
          <p:cNvPr id="1157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D99E7E50-CBA7-45E7-A718-38F4A32B9A4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16</a:t>
            </a:fld>
            <a:endParaRPr lang="en-US" altLang="en-US" dirty="0"/>
          </a:p>
        </p:txBody>
      </p:sp>
    </p:spTree>
    <p:extLst>
      <p:ext uri="{BB962C8B-B14F-4D97-AF65-F5344CB8AC3E}">
        <p14:creationId xmlns:p14="http://schemas.microsoft.com/office/powerpoint/2010/main" val="953897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a:ln/>
        </p:spPr>
      </p:sp>
      <p:sp>
        <p:nvSpPr>
          <p:cNvPr id="1167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1E66129-F9F2-4BFC-A964-DE9F86B3922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17</a:t>
            </a:fld>
            <a:endParaRPr lang="en-US" altLang="en-US" dirty="0"/>
          </a:p>
        </p:txBody>
      </p:sp>
    </p:spTree>
    <p:extLst>
      <p:ext uri="{BB962C8B-B14F-4D97-AF65-F5344CB8AC3E}">
        <p14:creationId xmlns:p14="http://schemas.microsoft.com/office/powerpoint/2010/main" val="19427073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a:ln/>
        </p:spPr>
      </p:sp>
      <p:sp>
        <p:nvSpPr>
          <p:cNvPr id="11981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27C4C775-3942-4251-AEB0-7833725B5B8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18</a:t>
            </a:fld>
            <a:endParaRPr lang="en-US" altLang="en-US" dirty="0"/>
          </a:p>
        </p:txBody>
      </p:sp>
    </p:spTree>
    <p:extLst>
      <p:ext uri="{BB962C8B-B14F-4D97-AF65-F5344CB8AC3E}">
        <p14:creationId xmlns:p14="http://schemas.microsoft.com/office/powerpoint/2010/main" val="385006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a:ln/>
        </p:spPr>
      </p:sp>
      <p:sp>
        <p:nvSpPr>
          <p:cNvPr id="1177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4DC7CE96-0761-4205-8B7D-66C89213E3C9}"/>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19</a:t>
            </a:fld>
            <a:endParaRPr lang="en-US" altLang="en-US" dirty="0"/>
          </a:p>
        </p:txBody>
      </p:sp>
    </p:spTree>
    <p:extLst>
      <p:ext uri="{BB962C8B-B14F-4D97-AF65-F5344CB8AC3E}">
        <p14:creationId xmlns:p14="http://schemas.microsoft.com/office/powerpoint/2010/main" val="4692450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a:ln/>
        </p:spPr>
      </p:sp>
      <p:sp>
        <p:nvSpPr>
          <p:cNvPr id="1208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0E756A34-901C-4924-B075-11F4DCFE126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20</a:t>
            </a:fld>
            <a:endParaRPr lang="en-US" altLang="en-US" dirty="0"/>
          </a:p>
        </p:txBody>
      </p:sp>
    </p:spTree>
    <p:extLst>
      <p:ext uri="{BB962C8B-B14F-4D97-AF65-F5344CB8AC3E}">
        <p14:creationId xmlns:p14="http://schemas.microsoft.com/office/powerpoint/2010/main" val="16856248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ln/>
        </p:spPr>
      </p:sp>
      <p:sp>
        <p:nvSpPr>
          <p:cNvPr id="1187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7C4B9F2-613A-4C13-95BF-BE872C6051D5}"/>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21</a:t>
            </a:fld>
            <a:endParaRPr lang="en-US" altLang="en-US" dirty="0"/>
          </a:p>
        </p:txBody>
      </p:sp>
    </p:spTree>
    <p:extLst>
      <p:ext uri="{BB962C8B-B14F-4D97-AF65-F5344CB8AC3E}">
        <p14:creationId xmlns:p14="http://schemas.microsoft.com/office/powerpoint/2010/main" val="677988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23</a:t>
            </a:fld>
            <a:endParaRPr lang="en-US" altLang="en-US" dirty="0"/>
          </a:p>
        </p:txBody>
      </p:sp>
    </p:spTree>
    <p:extLst>
      <p:ext uri="{BB962C8B-B14F-4D97-AF65-F5344CB8AC3E}">
        <p14:creationId xmlns:p14="http://schemas.microsoft.com/office/powerpoint/2010/main" val="41333791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24</a:t>
            </a:fld>
            <a:endParaRPr lang="en-US" altLang="en-US" dirty="0"/>
          </a:p>
        </p:txBody>
      </p:sp>
    </p:spTree>
    <p:extLst>
      <p:ext uri="{BB962C8B-B14F-4D97-AF65-F5344CB8AC3E}">
        <p14:creationId xmlns:p14="http://schemas.microsoft.com/office/powerpoint/2010/main" val="4164481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25</a:t>
            </a:fld>
            <a:endParaRPr lang="en-US" altLang="en-US" dirty="0"/>
          </a:p>
        </p:txBody>
      </p:sp>
    </p:spTree>
    <p:extLst>
      <p:ext uri="{BB962C8B-B14F-4D97-AF65-F5344CB8AC3E}">
        <p14:creationId xmlns:p14="http://schemas.microsoft.com/office/powerpoint/2010/main" val="28998567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26</a:t>
            </a:fld>
            <a:endParaRPr lang="en-US" altLang="en-US" dirty="0"/>
          </a:p>
        </p:txBody>
      </p:sp>
    </p:spTree>
    <p:extLst>
      <p:ext uri="{BB962C8B-B14F-4D97-AF65-F5344CB8AC3E}">
        <p14:creationId xmlns:p14="http://schemas.microsoft.com/office/powerpoint/2010/main" val="9063339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27</a:t>
            </a:fld>
            <a:endParaRPr lang="en-US" altLang="en-US" dirty="0"/>
          </a:p>
        </p:txBody>
      </p:sp>
    </p:spTree>
    <p:extLst>
      <p:ext uri="{BB962C8B-B14F-4D97-AF65-F5344CB8AC3E}">
        <p14:creationId xmlns:p14="http://schemas.microsoft.com/office/powerpoint/2010/main" val="1257841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28</a:t>
            </a:fld>
            <a:endParaRPr lang="en-US" altLang="en-US" dirty="0"/>
          </a:p>
        </p:txBody>
      </p:sp>
    </p:spTree>
    <p:extLst>
      <p:ext uri="{BB962C8B-B14F-4D97-AF65-F5344CB8AC3E}">
        <p14:creationId xmlns:p14="http://schemas.microsoft.com/office/powerpoint/2010/main" val="24627161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a:ln/>
        </p:spPr>
      </p:sp>
      <p:sp>
        <p:nvSpPr>
          <p:cNvPr id="1249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EFC65832-5B94-4909-8E64-BB5B4714A8B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29</a:t>
            </a:fld>
            <a:endParaRPr lang="en-US" altLang="en-US" dirty="0"/>
          </a:p>
        </p:txBody>
      </p:sp>
    </p:spTree>
    <p:extLst>
      <p:ext uri="{BB962C8B-B14F-4D97-AF65-F5344CB8AC3E}">
        <p14:creationId xmlns:p14="http://schemas.microsoft.com/office/powerpoint/2010/main" val="13878479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a:ln/>
        </p:spPr>
      </p:sp>
      <p:sp>
        <p:nvSpPr>
          <p:cNvPr id="1320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11193D3-37F4-490E-9FCD-5C8A7560D8B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30</a:t>
            </a:fld>
            <a:endParaRPr lang="en-US" altLang="en-US" dirty="0"/>
          </a:p>
        </p:txBody>
      </p:sp>
    </p:spTree>
    <p:extLst>
      <p:ext uri="{BB962C8B-B14F-4D97-AF65-F5344CB8AC3E}">
        <p14:creationId xmlns:p14="http://schemas.microsoft.com/office/powerpoint/2010/main" val="9950325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a:ln/>
        </p:spPr>
      </p:sp>
      <p:sp>
        <p:nvSpPr>
          <p:cNvPr id="134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0D6C554D-AE82-435B-809C-61BBAC96F3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31</a:t>
            </a:fld>
            <a:endParaRPr lang="en-US" altLang="en-US" dirty="0"/>
          </a:p>
        </p:txBody>
      </p:sp>
    </p:spTree>
    <p:extLst>
      <p:ext uri="{BB962C8B-B14F-4D97-AF65-F5344CB8AC3E}">
        <p14:creationId xmlns:p14="http://schemas.microsoft.com/office/powerpoint/2010/main" val="16866630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a:ln/>
        </p:spPr>
      </p:sp>
      <p:sp>
        <p:nvSpPr>
          <p:cNvPr id="134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0D6C554D-AE82-435B-809C-61BBAC96F3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32</a:t>
            </a:fld>
            <a:endParaRPr lang="en-US" altLang="en-US" dirty="0"/>
          </a:p>
        </p:txBody>
      </p:sp>
    </p:spTree>
    <p:extLst>
      <p:ext uri="{BB962C8B-B14F-4D97-AF65-F5344CB8AC3E}">
        <p14:creationId xmlns:p14="http://schemas.microsoft.com/office/powerpoint/2010/main" val="16142685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a:ln/>
        </p:spPr>
      </p:sp>
      <p:sp>
        <p:nvSpPr>
          <p:cNvPr id="1351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F67DC6B-7FEF-4660-A73C-F9121EA7B85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33</a:t>
            </a:fld>
            <a:endParaRPr lang="en-US" altLang="en-US" dirty="0"/>
          </a:p>
        </p:txBody>
      </p:sp>
    </p:spTree>
    <p:extLst>
      <p:ext uri="{BB962C8B-B14F-4D97-AF65-F5344CB8AC3E}">
        <p14:creationId xmlns:p14="http://schemas.microsoft.com/office/powerpoint/2010/main" val="23530738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a:ln/>
        </p:spPr>
      </p:sp>
      <p:sp>
        <p:nvSpPr>
          <p:cNvPr id="1361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368E164-9D7D-4CDD-8899-25A73F1E17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34</a:t>
            </a:fld>
            <a:endParaRPr lang="en-US" altLang="en-US" dirty="0"/>
          </a:p>
        </p:txBody>
      </p:sp>
    </p:spTree>
    <p:extLst>
      <p:ext uri="{BB962C8B-B14F-4D97-AF65-F5344CB8AC3E}">
        <p14:creationId xmlns:p14="http://schemas.microsoft.com/office/powerpoint/2010/main" val="25241234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p:cNvSpPr>
            <a:spLocks noGrp="1" noRot="1" noChangeAspect="1" noTextEdit="1"/>
          </p:cNvSpPr>
          <p:nvPr>
            <p:ph type="sldImg"/>
          </p:nvPr>
        </p:nvSpPr>
        <p:spPr>
          <a:ln/>
        </p:spPr>
      </p:sp>
      <p:sp>
        <p:nvSpPr>
          <p:cNvPr id="1372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4406BF48-3B0D-4879-B016-4DBA16C99B83}"/>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35</a:t>
            </a:fld>
            <a:endParaRPr lang="en-US" altLang="en-US" dirty="0"/>
          </a:p>
        </p:txBody>
      </p:sp>
    </p:spTree>
    <p:extLst>
      <p:ext uri="{BB962C8B-B14F-4D97-AF65-F5344CB8AC3E}">
        <p14:creationId xmlns:p14="http://schemas.microsoft.com/office/powerpoint/2010/main" val="33670443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a:ln/>
        </p:spPr>
      </p:sp>
      <p:sp>
        <p:nvSpPr>
          <p:cNvPr id="1382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FC0DB97-D9FF-4D1B-AE17-E743E617DA2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36</a:t>
            </a:fld>
            <a:endParaRPr lang="en-US" altLang="en-US" dirty="0"/>
          </a:p>
        </p:txBody>
      </p:sp>
    </p:spTree>
    <p:extLst>
      <p:ext uri="{BB962C8B-B14F-4D97-AF65-F5344CB8AC3E}">
        <p14:creationId xmlns:p14="http://schemas.microsoft.com/office/powerpoint/2010/main" val="5650780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a:ln/>
        </p:spPr>
      </p:sp>
      <p:sp>
        <p:nvSpPr>
          <p:cNvPr id="1392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C83A9CA-AE46-4767-BA8F-2A27B16E45D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37</a:t>
            </a:fld>
            <a:endParaRPr lang="en-US" altLang="en-US" dirty="0"/>
          </a:p>
        </p:txBody>
      </p:sp>
    </p:spTree>
    <p:extLst>
      <p:ext uri="{BB962C8B-B14F-4D97-AF65-F5344CB8AC3E}">
        <p14:creationId xmlns:p14="http://schemas.microsoft.com/office/powerpoint/2010/main" val="28837695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Slide Image Placeholder 1"/>
          <p:cNvSpPr>
            <a:spLocks noGrp="1" noRot="1" noChangeAspect="1" noTextEdit="1"/>
          </p:cNvSpPr>
          <p:nvPr>
            <p:ph type="sldImg"/>
          </p:nvPr>
        </p:nvSpPr>
        <p:spPr>
          <a:ln/>
        </p:spPr>
      </p:sp>
      <p:sp>
        <p:nvSpPr>
          <p:cNvPr id="1402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7A986C44-5532-4ED8-9E76-F3F69F9ED4F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38</a:t>
            </a:fld>
            <a:endParaRPr lang="en-US" altLang="en-US" dirty="0"/>
          </a:p>
        </p:txBody>
      </p:sp>
    </p:spTree>
    <p:extLst>
      <p:ext uri="{BB962C8B-B14F-4D97-AF65-F5344CB8AC3E}">
        <p14:creationId xmlns:p14="http://schemas.microsoft.com/office/powerpoint/2010/main" val="6189418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a:ln/>
        </p:spPr>
      </p:sp>
      <p:sp>
        <p:nvSpPr>
          <p:cNvPr id="1413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AC7FE-14F7-4339-9DEC-7A40879C422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39</a:t>
            </a:fld>
            <a:endParaRPr lang="en-US" altLang="en-US" dirty="0"/>
          </a:p>
        </p:txBody>
      </p:sp>
    </p:spTree>
    <p:extLst>
      <p:ext uri="{BB962C8B-B14F-4D97-AF65-F5344CB8AC3E}">
        <p14:creationId xmlns:p14="http://schemas.microsoft.com/office/powerpoint/2010/main" val="19737556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0F696A26-6756-49DB-A33F-FEC4F8F05A8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40</a:t>
            </a:fld>
            <a:endParaRPr lang="en-US" altLang="en-US" dirty="0"/>
          </a:p>
        </p:txBody>
      </p:sp>
    </p:spTree>
    <p:extLst>
      <p:ext uri="{BB962C8B-B14F-4D97-AF65-F5344CB8AC3E}">
        <p14:creationId xmlns:p14="http://schemas.microsoft.com/office/powerpoint/2010/main" val="1916884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p:spPr>
      </p:sp>
      <p:sp>
        <p:nvSpPr>
          <p:cNvPr id="1433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(sporangia): Steven P. Lynch; (plant): </a:t>
            </a:r>
            <a:r>
              <a:rPr lang="en-US" sz="1200" dirty="0" err="1"/>
              <a:t>Biophoto</a:t>
            </a:r>
            <a:r>
              <a:rPr lang="en-US" sz="1200" dirty="0"/>
              <a:t> Associates/Science Source</a:t>
            </a:r>
            <a:endParaRPr lang="en-GB" sz="1200" dirty="0"/>
          </a:p>
          <a:p>
            <a:endParaRPr lang="en-US" altLang="en-US" dirty="0"/>
          </a:p>
        </p:txBody>
      </p:sp>
      <p:sp>
        <p:nvSpPr>
          <p:cNvPr id="4" name="Slide Number Placeholder 3">
            <a:extLst>
              <a:ext uri="{FF2B5EF4-FFF2-40B4-BE49-F238E27FC236}">
                <a16:creationId xmlns:a16="http://schemas.microsoft.com/office/drawing/2014/main" id="{1863C8AE-83DB-4CBD-8959-EDD0E4561C52}"/>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41</a:t>
            </a:fld>
            <a:endParaRPr lang="en-US" altLang="en-US" dirty="0"/>
          </a:p>
        </p:txBody>
      </p:sp>
    </p:spTree>
    <p:extLst>
      <p:ext uri="{BB962C8B-B14F-4D97-AF65-F5344CB8AC3E}">
        <p14:creationId xmlns:p14="http://schemas.microsoft.com/office/powerpoint/2010/main" val="13076326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a:ln/>
        </p:spPr>
      </p:sp>
      <p:sp>
        <p:nvSpPr>
          <p:cNvPr id="1443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F7C65F6-8624-415F-AFD0-BE7592F623B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42</a:t>
            </a:fld>
            <a:endParaRPr lang="en-US" altLang="en-US" dirty="0"/>
          </a:p>
        </p:txBody>
      </p:sp>
    </p:spTree>
    <p:extLst>
      <p:ext uri="{BB962C8B-B14F-4D97-AF65-F5344CB8AC3E}">
        <p14:creationId xmlns:p14="http://schemas.microsoft.com/office/powerpoint/2010/main" val="18223125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a:ln/>
        </p:spPr>
      </p:sp>
      <p:sp>
        <p:nvSpPr>
          <p:cNvPr id="14541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205ED39-1169-4289-9DD1-5F3826309B5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43</a:t>
            </a:fld>
            <a:endParaRPr lang="en-US" altLang="en-US" dirty="0"/>
          </a:p>
        </p:txBody>
      </p:sp>
    </p:spTree>
    <p:extLst>
      <p:ext uri="{BB962C8B-B14F-4D97-AF65-F5344CB8AC3E}">
        <p14:creationId xmlns:p14="http://schemas.microsoft.com/office/powerpoint/2010/main" val="36813138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a:ln/>
        </p:spPr>
      </p:sp>
      <p:sp>
        <p:nvSpPr>
          <p:cNvPr id="1464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DF670A7-275E-4B88-A204-41FC8AAC4A3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44</a:t>
            </a:fld>
            <a:endParaRPr lang="en-US" altLang="en-US" dirty="0"/>
          </a:p>
        </p:txBody>
      </p:sp>
    </p:spTree>
    <p:extLst>
      <p:ext uri="{BB962C8B-B14F-4D97-AF65-F5344CB8AC3E}">
        <p14:creationId xmlns:p14="http://schemas.microsoft.com/office/powerpoint/2010/main" val="26520631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45</a:t>
            </a:fld>
            <a:endParaRPr lang="en-US" altLang="en-US" dirty="0"/>
          </a:p>
        </p:txBody>
      </p:sp>
    </p:spTree>
    <p:extLst>
      <p:ext uri="{BB962C8B-B14F-4D97-AF65-F5344CB8AC3E}">
        <p14:creationId xmlns:p14="http://schemas.microsoft.com/office/powerpoint/2010/main" val="1357838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46</a:t>
            </a:fld>
            <a:endParaRPr lang="en-US" altLang="en-US" dirty="0"/>
          </a:p>
        </p:txBody>
      </p:sp>
    </p:spTree>
    <p:extLst>
      <p:ext uri="{BB962C8B-B14F-4D97-AF65-F5344CB8AC3E}">
        <p14:creationId xmlns:p14="http://schemas.microsoft.com/office/powerpoint/2010/main" val="35568988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47</a:t>
            </a:fld>
            <a:endParaRPr lang="en-US" altLang="en-US" dirty="0"/>
          </a:p>
        </p:txBody>
      </p:sp>
    </p:spTree>
    <p:extLst>
      <p:ext uri="{BB962C8B-B14F-4D97-AF65-F5344CB8AC3E}">
        <p14:creationId xmlns:p14="http://schemas.microsoft.com/office/powerpoint/2010/main" val="372499024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48</a:t>
            </a:fld>
            <a:endParaRPr lang="en-US" altLang="en-US" dirty="0"/>
          </a:p>
        </p:txBody>
      </p:sp>
    </p:spTree>
    <p:extLst>
      <p:ext uri="{BB962C8B-B14F-4D97-AF65-F5344CB8AC3E}">
        <p14:creationId xmlns:p14="http://schemas.microsoft.com/office/powerpoint/2010/main" val="6259786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a:ln/>
        </p:spPr>
      </p:sp>
      <p:sp>
        <p:nvSpPr>
          <p:cNvPr id="1474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AADF3650-1719-4B0D-B10D-E3BEFD73312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49</a:t>
            </a:fld>
            <a:endParaRPr lang="en-US" altLang="en-US" dirty="0"/>
          </a:p>
        </p:txBody>
      </p:sp>
    </p:spTree>
    <p:extLst>
      <p:ext uri="{BB962C8B-B14F-4D97-AF65-F5344CB8AC3E}">
        <p14:creationId xmlns:p14="http://schemas.microsoft.com/office/powerpoint/2010/main" val="38429584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50</a:t>
            </a:fld>
            <a:endParaRPr lang="en-US" altLang="en-US" dirty="0"/>
          </a:p>
        </p:txBody>
      </p:sp>
    </p:spTree>
    <p:extLst>
      <p:ext uri="{BB962C8B-B14F-4D97-AF65-F5344CB8AC3E}">
        <p14:creationId xmlns:p14="http://schemas.microsoft.com/office/powerpoint/2010/main" val="16248048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51</a:t>
            </a:fld>
            <a:endParaRPr lang="en-US" altLang="en-US" dirty="0"/>
          </a:p>
        </p:txBody>
      </p:sp>
    </p:spTree>
    <p:extLst>
      <p:ext uri="{BB962C8B-B14F-4D97-AF65-F5344CB8AC3E}">
        <p14:creationId xmlns:p14="http://schemas.microsoft.com/office/powerpoint/2010/main" val="41304727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p:cNvSpPr>
            <a:spLocks noGrp="1" noRot="1" noChangeAspect="1" noTextEdit="1"/>
          </p:cNvSpPr>
          <p:nvPr>
            <p:ph type="sldImg"/>
          </p:nvPr>
        </p:nvSpPr>
        <p:spPr>
          <a:ln/>
        </p:spPr>
      </p:sp>
      <p:sp>
        <p:nvSpPr>
          <p:cNvPr id="1576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C1D64B70-30AB-4A7D-A91E-AF0A1AD1B10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52</a:t>
            </a:fld>
            <a:endParaRPr lang="en-US" altLang="en-US" dirty="0"/>
          </a:p>
        </p:txBody>
      </p:sp>
    </p:spTree>
    <p:extLst>
      <p:ext uri="{BB962C8B-B14F-4D97-AF65-F5344CB8AC3E}">
        <p14:creationId xmlns:p14="http://schemas.microsoft.com/office/powerpoint/2010/main" val="39573641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p:cNvSpPr>
            <a:spLocks noGrp="1" noRot="1" noChangeAspect="1" noTextEdit="1"/>
          </p:cNvSpPr>
          <p:nvPr>
            <p:ph type="sldImg"/>
          </p:nvPr>
        </p:nvSpPr>
        <p:spPr>
          <a:ln/>
        </p:spPr>
      </p:sp>
      <p:sp>
        <p:nvSpPr>
          <p:cNvPr id="1587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2AA6B7C5-06A5-467B-8BF1-DF06023D303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53</a:t>
            </a:fld>
            <a:endParaRPr lang="en-US" altLang="en-US" dirty="0"/>
          </a:p>
        </p:txBody>
      </p:sp>
    </p:spTree>
    <p:extLst>
      <p:ext uri="{BB962C8B-B14F-4D97-AF65-F5344CB8AC3E}">
        <p14:creationId xmlns:p14="http://schemas.microsoft.com/office/powerpoint/2010/main" val="239929163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54</a:t>
            </a:fld>
            <a:endParaRPr lang="en-US" altLang="en-US" dirty="0"/>
          </a:p>
        </p:txBody>
      </p:sp>
    </p:spTree>
    <p:extLst>
      <p:ext uri="{BB962C8B-B14F-4D97-AF65-F5344CB8AC3E}">
        <p14:creationId xmlns:p14="http://schemas.microsoft.com/office/powerpoint/2010/main" val="33327953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55</a:t>
            </a:fld>
            <a:endParaRPr lang="en-US" altLang="en-US" dirty="0"/>
          </a:p>
        </p:txBody>
      </p:sp>
    </p:spTree>
    <p:extLst>
      <p:ext uri="{BB962C8B-B14F-4D97-AF65-F5344CB8AC3E}">
        <p14:creationId xmlns:p14="http://schemas.microsoft.com/office/powerpoint/2010/main" val="18307900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p:cNvSpPr>
            <a:spLocks noGrp="1" noRot="1" noChangeAspect="1" noTextEdit="1"/>
          </p:cNvSpPr>
          <p:nvPr>
            <p:ph type="sldImg"/>
          </p:nvPr>
        </p:nvSpPr>
        <p:spPr>
          <a:ln/>
        </p:spPr>
      </p:sp>
      <p:sp>
        <p:nvSpPr>
          <p:cNvPr id="1597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003393-48FB-42D7-AC5B-1CFE082BB8A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56</a:t>
            </a:fld>
            <a:endParaRPr lang="en-US" altLang="en-US" dirty="0"/>
          </a:p>
        </p:txBody>
      </p:sp>
    </p:spTree>
    <p:extLst>
      <p:ext uri="{BB962C8B-B14F-4D97-AF65-F5344CB8AC3E}">
        <p14:creationId xmlns:p14="http://schemas.microsoft.com/office/powerpoint/2010/main" val="39897778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p:cNvSpPr>
            <a:spLocks noGrp="1" noRot="1" noChangeAspect="1" noTextEdit="1"/>
          </p:cNvSpPr>
          <p:nvPr>
            <p:ph type="sldImg"/>
          </p:nvPr>
        </p:nvSpPr>
        <p:spPr>
          <a:ln/>
        </p:spPr>
      </p:sp>
      <p:sp>
        <p:nvSpPr>
          <p:cNvPr id="1617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9158E7F6-13AF-4255-B5AE-D37CFC51CDC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57</a:t>
            </a:fld>
            <a:endParaRPr lang="en-US" altLang="en-US" dirty="0"/>
          </a:p>
        </p:txBody>
      </p:sp>
    </p:spTree>
    <p:extLst>
      <p:ext uri="{BB962C8B-B14F-4D97-AF65-F5344CB8AC3E}">
        <p14:creationId xmlns:p14="http://schemas.microsoft.com/office/powerpoint/2010/main" val="42188932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Slide Image Placeholder 1"/>
          <p:cNvSpPr>
            <a:spLocks noGrp="1" noRot="1" noChangeAspect="1" noTextEdit="1"/>
          </p:cNvSpPr>
          <p:nvPr>
            <p:ph type="sldImg"/>
          </p:nvPr>
        </p:nvSpPr>
        <p:spPr>
          <a:ln/>
        </p:spPr>
      </p:sp>
      <p:sp>
        <p:nvSpPr>
          <p:cNvPr id="1628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EDEBD1-FF32-49C9-AF9C-729F16375291}"/>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58</a:t>
            </a:fld>
            <a:endParaRPr lang="en-US" altLang="en-US" dirty="0"/>
          </a:p>
        </p:txBody>
      </p:sp>
    </p:spTree>
    <p:extLst>
      <p:ext uri="{BB962C8B-B14F-4D97-AF65-F5344CB8AC3E}">
        <p14:creationId xmlns:p14="http://schemas.microsoft.com/office/powerpoint/2010/main" val="32262481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Slide Image Placeholder 1"/>
          <p:cNvSpPr>
            <a:spLocks noGrp="1" noRot="1" noChangeAspect="1" noTextEdit="1"/>
          </p:cNvSpPr>
          <p:nvPr>
            <p:ph type="sldImg"/>
          </p:nvPr>
        </p:nvSpPr>
        <p:spPr>
          <a:ln/>
        </p:spPr>
      </p:sp>
      <p:sp>
        <p:nvSpPr>
          <p:cNvPr id="1607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71B8A2A9-1DC9-4E1A-92F3-409B71A4604E}"/>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59</a:t>
            </a:fld>
            <a:endParaRPr lang="en-US" altLang="en-US" dirty="0"/>
          </a:p>
        </p:txBody>
      </p:sp>
    </p:spTree>
    <p:extLst>
      <p:ext uri="{BB962C8B-B14F-4D97-AF65-F5344CB8AC3E}">
        <p14:creationId xmlns:p14="http://schemas.microsoft.com/office/powerpoint/2010/main" val="26589214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60</a:t>
            </a:fld>
            <a:endParaRPr lang="en-US" altLang="en-US" dirty="0"/>
          </a:p>
        </p:txBody>
      </p:sp>
    </p:spTree>
    <p:extLst>
      <p:ext uri="{BB962C8B-B14F-4D97-AF65-F5344CB8AC3E}">
        <p14:creationId xmlns:p14="http://schemas.microsoft.com/office/powerpoint/2010/main" val="36202923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61</a:t>
            </a:fld>
            <a:endParaRPr lang="en-US" altLang="en-US" dirty="0"/>
          </a:p>
        </p:txBody>
      </p:sp>
    </p:spTree>
    <p:extLst>
      <p:ext uri="{BB962C8B-B14F-4D97-AF65-F5344CB8AC3E}">
        <p14:creationId xmlns:p14="http://schemas.microsoft.com/office/powerpoint/2010/main" val="39534530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62</a:t>
            </a:fld>
            <a:endParaRPr lang="en-US" altLang="en-US" dirty="0"/>
          </a:p>
        </p:txBody>
      </p:sp>
    </p:spTree>
    <p:extLst>
      <p:ext uri="{BB962C8B-B14F-4D97-AF65-F5344CB8AC3E}">
        <p14:creationId xmlns:p14="http://schemas.microsoft.com/office/powerpoint/2010/main" val="28125821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63</a:t>
            </a:fld>
            <a:endParaRPr lang="en-US" altLang="en-US" dirty="0"/>
          </a:p>
        </p:txBody>
      </p:sp>
    </p:spTree>
    <p:extLst>
      <p:ext uri="{BB962C8B-B14F-4D97-AF65-F5344CB8AC3E}">
        <p14:creationId xmlns:p14="http://schemas.microsoft.com/office/powerpoint/2010/main" val="39584755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p:cNvSpPr>
            <a:spLocks noGrp="1" noRot="1" noChangeAspect="1" noTextEdit="1"/>
          </p:cNvSpPr>
          <p:nvPr>
            <p:ph type="sldImg"/>
          </p:nvPr>
        </p:nvSpPr>
        <p:spPr>
          <a:ln/>
        </p:spPr>
      </p:sp>
      <p:sp>
        <p:nvSpPr>
          <p:cNvPr id="1638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8E0231C-1BE1-4C47-9FEF-886A9A60F4A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64</a:t>
            </a:fld>
            <a:endParaRPr lang="en-US" altLang="en-US" dirty="0"/>
          </a:p>
        </p:txBody>
      </p:sp>
    </p:spTree>
    <p:extLst>
      <p:ext uri="{BB962C8B-B14F-4D97-AF65-F5344CB8AC3E}">
        <p14:creationId xmlns:p14="http://schemas.microsoft.com/office/powerpoint/2010/main" val="16264197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65</a:t>
            </a:fld>
            <a:endParaRPr lang="en-US" altLang="en-US" dirty="0"/>
          </a:p>
        </p:txBody>
      </p:sp>
    </p:spTree>
    <p:extLst>
      <p:ext uri="{BB962C8B-B14F-4D97-AF65-F5344CB8AC3E}">
        <p14:creationId xmlns:p14="http://schemas.microsoft.com/office/powerpoint/2010/main" val="295452433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66</a:t>
            </a:fld>
            <a:endParaRPr lang="en-US" altLang="en-US" dirty="0"/>
          </a:p>
        </p:txBody>
      </p:sp>
    </p:spTree>
    <p:extLst>
      <p:ext uri="{BB962C8B-B14F-4D97-AF65-F5344CB8AC3E}">
        <p14:creationId xmlns:p14="http://schemas.microsoft.com/office/powerpoint/2010/main" val="21220477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67</a:t>
            </a:fld>
            <a:endParaRPr lang="en-US" altLang="en-US" dirty="0"/>
          </a:p>
        </p:txBody>
      </p:sp>
    </p:spTree>
    <p:extLst>
      <p:ext uri="{BB962C8B-B14F-4D97-AF65-F5344CB8AC3E}">
        <p14:creationId xmlns:p14="http://schemas.microsoft.com/office/powerpoint/2010/main" val="28797615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a:ln/>
        </p:spPr>
      </p:sp>
      <p:sp>
        <p:nvSpPr>
          <p:cNvPr id="1751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8D06D68-9E18-48A4-A8B6-6EFF0B7168F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68</a:t>
            </a:fld>
            <a:endParaRPr lang="en-US" altLang="en-US" dirty="0"/>
          </a:p>
        </p:txBody>
      </p:sp>
    </p:spTree>
    <p:extLst>
      <p:ext uri="{BB962C8B-B14F-4D97-AF65-F5344CB8AC3E}">
        <p14:creationId xmlns:p14="http://schemas.microsoft.com/office/powerpoint/2010/main" val="27358504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a:ln/>
        </p:spPr>
      </p:sp>
      <p:sp>
        <p:nvSpPr>
          <p:cNvPr id="1761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57DB89E2-417B-4252-8CD5-4DB7E3385F7C}"/>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69</a:t>
            </a:fld>
            <a:endParaRPr lang="en-US" altLang="en-US" dirty="0"/>
          </a:p>
        </p:txBody>
      </p:sp>
    </p:spTree>
    <p:extLst>
      <p:ext uri="{BB962C8B-B14F-4D97-AF65-F5344CB8AC3E}">
        <p14:creationId xmlns:p14="http://schemas.microsoft.com/office/powerpoint/2010/main" val="18701425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a:ln/>
        </p:spPr>
      </p:sp>
      <p:sp>
        <p:nvSpPr>
          <p:cNvPr id="17715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BC1CBDD8-3022-401F-BA91-358671ED3D37}"/>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70</a:t>
            </a:fld>
            <a:endParaRPr lang="en-US" altLang="en-US" dirty="0"/>
          </a:p>
        </p:txBody>
      </p:sp>
    </p:spTree>
    <p:extLst>
      <p:ext uri="{BB962C8B-B14F-4D97-AF65-F5344CB8AC3E}">
        <p14:creationId xmlns:p14="http://schemas.microsoft.com/office/powerpoint/2010/main" val="156969733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81C10B-92EF-40E2-9A21-E929FC606F6D}"/>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71</a:t>
            </a:fld>
            <a:endParaRPr lang="en-US" altLang="en-US" dirty="0"/>
          </a:p>
        </p:txBody>
      </p:sp>
    </p:spTree>
    <p:extLst>
      <p:ext uri="{BB962C8B-B14F-4D97-AF65-F5344CB8AC3E}">
        <p14:creationId xmlns:p14="http://schemas.microsoft.com/office/powerpoint/2010/main" val="38519889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a:ln/>
        </p:spPr>
      </p:sp>
      <p:sp>
        <p:nvSpPr>
          <p:cNvPr id="17817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CC5701A-68F8-4182-BED4-A1C49A4EFB6F}"/>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72</a:t>
            </a:fld>
            <a:endParaRPr lang="en-US" altLang="en-US" dirty="0"/>
          </a:p>
        </p:txBody>
      </p:sp>
    </p:spTree>
    <p:extLst>
      <p:ext uri="{BB962C8B-B14F-4D97-AF65-F5344CB8AC3E}">
        <p14:creationId xmlns:p14="http://schemas.microsoft.com/office/powerpoint/2010/main" val="186601634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a:ln/>
        </p:spPr>
      </p:sp>
      <p:sp>
        <p:nvSpPr>
          <p:cNvPr id="17920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D3739A4-218B-45DD-9131-5C6A03C65F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73</a:t>
            </a:fld>
            <a:endParaRPr lang="en-US" altLang="en-US" dirty="0"/>
          </a:p>
        </p:txBody>
      </p:sp>
    </p:spTree>
    <p:extLst>
      <p:ext uri="{BB962C8B-B14F-4D97-AF65-F5344CB8AC3E}">
        <p14:creationId xmlns:p14="http://schemas.microsoft.com/office/powerpoint/2010/main" val="224853607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p:cNvSpPr>
            <a:spLocks noGrp="1" noRot="1" noChangeAspect="1" noTextEdit="1"/>
          </p:cNvSpPr>
          <p:nvPr>
            <p:ph type="sldImg"/>
          </p:nvPr>
        </p:nvSpPr>
        <p:spPr>
          <a:ln/>
        </p:spPr>
      </p:sp>
      <p:sp>
        <p:nvSpPr>
          <p:cNvPr id="18022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41FBF596-6EF9-49BB-AB10-54FB6D597FF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74</a:t>
            </a:fld>
            <a:endParaRPr lang="en-US" altLang="en-US" dirty="0"/>
          </a:p>
        </p:txBody>
      </p:sp>
    </p:spTree>
    <p:extLst>
      <p:ext uri="{BB962C8B-B14F-4D97-AF65-F5344CB8AC3E}">
        <p14:creationId xmlns:p14="http://schemas.microsoft.com/office/powerpoint/2010/main" val="195400575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p:cNvSpPr>
            <a:spLocks noGrp="1" noRot="1" noChangeAspect="1" noTextEdit="1"/>
          </p:cNvSpPr>
          <p:nvPr>
            <p:ph type="sldImg"/>
          </p:nvPr>
        </p:nvSpPr>
        <p:spPr>
          <a:ln/>
        </p:spPr>
      </p:sp>
      <p:sp>
        <p:nvSpPr>
          <p:cNvPr id="1822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F13CBE15-B181-407E-88E5-61080561EA64}"/>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75</a:t>
            </a:fld>
            <a:endParaRPr lang="en-US" altLang="en-US" dirty="0"/>
          </a:p>
        </p:txBody>
      </p:sp>
    </p:spTree>
    <p:extLst>
      <p:ext uri="{BB962C8B-B14F-4D97-AF65-F5344CB8AC3E}">
        <p14:creationId xmlns:p14="http://schemas.microsoft.com/office/powerpoint/2010/main" val="424389389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TextEdit="1"/>
          </p:cNvSpPr>
          <p:nvPr>
            <p:ph type="sldImg"/>
          </p:nvPr>
        </p:nvSpPr>
        <p:spPr>
          <a:ln/>
        </p:spPr>
      </p:sp>
      <p:sp>
        <p:nvSpPr>
          <p:cNvPr id="1832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1814AFF1-6DC2-4942-B729-2602573CE8E5}"/>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76</a:t>
            </a:fld>
            <a:endParaRPr lang="en-US" altLang="en-US" dirty="0"/>
          </a:p>
        </p:txBody>
      </p:sp>
    </p:spTree>
    <p:extLst>
      <p:ext uri="{BB962C8B-B14F-4D97-AF65-F5344CB8AC3E}">
        <p14:creationId xmlns:p14="http://schemas.microsoft.com/office/powerpoint/2010/main" val="327229651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a:ln/>
        </p:spPr>
      </p:sp>
      <p:sp>
        <p:nvSpPr>
          <p:cNvPr id="1843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D33ED069-6E4C-4473-ABAE-C145E4AB2A7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77</a:t>
            </a:fld>
            <a:endParaRPr lang="en-US" altLang="en-US" dirty="0"/>
          </a:p>
        </p:txBody>
      </p:sp>
    </p:spTree>
    <p:extLst>
      <p:ext uri="{BB962C8B-B14F-4D97-AF65-F5344CB8AC3E}">
        <p14:creationId xmlns:p14="http://schemas.microsoft.com/office/powerpoint/2010/main" val="409158197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a:ln/>
        </p:spPr>
      </p:sp>
      <p:sp>
        <p:nvSpPr>
          <p:cNvPr id="1843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D33ED069-6E4C-4473-ABAE-C145E4AB2A7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78</a:t>
            </a:fld>
            <a:endParaRPr lang="en-US" altLang="en-US" dirty="0"/>
          </a:p>
        </p:txBody>
      </p:sp>
    </p:spTree>
    <p:extLst>
      <p:ext uri="{BB962C8B-B14F-4D97-AF65-F5344CB8AC3E}">
        <p14:creationId xmlns:p14="http://schemas.microsoft.com/office/powerpoint/2010/main" val="207238290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p:cNvSpPr>
            <a:spLocks noGrp="1" noRot="1" noChangeAspect="1" noTextEdit="1"/>
          </p:cNvSpPr>
          <p:nvPr>
            <p:ph type="sldImg"/>
          </p:nvPr>
        </p:nvSpPr>
        <p:spPr>
          <a:ln/>
        </p:spPr>
      </p:sp>
      <p:sp>
        <p:nvSpPr>
          <p:cNvPr id="1853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709C69D2-95FC-486A-BF13-468843EF1D4B}"/>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79</a:t>
            </a:fld>
            <a:endParaRPr lang="en-US" altLang="en-US" dirty="0"/>
          </a:p>
        </p:txBody>
      </p:sp>
    </p:spTree>
    <p:extLst>
      <p:ext uri="{BB962C8B-B14F-4D97-AF65-F5344CB8AC3E}">
        <p14:creationId xmlns:p14="http://schemas.microsoft.com/office/powerpoint/2010/main" val="10173490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p:cNvSpPr>
            <a:spLocks noGrp="1" noRot="1" noChangeAspect="1" noTextEdit="1"/>
          </p:cNvSpPr>
          <p:nvPr>
            <p:ph type="sldImg"/>
          </p:nvPr>
        </p:nvSpPr>
        <p:spPr>
          <a:ln/>
        </p:spPr>
      </p:sp>
      <p:sp>
        <p:nvSpPr>
          <p:cNvPr id="1863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D5F1DAF7-4F45-4C1F-B005-7E900BB0370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80</a:t>
            </a:fld>
            <a:endParaRPr lang="en-US" altLang="en-US" dirty="0"/>
          </a:p>
        </p:txBody>
      </p:sp>
    </p:spTree>
    <p:extLst>
      <p:ext uri="{BB962C8B-B14F-4D97-AF65-F5344CB8AC3E}">
        <p14:creationId xmlns:p14="http://schemas.microsoft.com/office/powerpoint/2010/main" val="59514747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a:ln/>
        </p:spPr>
      </p:sp>
      <p:sp>
        <p:nvSpPr>
          <p:cNvPr id="1894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34D0F1FC-17C6-43E1-8E63-5B7D65086A30}"/>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82</a:t>
            </a:fld>
            <a:endParaRPr lang="en-US" altLang="en-US" dirty="0"/>
          </a:p>
        </p:txBody>
      </p:sp>
    </p:spTree>
    <p:extLst>
      <p:ext uri="{BB962C8B-B14F-4D97-AF65-F5344CB8AC3E}">
        <p14:creationId xmlns:p14="http://schemas.microsoft.com/office/powerpoint/2010/main" val="292755724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83</a:t>
            </a:fld>
            <a:endParaRPr lang="en-US" altLang="en-US" dirty="0"/>
          </a:p>
        </p:txBody>
      </p:sp>
    </p:spTree>
    <p:extLst>
      <p:ext uri="{BB962C8B-B14F-4D97-AF65-F5344CB8AC3E}">
        <p14:creationId xmlns:p14="http://schemas.microsoft.com/office/powerpoint/2010/main" val="158827172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84</a:t>
            </a:fld>
            <a:endParaRPr lang="en-US" altLang="en-US" dirty="0"/>
          </a:p>
        </p:txBody>
      </p:sp>
    </p:spTree>
    <p:extLst>
      <p:ext uri="{BB962C8B-B14F-4D97-AF65-F5344CB8AC3E}">
        <p14:creationId xmlns:p14="http://schemas.microsoft.com/office/powerpoint/2010/main" val="384400633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81B26062-845D-43D2-B3DB-831785285E9A}"/>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85</a:t>
            </a:fld>
            <a:endParaRPr lang="en-US" altLang="en-US" dirty="0"/>
          </a:p>
        </p:txBody>
      </p:sp>
    </p:spTree>
    <p:extLst>
      <p:ext uri="{BB962C8B-B14F-4D97-AF65-F5344CB8AC3E}">
        <p14:creationId xmlns:p14="http://schemas.microsoft.com/office/powerpoint/2010/main" val="57815659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86</a:t>
            </a:fld>
            <a:endParaRPr lang="en-US" altLang="en-US" dirty="0"/>
          </a:p>
        </p:txBody>
      </p:sp>
    </p:spTree>
    <p:extLst>
      <p:ext uri="{BB962C8B-B14F-4D97-AF65-F5344CB8AC3E}">
        <p14:creationId xmlns:p14="http://schemas.microsoft.com/office/powerpoint/2010/main" val="366241000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87</a:t>
            </a:fld>
            <a:endParaRPr lang="en-US" altLang="en-US" dirty="0"/>
          </a:p>
        </p:txBody>
      </p:sp>
    </p:spTree>
    <p:extLst>
      <p:ext uri="{BB962C8B-B14F-4D97-AF65-F5344CB8AC3E}">
        <p14:creationId xmlns:p14="http://schemas.microsoft.com/office/powerpoint/2010/main" val="15081740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p:cNvSpPr>
            <a:spLocks noGrp="1" noRot="1" noChangeAspect="1" noTextEdit="1"/>
          </p:cNvSpPr>
          <p:nvPr>
            <p:ph type="sldImg"/>
          </p:nvPr>
        </p:nvSpPr>
        <p:spPr>
          <a:ln/>
        </p:spPr>
      </p:sp>
      <p:sp>
        <p:nvSpPr>
          <p:cNvPr id="187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67CF2529-9330-47E2-B37F-5547732013E6}"/>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88</a:t>
            </a:fld>
            <a:endParaRPr lang="en-US" altLang="en-US" dirty="0"/>
          </a:p>
        </p:txBody>
      </p:sp>
    </p:spTree>
    <p:extLst>
      <p:ext uri="{BB962C8B-B14F-4D97-AF65-F5344CB8AC3E}">
        <p14:creationId xmlns:p14="http://schemas.microsoft.com/office/powerpoint/2010/main" val="153494603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Image Placeholder 1"/>
          <p:cNvSpPr>
            <a:spLocks noGrp="1" noRot="1" noChangeAspect="1" noTextEdit="1"/>
          </p:cNvSpPr>
          <p:nvPr>
            <p:ph type="sldImg"/>
          </p:nvPr>
        </p:nvSpPr>
        <p:spPr>
          <a:ln/>
        </p:spPr>
      </p:sp>
      <p:sp>
        <p:nvSpPr>
          <p:cNvPr id="1914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FEBB1B89-BFEB-4409-9D54-307537A0584B}"/>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89</a:t>
            </a:fld>
            <a:endParaRPr lang="en-US" altLang="en-US" dirty="0"/>
          </a:p>
        </p:txBody>
      </p:sp>
    </p:spTree>
    <p:extLst>
      <p:ext uri="{BB962C8B-B14F-4D97-AF65-F5344CB8AC3E}">
        <p14:creationId xmlns:p14="http://schemas.microsoft.com/office/powerpoint/2010/main" val="427790656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Slide Image Placeholder 1"/>
          <p:cNvSpPr>
            <a:spLocks noGrp="1" noRot="1" noChangeAspect="1" noTextEdit="1"/>
          </p:cNvSpPr>
          <p:nvPr>
            <p:ph type="sldImg"/>
          </p:nvPr>
        </p:nvSpPr>
        <p:spPr>
          <a:ln/>
        </p:spPr>
      </p:sp>
      <p:sp>
        <p:nvSpPr>
          <p:cNvPr id="1925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dirty="0"/>
          </a:p>
        </p:txBody>
      </p:sp>
      <p:sp>
        <p:nvSpPr>
          <p:cNvPr id="4" name="Slide Number Placeholder 3">
            <a:extLst>
              <a:ext uri="{FF2B5EF4-FFF2-40B4-BE49-F238E27FC236}">
                <a16:creationId xmlns:a16="http://schemas.microsoft.com/office/drawing/2014/main" id="{585B2000-F753-4DD2-8F53-E761457749EC}"/>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90</a:t>
            </a:fld>
            <a:endParaRPr lang="en-US" altLang="en-US" dirty="0"/>
          </a:p>
        </p:txBody>
      </p:sp>
    </p:spTree>
    <p:extLst>
      <p:ext uri="{BB962C8B-B14F-4D97-AF65-F5344CB8AC3E}">
        <p14:creationId xmlns:p14="http://schemas.microsoft.com/office/powerpoint/2010/main" val="390086261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D446E7F-3CE5-48E8-8E60-D3D1EFA2B338}"/>
              </a:ext>
            </a:extLst>
          </p:cNvPr>
          <p:cNvSpPr>
            <a:spLocks noGrp="1"/>
          </p:cNvSpPr>
          <p:nvPr>
            <p:ph type="sldNum" sz="quarter" idx="10"/>
          </p:nvPr>
        </p:nvSpPr>
        <p:spPr/>
        <p:txBody>
          <a:bodyPr/>
          <a:lstStyle/>
          <a:p>
            <a:r>
              <a:rPr lang="en-US" altLang="en-US" dirty="0"/>
              <a:t>Slide </a:t>
            </a:r>
            <a:fld id="{D7F3AFFE-B8AD-4D09-9186-44CA76B356ED}" type="slidenum">
              <a:rPr lang="en-US" altLang="en-US" smtClean="0"/>
              <a:pPr/>
              <a:t>91</a:t>
            </a:fld>
            <a:endParaRPr lang="en-US" altLang="en-US" dirty="0"/>
          </a:p>
        </p:txBody>
      </p:sp>
    </p:spTree>
    <p:extLst>
      <p:ext uri="{BB962C8B-B14F-4D97-AF65-F5344CB8AC3E}">
        <p14:creationId xmlns:p14="http://schemas.microsoft.com/office/powerpoint/2010/main" val="31131984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tabLst>
                <a:tab pos="1885950" algn="l"/>
              </a:tabLst>
              <a:defRPr sz="4000" b="1">
                <a:solidFill>
                  <a:srgbClr val="001848"/>
                </a:solidFill>
                <a:latin typeface="+mj-lt"/>
              </a:defRPr>
            </a:lvl1pPr>
          </a:lstStyle>
          <a:p>
            <a:r>
              <a:rPr lang="en-US" dirty="0"/>
              <a:t>Click to edit Master title style</a:t>
            </a:r>
          </a:p>
        </p:txBody>
      </p:sp>
      <p:sp>
        <p:nvSpPr>
          <p:cNvPr id="3" name="Content Placeholder 2"/>
          <p:cNvSpPr>
            <a:spLocks noGrp="1"/>
          </p:cNvSpPr>
          <p:nvPr>
            <p:ph idx="1"/>
          </p:nvPr>
        </p:nvSpPr>
        <p:spPr>
          <a:xfrm>
            <a:off x="8439" y="1005376"/>
            <a:ext cx="8458200" cy="4944374"/>
          </a:xfrm>
        </p:spPr>
        <p:txBody>
          <a:bodyPr/>
          <a:lstStyle>
            <a:lvl1pPr>
              <a:spcBef>
                <a:spcPts val="1800"/>
              </a:spcBef>
              <a:defRPr>
                <a:latin typeface="+mn-lt"/>
              </a:defRPr>
            </a:lvl1pPr>
            <a:lvl2pPr>
              <a:spcBef>
                <a:spcPts val="1800"/>
              </a:spcBef>
              <a:defRPr>
                <a:latin typeface="+mn-lt"/>
              </a:defRPr>
            </a:lvl2pPr>
            <a:lvl3pPr>
              <a:spcBef>
                <a:spcPts val="1800"/>
              </a:spcBef>
              <a:defRPr>
                <a:latin typeface="+mn-lt"/>
              </a:defRPr>
            </a:lvl3pPr>
            <a:lvl4pPr>
              <a:spcBef>
                <a:spcPts val="1800"/>
              </a:spcBef>
              <a:defRPr>
                <a:latin typeface="+mn-lt"/>
              </a:defRPr>
            </a:lvl4pPr>
            <a:lvl5pPr>
              <a:spcBef>
                <a:spcPts val="1800"/>
              </a:spcBef>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p:cNvSpPr>
            <a:spLocks noGrp="1"/>
          </p:cNvSpPr>
          <p:nvPr>
            <p:ph sz="quarter" idx="10"/>
          </p:nvPr>
        </p:nvSpPr>
        <p:spPr>
          <a:xfrm>
            <a:off x="806953" y="1295400"/>
            <a:ext cx="8190089" cy="314642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Content Placeholder 8"/>
          <p:cNvSpPr>
            <a:spLocks noGrp="1"/>
          </p:cNvSpPr>
          <p:nvPr>
            <p:ph sz="quarter" idx="11"/>
          </p:nvPr>
        </p:nvSpPr>
        <p:spPr>
          <a:xfrm>
            <a:off x="914400" y="4625144"/>
            <a:ext cx="8229600" cy="1882775"/>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Slide Number Placeholder 3">
            <a:extLst>
              <a:ext uri="{FF2B5EF4-FFF2-40B4-BE49-F238E27FC236}">
                <a16:creationId xmlns:a16="http://schemas.microsoft.com/office/drawing/2014/main" id="{2A35CB20-86C7-477E-80A4-3980739841FC}"/>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894068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sz="4000" b="1">
                <a:solidFill>
                  <a:srgbClr val="001848"/>
                </a:solidFill>
                <a:latin typeface="+mj-lt"/>
              </a:defRPr>
            </a:lvl1pPr>
          </a:lstStyle>
          <a:p>
            <a:r>
              <a:rPr lang="en-US" dirty="0"/>
              <a:t>Click to edit Master title style</a:t>
            </a:r>
          </a:p>
        </p:txBody>
      </p:sp>
      <p:sp>
        <p:nvSpPr>
          <p:cNvPr id="13" name="Content Placeholder 12"/>
          <p:cNvSpPr>
            <a:spLocks noGrp="1"/>
          </p:cNvSpPr>
          <p:nvPr>
            <p:ph sz="quarter" idx="12"/>
          </p:nvPr>
        </p:nvSpPr>
        <p:spPr>
          <a:xfrm>
            <a:off x="4085431" y="1519237"/>
            <a:ext cx="1204913" cy="49371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quarter" idx="15"/>
          </p:nvPr>
        </p:nvSpPr>
        <p:spPr>
          <a:xfrm>
            <a:off x="633413" y="1085850"/>
            <a:ext cx="2849562" cy="433387"/>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Content Placeholder 4"/>
          <p:cNvSpPr>
            <a:spLocks noGrp="1"/>
          </p:cNvSpPr>
          <p:nvPr>
            <p:ph sz="quarter" idx="16"/>
          </p:nvPr>
        </p:nvSpPr>
        <p:spPr>
          <a:xfrm>
            <a:off x="5603875" y="2368948"/>
            <a:ext cx="1257300" cy="8509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Content Placeholder 17"/>
          <p:cNvSpPr>
            <a:spLocks noGrp="1"/>
          </p:cNvSpPr>
          <p:nvPr>
            <p:ph sz="quarter" idx="19"/>
          </p:nvPr>
        </p:nvSpPr>
        <p:spPr>
          <a:xfrm>
            <a:off x="7185188" y="2388400"/>
            <a:ext cx="1512887" cy="12906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7"/>
          <p:cNvSpPr>
            <a:spLocks noGrp="1"/>
          </p:cNvSpPr>
          <p:nvPr>
            <p:ph sz="quarter" idx="21"/>
          </p:nvPr>
        </p:nvSpPr>
        <p:spPr>
          <a:xfrm>
            <a:off x="434976" y="4681538"/>
            <a:ext cx="4252912" cy="1090612"/>
          </a:xfrm>
        </p:spPr>
        <p:txBody>
          <a:bodyPr/>
          <a:lstStyle>
            <a:lvl1pPr>
              <a:defRPr>
                <a:latin typeface="+mn-lt"/>
              </a:defRPr>
            </a:lvl1pPr>
          </a:lstStyle>
          <a:p>
            <a:pPr lvl="0"/>
            <a:r>
              <a:rPr lang="en-US" dirty="0"/>
              <a:t>Click to edit Master text styles</a:t>
            </a:r>
          </a:p>
        </p:txBody>
      </p:sp>
      <p:sp>
        <p:nvSpPr>
          <p:cNvPr id="9" name="Slide Number Placeholder 3">
            <a:extLst>
              <a:ext uri="{FF2B5EF4-FFF2-40B4-BE49-F238E27FC236}">
                <a16:creationId xmlns:a16="http://schemas.microsoft.com/office/drawing/2014/main" id="{847A5315-F5C6-4ED8-A5D4-28FBCB2571AD}"/>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407227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sz="4000" b="1">
                <a:solidFill>
                  <a:srgbClr val="001848"/>
                </a:solidFill>
                <a:latin typeface="+mj-lt"/>
              </a:defRPr>
            </a:lvl1pPr>
          </a:lstStyle>
          <a:p>
            <a:r>
              <a:rPr lang="en-US" dirty="0"/>
              <a:t>Click to edit Master title style</a:t>
            </a:r>
          </a:p>
        </p:txBody>
      </p:sp>
      <p:sp>
        <p:nvSpPr>
          <p:cNvPr id="9" name="Content Placeholder 8"/>
          <p:cNvSpPr>
            <a:spLocks noGrp="1"/>
          </p:cNvSpPr>
          <p:nvPr>
            <p:ph sz="quarter" idx="10"/>
          </p:nvPr>
        </p:nvSpPr>
        <p:spPr>
          <a:xfrm>
            <a:off x="769938" y="5254625"/>
            <a:ext cx="6821033" cy="754289"/>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Content Placeholder 12"/>
          <p:cNvSpPr>
            <a:spLocks noGrp="1"/>
          </p:cNvSpPr>
          <p:nvPr>
            <p:ph sz="quarter" idx="12"/>
          </p:nvPr>
        </p:nvSpPr>
        <p:spPr>
          <a:xfrm>
            <a:off x="3482975" y="2176463"/>
            <a:ext cx="1204913" cy="493712"/>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Content Placeholder 16"/>
          <p:cNvSpPr>
            <a:spLocks noGrp="1"/>
          </p:cNvSpPr>
          <p:nvPr>
            <p:ph sz="quarter" idx="14"/>
          </p:nvPr>
        </p:nvSpPr>
        <p:spPr>
          <a:xfrm>
            <a:off x="7402513" y="2670175"/>
            <a:ext cx="974725" cy="696913"/>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Content Placeholder 4"/>
          <p:cNvSpPr>
            <a:spLocks noGrp="1"/>
          </p:cNvSpPr>
          <p:nvPr>
            <p:ph sz="quarter" idx="16"/>
          </p:nvPr>
        </p:nvSpPr>
        <p:spPr>
          <a:xfrm>
            <a:off x="5283200" y="3746500"/>
            <a:ext cx="1257300" cy="8509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Content Placeholder 17"/>
          <p:cNvSpPr>
            <a:spLocks noGrp="1"/>
          </p:cNvSpPr>
          <p:nvPr>
            <p:ph sz="quarter" idx="19"/>
          </p:nvPr>
        </p:nvSpPr>
        <p:spPr>
          <a:xfrm>
            <a:off x="7402513" y="3746500"/>
            <a:ext cx="1512887" cy="129063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Slide Number Placeholder 3">
            <a:extLst>
              <a:ext uri="{FF2B5EF4-FFF2-40B4-BE49-F238E27FC236}">
                <a16:creationId xmlns:a16="http://schemas.microsoft.com/office/drawing/2014/main" id="{D49618B9-3DA5-4E00-A418-9309E12F7E35}"/>
              </a:ext>
            </a:extLst>
          </p:cNvPr>
          <p:cNvSpPr>
            <a:spLocks noGrp="1"/>
          </p:cNvSpPr>
          <p:nvPr>
            <p:ph type="sldNum" sz="quarter" idx="4"/>
          </p:nvPr>
        </p:nvSpPr>
        <p:spPr>
          <a:xfrm>
            <a:off x="8466639" y="6513689"/>
            <a:ext cx="462872" cy="308555"/>
          </a:xfrm>
        </p:spPr>
        <p:txBody>
          <a:body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01828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dirty="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dirty="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dirty="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8.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20.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dirty="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dirty="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 id="2147483698" r:id="rId11"/>
    <p:sldLayoutId id="2147483699" r:id="rId12"/>
    <p:sldLayoutId id="2147483700" r:id="rId13"/>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dirty="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dirty="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dirty="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dirty="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dirty="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slide" Target="slide9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slide" Target="slide9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slide" Target="slide9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slide" Target="slide9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slide" Target="slide9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slide" Target="slide9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slide" Target="slide100.xml"/></Relationships>
</file>

<file path=ppt/slides/_rels/slide2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slide" Target="slide101.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slide" Target="slide10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slide" Target="slide10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slide" Target="slide10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2.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slide" Target="slide105.xml"/></Relationships>
</file>

<file path=ppt/slides/_rels/slide5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slide" Target="slide106.xml"/></Relationships>
</file>

<file path=ppt/slides/_rels/slide5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slide" Target="slide10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57.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slide" Target="slide108.xml"/></Relationships>
</file>

<file path=ppt/slides/_rels/slide6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3.xml"/><Relationship Id="rId1" Type="http://schemas.openxmlformats.org/officeDocument/2006/relationships/slideLayout" Target="../slideLayouts/slideLayout3.xml"/><Relationship Id="rId4" Type="http://schemas.openxmlformats.org/officeDocument/2006/relationships/slide" Target="slide109.xml"/></Relationships>
</file>

<file path=ppt/slides/_rels/slide6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64.xml"/><Relationship Id="rId1" Type="http://schemas.openxmlformats.org/officeDocument/2006/relationships/slideLayout" Target="../slideLayouts/slideLayout3.xml"/><Relationship Id="rId4" Type="http://schemas.openxmlformats.org/officeDocument/2006/relationships/slide" Target="slide110.xml"/></Relationships>
</file>

<file path=ppt/slides/_rels/slide6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65.xml"/><Relationship Id="rId1" Type="http://schemas.openxmlformats.org/officeDocument/2006/relationships/slideLayout" Target="../slideLayouts/slideLayout3.xml"/><Relationship Id="rId4" Type="http://schemas.openxmlformats.org/officeDocument/2006/relationships/slide" Target="slide111.xml"/></Relationships>
</file>

<file path=ppt/slides/_rels/slide6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66.xml"/><Relationship Id="rId1" Type="http://schemas.openxmlformats.org/officeDocument/2006/relationships/slideLayout" Target="../slideLayouts/slideLayout3.xml"/><Relationship Id="rId4" Type="http://schemas.openxmlformats.org/officeDocument/2006/relationships/slide" Target="slide1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71.xml"/><Relationship Id="rId1" Type="http://schemas.openxmlformats.org/officeDocument/2006/relationships/slideLayout" Target="../slideLayouts/slideLayout1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73.xml"/><Relationship Id="rId1" Type="http://schemas.openxmlformats.org/officeDocument/2006/relationships/slideLayout" Target="../slideLayouts/slideLayout14.xml"/></Relationships>
</file>

<file path=ppt/slides/_rels/slide7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74.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77.xml"/><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6.xml"/><Relationship Id="rId1" Type="http://schemas.openxmlformats.org/officeDocument/2006/relationships/slideLayout" Target="../slideLayouts/slideLayout6.xml"/><Relationship Id="rId4" Type="http://schemas.openxmlformats.org/officeDocument/2006/relationships/slide" Target="slide114.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4.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20.xml"/></Relationships>
</file>

<file path=ppt/slides/_rels/slide95.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0.xml"/></Relationships>
</file>

<file path=ppt/slides/_rels/slide96.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20.xml"/></Relationships>
</file>

<file path=ppt/slides/_rels/slide97.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0.xml"/></Relationships>
</file>

<file path=ppt/slides/_rels/slide98.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20.xml"/></Relationships>
</file>

<file path=ppt/slides/_rels/slide99.xml.rels><?xml version="1.0" encoding="UTF-8" standalone="yes"?>
<Relationships xmlns="http://schemas.openxmlformats.org/package/2006/relationships"><Relationship Id="rId2" Type="http://schemas.openxmlformats.org/officeDocument/2006/relationships/slide" Target="slide18.xml"/><Relationship Id="rId1" Type="http://schemas.openxmlformats.org/officeDocument/2006/relationships/slideLayout" Target="../slideLayouts/slideLayout20.xml"/></Relationships>
</file>

<file path=ppt/slides/_rels/slide100.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20.xml"/></Relationships>
</file>

<file path=ppt/slides/_rels/slide101.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20.xml"/></Relationships>
</file>

<file path=ppt/slides/_rels/slide102.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20.xml"/></Relationships>
</file>

<file path=ppt/slides/_rels/slide103.xml.rels><?xml version="1.0" encoding="UTF-8" standalone="yes"?>
<Relationships xmlns="http://schemas.openxmlformats.org/package/2006/relationships"><Relationship Id="rId2" Type="http://schemas.openxmlformats.org/officeDocument/2006/relationships/slide" Target="slide35.xml"/><Relationship Id="rId1" Type="http://schemas.openxmlformats.org/officeDocument/2006/relationships/slideLayout" Target="../slideLayouts/slideLayout20.xml"/></Relationships>
</file>

<file path=ppt/slides/_rels/slide104.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20.xml"/></Relationships>
</file>

<file path=ppt/slides/_rels/slide105.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20.xml"/></Relationships>
</file>

<file path=ppt/slides/_rels/slide106.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20.xml"/></Relationships>
</file>

<file path=ppt/slides/_rels/slide107.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20.xml"/></Relationships>
</file>

<file path=ppt/slides/_rels/slide108.xml.rels><?xml version="1.0" encoding="UTF-8" standalone="yes"?>
<Relationships xmlns="http://schemas.openxmlformats.org/package/2006/relationships"><Relationship Id="rId2" Type="http://schemas.openxmlformats.org/officeDocument/2006/relationships/slide" Target="slide62.xml"/><Relationship Id="rId1" Type="http://schemas.openxmlformats.org/officeDocument/2006/relationships/slideLayout" Target="../slideLayouts/slideLayout20.xml"/></Relationships>
</file>

<file path=ppt/slides/_rels/slide109.xml.rels><?xml version="1.0" encoding="UTF-8" standalone="yes"?>
<Relationships xmlns="http://schemas.openxmlformats.org/package/2006/relationships"><Relationship Id="rId2" Type="http://schemas.openxmlformats.org/officeDocument/2006/relationships/slide" Target="slide65.xml"/><Relationship Id="rId1" Type="http://schemas.openxmlformats.org/officeDocument/2006/relationships/slideLayout" Target="../slideLayouts/slideLayout20.xml"/></Relationships>
</file>

<file path=ppt/slides/_rels/slide110.xml.rels><?xml version="1.0" encoding="UTF-8" standalone="yes"?>
<Relationships xmlns="http://schemas.openxmlformats.org/package/2006/relationships"><Relationship Id="rId2" Type="http://schemas.openxmlformats.org/officeDocument/2006/relationships/slide" Target="slide66.xml"/><Relationship Id="rId1" Type="http://schemas.openxmlformats.org/officeDocument/2006/relationships/slideLayout" Target="../slideLayouts/slideLayout20.xml"/></Relationships>
</file>

<file path=ppt/slides/_rels/slide111.xml.rels><?xml version="1.0" encoding="UTF-8" standalone="yes"?>
<Relationships xmlns="http://schemas.openxmlformats.org/package/2006/relationships"><Relationship Id="rId2" Type="http://schemas.openxmlformats.org/officeDocument/2006/relationships/slide" Target="slide67.xml"/><Relationship Id="rId1" Type="http://schemas.openxmlformats.org/officeDocument/2006/relationships/slideLayout" Target="../slideLayouts/slideLayout20.xml"/></Relationships>
</file>

<file path=ppt/slides/_rels/slide112.xml.rels><?xml version="1.0" encoding="UTF-8" standalone="yes"?>
<Relationships xmlns="http://schemas.openxmlformats.org/package/2006/relationships"><Relationship Id="rId2" Type="http://schemas.openxmlformats.org/officeDocument/2006/relationships/slide" Target="slide68.xml"/><Relationship Id="rId1" Type="http://schemas.openxmlformats.org/officeDocument/2006/relationships/slideLayout" Target="../slideLayouts/slideLayout20.xml"/></Relationships>
</file>

<file path=ppt/slides/_rels/slide113.xml.rels><?xml version="1.0" encoding="UTF-8" standalone="yes"?>
<Relationships xmlns="http://schemas.openxmlformats.org/package/2006/relationships"><Relationship Id="rId2" Type="http://schemas.openxmlformats.org/officeDocument/2006/relationships/slide" Target="slide82.xml"/><Relationship Id="rId1" Type="http://schemas.openxmlformats.org/officeDocument/2006/relationships/slideLayout" Target="../slideLayouts/slideLayout20.xml"/></Relationships>
</file>

<file path=ppt/slides/_rels/slide114.xml.rels><?xml version="1.0" encoding="UTF-8" standalone="yes"?>
<Relationships xmlns="http://schemas.openxmlformats.org/package/2006/relationships"><Relationship Id="rId2" Type="http://schemas.openxmlformats.org/officeDocument/2006/relationships/slide" Target="slide8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6"/>
            <a:ext cx="4572000" cy="1129393"/>
          </a:xfrm>
        </p:spPr>
        <p:txBody>
          <a:bodyPr/>
          <a:lstStyle/>
          <a:p>
            <a:r>
              <a:rPr lang="en-US" altLang="en-US" dirty="0"/>
              <a:t>Biology</a:t>
            </a:r>
            <a:endParaRPr lang="en-IN" dirty="0"/>
          </a:p>
        </p:txBody>
      </p:sp>
      <p:sp>
        <p:nvSpPr>
          <p:cNvPr id="5" name="Subtitle 2">
            <a:extLst>
              <a:ext uri="{FF2B5EF4-FFF2-40B4-BE49-F238E27FC236}">
                <a16:creationId xmlns:a16="http://schemas.microsoft.com/office/drawing/2014/main" id="{0870AA8A-D98D-4EB3-81F3-3373CF2A34CB}"/>
              </a:ext>
            </a:extLst>
          </p:cNvPr>
          <p:cNvSpPr>
            <a:spLocks noGrp="1"/>
          </p:cNvSpPr>
          <p:nvPr>
            <p:ph type="subTitle" idx="1"/>
          </p:nvPr>
        </p:nvSpPr>
        <p:spPr>
          <a:xfrm>
            <a:off x="4454771" y="2273103"/>
            <a:ext cx="4689229" cy="1011381"/>
          </a:xfrm>
        </p:spPr>
        <p:txBody>
          <a:bodyPr/>
          <a:lstStyle/>
          <a:p>
            <a:r>
              <a:rPr lang="en-US" altLang="en-US" sz="1800" dirty="0">
                <a:solidFill>
                  <a:schemeClr val="tx1"/>
                </a:solidFill>
                <a:effectLst/>
                <a:latin typeface="+mj-lt"/>
              </a:rPr>
              <a:t>Sylvia S. </a:t>
            </a:r>
            <a:r>
              <a:rPr lang="en-US" altLang="en-US" sz="1800" dirty="0" err="1">
                <a:solidFill>
                  <a:schemeClr val="tx1"/>
                </a:solidFill>
                <a:effectLst/>
                <a:latin typeface="+mj-lt"/>
              </a:rPr>
              <a:t>Mader</a:t>
            </a:r>
            <a:br>
              <a:rPr lang="en-US" altLang="en-US" sz="1800" dirty="0">
                <a:solidFill>
                  <a:schemeClr val="tx1"/>
                </a:solidFill>
                <a:effectLst/>
                <a:latin typeface="+mj-lt"/>
              </a:rPr>
            </a:br>
            <a:r>
              <a:rPr lang="en-US" altLang="en-US" sz="1800" dirty="0">
                <a:solidFill>
                  <a:schemeClr val="tx1"/>
                </a:solidFill>
                <a:effectLst/>
                <a:latin typeface="+mj-lt"/>
              </a:rPr>
              <a:t>Michael </a:t>
            </a:r>
            <a:r>
              <a:rPr lang="en-US" altLang="en-US" sz="1800" dirty="0" err="1">
                <a:solidFill>
                  <a:schemeClr val="tx1"/>
                </a:solidFill>
                <a:effectLst/>
                <a:latin typeface="+mj-lt"/>
              </a:rPr>
              <a:t>Windelspecht</a:t>
            </a:r>
            <a:endParaRPr lang="en-IN" sz="1800" dirty="0">
              <a:solidFill>
                <a:schemeClr val="tx1"/>
              </a:solidFill>
              <a:effectLst/>
              <a:latin typeface="+mj-lt"/>
            </a:endParaRPr>
          </a:p>
        </p:txBody>
      </p:sp>
      <p:sp>
        <p:nvSpPr>
          <p:cNvPr id="6" name="Conten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572000" y="3721985"/>
            <a:ext cx="4572000" cy="622300"/>
          </a:xfrm>
        </p:spPr>
        <p:txBody>
          <a:bodyPr/>
          <a:lstStyle/>
          <a:p>
            <a:pPr lvl="0">
              <a:spcBef>
                <a:spcPts val="0"/>
              </a:spcBef>
            </a:pPr>
            <a:r>
              <a:rPr lang="en-US" altLang="en-US" sz="2800" b="0" dirty="0"/>
              <a:t>Chapter 23 </a:t>
            </a:r>
          </a:p>
          <a:p>
            <a:pPr lvl="0">
              <a:spcBef>
                <a:spcPts val="0"/>
              </a:spcBef>
            </a:pPr>
            <a:r>
              <a:rPr lang="en-US" altLang="en-US" sz="2800" b="0" dirty="0"/>
              <a:t>Plant Evolution and Diversity</a:t>
            </a:r>
          </a:p>
          <a:p>
            <a:pPr lvl="0">
              <a:spcBef>
                <a:spcPts val="0"/>
              </a:spcBef>
            </a:pPr>
            <a:r>
              <a:rPr lang="en-US" altLang="en-US" sz="2800" b="0" dirty="0"/>
              <a:t>Lecture Outline</a:t>
            </a:r>
          </a:p>
        </p:txBody>
      </p:sp>
      <p:sp>
        <p:nvSpPr>
          <p:cNvPr id="7" name="Content Placeholder 4">
            <a:extLst>
              <a:ext uri="{FF2B5EF4-FFF2-40B4-BE49-F238E27FC236}">
                <a16:creationId xmlns:a16="http://schemas.microsoft.com/office/drawing/2014/main" id="{50B07C52-C32A-404C-823B-3E0C2B4D72F2}"/>
              </a:ext>
            </a:extLst>
          </p:cNvPr>
          <p:cNvSpPr>
            <a:spLocks noGrp="1"/>
          </p:cNvSpPr>
          <p:nvPr>
            <p:ph sz="quarter" idx="12"/>
          </p:nvPr>
        </p:nvSpPr>
        <p:spPr>
          <a:xfrm>
            <a:off x="4876800" y="5187517"/>
            <a:ext cx="3962400" cy="961001"/>
          </a:xfrm>
        </p:spPr>
        <p:txBody>
          <a:bodyPr/>
          <a:lstStyle/>
          <a:p>
            <a:r>
              <a:rPr lang="en-US" altLang="en-US" sz="1400" b="1" dirty="0">
                <a:latin typeface="+mn-lt"/>
              </a:rPr>
              <a:t>See separate </a:t>
            </a:r>
            <a:r>
              <a:rPr lang="en-US" altLang="en-US" sz="1400" b="1" dirty="0" err="1">
                <a:latin typeface="+mn-lt"/>
              </a:rPr>
              <a:t>FlexArt</a:t>
            </a:r>
            <a:r>
              <a:rPr lang="en-US" altLang="en-US" sz="1400" b="1" dirty="0">
                <a:latin typeface="+mn-lt"/>
              </a:rPr>
              <a:t> PowerPoint slides for all figures and tables pre-inserted into PowerPoint without notes.</a:t>
            </a:r>
            <a:endParaRPr lang="en-IN" sz="1400" b="1" dirty="0">
              <a:latin typeface="+mn-lt"/>
            </a:endParaRPr>
          </a:p>
        </p:txBody>
      </p:sp>
      <p:sp>
        <p:nvSpPr>
          <p:cNvPr id="8" name="Content Placeholder 8">
            <a:extLst>
              <a:ext uri="{FF2B5EF4-FFF2-40B4-BE49-F238E27FC236}">
                <a16:creationId xmlns:a16="http://schemas.microsoft.com/office/drawing/2014/main" id="{3CFCD7C5-EA7C-4E20-A620-38C65C5C845F}"/>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3167117" y="248903"/>
            <a:ext cx="2809766" cy="645195"/>
          </a:xfrm>
        </p:spPr>
        <p:txBody>
          <a:bodyPr/>
          <a:lstStyle/>
          <a:p>
            <a:pPr algn="ctr"/>
            <a:r>
              <a:rPr lang="en-US" altLang="en-US" dirty="0">
                <a:solidFill>
                  <a:schemeClr val="accent3">
                    <a:lumMod val="50000"/>
                  </a:schemeClr>
                </a:solidFill>
                <a:latin typeface="+mj-lt"/>
              </a:rPr>
              <a:t>Outline</a:t>
            </a:r>
          </a:p>
        </p:txBody>
      </p:sp>
      <p:sp>
        <p:nvSpPr>
          <p:cNvPr id="6147" name="Content Placeholder 2"/>
          <p:cNvSpPr>
            <a:spLocks noGrp="1" noChangeArrowheads="1"/>
          </p:cNvSpPr>
          <p:nvPr>
            <p:ph idx="1"/>
          </p:nvPr>
        </p:nvSpPr>
        <p:spPr>
          <a:xfrm>
            <a:off x="794826" y="1295400"/>
            <a:ext cx="8059003" cy="5214582"/>
          </a:xfrm>
        </p:spPr>
        <p:txBody>
          <a:bodyPr/>
          <a:lstStyle/>
          <a:p>
            <a:pPr marL="0" indent="0">
              <a:spcBef>
                <a:spcPts val="0"/>
              </a:spcBef>
              <a:spcAft>
                <a:spcPts val="1500"/>
              </a:spcAft>
              <a:buNone/>
            </a:pPr>
            <a:r>
              <a:rPr lang="en-US" altLang="en-US" sz="2800" dirty="0">
                <a:latin typeface="+mn-lt"/>
              </a:rPr>
              <a:t>23.1 Ancestry and Features of Land Plants</a:t>
            </a:r>
          </a:p>
          <a:p>
            <a:pPr marL="0" indent="0">
              <a:spcBef>
                <a:spcPts val="0"/>
              </a:spcBef>
              <a:spcAft>
                <a:spcPts val="1500"/>
              </a:spcAft>
              <a:buNone/>
            </a:pPr>
            <a:r>
              <a:rPr lang="en-US" altLang="en-US" sz="2800" dirty="0">
                <a:latin typeface="+mn-lt"/>
              </a:rPr>
              <a:t>23.2 Evolution of Bryophytes: Colonization of Land</a:t>
            </a:r>
          </a:p>
          <a:p>
            <a:pPr marL="0" indent="0">
              <a:spcBef>
                <a:spcPts val="0"/>
              </a:spcBef>
              <a:spcAft>
                <a:spcPts val="1500"/>
              </a:spcAft>
              <a:buNone/>
            </a:pPr>
            <a:r>
              <a:rPr lang="en-US" altLang="en-US" sz="2800" dirty="0">
                <a:latin typeface="+mn-lt"/>
              </a:rPr>
              <a:t>23.3 Evolution of Lycophytes: Vascular Tissue</a:t>
            </a:r>
          </a:p>
          <a:p>
            <a:pPr marL="0" indent="0">
              <a:spcBef>
                <a:spcPts val="0"/>
              </a:spcBef>
              <a:spcAft>
                <a:spcPts val="1500"/>
              </a:spcAft>
              <a:buNone/>
            </a:pPr>
            <a:r>
              <a:rPr lang="en-US" altLang="en-US" sz="2800" dirty="0">
                <a:latin typeface="+mn-lt"/>
              </a:rPr>
              <a:t>23.4 Evolution of Pteridophytes: Megaphylls</a:t>
            </a:r>
          </a:p>
          <a:p>
            <a:pPr marL="0" indent="0">
              <a:spcBef>
                <a:spcPts val="0"/>
              </a:spcBef>
              <a:spcAft>
                <a:spcPts val="1500"/>
              </a:spcAft>
              <a:buNone/>
            </a:pPr>
            <a:r>
              <a:rPr lang="en-US" altLang="en-US" sz="2800" dirty="0">
                <a:latin typeface="+mn-lt"/>
              </a:rPr>
              <a:t>23.5 Evolution of Seed Plants: Full Adaptation to Land</a:t>
            </a:r>
          </a:p>
        </p:txBody>
      </p:sp>
      <p:sp>
        <p:nvSpPr>
          <p:cNvPr id="4" name="Slide Number Placeholder 3">
            <a:extLst>
              <a:ext uri="{FF2B5EF4-FFF2-40B4-BE49-F238E27FC236}">
                <a16:creationId xmlns:a16="http://schemas.microsoft.com/office/drawing/2014/main" id="{BCA1A6AE-9DAF-4680-91DF-8EBE946C7BE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a:t>
            </a:fld>
            <a:endParaRPr lang="en-IN"/>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noChangeArrowheads="1"/>
          </p:cNvSpPr>
          <p:nvPr>
            <p:ph type="title"/>
          </p:nvPr>
        </p:nvSpPr>
        <p:spPr>
          <a:xfrm>
            <a:off x="300386" y="0"/>
            <a:ext cx="8543227" cy="1089764"/>
          </a:xfrm>
        </p:spPr>
        <p:txBody>
          <a:bodyPr>
            <a:noAutofit/>
          </a:bodyPr>
          <a:lstStyle/>
          <a:p>
            <a:pPr algn="ctr"/>
            <a:r>
              <a:rPr lang="en-US" altLang="en-US" dirty="0">
                <a:solidFill>
                  <a:schemeClr val="accent3">
                    <a:lumMod val="50000"/>
                  </a:schemeClr>
                </a:solidFill>
                <a:latin typeface="+mn-lt"/>
              </a:rPr>
              <a:t>23.1 Ancestry and Features of Land Plants</a:t>
            </a:r>
          </a:p>
        </p:txBody>
      </p:sp>
      <p:sp>
        <p:nvSpPr>
          <p:cNvPr id="7171" name="Content Placeholder 2"/>
          <p:cNvSpPr>
            <a:spLocks noGrp="1" noChangeArrowheads="1"/>
          </p:cNvSpPr>
          <p:nvPr>
            <p:ph idx="1"/>
          </p:nvPr>
        </p:nvSpPr>
        <p:spPr>
          <a:xfrm>
            <a:off x="267285" y="1295400"/>
            <a:ext cx="8543227" cy="5307106"/>
          </a:xfrm>
        </p:spPr>
        <p:txBody>
          <a:bodyPr>
            <a:normAutofit/>
          </a:bodyPr>
          <a:lstStyle/>
          <a:p>
            <a:pPr>
              <a:spcBef>
                <a:spcPts val="0"/>
              </a:spcBef>
              <a:spcAft>
                <a:spcPts val="1500"/>
              </a:spcAft>
            </a:pPr>
            <a:r>
              <a:rPr lang="en-US" altLang="en-US" sz="2400" dirty="0">
                <a:latin typeface="+mn-lt"/>
              </a:rPr>
              <a:t>Plants are multicellular, photosynthetic eukaryotes</a:t>
            </a:r>
          </a:p>
          <a:p>
            <a:pPr>
              <a:spcBef>
                <a:spcPts val="0"/>
              </a:spcBef>
              <a:spcAft>
                <a:spcPts val="1500"/>
              </a:spcAft>
            </a:pPr>
            <a:r>
              <a:rPr lang="en-US" altLang="en-US" sz="2400" dirty="0">
                <a:latin typeface="+mn-lt"/>
              </a:rPr>
              <a:t>Plant systematists use molecular and morphological information to classify plants</a:t>
            </a:r>
          </a:p>
          <a:p>
            <a:pPr marL="0" lvl="1" indent="0">
              <a:spcBef>
                <a:spcPts val="0"/>
              </a:spcBef>
              <a:spcAft>
                <a:spcPts val="0"/>
              </a:spcAft>
              <a:buNone/>
            </a:pPr>
            <a:r>
              <a:rPr lang="en-US" altLang="en-US" sz="2400" dirty="0">
                <a:latin typeface="+mn-lt"/>
              </a:rPr>
              <a:t>Plants are thought to have evolved from a freshwater green algae about 590 MYA</a:t>
            </a:r>
            <a:endParaRPr lang="en-US" altLang="en-US" sz="2000" dirty="0">
              <a:latin typeface="+mn-lt"/>
            </a:endParaRPr>
          </a:p>
          <a:p>
            <a:pPr marL="0" lvl="1" indent="0">
              <a:spcBef>
                <a:spcPts val="0"/>
              </a:spcBef>
              <a:buNone/>
            </a:pPr>
            <a:r>
              <a:rPr lang="en-US" altLang="en-US" sz="2400" dirty="0">
                <a:latin typeface="+mn-lt"/>
              </a:rPr>
              <a:t>Like plants, green algae</a:t>
            </a:r>
          </a:p>
          <a:p>
            <a:pPr marL="363538" lvl="2" indent="-363538">
              <a:spcBef>
                <a:spcPts val="1200"/>
              </a:spcBef>
              <a:spcAft>
                <a:spcPts val="0"/>
              </a:spcAft>
            </a:pPr>
            <a:r>
              <a:rPr lang="en-US" altLang="en-US" sz="2200" dirty="0">
                <a:latin typeface="+mn-lt"/>
              </a:rPr>
              <a:t>Contain chlorophylls and accessory pigments</a:t>
            </a:r>
          </a:p>
          <a:p>
            <a:pPr marL="363538" lvl="2" indent="-363538">
              <a:spcBef>
                <a:spcPts val="1200"/>
              </a:spcBef>
              <a:spcAft>
                <a:spcPts val="0"/>
              </a:spcAft>
            </a:pPr>
            <a:r>
              <a:rPr lang="en-US" altLang="en-US" sz="2200" dirty="0">
                <a:latin typeface="+mn-lt"/>
              </a:rPr>
              <a:t>Store excess carbohydrates as starch</a:t>
            </a:r>
          </a:p>
          <a:p>
            <a:pPr marL="363538" lvl="2" indent="-363538">
              <a:spcBef>
                <a:spcPts val="1200"/>
              </a:spcBef>
              <a:spcAft>
                <a:spcPts val="0"/>
              </a:spcAft>
            </a:pPr>
            <a:r>
              <a:rPr lang="en-US" altLang="en-US" sz="2200" dirty="0">
                <a:latin typeface="+mn-lt"/>
              </a:rPr>
              <a:t>Have cellulose in their cell walls</a:t>
            </a:r>
          </a:p>
          <a:p>
            <a:pPr marL="0" lvl="1" indent="0">
              <a:spcBef>
                <a:spcPts val="1200"/>
              </a:spcBef>
              <a:buNone/>
            </a:pPr>
            <a:r>
              <a:rPr lang="en-US" altLang="en-US" sz="2400" dirty="0">
                <a:latin typeface="+mn-lt"/>
              </a:rPr>
              <a:t>Difference between plants and algae: besides protecting the zygote, plants also protect and nourish the embryo</a:t>
            </a:r>
          </a:p>
        </p:txBody>
      </p:sp>
      <p:sp>
        <p:nvSpPr>
          <p:cNvPr id="4" name="Slide Number Placeholder 3">
            <a:extLst>
              <a:ext uri="{FF2B5EF4-FFF2-40B4-BE49-F238E27FC236}">
                <a16:creationId xmlns:a16="http://schemas.microsoft.com/office/drawing/2014/main" id="{2F170D44-AC10-49C1-B60A-B798D4F3AC2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0" y="2"/>
            <a:ext cx="9144000" cy="481262"/>
          </a:xfrm>
        </p:spPr>
        <p:txBody>
          <a:bodyPr/>
          <a:lstStyle/>
          <a:p>
            <a:pPr lvl="0" algn="ctr"/>
            <a:r>
              <a:rPr lang="en-US" altLang="en-US" dirty="0">
                <a:solidFill>
                  <a:schemeClr val="accent3">
                    <a:lumMod val="50000"/>
                  </a:schemeClr>
                </a:solidFill>
              </a:rPr>
              <a:t>Characteristics of Plants</a:t>
            </a:r>
          </a:p>
        </p:txBody>
      </p:sp>
      <p:sp>
        <p:nvSpPr>
          <p:cNvPr id="3" name="Text Placeholder 2">
            <a:extLst>
              <a:ext uri="{FF2B5EF4-FFF2-40B4-BE49-F238E27FC236}">
                <a16:creationId xmlns:a16="http://schemas.microsoft.com/office/drawing/2014/main" id="{3A3AEDE3-85C0-41BB-B4A1-AB634024DB8D}"/>
              </a:ext>
            </a:extLst>
          </p:cNvPr>
          <p:cNvSpPr>
            <a:spLocks noGrp="1"/>
          </p:cNvSpPr>
          <p:nvPr>
            <p:ph type="body" sz="quarter" idx="19"/>
          </p:nvPr>
        </p:nvSpPr>
        <p:spPr>
          <a:xfrm>
            <a:off x="395031" y="494969"/>
            <a:ext cx="3588494" cy="274576"/>
          </a:xfrm>
        </p:spPr>
        <p:txBody>
          <a:bodyPr anchor="ctr">
            <a:noAutofit/>
          </a:bodyPr>
          <a:lstStyle/>
          <a:p>
            <a:r>
              <a:rPr lang="en-US" sz="1600" b="1" dirty="0">
                <a:solidFill>
                  <a:srgbClr val="0070C0"/>
                </a:solidFill>
              </a:rPr>
              <a:t>Table 23.1 </a:t>
            </a:r>
            <a:r>
              <a:rPr lang="en-US" sz="1400" dirty="0"/>
              <a:t>Characteristics of Plants</a:t>
            </a:r>
            <a:endParaRPr lang="en-IN" sz="1600" dirty="0"/>
          </a:p>
        </p:txBody>
      </p:sp>
      <p:sp>
        <p:nvSpPr>
          <p:cNvPr id="5" name="Text Placeholder 4" hidden="1">
            <a:extLst>
              <a:ext uri="{FF2B5EF4-FFF2-40B4-BE49-F238E27FC236}">
                <a16:creationId xmlns:a16="http://schemas.microsoft.com/office/drawing/2014/main" id="{B99D8E8E-CA10-476C-B9EB-9B5CCC4B7FCD}"/>
              </a:ext>
            </a:extLst>
          </p:cNvPr>
          <p:cNvSpPr>
            <a:spLocks noGrp="1"/>
          </p:cNvSpPr>
          <p:nvPr>
            <p:ph type="body" sz="quarter" idx="20"/>
          </p:nvPr>
        </p:nvSpPr>
        <p:spPr>
          <a:xfrm>
            <a:off x="2668513" y="2872212"/>
            <a:ext cx="5225957" cy="914400"/>
          </a:xfrm>
        </p:spPr>
        <p:txBody>
          <a:bodyPr>
            <a:normAutofit/>
          </a:bodyPr>
          <a:lstStyle/>
          <a:p>
            <a:r>
              <a:rPr lang="en-US" sz="1800" dirty="0"/>
              <a:t>Table summarizes characteristics of plants including Eukarya, supergroup: Archaeplastida and kingdom: Plantae.</a:t>
            </a:r>
            <a:endParaRPr lang="en-IN" sz="1800" dirty="0"/>
          </a:p>
        </p:txBody>
      </p:sp>
      <p:graphicFrame>
        <p:nvGraphicFramePr>
          <p:cNvPr id="7" name="Table 5">
            <a:extLst>
              <a:ext uri="{FF2B5EF4-FFF2-40B4-BE49-F238E27FC236}">
                <a16:creationId xmlns:a16="http://schemas.microsoft.com/office/drawing/2014/main" id="{8C3FC503-BD12-4E2E-8B8A-8B2C10F5453D}"/>
              </a:ext>
            </a:extLst>
          </p:cNvPr>
          <p:cNvGraphicFramePr>
            <a:graphicFrameLocks/>
          </p:cNvGraphicFramePr>
          <p:nvPr>
            <p:extLst>
              <p:ext uri="{D42A27DB-BD31-4B8C-83A1-F6EECF244321}">
                <p14:modId xmlns:p14="http://schemas.microsoft.com/office/powerpoint/2010/main" val="1484348081"/>
              </p:ext>
            </p:extLst>
          </p:nvPr>
        </p:nvGraphicFramePr>
        <p:xfrm>
          <a:off x="416459" y="769545"/>
          <a:ext cx="8332510" cy="5771009"/>
        </p:xfrm>
        <a:graphic>
          <a:graphicData uri="http://schemas.openxmlformats.org/drawingml/2006/table">
            <a:tbl>
              <a:tblPr firstRow="1" bandRow="1">
                <a:tableStyleId>{5940675A-B579-460E-94D1-54222C63F5DA}</a:tableStyleId>
              </a:tblPr>
              <a:tblGrid>
                <a:gridCol w="8332510">
                  <a:extLst>
                    <a:ext uri="{9D8B030D-6E8A-4147-A177-3AD203B41FA5}">
                      <a16:colId xmlns:a16="http://schemas.microsoft.com/office/drawing/2014/main" val="1257546867"/>
                    </a:ext>
                  </a:extLst>
                </a:gridCol>
              </a:tblGrid>
              <a:tr h="641223">
                <a:tc>
                  <a:txBody>
                    <a:bodyPr/>
                    <a:lstStyle/>
                    <a:p>
                      <a:r>
                        <a:rPr lang="en-IN" sz="1200" dirty="0"/>
                        <a:t>DOMAIN: Eukarya </a:t>
                      </a:r>
                    </a:p>
                    <a:p>
                      <a:r>
                        <a:rPr lang="en-IN" sz="1200" dirty="0"/>
                        <a:t>SUPERGROUP: Archaeplastida</a:t>
                      </a:r>
                    </a:p>
                    <a:p>
                      <a:r>
                        <a:rPr lang="en-IN" sz="1200" dirty="0"/>
                        <a:t>KINGDOM Plantae</a:t>
                      </a:r>
                    </a:p>
                  </a:txBody>
                  <a:tcPr/>
                </a:tc>
                <a:extLst>
                  <a:ext uri="{0D108BD9-81ED-4DB2-BD59-A6C34878D82A}">
                    <a16:rowId xmlns:a16="http://schemas.microsoft.com/office/drawing/2014/main" val="2338724284"/>
                  </a:ext>
                </a:extLst>
              </a:tr>
              <a:tr h="824430">
                <a:tc>
                  <a:txBody>
                    <a:bodyPr/>
                    <a:lstStyle/>
                    <a:p>
                      <a:r>
                        <a:rPr lang="en-IN" sz="1200" dirty="0"/>
                        <a:t>CHARACTERISTICS</a:t>
                      </a:r>
                    </a:p>
                    <a:p>
                      <a:endParaRPr lang="en-IN" sz="1200" dirty="0"/>
                    </a:p>
                    <a:p>
                      <a:r>
                        <a:rPr lang="en-IN" sz="1200" dirty="0"/>
                        <a:t>Multicellular; apical tissue produces </a:t>
                      </a:r>
                      <a:r>
                        <a:rPr lang="en-IN" sz="1200" dirty="0" err="1"/>
                        <a:t>specialtzed</a:t>
                      </a:r>
                      <a:r>
                        <a:rPr lang="en-IN" sz="1200" dirty="0"/>
                        <a:t> tissues </a:t>
                      </a:r>
                      <a:r>
                        <a:rPr lang="en-IN" sz="1200" dirty="0" err="1"/>
                        <a:t>altemations</a:t>
                      </a:r>
                      <a:r>
                        <a:rPr lang="en-IN" sz="1200" dirty="0"/>
                        <a:t>-of- generation life cycle: protection of the embryo: </a:t>
                      </a:r>
                      <a:r>
                        <a:rPr lang="en-IN" sz="1200" dirty="0" err="1"/>
                        <a:t>gametangla</a:t>
                      </a:r>
                      <a:r>
                        <a:rPr lang="en-IN" sz="1200" dirty="0"/>
                        <a:t> produces gametes waxy cuticle prevents water loss</a:t>
                      </a:r>
                    </a:p>
                  </a:txBody>
                  <a:tcPr/>
                </a:tc>
                <a:extLst>
                  <a:ext uri="{0D108BD9-81ED-4DB2-BD59-A6C34878D82A}">
                    <a16:rowId xmlns:a16="http://schemas.microsoft.com/office/drawing/2014/main" val="1983613746"/>
                  </a:ext>
                </a:extLst>
              </a:tr>
              <a:tr h="824430">
                <a:tc>
                  <a:txBody>
                    <a:bodyPr/>
                    <a:lstStyle/>
                    <a:p>
                      <a:r>
                        <a:rPr lang="en-IN" sz="1200" dirty="0"/>
                        <a:t>Nonvascular Plants The Bryophytes</a:t>
                      </a:r>
                    </a:p>
                    <a:p>
                      <a:endParaRPr lang="en-IN" sz="1200" dirty="0"/>
                    </a:p>
                    <a:p>
                      <a:r>
                        <a:rPr lang="en-IN" sz="1200" dirty="0"/>
                        <a:t>Liverworts, hornworts, and mosses are low lying and live in moist environments. Dominant gametophyte produces flagellated sperm unbranched, dependent sporophyte produces windblown spores.</a:t>
                      </a:r>
                    </a:p>
                  </a:txBody>
                  <a:tcPr/>
                </a:tc>
                <a:extLst>
                  <a:ext uri="{0D108BD9-81ED-4DB2-BD59-A6C34878D82A}">
                    <a16:rowId xmlns:a16="http://schemas.microsoft.com/office/drawing/2014/main" val="3748821208"/>
                  </a:ext>
                </a:extLst>
              </a:tr>
              <a:tr h="1557256">
                <a:tc>
                  <a:txBody>
                    <a:bodyPr/>
                    <a:lstStyle/>
                    <a:p>
                      <a:r>
                        <a:rPr lang="en-IN" sz="1200" dirty="0"/>
                        <a:t>Seedless Vascular Plants - The Lycophytes and Pteridophytes</a:t>
                      </a:r>
                    </a:p>
                    <a:p>
                      <a:endParaRPr lang="en-IN" sz="1200" dirty="0"/>
                    </a:p>
                    <a:p>
                      <a:r>
                        <a:rPr lang="en-IN" sz="1200" dirty="0"/>
                        <a:t>Dominate branched sporophyte has vascular tissue: Lignified xylem transports water, and phloem transports organic nutrients: typically has roots, stems and leaves sporangia borne on sides of leaves that produce windblown spores Independent and separate gametophyte produces flagellated sperm.</a:t>
                      </a:r>
                    </a:p>
                    <a:p>
                      <a:endParaRPr lang="en-IN" sz="1200" dirty="0"/>
                    </a:p>
                    <a:p>
                      <a:pPr marL="285750" indent="-285750">
                        <a:buFont typeface="Arial" panose="020B0604020202020204" pitchFamily="34" charset="0"/>
                        <a:buChar char="•"/>
                      </a:pPr>
                      <a:r>
                        <a:rPr lang="en-IN" sz="1200" dirty="0"/>
                        <a:t>Lycophyte leaves are microphylls with a single, unbranched vein.</a:t>
                      </a:r>
                    </a:p>
                    <a:p>
                      <a:pPr marL="285750" indent="-285750">
                        <a:buFont typeface="Arial" panose="020B0604020202020204" pitchFamily="34" charset="0"/>
                        <a:buChar char="•"/>
                      </a:pPr>
                      <a:r>
                        <a:rPr lang="en-IN" sz="1200" dirty="0"/>
                        <a:t>Pteridophyte leaves are megaphylls with branched veins.</a:t>
                      </a:r>
                    </a:p>
                  </a:txBody>
                  <a:tcPr/>
                </a:tc>
                <a:extLst>
                  <a:ext uri="{0D108BD9-81ED-4DB2-BD59-A6C34878D82A}">
                    <a16:rowId xmlns:a16="http://schemas.microsoft.com/office/drawing/2014/main" val="3809747532"/>
                  </a:ext>
                </a:extLst>
              </a:tr>
              <a:tr h="1923670">
                <a:tc>
                  <a:txBody>
                    <a:bodyPr/>
                    <a:lstStyle/>
                    <a:p>
                      <a:r>
                        <a:rPr lang="en-IN" sz="1200" dirty="0"/>
                        <a:t>Seeded Vascular Plants–The Gymnosperms and Angiosperms </a:t>
                      </a:r>
                    </a:p>
                    <a:p>
                      <a:endParaRPr lang="en-IN" sz="1200" dirty="0"/>
                    </a:p>
                    <a:p>
                      <a:r>
                        <a:rPr lang="en-IN" sz="1200" dirty="0"/>
                        <a:t>Leaves are megaphylls: dominant sporophyte produces </a:t>
                      </a:r>
                      <a:r>
                        <a:rPr lang="en-IN" sz="1200" dirty="0" err="1"/>
                        <a:t>heterosperes</a:t>
                      </a:r>
                      <a:r>
                        <a:rPr lang="en-IN" sz="1200" dirty="0"/>
                        <a:t> that become dependent male and female gametophytes Male gametophyte is pollen grain, and female gametophyte occurs within ovule, which becomes a seed.</a:t>
                      </a:r>
                    </a:p>
                    <a:p>
                      <a:endParaRPr lang="en-IN" sz="1200" dirty="0"/>
                    </a:p>
                    <a:p>
                      <a:pPr marL="285750" indent="-285750">
                        <a:buFont typeface="Arial" panose="020B0604020202020204" pitchFamily="34" charset="0"/>
                        <a:buChar char="•"/>
                      </a:pPr>
                      <a:r>
                        <a:rPr lang="en-IN" sz="1200" dirty="0"/>
                        <a:t>Gymnosperms are cone bearing: sporophyte bears pollen cones. which produce </a:t>
                      </a:r>
                      <a:r>
                        <a:rPr lang="en-IN" sz="1200" dirty="0" err="1"/>
                        <a:t>windtown</a:t>
                      </a:r>
                      <a:r>
                        <a:rPr lang="en-IN" sz="1200" dirty="0"/>
                        <a:t> pollen (male </a:t>
                      </a:r>
                      <a:r>
                        <a:rPr lang="en-IN" sz="1200" dirty="0" err="1"/>
                        <a:t>gametopyte</a:t>
                      </a:r>
                      <a:r>
                        <a:rPr lang="en-IN" sz="1200" dirty="0"/>
                        <a:t>, and seed cones which produce seeds</a:t>
                      </a:r>
                    </a:p>
                    <a:p>
                      <a:pPr marL="285750" indent="-285750">
                        <a:buFont typeface="Arial" panose="020B0604020202020204" pitchFamily="34" charset="0"/>
                        <a:buChar char="•"/>
                      </a:pPr>
                      <a:endParaRPr lang="en-IN" sz="1200" dirty="0"/>
                    </a:p>
                    <a:p>
                      <a:pPr marL="285750" indent="-285750">
                        <a:buFont typeface="Arial" panose="020B0604020202020204" pitchFamily="34" charset="0"/>
                        <a:buChar char="•"/>
                      </a:pPr>
                      <a:r>
                        <a:rPr lang="en-IN" sz="1200" dirty="0"/>
                        <a:t>Angiosperm sporophytes bear flowers, which produce pollen grain and beat </a:t>
                      </a:r>
                      <a:r>
                        <a:rPr lang="en-IN" sz="1200" dirty="0" err="1"/>
                        <a:t>vules</a:t>
                      </a:r>
                      <a:r>
                        <a:rPr lang="en-IN" sz="1200" dirty="0"/>
                        <a:t> within an ovary Following double fertilization, ovules become seeds that enclose a sporophyte embryo and endosperm. Fruit develops from ovary</a:t>
                      </a:r>
                    </a:p>
                  </a:txBody>
                  <a:tcPr/>
                </a:tc>
                <a:extLst>
                  <a:ext uri="{0D108BD9-81ED-4DB2-BD59-A6C34878D82A}">
                    <a16:rowId xmlns:a16="http://schemas.microsoft.com/office/drawing/2014/main" val="451839841"/>
                  </a:ext>
                </a:extLst>
              </a:tr>
            </a:tbl>
          </a:graphicData>
        </a:graphic>
      </p:graphicFrame>
      <p:sp>
        <p:nvSpPr>
          <p:cNvPr id="6" name="Slide Number Placeholder 5">
            <a:extLst>
              <a:ext uri="{FF2B5EF4-FFF2-40B4-BE49-F238E27FC236}">
                <a16:creationId xmlns:a16="http://schemas.microsoft.com/office/drawing/2014/main" id="{B2F5AD56-9385-47DF-B5C9-DBF53B7C9C31}"/>
              </a:ext>
            </a:extLst>
          </p:cNvPr>
          <p:cNvSpPr>
            <a:spLocks noGrp="1"/>
          </p:cNvSpPr>
          <p:nvPr>
            <p:ph type="sldNum" sz="quarter" idx="4"/>
          </p:nvPr>
        </p:nvSpPr>
        <p:spPr/>
        <p:txBody>
          <a:bodyPr/>
          <a:lstStyle/>
          <a:p>
            <a:fld id="{08F9AD23-695F-4808-8E99-6281554D0F77}"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p:cNvSpPr>
            <a:spLocks noGrp="1" noChangeArrowheads="1"/>
          </p:cNvSpPr>
          <p:nvPr>
            <p:ph type="title"/>
          </p:nvPr>
        </p:nvSpPr>
        <p:spPr/>
        <p:txBody>
          <a:bodyPr/>
          <a:lstStyle/>
          <a:p>
            <a:pPr algn="ctr">
              <a:tabLst>
                <a:tab pos="2692400" algn="l"/>
              </a:tabLst>
            </a:pPr>
            <a:r>
              <a:rPr lang="en-US" altLang="en-US" dirty="0">
                <a:solidFill>
                  <a:schemeClr val="accent3">
                    <a:lumMod val="50000"/>
                  </a:schemeClr>
                </a:solidFill>
                <a:latin typeface="+mn-lt"/>
              </a:rPr>
              <a:t>The Ancestry of Land Plants</a:t>
            </a:r>
          </a:p>
        </p:txBody>
      </p:sp>
      <p:sp>
        <p:nvSpPr>
          <p:cNvPr id="8196" name="Content Placeholder 2"/>
          <p:cNvSpPr>
            <a:spLocks noGrp="1" noChangeArrowheads="1"/>
          </p:cNvSpPr>
          <p:nvPr>
            <p:ph idx="1"/>
          </p:nvPr>
        </p:nvSpPr>
        <p:spPr>
          <a:xfrm>
            <a:off x="445202" y="1295400"/>
            <a:ext cx="8229600" cy="5147603"/>
          </a:xfrm>
        </p:spPr>
        <p:txBody>
          <a:bodyPr>
            <a:normAutofit/>
          </a:bodyPr>
          <a:lstStyle/>
          <a:p>
            <a:pPr>
              <a:spcBef>
                <a:spcPts val="0"/>
              </a:spcBef>
              <a:spcAft>
                <a:spcPts val="1500"/>
              </a:spcAft>
            </a:pPr>
            <a:r>
              <a:rPr lang="en-US" altLang="en-US" sz="2800" dirty="0">
                <a:latin typeface="+mn-lt"/>
              </a:rPr>
              <a:t>Land plants are most closely related to freshwater green algae known as </a:t>
            </a:r>
            <a:r>
              <a:rPr lang="en-US" altLang="en-US" sz="2800" b="1" dirty="0">
                <a:solidFill>
                  <a:srgbClr val="D90000"/>
                </a:solidFill>
                <a:latin typeface="+mn-lt"/>
              </a:rPr>
              <a:t>charophytes</a:t>
            </a:r>
            <a:endParaRPr lang="en-US" altLang="en-US" sz="2800" dirty="0">
              <a:solidFill>
                <a:srgbClr val="D90000"/>
              </a:solidFill>
              <a:latin typeface="+mn-lt"/>
            </a:endParaRPr>
          </a:p>
          <a:p>
            <a:pPr marL="285750" lvl="1" indent="-285750">
              <a:spcBef>
                <a:spcPts val="0"/>
              </a:spcBef>
              <a:buFont typeface="Arial" panose="020B0604020202020204" pitchFamily="34" charset="0"/>
              <a:buChar char="•"/>
            </a:pPr>
            <a:r>
              <a:rPr lang="en-US" altLang="en-US" sz="2800" dirty="0">
                <a:latin typeface="+mn-lt"/>
              </a:rPr>
              <a:t>Charophytes and land plants are in the same clade</a:t>
            </a:r>
          </a:p>
          <a:p>
            <a:pPr marL="627063" lvl="2" indent="-363538">
              <a:spcBef>
                <a:spcPts val="1200"/>
              </a:spcBef>
              <a:buFont typeface="Arial" panose="020B0604020202020204" pitchFamily="34" charset="0"/>
              <a:buChar char="•"/>
            </a:pPr>
            <a:r>
              <a:rPr lang="en-US" sz="2600" dirty="0">
                <a:latin typeface="+mn-lt"/>
              </a:rPr>
              <a:t>Ancestors of land plants were most closely related to the charophytes </a:t>
            </a:r>
            <a:r>
              <a:rPr lang="en-US" sz="2600" i="1" dirty="0">
                <a:latin typeface="+mn-lt"/>
              </a:rPr>
              <a:t>Chara</a:t>
            </a:r>
            <a:r>
              <a:rPr lang="en-US" sz="2600" dirty="0">
                <a:latin typeface="+mn-lt"/>
              </a:rPr>
              <a:t> and </a:t>
            </a:r>
            <a:r>
              <a:rPr lang="en-US" sz="2600" i="1" dirty="0" err="1">
                <a:latin typeface="+mn-lt"/>
              </a:rPr>
              <a:t>Coleochaete</a:t>
            </a:r>
            <a:endParaRPr lang="en-US" sz="2600" i="1" dirty="0">
              <a:latin typeface="+mn-lt"/>
            </a:endParaRPr>
          </a:p>
          <a:p>
            <a:pPr marL="989013" lvl="3" indent="-361950">
              <a:spcBef>
                <a:spcPts val="1200"/>
              </a:spcBef>
              <a:buFont typeface="Arial" panose="020B0604020202020204" pitchFamily="34" charset="0"/>
              <a:buChar char="•"/>
            </a:pPr>
            <a:r>
              <a:rPr lang="en-US" sz="2400" dirty="0"/>
              <a:t>Most important to the evolution of plants, charophytes protect the zygote</a:t>
            </a:r>
            <a:endParaRPr lang="en-US" altLang="en-US" sz="2400" dirty="0"/>
          </a:p>
        </p:txBody>
      </p:sp>
      <p:sp>
        <p:nvSpPr>
          <p:cNvPr id="4" name="Slide Number Placeholder 3">
            <a:extLst>
              <a:ext uri="{FF2B5EF4-FFF2-40B4-BE49-F238E27FC236}">
                <a16:creationId xmlns:a16="http://schemas.microsoft.com/office/drawing/2014/main" id="{CCC2EBE5-93BD-4224-B561-4B91CBEE300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a:t>
            </a:fld>
            <a:endParaRPr lang="en-IN"/>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noChangeArrowheads="1"/>
          </p:cNvSpPr>
          <p:nvPr>
            <p:ph type="title"/>
          </p:nvPr>
        </p:nvSpPr>
        <p:spPr/>
        <p:txBody>
          <a:bodyPr/>
          <a:lstStyle/>
          <a:p>
            <a:pPr algn="ctr"/>
            <a:r>
              <a:rPr lang="en-US" altLang="en-US" dirty="0">
                <a:solidFill>
                  <a:schemeClr val="accent3">
                    <a:lumMod val="50000"/>
                  </a:schemeClr>
                </a:solidFill>
                <a:latin typeface="+mj-lt"/>
              </a:rPr>
              <a:t> Evolutionary History of Plants</a:t>
            </a:r>
          </a:p>
        </p:txBody>
      </p:sp>
      <p:pic>
        <p:nvPicPr>
          <p:cNvPr id="3" name="Picture 2" descr="Cladogram shows evolution of plant.">
            <a:extLst>
              <a:ext uri="{FF2B5EF4-FFF2-40B4-BE49-F238E27FC236}">
                <a16:creationId xmlns:a16="http://schemas.microsoft.com/office/drawing/2014/main" id="{C0678721-14AF-40B1-88C3-D063F95D9F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1919" y="948214"/>
            <a:ext cx="2920159" cy="4946679"/>
          </a:xfrm>
          <a:prstGeom prst="rect">
            <a:avLst/>
          </a:prstGeom>
        </p:spPr>
      </p:pic>
      <p:sp>
        <p:nvSpPr>
          <p:cNvPr id="4" name="Content Placeholder 3"/>
          <p:cNvSpPr>
            <a:spLocks noGrp="1"/>
          </p:cNvSpPr>
          <p:nvPr>
            <p:ph type="body" sz="quarter" idx="18"/>
          </p:nvPr>
        </p:nvSpPr>
        <p:spPr>
          <a:xfrm>
            <a:off x="4037291" y="6013203"/>
            <a:ext cx="1069416" cy="314325"/>
          </a:xfrm>
        </p:spPr>
        <p:txBody>
          <a:bodyPr>
            <a:normAutofit/>
          </a:bodyPr>
          <a:lstStyle/>
          <a:p>
            <a:r>
              <a:rPr lang="en-US" sz="1200" dirty="0"/>
              <a:t>Figure 23.1</a:t>
            </a:r>
          </a:p>
        </p:txBody>
      </p:sp>
      <p:sp>
        <p:nvSpPr>
          <p:cNvPr id="2" name="Text Placeholder 4">
            <a:extLst>
              <a:ext uri="{FF2B5EF4-FFF2-40B4-BE49-F238E27FC236}">
                <a16:creationId xmlns:a16="http://schemas.microsoft.com/office/drawing/2014/main" id="{DA26BDAE-B495-4C95-AD29-15A2F7A3EF57}"/>
              </a:ext>
            </a:extLst>
          </p:cNvPr>
          <p:cNvSpPr>
            <a:spLocks noGrp="1"/>
          </p:cNvSpPr>
          <p:nvPr>
            <p:ph type="body" sz="quarter" idx="19"/>
          </p:nvPr>
        </p:nvSpPr>
        <p:spPr>
          <a:xfrm>
            <a:off x="2978942" y="6327528"/>
            <a:ext cx="3186112"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7" name="Slide Number Placeholder 5">
            <a:extLst>
              <a:ext uri="{FF2B5EF4-FFF2-40B4-BE49-F238E27FC236}">
                <a16:creationId xmlns:a16="http://schemas.microsoft.com/office/drawing/2014/main" id="{B407E6EE-330C-4ED8-A88D-D50F9CFF9492}"/>
              </a:ext>
            </a:extLst>
          </p:cNvPr>
          <p:cNvSpPr>
            <a:spLocks noGrp="1"/>
          </p:cNvSpPr>
          <p:nvPr>
            <p:ph type="sldNum" sz="quarter" idx="4"/>
          </p:nvPr>
        </p:nvSpPr>
        <p:spPr/>
        <p:txBody>
          <a:bodyPr/>
          <a:lstStyle/>
          <a:p>
            <a:fld id="{08F9AD23-695F-4808-8E99-6281554D0F77}" type="slidenum">
              <a:rPr lang="en-IN" smtClean="0"/>
              <a:t>6</a:t>
            </a:fld>
            <a:endParaRPr lang="en-IN"/>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lstStyle/>
          <a:p>
            <a:pPr algn="ctr"/>
            <a:r>
              <a:rPr lang="en-US" sz="3600" dirty="0">
                <a:solidFill>
                  <a:schemeClr val="accent3">
                    <a:lumMod val="50000"/>
                  </a:schemeClr>
                </a:solidFill>
                <a:latin typeface="+mn-lt"/>
              </a:rPr>
              <a:t>Embryo Difference in Green Algae and Land Plants</a:t>
            </a:r>
          </a:p>
        </p:txBody>
      </p:sp>
      <p:pic>
        <p:nvPicPr>
          <p:cNvPr id="5" name="Picture 2" descr="Set of two micrographs comparing features of Oedogonium and Capsella depict difference in seeds."/>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3246" b="1984"/>
          <a:stretch/>
        </p:blipFill>
        <p:spPr bwMode="auto">
          <a:xfrm>
            <a:off x="2818001" y="1137477"/>
            <a:ext cx="3506874" cy="438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3"/>
          <p:cNvSpPr>
            <a:spLocks noGrp="1"/>
          </p:cNvSpPr>
          <p:nvPr>
            <p:ph type="body" sz="quarter" idx="18"/>
          </p:nvPr>
        </p:nvSpPr>
        <p:spPr>
          <a:xfrm>
            <a:off x="520698" y="5765152"/>
            <a:ext cx="8101481" cy="314325"/>
          </a:xfrm>
        </p:spPr>
        <p:txBody>
          <a:bodyPr>
            <a:normAutofit/>
          </a:bodyPr>
          <a:lstStyle/>
          <a:p>
            <a:r>
              <a:rPr lang="en-US" sz="1200" dirty="0"/>
              <a:t>Figure 23.2</a:t>
            </a:r>
          </a:p>
        </p:txBody>
      </p:sp>
      <p:sp>
        <p:nvSpPr>
          <p:cNvPr id="8" name="Content Placeholder 4"/>
          <p:cNvSpPr>
            <a:spLocks noGrp="1"/>
          </p:cNvSpPr>
          <p:nvPr>
            <p:ph type="body" sz="quarter" idx="19"/>
          </p:nvPr>
        </p:nvSpPr>
        <p:spPr>
          <a:xfrm>
            <a:off x="2916469" y="6134997"/>
            <a:ext cx="3309937" cy="314325"/>
          </a:xfrm>
        </p:spPr>
        <p:txBody>
          <a:bodyPr anchor="ctr">
            <a:norm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CE808228-FC0B-413B-872A-DA46C50D9240}"/>
              </a:ext>
            </a:extLst>
          </p:cNvPr>
          <p:cNvSpPr>
            <a:spLocks noGrp="1"/>
          </p:cNvSpPr>
          <p:nvPr>
            <p:ph type="body" sz="quarter" idx="21"/>
          </p:nvPr>
        </p:nvSpPr>
        <p:spPr/>
        <p:txBody>
          <a:bodyPr/>
          <a:lstStyle/>
          <a:p>
            <a:r>
              <a:rPr lang="en-US" dirty="0"/>
              <a:t>(a): Biology Pics/Science Source; (b): Garry DeLong/Science Source</a:t>
            </a:r>
            <a:endParaRPr lang="en-GB" dirty="0"/>
          </a:p>
        </p:txBody>
      </p:sp>
      <p:sp>
        <p:nvSpPr>
          <p:cNvPr id="9" name="Slide Number Placeholder 6">
            <a:extLst>
              <a:ext uri="{FF2B5EF4-FFF2-40B4-BE49-F238E27FC236}">
                <a16:creationId xmlns:a16="http://schemas.microsoft.com/office/drawing/2014/main" id="{DA480DE8-6550-4EF8-886A-B716E52B5FC1}"/>
              </a:ext>
            </a:extLst>
          </p:cNvPr>
          <p:cNvSpPr>
            <a:spLocks noGrp="1"/>
          </p:cNvSpPr>
          <p:nvPr>
            <p:ph type="sldNum" sz="quarter" idx="4"/>
          </p:nvPr>
        </p:nvSpPr>
        <p:spPr/>
        <p:txBody>
          <a:bodyPr/>
          <a:lstStyle/>
          <a:p>
            <a:fld id="{08F9AD23-695F-4808-8E99-6281554D0F77}"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noChangeArrowheads="1"/>
          </p:cNvSpPr>
          <p:nvPr>
            <p:ph type="title"/>
          </p:nvPr>
        </p:nvSpPr>
        <p:spPr/>
        <p:txBody>
          <a:bodyPr/>
          <a:lstStyle/>
          <a:p>
            <a:pPr algn="ctr"/>
            <a:r>
              <a:rPr lang="en-US" altLang="en-US" dirty="0">
                <a:solidFill>
                  <a:schemeClr val="accent3">
                    <a:lumMod val="50000"/>
                  </a:schemeClr>
                </a:solidFill>
              </a:rPr>
              <a:t>Charophytes</a:t>
            </a:r>
          </a:p>
        </p:txBody>
      </p:sp>
      <p:pic>
        <p:nvPicPr>
          <p:cNvPr id="2" name="Picture 2" descr="A) Chara is depicted as stem-like and leaf-like structures.&#10;B) Micrograph shows concentric rings of green, uninucleated cells."/>
          <p:cNvPicPr>
            <a:picLocks noChangeAspect="1"/>
          </p:cNvPicPr>
          <p:nvPr/>
        </p:nvPicPr>
        <p:blipFill rotWithShape="1">
          <a:blip r:embed="rId3">
            <a:extLst>
              <a:ext uri="{28A0092B-C50C-407E-A947-70E740481C1C}">
                <a14:useLocalDpi xmlns:a14="http://schemas.microsoft.com/office/drawing/2010/main" val="0"/>
              </a:ext>
            </a:extLst>
          </a:blip>
          <a:srcRect t="5186"/>
          <a:stretch/>
        </p:blipFill>
        <p:spPr>
          <a:xfrm>
            <a:off x="879651" y="966591"/>
            <a:ext cx="6949441" cy="3814702"/>
          </a:xfrm>
          <a:prstGeom prst="rect">
            <a:avLst/>
          </a:prstGeom>
        </p:spPr>
      </p:pic>
      <p:sp>
        <p:nvSpPr>
          <p:cNvPr id="5" name="Content Placeholder 3"/>
          <p:cNvSpPr>
            <a:spLocks noGrp="1"/>
          </p:cNvSpPr>
          <p:nvPr>
            <p:ph type="body" sz="quarter" idx="18"/>
          </p:nvPr>
        </p:nvSpPr>
        <p:spPr>
          <a:xfrm>
            <a:off x="4017681" y="5276904"/>
            <a:ext cx="1107516" cy="314325"/>
          </a:xfrm>
        </p:spPr>
        <p:txBody>
          <a:bodyPr>
            <a:noAutofit/>
          </a:bodyPr>
          <a:lstStyle/>
          <a:p>
            <a:r>
              <a:rPr lang="en-US" sz="1200" dirty="0"/>
              <a:t>Figure 23.3</a:t>
            </a:r>
          </a:p>
        </p:txBody>
      </p:sp>
      <p:sp>
        <p:nvSpPr>
          <p:cNvPr id="8" name="Slide Number Placeholder 4">
            <a:extLst>
              <a:ext uri="{FF2B5EF4-FFF2-40B4-BE49-F238E27FC236}">
                <a16:creationId xmlns:a16="http://schemas.microsoft.com/office/drawing/2014/main" id="{7D991264-7646-4449-AAA5-4E0CB47B4AB2}"/>
              </a:ext>
            </a:extLst>
          </p:cNvPr>
          <p:cNvSpPr>
            <a:spLocks noGrp="1"/>
          </p:cNvSpPr>
          <p:nvPr>
            <p:ph type="sldNum" sz="quarter" idx="4"/>
          </p:nvPr>
        </p:nvSpPr>
        <p:spPr/>
        <p:txBody>
          <a:bodyPr/>
          <a:lstStyle/>
          <a:p>
            <a:fld id="{08F9AD23-695F-4808-8E99-6281554D0F77}" type="slidenum">
              <a:rPr lang="en-IN" smtClean="0"/>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noChangeArrowheads="1"/>
          </p:cNvSpPr>
          <p:nvPr>
            <p:ph type="title"/>
          </p:nvPr>
        </p:nvSpPr>
        <p:spPr>
          <a:xfrm>
            <a:off x="457200" y="0"/>
            <a:ext cx="8229600" cy="1028114"/>
          </a:xfrm>
        </p:spPr>
        <p:txBody>
          <a:bodyPr/>
          <a:lstStyle/>
          <a:p>
            <a:pPr algn="ctr"/>
            <a:r>
              <a:rPr lang="en-US" altLang="en-US" dirty="0">
                <a:solidFill>
                  <a:schemeClr val="accent3">
                    <a:lumMod val="50000"/>
                  </a:schemeClr>
                </a:solidFill>
                <a:latin typeface="+mn-lt"/>
              </a:rPr>
              <a:t>Adaptation to Land</a:t>
            </a:r>
          </a:p>
        </p:txBody>
      </p:sp>
      <p:sp>
        <p:nvSpPr>
          <p:cNvPr id="6" name="Content Placeholder 2"/>
          <p:cNvSpPr>
            <a:spLocks noGrp="1"/>
          </p:cNvSpPr>
          <p:nvPr>
            <p:ph sz="quarter" idx="10"/>
          </p:nvPr>
        </p:nvSpPr>
        <p:spPr>
          <a:xfrm>
            <a:off x="365760" y="1028114"/>
            <a:ext cx="8321040" cy="5386754"/>
          </a:xfrm>
        </p:spPr>
        <p:txBody>
          <a:bodyPr/>
          <a:lstStyle/>
          <a:p>
            <a:pPr>
              <a:lnSpc>
                <a:spcPct val="90000"/>
              </a:lnSpc>
              <a:spcBef>
                <a:spcPts val="0"/>
              </a:spcBef>
              <a:spcAft>
                <a:spcPts val="2000"/>
              </a:spcAft>
            </a:pPr>
            <a:r>
              <a:rPr lang="en-US" sz="2400" dirty="0">
                <a:latin typeface="+mn-lt"/>
              </a:rPr>
              <a:t>Being on land required plants to evolve mechanisms to minimize dehydration, move water and nutrients against gravity, and damage from UV radiation:</a:t>
            </a:r>
          </a:p>
          <a:p>
            <a:pPr lvl="1">
              <a:lnSpc>
                <a:spcPct val="90000"/>
              </a:lnSpc>
              <a:spcBef>
                <a:spcPts val="0"/>
              </a:spcBef>
              <a:spcAft>
                <a:spcPts val="2000"/>
              </a:spcAft>
              <a:buFont typeface="Arial" panose="020B0604020202020204" pitchFamily="34" charset="0"/>
              <a:buChar char="•"/>
            </a:pPr>
            <a:r>
              <a:rPr lang="en-US" sz="2200" dirty="0">
                <a:latin typeface="+mn-lt"/>
              </a:rPr>
              <a:t>Waxy covering called a </a:t>
            </a:r>
            <a:r>
              <a:rPr lang="en-US" sz="2200" b="1" dirty="0">
                <a:solidFill>
                  <a:srgbClr val="D90000"/>
                </a:solidFill>
                <a:latin typeface="+mn-lt"/>
              </a:rPr>
              <a:t>cuticle</a:t>
            </a:r>
            <a:r>
              <a:rPr lang="en-US" sz="2200" dirty="0">
                <a:latin typeface="+mn-lt"/>
              </a:rPr>
              <a:t> protects most land plants from desiccation</a:t>
            </a:r>
          </a:p>
          <a:p>
            <a:pPr marL="714375" lvl="2" indent="-350838">
              <a:lnSpc>
                <a:spcPct val="90000"/>
              </a:lnSpc>
              <a:spcBef>
                <a:spcPts val="0"/>
              </a:spcBef>
              <a:spcAft>
                <a:spcPts val="2000"/>
              </a:spcAft>
              <a:buFont typeface="Arial" panose="020B0604020202020204" pitchFamily="34" charset="0"/>
              <a:buChar char="•"/>
            </a:pPr>
            <a:r>
              <a:rPr lang="en-US" sz="2000" dirty="0">
                <a:latin typeface="+mn-lt"/>
              </a:rPr>
              <a:t>Cuticle covers exposed surfaces and is relatively impermeable</a:t>
            </a:r>
          </a:p>
          <a:p>
            <a:pPr marL="714375" lvl="2" indent="-350838">
              <a:lnSpc>
                <a:spcPct val="90000"/>
              </a:lnSpc>
              <a:spcBef>
                <a:spcPts val="0"/>
              </a:spcBef>
              <a:spcAft>
                <a:spcPts val="2000"/>
              </a:spcAft>
              <a:buFont typeface="Arial" panose="020B0604020202020204" pitchFamily="34" charset="0"/>
              <a:buChar char="•"/>
            </a:pPr>
            <a:r>
              <a:rPr lang="en-US" sz="2000" dirty="0">
                <a:latin typeface="+mn-lt"/>
              </a:rPr>
              <a:t>Small openings, called </a:t>
            </a:r>
            <a:r>
              <a:rPr lang="en-US" sz="2000" b="1" dirty="0">
                <a:solidFill>
                  <a:srgbClr val="D90000"/>
                </a:solidFill>
                <a:latin typeface="+mn-lt"/>
              </a:rPr>
              <a:t>stomata</a:t>
            </a:r>
            <a:r>
              <a:rPr lang="en-US" sz="2000" dirty="0">
                <a:latin typeface="+mn-lt"/>
              </a:rPr>
              <a:t>, are found mostly on the underside of leaves and allow for gas exchange between the plant and the environment</a:t>
            </a:r>
          </a:p>
          <a:p>
            <a:pPr lvl="1">
              <a:lnSpc>
                <a:spcPct val="90000"/>
              </a:lnSpc>
              <a:spcBef>
                <a:spcPts val="0"/>
              </a:spcBef>
              <a:spcAft>
                <a:spcPts val="2000"/>
              </a:spcAft>
              <a:buFont typeface="Arial" panose="020B0604020202020204" pitchFamily="34" charset="0"/>
              <a:buChar char="•"/>
            </a:pPr>
            <a:r>
              <a:rPr lang="en-US" sz="2200" dirty="0">
                <a:latin typeface="+mn-lt"/>
              </a:rPr>
              <a:t>To move water against the force of water many plants have </a:t>
            </a:r>
            <a:r>
              <a:rPr lang="en-US" sz="2200" b="1" i="0" u="none" strike="noStrike" baseline="0" dirty="0" err="1">
                <a:solidFill>
                  <a:srgbClr val="D90000"/>
                </a:solidFill>
                <a:latin typeface="+mn-lt"/>
              </a:rPr>
              <a:t>tracheids</a:t>
            </a:r>
            <a:r>
              <a:rPr lang="en-US" sz="2200" b="1" i="0" u="none" strike="noStrike" baseline="0" dirty="0">
                <a:solidFill>
                  <a:srgbClr val="000000"/>
                </a:solidFill>
                <a:latin typeface="+mn-lt"/>
              </a:rPr>
              <a:t>, </a:t>
            </a:r>
            <a:r>
              <a:rPr lang="en-US" sz="2200" b="0" i="0" u="none" strike="noStrike" baseline="0" dirty="0">
                <a:solidFill>
                  <a:srgbClr val="000000"/>
                </a:solidFill>
                <a:latin typeface="+mn-lt"/>
              </a:rPr>
              <a:t>specialized cells with proteins that resist gravity and facilitate the upward transport of water and minerals</a:t>
            </a:r>
            <a:endParaRPr lang="en-US" sz="2000" dirty="0">
              <a:latin typeface="+mn-lt"/>
            </a:endParaRPr>
          </a:p>
        </p:txBody>
      </p:sp>
      <p:sp>
        <p:nvSpPr>
          <p:cNvPr id="4" name="Slide Number Placeholder 3">
            <a:extLst>
              <a:ext uri="{FF2B5EF4-FFF2-40B4-BE49-F238E27FC236}">
                <a16:creationId xmlns:a16="http://schemas.microsoft.com/office/drawing/2014/main" id="{D7804121-01A1-4937-A95C-3A1079EE93B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noChangeArrowheads="1"/>
          </p:cNvSpPr>
          <p:nvPr>
            <p:ph type="title"/>
          </p:nvPr>
        </p:nvSpPr>
        <p:spPr>
          <a:xfrm>
            <a:off x="0" y="103068"/>
            <a:ext cx="9144000" cy="948213"/>
          </a:xfrm>
        </p:spPr>
        <p:txBody>
          <a:bodyPr>
            <a:noAutofit/>
          </a:bodyPr>
          <a:lstStyle/>
          <a:p>
            <a:pPr algn="ctr"/>
            <a:r>
              <a:rPr lang="en-US" altLang="en-US" dirty="0">
                <a:solidFill>
                  <a:schemeClr val="accent3">
                    <a:lumMod val="50000"/>
                  </a:schemeClr>
                </a:solidFill>
                <a:latin typeface="+mn-lt"/>
              </a:rPr>
              <a:t>Leaf Adaptation to Prevent Desiccation</a:t>
            </a:r>
          </a:p>
        </p:txBody>
      </p:sp>
      <p:pic>
        <p:nvPicPr>
          <p:cNvPr id="9" name="Picture 2" descr="Illustration shows leaves with a waterproof cuticle and falsely colored scanning electron micrograph of leaf surface. ">
            <a:extLst>
              <a:ext uri="{FF2B5EF4-FFF2-40B4-BE49-F238E27FC236}">
                <a16:creationId xmlns:a16="http://schemas.microsoft.com/office/drawing/2014/main" id="{C9B691DA-7D47-4271-9879-F59F235D6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9801" y="1614679"/>
            <a:ext cx="3810000" cy="3924300"/>
          </a:xfrm>
          <a:prstGeom prst="rect">
            <a:avLst/>
          </a:prstGeom>
        </p:spPr>
      </p:pic>
      <p:sp>
        <p:nvSpPr>
          <p:cNvPr id="7" name="Content Placeholder 3"/>
          <p:cNvSpPr>
            <a:spLocks noGrp="1"/>
          </p:cNvSpPr>
          <p:nvPr>
            <p:ph type="body" sz="quarter" idx="18"/>
          </p:nvPr>
        </p:nvSpPr>
        <p:spPr>
          <a:xfrm>
            <a:off x="3955767" y="5657236"/>
            <a:ext cx="1231341" cy="314325"/>
          </a:xfrm>
        </p:spPr>
        <p:txBody>
          <a:bodyPr>
            <a:normAutofit/>
          </a:bodyPr>
          <a:lstStyle/>
          <a:p>
            <a:r>
              <a:rPr lang="en-US" sz="1200" dirty="0"/>
              <a:t>Figure 23.4</a:t>
            </a:r>
          </a:p>
        </p:txBody>
      </p:sp>
      <p:sp>
        <p:nvSpPr>
          <p:cNvPr id="6" name="Content Placeholder 4"/>
          <p:cNvSpPr>
            <a:spLocks noGrp="1"/>
          </p:cNvSpPr>
          <p:nvPr>
            <p:ph type="body" sz="quarter" idx="19"/>
          </p:nvPr>
        </p:nvSpPr>
        <p:spPr>
          <a:xfrm>
            <a:off x="2972364" y="6102377"/>
            <a:ext cx="3198149" cy="356813"/>
          </a:xfrm>
        </p:spPr>
        <p:txBody>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7AB4DB23-7538-4970-90AE-B5F26A1D30CB}"/>
              </a:ext>
            </a:extLst>
          </p:cNvPr>
          <p:cNvSpPr>
            <a:spLocks noGrp="1"/>
          </p:cNvSpPr>
          <p:nvPr>
            <p:ph type="body" sz="quarter" idx="21"/>
          </p:nvPr>
        </p:nvSpPr>
        <p:spPr/>
        <p:txBody>
          <a:bodyPr/>
          <a:lstStyle/>
          <a:p>
            <a:pPr lvl="0"/>
            <a:r>
              <a:rPr lang="en-US" dirty="0"/>
              <a:t>(a): Ingram Publishing/age </a:t>
            </a:r>
            <a:r>
              <a:rPr lang="en-US" dirty="0" err="1"/>
              <a:t>fotostock</a:t>
            </a:r>
            <a:r>
              <a:rPr lang="en-US" dirty="0"/>
              <a:t> RF; (b): Dr Jeremy Burgess/Science Source</a:t>
            </a:r>
            <a:endParaRPr lang="en-GB" dirty="0"/>
          </a:p>
        </p:txBody>
      </p:sp>
      <p:sp>
        <p:nvSpPr>
          <p:cNvPr id="12" name="Slide Number Placeholder 6">
            <a:extLst>
              <a:ext uri="{FF2B5EF4-FFF2-40B4-BE49-F238E27FC236}">
                <a16:creationId xmlns:a16="http://schemas.microsoft.com/office/drawing/2014/main" id="{BF8E39CB-D396-43FF-B809-51980A1A0F59}"/>
              </a:ext>
            </a:extLst>
          </p:cNvPr>
          <p:cNvSpPr>
            <a:spLocks noGrp="1"/>
          </p:cNvSpPr>
          <p:nvPr>
            <p:ph type="sldNum" sz="quarter" idx="4"/>
          </p:nvPr>
        </p:nvSpPr>
        <p:spPr/>
        <p:txBody>
          <a:bodyPr/>
          <a:lstStyle/>
          <a:p>
            <a:fld id="{08F9AD23-695F-4808-8E99-6281554D0F77}" type="slidenum">
              <a:rPr lang="en-IN" smtClean="0"/>
              <a:t>10</a:t>
            </a:fld>
            <a:endParaRPr lang="en-IN"/>
          </a:p>
        </p:txBody>
      </p:sp>
    </p:spTree>
    <p:extLst>
      <p:ext uri="{BB962C8B-B14F-4D97-AF65-F5344CB8AC3E}">
        <p14:creationId xmlns:p14="http://schemas.microsoft.com/office/powerpoint/2010/main" val="3721724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noChangeArrowheads="1"/>
          </p:cNvSpPr>
          <p:nvPr>
            <p:ph type="title"/>
          </p:nvPr>
        </p:nvSpPr>
        <p:spPr>
          <a:xfrm>
            <a:off x="457200" y="0"/>
            <a:ext cx="8229600" cy="1028114"/>
          </a:xfrm>
        </p:spPr>
        <p:txBody>
          <a:bodyPr/>
          <a:lstStyle/>
          <a:p>
            <a:pPr algn="ctr"/>
            <a:r>
              <a:rPr lang="en-US" altLang="en-US" dirty="0">
                <a:solidFill>
                  <a:schemeClr val="accent3">
                    <a:lumMod val="50000"/>
                  </a:schemeClr>
                </a:solidFill>
                <a:latin typeface="+mj-lt"/>
              </a:rPr>
              <a:t>Land Plants</a:t>
            </a:r>
          </a:p>
        </p:txBody>
      </p:sp>
      <p:sp>
        <p:nvSpPr>
          <p:cNvPr id="6" name="Content Placeholder 2"/>
          <p:cNvSpPr>
            <a:spLocks noGrp="1"/>
          </p:cNvSpPr>
          <p:nvPr>
            <p:ph sz="quarter" idx="10"/>
          </p:nvPr>
        </p:nvSpPr>
        <p:spPr>
          <a:xfrm>
            <a:off x="193638" y="1028114"/>
            <a:ext cx="8595360" cy="5386754"/>
          </a:xfrm>
        </p:spPr>
        <p:txBody>
          <a:bodyPr/>
          <a:lstStyle/>
          <a:p>
            <a:pPr marL="338138" lvl="2" indent="0">
              <a:lnSpc>
                <a:spcPct val="90000"/>
              </a:lnSpc>
              <a:buNone/>
            </a:pPr>
            <a:r>
              <a:rPr lang="en-US" sz="2400" b="0" u="none" strike="noStrike" baseline="0" dirty="0">
                <a:solidFill>
                  <a:srgbClr val="000000"/>
                </a:solidFill>
                <a:latin typeface="+mn-lt"/>
              </a:rPr>
              <a:t>Land plants </a:t>
            </a:r>
            <a:r>
              <a:rPr lang="en-US" sz="2400" dirty="0">
                <a:solidFill>
                  <a:srgbClr val="000000"/>
                </a:solidFill>
                <a:latin typeface="+mn-lt"/>
              </a:rPr>
              <a:t>have </a:t>
            </a:r>
            <a:r>
              <a:rPr lang="en-US" sz="2400" b="0" u="none" strike="noStrike" baseline="0" dirty="0">
                <a:solidFill>
                  <a:srgbClr val="000000"/>
                </a:solidFill>
                <a:latin typeface="+mn-lt"/>
              </a:rPr>
              <a:t>tissues which reduces water loss to the environment because they have a lower surface-area-to-volume ratio than do branched filaments</a:t>
            </a:r>
          </a:p>
          <a:p>
            <a:pPr marL="338138" lvl="2" indent="0">
              <a:lnSpc>
                <a:spcPct val="90000"/>
              </a:lnSpc>
              <a:buNone/>
            </a:pPr>
            <a:r>
              <a:rPr lang="en-US" altLang="en-US" sz="2400" dirty="0">
                <a:solidFill>
                  <a:srgbClr val="000000"/>
                </a:solidFill>
                <a:latin typeface="+mn-lt"/>
              </a:rPr>
              <a:t>To reduce the effects of UV radiation, plants have both a haploid and diploid generation</a:t>
            </a:r>
          </a:p>
          <a:p>
            <a:pPr marL="717550" lvl="3" indent="-358775">
              <a:lnSpc>
                <a:spcPct val="90000"/>
              </a:lnSpc>
              <a:buFont typeface="Arial" panose="020B0604020202020204" pitchFamily="34" charset="0"/>
              <a:buChar char="•"/>
            </a:pPr>
            <a:r>
              <a:rPr lang="en-US" altLang="en-US" sz="2200" dirty="0">
                <a:solidFill>
                  <a:srgbClr val="000000"/>
                </a:solidFill>
              </a:rPr>
              <a:t>Diploid generation helps to hide the effect of a single deleterious allele </a:t>
            </a:r>
          </a:p>
          <a:p>
            <a:pPr marL="717550" lvl="3" indent="-358775">
              <a:lnSpc>
                <a:spcPct val="90000"/>
              </a:lnSpc>
              <a:buFont typeface="Arial" panose="020B0604020202020204" pitchFamily="34" charset="0"/>
              <a:buChar char="•"/>
            </a:pPr>
            <a:r>
              <a:rPr lang="en-US" sz="2200" b="0" i="0" u="none" strike="noStrike" baseline="0" dirty="0">
                <a:solidFill>
                  <a:srgbClr val="000000"/>
                </a:solidFill>
              </a:rPr>
              <a:t>Evolutionary shift toward a more dominant diploid generation also allows for greater genetic variability in land plants </a:t>
            </a:r>
            <a:endParaRPr lang="en-US" altLang="en-US" sz="2200" dirty="0"/>
          </a:p>
        </p:txBody>
      </p:sp>
      <p:sp>
        <p:nvSpPr>
          <p:cNvPr id="4" name="Slide Number Placeholder 3">
            <a:extLst>
              <a:ext uri="{FF2B5EF4-FFF2-40B4-BE49-F238E27FC236}">
                <a16:creationId xmlns:a16="http://schemas.microsoft.com/office/drawing/2014/main" id="{0221F4DC-36DA-4E6E-BD82-6D0EEE9B05B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11</a:t>
            </a:fld>
            <a:endParaRPr lang="en-IN"/>
          </a:p>
        </p:txBody>
      </p:sp>
    </p:spTree>
    <p:extLst>
      <p:ext uri="{BB962C8B-B14F-4D97-AF65-F5344CB8AC3E}">
        <p14:creationId xmlns:p14="http://schemas.microsoft.com/office/powerpoint/2010/main" val="314012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noChangeArrowheads="1"/>
          </p:cNvSpPr>
          <p:nvPr>
            <p:ph type="title"/>
          </p:nvPr>
        </p:nvSpPr>
        <p:spPr>
          <a:xfrm>
            <a:off x="457200" y="0"/>
            <a:ext cx="8229600" cy="886265"/>
          </a:xfrm>
        </p:spPr>
        <p:txBody>
          <a:bodyPr>
            <a:normAutofit/>
          </a:bodyPr>
          <a:lstStyle/>
          <a:p>
            <a:pPr algn="ctr"/>
            <a:r>
              <a:rPr lang="en-US" altLang="en-US" dirty="0">
                <a:solidFill>
                  <a:schemeClr val="accent3">
                    <a:lumMod val="50000"/>
                  </a:schemeClr>
                </a:solidFill>
                <a:latin typeface="+mj-lt"/>
              </a:rPr>
              <a:t>Alternation of Generations</a:t>
            </a:r>
          </a:p>
        </p:txBody>
      </p:sp>
      <p:sp>
        <p:nvSpPr>
          <p:cNvPr id="11267" name="Content Placeholder 2"/>
          <p:cNvSpPr>
            <a:spLocks noGrp="1" noChangeArrowheads="1"/>
          </p:cNvSpPr>
          <p:nvPr>
            <p:ph idx="1"/>
          </p:nvPr>
        </p:nvSpPr>
        <p:spPr>
          <a:xfrm>
            <a:off x="344245" y="886265"/>
            <a:ext cx="8229601" cy="5702104"/>
          </a:xfrm>
        </p:spPr>
        <p:txBody>
          <a:bodyPr>
            <a:noAutofit/>
          </a:bodyPr>
          <a:lstStyle/>
          <a:p>
            <a:pPr>
              <a:spcBef>
                <a:spcPts val="600"/>
              </a:spcBef>
              <a:spcAft>
                <a:spcPts val="600"/>
              </a:spcAft>
            </a:pPr>
            <a:r>
              <a:rPr lang="en-US" sz="2400" dirty="0">
                <a:latin typeface="+mn-lt"/>
              </a:rPr>
              <a:t>All land plants exhibit </a:t>
            </a:r>
            <a:r>
              <a:rPr lang="en-US" sz="2400" b="1" dirty="0">
                <a:solidFill>
                  <a:srgbClr val="D90000"/>
                </a:solidFill>
                <a:latin typeface="+mn-lt"/>
              </a:rPr>
              <a:t>alternation of generations</a:t>
            </a:r>
            <a:r>
              <a:rPr lang="en-US" sz="2400" dirty="0">
                <a:latin typeface="+mn-lt"/>
              </a:rPr>
              <a:t>:</a:t>
            </a:r>
          </a:p>
          <a:p>
            <a:pPr lvl="1">
              <a:spcBef>
                <a:spcPts val="600"/>
              </a:spcBef>
              <a:spcAft>
                <a:spcPts val="600"/>
              </a:spcAft>
              <a:buFont typeface="Arial" panose="020B0604020202020204" pitchFamily="34" charset="0"/>
              <a:buChar char="•"/>
            </a:pPr>
            <a:r>
              <a:rPr lang="en-US" sz="2200" dirty="0">
                <a:latin typeface="+mn-lt"/>
              </a:rPr>
              <a:t>Plant alternates between a multicellular haploid (n) phase and a multicellular diploid (2n) phase</a:t>
            </a:r>
          </a:p>
          <a:p>
            <a:pPr lvl="2">
              <a:spcBef>
                <a:spcPts val="600"/>
              </a:spcBef>
              <a:spcAft>
                <a:spcPts val="600"/>
              </a:spcAft>
              <a:buFont typeface="Arial" panose="020B0604020202020204" pitchFamily="34" charset="0"/>
              <a:buChar char="•"/>
            </a:pPr>
            <a:r>
              <a:rPr lang="en-US" sz="2000" dirty="0">
                <a:latin typeface="+mn-lt"/>
              </a:rPr>
              <a:t>Multicellular haploid individuals are called </a:t>
            </a:r>
            <a:r>
              <a:rPr lang="en-US" sz="2000" b="1" dirty="0">
                <a:solidFill>
                  <a:srgbClr val="D90000"/>
                </a:solidFill>
                <a:latin typeface="+mn-lt"/>
              </a:rPr>
              <a:t>gametophytes</a:t>
            </a:r>
          </a:p>
          <a:p>
            <a:pPr lvl="2">
              <a:spcBef>
                <a:spcPts val="600"/>
              </a:spcBef>
              <a:spcAft>
                <a:spcPts val="600"/>
              </a:spcAft>
              <a:buFont typeface="Arial" panose="020B0604020202020204" pitchFamily="34" charset="0"/>
              <a:buChar char="•"/>
            </a:pPr>
            <a:r>
              <a:rPr lang="en-US" sz="2000" dirty="0">
                <a:latin typeface="+mn-lt"/>
              </a:rPr>
              <a:t>Gametophytes produce gametes (eggs and sperm) by mitosis within tissue called </a:t>
            </a:r>
            <a:r>
              <a:rPr lang="en-US" sz="2000" b="1" dirty="0">
                <a:latin typeface="+mn-lt"/>
              </a:rPr>
              <a:t>gametangia</a:t>
            </a:r>
          </a:p>
          <a:p>
            <a:pPr lvl="3">
              <a:spcBef>
                <a:spcPts val="600"/>
              </a:spcBef>
              <a:spcAft>
                <a:spcPts val="600"/>
              </a:spcAft>
              <a:buFont typeface="Arial" panose="020B0604020202020204" pitchFamily="34" charset="0"/>
              <a:buChar char="•"/>
            </a:pPr>
            <a:r>
              <a:rPr lang="en-US" sz="1800" dirty="0"/>
              <a:t>Male gametangia are called </a:t>
            </a:r>
            <a:r>
              <a:rPr lang="en-US" sz="1800" b="1" dirty="0">
                <a:solidFill>
                  <a:srgbClr val="D90000"/>
                </a:solidFill>
              </a:rPr>
              <a:t>antheridia</a:t>
            </a:r>
          </a:p>
          <a:p>
            <a:pPr lvl="3">
              <a:spcBef>
                <a:spcPts val="600"/>
              </a:spcBef>
              <a:spcAft>
                <a:spcPts val="600"/>
              </a:spcAft>
              <a:buFont typeface="Arial" panose="020B0604020202020204" pitchFamily="34" charset="0"/>
              <a:buChar char="•"/>
            </a:pPr>
            <a:r>
              <a:rPr lang="en-US" sz="1800" dirty="0"/>
              <a:t>Female gametangia are called </a:t>
            </a:r>
            <a:r>
              <a:rPr lang="en-US" sz="1800" b="1" dirty="0">
                <a:solidFill>
                  <a:srgbClr val="D90000"/>
                </a:solidFill>
              </a:rPr>
              <a:t>archegonia</a:t>
            </a:r>
          </a:p>
          <a:p>
            <a:pPr lvl="3">
              <a:spcBef>
                <a:spcPts val="600"/>
              </a:spcBef>
              <a:spcAft>
                <a:spcPts val="600"/>
              </a:spcAft>
              <a:buFont typeface="Arial" panose="020B0604020202020204" pitchFamily="34" charset="0"/>
              <a:buChar char="•"/>
            </a:pPr>
            <a:r>
              <a:rPr lang="en-US" sz="1800" dirty="0"/>
              <a:t>Eggs and sperm combine to form diploid sporophytes</a:t>
            </a:r>
          </a:p>
          <a:p>
            <a:pPr lvl="2">
              <a:spcBef>
                <a:spcPts val="600"/>
              </a:spcBef>
              <a:spcAft>
                <a:spcPts val="600"/>
              </a:spcAft>
              <a:buFont typeface="Arial" panose="020B0604020202020204" pitchFamily="34" charset="0"/>
              <a:buChar char="•"/>
            </a:pPr>
            <a:r>
              <a:rPr lang="en-US" sz="2000" dirty="0">
                <a:latin typeface="+mn-lt"/>
              </a:rPr>
              <a:t>Multicellular diploid individuals are called </a:t>
            </a:r>
            <a:r>
              <a:rPr lang="en-US" sz="2000" b="1" dirty="0">
                <a:solidFill>
                  <a:srgbClr val="D90000"/>
                </a:solidFill>
                <a:latin typeface="+mn-lt"/>
              </a:rPr>
              <a:t>sporophytes</a:t>
            </a:r>
          </a:p>
          <a:p>
            <a:pPr lvl="3">
              <a:spcBef>
                <a:spcPts val="600"/>
              </a:spcBef>
              <a:spcAft>
                <a:spcPts val="600"/>
              </a:spcAft>
              <a:buFont typeface="Arial" panose="020B0604020202020204" pitchFamily="34" charset="0"/>
              <a:buChar char="•"/>
            </a:pPr>
            <a:r>
              <a:rPr lang="en-US" sz="1800" dirty="0"/>
              <a:t>Sporophytes produce spores by meiosis within a structure called the </a:t>
            </a:r>
            <a:r>
              <a:rPr lang="en-US" sz="1800" b="1" dirty="0">
                <a:solidFill>
                  <a:srgbClr val="D90000"/>
                </a:solidFill>
              </a:rPr>
              <a:t>sporangium</a:t>
            </a:r>
          </a:p>
          <a:p>
            <a:pPr lvl="3">
              <a:spcBef>
                <a:spcPts val="600"/>
              </a:spcBef>
              <a:spcAft>
                <a:spcPts val="600"/>
              </a:spcAft>
              <a:buFont typeface="Arial" panose="020B0604020202020204" pitchFamily="34" charset="0"/>
              <a:buChar char="•"/>
            </a:pPr>
            <a:r>
              <a:rPr lang="en-US" sz="1800" b="1" dirty="0">
                <a:solidFill>
                  <a:srgbClr val="D90000"/>
                </a:solidFill>
              </a:rPr>
              <a:t>Spores</a:t>
            </a:r>
            <a:r>
              <a:rPr lang="en-US" sz="1800" dirty="0"/>
              <a:t> are released and if they land on suitable substrate, germinate and grow by mitosis into gametophytes</a:t>
            </a:r>
          </a:p>
        </p:txBody>
      </p:sp>
      <p:sp>
        <p:nvSpPr>
          <p:cNvPr id="4" name="Slide Number Placeholder 3">
            <a:extLst>
              <a:ext uri="{FF2B5EF4-FFF2-40B4-BE49-F238E27FC236}">
                <a16:creationId xmlns:a16="http://schemas.microsoft.com/office/drawing/2014/main" id="{22A68E2B-993A-4F78-93E2-11E2D2E7FE49}"/>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12</a:t>
            </a:fld>
            <a:endParaRPr lang="en-I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noChangeArrowheads="1"/>
          </p:cNvSpPr>
          <p:nvPr>
            <p:ph type="title"/>
          </p:nvPr>
        </p:nvSpPr>
        <p:spPr/>
        <p:txBody>
          <a:bodyPr>
            <a:normAutofit fontScale="90000"/>
          </a:bodyPr>
          <a:lstStyle/>
          <a:p>
            <a:pPr algn="ctr"/>
            <a:r>
              <a:rPr lang="en-US" altLang="en-US" dirty="0">
                <a:solidFill>
                  <a:schemeClr val="accent3">
                    <a:lumMod val="50000"/>
                  </a:schemeClr>
                </a:solidFill>
                <a:latin typeface="+mn-lt"/>
              </a:rPr>
              <a:t> Alternation of Generations in Land Plants</a:t>
            </a:r>
          </a:p>
        </p:txBody>
      </p:sp>
      <p:pic>
        <p:nvPicPr>
          <p:cNvPr id="7" name="Picture 2" descr="A sporophyte (2N) gives rise to spores through meiosis and a gametophyte (1N) gives rise to gametes that fuse in fertilization to form a zygote."/>
          <p:cNvPicPr>
            <a:picLocks noChangeAspect="1"/>
          </p:cNvPicPr>
          <p:nvPr/>
        </p:nvPicPr>
        <p:blipFill>
          <a:blip r:embed="rId3"/>
          <a:stretch>
            <a:fillRect/>
          </a:stretch>
        </p:blipFill>
        <p:spPr>
          <a:xfrm>
            <a:off x="2142961" y="1180707"/>
            <a:ext cx="4858077" cy="4496586"/>
          </a:xfrm>
          <a:prstGeom prst="rect">
            <a:avLst/>
          </a:prstGeom>
        </p:spPr>
      </p:pic>
      <p:sp>
        <p:nvSpPr>
          <p:cNvPr id="4" name="Content Placeholder 3"/>
          <p:cNvSpPr>
            <a:spLocks noGrp="1"/>
          </p:cNvSpPr>
          <p:nvPr>
            <p:ph type="body" sz="quarter" idx="18"/>
          </p:nvPr>
        </p:nvSpPr>
        <p:spPr>
          <a:xfrm>
            <a:off x="521258" y="5784019"/>
            <a:ext cx="8101481" cy="314325"/>
          </a:xfrm>
        </p:spPr>
        <p:txBody>
          <a:bodyPr/>
          <a:lstStyle/>
          <a:p>
            <a:r>
              <a:rPr lang="en-US" sz="1200" dirty="0"/>
              <a:t>Figure 23.5</a:t>
            </a:r>
          </a:p>
        </p:txBody>
      </p:sp>
      <p:sp>
        <p:nvSpPr>
          <p:cNvPr id="2" name="Text Placeholder 4">
            <a:extLst>
              <a:ext uri="{FF2B5EF4-FFF2-40B4-BE49-F238E27FC236}">
                <a16:creationId xmlns:a16="http://schemas.microsoft.com/office/drawing/2014/main" id="{64F5FB08-789B-46C8-BCA0-13B1C40C7F6D}"/>
              </a:ext>
            </a:extLst>
          </p:cNvPr>
          <p:cNvSpPr>
            <a:spLocks noGrp="1"/>
          </p:cNvSpPr>
          <p:nvPr>
            <p:ph type="body" sz="quarter" idx="19"/>
          </p:nvPr>
        </p:nvSpPr>
        <p:spPr>
          <a:xfrm>
            <a:off x="760160" y="6098344"/>
            <a:ext cx="7623676"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6" name="Slide Number Placeholder 5">
            <a:extLst>
              <a:ext uri="{FF2B5EF4-FFF2-40B4-BE49-F238E27FC236}">
                <a16:creationId xmlns:a16="http://schemas.microsoft.com/office/drawing/2014/main" id="{8B6D392A-C1CF-47F4-AFF8-DB8FFE1B2AD9}"/>
              </a:ext>
            </a:extLst>
          </p:cNvPr>
          <p:cNvSpPr>
            <a:spLocks noGrp="1"/>
          </p:cNvSpPr>
          <p:nvPr>
            <p:ph type="sldNum" sz="quarter" idx="4"/>
          </p:nvPr>
        </p:nvSpPr>
        <p:spPr/>
        <p:txBody>
          <a:bodyPr/>
          <a:lstStyle/>
          <a:p>
            <a:fld id="{08F9AD23-695F-4808-8E99-6281554D0F77}" type="slidenum">
              <a:rPr lang="en-IN" smtClean="0"/>
              <a:t>13</a:t>
            </a:fld>
            <a:endParaRPr lang="en-IN"/>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itle 1"/>
          <p:cNvSpPr>
            <a:spLocks noGrp="1" noChangeArrowheads="1"/>
          </p:cNvSpPr>
          <p:nvPr>
            <p:ph type="title"/>
          </p:nvPr>
        </p:nvSpPr>
        <p:spPr>
          <a:xfrm>
            <a:off x="457200" y="-1"/>
            <a:ext cx="8229600" cy="1081557"/>
          </a:xfrm>
        </p:spPr>
        <p:txBody>
          <a:bodyPr>
            <a:normAutofit/>
          </a:bodyPr>
          <a:lstStyle/>
          <a:p>
            <a:pPr algn="ctr"/>
            <a:r>
              <a:rPr lang="en-US" altLang="en-US" dirty="0">
                <a:solidFill>
                  <a:schemeClr val="accent3">
                    <a:lumMod val="50000"/>
                  </a:schemeClr>
                </a:solidFill>
                <a:latin typeface="+mj-lt"/>
              </a:rPr>
              <a:t>Dominant Generation</a:t>
            </a:r>
          </a:p>
        </p:txBody>
      </p:sp>
      <p:sp>
        <p:nvSpPr>
          <p:cNvPr id="3" name="Content Placeholder 2"/>
          <p:cNvSpPr>
            <a:spLocks noGrp="1"/>
          </p:cNvSpPr>
          <p:nvPr>
            <p:ph idx="1"/>
          </p:nvPr>
        </p:nvSpPr>
        <p:spPr>
          <a:xfrm>
            <a:off x="457200" y="1081557"/>
            <a:ext cx="8229600" cy="5669280"/>
          </a:xfrm>
        </p:spPr>
        <p:txBody>
          <a:bodyPr/>
          <a:lstStyle/>
          <a:p>
            <a:pPr lvl="0">
              <a:spcBef>
                <a:spcPts val="0"/>
              </a:spcBef>
              <a:spcAft>
                <a:spcPts val="2000"/>
              </a:spcAft>
            </a:pPr>
            <a:r>
              <a:rPr lang="en-US" altLang="en-US" sz="2400" dirty="0">
                <a:latin typeface="+mn-lt"/>
              </a:rPr>
              <a:t>Land plants differ as to which generation is dominant (conspicuous)</a:t>
            </a:r>
          </a:p>
          <a:p>
            <a:pPr lvl="1">
              <a:spcBef>
                <a:spcPts val="0"/>
              </a:spcBef>
              <a:spcAft>
                <a:spcPts val="2000"/>
              </a:spcAft>
              <a:buFont typeface="Arial" panose="020B0604020202020204" pitchFamily="34" charset="0"/>
              <a:buChar char="•"/>
            </a:pPr>
            <a:r>
              <a:rPr lang="en-US" altLang="en-US" sz="2200" dirty="0">
                <a:latin typeface="+mn-lt"/>
              </a:rPr>
              <a:t>In early land plants like moss, the gametophyte is dominant</a:t>
            </a:r>
          </a:p>
          <a:p>
            <a:pPr lvl="1">
              <a:spcBef>
                <a:spcPts val="0"/>
              </a:spcBef>
              <a:spcAft>
                <a:spcPts val="1200"/>
              </a:spcAft>
              <a:buFont typeface="Arial" panose="020B0604020202020204" pitchFamily="34" charset="0"/>
              <a:buChar char="•"/>
            </a:pPr>
            <a:r>
              <a:rPr lang="en-US" altLang="en-US" sz="2200" dirty="0">
                <a:latin typeface="+mn-lt"/>
              </a:rPr>
              <a:t>In all other plants such as ferns, pine trees, and flowering plants, the sporophyte is dominant</a:t>
            </a:r>
          </a:p>
          <a:p>
            <a:pPr marL="714375" lvl="3" indent="-350838">
              <a:buFont typeface="Arial" panose="020B0604020202020204" pitchFamily="34" charset="0"/>
              <a:buChar char="•"/>
            </a:pPr>
            <a:r>
              <a:rPr lang="en-US" altLang="en-US" sz="2000" dirty="0"/>
              <a:t>Shift to sporophyte dominance is adaptation to land</a:t>
            </a:r>
          </a:p>
          <a:p>
            <a:pPr marL="984250" lvl="4" indent="-269875">
              <a:buFont typeface="Arial" panose="020B0604020202020204" pitchFamily="34" charset="0"/>
              <a:buChar char="•"/>
            </a:pPr>
            <a:r>
              <a:rPr lang="en-US" altLang="en-US" sz="1800" dirty="0"/>
              <a:t>Only sporophytes have vascular systems</a:t>
            </a:r>
          </a:p>
          <a:p>
            <a:pPr marL="984250" lvl="4" indent="-269875">
              <a:buFont typeface="Arial" panose="020B0604020202020204" pitchFamily="34" charset="0"/>
              <a:buChar char="•"/>
            </a:pPr>
            <a:r>
              <a:rPr lang="en-US" altLang="en-US" sz="1800" dirty="0"/>
              <a:t>As the sporophyte becomes dominant, the gametophyte becomes reduced in size and dependent on sporophyte</a:t>
            </a:r>
          </a:p>
        </p:txBody>
      </p:sp>
      <p:sp>
        <p:nvSpPr>
          <p:cNvPr id="4" name="Slide Number Placeholder 3">
            <a:extLst>
              <a:ext uri="{FF2B5EF4-FFF2-40B4-BE49-F238E27FC236}">
                <a16:creationId xmlns:a16="http://schemas.microsoft.com/office/drawing/2014/main" id="{128AFB32-F42C-429B-A821-03F507127E3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noChangeArrowheads="1"/>
          </p:cNvSpPr>
          <p:nvPr>
            <p:ph type="title"/>
          </p:nvPr>
        </p:nvSpPr>
        <p:spPr>
          <a:xfrm>
            <a:off x="0" y="101422"/>
            <a:ext cx="9144000" cy="948213"/>
          </a:xfrm>
        </p:spPr>
        <p:txBody>
          <a:bodyPr>
            <a:noAutofit/>
          </a:bodyPr>
          <a:lstStyle/>
          <a:p>
            <a:pPr algn="ctr"/>
            <a:r>
              <a:rPr lang="en-US" altLang="en-US" dirty="0">
                <a:solidFill>
                  <a:schemeClr val="accent3">
                    <a:lumMod val="50000"/>
                  </a:schemeClr>
                </a:solidFill>
                <a:latin typeface="+mj-lt"/>
              </a:rPr>
              <a:t> Reduction in the Size of the Gametophyte</a:t>
            </a:r>
          </a:p>
        </p:txBody>
      </p:sp>
      <p:pic>
        <p:nvPicPr>
          <p:cNvPr id="13" name="Picture 2" descr="Illustration shows reduction in the size of the gametophyte and increase in sporophytes from moss to angiosperm. "/>
          <p:cNvPicPr>
            <a:picLocks noChangeAspect="1"/>
          </p:cNvPicPr>
          <p:nvPr/>
        </p:nvPicPr>
        <p:blipFill>
          <a:blip r:embed="rId3"/>
          <a:stretch>
            <a:fillRect/>
          </a:stretch>
        </p:blipFill>
        <p:spPr>
          <a:xfrm>
            <a:off x="670619" y="1252272"/>
            <a:ext cx="7802759" cy="3760912"/>
          </a:xfrm>
          <a:prstGeom prst="rect">
            <a:avLst/>
          </a:prstGeom>
        </p:spPr>
      </p:pic>
      <p:sp>
        <p:nvSpPr>
          <p:cNvPr id="12" name="Content Placeholder 3"/>
          <p:cNvSpPr>
            <a:spLocks noGrp="1"/>
          </p:cNvSpPr>
          <p:nvPr>
            <p:ph type="body" sz="quarter" idx="18"/>
          </p:nvPr>
        </p:nvSpPr>
        <p:spPr>
          <a:xfrm>
            <a:off x="4008716" y="5291403"/>
            <a:ext cx="1126566" cy="314325"/>
          </a:xfrm>
        </p:spPr>
        <p:txBody>
          <a:bodyPr/>
          <a:lstStyle/>
          <a:p>
            <a:r>
              <a:rPr lang="en-US" sz="1200" dirty="0"/>
              <a:t>Figure 23.6</a:t>
            </a:r>
          </a:p>
        </p:txBody>
      </p:sp>
      <p:sp>
        <p:nvSpPr>
          <p:cNvPr id="2" name="Text Placeholder 4">
            <a:extLst>
              <a:ext uri="{FF2B5EF4-FFF2-40B4-BE49-F238E27FC236}">
                <a16:creationId xmlns:a16="http://schemas.microsoft.com/office/drawing/2014/main" id="{E81A9D54-437D-4B24-AA93-407657CE56BF}"/>
              </a:ext>
            </a:extLst>
          </p:cNvPr>
          <p:cNvSpPr>
            <a:spLocks noGrp="1"/>
          </p:cNvSpPr>
          <p:nvPr>
            <p:ph type="body" sz="quarter" idx="19"/>
          </p:nvPr>
        </p:nvSpPr>
        <p:spPr>
          <a:xfrm>
            <a:off x="2947721" y="5726784"/>
            <a:ext cx="3248556" cy="31432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6" name="Slide Number Placeholder 5">
            <a:extLst>
              <a:ext uri="{FF2B5EF4-FFF2-40B4-BE49-F238E27FC236}">
                <a16:creationId xmlns:a16="http://schemas.microsoft.com/office/drawing/2014/main" id="{17810C59-0C39-49A8-BA73-D2D5303D1FDD}"/>
              </a:ext>
            </a:extLst>
          </p:cNvPr>
          <p:cNvSpPr>
            <a:spLocks noGrp="1"/>
          </p:cNvSpPr>
          <p:nvPr>
            <p:ph type="sldNum" sz="quarter" idx="4"/>
          </p:nvPr>
        </p:nvSpPr>
        <p:spPr/>
        <p:txBody>
          <a:bodyPr/>
          <a:lstStyle/>
          <a:p>
            <a:fld id="{08F9AD23-695F-4808-8E99-6281554D0F77}" type="slidenum">
              <a:rPr lang="en-IN" smtClean="0"/>
              <a:t>15</a:t>
            </a:fld>
            <a:endParaRPr lang="en-IN"/>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noChangeArrowheads="1"/>
          </p:cNvSpPr>
          <p:nvPr>
            <p:ph type="title"/>
          </p:nvPr>
        </p:nvSpPr>
        <p:spPr>
          <a:xfrm>
            <a:off x="342900" y="0"/>
            <a:ext cx="8458200" cy="1055077"/>
          </a:xfrm>
        </p:spPr>
        <p:txBody>
          <a:bodyPr>
            <a:noAutofit/>
          </a:bodyPr>
          <a:lstStyle/>
          <a:p>
            <a:pPr algn="ctr"/>
            <a:r>
              <a:rPr lang="en-US" altLang="en-US" dirty="0">
                <a:solidFill>
                  <a:schemeClr val="accent3">
                    <a:lumMod val="50000"/>
                  </a:schemeClr>
                </a:solidFill>
                <a:latin typeface="+mn-lt"/>
              </a:rPr>
              <a:t>23.2 Evolution of Bryophytes: Colonization of Land</a:t>
            </a:r>
          </a:p>
        </p:txBody>
      </p:sp>
      <p:sp>
        <p:nvSpPr>
          <p:cNvPr id="17411" name="Content Placeholder 2"/>
          <p:cNvSpPr>
            <a:spLocks noGrp="1" noChangeArrowheads="1"/>
          </p:cNvSpPr>
          <p:nvPr>
            <p:ph idx="1"/>
          </p:nvPr>
        </p:nvSpPr>
        <p:spPr>
          <a:xfrm>
            <a:off x="794826" y="1158240"/>
            <a:ext cx="7798189" cy="5133535"/>
          </a:xfrm>
        </p:spPr>
        <p:txBody>
          <a:bodyPr>
            <a:noAutofit/>
          </a:bodyPr>
          <a:lstStyle/>
          <a:p>
            <a:pPr>
              <a:spcBef>
                <a:spcPts val="0"/>
              </a:spcBef>
              <a:spcAft>
                <a:spcPts val="1500"/>
              </a:spcAft>
            </a:pPr>
            <a:r>
              <a:rPr lang="en-US" sz="2400" b="1" dirty="0">
                <a:solidFill>
                  <a:srgbClr val="D90000"/>
                </a:solidFill>
                <a:latin typeface="+mn-lt"/>
              </a:rPr>
              <a:t>Nonvascular plants</a:t>
            </a:r>
          </a:p>
          <a:p>
            <a:pPr lvl="1">
              <a:spcBef>
                <a:spcPts val="0"/>
              </a:spcBef>
              <a:spcAft>
                <a:spcPts val="1500"/>
              </a:spcAft>
              <a:buFont typeface="Arial" panose="020B0604020202020204" pitchFamily="34" charset="0"/>
              <a:buChar char="•"/>
            </a:pPr>
            <a:r>
              <a:rPr lang="en-US" sz="2200" dirty="0">
                <a:latin typeface="+mn-lt"/>
              </a:rPr>
              <a:t>First plants to colonize land</a:t>
            </a:r>
          </a:p>
          <a:p>
            <a:pPr marL="363538" lvl="2" indent="-363538">
              <a:spcBef>
                <a:spcPts val="0"/>
              </a:spcBef>
              <a:buFont typeface="Arial" panose="020B0604020202020204" pitchFamily="34" charset="0"/>
              <a:buChar char="•"/>
            </a:pPr>
            <a:r>
              <a:rPr lang="en-US" sz="2200" dirty="0">
                <a:latin typeface="+mn-lt"/>
              </a:rPr>
              <a:t>Absence of  </a:t>
            </a:r>
            <a:r>
              <a:rPr lang="en-US" sz="2200" b="1" dirty="0">
                <a:solidFill>
                  <a:srgbClr val="D90000"/>
                </a:solidFill>
                <a:latin typeface="+mn-lt"/>
              </a:rPr>
              <a:t>vascular tissue </a:t>
            </a:r>
            <a:r>
              <a:rPr lang="en-US" sz="2200" dirty="0">
                <a:latin typeface="+mn-lt"/>
              </a:rPr>
              <a:t>results </a:t>
            </a:r>
            <a:r>
              <a:rPr lang="en-US" sz="2200" dirty="0">
                <a:solidFill>
                  <a:schemeClr val="bg2">
                    <a:lumMod val="25000"/>
                  </a:schemeClr>
                </a:solidFill>
                <a:latin typeface="+mn-lt"/>
              </a:rPr>
              <a:t>in</a:t>
            </a:r>
            <a:r>
              <a:rPr lang="en-US" sz="2200" b="1" dirty="0">
                <a:solidFill>
                  <a:schemeClr val="bg2">
                    <a:lumMod val="25000"/>
                  </a:schemeClr>
                </a:solidFill>
                <a:latin typeface="+mn-lt"/>
              </a:rPr>
              <a:t> </a:t>
            </a:r>
            <a:r>
              <a:rPr lang="en-US" sz="2200" dirty="0">
                <a:latin typeface="+mn-lt"/>
              </a:rPr>
              <a:t>low-lying plants that</a:t>
            </a:r>
          </a:p>
          <a:p>
            <a:pPr marL="620713" lvl="3" indent="-257175">
              <a:spcBef>
                <a:spcPts val="1200"/>
              </a:spcBef>
              <a:buFont typeface="Arial" panose="020B0604020202020204" pitchFamily="34" charset="0"/>
              <a:buChar char="•"/>
            </a:pPr>
            <a:r>
              <a:rPr lang="en-US" sz="2000" dirty="0"/>
              <a:t>Lack specialized means of transporting water and organic nutrients</a:t>
            </a:r>
          </a:p>
          <a:p>
            <a:pPr marL="620713" lvl="3" indent="-257175">
              <a:spcBef>
                <a:spcPts val="1200"/>
              </a:spcBef>
              <a:buFont typeface="Arial" panose="020B0604020202020204" pitchFamily="34" charset="0"/>
              <a:buChar char="•"/>
            </a:pPr>
            <a:r>
              <a:rPr lang="en-US" sz="2000" dirty="0"/>
              <a:t>Do not have true roots, stems, and leaves</a:t>
            </a:r>
          </a:p>
          <a:p>
            <a:pPr marL="0" lvl="1" indent="0">
              <a:spcBef>
                <a:spcPts val="1200"/>
              </a:spcBef>
              <a:spcAft>
                <a:spcPts val="0"/>
              </a:spcAft>
              <a:buNone/>
            </a:pPr>
            <a:r>
              <a:rPr lang="en-US" sz="2400" dirty="0">
                <a:latin typeface="+mn-lt"/>
              </a:rPr>
              <a:t>Gametophyte dominant generation</a:t>
            </a:r>
          </a:p>
          <a:p>
            <a:pPr marL="363538" lvl="2" indent="-363538">
              <a:spcBef>
                <a:spcPts val="1200"/>
              </a:spcBef>
              <a:spcAft>
                <a:spcPts val="0"/>
              </a:spcAft>
            </a:pPr>
            <a:r>
              <a:rPr lang="en-US" sz="2200" dirty="0">
                <a:latin typeface="+mn-lt"/>
              </a:rPr>
              <a:t>Produces eggs in archegonia</a:t>
            </a:r>
          </a:p>
          <a:p>
            <a:pPr marL="363538" lvl="2" indent="-363538">
              <a:spcBef>
                <a:spcPts val="1200"/>
              </a:spcBef>
              <a:spcAft>
                <a:spcPts val="0"/>
              </a:spcAft>
            </a:pPr>
            <a:r>
              <a:rPr lang="en-US" sz="2200" dirty="0">
                <a:latin typeface="+mn-lt"/>
              </a:rPr>
              <a:t>Produces flagellated sperm in antheridia</a:t>
            </a:r>
          </a:p>
          <a:p>
            <a:pPr marL="363538" lvl="2" indent="-363538">
              <a:spcBef>
                <a:spcPts val="1200"/>
              </a:spcBef>
              <a:spcAft>
                <a:spcPts val="0"/>
              </a:spcAft>
            </a:pPr>
            <a:r>
              <a:rPr lang="en-US" sz="2200" dirty="0">
                <a:latin typeface="+mn-lt"/>
              </a:rPr>
              <a:t>Sperm swim to egg in film of water</a:t>
            </a:r>
          </a:p>
        </p:txBody>
      </p:sp>
      <p:sp>
        <p:nvSpPr>
          <p:cNvPr id="4" name="Slide Number Placeholder 3">
            <a:extLst>
              <a:ext uri="{FF2B5EF4-FFF2-40B4-BE49-F238E27FC236}">
                <a16:creationId xmlns:a16="http://schemas.microsoft.com/office/drawing/2014/main" id="{98ECB976-21D2-46B5-B0DF-A47C486CA54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16</a:t>
            </a:fld>
            <a:endParaRPr lang="en-IN"/>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Title 1"/>
          <p:cNvSpPr>
            <a:spLocks noGrp="1" noChangeArrowheads="1"/>
          </p:cNvSpPr>
          <p:nvPr>
            <p:ph type="title"/>
          </p:nvPr>
        </p:nvSpPr>
        <p:spPr>
          <a:xfrm>
            <a:off x="392136" y="0"/>
            <a:ext cx="8359728" cy="1032458"/>
          </a:xfrm>
        </p:spPr>
        <p:txBody>
          <a:bodyPr>
            <a:normAutofit/>
          </a:bodyPr>
          <a:lstStyle/>
          <a:p>
            <a:pPr algn="ctr"/>
            <a:r>
              <a:rPr lang="en-US" altLang="en-US" dirty="0">
                <a:solidFill>
                  <a:schemeClr val="accent3">
                    <a:lumMod val="50000"/>
                  </a:schemeClr>
                </a:solidFill>
                <a:latin typeface="+mj-lt"/>
              </a:rPr>
              <a:t>Liverworts</a:t>
            </a:r>
          </a:p>
        </p:txBody>
      </p:sp>
      <p:sp>
        <p:nvSpPr>
          <p:cNvPr id="1448963" name="Content Placeholder 2"/>
          <p:cNvSpPr>
            <a:spLocks noGrp="1" noChangeArrowheads="1"/>
          </p:cNvSpPr>
          <p:nvPr>
            <p:ph idx="1"/>
          </p:nvPr>
        </p:nvSpPr>
        <p:spPr>
          <a:xfrm>
            <a:off x="392136" y="898540"/>
            <a:ext cx="8359728" cy="5819335"/>
          </a:xfrm>
        </p:spPr>
        <p:txBody>
          <a:bodyPr>
            <a:noAutofit/>
          </a:bodyPr>
          <a:lstStyle/>
          <a:p>
            <a:pPr>
              <a:spcBef>
                <a:spcPts val="0"/>
              </a:spcBef>
              <a:spcAft>
                <a:spcPts val="1500"/>
              </a:spcAft>
            </a:pPr>
            <a:r>
              <a:rPr lang="en-US" sz="2200" b="1" dirty="0">
                <a:solidFill>
                  <a:srgbClr val="D90000"/>
                </a:solidFill>
                <a:latin typeface="+mn-lt"/>
              </a:rPr>
              <a:t>Liverwort</a:t>
            </a:r>
            <a:r>
              <a:rPr lang="en-US" sz="2200" dirty="0">
                <a:latin typeface="+mn-lt"/>
              </a:rPr>
              <a:t> gametophytes (n) are divided into two groups:</a:t>
            </a:r>
          </a:p>
          <a:p>
            <a:pPr lvl="1">
              <a:spcBef>
                <a:spcPts val="0"/>
              </a:spcBef>
              <a:spcAft>
                <a:spcPts val="1500"/>
              </a:spcAft>
              <a:buFont typeface="Arial" panose="020B0604020202020204" pitchFamily="34" charset="0"/>
              <a:buChar char="•"/>
            </a:pPr>
            <a:r>
              <a:rPr lang="en-US" sz="2000" dirty="0" err="1">
                <a:latin typeface="+mn-lt"/>
              </a:rPr>
              <a:t>Thallose</a:t>
            </a:r>
            <a:r>
              <a:rPr lang="en-US" sz="2000" dirty="0">
                <a:latin typeface="+mn-lt"/>
              </a:rPr>
              <a:t> liverworts: have a flattened body known as a thallus </a:t>
            </a:r>
          </a:p>
          <a:p>
            <a:pPr lvl="1">
              <a:spcBef>
                <a:spcPts val="0"/>
              </a:spcBef>
              <a:spcAft>
                <a:spcPts val="1500"/>
              </a:spcAft>
              <a:buFont typeface="Arial" panose="020B0604020202020204" pitchFamily="34" charset="0"/>
              <a:buChar char="•"/>
            </a:pPr>
            <a:r>
              <a:rPr lang="en-US" sz="2000" dirty="0">
                <a:latin typeface="+mn-lt"/>
              </a:rPr>
              <a:t>Leafy liverworts: superficially resemble mosses</a:t>
            </a:r>
          </a:p>
          <a:p>
            <a:pPr>
              <a:spcBef>
                <a:spcPts val="0"/>
              </a:spcBef>
              <a:spcAft>
                <a:spcPts val="1500"/>
              </a:spcAft>
            </a:pPr>
            <a:r>
              <a:rPr lang="en-US" sz="2200" dirty="0">
                <a:latin typeface="+mn-lt"/>
              </a:rPr>
              <a:t>Some liverworts like </a:t>
            </a:r>
            <a:r>
              <a:rPr lang="en-US" sz="2200" i="1" dirty="0">
                <a:latin typeface="+mn-lt"/>
              </a:rPr>
              <a:t>Marchantia</a:t>
            </a:r>
            <a:r>
              <a:rPr lang="en-US" sz="2200" dirty="0">
                <a:latin typeface="+mn-lt"/>
              </a:rPr>
              <a:t> contain </a:t>
            </a:r>
            <a:r>
              <a:rPr lang="en-US" sz="2200" b="1" dirty="0">
                <a:solidFill>
                  <a:srgbClr val="D90000"/>
                </a:solidFill>
                <a:latin typeface="+mn-lt"/>
              </a:rPr>
              <a:t>rhizoids</a:t>
            </a:r>
          </a:p>
          <a:p>
            <a:pPr lvl="1">
              <a:spcBef>
                <a:spcPts val="0"/>
              </a:spcBef>
              <a:spcAft>
                <a:spcPts val="1500"/>
              </a:spcAft>
              <a:buFont typeface="Arial" panose="020B0604020202020204" pitchFamily="34" charset="0"/>
              <a:buChar char="•"/>
            </a:pPr>
            <a:r>
              <a:rPr lang="en-US" sz="2000" dirty="0">
                <a:latin typeface="+mn-lt"/>
              </a:rPr>
              <a:t>Hairy extensions that anchor plant in soil and aid in absorption</a:t>
            </a:r>
          </a:p>
          <a:p>
            <a:pPr>
              <a:spcBef>
                <a:spcPts val="0"/>
              </a:spcBef>
              <a:spcAft>
                <a:spcPts val="1500"/>
              </a:spcAft>
            </a:pPr>
            <a:r>
              <a:rPr lang="en-US" sz="2200" dirty="0">
                <a:latin typeface="+mn-lt"/>
              </a:rPr>
              <a:t>Liverworts can reproduce either sexually or asexually</a:t>
            </a:r>
          </a:p>
          <a:p>
            <a:pPr lvl="1">
              <a:spcBef>
                <a:spcPts val="0"/>
              </a:spcBef>
              <a:spcAft>
                <a:spcPts val="1500"/>
              </a:spcAft>
              <a:buFont typeface="Arial" panose="020B0604020202020204" pitchFamily="34" charset="0"/>
              <a:buChar char="•"/>
            </a:pPr>
            <a:r>
              <a:rPr lang="en-US" sz="2000" dirty="0" err="1">
                <a:latin typeface="+mn-lt"/>
              </a:rPr>
              <a:t>Gemmae</a:t>
            </a:r>
            <a:r>
              <a:rPr lang="en-US" sz="2000" dirty="0">
                <a:latin typeface="+mn-lt"/>
              </a:rPr>
              <a:t> are groups of cells that detach from the thallus and start a new plant (asexual)</a:t>
            </a:r>
          </a:p>
          <a:p>
            <a:pPr lvl="1">
              <a:spcBef>
                <a:spcPts val="0"/>
              </a:spcBef>
              <a:spcAft>
                <a:spcPts val="1500"/>
              </a:spcAft>
              <a:buFont typeface="Arial" panose="020B0604020202020204" pitchFamily="34" charset="0"/>
              <a:buChar char="•"/>
            </a:pPr>
            <a:r>
              <a:rPr lang="en-US" sz="2000" dirty="0">
                <a:latin typeface="+mn-lt"/>
              </a:rPr>
              <a:t>Sexual reproduction depends on two types of stalks bearing either antheridia (n) or archegonia (n)</a:t>
            </a:r>
          </a:p>
          <a:p>
            <a:pPr marL="722313" lvl="2" indent="-360363">
              <a:spcBef>
                <a:spcPts val="0"/>
              </a:spcBef>
              <a:spcAft>
                <a:spcPts val="1500"/>
              </a:spcAft>
              <a:buFont typeface="Arial" panose="020B0604020202020204" pitchFamily="34" charset="0"/>
              <a:buChar char="•"/>
            </a:pPr>
            <a:r>
              <a:rPr lang="en-US" sz="1800" dirty="0">
                <a:latin typeface="+mn-lt"/>
              </a:rPr>
              <a:t>Sporophyte (2n) grows from a fertilized egg within the archegonia</a:t>
            </a:r>
          </a:p>
          <a:p>
            <a:pPr marL="722313" lvl="2" indent="-360363">
              <a:spcBef>
                <a:spcPts val="0"/>
              </a:spcBef>
              <a:spcAft>
                <a:spcPts val="1500"/>
              </a:spcAft>
              <a:buFont typeface="Arial" panose="020B0604020202020204" pitchFamily="34" charset="0"/>
              <a:buChar char="•"/>
            </a:pPr>
            <a:r>
              <a:rPr lang="en-US" sz="1800" dirty="0">
                <a:latin typeface="+mn-lt"/>
              </a:rPr>
              <a:t>Sporophyte grows a capsule which produces and releases spores (n)	</a:t>
            </a:r>
          </a:p>
        </p:txBody>
      </p:sp>
      <p:sp>
        <p:nvSpPr>
          <p:cNvPr id="4" name="Slide Number Placeholder 3">
            <a:extLst>
              <a:ext uri="{FF2B5EF4-FFF2-40B4-BE49-F238E27FC236}">
                <a16:creationId xmlns:a16="http://schemas.microsoft.com/office/drawing/2014/main" id="{832196B8-1365-4C0C-B164-ADEE0D36215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17</a:t>
            </a:fld>
            <a:endParaRPr lang="en-IN"/>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noChangeArrowheads="1"/>
          </p:cNvSpPr>
          <p:nvPr>
            <p:ph type="title"/>
          </p:nvPr>
        </p:nvSpPr>
        <p:spPr/>
        <p:txBody>
          <a:bodyPr/>
          <a:lstStyle/>
          <a:p>
            <a:pPr algn="ctr"/>
            <a:r>
              <a:rPr lang="en-US" altLang="en-US" dirty="0">
                <a:solidFill>
                  <a:schemeClr val="accent3">
                    <a:lumMod val="50000"/>
                  </a:schemeClr>
                </a:solidFill>
                <a:latin typeface="+mn-lt"/>
              </a:rPr>
              <a:t>Liverwort, </a:t>
            </a:r>
            <a:r>
              <a:rPr lang="en-US" altLang="en-US" i="1" dirty="0">
                <a:solidFill>
                  <a:schemeClr val="accent3">
                    <a:lumMod val="50000"/>
                  </a:schemeClr>
                </a:solidFill>
                <a:latin typeface="+mn-lt"/>
              </a:rPr>
              <a:t>Marchantia</a:t>
            </a:r>
          </a:p>
        </p:txBody>
      </p:sp>
      <p:pic>
        <p:nvPicPr>
          <p:cNvPr id="4" name="Picture 2" descr="Set of three illustrations are marked a through c.">
            <a:extLst>
              <a:ext uri="{FF2B5EF4-FFF2-40B4-BE49-F238E27FC236}">
                <a16:creationId xmlns:a16="http://schemas.microsoft.com/office/drawing/2014/main" id="{D0B9C3AB-8192-4246-962D-75B85D43E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209" y="1521198"/>
            <a:ext cx="8791575" cy="3228975"/>
          </a:xfrm>
          <a:prstGeom prst="rect">
            <a:avLst/>
          </a:prstGeom>
        </p:spPr>
      </p:pic>
      <p:sp>
        <p:nvSpPr>
          <p:cNvPr id="10" name="Content Placeholder 3"/>
          <p:cNvSpPr>
            <a:spLocks noGrp="1"/>
          </p:cNvSpPr>
          <p:nvPr>
            <p:ph type="body" sz="quarter" idx="18"/>
          </p:nvPr>
        </p:nvSpPr>
        <p:spPr>
          <a:xfrm>
            <a:off x="3936717" y="4932805"/>
            <a:ext cx="1269441" cy="314325"/>
          </a:xfrm>
        </p:spPr>
        <p:txBody>
          <a:bodyPr/>
          <a:lstStyle/>
          <a:p>
            <a:r>
              <a:rPr lang="en-US" sz="1200" dirty="0"/>
              <a:t>Figure 23.7</a:t>
            </a:r>
          </a:p>
        </p:txBody>
      </p:sp>
      <p:sp>
        <p:nvSpPr>
          <p:cNvPr id="9" name="Content Placeholder 4"/>
          <p:cNvSpPr>
            <a:spLocks noGrp="1"/>
          </p:cNvSpPr>
          <p:nvPr>
            <p:ph type="body" sz="quarter" idx="19"/>
          </p:nvPr>
        </p:nvSpPr>
        <p:spPr>
          <a:xfrm>
            <a:off x="2968857" y="5336802"/>
            <a:ext cx="3205162" cy="344018"/>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5" name="Text Placeholder 5">
            <a:extLst>
              <a:ext uri="{FF2B5EF4-FFF2-40B4-BE49-F238E27FC236}">
                <a16:creationId xmlns:a16="http://schemas.microsoft.com/office/drawing/2014/main" id="{E46877A9-F12F-446F-82FE-A280D97A9A19}"/>
              </a:ext>
            </a:extLst>
          </p:cNvPr>
          <p:cNvSpPr>
            <a:spLocks noGrp="1"/>
          </p:cNvSpPr>
          <p:nvPr>
            <p:ph type="body" sz="quarter" idx="21"/>
          </p:nvPr>
        </p:nvSpPr>
        <p:spPr/>
        <p:txBody>
          <a:bodyPr/>
          <a:lstStyle/>
          <a:p>
            <a:pPr lvl="0"/>
            <a:r>
              <a:rPr lang="en-US" sz="800" dirty="0"/>
              <a:t>(a): Ed Reschke/Getty Images; (b): J. M. </a:t>
            </a:r>
            <a:r>
              <a:rPr lang="en-US" sz="800" dirty="0" err="1"/>
              <a:t>Conrarder</a:t>
            </a:r>
            <a:r>
              <a:rPr lang="en-US" sz="800" dirty="0"/>
              <a:t>/Science Source; (c): Ed Reschke/Stone/Getty Images</a:t>
            </a:r>
            <a:endParaRPr lang="en-GB" sz="800" dirty="0"/>
          </a:p>
        </p:txBody>
      </p:sp>
      <p:sp>
        <p:nvSpPr>
          <p:cNvPr id="12" name="Slide Number Placeholder 6">
            <a:extLst>
              <a:ext uri="{FF2B5EF4-FFF2-40B4-BE49-F238E27FC236}">
                <a16:creationId xmlns:a16="http://schemas.microsoft.com/office/drawing/2014/main" id="{564D8959-049E-49EE-9D63-3696C380407B}"/>
              </a:ext>
            </a:extLst>
          </p:cNvPr>
          <p:cNvSpPr>
            <a:spLocks noGrp="1"/>
          </p:cNvSpPr>
          <p:nvPr>
            <p:ph type="sldNum" sz="quarter" idx="4"/>
          </p:nvPr>
        </p:nvSpPr>
        <p:spPr/>
        <p:txBody>
          <a:bodyPr/>
          <a:lstStyle/>
          <a:p>
            <a:fld id="{08F9AD23-695F-4808-8E99-6281554D0F77}" type="slidenum">
              <a:rPr lang="en-IN" smtClean="0"/>
              <a:t>18</a:t>
            </a:fld>
            <a:endParaRPr lang="en-IN"/>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Title 1"/>
          <p:cNvSpPr>
            <a:spLocks noGrp="1" noChangeArrowheads="1"/>
          </p:cNvSpPr>
          <p:nvPr>
            <p:ph type="title"/>
          </p:nvPr>
        </p:nvSpPr>
        <p:spPr>
          <a:xfrm>
            <a:off x="342900" y="0"/>
            <a:ext cx="8458200" cy="1083733"/>
          </a:xfrm>
        </p:spPr>
        <p:txBody>
          <a:bodyPr/>
          <a:lstStyle/>
          <a:p>
            <a:pPr algn="ctr"/>
            <a:r>
              <a:rPr lang="en-US" altLang="en-US" sz="3600" dirty="0">
                <a:solidFill>
                  <a:schemeClr val="accent3">
                    <a:lumMod val="50000"/>
                  </a:schemeClr>
                </a:solidFill>
                <a:latin typeface="+mn-lt"/>
              </a:rPr>
              <a:t>Hornworts</a:t>
            </a:r>
          </a:p>
        </p:txBody>
      </p:sp>
      <p:sp>
        <p:nvSpPr>
          <p:cNvPr id="1448963" name="Content Placeholder 2"/>
          <p:cNvSpPr>
            <a:spLocks noGrp="1" noChangeArrowheads="1"/>
          </p:cNvSpPr>
          <p:nvPr>
            <p:ph idx="1"/>
          </p:nvPr>
        </p:nvSpPr>
        <p:spPr>
          <a:xfrm>
            <a:off x="457200" y="1295400"/>
            <a:ext cx="8428616" cy="5250543"/>
          </a:xfrm>
        </p:spPr>
        <p:txBody>
          <a:bodyPr>
            <a:normAutofit/>
          </a:bodyPr>
          <a:lstStyle/>
          <a:p>
            <a:pPr marL="347472" lvl="2" indent="-347472">
              <a:spcBef>
                <a:spcPts val="0"/>
              </a:spcBef>
              <a:spcAft>
                <a:spcPts val="600"/>
              </a:spcAft>
              <a:buFont typeface="Arial" panose="020B0604020202020204" pitchFamily="34" charset="0"/>
              <a:buChar char="•"/>
            </a:pPr>
            <a:r>
              <a:rPr lang="en-US" sz="2400" dirty="0">
                <a:latin typeface="+mn-lt"/>
              </a:rPr>
              <a:t>Have small sporophytes rising out of thin gametophytes that carry on photosynthesis</a:t>
            </a:r>
          </a:p>
          <a:p>
            <a:pPr marL="347472" lvl="2" indent="-347472">
              <a:lnSpc>
                <a:spcPct val="150000"/>
              </a:lnSpc>
              <a:spcBef>
                <a:spcPts val="0"/>
              </a:spcBef>
              <a:spcAft>
                <a:spcPts val="0"/>
              </a:spcAft>
              <a:buFont typeface="Arial" panose="020B0604020202020204" pitchFamily="34" charset="0"/>
              <a:buChar char="•"/>
            </a:pPr>
            <a:r>
              <a:rPr lang="en-US" sz="2400" dirty="0">
                <a:latin typeface="+mn-lt"/>
              </a:rPr>
              <a:t>Sporophyte has one chloroplast per cell</a:t>
            </a:r>
          </a:p>
          <a:p>
            <a:pPr marL="347472" lvl="2" indent="-347472">
              <a:buFont typeface="Arial" panose="020B0604020202020204" pitchFamily="34" charset="0"/>
              <a:buChar char="•"/>
            </a:pPr>
            <a:r>
              <a:rPr lang="en-US" sz="2400" dirty="0">
                <a:latin typeface="+mn-lt"/>
              </a:rPr>
              <a:t>Most live in moist, well-shaded areas.</a:t>
            </a:r>
          </a:p>
          <a:p>
            <a:pPr marL="347472" lvl="2" indent="-347472">
              <a:buFont typeface="Arial" panose="020B0604020202020204" pitchFamily="34" charset="0"/>
              <a:buChar char="•"/>
            </a:pPr>
            <a:r>
              <a:rPr lang="en-US" sz="2400" dirty="0">
                <a:latin typeface="+mn-lt"/>
              </a:rPr>
              <a:t>Symbiotic relationship with cyanobacteria allow nitrogen fixation from the air</a:t>
            </a:r>
          </a:p>
          <a:p>
            <a:pPr marL="347472" lvl="2" indent="-347472">
              <a:buFont typeface="Arial" panose="020B0604020202020204" pitchFamily="34" charset="0"/>
              <a:buChar char="•"/>
            </a:pPr>
            <a:r>
              <a:rPr lang="en-US" sz="2400" dirty="0">
                <a:latin typeface="+mn-lt"/>
              </a:rPr>
              <a:t>Can bypass alternation of generations by reproducing asexually through fragmentation</a:t>
            </a:r>
          </a:p>
        </p:txBody>
      </p:sp>
      <p:sp>
        <p:nvSpPr>
          <p:cNvPr id="4" name="Slide Number Placeholder 3">
            <a:extLst>
              <a:ext uri="{FF2B5EF4-FFF2-40B4-BE49-F238E27FC236}">
                <a16:creationId xmlns:a16="http://schemas.microsoft.com/office/drawing/2014/main" id="{FC442FD7-6A9A-4C43-B2EA-200F214E54E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19</a:t>
            </a:fld>
            <a:endParaRPr lang="en-IN"/>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p:nvPr>
        </p:nvSpPr>
        <p:spPr/>
        <p:txBody>
          <a:bodyPr/>
          <a:lstStyle/>
          <a:p>
            <a:pPr algn="ctr"/>
            <a:r>
              <a:rPr lang="en-US" altLang="en-US" dirty="0">
                <a:solidFill>
                  <a:schemeClr val="accent3">
                    <a:lumMod val="50000"/>
                  </a:schemeClr>
                </a:solidFill>
              </a:rPr>
              <a:t>Hornwort, </a:t>
            </a:r>
            <a:r>
              <a:rPr lang="en-US" altLang="en-US" i="1" dirty="0">
                <a:solidFill>
                  <a:schemeClr val="accent3">
                    <a:lumMod val="50000"/>
                  </a:schemeClr>
                </a:solidFill>
              </a:rPr>
              <a:t>Anthoceros</a:t>
            </a:r>
            <a:r>
              <a:rPr lang="en-US" altLang="en-US" dirty="0">
                <a:solidFill>
                  <a:schemeClr val="accent3">
                    <a:lumMod val="50000"/>
                  </a:schemeClr>
                </a:solidFill>
              </a:rPr>
              <a:t> sp.</a:t>
            </a:r>
          </a:p>
        </p:txBody>
      </p:sp>
      <p:pic>
        <p:nvPicPr>
          <p:cNvPr id="6" name="Picture 2" descr="The “horns” of a hornwort are sporophytes that grow continuously from a base anchored in gametophyte tissue."/>
          <p:cNvPicPr>
            <a:picLocks noChangeAspect="1"/>
          </p:cNvPicPr>
          <p:nvPr/>
        </p:nvPicPr>
        <p:blipFill>
          <a:blip r:embed="rId3"/>
          <a:stretch>
            <a:fillRect/>
          </a:stretch>
        </p:blipFill>
        <p:spPr>
          <a:xfrm>
            <a:off x="1331056" y="1841605"/>
            <a:ext cx="6647490" cy="3841351"/>
          </a:xfrm>
          <a:prstGeom prst="rect">
            <a:avLst/>
          </a:prstGeom>
        </p:spPr>
      </p:pic>
      <p:sp>
        <p:nvSpPr>
          <p:cNvPr id="4" name="Content Placeholder 3"/>
          <p:cNvSpPr>
            <a:spLocks noGrp="1"/>
          </p:cNvSpPr>
          <p:nvPr>
            <p:ph type="body" sz="quarter" idx="18"/>
          </p:nvPr>
        </p:nvSpPr>
        <p:spPr>
          <a:xfrm>
            <a:off x="3896865" y="5849664"/>
            <a:ext cx="1350270" cy="314325"/>
          </a:xfrm>
        </p:spPr>
        <p:txBody>
          <a:bodyPr/>
          <a:lstStyle/>
          <a:p>
            <a:r>
              <a:rPr lang="en-US" sz="1200" dirty="0"/>
              <a:t>Figure 23.8</a:t>
            </a:r>
          </a:p>
        </p:txBody>
      </p:sp>
      <p:sp>
        <p:nvSpPr>
          <p:cNvPr id="8" name="Text Placeholder 4">
            <a:extLst>
              <a:ext uri="{FF2B5EF4-FFF2-40B4-BE49-F238E27FC236}">
                <a16:creationId xmlns:a16="http://schemas.microsoft.com/office/drawing/2014/main" id="{85505A5C-B73C-4A54-80CA-C00B380BBC90}"/>
              </a:ext>
            </a:extLst>
          </p:cNvPr>
          <p:cNvSpPr>
            <a:spLocks noGrp="1"/>
          </p:cNvSpPr>
          <p:nvPr>
            <p:ph type="body" sz="quarter" idx="21"/>
          </p:nvPr>
        </p:nvSpPr>
        <p:spPr>
          <a:xfrm>
            <a:off x="596008" y="6572035"/>
            <a:ext cx="8101482" cy="191493"/>
          </a:xfrm>
        </p:spPr>
        <p:txBody>
          <a:bodyPr/>
          <a:lstStyle/>
          <a:p>
            <a:r>
              <a:rPr lang="en-US" sz="800" dirty="0"/>
              <a:t>(photo): Steven P. Lynch</a:t>
            </a:r>
          </a:p>
        </p:txBody>
      </p:sp>
      <p:sp>
        <p:nvSpPr>
          <p:cNvPr id="7" name="Slide Number Placeholder 5">
            <a:extLst>
              <a:ext uri="{FF2B5EF4-FFF2-40B4-BE49-F238E27FC236}">
                <a16:creationId xmlns:a16="http://schemas.microsoft.com/office/drawing/2014/main" id="{8E008B54-2A51-48C2-B3E6-20BC4BF38F4E}"/>
              </a:ext>
            </a:extLst>
          </p:cNvPr>
          <p:cNvSpPr>
            <a:spLocks noGrp="1"/>
          </p:cNvSpPr>
          <p:nvPr>
            <p:ph type="sldNum" sz="quarter" idx="4"/>
          </p:nvPr>
        </p:nvSpPr>
        <p:spPr/>
        <p:txBody>
          <a:bodyPr/>
          <a:lstStyle/>
          <a:p>
            <a:fld id="{08F9AD23-695F-4808-8E99-6281554D0F77}" type="slidenum">
              <a:rPr lang="en-IN" smtClean="0"/>
              <a:t>20</a:t>
            </a:fld>
            <a:endParaRPr lang="en-IN"/>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Title 1"/>
          <p:cNvSpPr>
            <a:spLocks noGrp="1" noChangeArrowheads="1"/>
          </p:cNvSpPr>
          <p:nvPr>
            <p:ph type="title"/>
          </p:nvPr>
        </p:nvSpPr>
        <p:spPr>
          <a:xfrm>
            <a:off x="457200" y="0"/>
            <a:ext cx="8229600" cy="1094045"/>
          </a:xfrm>
        </p:spPr>
        <p:txBody>
          <a:bodyPr>
            <a:normAutofit/>
          </a:bodyPr>
          <a:lstStyle/>
          <a:p>
            <a:pPr algn="ctr"/>
            <a:r>
              <a:rPr lang="en-US" altLang="en-US" dirty="0">
                <a:solidFill>
                  <a:schemeClr val="accent3">
                    <a:lumMod val="50000"/>
                  </a:schemeClr>
                </a:solidFill>
                <a:latin typeface="+mj-lt"/>
              </a:rPr>
              <a:t>Mosses</a:t>
            </a:r>
          </a:p>
        </p:txBody>
      </p:sp>
      <p:sp>
        <p:nvSpPr>
          <p:cNvPr id="1448963" name="Content Placeholder 2"/>
          <p:cNvSpPr>
            <a:spLocks noGrp="1" noChangeArrowheads="1"/>
          </p:cNvSpPr>
          <p:nvPr>
            <p:ph idx="1"/>
          </p:nvPr>
        </p:nvSpPr>
        <p:spPr>
          <a:xfrm>
            <a:off x="457200" y="912741"/>
            <a:ext cx="8229600" cy="5289805"/>
          </a:xfrm>
        </p:spPr>
        <p:txBody>
          <a:bodyPr>
            <a:noAutofit/>
          </a:bodyPr>
          <a:lstStyle/>
          <a:p>
            <a:pPr marL="0" lvl="1" indent="0">
              <a:lnSpc>
                <a:spcPct val="150000"/>
              </a:lnSpc>
              <a:spcBef>
                <a:spcPts val="0"/>
              </a:spcBef>
              <a:buNone/>
            </a:pPr>
            <a:r>
              <a:rPr lang="en-US" sz="2400" dirty="0"/>
              <a:t>Largest phyla of nonvascular plants</a:t>
            </a:r>
          </a:p>
          <a:p>
            <a:pPr marL="0" lvl="1" indent="0">
              <a:lnSpc>
                <a:spcPct val="150000"/>
              </a:lnSpc>
              <a:spcBef>
                <a:spcPts val="0"/>
              </a:spcBef>
              <a:buNone/>
            </a:pPr>
            <a:r>
              <a:rPr lang="en-US" sz="2400" dirty="0"/>
              <a:t>Mostly found in moist environments</a:t>
            </a:r>
          </a:p>
          <a:p>
            <a:pPr marL="0" lvl="1" indent="0">
              <a:lnSpc>
                <a:spcPct val="90000"/>
              </a:lnSpc>
              <a:spcBef>
                <a:spcPts val="1200"/>
              </a:spcBef>
              <a:buNone/>
            </a:pPr>
            <a:r>
              <a:rPr lang="en-US" sz="2400" dirty="0"/>
              <a:t>In dry environments they may become shriveled, turn brown, and look dead but when it rains they resume metabolic activity and turn green</a:t>
            </a:r>
          </a:p>
          <a:p>
            <a:pPr marL="0" lvl="1" indent="0">
              <a:lnSpc>
                <a:spcPct val="90000"/>
              </a:lnSpc>
              <a:spcBef>
                <a:spcPts val="1200"/>
              </a:spcBef>
              <a:buNone/>
            </a:pPr>
            <a:r>
              <a:rPr lang="en-US" sz="2400" dirty="0"/>
              <a:t>Three distinct groupings of mosses:</a:t>
            </a:r>
          </a:p>
          <a:p>
            <a:pPr marL="266700" lvl="2" indent="-266700">
              <a:lnSpc>
                <a:spcPct val="90000"/>
              </a:lnSpc>
              <a:spcBef>
                <a:spcPts val="1200"/>
              </a:spcBef>
            </a:pPr>
            <a:r>
              <a:rPr lang="en-US" sz="2200" dirty="0"/>
              <a:t>Peat mosses, granite mosses, true mosses</a:t>
            </a:r>
          </a:p>
          <a:p>
            <a:pPr marL="531813" lvl="3" indent="-265113">
              <a:lnSpc>
                <a:spcPct val="90000"/>
              </a:lnSpc>
              <a:spcBef>
                <a:spcPts val="1200"/>
              </a:spcBef>
              <a:buFont typeface="Arial" panose="020B0604020202020204" pitchFamily="34" charset="0"/>
              <a:buChar char="•"/>
            </a:pPr>
            <a:r>
              <a:rPr lang="en-US" sz="2000" dirty="0"/>
              <a:t>Peat moss has great commercial and ecological importance to humans</a:t>
            </a:r>
          </a:p>
          <a:p>
            <a:pPr marL="809625" lvl="4" indent="-277813">
              <a:lnSpc>
                <a:spcPct val="90000"/>
              </a:lnSpc>
              <a:spcBef>
                <a:spcPts val="1200"/>
              </a:spcBef>
              <a:buFont typeface="Arial" panose="020B0604020202020204" pitchFamily="34" charset="0"/>
              <a:buChar char="•"/>
            </a:pPr>
            <a:r>
              <a:rPr lang="en-US" sz="1800" dirty="0"/>
              <a:t>Used to improve the water-capacity of soil</a:t>
            </a:r>
          </a:p>
          <a:p>
            <a:pPr marL="809625" lvl="4" indent="-277813">
              <a:lnSpc>
                <a:spcPct val="90000"/>
              </a:lnSpc>
              <a:spcBef>
                <a:spcPts val="1200"/>
              </a:spcBef>
              <a:buFont typeface="Arial" panose="020B0604020202020204" pitchFamily="34" charset="0"/>
              <a:buChar char="•"/>
            </a:pPr>
            <a:r>
              <a:rPr lang="en-US" sz="1800" dirty="0"/>
              <a:t>Was used as wound dressing on battlefields</a:t>
            </a:r>
          </a:p>
        </p:txBody>
      </p:sp>
      <p:sp>
        <p:nvSpPr>
          <p:cNvPr id="4" name="Slide Number Placeholder 3">
            <a:extLst>
              <a:ext uri="{FF2B5EF4-FFF2-40B4-BE49-F238E27FC236}">
                <a16:creationId xmlns:a16="http://schemas.microsoft.com/office/drawing/2014/main" id="{DFC848BC-087D-4FF7-8C5E-78FC5DC0C58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21</a:t>
            </a:fld>
            <a:endParaRPr lang="en-IN"/>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D8CC0-FA48-48FB-8D75-6D08BD3BCBFC}"/>
              </a:ext>
            </a:extLst>
          </p:cNvPr>
          <p:cNvSpPr>
            <a:spLocks noGrp="1"/>
          </p:cNvSpPr>
          <p:nvPr>
            <p:ph type="title"/>
          </p:nvPr>
        </p:nvSpPr>
        <p:spPr/>
        <p:txBody>
          <a:bodyPr/>
          <a:lstStyle/>
          <a:p>
            <a:r>
              <a:rPr lang="en-US" dirty="0"/>
              <a:t>Life Cycle of Moss</a:t>
            </a:r>
          </a:p>
        </p:txBody>
      </p:sp>
      <p:sp>
        <p:nvSpPr>
          <p:cNvPr id="6" name="Content Placeholder 2">
            <a:extLst>
              <a:ext uri="{FF2B5EF4-FFF2-40B4-BE49-F238E27FC236}">
                <a16:creationId xmlns:a16="http://schemas.microsoft.com/office/drawing/2014/main" id="{92B8B81D-FA71-4578-932E-3623499B8647}"/>
              </a:ext>
            </a:extLst>
          </p:cNvPr>
          <p:cNvSpPr>
            <a:spLocks noGrp="1"/>
          </p:cNvSpPr>
          <p:nvPr>
            <p:ph idx="1"/>
          </p:nvPr>
        </p:nvSpPr>
        <p:spPr>
          <a:xfrm>
            <a:off x="457200" y="1002041"/>
            <a:ext cx="8229600" cy="5302170"/>
          </a:xfrm>
        </p:spPr>
        <p:txBody>
          <a:bodyPr>
            <a:normAutofit/>
          </a:bodyPr>
          <a:lstStyle/>
          <a:p>
            <a:r>
              <a:rPr lang="en-US" sz="2400" dirty="0"/>
              <a:t>G</a:t>
            </a:r>
            <a:r>
              <a:rPr lang="en-US" sz="2400" b="0" i="0" u="none" strike="noStrike" baseline="0" dirty="0"/>
              <a:t>ametophyte (n) of </a:t>
            </a:r>
            <a:r>
              <a:rPr lang="en-US" sz="2400" dirty="0"/>
              <a:t>a moss is called </a:t>
            </a:r>
            <a:r>
              <a:rPr lang="en-US" sz="2400" b="0" i="0" u="none" strike="noStrike" baseline="0" dirty="0"/>
              <a:t>the protonema</a:t>
            </a:r>
          </a:p>
          <a:p>
            <a:pPr lvl="1">
              <a:spcAft>
                <a:spcPts val="0"/>
              </a:spcAft>
              <a:buFont typeface="Arial" panose="020B0604020202020204" pitchFamily="34" charset="0"/>
              <a:buChar char="•"/>
            </a:pPr>
            <a:r>
              <a:rPr lang="en-US" sz="2200" dirty="0"/>
              <a:t>P</a:t>
            </a:r>
            <a:r>
              <a:rPr lang="en-US" sz="2200" b="0" i="0" u="none" strike="noStrike" baseline="0" dirty="0"/>
              <a:t>recedes and produces upright, leafy shoots that sprout rhizoids</a:t>
            </a:r>
          </a:p>
          <a:p>
            <a:pPr lvl="1">
              <a:spcAft>
                <a:spcPts val="0"/>
              </a:spcAft>
              <a:buFont typeface="Arial" panose="020B0604020202020204" pitchFamily="34" charset="0"/>
              <a:buChar char="•"/>
            </a:pPr>
            <a:r>
              <a:rPr lang="en-US" sz="2200" dirty="0"/>
              <a:t>S</a:t>
            </a:r>
            <a:r>
              <a:rPr lang="en-US" sz="2200" b="0" i="0" u="none" strike="noStrike" baseline="0" dirty="0"/>
              <a:t>hoots bear either antheridia (sperm-producing) or archegonia (egg-producing)</a:t>
            </a:r>
          </a:p>
          <a:p>
            <a:pPr lvl="1">
              <a:spcAft>
                <a:spcPts val="0"/>
              </a:spcAft>
              <a:buFont typeface="Arial" panose="020B0604020202020204" pitchFamily="34" charset="0"/>
              <a:buChar char="•"/>
            </a:pPr>
            <a:r>
              <a:rPr lang="en-US" sz="2200" dirty="0"/>
              <a:t>S</a:t>
            </a:r>
            <a:r>
              <a:rPr lang="en-US" sz="2200" b="0" i="0" u="none" strike="noStrike" baseline="0" dirty="0"/>
              <a:t>porophyte is enclosed in female gametophyte tissue</a:t>
            </a:r>
          </a:p>
          <a:p>
            <a:pPr lvl="1">
              <a:spcAft>
                <a:spcPts val="0"/>
              </a:spcAft>
              <a:buFont typeface="Arial" panose="020B0604020202020204" pitchFamily="34" charset="0"/>
              <a:buChar char="•"/>
            </a:pPr>
            <a:r>
              <a:rPr lang="en-US" sz="2200" dirty="0"/>
              <a:t>S</a:t>
            </a:r>
            <a:r>
              <a:rPr lang="en-US" sz="2200" b="0" i="0" u="none" strike="noStrike" baseline="0" dirty="0"/>
              <a:t>porophyte has three parts:</a:t>
            </a:r>
          </a:p>
          <a:p>
            <a:pPr marL="625475" lvl="2" indent="-266700">
              <a:buFont typeface="Arial" panose="020B0604020202020204" pitchFamily="34" charset="0"/>
              <a:buChar char="•"/>
            </a:pPr>
            <a:r>
              <a:rPr lang="en-US" sz="2000" b="0" i="0" u="none" strike="noStrike" baseline="0" dirty="0"/>
              <a:t>A foot, a stalk, and an upper capsule</a:t>
            </a:r>
          </a:p>
          <a:p>
            <a:pPr marL="890588" lvl="3">
              <a:buFont typeface="Arial" panose="020B0604020202020204" pitchFamily="34" charset="0"/>
              <a:buChar char="•"/>
            </a:pPr>
            <a:r>
              <a:rPr lang="en-US" sz="1800" dirty="0"/>
              <a:t>Capsule </a:t>
            </a:r>
            <a:r>
              <a:rPr lang="en-US" sz="1800" b="0" i="0" u="none" strike="noStrike" baseline="0" dirty="0"/>
              <a:t>contains the sporangium, where spores are produced</a:t>
            </a:r>
          </a:p>
          <a:p>
            <a:pPr marL="890588" lvl="3">
              <a:buFont typeface="Arial" panose="020B0604020202020204" pitchFamily="34" charset="0"/>
              <a:buChar char="•"/>
            </a:pPr>
            <a:r>
              <a:rPr lang="en-US" sz="1800" dirty="0"/>
              <a:t>M</a:t>
            </a:r>
            <a:r>
              <a:rPr lang="en-US" sz="1800" b="0" i="0" u="none" strike="noStrike" baseline="0" dirty="0"/>
              <a:t>oss sporophyte is always attached to the gametophyte</a:t>
            </a:r>
          </a:p>
        </p:txBody>
      </p:sp>
      <p:sp>
        <p:nvSpPr>
          <p:cNvPr id="4" name="Slide Number Placeholder 3">
            <a:extLst>
              <a:ext uri="{FF2B5EF4-FFF2-40B4-BE49-F238E27FC236}">
                <a16:creationId xmlns:a16="http://schemas.microsoft.com/office/drawing/2014/main" id="{EAE96DB0-33B0-4A9E-8341-C41335A2863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22</a:t>
            </a:fld>
            <a:endParaRPr lang="en-IN"/>
          </a:p>
        </p:txBody>
      </p:sp>
    </p:spTree>
    <p:extLst>
      <p:ext uri="{BB962C8B-B14F-4D97-AF65-F5344CB8AC3E}">
        <p14:creationId xmlns:p14="http://schemas.microsoft.com/office/powerpoint/2010/main" val="1974720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1</a:t>
            </a:r>
          </a:p>
        </p:txBody>
      </p:sp>
      <p:pic>
        <p:nvPicPr>
          <p:cNvPr id="8" name="Picture 2" descr="Mature gametophytes are leafy shoots that bear either antheridia or archegonia, where gametes are produced by mitosis."/>
          <p:cNvPicPr>
            <a:picLocks noChangeAspect="1"/>
          </p:cNvPicPr>
          <p:nvPr/>
        </p:nvPicPr>
        <p:blipFill rotWithShape="1">
          <a:blip r:embed="rId3">
            <a:extLst>
              <a:ext uri="{28A0092B-C50C-407E-A947-70E740481C1C}">
                <a14:useLocalDpi xmlns:a14="http://schemas.microsoft.com/office/drawing/2010/main" val="0"/>
              </a:ext>
            </a:extLst>
          </a:blip>
          <a:srcRect t="4650" b="2993"/>
          <a:stretch/>
        </p:blipFill>
        <p:spPr>
          <a:xfrm>
            <a:off x="1324303" y="998711"/>
            <a:ext cx="6495394" cy="5014777"/>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23</a:t>
            </a:fld>
            <a:endParaRPr lang="en-IN"/>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2</a:t>
            </a:r>
          </a:p>
        </p:txBody>
      </p:sp>
      <p:pic>
        <p:nvPicPr>
          <p:cNvPr id="7" name="Picture 2" descr="Step 2, Fertilization: Flagellate sperm produced in antheridia swim in external water to archegonia, each bearing a single egg.">
            <a:extLst>
              <a:ext uri="{FF2B5EF4-FFF2-40B4-BE49-F238E27FC236}">
                <a16:creationId xmlns:a16="http://schemas.microsoft.com/office/drawing/2014/main" id="{157DCB98-5861-442D-8AF9-D86C7AA45CDE}"/>
              </a:ext>
            </a:extLst>
          </p:cNvPr>
          <p:cNvPicPr>
            <a:picLocks noChangeAspect="1"/>
          </p:cNvPicPr>
          <p:nvPr/>
        </p:nvPicPr>
        <p:blipFill rotWithShape="1">
          <a:blip r:embed="rId3">
            <a:extLst>
              <a:ext uri="{28A0092B-C50C-407E-A947-70E740481C1C}">
                <a14:useLocalDpi xmlns:a14="http://schemas.microsoft.com/office/drawing/2010/main" val="0"/>
              </a:ext>
            </a:extLst>
          </a:blip>
          <a:srcRect t="4333" b="2685"/>
          <a:stretch/>
        </p:blipFill>
        <p:spPr>
          <a:xfrm>
            <a:off x="1298448" y="948214"/>
            <a:ext cx="6547104" cy="5084308"/>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24</a:t>
            </a:fld>
            <a:endParaRPr lang="en-IN"/>
          </a:p>
        </p:txBody>
      </p:sp>
    </p:spTree>
    <p:extLst>
      <p:ext uri="{BB962C8B-B14F-4D97-AF65-F5344CB8AC3E}">
        <p14:creationId xmlns:p14="http://schemas.microsoft.com/office/powerpoint/2010/main" val="95447880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3</a:t>
            </a:r>
          </a:p>
        </p:txBody>
      </p:sp>
      <p:pic>
        <p:nvPicPr>
          <p:cNvPr id="7" name="Picture 2" descr="Step 3, the zygote and developing sporophyte are retained within the archegonium.">
            <a:extLst>
              <a:ext uri="{FF2B5EF4-FFF2-40B4-BE49-F238E27FC236}">
                <a16:creationId xmlns:a16="http://schemas.microsoft.com/office/drawing/2014/main" id="{39916577-5FAA-449D-A936-EBD4440D7268}"/>
              </a:ext>
            </a:extLst>
          </p:cNvPr>
          <p:cNvPicPr>
            <a:picLocks noChangeAspect="1"/>
          </p:cNvPicPr>
          <p:nvPr/>
        </p:nvPicPr>
        <p:blipFill rotWithShape="1">
          <a:blip r:embed="rId3">
            <a:extLst>
              <a:ext uri="{28A0092B-C50C-407E-A947-70E740481C1C}">
                <a14:useLocalDpi xmlns:a14="http://schemas.microsoft.com/office/drawing/2010/main" val="0"/>
              </a:ext>
            </a:extLst>
          </a:blip>
          <a:srcRect t="4450" b="2198"/>
          <a:stretch/>
        </p:blipFill>
        <p:spPr>
          <a:xfrm>
            <a:off x="1586992" y="1314450"/>
            <a:ext cx="6224016" cy="4854121"/>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25</a:t>
            </a:fld>
            <a:endParaRPr lang="en-IN"/>
          </a:p>
        </p:txBody>
      </p:sp>
    </p:spTree>
    <p:extLst>
      <p:ext uri="{BB962C8B-B14F-4D97-AF65-F5344CB8AC3E}">
        <p14:creationId xmlns:p14="http://schemas.microsoft.com/office/powerpoint/2010/main" val="1452182981"/>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4</a:t>
            </a:r>
          </a:p>
        </p:txBody>
      </p:sp>
      <p:pic>
        <p:nvPicPr>
          <p:cNvPr id="8" name="Picture 2" descr="Step 4 of the cycle is sporophyte.">
            <a:extLst>
              <a:ext uri="{FF2B5EF4-FFF2-40B4-BE49-F238E27FC236}">
                <a16:creationId xmlns:a16="http://schemas.microsoft.com/office/drawing/2014/main" id="{885D0446-51E6-498E-9AB3-C33D4BD3BBD8}"/>
              </a:ext>
            </a:extLst>
          </p:cNvPr>
          <p:cNvPicPr>
            <a:picLocks noChangeAspect="1"/>
          </p:cNvPicPr>
          <p:nvPr/>
        </p:nvPicPr>
        <p:blipFill rotWithShape="1">
          <a:blip r:embed="rId3">
            <a:extLst>
              <a:ext uri="{28A0092B-C50C-407E-A947-70E740481C1C}">
                <a14:useLocalDpi xmlns:a14="http://schemas.microsoft.com/office/drawing/2010/main" val="0"/>
              </a:ext>
            </a:extLst>
          </a:blip>
          <a:srcRect t="4846" b="2684"/>
          <a:stretch/>
        </p:blipFill>
        <p:spPr>
          <a:xfrm>
            <a:off x="1279597" y="886732"/>
            <a:ext cx="6583680" cy="5084536"/>
          </a:xfrm>
          <a:prstGeom prst="rect">
            <a:avLst/>
          </a:prstGeom>
        </p:spPr>
      </p:pic>
      <p:sp>
        <p:nvSpPr>
          <p:cNvPr id="5" name="Content Placeholder 3"/>
          <p:cNvSpPr>
            <a:spLocks noGrp="1"/>
          </p:cNvSpPr>
          <p:nvPr>
            <p:ph type="body" sz="quarter" idx="18"/>
          </p:nvPr>
        </p:nvSpPr>
        <p:spPr>
          <a:xfrm>
            <a:off x="520698" y="5971268"/>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lgn="r"/>
            <a:r>
              <a:rPr lang="en-US" sz="800" dirty="0"/>
              <a:t>(gametophyte):©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26</a:t>
            </a:fld>
            <a:endParaRPr lang="en-IN"/>
          </a:p>
        </p:txBody>
      </p:sp>
    </p:spTree>
    <p:extLst>
      <p:ext uri="{BB962C8B-B14F-4D97-AF65-F5344CB8AC3E}">
        <p14:creationId xmlns:p14="http://schemas.microsoft.com/office/powerpoint/2010/main" val="111909925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5</a:t>
            </a:r>
          </a:p>
        </p:txBody>
      </p:sp>
      <p:pic>
        <p:nvPicPr>
          <p:cNvPr id="9" name="Picture 2" descr="Step 5, of the cycle is formation of spores.">
            <a:extLst>
              <a:ext uri="{FF2B5EF4-FFF2-40B4-BE49-F238E27FC236}">
                <a16:creationId xmlns:a16="http://schemas.microsoft.com/office/drawing/2014/main" id="{2580D05E-FB97-42C2-A5F8-2DBABF32DAA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086" b="2415"/>
          <a:stretch/>
        </p:blipFill>
        <p:spPr>
          <a:xfrm>
            <a:off x="1666306" y="932656"/>
            <a:ext cx="6392500" cy="4992687"/>
          </a:xfrm>
          <a:prstGeom prst="rect">
            <a:avLst/>
          </a:prstGeom>
        </p:spPr>
      </p:pic>
      <p:sp>
        <p:nvSpPr>
          <p:cNvPr id="5" name="Content Placeholder 3"/>
          <p:cNvSpPr>
            <a:spLocks noGrp="1"/>
          </p:cNvSpPr>
          <p:nvPr>
            <p:ph type="body" sz="quarter" idx="18"/>
          </p:nvPr>
        </p:nvSpPr>
        <p:spPr>
          <a:xfrm>
            <a:off x="520698" y="5971268"/>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lgn="r"/>
            <a:r>
              <a:rPr lang="en-US" sz="800" dirty="0"/>
              <a:t>(gametophyte):©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27</a:t>
            </a:fld>
            <a:endParaRPr lang="en-IN"/>
          </a:p>
        </p:txBody>
      </p:sp>
    </p:spTree>
    <p:extLst>
      <p:ext uri="{BB962C8B-B14F-4D97-AF65-F5344CB8AC3E}">
        <p14:creationId xmlns:p14="http://schemas.microsoft.com/office/powerpoint/2010/main" val="199649910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6</a:t>
            </a:r>
          </a:p>
        </p:txBody>
      </p:sp>
      <p:pic>
        <p:nvPicPr>
          <p:cNvPr id="7" name="Picture 2" descr="Step 6, spores are released when they are most likely to be dispersed by air currents.">
            <a:extLst>
              <a:ext uri="{FF2B5EF4-FFF2-40B4-BE49-F238E27FC236}">
                <a16:creationId xmlns:a16="http://schemas.microsoft.com/office/drawing/2014/main" id="{CC9727E8-14B9-461A-A7DF-2758782C4FD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271" b="2441"/>
          <a:stretch/>
        </p:blipFill>
        <p:spPr>
          <a:xfrm>
            <a:off x="1351060" y="1100137"/>
            <a:ext cx="6612256" cy="5097463"/>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28</a:t>
            </a:fld>
            <a:endParaRPr lang="en-IN"/>
          </a:p>
        </p:txBody>
      </p:sp>
    </p:spTree>
    <p:extLst>
      <p:ext uri="{BB962C8B-B14F-4D97-AF65-F5344CB8AC3E}">
        <p14:creationId xmlns:p14="http://schemas.microsoft.com/office/powerpoint/2010/main" val="372033422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p:txBody>
          <a:bodyPr/>
          <a:lstStyle/>
          <a:p>
            <a:r>
              <a:rPr lang="en-US" altLang="en-US" dirty="0"/>
              <a:t>Moss Life Cycle </a:t>
            </a:r>
            <a:r>
              <a:rPr lang="en-US" altLang="en-US" sz="1600" dirty="0"/>
              <a:t>7</a:t>
            </a:r>
          </a:p>
        </p:txBody>
      </p:sp>
      <p:pic>
        <p:nvPicPr>
          <p:cNvPr id="7" name="Picture 2" descr="Step 7, the immature gametophyte reads:  spore germinates into male or a female protonema, the first stage of the male and the female gametophytes.">
            <a:extLst>
              <a:ext uri="{FF2B5EF4-FFF2-40B4-BE49-F238E27FC236}">
                <a16:creationId xmlns:a16="http://schemas.microsoft.com/office/drawing/2014/main" id="{5FCB3013-AFF7-41A2-9D0D-99AC5314CC38}"/>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834" b="2453"/>
          <a:stretch/>
        </p:blipFill>
        <p:spPr>
          <a:xfrm>
            <a:off x="1470596" y="1100137"/>
            <a:ext cx="6581929" cy="5097463"/>
          </a:xfrm>
          <a:prstGeom prst="rect">
            <a:avLst/>
          </a:prstGeom>
        </p:spPr>
      </p:pic>
      <p:sp>
        <p:nvSpPr>
          <p:cNvPr id="9" name="Content Placeholder 3"/>
          <p:cNvSpPr>
            <a:spLocks noGrp="1"/>
          </p:cNvSpPr>
          <p:nvPr>
            <p:ph type="body" sz="quarter" idx="19"/>
          </p:nvPr>
        </p:nvSpPr>
        <p:spPr>
          <a:xfrm>
            <a:off x="3939404" y="6231232"/>
            <a:ext cx="1265192" cy="276687"/>
          </a:xfrm>
        </p:spPr>
        <p:txBody>
          <a:bodyPr anchor="ctr">
            <a:noAutofit/>
          </a:bodyPr>
          <a:lstStyle/>
          <a:p>
            <a:pPr algn="ctr"/>
            <a:r>
              <a:rPr lang="en-US" sz="1200" dirty="0"/>
              <a:t>Figure 23.9</a:t>
            </a:r>
          </a:p>
        </p:txBody>
      </p:sp>
      <p:sp>
        <p:nvSpPr>
          <p:cNvPr id="2" name="Text Placeholder 4">
            <a:extLst>
              <a:ext uri="{FF2B5EF4-FFF2-40B4-BE49-F238E27FC236}">
                <a16:creationId xmlns:a16="http://schemas.microsoft.com/office/drawing/2014/main" id="{68D28DDD-0FED-4964-A530-70D4B2F3ECA6}"/>
              </a:ext>
            </a:extLst>
          </p:cNvPr>
          <p:cNvSpPr>
            <a:spLocks noGrp="1"/>
          </p:cNvSpPr>
          <p:nvPr>
            <p:ph type="body" sz="quarter" idx="20"/>
          </p:nvPr>
        </p:nvSpPr>
        <p:spPr>
          <a:xfrm>
            <a:off x="6887910" y="6558416"/>
            <a:ext cx="1809580" cy="213329"/>
          </a:xfrm>
        </p:spPr>
        <p:txBody>
          <a:bodyPr>
            <a:normAutofit lnSpcReduction="10000"/>
          </a:bodyPr>
          <a:lstStyle/>
          <a:p>
            <a:pPr lvl="0" algn="r"/>
            <a:r>
              <a:rPr lang="en-US" sz="800" dirty="0"/>
              <a:t>(gametophyte):© Steven P. Lynch</a:t>
            </a:r>
            <a:endParaRPr lang="en-GB" sz="800" dirty="0"/>
          </a:p>
        </p:txBody>
      </p:sp>
      <p:sp>
        <p:nvSpPr>
          <p:cNvPr id="6" name="Slide Number Placeholder 5">
            <a:extLst>
              <a:ext uri="{FF2B5EF4-FFF2-40B4-BE49-F238E27FC236}">
                <a16:creationId xmlns:a16="http://schemas.microsoft.com/office/drawing/2014/main" id="{6AEA5945-9DE0-455E-ADF1-A8A664CEC524}"/>
              </a:ext>
            </a:extLst>
          </p:cNvPr>
          <p:cNvSpPr>
            <a:spLocks noGrp="1"/>
          </p:cNvSpPr>
          <p:nvPr>
            <p:ph type="sldNum" sz="quarter" idx="4"/>
          </p:nvPr>
        </p:nvSpPr>
        <p:spPr/>
        <p:txBody>
          <a:bodyPr/>
          <a:lstStyle/>
          <a:p>
            <a:fld id="{08F9AD23-695F-4808-8E99-6281554D0F77}" type="slidenum">
              <a:rPr lang="en-IN" smtClean="0"/>
              <a:t>29</a:t>
            </a:fld>
            <a:endParaRPr lang="en-IN"/>
          </a:p>
        </p:txBody>
      </p:sp>
    </p:spTree>
    <p:extLst>
      <p:ext uri="{BB962C8B-B14F-4D97-AF65-F5344CB8AC3E}">
        <p14:creationId xmlns:p14="http://schemas.microsoft.com/office/powerpoint/2010/main" val="351210031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noChangeArrowheads="1"/>
          </p:cNvSpPr>
          <p:nvPr>
            <p:ph type="title"/>
          </p:nvPr>
        </p:nvSpPr>
        <p:spPr/>
        <p:txBody>
          <a:bodyPr/>
          <a:lstStyle/>
          <a:p>
            <a:r>
              <a:rPr lang="en-US" altLang="en-US" dirty="0"/>
              <a:t>Moss Life Cycle </a:t>
            </a:r>
            <a:r>
              <a:rPr lang="en-US" altLang="en-US" sz="1600" dirty="0"/>
              <a:t>8</a:t>
            </a:r>
          </a:p>
        </p:txBody>
      </p:sp>
      <p:pic>
        <p:nvPicPr>
          <p:cNvPr id="17" name="Picture 2" descr="Diagram of  moss life cycle with gamete formation, fertilization, spore formation, dispersal, zygote, gametophyte formation as described from 1 to 7."/>
          <p:cNvPicPr>
            <a:picLocks noChangeAspect="1"/>
          </p:cNvPicPr>
          <p:nvPr/>
        </p:nvPicPr>
        <p:blipFill rotWithShape="1">
          <a:blip r:embed="rId3" cstate="print">
            <a:extLst>
              <a:ext uri="{28A0092B-C50C-407E-A947-70E740481C1C}">
                <a14:useLocalDpi xmlns:a14="http://schemas.microsoft.com/office/drawing/2010/main" val="0"/>
              </a:ext>
            </a:extLst>
          </a:blip>
          <a:srcRect t="4403" b="2453"/>
          <a:stretch/>
        </p:blipFill>
        <p:spPr>
          <a:xfrm>
            <a:off x="1281035" y="726816"/>
            <a:ext cx="6581929" cy="5121155"/>
          </a:xfrm>
          <a:prstGeom prst="rect">
            <a:avLst/>
          </a:prstGeom>
        </p:spPr>
      </p:pic>
      <p:sp>
        <p:nvSpPr>
          <p:cNvPr id="5" name="Content Placeholder 3"/>
          <p:cNvSpPr>
            <a:spLocks noGrp="1"/>
          </p:cNvSpPr>
          <p:nvPr>
            <p:ph type="body" sz="quarter" idx="18"/>
          </p:nvPr>
        </p:nvSpPr>
        <p:spPr>
          <a:xfrm>
            <a:off x="520698" y="5835859"/>
            <a:ext cx="8101481" cy="314325"/>
          </a:xfrm>
        </p:spPr>
        <p:txBody>
          <a:bodyPr/>
          <a:lstStyle/>
          <a:p>
            <a:r>
              <a:rPr lang="en-US" sz="1200" dirty="0"/>
              <a:t>Figure 23.9</a:t>
            </a:r>
          </a:p>
        </p:txBody>
      </p:sp>
      <p:sp>
        <p:nvSpPr>
          <p:cNvPr id="16" name="Content Placeholder 4"/>
          <p:cNvSpPr>
            <a:spLocks noGrp="1"/>
          </p:cNvSpPr>
          <p:nvPr>
            <p:ph type="body" sz="quarter" idx="19"/>
          </p:nvPr>
        </p:nvSpPr>
        <p:spPr>
          <a:xfrm>
            <a:off x="2955618" y="6204460"/>
            <a:ext cx="3231639" cy="331219"/>
          </a:xfrm>
        </p:spPr>
        <p:txBody>
          <a:bodyPr anchor="ctr">
            <a:noAutofit/>
          </a:bodyPr>
          <a:lstStyle/>
          <a:p>
            <a:pPr algn="ctr"/>
            <a:r>
              <a:rPr lang="en-US" sz="1200" dirty="0">
                <a:hlinkClick r:id="rId4" action="ppaction://hlinksldjump"/>
              </a:rPr>
              <a:t>Access the text alternative for slide images.</a:t>
            </a:r>
            <a:endParaRPr lang="en-US" sz="1200" dirty="0"/>
          </a:p>
        </p:txBody>
      </p:sp>
      <p:sp>
        <p:nvSpPr>
          <p:cNvPr id="2" name="Text Placeholder 5">
            <a:extLst>
              <a:ext uri="{FF2B5EF4-FFF2-40B4-BE49-F238E27FC236}">
                <a16:creationId xmlns:a16="http://schemas.microsoft.com/office/drawing/2014/main" id="{0D77A4DC-0880-435B-9858-CFD67C4C5020}"/>
              </a:ext>
            </a:extLst>
          </p:cNvPr>
          <p:cNvSpPr>
            <a:spLocks noGrp="1"/>
          </p:cNvSpPr>
          <p:nvPr>
            <p:ph type="body" sz="quarter" idx="21"/>
          </p:nvPr>
        </p:nvSpPr>
        <p:spPr>
          <a:xfrm>
            <a:off x="4862556" y="6563439"/>
            <a:ext cx="3759623" cy="187739"/>
          </a:xfrm>
        </p:spPr>
        <p:txBody>
          <a:bodyPr/>
          <a:lstStyle/>
          <a:p>
            <a:pPr lvl="0"/>
            <a:r>
              <a:rPr lang="en-US" sz="800" dirty="0"/>
              <a:t>(sporophyte): © Peter Arnold, Inc./</a:t>
            </a:r>
            <a:r>
              <a:rPr lang="en-US" sz="800" dirty="0" err="1"/>
              <a:t>Alamy</a:t>
            </a:r>
            <a:r>
              <a:rPr lang="en-US" sz="800" dirty="0"/>
              <a:t>: (gametophyte): © Steven P. Lynch</a:t>
            </a:r>
            <a:endParaRPr lang="en-GB" sz="800" dirty="0"/>
          </a:p>
        </p:txBody>
      </p:sp>
      <p:sp>
        <p:nvSpPr>
          <p:cNvPr id="7" name="Slide Number Placeholder 6">
            <a:extLst>
              <a:ext uri="{FF2B5EF4-FFF2-40B4-BE49-F238E27FC236}">
                <a16:creationId xmlns:a16="http://schemas.microsoft.com/office/drawing/2014/main" id="{3D2A132A-E885-4F05-ACD7-5E8317E82F92}"/>
              </a:ext>
            </a:extLst>
          </p:cNvPr>
          <p:cNvSpPr>
            <a:spLocks noGrp="1"/>
          </p:cNvSpPr>
          <p:nvPr>
            <p:ph type="sldNum" sz="quarter" idx="4"/>
          </p:nvPr>
        </p:nvSpPr>
        <p:spPr/>
        <p:txBody>
          <a:bodyPr/>
          <a:lstStyle/>
          <a:p>
            <a:fld id="{08F9AD23-695F-4808-8E99-6281554D0F77}" type="slidenum">
              <a:rPr lang="en-IN" smtClean="0"/>
              <a:t>30</a:t>
            </a:fld>
            <a:endParaRPr lang="en-IN"/>
          </a:p>
        </p:txBody>
      </p:sp>
    </p:spTree>
    <p:extLst>
      <p:ext uri="{BB962C8B-B14F-4D97-AF65-F5344CB8AC3E}">
        <p14:creationId xmlns:p14="http://schemas.microsoft.com/office/powerpoint/2010/main" val="297048793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a:xfrm>
            <a:off x="342900" y="0"/>
            <a:ext cx="8458200" cy="1215342"/>
          </a:xfrm>
        </p:spPr>
        <p:txBody>
          <a:bodyPr>
            <a:normAutofit/>
          </a:bodyPr>
          <a:lstStyle/>
          <a:p>
            <a:r>
              <a:rPr lang="en-US" altLang="en-US" dirty="0"/>
              <a:t>23.3 Evolution of Lycophytes: Vascular Tissue</a:t>
            </a:r>
          </a:p>
        </p:txBody>
      </p:sp>
      <p:sp>
        <p:nvSpPr>
          <p:cNvPr id="22531" name="Content Placeholder 2"/>
          <p:cNvSpPr>
            <a:spLocks noGrp="1" noChangeArrowheads="1"/>
          </p:cNvSpPr>
          <p:nvPr>
            <p:ph idx="1"/>
          </p:nvPr>
        </p:nvSpPr>
        <p:spPr>
          <a:xfrm>
            <a:off x="457200" y="1564341"/>
            <a:ext cx="8073614" cy="5036997"/>
          </a:xfrm>
        </p:spPr>
        <p:txBody>
          <a:bodyPr>
            <a:normAutofit/>
          </a:bodyPr>
          <a:lstStyle/>
          <a:p>
            <a:pPr>
              <a:spcBef>
                <a:spcPts val="0"/>
              </a:spcBef>
              <a:spcAft>
                <a:spcPts val="1500"/>
              </a:spcAft>
            </a:pPr>
            <a:r>
              <a:rPr lang="en-US" sz="2400" b="1" dirty="0">
                <a:solidFill>
                  <a:srgbClr val="D90000"/>
                </a:solidFill>
              </a:rPr>
              <a:t>Vascular plants </a:t>
            </a:r>
            <a:r>
              <a:rPr lang="en-US" sz="2400" dirty="0"/>
              <a:t>(tracheophytes) dominate the natural terrestrial landscape</a:t>
            </a:r>
          </a:p>
          <a:p>
            <a:pPr lvl="1">
              <a:spcBef>
                <a:spcPts val="0"/>
              </a:spcBef>
              <a:spcAft>
                <a:spcPts val="1500"/>
              </a:spcAft>
              <a:buFont typeface="Arial" panose="020B0604020202020204" pitchFamily="34" charset="0"/>
              <a:buChar char="•"/>
            </a:pPr>
            <a:r>
              <a:rPr lang="en-US" sz="2200" dirty="0"/>
              <a:t>Can achieve great heights because of roots and vascular tissue and nutrient-conducting tissue:</a:t>
            </a:r>
          </a:p>
          <a:p>
            <a:pPr marL="625475" lvl="2" indent="-266700">
              <a:spcBef>
                <a:spcPts val="0"/>
              </a:spcBef>
              <a:spcAft>
                <a:spcPts val="1500"/>
              </a:spcAft>
              <a:buFont typeface="Arial" panose="020B0604020202020204" pitchFamily="34" charset="0"/>
              <a:buChar char="•"/>
            </a:pPr>
            <a:r>
              <a:rPr lang="en-US" sz="2000" b="1" dirty="0">
                <a:solidFill>
                  <a:srgbClr val="D90000"/>
                </a:solidFill>
              </a:rPr>
              <a:t>Xylem</a:t>
            </a:r>
            <a:r>
              <a:rPr lang="en-US" sz="2000" dirty="0"/>
              <a:t> conducts water and dissolved minerals up from roots</a:t>
            </a:r>
          </a:p>
          <a:p>
            <a:pPr marL="890588" lvl="3" indent="-265113">
              <a:spcBef>
                <a:spcPts val="0"/>
              </a:spcBef>
              <a:spcAft>
                <a:spcPts val="1500"/>
              </a:spcAft>
              <a:buFont typeface="Arial" panose="020B0604020202020204" pitchFamily="34" charset="0"/>
              <a:buChar char="•"/>
            </a:pPr>
            <a:r>
              <a:rPr lang="en-US" sz="1800" b="1" dirty="0">
                <a:solidFill>
                  <a:srgbClr val="D90000"/>
                </a:solidFill>
              </a:rPr>
              <a:t>Lignin</a:t>
            </a:r>
            <a:r>
              <a:rPr lang="en-US" sz="1800" dirty="0"/>
              <a:t> strengthens cell walls of conducting cells in xylem</a:t>
            </a:r>
          </a:p>
          <a:p>
            <a:pPr marL="625475" lvl="2" indent="-266700">
              <a:spcBef>
                <a:spcPts val="0"/>
              </a:spcBef>
              <a:spcAft>
                <a:spcPts val="1500"/>
              </a:spcAft>
              <a:buFont typeface="Arial" panose="020B0604020202020204" pitchFamily="34" charset="0"/>
              <a:buChar char="•"/>
            </a:pPr>
            <a:r>
              <a:rPr lang="en-US" sz="2000" b="1" dirty="0">
                <a:solidFill>
                  <a:srgbClr val="D90000"/>
                </a:solidFill>
              </a:rPr>
              <a:t>Phloem</a:t>
            </a:r>
            <a:r>
              <a:rPr lang="en-US" sz="2000" dirty="0"/>
              <a:t> conducts sucrose and other organic compounds throughout the plant</a:t>
            </a:r>
          </a:p>
        </p:txBody>
      </p:sp>
      <p:sp>
        <p:nvSpPr>
          <p:cNvPr id="4" name="Slide Number Placeholder 3">
            <a:extLst>
              <a:ext uri="{FF2B5EF4-FFF2-40B4-BE49-F238E27FC236}">
                <a16:creationId xmlns:a16="http://schemas.microsoft.com/office/drawing/2014/main" id="{3A0C4A87-71E2-4453-98DC-889EE62DFD2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31</a:t>
            </a:fld>
            <a:endParaRPr lang="en-IN"/>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noChangeArrowheads="1"/>
          </p:cNvSpPr>
          <p:nvPr>
            <p:ph type="title"/>
          </p:nvPr>
        </p:nvSpPr>
        <p:spPr/>
        <p:txBody>
          <a:bodyPr/>
          <a:lstStyle/>
          <a:p>
            <a:r>
              <a:rPr lang="en-US" altLang="en-US" dirty="0"/>
              <a:t>The Origin of Vascular Plants</a:t>
            </a:r>
          </a:p>
        </p:txBody>
      </p:sp>
      <p:sp>
        <p:nvSpPr>
          <p:cNvPr id="22531" name="Content Placeholder 2"/>
          <p:cNvSpPr>
            <a:spLocks noGrp="1" noChangeArrowheads="1"/>
          </p:cNvSpPr>
          <p:nvPr>
            <p:ph idx="1"/>
          </p:nvPr>
        </p:nvSpPr>
        <p:spPr>
          <a:xfrm>
            <a:off x="457200" y="1295400"/>
            <a:ext cx="7760825" cy="5036997"/>
          </a:xfrm>
        </p:spPr>
        <p:txBody>
          <a:bodyPr>
            <a:noAutofit/>
          </a:bodyPr>
          <a:lstStyle/>
          <a:p>
            <a:pPr>
              <a:spcBef>
                <a:spcPts val="0"/>
              </a:spcBef>
              <a:spcAft>
                <a:spcPts val="1500"/>
              </a:spcAft>
            </a:pPr>
            <a:r>
              <a:rPr lang="en-US" sz="2400" dirty="0"/>
              <a:t>F</a:t>
            </a:r>
            <a:r>
              <a:rPr lang="en-US" sz="2400" b="0" i="0" u="none" strike="noStrike" baseline="0" dirty="0"/>
              <a:t>ossil record indicates that the first vascular plants, such as </a:t>
            </a:r>
            <a:r>
              <a:rPr lang="en-US" sz="2400" b="0" i="1" u="none" strike="noStrike" baseline="0" dirty="0" err="1"/>
              <a:t>Cooksonia</a:t>
            </a:r>
            <a:r>
              <a:rPr lang="en-US" sz="2400" b="0" i="1" u="none" strike="noStrike" baseline="0" dirty="0"/>
              <a:t>, </a:t>
            </a:r>
            <a:r>
              <a:rPr lang="en-US" sz="2400" b="0" i="0" u="none" strike="noStrike" baseline="0" dirty="0"/>
              <a:t>were more likely bushes than trees</a:t>
            </a:r>
          </a:p>
          <a:p>
            <a:pPr lvl="1">
              <a:spcBef>
                <a:spcPts val="0"/>
              </a:spcBef>
              <a:spcAft>
                <a:spcPts val="1500"/>
              </a:spcAft>
              <a:buFont typeface="Arial" panose="020B0604020202020204" pitchFamily="34" charset="0"/>
              <a:buChar char="•"/>
            </a:pPr>
            <a:r>
              <a:rPr lang="en-US" sz="2200" dirty="0"/>
              <a:t>B</a:t>
            </a:r>
            <a:r>
              <a:rPr lang="en-US" sz="2200" b="0" i="0" u="none" strike="noStrike" baseline="0" dirty="0"/>
              <a:t>ranching of </a:t>
            </a:r>
            <a:r>
              <a:rPr lang="en-US" sz="2200" b="0" i="1" u="none" strike="noStrike" baseline="0" dirty="0" err="1"/>
              <a:t>Cooksonia</a:t>
            </a:r>
            <a:r>
              <a:rPr lang="en-US" sz="2200" b="0" i="1" u="none" strike="noStrike" baseline="0" dirty="0"/>
              <a:t> </a:t>
            </a:r>
            <a:r>
              <a:rPr lang="en-US" sz="2200" b="0" i="0" u="none" strike="noStrike" baseline="0" dirty="0"/>
              <a:t>was significant for two reasons</a:t>
            </a:r>
            <a:r>
              <a:rPr lang="en-US" sz="2200" dirty="0"/>
              <a:t>:</a:t>
            </a:r>
          </a:p>
          <a:p>
            <a:pPr marL="625475" lvl="2" indent="-266700">
              <a:spcBef>
                <a:spcPts val="0"/>
              </a:spcBef>
              <a:spcAft>
                <a:spcPts val="1500"/>
              </a:spcAft>
              <a:buFont typeface="Arial" panose="020B0604020202020204" pitchFamily="34" charset="0"/>
              <a:buChar char="•"/>
            </a:pPr>
            <a:r>
              <a:rPr lang="en-US" sz="2000" b="0" i="0" u="none" strike="noStrike" baseline="0" dirty="0"/>
              <a:t>More sporangia were produced, and therefore many more spores</a:t>
            </a:r>
          </a:p>
          <a:p>
            <a:pPr marL="625475" lvl="2" indent="-266700">
              <a:spcBef>
                <a:spcPts val="0"/>
              </a:spcBef>
              <a:spcAft>
                <a:spcPts val="1500"/>
              </a:spcAft>
              <a:buFont typeface="Arial" panose="020B0604020202020204" pitchFamily="34" charset="0"/>
              <a:buChar char="•"/>
            </a:pPr>
            <a:r>
              <a:rPr lang="en-US" sz="2000" b="0" i="0" u="none" strike="noStrike" baseline="0" dirty="0"/>
              <a:t>Indicative of vascular tissue</a:t>
            </a:r>
          </a:p>
          <a:p>
            <a:pPr lvl="1">
              <a:spcBef>
                <a:spcPts val="0"/>
              </a:spcBef>
              <a:spcAft>
                <a:spcPts val="1500"/>
              </a:spcAft>
              <a:buFont typeface="Arial" panose="020B0604020202020204" pitchFamily="34" charset="0"/>
              <a:buChar char="•"/>
            </a:pPr>
            <a:r>
              <a:rPr lang="en-US" sz="2200" dirty="0"/>
              <a:t>S</a:t>
            </a:r>
            <a:r>
              <a:rPr lang="en-US" sz="2200" b="0" i="0" u="none" strike="noStrike" baseline="0" dirty="0"/>
              <a:t>porangia of </a:t>
            </a:r>
            <a:r>
              <a:rPr lang="en-US" sz="2200" b="0" i="1" u="none" strike="noStrike" baseline="0" dirty="0" err="1"/>
              <a:t>Cooksonia</a:t>
            </a:r>
            <a:r>
              <a:rPr lang="en-US" sz="2200" b="0" i="1" u="none" strike="noStrike" baseline="0" dirty="0"/>
              <a:t> </a:t>
            </a:r>
            <a:r>
              <a:rPr lang="en-US" sz="2200" b="0" i="0" u="none" strike="noStrike" baseline="0" dirty="0"/>
              <a:t>produced windblown spores</a:t>
            </a:r>
          </a:p>
          <a:p>
            <a:pPr marL="625475" lvl="2" indent="-266700">
              <a:spcBef>
                <a:spcPts val="0"/>
              </a:spcBef>
              <a:spcAft>
                <a:spcPts val="1500"/>
              </a:spcAft>
              <a:buFont typeface="Arial" panose="020B0604020202020204" pitchFamily="34" charset="0"/>
              <a:buChar char="•"/>
            </a:pPr>
            <a:r>
              <a:rPr lang="en-US" sz="2000" b="0" i="0" u="none" strike="noStrike" baseline="0" dirty="0"/>
              <a:t>This classifies it (and </a:t>
            </a:r>
            <a:r>
              <a:rPr lang="en-US" sz="2000" dirty="0"/>
              <a:t>other lycophytes and pteridophytes) </a:t>
            </a:r>
            <a:r>
              <a:rPr lang="en-US" sz="2000" b="0" i="0" u="none" strike="noStrike" baseline="0" dirty="0"/>
              <a:t>as </a:t>
            </a:r>
            <a:r>
              <a:rPr lang="en-US" sz="2000" b="1" i="0" u="none" strike="noStrike" baseline="0" dirty="0">
                <a:solidFill>
                  <a:srgbClr val="D90000"/>
                </a:solidFill>
              </a:rPr>
              <a:t>seedless vascular plants </a:t>
            </a:r>
          </a:p>
          <a:p>
            <a:pPr lvl="1">
              <a:spcBef>
                <a:spcPts val="0"/>
              </a:spcBef>
              <a:spcAft>
                <a:spcPts val="1500"/>
              </a:spcAft>
              <a:buFont typeface="Arial" panose="020B0604020202020204" pitchFamily="34" charset="0"/>
              <a:buChar char="•"/>
            </a:pPr>
            <a:r>
              <a:rPr lang="en-US" sz="2200" b="0" i="0" u="none" strike="noStrike" baseline="0" dirty="0"/>
              <a:t>Lycophytes and all other vascular plants have a dominant sporophyte generation</a:t>
            </a:r>
            <a:endParaRPr lang="en-US" sz="2200" dirty="0"/>
          </a:p>
        </p:txBody>
      </p:sp>
      <p:sp>
        <p:nvSpPr>
          <p:cNvPr id="4" name="Slide Number Placeholder 3">
            <a:extLst>
              <a:ext uri="{FF2B5EF4-FFF2-40B4-BE49-F238E27FC236}">
                <a16:creationId xmlns:a16="http://schemas.microsoft.com/office/drawing/2014/main" id="{451BE785-0DE4-4E05-96D4-A1321A789BF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32</a:t>
            </a:fld>
            <a:endParaRPr lang="en-IN"/>
          </a:p>
        </p:txBody>
      </p:sp>
    </p:spTree>
    <p:extLst>
      <p:ext uri="{BB962C8B-B14F-4D97-AF65-F5344CB8AC3E}">
        <p14:creationId xmlns:p14="http://schemas.microsoft.com/office/powerpoint/2010/main" val="132708403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noChangeArrowheads="1"/>
          </p:cNvSpPr>
          <p:nvPr>
            <p:ph type="title"/>
          </p:nvPr>
        </p:nvSpPr>
        <p:spPr/>
        <p:txBody>
          <a:bodyPr/>
          <a:lstStyle/>
          <a:p>
            <a:r>
              <a:rPr lang="en-US" altLang="en-US" dirty="0"/>
              <a:t>A </a:t>
            </a:r>
            <a:r>
              <a:rPr lang="en-US" altLang="en-US" i="1" dirty="0"/>
              <a:t>Cooksonia</a:t>
            </a:r>
            <a:r>
              <a:rPr lang="en-US" altLang="en-US" dirty="0"/>
              <a:t> Fossil</a:t>
            </a:r>
          </a:p>
        </p:txBody>
      </p:sp>
      <p:pic>
        <p:nvPicPr>
          <p:cNvPr id="6" name="Picture 2" descr="The fossil, which is no more than a few centimeters tall and terminated in sporangia is evidence of vascular plant evolution."/>
          <p:cNvPicPr>
            <a:picLocks noChangeAspect="1"/>
          </p:cNvPicPr>
          <p:nvPr/>
        </p:nvPicPr>
        <p:blipFill>
          <a:blip r:embed="rId3"/>
          <a:stretch>
            <a:fillRect/>
          </a:stretch>
        </p:blipFill>
        <p:spPr>
          <a:xfrm>
            <a:off x="1190242" y="1182567"/>
            <a:ext cx="6763515" cy="4569427"/>
          </a:xfrm>
          <a:prstGeom prst="rect">
            <a:avLst/>
          </a:prstGeom>
        </p:spPr>
      </p:pic>
      <p:sp>
        <p:nvSpPr>
          <p:cNvPr id="4" name="Content Placeholder 3"/>
          <p:cNvSpPr>
            <a:spLocks noGrp="1"/>
          </p:cNvSpPr>
          <p:nvPr>
            <p:ph type="body" sz="quarter" idx="18"/>
          </p:nvPr>
        </p:nvSpPr>
        <p:spPr>
          <a:xfrm>
            <a:off x="520699" y="5862396"/>
            <a:ext cx="8101481" cy="314325"/>
          </a:xfrm>
        </p:spPr>
        <p:txBody>
          <a:bodyPr/>
          <a:lstStyle/>
          <a:p>
            <a:r>
              <a:rPr lang="en-US" sz="1200" dirty="0"/>
              <a:t>Figure 23.10</a:t>
            </a:r>
          </a:p>
        </p:txBody>
      </p:sp>
      <p:sp>
        <p:nvSpPr>
          <p:cNvPr id="8" name="Text Placeholder 4">
            <a:extLst>
              <a:ext uri="{FF2B5EF4-FFF2-40B4-BE49-F238E27FC236}">
                <a16:creationId xmlns:a16="http://schemas.microsoft.com/office/drawing/2014/main" id="{636C0754-1BF7-46A7-B0D5-A3E4F4DD5250}"/>
              </a:ext>
            </a:extLst>
          </p:cNvPr>
          <p:cNvSpPr>
            <a:spLocks noGrp="1"/>
          </p:cNvSpPr>
          <p:nvPr>
            <p:ph type="body" sz="quarter" idx="21"/>
          </p:nvPr>
        </p:nvSpPr>
        <p:spPr/>
        <p:txBody>
          <a:bodyPr/>
          <a:lstStyle/>
          <a:p>
            <a:r>
              <a:rPr lang="en-US" dirty="0"/>
              <a:t>(photo): Hans </a:t>
            </a:r>
            <a:r>
              <a:rPr lang="en-US" dirty="0" err="1"/>
              <a:t>Steur</a:t>
            </a:r>
            <a:r>
              <a:rPr lang="en-US" dirty="0"/>
              <a:t>, the Netherlands</a:t>
            </a:r>
          </a:p>
        </p:txBody>
      </p:sp>
      <p:sp>
        <p:nvSpPr>
          <p:cNvPr id="7" name="Slide Number Placeholder 5">
            <a:extLst>
              <a:ext uri="{FF2B5EF4-FFF2-40B4-BE49-F238E27FC236}">
                <a16:creationId xmlns:a16="http://schemas.microsoft.com/office/drawing/2014/main" id="{32C5AA4C-1AE6-4654-8C98-FE78B4C7BBC7}"/>
              </a:ext>
            </a:extLst>
          </p:cNvPr>
          <p:cNvSpPr>
            <a:spLocks noGrp="1"/>
          </p:cNvSpPr>
          <p:nvPr>
            <p:ph type="sldNum" sz="quarter" idx="4"/>
          </p:nvPr>
        </p:nvSpPr>
        <p:spPr/>
        <p:txBody>
          <a:bodyPr/>
          <a:lstStyle/>
          <a:p>
            <a:fld id="{08F9AD23-695F-4808-8E99-6281554D0F77}" type="slidenum">
              <a:rPr lang="en-IN" smtClean="0"/>
              <a:t>33</a:t>
            </a:fld>
            <a:endParaRPr lang="en-IN"/>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noChangeArrowheads="1"/>
          </p:cNvSpPr>
          <p:nvPr>
            <p:ph type="title"/>
          </p:nvPr>
        </p:nvSpPr>
        <p:spPr>
          <a:xfrm>
            <a:off x="450166" y="1"/>
            <a:ext cx="8236634" cy="737494"/>
          </a:xfrm>
        </p:spPr>
        <p:txBody>
          <a:bodyPr>
            <a:normAutofit/>
          </a:bodyPr>
          <a:lstStyle/>
          <a:p>
            <a:r>
              <a:rPr lang="en-US" altLang="en-US" dirty="0"/>
              <a:t>Lycophytes</a:t>
            </a:r>
          </a:p>
        </p:txBody>
      </p:sp>
      <p:sp>
        <p:nvSpPr>
          <p:cNvPr id="24579" name="Content Placeholer 2"/>
          <p:cNvSpPr>
            <a:spLocks noGrp="1" noChangeArrowheads="1"/>
          </p:cNvSpPr>
          <p:nvPr>
            <p:ph idx="1"/>
          </p:nvPr>
        </p:nvSpPr>
        <p:spPr>
          <a:xfrm>
            <a:off x="81024" y="606138"/>
            <a:ext cx="8398558" cy="6022121"/>
          </a:xfrm>
        </p:spPr>
        <p:txBody>
          <a:bodyPr>
            <a:noAutofit/>
          </a:bodyPr>
          <a:lstStyle/>
          <a:p>
            <a:pPr marL="290513" lvl="2" indent="0">
              <a:lnSpc>
                <a:spcPct val="120000"/>
              </a:lnSpc>
              <a:spcBef>
                <a:spcPts val="600"/>
              </a:spcBef>
              <a:spcAft>
                <a:spcPts val="0"/>
              </a:spcAft>
              <a:buNone/>
              <a:tabLst>
                <a:tab pos="204788" algn="l"/>
              </a:tabLst>
            </a:pPr>
            <a:r>
              <a:rPr lang="en-US" sz="2200" dirty="0"/>
              <a:t>Roots evolved as lower extensions of the stem</a:t>
            </a:r>
          </a:p>
          <a:p>
            <a:pPr marL="290513" lvl="2" indent="0">
              <a:lnSpc>
                <a:spcPct val="120000"/>
              </a:lnSpc>
              <a:spcBef>
                <a:spcPts val="600"/>
              </a:spcBef>
              <a:spcAft>
                <a:spcPts val="0"/>
              </a:spcAft>
              <a:buNone/>
              <a:tabLst>
                <a:tab pos="204788" algn="l"/>
              </a:tabLst>
            </a:pPr>
            <a:r>
              <a:rPr lang="en-US" sz="2200" dirty="0"/>
              <a:t>Leaves are </a:t>
            </a:r>
            <a:r>
              <a:rPr lang="en-US" sz="2200" b="1" dirty="0">
                <a:solidFill>
                  <a:srgbClr val="D90000"/>
                </a:solidFill>
              </a:rPr>
              <a:t>microphylls</a:t>
            </a:r>
            <a:r>
              <a:rPr lang="en-US" sz="2200" dirty="0"/>
              <a:t> </a:t>
            </a:r>
          </a:p>
          <a:p>
            <a:pPr marL="531813" lvl="3" indent="-265113">
              <a:lnSpc>
                <a:spcPct val="120000"/>
              </a:lnSpc>
              <a:spcBef>
                <a:spcPts val="600"/>
              </a:spcBef>
              <a:spcAft>
                <a:spcPts val="0"/>
              </a:spcAft>
              <a:buFont typeface="Arial" panose="020B0604020202020204" pitchFamily="34" charset="0"/>
              <a:buChar char="•"/>
              <a:tabLst>
                <a:tab pos="204788" algn="l"/>
              </a:tabLst>
            </a:pPr>
            <a:r>
              <a:rPr lang="en-US" sz="1800" dirty="0"/>
              <a:t>Have only one strand of vascular tissue</a:t>
            </a:r>
          </a:p>
          <a:p>
            <a:pPr marL="531813" lvl="3" indent="-265113">
              <a:lnSpc>
                <a:spcPct val="120000"/>
              </a:lnSpc>
              <a:spcBef>
                <a:spcPts val="600"/>
              </a:spcBef>
              <a:spcAft>
                <a:spcPts val="0"/>
              </a:spcAft>
              <a:buFont typeface="Arial" panose="020B0604020202020204" pitchFamily="34" charset="0"/>
              <a:buChar char="•"/>
            </a:pPr>
            <a:r>
              <a:rPr lang="en-US" sz="1800" dirty="0"/>
              <a:t>Most likely evolved as simple side extensions of the stem</a:t>
            </a:r>
          </a:p>
          <a:p>
            <a:pPr marL="303213" lvl="2" indent="0">
              <a:lnSpc>
                <a:spcPct val="120000"/>
              </a:lnSpc>
              <a:spcBef>
                <a:spcPts val="600"/>
              </a:spcBef>
              <a:spcAft>
                <a:spcPts val="0"/>
              </a:spcAft>
              <a:buNone/>
            </a:pPr>
            <a:r>
              <a:rPr lang="en-US" sz="2200" dirty="0"/>
              <a:t>Cone-shaped structure called a </a:t>
            </a:r>
            <a:r>
              <a:rPr lang="en-US" sz="2200" b="1" dirty="0">
                <a:solidFill>
                  <a:srgbClr val="D90000"/>
                </a:solidFill>
              </a:rPr>
              <a:t>strobili</a:t>
            </a:r>
            <a:r>
              <a:rPr lang="en-US" sz="2200" b="1" dirty="0">
                <a:solidFill>
                  <a:schemeClr val="bg2">
                    <a:lumMod val="25000"/>
                  </a:schemeClr>
                </a:solidFill>
              </a:rPr>
              <a:t> </a:t>
            </a:r>
            <a:r>
              <a:rPr lang="en-US" sz="2200" dirty="0"/>
              <a:t>produce spores by meiosis</a:t>
            </a:r>
          </a:p>
          <a:p>
            <a:pPr marL="290513" lvl="2" indent="0">
              <a:lnSpc>
                <a:spcPct val="120000"/>
              </a:lnSpc>
              <a:spcBef>
                <a:spcPts val="600"/>
              </a:spcBef>
              <a:spcAft>
                <a:spcPts val="0"/>
              </a:spcAft>
              <a:buNone/>
            </a:pPr>
            <a:r>
              <a:rPr lang="en-US" sz="2200" dirty="0"/>
              <a:t>Some lycophytes have spores that grow into one type of gamete (homosporous), others produce two types of spores (</a:t>
            </a:r>
            <a:r>
              <a:rPr lang="en-US" sz="2200" b="1" dirty="0">
                <a:solidFill>
                  <a:srgbClr val="D90000"/>
                </a:solidFill>
              </a:rPr>
              <a:t>heterosporous</a:t>
            </a:r>
            <a:r>
              <a:rPr lang="en-US" sz="2200" dirty="0"/>
              <a:t>)</a:t>
            </a:r>
          </a:p>
          <a:p>
            <a:pPr marL="290513" lvl="2" indent="0">
              <a:lnSpc>
                <a:spcPct val="120000"/>
              </a:lnSpc>
              <a:spcBef>
                <a:spcPts val="600"/>
              </a:spcBef>
              <a:spcAft>
                <a:spcPts val="0"/>
              </a:spcAft>
              <a:buNone/>
            </a:pPr>
            <a:r>
              <a:rPr lang="en-US" sz="2200" b="1" dirty="0">
                <a:solidFill>
                  <a:srgbClr val="D90000"/>
                </a:solidFill>
              </a:rPr>
              <a:t>Microspores</a:t>
            </a:r>
            <a:r>
              <a:rPr lang="en-US" sz="2200" b="1" dirty="0">
                <a:solidFill>
                  <a:schemeClr val="tx2"/>
                </a:solidFill>
              </a:rPr>
              <a:t> </a:t>
            </a:r>
            <a:r>
              <a:rPr lang="en-US" sz="2200" dirty="0"/>
              <a:t>(become male gametophyte) and </a:t>
            </a:r>
            <a:r>
              <a:rPr lang="en-US" sz="2200" b="1" dirty="0">
                <a:solidFill>
                  <a:srgbClr val="D90000"/>
                </a:solidFill>
              </a:rPr>
              <a:t>megaspores</a:t>
            </a:r>
            <a:r>
              <a:rPr lang="en-US" sz="2200" dirty="0"/>
              <a:t> (become female gametophyte)</a:t>
            </a:r>
          </a:p>
          <a:p>
            <a:pPr marL="290513" lvl="1" indent="0">
              <a:lnSpc>
                <a:spcPct val="120000"/>
              </a:lnSpc>
              <a:spcBef>
                <a:spcPts val="600"/>
              </a:spcBef>
              <a:spcAft>
                <a:spcPts val="0"/>
              </a:spcAft>
              <a:buNone/>
            </a:pPr>
            <a:r>
              <a:rPr lang="en-US" sz="2200" dirty="0"/>
              <a:t>Three main groups of lycophytes:</a:t>
            </a:r>
          </a:p>
          <a:p>
            <a:pPr marL="531813" lvl="3" indent="-265113">
              <a:lnSpc>
                <a:spcPct val="120000"/>
              </a:lnSpc>
              <a:spcBef>
                <a:spcPts val="600"/>
              </a:spcBef>
              <a:buFont typeface="Arial" panose="020B0604020202020204" pitchFamily="34" charset="0"/>
              <a:buChar char="•"/>
            </a:pPr>
            <a:r>
              <a:rPr lang="en-US" sz="1800" dirty="0"/>
              <a:t>Ground pines (</a:t>
            </a:r>
            <a:r>
              <a:rPr lang="en-US" sz="1800" i="1" dirty="0"/>
              <a:t>Lycopodium</a:t>
            </a:r>
            <a:r>
              <a:rPr lang="en-US" sz="1800" dirty="0"/>
              <a:t>), spike mosses (</a:t>
            </a:r>
            <a:r>
              <a:rPr lang="en-US" sz="1800" i="1" dirty="0"/>
              <a:t>Selaginella</a:t>
            </a:r>
            <a:r>
              <a:rPr lang="en-US" sz="1800" dirty="0"/>
              <a:t>), and quillworts (</a:t>
            </a:r>
            <a:r>
              <a:rPr lang="en-US" sz="1800" i="1" dirty="0"/>
              <a:t>Isoetes</a:t>
            </a:r>
            <a:r>
              <a:rPr lang="en-US" sz="1800" dirty="0"/>
              <a:t>)</a:t>
            </a:r>
          </a:p>
        </p:txBody>
      </p:sp>
      <p:sp>
        <p:nvSpPr>
          <p:cNvPr id="4" name="Slide Number Placeholder 3">
            <a:extLst>
              <a:ext uri="{FF2B5EF4-FFF2-40B4-BE49-F238E27FC236}">
                <a16:creationId xmlns:a16="http://schemas.microsoft.com/office/drawing/2014/main" id="{D3C83A35-A942-4298-94BC-C952BEB4611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34</a:t>
            </a:fld>
            <a:endParaRPr lang="en-IN"/>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noChangeArrowheads="1"/>
          </p:cNvSpPr>
          <p:nvPr>
            <p:ph type="title"/>
          </p:nvPr>
        </p:nvSpPr>
        <p:spPr>
          <a:xfrm>
            <a:off x="0" y="2"/>
            <a:ext cx="9144000" cy="546538"/>
          </a:xfrm>
        </p:spPr>
        <p:txBody>
          <a:bodyPr/>
          <a:lstStyle/>
          <a:p>
            <a:r>
              <a:rPr lang="en-US" altLang="en-US" dirty="0"/>
              <a:t>Lycophytes Example</a:t>
            </a:r>
            <a:endParaRPr lang="en-US" altLang="en-US" i="1" dirty="0"/>
          </a:p>
        </p:txBody>
      </p:sp>
      <p:pic>
        <p:nvPicPr>
          <p:cNvPr id="4" name="Picture 2" descr="Illustration shows spike moss and club moss (with its external parts and subparts). ">
            <a:extLst>
              <a:ext uri="{FF2B5EF4-FFF2-40B4-BE49-F238E27FC236}">
                <a16:creationId xmlns:a16="http://schemas.microsoft.com/office/drawing/2014/main" id="{B6506568-B8D5-4DC8-9A98-D73A8EDCE3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4419" y="648182"/>
            <a:ext cx="2875157" cy="5405377"/>
          </a:xfrm>
          <a:prstGeom prst="rect">
            <a:avLst/>
          </a:prstGeom>
        </p:spPr>
      </p:pic>
      <p:sp>
        <p:nvSpPr>
          <p:cNvPr id="5" name="Content Placeholder 3"/>
          <p:cNvSpPr>
            <a:spLocks noGrp="1"/>
          </p:cNvSpPr>
          <p:nvPr>
            <p:ph type="body" sz="quarter" idx="18"/>
          </p:nvPr>
        </p:nvSpPr>
        <p:spPr>
          <a:xfrm>
            <a:off x="520698" y="6106233"/>
            <a:ext cx="8101481" cy="314325"/>
          </a:xfrm>
        </p:spPr>
        <p:txBody>
          <a:bodyPr>
            <a:normAutofit/>
          </a:bodyPr>
          <a:lstStyle/>
          <a:p>
            <a:r>
              <a:rPr lang="en-US" sz="1200" dirty="0"/>
              <a:t>Figure 23.11</a:t>
            </a:r>
          </a:p>
        </p:txBody>
      </p:sp>
      <p:sp>
        <p:nvSpPr>
          <p:cNvPr id="2" name="Text Placeholder 4">
            <a:extLst>
              <a:ext uri="{FF2B5EF4-FFF2-40B4-BE49-F238E27FC236}">
                <a16:creationId xmlns:a16="http://schemas.microsoft.com/office/drawing/2014/main" id="{15D3975E-606E-449E-9E89-B880DC3F3B99}"/>
              </a:ext>
            </a:extLst>
          </p:cNvPr>
          <p:cNvSpPr>
            <a:spLocks noGrp="1"/>
          </p:cNvSpPr>
          <p:nvPr>
            <p:ph type="body" sz="quarter" idx="19"/>
          </p:nvPr>
        </p:nvSpPr>
        <p:spPr>
          <a:xfrm>
            <a:off x="2946821" y="6338965"/>
            <a:ext cx="3249234" cy="314324"/>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8" name="Text Placeholder 5">
            <a:extLst>
              <a:ext uri="{FF2B5EF4-FFF2-40B4-BE49-F238E27FC236}">
                <a16:creationId xmlns:a16="http://schemas.microsoft.com/office/drawing/2014/main" id="{41B35C80-826E-4E2B-8CA4-F2108DCF3562}"/>
              </a:ext>
            </a:extLst>
          </p:cNvPr>
          <p:cNvSpPr>
            <a:spLocks noGrp="1"/>
          </p:cNvSpPr>
          <p:nvPr>
            <p:ph type="body" sz="quarter" idx="21"/>
          </p:nvPr>
        </p:nvSpPr>
        <p:spPr/>
        <p:txBody>
          <a:bodyPr/>
          <a:lstStyle/>
          <a:p>
            <a:r>
              <a:rPr lang="en-US" sz="800" dirty="0"/>
              <a:t>(a): Steven P. Lynch</a:t>
            </a:r>
          </a:p>
        </p:txBody>
      </p:sp>
      <p:sp>
        <p:nvSpPr>
          <p:cNvPr id="7" name="Slide Number Placeholder 6">
            <a:extLst>
              <a:ext uri="{FF2B5EF4-FFF2-40B4-BE49-F238E27FC236}">
                <a16:creationId xmlns:a16="http://schemas.microsoft.com/office/drawing/2014/main" id="{2BD6E421-A476-4879-B487-6FC8AF7812A8}"/>
              </a:ext>
            </a:extLst>
          </p:cNvPr>
          <p:cNvSpPr>
            <a:spLocks noGrp="1"/>
          </p:cNvSpPr>
          <p:nvPr>
            <p:ph type="sldNum" sz="quarter" idx="4"/>
          </p:nvPr>
        </p:nvSpPr>
        <p:spPr/>
        <p:txBody>
          <a:bodyPr/>
          <a:lstStyle/>
          <a:p>
            <a:fld id="{08F9AD23-695F-4808-8E99-6281554D0F77}" type="slidenum">
              <a:rPr lang="en-IN" smtClean="0"/>
              <a:t>35</a:t>
            </a:fld>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noChangeArrowheads="1"/>
          </p:cNvSpPr>
          <p:nvPr>
            <p:ph type="title"/>
          </p:nvPr>
        </p:nvSpPr>
        <p:spPr>
          <a:xfrm>
            <a:off x="342900" y="12031"/>
            <a:ext cx="8458200" cy="1079085"/>
          </a:xfrm>
        </p:spPr>
        <p:txBody>
          <a:bodyPr>
            <a:normAutofit fontScale="90000"/>
          </a:bodyPr>
          <a:lstStyle/>
          <a:p>
            <a:r>
              <a:rPr lang="en-US" altLang="en-US" dirty="0"/>
              <a:t>23.4 Evolution of Pteridophytes: Megaphylls</a:t>
            </a:r>
          </a:p>
        </p:txBody>
      </p:sp>
      <p:sp>
        <p:nvSpPr>
          <p:cNvPr id="27651" name="Content Placeholder 2"/>
          <p:cNvSpPr>
            <a:spLocks noGrp="1" noChangeArrowheads="1"/>
          </p:cNvSpPr>
          <p:nvPr>
            <p:ph idx="1"/>
          </p:nvPr>
        </p:nvSpPr>
        <p:spPr>
          <a:xfrm>
            <a:off x="365760" y="1628887"/>
            <a:ext cx="8477026" cy="5036997"/>
          </a:xfrm>
        </p:spPr>
        <p:txBody>
          <a:bodyPr>
            <a:normAutofit/>
          </a:bodyPr>
          <a:lstStyle/>
          <a:p>
            <a:pPr>
              <a:spcBef>
                <a:spcPts val="0"/>
              </a:spcBef>
              <a:spcAft>
                <a:spcPts val="600"/>
              </a:spcAft>
            </a:pPr>
            <a:r>
              <a:rPr lang="en-US" sz="2400" b="1" dirty="0">
                <a:solidFill>
                  <a:srgbClr val="D90000"/>
                </a:solidFill>
              </a:rPr>
              <a:t>Pteridophytes </a:t>
            </a:r>
            <a:r>
              <a:rPr lang="en-US" sz="2400" dirty="0"/>
              <a:t>are seedless vascular plants </a:t>
            </a:r>
          </a:p>
          <a:p>
            <a:pPr marL="358775" lvl="2" indent="-358775">
              <a:spcBef>
                <a:spcPts val="1200"/>
              </a:spcBef>
              <a:spcAft>
                <a:spcPts val="0"/>
              </a:spcAft>
              <a:buFont typeface="Arial" panose="020B0604020202020204" pitchFamily="34" charset="0"/>
              <a:buChar char="•"/>
            </a:pPr>
            <a:r>
              <a:rPr lang="en-US" sz="2200" dirty="0"/>
              <a:t>Dominant from late Devonian through Carboniferous period</a:t>
            </a:r>
          </a:p>
          <a:p>
            <a:pPr marL="358775" lvl="2" indent="-358775">
              <a:spcBef>
                <a:spcPts val="1200"/>
              </a:spcBef>
              <a:spcAft>
                <a:spcPts val="0"/>
              </a:spcAft>
              <a:buFont typeface="Arial" panose="020B0604020202020204" pitchFamily="34" charset="0"/>
              <a:buChar char="•"/>
            </a:pPr>
            <a:r>
              <a:rPr lang="en-US" sz="2200" dirty="0"/>
              <a:t>Include ferns and their allies (horsetails and whisk ferns)</a:t>
            </a:r>
          </a:p>
          <a:p>
            <a:pPr marL="358775" lvl="2" indent="-358775">
              <a:spcBef>
                <a:spcPts val="1200"/>
              </a:spcBef>
              <a:spcAft>
                <a:spcPts val="0"/>
              </a:spcAft>
              <a:buFont typeface="Arial" panose="020B0604020202020204" pitchFamily="34" charset="0"/>
              <a:buChar char="•"/>
            </a:pPr>
            <a:r>
              <a:rPr lang="en-US" sz="2200" dirty="0"/>
              <a:t>Have </a:t>
            </a:r>
            <a:r>
              <a:rPr lang="en-US" sz="2200" b="1" dirty="0">
                <a:solidFill>
                  <a:srgbClr val="D90000"/>
                </a:solidFill>
              </a:rPr>
              <a:t>megaphylls</a:t>
            </a:r>
            <a:r>
              <a:rPr lang="en-US" sz="2200" dirty="0"/>
              <a:t> (broad leaves with several strands of vascular tissue)</a:t>
            </a:r>
          </a:p>
          <a:p>
            <a:pPr marL="625475" lvl="3" indent="-266700">
              <a:spcBef>
                <a:spcPts val="1200"/>
              </a:spcBef>
              <a:spcAft>
                <a:spcPts val="0"/>
              </a:spcAft>
              <a:buFont typeface="Arial" panose="020B0604020202020204" pitchFamily="34" charset="0"/>
              <a:buChar char="•"/>
            </a:pPr>
            <a:r>
              <a:rPr lang="en-US" sz="2000" dirty="0"/>
              <a:t>Allow plants to efficiently collect solar energy, allowing the production of more food and possibly more offspring</a:t>
            </a:r>
          </a:p>
          <a:p>
            <a:pPr marL="890588" lvl="4" indent="-265113">
              <a:spcBef>
                <a:spcPts val="1200"/>
              </a:spcBef>
              <a:buFont typeface="Arial" panose="020B0604020202020204" pitchFamily="34" charset="0"/>
              <a:buChar char="•"/>
            </a:pPr>
            <a:r>
              <a:rPr lang="en-US" sz="1800" dirty="0"/>
              <a:t>Resulted in increased fitness for plants</a:t>
            </a:r>
          </a:p>
        </p:txBody>
      </p:sp>
      <p:sp>
        <p:nvSpPr>
          <p:cNvPr id="4" name="Slide Number Placeholder 3">
            <a:extLst>
              <a:ext uri="{FF2B5EF4-FFF2-40B4-BE49-F238E27FC236}">
                <a16:creationId xmlns:a16="http://schemas.microsoft.com/office/drawing/2014/main" id="{42815970-F194-45D9-B463-E871000A69C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36</a:t>
            </a:fld>
            <a:endParaRPr lang="en-IN"/>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noChangeArrowheads="1"/>
          </p:cNvSpPr>
          <p:nvPr>
            <p:ph type="title"/>
          </p:nvPr>
        </p:nvSpPr>
        <p:spPr/>
        <p:txBody>
          <a:bodyPr/>
          <a:lstStyle/>
          <a:p>
            <a:r>
              <a:rPr lang="en-US" altLang="en-US" dirty="0"/>
              <a:t>Microphylls and Megaphylls</a:t>
            </a:r>
          </a:p>
        </p:txBody>
      </p:sp>
      <p:pic>
        <p:nvPicPr>
          <p:cNvPr id="12" name="Picture 2" descr="Set of two illustrations marked a and b shows changes brought about in microphyll and megaphyll.">
            <a:extLst>
              <a:ext uri="{FF2B5EF4-FFF2-40B4-BE49-F238E27FC236}">
                <a16:creationId xmlns:a16="http://schemas.microsoft.com/office/drawing/2014/main" id="{FF5ECC9F-FFC3-407D-9A18-5EC680104961}"/>
              </a:ext>
            </a:extLst>
          </p:cNvPr>
          <p:cNvPicPr>
            <a:picLocks noChangeAspect="1"/>
          </p:cNvPicPr>
          <p:nvPr/>
        </p:nvPicPr>
        <p:blipFill>
          <a:blip r:embed="rId3"/>
          <a:stretch>
            <a:fillRect/>
          </a:stretch>
        </p:blipFill>
        <p:spPr>
          <a:xfrm>
            <a:off x="0" y="1389055"/>
            <a:ext cx="9144000" cy="4079890"/>
          </a:xfrm>
          <a:prstGeom prst="rect">
            <a:avLst/>
          </a:prstGeom>
        </p:spPr>
      </p:pic>
      <p:sp>
        <p:nvSpPr>
          <p:cNvPr id="5" name="Content Placeholder 3"/>
          <p:cNvSpPr>
            <a:spLocks noGrp="1"/>
          </p:cNvSpPr>
          <p:nvPr>
            <p:ph type="body" sz="quarter" idx="18"/>
          </p:nvPr>
        </p:nvSpPr>
        <p:spPr>
          <a:xfrm>
            <a:off x="521259" y="5698385"/>
            <a:ext cx="8101481" cy="314325"/>
          </a:xfrm>
        </p:spPr>
        <p:txBody>
          <a:bodyPr/>
          <a:lstStyle/>
          <a:p>
            <a:r>
              <a:rPr lang="en-US" sz="1200" dirty="0"/>
              <a:t>Figure 23.12</a:t>
            </a:r>
          </a:p>
        </p:txBody>
      </p:sp>
      <p:sp>
        <p:nvSpPr>
          <p:cNvPr id="2" name="Text Placeholder 4">
            <a:extLst>
              <a:ext uri="{FF2B5EF4-FFF2-40B4-BE49-F238E27FC236}">
                <a16:creationId xmlns:a16="http://schemas.microsoft.com/office/drawing/2014/main" id="{05AAAC19-3E4C-4994-B425-86CC9DA720DD}"/>
              </a:ext>
            </a:extLst>
          </p:cNvPr>
          <p:cNvSpPr>
            <a:spLocks noGrp="1"/>
          </p:cNvSpPr>
          <p:nvPr>
            <p:ph type="body" sz="quarter" idx="19"/>
          </p:nvPr>
        </p:nvSpPr>
        <p:spPr>
          <a:xfrm>
            <a:off x="2852759" y="6012710"/>
            <a:ext cx="3438480" cy="284151"/>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10" name="Slide Number Placeholder 5">
            <a:extLst>
              <a:ext uri="{FF2B5EF4-FFF2-40B4-BE49-F238E27FC236}">
                <a16:creationId xmlns:a16="http://schemas.microsoft.com/office/drawing/2014/main" id="{BA7E3637-34B0-4F75-B767-3FB6CAC6511C}"/>
              </a:ext>
            </a:extLst>
          </p:cNvPr>
          <p:cNvSpPr>
            <a:spLocks noGrp="1"/>
          </p:cNvSpPr>
          <p:nvPr>
            <p:ph type="sldNum" sz="quarter" idx="4"/>
          </p:nvPr>
        </p:nvSpPr>
        <p:spPr/>
        <p:txBody>
          <a:bodyPr/>
          <a:lstStyle/>
          <a:p>
            <a:fld id="{08F9AD23-695F-4808-8E99-6281554D0F77}" type="slidenum">
              <a:rPr lang="en-IN" smtClean="0"/>
              <a:t>37</a:t>
            </a:fld>
            <a:endParaRPr lang="en-I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Title 1"/>
          <p:cNvSpPr>
            <a:spLocks noGrp="1" noChangeArrowheads="1"/>
          </p:cNvSpPr>
          <p:nvPr>
            <p:ph type="title"/>
          </p:nvPr>
        </p:nvSpPr>
        <p:spPr>
          <a:xfrm>
            <a:off x="295422" y="0"/>
            <a:ext cx="8391378" cy="787791"/>
          </a:xfrm>
        </p:spPr>
        <p:txBody>
          <a:bodyPr/>
          <a:lstStyle/>
          <a:p>
            <a:r>
              <a:rPr lang="en-US" altLang="en-US" sz="3600" dirty="0"/>
              <a:t>Horsetails</a:t>
            </a:r>
          </a:p>
        </p:txBody>
      </p:sp>
      <p:sp>
        <p:nvSpPr>
          <p:cNvPr id="29700" name="Content Placeholder 2"/>
          <p:cNvSpPr>
            <a:spLocks noGrp="1" noChangeArrowheads="1"/>
          </p:cNvSpPr>
          <p:nvPr>
            <p:ph idx="1"/>
          </p:nvPr>
        </p:nvSpPr>
        <p:spPr>
          <a:xfrm>
            <a:off x="295422" y="787790"/>
            <a:ext cx="8184159" cy="5894363"/>
          </a:xfrm>
        </p:spPr>
        <p:txBody>
          <a:bodyPr>
            <a:noAutofit/>
          </a:bodyPr>
          <a:lstStyle/>
          <a:p>
            <a:pPr>
              <a:spcBef>
                <a:spcPts val="0"/>
              </a:spcBef>
              <a:spcAft>
                <a:spcPts val="1200"/>
              </a:spcAft>
            </a:pPr>
            <a:r>
              <a:rPr lang="en-US" sz="2200" b="1" dirty="0">
                <a:solidFill>
                  <a:srgbClr val="D90000"/>
                </a:solidFill>
              </a:rPr>
              <a:t>Horsetails</a:t>
            </a:r>
            <a:r>
              <a:rPr lang="en-US" sz="2200" b="1" dirty="0">
                <a:solidFill>
                  <a:schemeClr val="bg2">
                    <a:lumMod val="25000"/>
                  </a:schemeClr>
                </a:solidFill>
              </a:rPr>
              <a:t> </a:t>
            </a:r>
            <a:r>
              <a:rPr lang="en-US" sz="2200" dirty="0"/>
              <a:t>consist of one genus, </a:t>
            </a:r>
            <a:r>
              <a:rPr lang="en-US" sz="2200" i="1" dirty="0"/>
              <a:t>Equisetum</a:t>
            </a:r>
            <a:r>
              <a:rPr lang="en-US" sz="2200" dirty="0"/>
              <a:t>, and approximately 15 species of seedless vascular plants</a:t>
            </a:r>
          </a:p>
          <a:p>
            <a:pPr lvl="1">
              <a:spcBef>
                <a:spcPts val="0"/>
              </a:spcBef>
              <a:spcAft>
                <a:spcPts val="1200"/>
              </a:spcAft>
              <a:buFont typeface="Arial" panose="020B0604020202020204" pitchFamily="34" charset="0"/>
              <a:buChar char="•"/>
            </a:pPr>
            <a:r>
              <a:rPr lang="en-US" sz="2000" dirty="0"/>
              <a:t>Most horsetails inhabit wet, marshy environments</a:t>
            </a:r>
          </a:p>
          <a:p>
            <a:pPr lvl="1">
              <a:spcBef>
                <a:spcPts val="0"/>
              </a:spcBef>
              <a:spcAft>
                <a:spcPts val="1200"/>
              </a:spcAft>
              <a:buFont typeface="Arial" panose="020B0604020202020204" pitchFamily="34" charset="0"/>
              <a:buChar char="•"/>
            </a:pPr>
            <a:r>
              <a:rPr lang="en-US" sz="2000" b="0" i="1" u="none" strike="noStrike" baseline="0" dirty="0"/>
              <a:t>Equisetum </a:t>
            </a:r>
            <a:r>
              <a:rPr lang="en-US" sz="2000" b="0" i="0" u="none" strike="noStrike" baseline="0" dirty="0"/>
              <a:t>can be branched or unbranched, with leaves that may have been megaphylls at one time but now are reduced and form whorls at the nodes</a:t>
            </a:r>
          </a:p>
          <a:p>
            <a:pPr lvl="1">
              <a:spcBef>
                <a:spcPts val="0"/>
              </a:spcBef>
              <a:spcAft>
                <a:spcPts val="1200"/>
              </a:spcAft>
              <a:buFont typeface="Arial" panose="020B0604020202020204" pitchFamily="34" charset="0"/>
              <a:buChar char="•"/>
            </a:pPr>
            <a:r>
              <a:rPr lang="en-US" sz="2000" b="0" i="0" u="none" strike="noStrike" baseline="0" dirty="0"/>
              <a:t>Branches bear resemblance to a horse’s tail</a:t>
            </a:r>
          </a:p>
          <a:p>
            <a:pPr lvl="1">
              <a:spcBef>
                <a:spcPts val="0"/>
              </a:spcBef>
              <a:spcAft>
                <a:spcPts val="1200"/>
              </a:spcAft>
              <a:buFont typeface="Arial" panose="020B0604020202020204" pitchFamily="34" charset="0"/>
              <a:buChar char="•"/>
            </a:pPr>
            <a:r>
              <a:rPr lang="en-US" sz="2000" b="0" i="0" u="none" strike="noStrike" baseline="0" dirty="0"/>
              <a:t>Many have strobili at the tips of stems</a:t>
            </a:r>
          </a:p>
          <a:p>
            <a:pPr lvl="1">
              <a:spcBef>
                <a:spcPts val="0"/>
              </a:spcBef>
              <a:spcAft>
                <a:spcPts val="1200"/>
              </a:spcAft>
              <a:buFont typeface="Arial" panose="020B0604020202020204" pitchFamily="34" charset="0"/>
              <a:buChar char="•"/>
            </a:pPr>
            <a:r>
              <a:rPr lang="en-US" sz="2000" dirty="0"/>
              <a:t>S</a:t>
            </a:r>
            <a:r>
              <a:rPr lang="en-US" sz="2000" b="0" i="0" u="none" strike="noStrike" baseline="0" dirty="0"/>
              <a:t>pores germinate into inconspicuous and independent gametophytes</a:t>
            </a:r>
          </a:p>
          <a:p>
            <a:pPr lvl="1">
              <a:spcBef>
                <a:spcPts val="0"/>
              </a:spcBef>
              <a:spcAft>
                <a:spcPts val="1200"/>
              </a:spcAft>
              <a:buFont typeface="Arial" panose="020B0604020202020204" pitchFamily="34" charset="0"/>
              <a:buChar char="•"/>
            </a:pPr>
            <a:r>
              <a:rPr lang="en-US" sz="2000" b="0" i="1" u="none" strike="noStrike" baseline="0" dirty="0"/>
              <a:t>Equisetum </a:t>
            </a:r>
            <a:r>
              <a:rPr lang="en-US" sz="2000" b="0" i="0" u="none" strike="noStrike" baseline="0" dirty="0"/>
              <a:t>spores are sensitive to humidity and are “spring-loaded” </a:t>
            </a:r>
          </a:p>
          <a:p>
            <a:pPr marL="625475" lvl="2" indent="-266700">
              <a:spcBef>
                <a:spcPts val="0"/>
              </a:spcBef>
              <a:spcAft>
                <a:spcPts val="1200"/>
              </a:spcAft>
              <a:buFont typeface="Arial" panose="020B0604020202020204" pitchFamily="34" charset="0"/>
              <a:buChar char="•"/>
            </a:pPr>
            <a:r>
              <a:rPr lang="en-US" sz="1800" dirty="0"/>
              <a:t>S</a:t>
            </a:r>
            <a:r>
              <a:rPr lang="en-US" sz="1800" b="0" i="0" u="none" strike="noStrike" baseline="0" dirty="0"/>
              <a:t>pores have been known to be ejected and travel upward of 2 </a:t>
            </a:r>
            <a:r>
              <a:rPr lang="en-US" sz="1800" dirty="0"/>
              <a:t>mp</a:t>
            </a:r>
            <a:r>
              <a:rPr lang="en-US" sz="1800" b="0" i="0" u="none" strike="noStrike" baseline="0" dirty="0"/>
              <a:t>h</a:t>
            </a:r>
          </a:p>
          <a:p>
            <a:pPr lvl="1">
              <a:spcBef>
                <a:spcPts val="0"/>
              </a:spcBef>
              <a:spcAft>
                <a:spcPts val="1200"/>
              </a:spcAft>
              <a:buFont typeface="Arial" panose="020B0604020202020204" pitchFamily="34" charset="0"/>
              <a:buChar char="•"/>
            </a:pPr>
            <a:r>
              <a:rPr lang="en-US" sz="2000" dirty="0"/>
              <a:t>S</a:t>
            </a:r>
            <a:r>
              <a:rPr lang="en-US" sz="2000" b="0" i="0" u="none" strike="noStrike" baseline="0" dirty="0"/>
              <a:t>tems are tough and rigid because of silica deposited in cell walls</a:t>
            </a:r>
          </a:p>
        </p:txBody>
      </p:sp>
      <p:sp>
        <p:nvSpPr>
          <p:cNvPr id="4" name="Slide Number Placeholder 3">
            <a:extLst>
              <a:ext uri="{FF2B5EF4-FFF2-40B4-BE49-F238E27FC236}">
                <a16:creationId xmlns:a16="http://schemas.microsoft.com/office/drawing/2014/main" id="{01F94D96-9409-4477-81A9-6448567A4A73}"/>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38</a:t>
            </a:fld>
            <a:endParaRPr lang="en-IN"/>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noChangeArrowheads="1"/>
          </p:cNvSpPr>
          <p:nvPr>
            <p:ph type="title"/>
          </p:nvPr>
        </p:nvSpPr>
        <p:spPr/>
        <p:txBody>
          <a:bodyPr/>
          <a:lstStyle/>
          <a:p>
            <a:r>
              <a:rPr lang="en-US" altLang="en-US" dirty="0"/>
              <a:t> Horsetail, </a:t>
            </a:r>
            <a:r>
              <a:rPr lang="en-US" altLang="en-US" i="1" dirty="0"/>
              <a:t>Equisetum</a:t>
            </a:r>
          </a:p>
        </p:txBody>
      </p:sp>
      <p:pic>
        <p:nvPicPr>
          <p:cNvPr id="5" name="Picture 2" descr="Diagram of horsetail plant shows labels for root, rhizome, leaves, node, branches, and strobilus. "/>
          <p:cNvPicPr>
            <a:picLocks noChangeAspect="1" noChangeArrowheads="1"/>
          </p:cNvPicPr>
          <p:nvPr/>
        </p:nvPicPr>
        <p:blipFill rotWithShape="1">
          <a:blip r:embed="rId3">
            <a:extLst>
              <a:ext uri="{28A0092B-C50C-407E-A947-70E740481C1C}">
                <a14:useLocalDpi xmlns:a14="http://schemas.microsoft.com/office/drawing/2010/main" val="0"/>
              </a:ext>
            </a:extLst>
          </a:blip>
          <a:srcRect t="3606" b="2568"/>
          <a:stretch/>
        </p:blipFill>
        <p:spPr bwMode="auto">
          <a:xfrm>
            <a:off x="1155700" y="925073"/>
            <a:ext cx="6832600" cy="4894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3"/>
          <p:cNvSpPr>
            <a:spLocks noGrp="1"/>
          </p:cNvSpPr>
          <p:nvPr>
            <p:ph type="body" sz="quarter" idx="19"/>
          </p:nvPr>
        </p:nvSpPr>
        <p:spPr>
          <a:xfrm>
            <a:off x="4015908" y="6080672"/>
            <a:ext cx="1112183" cy="222024"/>
          </a:xfrm>
        </p:spPr>
        <p:txBody>
          <a:bodyPr anchor="ctr">
            <a:noAutofit/>
          </a:bodyPr>
          <a:lstStyle/>
          <a:p>
            <a:pPr algn="ctr"/>
            <a:r>
              <a:rPr lang="en-US" sz="1200" dirty="0"/>
              <a:t>Figure 23.13</a:t>
            </a:r>
          </a:p>
        </p:txBody>
      </p:sp>
      <p:sp>
        <p:nvSpPr>
          <p:cNvPr id="16" name="Text Placeholder 4">
            <a:extLst>
              <a:ext uri="{FF2B5EF4-FFF2-40B4-BE49-F238E27FC236}">
                <a16:creationId xmlns:a16="http://schemas.microsoft.com/office/drawing/2014/main" id="{F91A21A1-A1DD-4AFD-8024-ECFDF39FCF77}"/>
              </a:ext>
            </a:extLst>
          </p:cNvPr>
          <p:cNvSpPr>
            <a:spLocks noGrp="1"/>
          </p:cNvSpPr>
          <p:nvPr>
            <p:ph type="body" sz="quarter" idx="20"/>
          </p:nvPr>
        </p:nvSpPr>
        <p:spPr>
          <a:xfrm>
            <a:off x="5834742" y="6563844"/>
            <a:ext cx="2762525" cy="202474"/>
          </a:xfrm>
        </p:spPr>
        <p:txBody>
          <a:bodyPr>
            <a:normAutofit fontScale="77500" lnSpcReduction="20000"/>
          </a:bodyPr>
          <a:lstStyle/>
          <a:p>
            <a:pPr lvl="0" algn="r"/>
            <a:r>
              <a:rPr lang="en-US" sz="800" dirty="0"/>
              <a:t>(leaves): </a:t>
            </a:r>
            <a:r>
              <a:rPr lang="en-US" sz="800" dirty="0" err="1"/>
              <a:t>blickwinkel</a:t>
            </a:r>
            <a:r>
              <a:rPr lang="en-US" sz="800" dirty="0"/>
              <a:t>/</a:t>
            </a:r>
            <a:r>
              <a:rPr lang="en-US" sz="800" dirty="0" err="1"/>
              <a:t>Alamy</a:t>
            </a:r>
            <a:r>
              <a:rPr lang="en-US" sz="800" dirty="0"/>
              <a:t> Stock Photo; (plant): Robert </a:t>
            </a:r>
            <a:r>
              <a:rPr lang="en-US" sz="800" dirty="0" err="1"/>
              <a:t>Carr</a:t>
            </a:r>
            <a:r>
              <a:rPr lang="en-US" sz="800" dirty="0"/>
              <a:t>/</a:t>
            </a:r>
            <a:r>
              <a:rPr lang="en-US" sz="800" dirty="0" err="1"/>
              <a:t>Photoshot</a:t>
            </a:r>
            <a:endParaRPr lang="en-GB" sz="800" dirty="0"/>
          </a:p>
        </p:txBody>
      </p:sp>
      <p:sp>
        <p:nvSpPr>
          <p:cNvPr id="9" name="Slide Number Placeholder 5">
            <a:extLst>
              <a:ext uri="{FF2B5EF4-FFF2-40B4-BE49-F238E27FC236}">
                <a16:creationId xmlns:a16="http://schemas.microsoft.com/office/drawing/2014/main" id="{F0D0CAA2-02CB-498E-AEE4-80A069AED8A6}"/>
              </a:ext>
            </a:extLst>
          </p:cNvPr>
          <p:cNvSpPr>
            <a:spLocks noGrp="1"/>
          </p:cNvSpPr>
          <p:nvPr>
            <p:ph type="sldNum" sz="quarter" idx="4"/>
          </p:nvPr>
        </p:nvSpPr>
        <p:spPr/>
        <p:txBody>
          <a:bodyPr/>
          <a:lstStyle/>
          <a:p>
            <a:fld id="{08F9AD23-695F-4808-8E99-6281554D0F77}" type="slidenum">
              <a:rPr lang="en-IN" smtClean="0"/>
              <a:t>39</a:t>
            </a:fld>
            <a:endParaRPr lang="en-IN"/>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noChangeArrowheads="1"/>
          </p:cNvSpPr>
          <p:nvPr>
            <p:ph type="title"/>
          </p:nvPr>
        </p:nvSpPr>
        <p:spPr>
          <a:xfrm>
            <a:off x="457200" y="0"/>
            <a:ext cx="8229600" cy="858129"/>
          </a:xfrm>
        </p:spPr>
        <p:txBody>
          <a:bodyPr>
            <a:normAutofit/>
          </a:bodyPr>
          <a:lstStyle/>
          <a:p>
            <a:r>
              <a:rPr lang="en-US" altLang="en-US" dirty="0"/>
              <a:t>Whisk Ferns</a:t>
            </a:r>
          </a:p>
        </p:txBody>
      </p:sp>
      <p:sp>
        <p:nvSpPr>
          <p:cNvPr id="31747" name="Content Placeholder 2"/>
          <p:cNvSpPr>
            <a:spLocks noGrp="1" noChangeArrowheads="1"/>
          </p:cNvSpPr>
          <p:nvPr>
            <p:ph idx="1"/>
          </p:nvPr>
        </p:nvSpPr>
        <p:spPr>
          <a:xfrm>
            <a:off x="457200" y="876300"/>
            <a:ext cx="8022381" cy="5105400"/>
          </a:xfrm>
        </p:spPr>
        <p:txBody>
          <a:bodyPr>
            <a:normAutofit/>
          </a:bodyPr>
          <a:lstStyle/>
          <a:p>
            <a:pPr>
              <a:spcBef>
                <a:spcPts val="0"/>
              </a:spcBef>
              <a:spcAft>
                <a:spcPts val="2000"/>
              </a:spcAft>
            </a:pPr>
            <a:r>
              <a:rPr lang="en-US" sz="2400" b="1" dirty="0">
                <a:solidFill>
                  <a:srgbClr val="D90000"/>
                </a:solidFill>
              </a:rPr>
              <a:t>Whisk ferns </a:t>
            </a:r>
            <a:r>
              <a:rPr lang="en-US" sz="2400" dirty="0"/>
              <a:t>consist of two genera: </a:t>
            </a:r>
            <a:r>
              <a:rPr lang="en-US" sz="2400" i="1" dirty="0"/>
              <a:t>Psilotum</a:t>
            </a:r>
            <a:r>
              <a:rPr lang="en-US" sz="2400" dirty="0"/>
              <a:t> and </a:t>
            </a:r>
            <a:r>
              <a:rPr lang="en-US" sz="2400" i="1" dirty="0" err="1"/>
              <a:t>Tmesipteris</a:t>
            </a:r>
            <a:endParaRPr lang="en-US" sz="2400" i="1" dirty="0"/>
          </a:p>
          <a:p>
            <a:pPr lvl="1">
              <a:spcBef>
                <a:spcPts val="1200"/>
              </a:spcBef>
              <a:spcAft>
                <a:spcPts val="0"/>
              </a:spcAft>
              <a:buFont typeface="Arial" panose="020B0604020202020204" pitchFamily="34" charset="0"/>
              <a:buChar char="•"/>
            </a:pPr>
            <a:r>
              <a:rPr lang="en-US" sz="2000" dirty="0"/>
              <a:t>Resemble whisk brooms because they have no leaves</a:t>
            </a:r>
          </a:p>
          <a:p>
            <a:pPr lvl="1">
              <a:spcBef>
                <a:spcPts val="1200"/>
              </a:spcBef>
              <a:spcAft>
                <a:spcPts val="0"/>
              </a:spcAft>
              <a:buFont typeface="Arial" panose="020B0604020202020204" pitchFamily="34" charset="0"/>
              <a:buChar char="•"/>
            </a:pPr>
            <a:r>
              <a:rPr lang="en-US" sz="2000" dirty="0"/>
              <a:t>H</a:t>
            </a:r>
            <a:r>
              <a:rPr lang="en-US" sz="2000" b="0" i="0" u="none" strike="noStrike" baseline="0" dirty="0"/>
              <a:t>orizontal rhizome gives rise to aboveground stems that repeatedly fork</a:t>
            </a:r>
          </a:p>
          <a:p>
            <a:pPr lvl="1">
              <a:spcBef>
                <a:spcPts val="1200"/>
              </a:spcBef>
              <a:spcAft>
                <a:spcPts val="0"/>
              </a:spcAft>
              <a:buFont typeface="Arial" panose="020B0604020202020204" pitchFamily="34" charset="0"/>
              <a:buChar char="•"/>
            </a:pPr>
            <a:r>
              <a:rPr lang="en-US" sz="2000" dirty="0"/>
              <a:t>Pumpkin-shaped sporangia are on short side branches</a:t>
            </a:r>
          </a:p>
          <a:p>
            <a:pPr lvl="1">
              <a:spcBef>
                <a:spcPts val="1200"/>
              </a:spcBef>
              <a:spcAft>
                <a:spcPts val="0"/>
              </a:spcAft>
              <a:buFont typeface="Arial" panose="020B0604020202020204" pitchFamily="34" charset="0"/>
              <a:buChar char="•"/>
            </a:pPr>
            <a:r>
              <a:rPr lang="en-US" sz="2000" i="1" dirty="0" err="1"/>
              <a:t>Tmesipteris</a:t>
            </a:r>
            <a:r>
              <a:rPr lang="en-US" sz="2000" dirty="0"/>
              <a:t> species have appendages resembling reduced megaphylls</a:t>
            </a:r>
          </a:p>
        </p:txBody>
      </p:sp>
      <p:sp>
        <p:nvSpPr>
          <p:cNvPr id="4" name="Slide Number Placeholder 3">
            <a:extLst>
              <a:ext uri="{FF2B5EF4-FFF2-40B4-BE49-F238E27FC236}">
                <a16:creationId xmlns:a16="http://schemas.microsoft.com/office/drawing/2014/main" id="{415CC5A8-C52C-4AD8-A8EA-6194599E8715}"/>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40</a:t>
            </a:fld>
            <a:endParaRPr lang="en-IN"/>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noChangeArrowheads="1"/>
          </p:cNvSpPr>
          <p:nvPr>
            <p:ph type="title"/>
          </p:nvPr>
        </p:nvSpPr>
        <p:spPr/>
        <p:txBody>
          <a:bodyPr/>
          <a:lstStyle/>
          <a:p>
            <a:r>
              <a:rPr lang="en-US" altLang="en-US" dirty="0"/>
              <a:t> Whisk Fern, </a:t>
            </a:r>
            <a:r>
              <a:rPr lang="en-US" altLang="en-US" i="1" dirty="0"/>
              <a:t>Psilotum</a:t>
            </a:r>
          </a:p>
        </p:txBody>
      </p:sp>
      <p:pic>
        <p:nvPicPr>
          <p:cNvPr id="49156" name="Picture 2" descr="Close-up of sporangium (left). Diagram of whisk fernroot plant (right) shows labels for rhizome, root, aerial stem, scale and sporangium. "/>
          <p:cNvPicPr>
            <a:picLocks noChangeAspect="1" noChangeArrowheads="1"/>
          </p:cNvPicPr>
          <p:nvPr/>
        </p:nvPicPr>
        <p:blipFill rotWithShape="1">
          <a:blip r:embed="rId3">
            <a:extLst>
              <a:ext uri="{28A0092B-C50C-407E-A947-70E740481C1C}">
                <a14:useLocalDpi xmlns:a14="http://schemas.microsoft.com/office/drawing/2010/main" val="0"/>
              </a:ext>
            </a:extLst>
          </a:blip>
          <a:srcRect t="3410" b="3274"/>
          <a:stretch/>
        </p:blipFill>
        <p:spPr bwMode="auto">
          <a:xfrm>
            <a:off x="676275" y="980392"/>
            <a:ext cx="7791450" cy="41523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3">
            <a:extLst>
              <a:ext uri="{FF2B5EF4-FFF2-40B4-BE49-F238E27FC236}">
                <a16:creationId xmlns:a16="http://schemas.microsoft.com/office/drawing/2014/main" id="{4A42BF9B-E2EB-4432-BED9-4D1C09E2E2A4}"/>
              </a:ext>
            </a:extLst>
          </p:cNvPr>
          <p:cNvSpPr>
            <a:spLocks noGrp="1"/>
          </p:cNvSpPr>
          <p:nvPr>
            <p:ph type="body" sz="quarter" idx="20"/>
          </p:nvPr>
        </p:nvSpPr>
        <p:spPr>
          <a:xfrm>
            <a:off x="3999246" y="5548246"/>
            <a:ext cx="1145507" cy="329362"/>
          </a:xfrm>
        </p:spPr>
        <p:txBody>
          <a:bodyPr>
            <a:normAutofit/>
          </a:bodyPr>
          <a:lstStyle/>
          <a:p>
            <a:pPr algn="ctr"/>
            <a:r>
              <a:rPr lang="en-US" sz="1200" dirty="0"/>
              <a:t>Figure 23.14</a:t>
            </a:r>
          </a:p>
        </p:txBody>
      </p:sp>
      <p:sp>
        <p:nvSpPr>
          <p:cNvPr id="6" name="Content Placeholder 4"/>
          <p:cNvSpPr>
            <a:spLocks noGrp="1"/>
          </p:cNvSpPr>
          <p:nvPr>
            <p:ph type="body" sz="quarter" idx="19"/>
          </p:nvPr>
        </p:nvSpPr>
        <p:spPr>
          <a:xfrm>
            <a:off x="4987673" y="6540097"/>
            <a:ext cx="3600850" cy="249968"/>
          </a:xfrm>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(sporangia): Steven P. Lynch; (plant): </a:t>
            </a:r>
            <a:r>
              <a:rPr lang="en-US" sz="800" dirty="0" err="1"/>
              <a:t>Biophoto</a:t>
            </a:r>
            <a:r>
              <a:rPr lang="en-US" sz="800" dirty="0"/>
              <a:t> Associates/Science Source</a:t>
            </a:r>
            <a:endParaRPr lang="en-GB" sz="800" dirty="0"/>
          </a:p>
        </p:txBody>
      </p:sp>
      <p:sp>
        <p:nvSpPr>
          <p:cNvPr id="8" name="Slide Number Placeholder 5">
            <a:extLst>
              <a:ext uri="{FF2B5EF4-FFF2-40B4-BE49-F238E27FC236}">
                <a16:creationId xmlns:a16="http://schemas.microsoft.com/office/drawing/2014/main" id="{72616E0F-8B7B-4381-BA78-7C90363DD397}"/>
              </a:ext>
            </a:extLst>
          </p:cNvPr>
          <p:cNvSpPr>
            <a:spLocks noGrp="1"/>
          </p:cNvSpPr>
          <p:nvPr>
            <p:ph type="sldNum" sz="quarter" idx="4"/>
          </p:nvPr>
        </p:nvSpPr>
        <p:spPr/>
        <p:txBody>
          <a:bodyPr/>
          <a:lstStyle/>
          <a:p>
            <a:fld id="{08F9AD23-695F-4808-8E99-6281554D0F77}" type="slidenum">
              <a:rPr lang="en-IN" smtClean="0"/>
              <a:t>41</a:t>
            </a:fld>
            <a:endParaRPr lang="en-IN"/>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itle 1"/>
          <p:cNvSpPr>
            <a:spLocks noGrp="1" noChangeArrowheads="1"/>
          </p:cNvSpPr>
          <p:nvPr>
            <p:ph type="title"/>
          </p:nvPr>
        </p:nvSpPr>
        <p:spPr>
          <a:xfrm>
            <a:off x="529874" y="12031"/>
            <a:ext cx="8229600" cy="1143000"/>
          </a:xfrm>
        </p:spPr>
        <p:txBody>
          <a:bodyPr/>
          <a:lstStyle/>
          <a:p>
            <a:r>
              <a:rPr lang="en-US" altLang="en-US" dirty="0"/>
              <a:t>Ferns</a:t>
            </a:r>
          </a:p>
        </p:txBody>
      </p:sp>
      <p:sp>
        <p:nvSpPr>
          <p:cNvPr id="33796" name="Content Placeholder 2"/>
          <p:cNvSpPr>
            <a:spLocks noGrp="1" noChangeArrowheads="1"/>
          </p:cNvSpPr>
          <p:nvPr>
            <p:ph idx="1"/>
          </p:nvPr>
        </p:nvSpPr>
        <p:spPr>
          <a:xfrm>
            <a:off x="258184" y="1245555"/>
            <a:ext cx="8221397" cy="5429152"/>
          </a:xfrm>
        </p:spPr>
        <p:txBody>
          <a:bodyPr>
            <a:noAutofit/>
          </a:bodyPr>
          <a:lstStyle/>
          <a:p>
            <a:pPr marL="338328" lvl="2" indent="0">
              <a:lnSpc>
                <a:spcPct val="80000"/>
              </a:lnSpc>
              <a:spcBef>
                <a:spcPts val="0"/>
              </a:spcBef>
              <a:buNone/>
            </a:pPr>
            <a:r>
              <a:rPr lang="en-US" sz="2600" dirty="0"/>
              <a:t>Approximately 11,000 species</a:t>
            </a:r>
          </a:p>
          <a:p>
            <a:pPr marL="338328" lvl="2" indent="0">
              <a:lnSpc>
                <a:spcPct val="80000"/>
              </a:lnSpc>
              <a:spcBef>
                <a:spcPts val="1200"/>
              </a:spcBef>
              <a:buNone/>
            </a:pPr>
            <a:r>
              <a:rPr lang="en-US" sz="2600" dirty="0"/>
              <a:t>Most abundant in warm, moist, tropical regions</a:t>
            </a:r>
          </a:p>
          <a:p>
            <a:pPr marL="338328" lvl="2" indent="0">
              <a:lnSpc>
                <a:spcPct val="80000"/>
              </a:lnSpc>
              <a:spcBef>
                <a:spcPts val="1200"/>
              </a:spcBef>
              <a:buNone/>
            </a:pPr>
            <a:r>
              <a:rPr lang="en-US" sz="2600" dirty="0"/>
              <a:t>Range in size from 1 cm in diameter to 20 m in height</a:t>
            </a:r>
          </a:p>
          <a:p>
            <a:pPr marL="338328" lvl="2" indent="0">
              <a:lnSpc>
                <a:spcPct val="80000"/>
              </a:lnSpc>
              <a:spcBef>
                <a:spcPts val="1200"/>
              </a:spcBef>
              <a:buNone/>
            </a:pPr>
            <a:r>
              <a:rPr lang="en-US" sz="2600" dirty="0"/>
              <a:t>Large, conspicuous megaphylls are called </a:t>
            </a:r>
            <a:r>
              <a:rPr lang="en-US" sz="2600" b="1" dirty="0">
                <a:solidFill>
                  <a:srgbClr val="D90000"/>
                </a:solidFill>
              </a:rPr>
              <a:t>fronds</a:t>
            </a:r>
            <a:endParaRPr lang="en-US" sz="2600" dirty="0">
              <a:solidFill>
                <a:srgbClr val="D90000"/>
              </a:solidFill>
            </a:endParaRPr>
          </a:p>
          <a:p>
            <a:pPr marL="809625" lvl="3" indent="-450850">
              <a:lnSpc>
                <a:spcPct val="80000"/>
              </a:lnSpc>
              <a:spcBef>
                <a:spcPts val="1200"/>
              </a:spcBef>
              <a:buFont typeface="Arial" panose="020B0604020202020204" pitchFamily="34" charset="0"/>
              <a:buChar char="•"/>
            </a:pPr>
            <a:r>
              <a:rPr lang="en-US" sz="2400" dirty="0"/>
              <a:t>Divided into leaflets</a:t>
            </a:r>
          </a:p>
          <a:p>
            <a:pPr marL="809625" lvl="3" indent="-450850">
              <a:lnSpc>
                <a:spcPct val="80000"/>
              </a:lnSpc>
              <a:spcBef>
                <a:spcPts val="1200"/>
              </a:spcBef>
              <a:buFont typeface="Arial" panose="020B0604020202020204" pitchFamily="34" charset="0"/>
              <a:buChar char="•"/>
            </a:pPr>
            <a:r>
              <a:rPr lang="en-US" sz="2400" dirty="0"/>
              <a:t>Sporangia are in clusters called </a:t>
            </a:r>
            <a:r>
              <a:rPr lang="en-US" sz="2400" b="1" dirty="0"/>
              <a:t>sori</a:t>
            </a:r>
            <a:r>
              <a:rPr lang="en-US" sz="2400" dirty="0"/>
              <a:t> on the undersides of fronds</a:t>
            </a:r>
          </a:p>
          <a:p>
            <a:pPr marL="338328" lvl="2" indent="0">
              <a:lnSpc>
                <a:spcPct val="80000"/>
              </a:lnSpc>
              <a:spcBef>
                <a:spcPts val="1200"/>
              </a:spcBef>
              <a:buNone/>
            </a:pPr>
            <a:r>
              <a:rPr lang="en-US" sz="2600" dirty="0"/>
              <a:t>Dominant sporophyte produces windblown spores by meiosis within sporangia</a:t>
            </a:r>
          </a:p>
        </p:txBody>
      </p:sp>
      <p:sp>
        <p:nvSpPr>
          <p:cNvPr id="4" name="Slide Number Placeholder 3">
            <a:extLst>
              <a:ext uri="{FF2B5EF4-FFF2-40B4-BE49-F238E27FC236}">
                <a16:creationId xmlns:a16="http://schemas.microsoft.com/office/drawing/2014/main" id="{E4B6A2EF-DEFB-4B06-9B2E-6F248AE7C55A}"/>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42</a:t>
            </a:fld>
            <a:endParaRPr lang="en-IN"/>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itle 1"/>
          <p:cNvSpPr>
            <a:spLocks noGrp="1" noChangeArrowheads="1"/>
          </p:cNvSpPr>
          <p:nvPr>
            <p:ph type="title"/>
          </p:nvPr>
        </p:nvSpPr>
        <p:spPr/>
        <p:txBody>
          <a:bodyPr/>
          <a:lstStyle/>
          <a:p>
            <a:r>
              <a:rPr lang="en-US" altLang="en-US" dirty="0"/>
              <a:t>Fern Life Cycle</a:t>
            </a:r>
          </a:p>
        </p:txBody>
      </p:sp>
      <p:sp>
        <p:nvSpPr>
          <p:cNvPr id="33796" name="Content Placeholder 2"/>
          <p:cNvSpPr>
            <a:spLocks noGrp="1" noChangeArrowheads="1"/>
          </p:cNvSpPr>
          <p:nvPr>
            <p:ph idx="1"/>
          </p:nvPr>
        </p:nvSpPr>
        <p:spPr>
          <a:xfrm>
            <a:off x="457201" y="1295401"/>
            <a:ext cx="8108065" cy="5175737"/>
          </a:xfrm>
        </p:spPr>
        <p:txBody>
          <a:bodyPr/>
          <a:lstStyle/>
          <a:p>
            <a:pPr marL="0" lvl="1" indent="0">
              <a:spcBef>
                <a:spcPts val="0"/>
              </a:spcBef>
              <a:buNone/>
            </a:pPr>
            <a:r>
              <a:rPr lang="en-US" sz="2400" dirty="0"/>
              <a:t>Windblown spores eventually germinate into gametophytes which produce sperm</a:t>
            </a:r>
          </a:p>
          <a:p>
            <a:pPr marL="0" lvl="1" indent="0">
              <a:buNone/>
            </a:pPr>
            <a:r>
              <a:rPr lang="en-US" sz="2400" dirty="0"/>
              <a:t>Sperm swim from antheridium to archegonium where fertilization occurs</a:t>
            </a:r>
          </a:p>
          <a:p>
            <a:pPr marL="0" lvl="1" indent="0">
              <a:buNone/>
            </a:pPr>
            <a:r>
              <a:rPr lang="en-US" sz="2400" dirty="0"/>
              <a:t>When the gametophyte disappears the sporophyte is independent</a:t>
            </a:r>
          </a:p>
          <a:p>
            <a:pPr marL="358775" lvl="2" indent="-358775">
              <a:buFont typeface="Arial" panose="020B0604020202020204" pitchFamily="34" charset="0"/>
              <a:buChar char="•"/>
            </a:pPr>
            <a:r>
              <a:rPr lang="en-US" sz="2200" b="0" i="0" u="none" strike="noStrike" baseline="0" dirty="0"/>
              <a:t>Both generations of a fern are considered to be independent of one another</a:t>
            </a:r>
            <a:endParaRPr lang="en-US" sz="2200" dirty="0"/>
          </a:p>
        </p:txBody>
      </p:sp>
      <p:sp>
        <p:nvSpPr>
          <p:cNvPr id="4" name="Slide Number Placeholder 3">
            <a:extLst>
              <a:ext uri="{FF2B5EF4-FFF2-40B4-BE49-F238E27FC236}">
                <a16:creationId xmlns:a16="http://schemas.microsoft.com/office/drawing/2014/main" id="{EBF9BBD4-A001-4C26-A1D8-C80FD793D21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43</a:t>
            </a:fld>
            <a:endParaRPr lang="en-IN"/>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noChangeArrowheads="1"/>
          </p:cNvSpPr>
          <p:nvPr>
            <p:ph type="title"/>
          </p:nvPr>
        </p:nvSpPr>
        <p:spPr>
          <a:xfrm>
            <a:off x="2167668" y="0"/>
            <a:ext cx="4808663" cy="674549"/>
          </a:xfrm>
        </p:spPr>
        <p:txBody>
          <a:bodyPr/>
          <a:lstStyle/>
          <a:p>
            <a:r>
              <a:rPr lang="en-US" altLang="en-US" dirty="0"/>
              <a:t>Diversity of Ferns</a:t>
            </a:r>
          </a:p>
        </p:txBody>
      </p:sp>
      <p:pic>
        <p:nvPicPr>
          <p:cNvPr id="6" name="Picture 2" descr="Photos of a tree fern, a feather leaf fern, and a hart’s tongue fern. "/>
          <p:cNvPicPr>
            <a:picLocks noChangeAspect="1" noChangeArrowheads="1"/>
          </p:cNvPicPr>
          <p:nvPr/>
        </p:nvPicPr>
        <p:blipFill rotWithShape="1">
          <a:blip r:embed="rId3">
            <a:extLst>
              <a:ext uri="{28A0092B-C50C-407E-A947-70E740481C1C}">
                <a14:useLocalDpi xmlns:a14="http://schemas.microsoft.com/office/drawing/2010/main" val="0"/>
              </a:ext>
            </a:extLst>
          </a:blip>
          <a:srcRect t="2069" b="4585"/>
          <a:stretch/>
        </p:blipFill>
        <p:spPr bwMode="auto">
          <a:xfrm>
            <a:off x="1937767" y="674549"/>
            <a:ext cx="5268466" cy="494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3">
            <a:extLst>
              <a:ext uri="{FF2B5EF4-FFF2-40B4-BE49-F238E27FC236}">
                <a16:creationId xmlns:a16="http://schemas.microsoft.com/office/drawing/2014/main" id="{D190E08D-CD22-488D-8BF8-D2F5F4F91F84}"/>
              </a:ext>
            </a:extLst>
          </p:cNvPr>
          <p:cNvSpPr txBox="1"/>
          <p:nvPr/>
        </p:nvSpPr>
        <p:spPr>
          <a:xfrm>
            <a:off x="3843865" y="5793702"/>
            <a:ext cx="1456267" cy="276999"/>
          </a:xfrm>
          <a:prstGeom prst="rect">
            <a:avLst/>
          </a:prstGeom>
          <a:noFill/>
        </p:spPr>
        <p:txBody>
          <a:bodyPr wrap="square" rtlCol="0">
            <a:spAutoFit/>
          </a:bodyPr>
          <a:lstStyle/>
          <a:p>
            <a:pPr algn="ctr"/>
            <a:r>
              <a:rPr lang="en-US" sz="1200" dirty="0"/>
              <a:t>Figure 23.15</a:t>
            </a:r>
          </a:p>
        </p:txBody>
      </p:sp>
      <p:sp>
        <p:nvSpPr>
          <p:cNvPr id="7" name="Content Placeholder 4"/>
          <p:cNvSpPr>
            <a:spLocks noGrp="1"/>
          </p:cNvSpPr>
          <p:nvPr>
            <p:ph sz="quarter" idx="4294967295"/>
          </p:nvPr>
        </p:nvSpPr>
        <p:spPr>
          <a:xfrm>
            <a:off x="3756660" y="6517302"/>
            <a:ext cx="4817046" cy="295559"/>
          </a:xfrm>
        </p:spPr>
        <p:txBody>
          <a:bodyPr anchor="ctr">
            <a:noAutofit/>
          </a:bodyPr>
          <a:lstStyle/>
          <a:p>
            <a:pPr marL="0" lvl="0" indent="0" algn="r">
              <a:buNone/>
            </a:pPr>
            <a:r>
              <a:rPr lang="en-US" sz="800" dirty="0">
                <a:latin typeface="+mn-lt"/>
              </a:rPr>
              <a:t>(leatherleaf fern): Gregory Preest/</a:t>
            </a:r>
            <a:r>
              <a:rPr lang="en-US" sz="800" dirty="0" err="1">
                <a:latin typeface="+mn-lt"/>
              </a:rPr>
              <a:t>Alamy</a:t>
            </a:r>
            <a:r>
              <a:rPr lang="en-US" sz="800" dirty="0">
                <a:latin typeface="+mn-lt"/>
              </a:rPr>
              <a:t> Stock Photo; (tree fern): Danita Delimont/Gallo Images/Getty Images; (hart’s tongue fern): Organics/image library/</a:t>
            </a:r>
            <a:r>
              <a:rPr lang="en-US" sz="800" dirty="0" err="1">
                <a:latin typeface="+mn-lt"/>
              </a:rPr>
              <a:t>Alamy</a:t>
            </a:r>
            <a:r>
              <a:rPr lang="en-US" sz="800" dirty="0">
                <a:latin typeface="+mn-lt"/>
              </a:rPr>
              <a:t> Stock Photo</a:t>
            </a:r>
            <a:endParaRPr lang="en-GB" sz="800" dirty="0">
              <a:latin typeface="+mn-lt"/>
            </a:endParaRPr>
          </a:p>
        </p:txBody>
      </p:sp>
      <p:sp>
        <p:nvSpPr>
          <p:cNvPr id="9" name="Slide Number Placeholder 5">
            <a:extLst>
              <a:ext uri="{FF2B5EF4-FFF2-40B4-BE49-F238E27FC236}">
                <a16:creationId xmlns:a16="http://schemas.microsoft.com/office/drawing/2014/main" id="{659E187B-DC48-4521-950B-AEE29D46F06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44</a:t>
            </a:fld>
            <a:endParaRPr lang="en-IN"/>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1</a:t>
            </a:r>
          </a:p>
        </p:txBody>
      </p:sp>
      <p:pic>
        <p:nvPicPr>
          <p:cNvPr id="53252" name="Picture 2" descr="The sporophyte portion of the life cycle is dominant in ferns."/>
          <p:cNvPicPr>
            <a:picLocks noChangeAspect="1" noChangeArrowheads="1"/>
          </p:cNvPicPr>
          <p:nvPr/>
        </p:nvPicPr>
        <p:blipFill rotWithShape="1">
          <a:blip r:embed="rId3">
            <a:extLst>
              <a:ext uri="{28A0092B-C50C-407E-A947-70E740481C1C}">
                <a14:useLocalDpi xmlns:a14="http://schemas.microsoft.com/office/drawing/2010/main" val="0"/>
              </a:ext>
            </a:extLst>
          </a:blip>
          <a:srcRect t="3230"/>
          <a:stretch/>
        </p:blipFill>
        <p:spPr bwMode="auto">
          <a:xfrm>
            <a:off x="2262187" y="739749"/>
            <a:ext cx="4619625" cy="5610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45</a:t>
            </a:fld>
            <a:endParaRPr lang="en-IN"/>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2</a:t>
            </a:r>
          </a:p>
        </p:txBody>
      </p:sp>
      <p:pic>
        <p:nvPicPr>
          <p:cNvPr id="6" name="Picture 2" descr="Step 1,  the sporophyte portion of the life cycle is dominant in ferns.">
            <a:extLst>
              <a:ext uri="{FF2B5EF4-FFF2-40B4-BE49-F238E27FC236}">
                <a16:creationId xmlns:a16="http://schemas.microsoft.com/office/drawing/2014/main" id="{221BF5B5-0AEB-4E38-B16B-6B7821DE183E}"/>
              </a:ext>
            </a:extLst>
          </p:cNvPr>
          <p:cNvPicPr>
            <a:picLocks noChangeAspect="1"/>
          </p:cNvPicPr>
          <p:nvPr/>
        </p:nvPicPr>
        <p:blipFill rotWithShape="1">
          <a:blip r:embed="rId3">
            <a:extLst>
              <a:ext uri="{28A0092B-C50C-407E-A947-70E740481C1C}">
                <a14:useLocalDpi xmlns:a14="http://schemas.microsoft.com/office/drawing/2010/main" val="0"/>
              </a:ext>
            </a:extLst>
          </a:blip>
          <a:srcRect t="4594" b="2686"/>
          <a:stretch/>
        </p:blipFill>
        <p:spPr>
          <a:xfrm>
            <a:off x="1298448" y="1200150"/>
            <a:ext cx="6547104" cy="5070021"/>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46</a:t>
            </a:fld>
            <a:endParaRPr lang="en-IN"/>
          </a:p>
        </p:txBody>
      </p:sp>
    </p:spTree>
    <p:extLst>
      <p:ext uri="{BB962C8B-B14F-4D97-AF65-F5344CB8AC3E}">
        <p14:creationId xmlns:p14="http://schemas.microsoft.com/office/powerpoint/2010/main" val="325994341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3</a:t>
            </a:r>
          </a:p>
        </p:txBody>
      </p:sp>
      <p:pic>
        <p:nvPicPr>
          <p:cNvPr id="6" name="Picture 2" descr="Step 2, in this fern, the sporangia are located within sori, on the underside of the leaflets, and protected by the indusium.">
            <a:extLst>
              <a:ext uri="{FF2B5EF4-FFF2-40B4-BE49-F238E27FC236}">
                <a16:creationId xmlns:a16="http://schemas.microsoft.com/office/drawing/2014/main" id="{FD11C697-DBE0-4560-98EC-556B04ED7C5F}"/>
              </a:ext>
            </a:extLst>
          </p:cNvPr>
          <p:cNvPicPr>
            <a:picLocks noChangeAspect="1"/>
          </p:cNvPicPr>
          <p:nvPr/>
        </p:nvPicPr>
        <p:blipFill rotWithShape="1">
          <a:blip r:embed="rId3">
            <a:extLst>
              <a:ext uri="{28A0092B-C50C-407E-A947-70E740481C1C}">
                <a14:useLocalDpi xmlns:a14="http://schemas.microsoft.com/office/drawing/2010/main" val="0"/>
              </a:ext>
            </a:extLst>
          </a:blip>
          <a:srcRect t="4176" b="2198"/>
          <a:stretch/>
        </p:blipFill>
        <p:spPr>
          <a:xfrm>
            <a:off x="1586992" y="1300163"/>
            <a:ext cx="6224016" cy="4868408"/>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47</a:t>
            </a:fld>
            <a:endParaRPr lang="en-IN"/>
          </a:p>
        </p:txBody>
      </p:sp>
    </p:spTree>
    <p:extLst>
      <p:ext uri="{BB962C8B-B14F-4D97-AF65-F5344CB8AC3E}">
        <p14:creationId xmlns:p14="http://schemas.microsoft.com/office/powerpoint/2010/main" val="1751958413"/>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4</a:t>
            </a:r>
          </a:p>
        </p:txBody>
      </p:sp>
      <p:pic>
        <p:nvPicPr>
          <p:cNvPr id="6" name="Picture 2" descr="Step 3, within a sporangium, meiosis occurs and spores are produced. When a sporangium opens, the spores are released.">
            <a:extLst>
              <a:ext uri="{FF2B5EF4-FFF2-40B4-BE49-F238E27FC236}">
                <a16:creationId xmlns:a16="http://schemas.microsoft.com/office/drawing/2014/main" id="{6CC2AD7C-6AF5-4B24-8D6C-9A953BEE05E9}"/>
              </a:ext>
            </a:extLst>
          </p:cNvPr>
          <p:cNvPicPr>
            <a:picLocks noChangeAspect="1"/>
          </p:cNvPicPr>
          <p:nvPr/>
        </p:nvPicPr>
        <p:blipFill rotWithShape="1">
          <a:blip r:embed="rId3">
            <a:extLst>
              <a:ext uri="{28A0092B-C50C-407E-A947-70E740481C1C}">
                <a14:useLocalDpi xmlns:a14="http://schemas.microsoft.com/office/drawing/2010/main" val="0"/>
              </a:ext>
            </a:extLst>
          </a:blip>
          <a:srcRect t="4066" b="2684"/>
          <a:stretch/>
        </p:blipFill>
        <p:spPr>
          <a:xfrm>
            <a:off x="1280160" y="1157288"/>
            <a:ext cx="6583680" cy="5127398"/>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48</a:t>
            </a:fld>
            <a:endParaRPr lang="en-IN"/>
          </a:p>
        </p:txBody>
      </p:sp>
    </p:spTree>
    <p:extLst>
      <p:ext uri="{BB962C8B-B14F-4D97-AF65-F5344CB8AC3E}">
        <p14:creationId xmlns:p14="http://schemas.microsoft.com/office/powerpoint/2010/main" val="2166651381"/>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title"/>
          </p:nvPr>
        </p:nvSpPr>
        <p:spPr/>
        <p:txBody>
          <a:bodyPr/>
          <a:lstStyle/>
          <a:p>
            <a:r>
              <a:rPr lang="en-US" altLang="en-US" dirty="0"/>
              <a:t>Fern Life Cycle </a:t>
            </a:r>
            <a:r>
              <a:rPr lang="en-US" altLang="en-US" sz="1600" dirty="0"/>
              <a:t>5</a:t>
            </a:r>
          </a:p>
        </p:txBody>
      </p:sp>
      <p:pic>
        <p:nvPicPr>
          <p:cNvPr id="6" name="Picture 2" descr="Step 4, a spore germinates into a prothallus (the gametophyte), which typically bears archegonia at the notch and antheridia at the tip between the rhizoids.">
            <a:extLst>
              <a:ext uri="{FF2B5EF4-FFF2-40B4-BE49-F238E27FC236}">
                <a16:creationId xmlns:a16="http://schemas.microsoft.com/office/drawing/2014/main" id="{2E567467-DF56-4160-A69E-19AC78795E6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819" b="2414"/>
          <a:stretch/>
        </p:blipFill>
        <p:spPr>
          <a:xfrm>
            <a:off x="1692135" y="1228725"/>
            <a:ext cx="6392500" cy="5006975"/>
          </a:xfrm>
          <a:prstGeom prst="rect">
            <a:avLst/>
          </a:prstGeom>
        </p:spPr>
      </p:pic>
      <p:sp>
        <p:nvSpPr>
          <p:cNvPr id="2" name="Text Placeholder 3">
            <a:extLst>
              <a:ext uri="{FF2B5EF4-FFF2-40B4-BE49-F238E27FC236}">
                <a16:creationId xmlns:a16="http://schemas.microsoft.com/office/drawing/2014/main" id="{B3DB232E-C8A8-4C83-8FE8-2F6BCCD750AE}"/>
              </a:ext>
            </a:extLst>
          </p:cNvPr>
          <p:cNvSpPr>
            <a:spLocks noGrp="1"/>
          </p:cNvSpPr>
          <p:nvPr>
            <p:ph type="body" sz="quarter" idx="19"/>
          </p:nvPr>
        </p:nvSpPr>
        <p:spPr>
          <a:xfrm>
            <a:off x="4000552" y="6350055"/>
            <a:ext cx="1142893" cy="314325"/>
          </a:xfrm>
        </p:spPr>
        <p:txBody>
          <a:bodyPr>
            <a:normAutofit/>
          </a:bodyPr>
          <a:lstStyle/>
          <a:p>
            <a:pPr algn="ctr"/>
            <a:r>
              <a:rPr lang="en-US" sz="1200" dirty="0"/>
              <a:t>Figure 23.16</a:t>
            </a:r>
          </a:p>
        </p:txBody>
      </p:sp>
      <p:sp>
        <p:nvSpPr>
          <p:cNvPr id="5" name="Slide Number Placeholder 4">
            <a:extLst>
              <a:ext uri="{FF2B5EF4-FFF2-40B4-BE49-F238E27FC236}">
                <a16:creationId xmlns:a16="http://schemas.microsoft.com/office/drawing/2014/main" id="{761D5E09-C5EB-4742-A605-8FEB0037051D}"/>
              </a:ext>
            </a:extLst>
          </p:cNvPr>
          <p:cNvSpPr>
            <a:spLocks noGrp="1"/>
          </p:cNvSpPr>
          <p:nvPr>
            <p:ph type="sldNum" sz="quarter" idx="4"/>
          </p:nvPr>
        </p:nvSpPr>
        <p:spPr/>
        <p:txBody>
          <a:bodyPr/>
          <a:lstStyle/>
          <a:p>
            <a:fld id="{08F9AD23-695F-4808-8E99-6281554D0F77}" type="slidenum">
              <a:rPr lang="en-IN" smtClean="0"/>
              <a:t>49</a:t>
            </a:fld>
            <a:endParaRPr lang="en-IN"/>
          </a:p>
        </p:txBody>
      </p:sp>
    </p:spTree>
    <p:extLst>
      <p:ext uri="{BB962C8B-B14F-4D97-AF65-F5344CB8AC3E}">
        <p14:creationId xmlns:p14="http://schemas.microsoft.com/office/powerpoint/2010/main" val="560408024"/>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6</a:t>
            </a:r>
          </a:p>
        </p:txBody>
      </p:sp>
      <p:pic>
        <p:nvPicPr>
          <p:cNvPr id="7" name="Picture 2" descr="Step 5 of the cycle is fertilization.">
            <a:extLst>
              <a:ext uri="{FF2B5EF4-FFF2-40B4-BE49-F238E27FC236}">
                <a16:creationId xmlns:a16="http://schemas.microsoft.com/office/drawing/2014/main" id="{C3E56735-EE9D-4112-9B39-0C056AFB75B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753" b="2441"/>
          <a:stretch/>
        </p:blipFill>
        <p:spPr>
          <a:xfrm>
            <a:off x="1265872" y="839466"/>
            <a:ext cx="6612256" cy="5126038"/>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7" y="5872320"/>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2" y="6252784"/>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50</a:t>
            </a:fld>
            <a:endParaRPr lang="en-IN"/>
          </a:p>
        </p:txBody>
      </p:sp>
    </p:spTree>
    <p:extLst>
      <p:ext uri="{BB962C8B-B14F-4D97-AF65-F5344CB8AC3E}">
        <p14:creationId xmlns:p14="http://schemas.microsoft.com/office/powerpoint/2010/main" val="142642678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7</a:t>
            </a:r>
          </a:p>
        </p:txBody>
      </p:sp>
      <p:pic>
        <p:nvPicPr>
          <p:cNvPr id="8" name="Picture 2" descr="Step 6, spores germinate into male or female immature gametophytes (protonema).">
            <a:extLst>
              <a:ext uri="{FF2B5EF4-FFF2-40B4-BE49-F238E27FC236}">
                <a16:creationId xmlns:a16="http://schemas.microsoft.com/office/drawing/2014/main" id="{5E1207A5-3F18-4D39-920E-6044F39DBBB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834" b="2453"/>
          <a:stretch/>
        </p:blipFill>
        <p:spPr>
          <a:xfrm>
            <a:off x="1281036" y="861536"/>
            <a:ext cx="6581929" cy="5097463"/>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7" y="5872320"/>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2" y="6252784"/>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51</a:t>
            </a:fld>
            <a:endParaRPr lang="en-IN"/>
          </a:p>
        </p:txBody>
      </p:sp>
    </p:spTree>
    <p:extLst>
      <p:ext uri="{BB962C8B-B14F-4D97-AF65-F5344CB8AC3E}">
        <p14:creationId xmlns:p14="http://schemas.microsoft.com/office/powerpoint/2010/main" val="586052586"/>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a:t>Fern Life Cycle </a:t>
            </a:r>
            <a:r>
              <a:rPr lang="en-US" altLang="en-US" sz="1600" dirty="0"/>
              <a:t>8</a:t>
            </a:r>
          </a:p>
        </p:txBody>
      </p:sp>
      <p:pic>
        <p:nvPicPr>
          <p:cNvPr id="2" name="Picture 2" descr="Details of the fern life cycle include spore formation and germination, gamete formation, fertilization and frond formation"/>
          <p:cNvPicPr>
            <a:picLocks noChangeAspect="1"/>
          </p:cNvPicPr>
          <p:nvPr/>
        </p:nvPicPr>
        <p:blipFill rotWithShape="1">
          <a:blip r:embed="rId3" cstate="print">
            <a:extLst>
              <a:ext uri="{28A0092B-C50C-407E-A947-70E740481C1C}">
                <a14:useLocalDpi xmlns:a14="http://schemas.microsoft.com/office/drawing/2010/main" val="0"/>
              </a:ext>
            </a:extLst>
          </a:blip>
          <a:srcRect t="5096"/>
          <a:stretch/>
        </p:blipFill>
        <p:spPr>
          <a:xfrm>
            <a:off x="1685330" y="824322"/>
            <a:ext cx="5773339" cy="4677409"/>
          </a:xfrm>
          <a:prstGeom prst="rect">
            <a:avLst/>
          </a:prstGeom>
        </p:spPr>
      </p:pic>
      <p:sp>
        <p:nvSpPr>
          <p:cNvPr id="3" name="Text Placeholder 3">
            <a:extLst>
              <a:ext uri="{FF2B5EF4-FFF2-40B4-BE49-F238E27FC236}">
                <a16:creationId xmlns:a16="http://schemas.microsoft.com/office/drawing/2014/main" id="{81E21D01-EACA-4700-957D-B5CA063E8075}"/>
              </a:ext>
            </a:extLst>
          </p:cNvPr>
          <p:cNvSpPr>
            <a:spLocks noGrp="1"/>
          </p:cNvSpPr>
          <p:nvPr>
            <p:ph type="body" sz="quarter" idx="18"/>
          </p:nvPr>
        </p:nvSpPr>
        <p:spPr>
          <a:xfrm>
            <a:off x="3990196" y="5639795"/>
            <a:ext cx="1163605" cy="378739"/>
          </a:xfrm>
        </p:spPr>
        <p:txBody>
          <a:bodyPr>
            <a:normAutofit/>
          </a:bodyPr>
          <a:lstStyle/>
          <a:p>
            <a:r>
              <a:rPr lang="en-US" sz="1200" dirty="0"/>
              <a:t>Figure 23.16</a:t>
            </a:r>
          </a:p>
        </p:txBody>
      </p:sp>
      <p:sp>
        <p:nvSpPr>
          <p:cNvPr id="6" name="Text Placeholder 4">
            <a:extLst>
              <a:ext uri="{FF2B5EF4-FFF2-40B4-BE49-F238E27FC236}">
                <a16:creationId xmlns:a16="http://schemas.microsoft.com/office/drawing/2014/main" id="{BB59562B-E5A5-4009-8338-9B9031D2244F}"/>
              </a:ext>
            </a:extLst>
          </p:cNvPr>
          <p:cNvSpPr>
            <a:spLocks noGrp="1"/>
          </p:cNvSpPr>
          <p:nvPr>
            <p:ph type="body" sz="quarter" idx="19"/>
          </p:nvPr>
        </p:nvSpPr>
        <p:spPr>
          <a:xfrm>
            <a:off x="2849660" y="6156598"/>
            <a:ext cx="3444676" cy="378739"/>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E4EE2096-646F-4A92-A8B2-C2275498A9F5}"/>
              </a:ext>
            </a:extLst>
          </p:cNvPr>
          <p:cNvSpPr>
            <a:spLocks noGrp="1"/>
          </p:cNvSpPr>
          <p:nvPr>
            <p:ph type="sldNum" sz="quarter" idx="4"/>
          </p:nvPr>
        </p:nvSpPr>
        <p:spPr/>
        <p:txBody>
          <a:bodyPr/>
          <a:lstStyle/>
          <a:p>
            <a:fld id="{08F9AD23-695F-4808-8E99-6281554D0F77}" type="slidenum">
              <a:rPr lang="en-IN" smtClean="0"/>
              <a:t>52</a:t>
            </a:fld>
            <a:endParaRPr lang="en-IN"/>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noChangeArrowheads="1"/>
          </p:cNvSpPr>
          <p:nvPr>
            <p:ph type="title"/>
          </p:nvPr>
        </p:nvSpPr>
        <p:spPr>
          <a:xfrm>
            <a:off x="2143625" y="86770"/>
            <a:ext cx="4856750" cy="688107"/>
          </a:xfrm>
        </p:spPr>
        <p:txBody>
          <a:bodyPr/>
          <a:lstStyle/>
          <a:p>
            <a:r>
              <a:rPr lang="en-US" altLang="en-US" sz="3600" dirty="0"/>
              <a:t>The Uses of Ferns</a:t>
            </a:r>
          </a:p>
        </p:txBody>
      </p:sp>
      <p:sp>
        <p:nvSpPr>
          <p:cNvPr id="64515" name="Content Placeholder 2"/>
          <p:cNvSpPr>
            <a:spLocks noGrp="1" noChangeArrowheads="1"/>
          </p:cNvSpPr>
          <p:nvPr>
            <p:ph idx="1"/>
          </p:nvPr>
        </p:nvSpPr>
        <p:spPr>
          <a:xfrm>
            <a:off x="516368" y="804166"/>
            <a:ext cx="7724807" cy="5779514"/>
          </a:xfrm>
        </p:spPr>
        <p:txBody>
          <a:bodyPr>
            <a:noAutofit/>
          </a:bodyPr>
          <a:lstStyle/>
          <a:p>
            <a:pPr>
              <a:spcBef>
                <a:spcPts val="0"/>
              </a:spcBef>
              <a:spcAft>
                <a:spcPts val="2000"/>
              </a:spcAft>
            </a:pPr>
            <a:r>
              <a:rPr lang="en-US" altLang="en-US" sz="2400" dirty="0"/>
              <a:t>Ferns have economic and medicinal value</a:t>
            </a:r>
          </a:p>
          <a:p>
            <a:pPr lvl="1">
              <a:spcBef>
                <a:spcPts val="0"/>
              </a:spcBef>
              <a:spcAft>
                <a:spcPts val="2000"/>
              </a:spcAft>
              <a:buFont typeface="Arial" panose="020B0604020202020204" pitchFamily="34" charset="0"/>
              <a:buChar char="•"/>
            </a:pPr>
            <a:r>
              <a:rPr lang="en-US" altLang="en-US" sz="2200" dirty="0"/>
              <a:t>Edible ferns are used as a food source</a:t>
            </a:r>
          </a:p>
          <a:p>
            <a:pPr lvl="1">
              <a:spcBef>
                <a:spcPts val="0"/>
              </a:spcBef>
              <a:spcAft>
                <a:spcPts val="2000"/>
              </a:spcAft>
              <a:buFont typeface="Arial" panose="020B0604020202020204" pitchFamily="34" charset="0"/>
              <a:buChar char="•"/>
            </a:pPr>
            <a:r>
              <a:rPr lang="en-US" sz="2200" b="0" i="0" u="none" strike="noStrike" baseline="0" dirty="0"/>
              <a:t>Native Americans use them as an astringent during childbirth to stop bleeding</a:t>
            </a:r>
          </a:p>
          <a:p>
            <a:pPr lvl="1">
              <a:spcBef>
                <a:spcPts val="0"/>
              </a:spcBef>
              <a:spcAft>
                <a:spcPts val="2000"/>
              </a:spcAft>
              <a:buFont typeface="Arial" panose="020B0604020202020204" pitchFamily="34" charset="0"/>
              <a:buChar char="•"/>
            </a:pPr>
            <a:r>
              <a:rPr lang="en-US" sz="2200" dirty="0"/>
              <a:t>M</a:t>
            </a:r>
            <a:r>
              <a:rPr lang="en-US" sz="2200" b="0" i="0" u="none" strike="noStrike" baseline="0" dirty="0"/>
              <a:t>aidenhair fern is the source of a cold medicine </a:t>
            </a:r>
            <a:endParaRPr lang="en-US" sz="2200" dirty="0"/>
          </a:p>
          <a:p>
            <a:pPr lvl="1">
              <a:spcBef>
                <a:spcPts val="0"/>
              </a:spcBef>
              <a:spcAft>
                <a:spcPts val="2000"/>
              </a:spcAft>
              <a:buFont typeface="Arial" panose="020B0604020202020204" pitchFamily="34" charset="0"/>
              <a:buChar char="•"/>
            </a:pPr>
            <a:r>
              <a:rPr lang="en-US" sz="2200" b="0" i="0" u="none" strike="noStrike" baseline="0" dirty="0"/>
              <a:t>Ferns are frequently used by florists in decorative bouquets and as ornamental plants in the home and garden </a:t>
            </a:r>
            <a:endParaRPr lang="en-US" sz="2200" dirty="0"/>
          </a:p>
          <a:p>
            <a:pPr lvl="1">
              <a:spcBef>
                <a:spcPts val="0"/>
              </a:spcBef>
              <a:spcAft>
                <a:spcPts val="2000"/>
              </a:spcAft>
              <a:buFont typeface="Arial" panose="020B0604020202020204" pitchFamily="34" charset="0"/>
              <a:buChar char="•"/>
            </a:pPr>
            <a:r>
              <a:rPr lang="en-US" sz="2200" b="0" i="0" u="none" strike="noStrike" baseline="0" dirty="0"/>
              <a:t>Wood from tropical tree ferns is often used as a building material, because it resists decay, particularly by termites</a:t>
            </a:r>
            <a:endParaRPr lang="en-US" altLang="en-US" sz="2200" dirty="0"/>
          </a:p>
        </p:txBody>
      </p:sp>
      <p:sp>
        <p:nvSpPr>
          <p:cNvPr id="4" name="Slide Number Placeholder 3">
            <a:extLst>
              <a:ext uri="{FF2B5EF4-FFF2-40B4-BE49-F238E27FC236}">
                <a16:creationId xmlns:a16="http://schemas.microsoft.com/office/drawing/2014/main" id="{539FAD45-1A65-4565-878A-C0CEB1AE140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53</a:t>
            </a:fld>
            <a:endParaRPr lang="en-IN"/>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a:xfrm>
            <a:off x="342900" y="12031"/>
            <a:ext cx="8458200" cy="1343560"/>
          </a:xfrm>
        </p:spPr>
        <p:txBody>
          <a:bodyPr>
            <a:normAutofit/>
          </a:bodyPr>
          <a:lstStyle/>
          <a:p>
            <a:r>
              <a:rPr lang="en-US" altLang="en-US" sz="3600" dirty="0"/>
              <a:t>23.5 Evolution of Seed Plants: Full Adaptation to Land</a:t>
            </a:r>
          </a:p>
        </p:txBody>
      </p:sp>
      <p:sp>
        <p:nvSpPr>
          <p:cNvPr id="37891" name="Content Placeholder 2"/>
          <p:cNvSpPr>
            <a:spLocks noGrp="1" noChangeArrowheads="1"/>
          </p:cNvSpPr>
          <p:nvPr>
            <p:ph idx="1"/>
          </p:nvPr>
        </p:nvSpPr>
        <p:spPr>
          <a:xfrm>
            <a:off x="627798" y="1355591"/>
            <a:ext cx="7555503" cy="5128604"/>
          </a:xfrm>
        </p:spPr>
        <p:txBody>
          <a:bodyPr>
            <a:noAutofit/>
          </a:bodyPr>
          <a:lstStyle/>
          <a:p>
            <a:pPr>
              <a:spcBef>
                <a:spcPts val="0"/>
              </a:spcBef>
              <a:spcAft>
                <a:spcPts val="1500"/>
              </a:spcAft>
            </a:pPr>
            <a:r>
              <a:rPr lang="en-US" sz="2400" b="1" dirty="0">
                <a:solidFill>
                  <a:srgbClr val="D90000"/>
                </a:solidFill>
              </a:rPr>
              <a:t>Seed plants </a:t>
            </a:r>
            <a:r>
              <a:rPr lang="en-US" sz="2400" dirty="0"/>
              <a:t>are vascular plants that use seeds during the dispersal phase of their life cycle</a:t>
            </a:r>
          </a:p>
          <a:p>
            <a:pPr lvl="1">
              <a:spcBef>
                <a:spcPts val="0"/>
              </a:spcBef>
              <a:spcAft>
                <a:spcPts val="1500"/>
              </a:spcAft>
              <a:buFont typeface="Arial" panose="020B0604020202020204" pitchFamily="34" charset="0"/>
              <a:buChar char="•"/>
            </a:pPr>
            <a:r>
              <a:rPr lang="en-US" sz="2200" b="1" i="0" u="none" strike="noStrike" baseline="0" dirty="0">
                <a:solidFill>
                  <a:srgbClr val="D90000"/>
                </a:solidFill>
              </a:rPr>
              <a:t>Seeds</a:t>
            </a:r>
            <a:r>
              <a:rPr lang="en-US" sz="2200" b="1" i="0" u="none" strike="noStrike" baseline="0" dirty="0"/>
              <a:t> </a:t>
            </a:r>
            <a:r>
              <a:rPr lang="en-US" sz="2200" b="0" i="0" u="none" strike="noStrike" baseline="0" dirty="0"/>
              <a:t>contain a sporophyte embryo and stored food within a protective seed coat</a:t>
            </a:r>
          </a:p>
          <a:p>
            <a:pPr marL="717550" lvl="2" indent="-358775">
              <a:spcBef>
                <a:spcPts val="0"/>
              </a:spcBef>
              <a:spcAft>
                <a:spcPts val="1500"/>
              </a:spcAft>
              <a:buFont typeface="Arial" panose="020B0604020202020204" pitchFamily="34" charset="0"/>
              <a:buChar char="•"/>
            </a:pPr>
            <a:r>
              <a:rPr lang="en-US" sz="2000" dirty="0"/>
              <a:t>S</a:t>
            </a:r>
            <a:r>
              <a:rPr lang="en-US" sz="2000" b="0" i="0" u="none" strike="noStrike" baseline="0" dirty="0"/>
              <a:t>eed coat and stored food allow an embryo to survive harsh conditions during long periods of dormancy (arrested state) until environmental conditions become favorable for growth</a:t>
            </a:r>
          </a:p>
          <a:p>
            <a:pPr marL="717550" lvl="2" indent="-358775">
              <a:spcBef>
                <a:spcPts val="0"/>
              </a:spcBef>
              <a:spcAft>
                <a:spcPts val="1500"/>
              </a:spcAft>
              <a:buFont typeface="Arial" panose="020B0604020202020204" pitchFamily="34" charset="0"/>
              <a:buChar char="•"/>
            </a:pPr>
            <a:r>
              <a:rPr lang="en-US" sz="2000" b="0" i="0" u="none" strike="noStrike" baseline="0" dirty="0"/>
              <a:t>When a seed germinates, the stored food is a source of nutrients for the growing seedling</a:t>
            </a:r>
          </a:p>
          <a:p>
            <a:pPr marL="717550" lvl="2" indent="-358775">
              <a:spcBef>
                <a:spcPts val="0"/>
              </a:spcBef>
              <a:spcAft>
                <a:spcPts val="1500"/>
              </a:spcAft>
              <a:buFont typeface="Arial" panose="020B0604020202020204" pitchFamily="34" charset="0"/>
              <a:buChar char="•"/>
            </a:pPr>
            <a:r>
              <a:rPr lang="en-US" sz="2000" dirty="0"/>
              <a:t>S</a:t>
            </a:r>
            <a:r>
              <a:rPr lang="en-US" sz="2000" b="0" i="0" u="none" strike="noStrike" baseline="0" dirty="0"/>
              <a:t>urvival of seeds largely accounts for the dominance of seed plants today </a:t>
            </a:r>
            <a:endParaRPr lang="en-US" sz="2000" dirty="0"/>
          </a:p>
        </p:txBody>
      </p:sp>
      <p:sp>
        <p:nvSpPr>
          <p:cNvPr id="4" name="Slide Number Placeholder 3">
            <a:extLst>
              <a:ext uri="{FF2B5EF4-FFF2-40B4-BE49-F238E27FC236}">
                <a16:creationId xmlns:a16="http://schemas.microsoft.com/office/drawing/2014/main" id="{FB3190C3-6612-40B7-860D-FEF4B5ED7458}"/>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54</a:t>
            </a:fld>
            <a:endParaRPr lang="en-IN"/>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p:txBody>
          <a:bodyPr/>
          <a:lstStyle/>
          <a:p>
            <a:r>
              <a:rPr lang="en-US" altLang="en-US" sz="3600" dirty="0"/>
              <a:t>Seed Plants</a:t>
            </a:r>
          </a:p>
        </p:txBody>
      </p:sp>
      <p:sp>
        <p:nvSpPr>
          <p:cNvPr id="37891" name="Content Placeholder 2"/>
          <p:cNvSpPr>
            <a:spLocks noGrp="1" noChangeArrowheads="1"/>
          </p:cNvSpPr>
          <p:nvPr>
            <p:ph idx="1"/>
          </p:nvPr>
        </p:nvSpPr>
        <p:spPr>
          <a:xfrm>
            <a:off x="445625" y="822057"/>
            <a:ext cx="7714527" cy="5662138"/>
          </a:xfrm>
        </p:spPr>
        <p:txBody>
          <a:bodyPr>
            <a:noAutofit/>
          </a:bodyPr>
          <a:lstStyle/>
          <a:p>
            <a:r>
              <a:rPr lang="en-US" sz="2400" dirty="0"/>
              <a:t>S</a:t>
            </a:r>
            <a:r>
              <a:rPr lang="en-US" sz="2400" b="0" i="0" u="none" strike="noStrike" baseline="0" dirty="0"/>
              <a:t>eed plants are heterosporous (have microspores and megaspores)</a:t>
            </a:r>
          </a:p>
          <a:p>
            <a:r>
              <a:rPr lang="en-US" sz="2400" b="0" i="0" u="none" strike="noStrike" baseline="0" dirty="0"/>
              <a:t>Unlike other plant groups, seed plants retain the spores rather than release them into the environment </a:t>
            </a:r>
          </a:p>
          <a:p>
            <a:pPr lvl="1">
              <a:buFont typeface="Arial" panose="020B0604020202020204" pitchFamily="34" charset="0"/>
              <a:buChar char="•"/>
            </a:pPr>
            <a:r>
              <a:rPr lang="en-US" sz="2200" b="0" i="0" u="none" strike="noStrike" baseline="0" dirty="0"/>
              <a:t>Microspores become male gametophytes (</a:t>
            </a:r>
            <a:r>
              <a:rPr lang="en-US" sz="2200" b="1" i="0" u="none" strike="noStrike" baseline="0" dirty="0">
                <a:solidFill>
                  <a:srgbClr val="D90000"/>
                </a:solidFill>
              </a:rPr>
              <a:t>pollen grains</a:t>
            </a:r>
            <a:r>
              <a:rPr lang="en-US" sz="2200" i="0" u="none" strike="noStrike" baseline="0" dirty="0"/>
              <a:t>)</a:t>
            </a:r>
          </a:p>
          <a:p>
            <a:pPr marL="717550" lvl="2" indent="-358775">
              <a:buFont typeface="Arial" panose="020B0604020202020204" pitchFamily="34" charset="0"/>
              <a:buChar char="•"/>
            </a:pPr>
            <a:r>
              <a:rPr lang="en-US" sz="2000" b="1" i="0" u="none" strike="noStrike" baseline="0" dirty="0">
                <a:solidFill>
                  <a:srgbClr val="D90000"/>
                </a:solidFill>
              </a:rPr>
              <a:t>Pollination</a:t>
            </a:r>
            <a:r>
              <a:rPr lang="en-US" sz="2000" b="1" i="0" u="none" strike="noStrike" baseline="0" dirty="0"/>
              <a:t> </a:t>
            </a:r>
            <a:r>
              <a:rPr lang="en-US" sz="2000" b="0" i="0" u="none" strike="noStrike" baseline="0" dirty="0"/>
              <a:t>occurs when wind or a pollinator carries pollen </a:t>
            </a:r>
            <a:r>
              <a:rPr lang="en-US" sz="2000" dirty="0"/>
              <a:t>to the </a:t>
            </a:r>
            <a:r>
              <a:rPr lang="en-US" sz="2000" b="0" i="0" u="none" strike="noStrike" baseline="0" dirty="0"/>
              <a:t>female gametophyte </a:t>
            </a:r>
          </a:p>
          <a:p>
            <a:pPr marL="1076325" lvl="3" indent="-358775">
              <a:spcAft>
                <a:spcPts val="0"/>
              </a:spcAft>
              <a:buFont typeface="Arial" panose="020B0604020202020204" pitchFamily="34" charset="0"/>
              <a:buChar char="•"/>
              <a:tabLst>
                <a:tab pos="92075" algn="l"/>
              </a:tabLst>
            </a:pPr>
            <a:r>
              <a:rPr lang="en-US" sz="1800" dirty="0"/>
              <a:t>S</a:t>
            </a:r>
            <a:r>
              <a:rPr lang="en-US" sz="1800" b="0" i="0" u="none" strike="noStrike" baseline="0" dirty="0"/>
              <a:t>perm move toward the female gametophyte through a </a:t>
            </a:r>
            <a:r>
              <a:rPr lang="en-US" sz="1800" b="1" i="0" u="none" strike="noStrike" baseline="0" dirty="0">
                <a:solidFill>
                  <a:srgbClr val="D90000"/>
                </a:solidFill>
              </a:rPr>
              <a:t>pollen tube</a:t>
            </a:r>
          </a:p>
          <a:p>
            <a:pPr marL="1076325" lvl="3" indent="-358775">
              <a:spcAft>
                <a:spcPts val="0"/>
              </a:spcAft>
              <a:buFont typeface="Arial" panose="020B0604020202020204" pitchFamily="34" charset="0"/>
              <a:buChar char="•"/>
              <a:tabLst>
                <a:tab pos="92075" algn="l"/>
              </a:tabLst>
            </a:pPr>
            <a:r>
              <a:rPr lang="en-US" sz="1800" dirty="0"/>
              <a:t>M</a:t>
            </a:r>
            <a:r>
              <a:rPr lang="en-US" sz="1800" b="0" i="0" u="none" strike="noStrike" baseline="0" dirty="0"/>
              <a:t>egaspore develops into a female gametophyte within an </a:t>
            </a:r>
            <a:r>
              <a:rPr lang="en-US" sz="1800" b="1" i="0" u="none" strike="noStrike" baseline="0" dirty="0">
                <a:solidFill>
                  <a:srgbClr val="D90000"/>
                </a:solidFill>
              </a:rPr>
              <a:t>ovule</a:t>
            </a:r>
            <a:r>
              <a:rPr lang="en-US" sz="1800" b="1" i="0" u="none" strike="noStrike" baseline="0" dirty="0"/>
              <a:t>, </a:t>
            </a:r>
            <a:r>
              <a:rPr lang="en-US" sz="1800" b="0" i="0" u="none" strike="noStrike" baseline="0" dirty="0"/>
              <a:t>which becomes a seed following fertilization </a:t>
            </a:r>
          </a:p>
          <a:p>
            <a:pPr marL="1076325" lvl="3" indent="-358775">
              <a:spcAft>
                <a:spcPts val="0"/>
              </a:spcAft>
              <a:buFont typeface="Arial" panose="020B0604020202020204" pitchFamily="34" charset="0"/>
              <a:buChar char="•"/>
              <a:tabLst>
                <a:tab pos="92075" algn="l"/>
              </a:tabLst>
            </a:pPr>
            <a:r>
              <a:rPr lang="en-US" sz="1800" dirty="0"/>
              <a:t>No external water is needed to accomplish fertilization</a:t>
            </a:r>
          </a:p>
          <a:p>
            <a:pPr marL="0" indent="0">
              <a:spcBef>
                <a:spcPts val="0"/>
              </a:spcBef>
              <a:spcAft>
                <a:spcPts val="1500"/>
              </a:spcAft>
              <a:buNone/>
            </a:pPr>
            <a:r>
              <a:rPr lang="en-US" sz="2000" dirty="0"/>
              <a:t> </a:t>
            </a:r>
          </a:p>
        </p:txBody>
      </p:sp>
      <p:sp>
        <p:nvSpPr>
          <p:cNvPr id="4" name="Slide Number Placeholder 3">
            <a:extLst>
              <a:ext uri="{FF2B5EF4-FFF2-40B4-BE49-F238E27FC236}">
                <a16:creationId xmlns:a16="http://schemas.microsoft.com/office/drawing/2014/main" id="{EE1E8394-4B28-4242-A9A7-8993CCE986F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55</a:t>
            </a:fld>
            <a:endParaRPr lang="en-IN"/>
          </a:p>
        </p:txBody>
      </p:sp>
    </p:spTree>
    <p:extLst>
      <p:ext uri="{BB962C8B-B14F-4D97-AF65-F5344CB8AC3E}">
        <p14:creationId xmlns:p14="http://schemas.microsoft.com/office/powerpoint/2010/main" val="3345469424"/>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noChangeArrowheads="1"/>
          </p:cNvSpPr>
          <p:nvPr>
            <p:ph type="title"/>
          </p:nvPr>
        </p:nvSpPr>
        <p:spPr/>
        <p:txBody>
          <a:bodyPr/>
          <a:lstStyle/>
          <a:p>
            <a:r>
              <a:rPr lang="en-US" altLang="en-US" sz="3600" dirty="0"/>
              <a:t>Gymnosperms and Angiosperms</a:t>
            </a:r>
          </a:p>
        </p:txBody>
      </p:sp>
      <p:sp>
        <p:nvSpPr>
          <p:cNvPr id="37891" name="Content Placeholder 2"/>
          <p:cNvSpPr>
            <a:spLocks noGrp="1" noChangeArrowheads="1"/>
          </p:cNvSpPr>
          <p:nvPr>
            <p:ph idx="1"/>
          </p:nvPr>
        </p:nvSpPr>
        <p:spPr>
          <a:xfrm>
            <a:off x="602286" y="1143000"/>
            <a:ext cx="7939427" cy="5484504"/>
          </a:xfrm>
        </p:spPr>
        <p:txBody>
          <a:bodyPr>
            <a:noAutofit/>
          </a:bodyPr>
          <a:lstStyle/>
          <a:p>
            <a:pPr marL="358775" indent="-358775">
              <a:buFont typeface="Arial" panose="020B0604020202020204" pitchFamily="34" charset="0"/>
              <a:buChar char="•"/>
            </a:pPr>
            <a:r>
              <a:rPr lang="en-US" sz="2600" b="0" i="0" u="none" strike="noStrike" baseline="0" dirty="0"/>
              <a:t>In </a:t>
            </a:r>
            <a:r>
              <a:rPr lang="en-US" sz="2600" b="1" i="0" u="none" strike="noStrike" baseline="0" dirty="0">
                <a:solidFill>
                  <a:srgbClr val="D90000"/>
                </a:solidFill>
              </a:rPr>
              <a:t>gymnosperms</a:t>
            </a:r>
            <a:r>
              <a:rPr lang="en-US" sz="2600" b="1" i="0" u="none" strike="noStrike" baseline="0" dirty="0"/>
              <a:t> </a:t>
            </a:r>
            <a:r>
              <a:rPr lang="en-US" sz="2600" b="0" i="0" u="none" strike="noStrike" baseline="0" dirty="0"/>
              <a:t>(mostly cone-bearing seed plants), the ovules are not completely enclosed by sporophyte tissue at the time of pollination</a:t>
            </a:r>
          </a:p>
          <a:p>
            <a:pPr marL="358775" indent="-358775">
              <a:buFont typeface="Arial" panose="020B0604020202020204" pitchFamily="34" charset="0"/>
              <a:buChar char="•"/>
            </a:pPr>
            <a:r>
              <a:rPr lang="en-US" sz="2600" b="0" i="0" u="none" strike="noStrike" baseline="0" dirty="0"/>
              <a:t>In </a:t>
            </a:r>
            <a:r>
              <a:rPr lang="en-US" sz="2600" b="1" i="0" u="none" strike="noStrike" baseline="0" dirty="0">
                <a:solidFill>
                  <a:srgbClr val="D90000"/>
                </a:solidFill>
              </a:rPr>
              <a:t>angiosperms</a:t>
            </a:r>
            <a:r>
              <a:rPr lang="en-US" sz="2600" b="1" i="0" u="none" strike="noStrike" baseline="0" dirty="0"/>
              <a:t> </a:t>
            </a:r>
            <a:r>
              <a:rPr lang="en-US" sz="2600" b="0" i="0" u="none" strike="noStrike" baseline="0" dirty="0"/>
              <a:t>(flowering plants), the ovules are completely enclosed within diploid sporophyte tissue (ovary), which becomes a fruit.</a:t>
            </a:r>
            <a:endParaRPr lang="en-US" sz="2600" dirty="0"/>
          </a:p>
          <a:p>
            <a:pPr marL="0" indent="0">
              <a:spcBef>
                <a:spcPts val="0"/>
              </a:spcBef>
              <a:spcAft>
                <a:spcPts val="1500"/>
              </a:spcAft>
              <a:buNone/>
            </a:pPr>
            <a:r>
              <a:rPr lang="en-US" sz="2800" dirty="0"/>
              <a:t> </a:t>
            </a:r>
          </a:p>
        </p:txBody>
      </p:sp>
      <p:sp>
        <p:nvSpPr>
          <p:cNvPr id="4" name="Slide Number Placeholder 3">
            <a:extLst>
              <a:ext uri="{FF2B5EF4-FFF2-40B4-BE49-F238E27FC236}">
                <a16:creationId xmlns:a16="http://schemas.microsoft.com/office/drawing/2014/main" id="{F0161738-AA21-48AC-9233-B351338A015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56</a:t>
            </a:fld>
            <a:endParaRPr lang="en-IN"/>
          </a:p>
        </p:txBody>
      </p:sp>
    </p:spTree>
    <p:extLst>
      <p:ext uri="{BB962C8B-B14F-4D97-AF65-F5344CB8AC3E}">
        <p14:creationId xmlns:p14="http://schemas.microsoft.com/office/powerpoint/2010/main" val="345729669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noChangeArrowheads="1"/>
          </p:cNvSpPr>
          <p:nvPr>
            <p:ph type="title"/>
          </p:nvPr>
        </p:nvSpPr>
        <p:spPr/>
        <p:txBody>
          <a:bodyPr/>
          <a:lstStyle/>
          <a:p>
            <a:r>
              <a:rPr lang="en-US" altLang="en-US" dirty="0"/>
              <a:t>Gymnosperms</a:t>
            </a:r>
          </a:p>
        </p:txBody>
      </p:sp>
      <p:sp>
        <p:nvSpPr>
          <p:cNvPr id="39939" name="Content Placeholder 2"/>
          <p:cNvSpPr>
            <a:spLocks noGrp="1" noChangeArrowheads="1"/>
          </p:cNvSpPr>
          <p:nvPr>
            <p:ph idx="1"/>
          </p:nvPr>
        </p:nvSpPr>
        <p:spPr>
          <a:xfrm>
            <a:off x="225911" y="1295401"/>
            <a:ext cx="8442915" cy="4838114"/>
          </a:xfrm>
        </p:spPr>
        <p:txBody>
          <a:bodyPr/>
          <a:lstStyle/>
          <a:p>
            <a:pPr marL="338328" lvl="2" indent="0">
              <a:spcBef>
                <a:spcPts val="0"/>
              </a:spcBef>
              <a:buNone/>
            </a:pPr>
            <a:r>
              <a:rPr lang="en-US" sz="2400" dirty="0"/>
              <a:t>Seeds are not enclosed by fruit—“naked” seeds.</a:t>
            </a:r>
          </a:p>
          <a:p>
            <a:pPr marL="338328" lvl="2" indent="0">
              <a:buNone/>
            </a:pPr>
            <a:r>
              <a:rPr lang="en-US" sz="2400" dirty="0"/>
              <a:t>1,000 species divided into four extant groups:</a:t>
            </a:r>
          </a:p>
          <a:p>
            <a:pPr marL="779463" lvl="3" indent="-420688">
              <a:buFont typeface="Arial" panose="020B0604020202020204" pitchFamily="34" charset="0"/>
              <a:buChar char="•"/>
            </a:pPr>
            <a:r>
              <a:rPr lang="en-US" sz="2200" b="1" dirty="0">
                <a:solidFill>
                  <a:srgbClr val="D90000"/>
                </a:solidFill>
              </a:rPr>
              <a:t>Conifers</a:t>
            </a:r>
            <a:r>
              <a:rPr lang="en-US" sz="2200" dirty="0"/>
              <a:t> – Most plentiful</a:t>
            </a:r>
          </a:p>
          <a:p>
            <a:pPr marL="779463" lvl="3" indent="-420688">
              <a:buFont typeface="Arial" panose="020B0604020202020204" pitchFamily="34" charset="0"/>
              <a:buChar char="•"/>
            </a:pPr>
            <a:r>
              <a:rPr lang="en-US" sz="2200" b="1" dirty="0">
                <a:solidFill>
                  <a:srgbClr val="D90000"/>
                </a:solidFill>
              </a:rPr>
              <a:t>Cycads</a:t>
            </a:r>
          </a:p>
          <a:p>
            <a:pPr marL="779463" lvl="3" indent="-420688">
              <a:buFont typeface="Arial" panose="020B0604020202020204" pitchFamily="34" charset="0"/>
              <a:buChar char="•"/>
            </a:pPr>
            <a:r>
              <a:rPr lang="en-US" sz="2200" b="1" dirty="0">
                <a:solidFill>
                  <a:srgbClr val="D90000"/>
                </a:solidFill>
              </a:rPr>
              <a:t>Ginkgoes</a:t>
            </a:r>
          </a:p>
          <a:p>
            <a:pPr marL="779463" lvl="3" indent="-420688">
              <a:buFont typeface="Arial" panose="020B0604020202020204" pitchFamily="34" charset="0"/>
              <a:buChar char="•"/>
            </a:pPr>
            <a:r>
              <a:rPr lang="en-US" sz="2200" b="1" dirty="0">
                <a:solidFill>
                  <a:srgbClr val="D90000"/>
                </a:solidFill>
              </a:rPr>
              <a:t>Gnetophytes</a:t>
            </a:r>
          </a:p>
        </p:txBody>
      </p:sp>
      <p:sp>
        <p:nvSpPr>
          <p:cNvPr id="4" name="Slide Number Placeholder 3">
            <a:extLst>
              <a:ext uri="{FF2B5EF4-FFF2-40B4-BE49-F238E27FC236}">
                <a16:creationId xmlns:a16="http://schemas.microsoft.com/office/drawing/2014/main" id="{9DA2EE17-D176-42A4-BF19-8C2AA89EA22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57</a:t>
            </a:fld>
            <a:endParaRPr lang="en-IN"/>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noChangeArrowheads="1"/>
          </p:cNvSpPr>
          <p:nvPr>
            <p:ph type="title"/>
          </p:nvPr>
        </p:nvSpPr>
        <p:spPr>
          <a:xfrm>
            <a:off x="457200" y="0"/>
            <a:ext cx="8229600" cy="815926"/>
          </a:xfrm>
        </p:spPr>
        <p:txBody>
          <a:bodyPr/>
          <a:lstStyle/>
          <a:p>
            <a:r>
              <a:rPr lang="en-US" altLang="en-US" sz="3600" dirty="0"/>
              <a:t>Conifers</a:t>
            </a:r>
          </a:p>
        </p:txBody>
      </p:sp>
      <p:sp>
        <p:nvSpPr>
          <p:cNvPr id="40963" name="Content Placeholder 2"/>
          <p:cNvSpPr>
            <a:spLocks noGrp="1" noChangeArrowheads="1"/>
          </p:cNvSpPr>
          <p:nvPr>
            <p:ph idx="1"/>
          </p:nvPr>
        </p:nvSpPr>
        <p:spPr>
          <a:xfrm>
            <a:off x="182880" y="971843"/>
            <a:ext cx="8393961" cy="5294086"/>
          </a:xfrm>
        </p:spPr>
        <p:txBody>
          <a:bodyPr>
            <a:normAutofit lnSpcReduction="10000"/>
          </a:bodyPr>
          <a:lstStyle/>
          <a:p>
            <a:pPr lvl="1" indent="-347472">
              <a:spcBef>
                <a:spcPts val="0"/>
              </a:spcBef>
              <a:spcAft>
                <a:spcPts val="1500"/>
              </a:spcAft>
              <a:buFont typeface="Arial" panose="020B0604020202020204" pitchFamily="34" charset="0"/>
              <a:buChar char="•"/>
            </a:pPr>
            <a:r>
              <a:rPr lang="en-US" sz="2600" dirty="0"/>
              <a:t>About 630 species</a:t>
            </a:r>
          </a:p>
          <a:p>
            <a:pPr marL="358775" lvl="2" indent="-358775">
              <a:spcBef>
                <a:spcPts val="0"/>
              </a:spcBef>
              <a:buFont typeface="Arial" panose="020B0604020202020204" pitchFamily="34" charset="0"/>
              <a:buChar char="•"/>
              <a:tabLst>
                <a:tab pos="358775" algn="l"/>
              </a:tabLst>
            </a:pPr>
            <a:r>
              <a:rPr lang="en-US" sz="2600" dirty="0"/>
              <a:t>Produce </a:t>
            </a:r>
            <a:r>
              <a:rPr lang="en-US" sz="2600" b="1" dirty="0">
                <a:solidFill>
                  <a:srgbClr val="D90000"/>
                </a:solidFill>
              </a:rPr>
              <a:t>cones</a:t>
            </a:r>
          </a:p>
          <a:p>
            <a:pPr marL="358775" lvl="2" indent="-358775">
              <a:spcBef>
                <a:spcPts val="1200"/>
              </a:spcBef>
              <a:buFont typeface="Arial" panose="020B0604020202020204" pitchFamily="34" charset="0"/>
              <a:buChar char="•"/>
              <a:tabLst>
                <a:tab pos="358775" algn="l"/>
              </a:tabLst>
            </a:pPr>
            <a:r>
              <a:rPr lang="en-US" sz="2600" dirty="0"/>
              <a:t>Tough, needlelike leaves of pines conserve water with a thick cuticle and recessed stomata</a:t>
            </a:r>
          </a:p>
          <a:p>
            <a:pPr marL="358775" lvl="2" indent="-358775">
              <a:spcBef>
                <a:spcPts val="1200"/>
              </a:spcBef>
              <a:buFont typeface="Arial" panose="020B0604020202020204" pitchFamily="34" charset="0"/>
              <a:buChar char="•"/>
              <a:tabLst>
                <a:tab pos="358775" algn="l"/>
              </a:tabLst>
            </a:pPr>
            <a:r>
              <a:rPr lang="en-US" sz="2600" dirty="0"/>
              <a:t>Sporophyte is dominant</a:t>
            </a:r>
          </a:p>
          <a:p>
            <a:pPr marL="358775" lvl="2" indent="-358775">
              <a:spcBef>
                <a:spcPts val="1200"/>
              </a:spcBef>
              <a:buFont typeface="Arial" panose="020B0604020202020204" pitchFamily="34" charset="0"/>
              <a:buChar char="•"/>
              <a:tabLst>
                <a:tab pos="358775" algn="l"/>
              </a:tabLst>
            </a:pPr>
            <a:r>
              <a:rPr lang="en-US" sz="2600" dirty="0"/>
              <a:t>Pollen grains are windblown</a:t>
            </a:r>
          </a:p>
          <a:p>
            <a:pPr marL="358775" lvl="2" indent="-358775">
              <a:spcBef>
                <a:spcPts val="1200"/>
              </a:spcBef>
              <a:buFont typeface="Arial" panose="020B0604020202020204" pitchFamily="34" charset="0"/>
              <a:buChar char="•"/>
              <a:tabLst>
                <a:tab pos="358775" algn="l"/>
              </a:tabLst>
            </a:pPr>
            <a:r>
              <a:rPr lang="en-US" sz="2600" dirty="0"/>
              <a:t>Seed is the dispersal stage</a:t>
            </a:r>
          </a:p>
          <a:p>
            <a:pPr marL="358775" lvl="2" indent="-358775">
              <a:spcBef>
                <a:spcPts val="1200"/>
              </a:spcBef>
              <a:buFont typeface="Arial" panose="020B0604020202020204" pitchFamily="34" charset="0"/>
              <a:buChar char="•"/>
              <a:tabLst>
                <a:tab pos="358775" algn="l"/>
              </a:tabLst>
            </a:pPr>
            <a:r>
              <a:rPr lang="en-US" sz="2600" b="1" dirty="0">
                <a:solidFill>
                  <a:srgbClr val="D90000"/>
                </a:solidFill>
              </a:rPr>
              <a:t>Monoecious</a:t>
            </a:r>
            <a:r>
              <a:rPr lang="en-US" sz="2600" dirty="0"/>
              <a:t> – A single plant produces both pollen (male reproductive structure) and seed cones (female reproductive structure)</a:t>
            </a:r>
          </a:p>
        </p:txBody>
      </p:sp>
      <p:sp>
        <p:nvSpPr>
          <p:cNvPr id="4" name="Slide Number Placeholder 3">
            <a:extLst>
              <a:ext uri="{FF2B5EF4-FFF2-40B4-BE49-F238E27FC236}">
                <a16:creationId xmlns:a16="http://schemas.microsoft.com/office/drawing/2014/main" id="{D79EF23F-912A-46CC-9278-07FF00809B2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58</a:t>
            </a:fld>
            <a:endParaRPr lang="en-IN"/>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noChangeArrowheads="1"/>
          </p:cNvSpPr>
          <p:nvPr>
            <p:ph type="title"/>
          </p:nvPr>
        </p:nvSpPr>
        <p:spPr>
          <a:xfrm>
            <a:off x="2130014" y="250595"/>
            <a:ext cx="4948518" cy="641810"/>
          </a:xfrm>
        </p:spPr>
        <p:txBody>
          <a:bodyPr/>
          <a:lstStyle/>
          <a:p>
            <a:r>
              <a:rPr lang="en-US" altLang="en-US" dirty="0"/>
              <a:t>Conifer Examples</a:t>
            </a:r>
          </a:p>
        </p:txBody>
      </p:sp>
      <p:pic>
        <p:nvPicPr>
          <p:cNvPr id="13" name="Picture 2" descr="Examples of conifer include pine having pollen and seed cones (a), spruce (needless leaves), and Juniper (tall shrub, scale-like leaves.">
            <a:extLst>
              <a:ext uri="{FF2B5EF4-FFF2-40B4-BE49-F238E27FC236}">
                <a16:creationId xmlns:a16="http://schemas.microsoft.com/office/drawing/2014/main" id="{28074505-7CD9-4277-911C-438F38FE9D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640" y="963045"/>
            <a:ext cx="8150453" cy="4709693"/>
          </a:xfrm>
          <a:prstGeom prst="rect">
            <a:avLst/>
          </a:prstGeom>
        </p:spPr>
      </p:pic>
      <p:sp>
        <p:nvSpPr>
          <p:cNvPr id="11" name="TextBox 3">
            <a:extLst>
              <a:ext uri="{FF2B5EF4-FFF2-40B4-BE49-F238E27FC236}">
                <a16:creationId xmlns:a16="http://schemas.microsoft.com/office/drawing/2014/main" id="{D7359CE8-176C-4299-B888-F5E449E3F7BE}"/>
              </a:ext>
            </a:extLst>
          </p:cNvPr>
          <p:cNvSpPr txBox="1"/>
          <p:nvPr/>
        </p:nvSpPr>
        <p:spPr>
          <a:xfrm>
            <a:off x="3842735" y="5803113"/>
            <a:ext cx="1456267" cy="276999"/>
          </a:xfrm>
          <a:prstGeom prst="rect">
            <a:avLst/>
          </a:prstGeom>
          <a:noFill/>
        </p:spPr>
        <p:txBody>
          <a:bodyPr wrap="square" rtlCol="0">
            <a:spAutoFit/>
          </a:bodyPr>
          <a:lstStyle/>
          <a:p>
            <a:pPr algn="ctr"/>
            <a:r>
              <a:rPr lang="en-US" sz="1200" dirty="0"/>
              <a:t>Figure 23.17</a:t>
            </a:r>
          </a:p>
        </p:txBody>
      </p:sp>
      <p:sp>
        <p:nvSpPr>
          <p:cNvPr id="9" name="Content Placeholder 4"/>
          <p:cNvSpPr>
            <a:spLocks noGrp="1"/>
          </p:cNvSpPr>
          <p:nvPr>
            <p:ph sz="quarter" idx="15"/>
          </p:nvPr>
        </p:nvSpPr>
        <p:spPr>
          <a:xfrm>
            <a:off x="3067291" y="6496226"/>
            <a:ext cx="5412290" cy="361774"/>
          </a:xfrm>
        </p:spPr>
        <p:txBody>
          <a:bodyPr/>
          <a:lstStyle/>
          <a:p>
            <a:pPr marL="84138" lvl="0" indent="-84138" algn="r">
              <a:buNone/>
            </a:pPr>
            <a:r>
              <a:rPr lang="en-US" sz="800" dirty="0"/>
              <a:t>(a): (seed cones): Steven P. Lynch; (pollen cones): Maria </a:t>
            </a:r>
            <a:r>
              <a:rPr lang="en-US" sz="800" dirty="0" err="1"/>
              <a:t>Mosolova</a:t>
            </a:r>
            <a:r>
              <a:rPr lang="en-US" sz="800" dirty="0"/>
              <a:t>/</a:t>
            </a:r>
            <a:r>
              <a:rPr lang="en-US" sz="800" dirty="0" err="1"/>
              <a:t>Stockbyte</a:t>
            </a:r>
            <a:r>
              <a:rPr lang="en-US" sz="800" dirty="0"/>
              <a:t>/Getty Images; forest): Steven P. Lynch; (b): Ed Reschke/Stone/Getty Images; (c): Steffen Hauser/botanikfoto/</a:t>
            </a:r>
            <a:r>
              <a:rPr lang="en-US" sz="800" dirty="0" err="1"/>
              <a:t>Alamy</a:t>
            </a:r>
            <a:r>
              <a:rPr lang="en-US" sz="800" dirty="0"/>
              <a:t> Stock Photo</a:t>
            </a:r>
            <a:endParaRPr lang="en-GB" sz="800" dirty="0"/>
          </a:p>
        </p:txBody>
      </p:sp>
      <p:sp>
        <p:nvSpPr>
          <p:cNvPr id="12" name="Slide Number Placeholder 6">
            <a:extLst>
              <a:ext uri="{FF2B5EF4-FFF2-40B4-BE49-F238E27FC236}">
                <a16:creationId xmlns:a16="http://schemas.microsoft.com/office/drawing/2014/main" id="{8BBC9781-01E8-43B3-A701-963311777B85}"/>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59</a:t>
            </a:fld>
            <a:endParaRPr lang="en-IN"/>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1</a:t>
            </a:r>
          </a:p>
        </p:txBody>
      </p:sp>
      <p:pic>
        <p:nvPicPr>
          <p:cNvPr id="69636" name="Picture 2" descr="The tree is the most prominent structure in the pine life cycle. It is diploid (2N) and a sporophyte. It has both pollen cones and pine cones."/>
          <p:cNvPicPr>
            <a:picLocks noChangeAspect="1" noChangeArrowheads="1"/>
          </p:cNvPicPr>
          <p:nvPr/>
        </p:nvPicPr>
        <p:blipFill rotWithShape="1">
          <a:blip r:embed="rId3">
            <a:extLst>
              <a:ext uri="{28A0092B-C50C-407E-A947-70E740481C1C}">
                <a14:useLocalDpi xmlns:a14="http://schemas.microsoft.com/office/drawing/2010/main" val="0"/>
              </a:ext>
            </a:extLst>
          </a:blip>
          <a:srcRect t="4204"/>
          <a:stretch/>
        </p:blipFill>
        <p:spPr bwMode="auto">
          <a:xfrm>
            <a:off x="1431925" y="1006997"/>
            <a:ext cx="6280150" cy="5077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60</a:t>
            </a:fld>
            <a:endParaRPr lang="en-IN"/>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2</a:t>
            </a:r>
          </a:p>
        </p:txBody>
      </p:sp>
      <p:pic>
        <p:nvPicPr>
          <p:cNvPr id="6" name="Picture 2" descr="Pollen cones are typically quite small and develop near the tips of lower branches whereas seed cones are larger and located at higher branches.">
            <a:extLst>
              <a:ext uri="{FF2B5EF4-FFF2-40B4-BE49-F238E27FC236}">
                <a16:creationId xmlns:a16="http://schemas.microsoft.com/office/drawing/2014/main" id="{B80B6915-27C0-44AD-AE38-0CE94A8052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643"/>
          <a:stretch/>
        </p:blipFill>
        <p:spPr bwMode="auto">
          <a:xfrm>
            <a:off x="117475" y="1814513"/>
            <a:ext cx="8909050" cy="3622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61</a:t>
            </a:fld>
            <a:endParaRPr lang="en-IN"/>
          </a:p>
        </p:txBody>
      </p:sp>
    </p:spTree>
    <p:extLst>
      <p:ext uri="{BB962C8B-B14F-4D97-AF65-F5344CB8AC3E}">
        <p14:creationId xmlns:p14="http://schemas.microsoft.com/office/powerpoint/2010/main" val="342954017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3</a:t>
            </a:r>
          </a:p>
        </p:txBody>
      </p:sp>
      <p:pic>
        <p:nvPicPr>
          <p:cNvPr id="7" name="Picture 2" descr="Step 2 compares pollen and seed cone on basis of pollen sac and ovule.">
            <a:extLst>
              <a:ext uri="{FF2B5EF4-FFF2-40B4-BE49-F238E27FC236}">
                <a16:creationId xmlns:a16="http://schemas.microsoft.com/office/drawing/2014/main" id="{A7B5A613-F4EF-4601-95C3-6584A7C150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68"/>
          <a:stretch/>
        </p:blipFill>
        <p:spPr bwMode="auto">
          <a:xfrm>
            <a:off x="279400" y="1628775"/>
            <a:ext cx="8585200" cy="4181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62</a:t>
            </a:fld>
            <a:endParaRPr lang="en-IN"/>
          </a:p>
        </p:txBody>
      </p:sp>
    </p:spTree>
    <p:extLst>
      <p:ext uri="{BB962C8B-B14F-4D97-AF65-F5344CB8AC3E}">
        <p14:creationId xmlns:p14="http://schemas.microsoft.com/office/powerpoint/2010/main" val="209994589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4</a:t>
            </a:r>
          </a:p>
        </p:txBody>
      </p:sp>
      <p:pic>
        <p:nvPicPr>
          <p:cNvPr id="6" name="Picture 2" descr="Microspores: Within the pollen sacs, meiosis produces four microspores. Megaspore: Within an ovule, meiosis produces 4 megaspores; only 1 survives.">
            <a:extLst>
              <a:ext uri="{FF2B5EF4-FFF2-40B4-BE49-F238E27FC236}">
                <a16:creationId xmlns:a16="http://schemas.microsoft.com/office/drawing/2014/main" id="{2C9E604F-2982-4D20-A411-412E590DDC10}"/>
              </a:ext>
            </a:extLst>
          </p:cNvPr>
          <p:cNvPicPr>
            <a:picLocks noChangeAspect="1"/>
          </p:cNvPicPr>
          <p:nvPr/>
        </p:nvPicPr>
        <p:blipFill rotWithShape="1">
          <a:blip r:embed="rId3">
            <a:extLst>
              <a:ext uri="{28A0092B-C50C-407E-A947-70E740481C1C}">
                <a14:useLocalDpi xmlns:a14="http://schemas.microsoft.com/office/drawing/2010/main" val="0"/>
              </a:ext>
            </a:extLst>
          </a:blip>
          <a:srcRect t="5860" b="-1"/>
          <a:stretch/>
        </p:blipFill>
        <p:spPr>
          <a:xfrm>
            <a:off x="1207007" y="783418"/>
            <a:ext cx="6729984" cy="5291164"/>
          </a:xfrm>
          <a:prstGeom prst="rect">
            <a:avLst/>
          </a:prstGeom>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63</a:t>
            </a:fld>
            <a:endParaRPr lang="en-IN"/>
          </a:p>
        </p:txBody>
      </p:sp>
    </p:spTree>
    <p:extLst>
      <p:ext uri="{BB962C8B-B14F-4D97-AF65-F5344CB8AC3E}">
        <p14:creationId xmlns:p14="http://schemas.microsoft.com/office/powerpoint/2010/main" val="1717534264"/>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noChangeArrowheads="1"/>
          </p:cNvSpPr>
          <p:nvPr>
            <p:ph type="title"/>
          </p:nvPr>
        </p:nvSpPr>
        <p:spPr/>
        <p:txBody>
          <a:bodyPr/>
          <a:lstStyle/>
          <a:p>
            <a:r>
              <a:rPr lang="en-US" altLang="en-US" dirty="0"/>
              <a:t>Pine Life Cycle </a:t>
            </a:r>
            <a:r>
              <a:rPr lang="en-US" altLang="en-US" sz="1600" dirty="0"/>
              <a:t>5</a:t>
            </a:r>
          </a:p>
        </p:txBody>
      </p:sp>
      <p:pic>
        <p:nvPicPr>
          <p:cNvPr id="6" name="Picture 2" descr=" The pollen grains: Each microspore becomes a pollen grain, which has two wings and is carried by the wind to the seed cone during pollination.">
            <a:extLst>
              <a:ext uri="{FF2B5EF4-FFF2-40B4-BE49-F238E27FC236}">
                <a16:creationId xmlns:a16="http://schemas.microsoft.com/office/drawing/2014/main" id="{78BF8E28-732F-43D1-8275-A3BA8E30AA9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905"/>
          <a:stretch/>
        </p:blipFill>
        <p:spPr>
          <a:xfrm>
            <a:off x="1206881" y="755301"/>
            <a:ext cx="6730236" cy="5347398"/>
          </a:xfrm>
          <a:prstGeom prst="rect">
            <a:avLst/>
          </a:prstGeom>
        </p:spPr>
      </p:pic>
      <p:sp>
        <p:nvSpPr>
          <p:cNvPr id="7" name="Text Placeholder 3">
            <a:extLst>
              <a:ext uri="{FF2B5EF4-FFF2-40B4-BE49-F238E27FC236}">
                <a16:creationId xmlns:a16="http://schemas.microsoft.com/office/drawing/2014/main" id="{9322567E-26EE-4722-A2EF-8DC56E9C29BF}"/>
              </a:ext>
            </a:extLst>
          </p:cNvPr>
          <p:cNvSpPr>
            <a:spLocks noGrp="1"/>
          </p:cNvSpPr>
          <p:nvPr>
            <p:ph type="body" sz="quarter" idx="19"/>
          </p:nvPr>
        </p:nvSpPr>
        <p:spPr>
          <a:xfrm>
            <a:off x="3965041" y="6252026"/>
            <a:ext cx="1213917" cy="290317"/>
          </a:xfrm>
        </p:spPr>
        <p:txBody>
          <a:bodyPr>
            <a:normAutofit/>
          </a:bodyPr>
          <a:lstStyle/>
          <a:p>
            <a:pPr algn="ctr"/>
            <a:r>
              <a:rPr lang="en-US" sz="1200" dirty="0"/>
              <a:t>Figure 23.18</a:t>
            </a:r>
          </a:p>
        </p:txBody>
      </p:sp>
      <p:sp>
        <p:nvSpPr>
          <p:cNvPr id="5" name="Slide Number Placeholder 4">
            <a:extLst>
              <a:ext uri="{FF2B5EF4-FFF2-40B4-BE49-F238E27FC236}">
                <a16:creationId xmlns:a16="http://schemas.microsoft.com/office/drawing/2014/main" id="{4B0D94C2-6AB8-44A9-AF76-0D622582365E}"/>
              </a:ext>
            </a:extLst>
          </p:cNvPr>
          <p:cNvSpPr>
            <a:spLocks noGrp="1"/>
          </p:cNvSpPr>
          <p:nvPr>
            <p:ph type="sldNum" sz="quarter" idx="4"/>
          </p:nvPr>
        </p:nvSpPr>
        <p:spPr/>
        <p:txBody>
          <a:bodyPr/>
          <a:lstStyle/>
          <a:p>
            <a:fld id="{08F9AD23-695F-4808-8E99-6281554D0F77}" type="slidenum">
              <a:rPr lang="en-IN" smtClean="0"/>
              <a:t>64</a:t>
            </a:fld>
            <a:endParaRPr lang="en-IN"/>
          </a:p>
        </p:txBody>
      </p:sp>
    </p:spTree>
    <p:extLst>
      <p:ext uri="{BB962C8B-B14F-4D97-AF65-F5344CB8AC3E}">
        <p14:creationId xmlns:p14="http://schemas.microsoft.com/office/powerpoint/2010/main" val="270660982"/>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6</a:t>
            </a:r>
          </a:p>
        </p:txBody>
      </p:sp>
      <p:pic>
        <p:nvPicPr>
          <p:cNvPr id="7" name="Picture 2" descr="Step 5 illustrates mature female gametophyte.">
            <a:extLst>
              <a:ext uri="{FF2B5EF4-FFF2-40B4-BE49-F238E27FC236}">
                <a16:creationId xmlns:a16="http://schemas.microsoft.com/office/drawing/2014/main" id="{B855CDF7-5B49-43A9-A832-B7716EEBB86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695"/>
          <a:stretch/>
        </p:blipFill>
        <p:spPr>
          <a:xfrm>
            <a:off x="1243149" y="948214"/>
            <a:ext cx="6657699" cy="5301457"/>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65</a:t>
            </a:fld>
            <a:endParaRPr lang="en-IN"/>
          </a:p>
        </p:txBody>
      </p:sp>
    </p:spTree>
    <p:extLst>
      <p:ext uri="{BB962C8B-B14F-4D97-AF65-F5344CB8AC3E}">
        <p14:creationId xmlns:p14="http://schemas.microsoft.com/office/powerpoint/2010/main" val="3010315838"/>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7</a:t>
            </a:r>
          </a:p>
        </p:txBody>
      </p:sp>
      <p:pic>
        <p:nvPicPr>
          <p:cNvPr id="8" name="Picture 2" descr="Step 6 illustrates pollen grain and pollen tube.">
            <a:extLst>
              <a:ext uri="{FF2B5EF4-FFF2-40B4-BE49-F238E27FC236}">
                <a16:creationId xmlns:a16="http://schemas.microsoft.com/office/drawing/2014/main" id="{A06DF099-A02E-4AED-B415-5CA6F59052D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326"/>
          <a:stretch/>
        </p:blipFill>
        <p:spPr>
          <a:xfrm>
            <a:off x="1254301" y="948214"/>
            <a:ext cx="6635396" cy="5248678"/>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66</a:t>
            </a:fld>
            <a:endParaRPr lang="en-IN"/>
          </a:p>
        </p:txBody>
      </p:sp>
    </p:spTree>
    <p:extLst>
      <p:ext uri="{BB962C8B-B14F-4D97-AF65-F5344CB8AC3E}">
        <p14:creationId xmlns:p14="http://schemas.microsoft.com/office/powerpoint/2010/main" val="37419835"/>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8</a:t>
            </a:r>
          </a:p>
        </p:txBody>
      </p:sp>
      <p:pic>
        <p:nvPicPr>
          <p:cNvPr id="7" name="Picture 2" descr="Step 7 illustrates the process of fertilization.">
            <a:extLst>
              <a:ext uri="{FF2B5EF4-FFF2-40B4-BE49-F238E27FC236}">
                <a16:creationId xmlns:a16="http://schemas.microsoft.com/office/drawing/2014/main" id="{A6AAEF56-6F0D-4CD1-A764-9DC605C95AF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768"/>
          <a:stretch/>
        </p:blipFill>
        <p:spPr>
          <a:xfrm>
            <a:off x="1337934" y="948214"/>
            <a:ext cx="6468129" cy="5146534"/>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67</a:t>
            </a:fld>
            <a:endParaRPr lang="en-IN"/>
          </a:p>
        </p:txBody>
      </p:sp>
    </p:spTree>
    <p:extLst>
      <p:ext uri="{BB962C8B-B14F-4D97-AF65-F5344CB8AC3E}">
        <p14:creationId xmlns:p14="http://schemas.microsoft.com/office/powerpoint/2010/main" val="692701614"/>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noChangeArrowheads="1"/>
          </p:cNvSpPr>
          <p:nvPr>
            <p:ph type="title"/>
          </p:nvPr>
        </p:nvSpPr>
        <p:spPr/>
        <p:txBody>
          <a:bodyPr/>
          <a:lstStyle/>
          <a:p>
            <a:r>
              <a:rPr lang="en-US" altLang="en-US" dirty="0"/>
              <a:t>Pine Life Cycle </a:t>
            </a:r>
            <a:r>
              <a:rPr lang="en-US" altLang="en-US" sz="1600" dirty="0"/>
              <a:t>9</a:t>
            </a:r>
          </a:p>
        </p:txBody>
      </p:sp>
      <p:pic>
        <p:nvPicPr>
          <p:cNvPr id="9" name="Picture 2" descr="Details of a typical conifer life cycle include pollen and seed cone formation, pollination, and sporophyte formation.">
            <a:extLst>
              <a:ext uri="{FF2B5EF4-FFF2-40B4-BE49-F238E27FC236}">
                <a16:creationId xmlns:a16="http://schemas.microsoft.com/office/drawing/2014/main" id="{ED268DE4-521D-4724-9B93-EEE864EBE99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4201"/>
          <a:stretch/>
        </p:blipFill>
        <p:spPr>
          <a:xfrm>
            <a:off x="1181950" y="715565"/>
            <a:ext cx="6780100" cy="5426870"/>
          </a:xfrm>
          <a:prstGeom prst="rect">
            <a:avLst/>
          </a:prstGeom>
        </p:spPr>
      </p:pic>
      <p:sp>
        <p:nvSpPr>
          <p:cNvPr id="3" name="Text Placeholder 3">
            <a:extLst>
              <a:ext uri="{FF2B5EF4-FFF2-40B4-BE49-F238E27FC236}">
                <a16:creationId xmlns:a16="http://schemas.microsoft.com/office/drawing/2014/main" id="{D145A385-7771-4F48-BBED-1EA5E51CB5D8}"/>
              </a:ext>
            </a:extLst>
          </p:cNvPr>
          <p:cNvSpPr>
            <a:spLocks noGrp="1"/>
          </p:cNvSpPr>
          <p:nvPr>
            <p:ph type="body" sz="quarter" idx="18"/>
          </p:nvPr>
        </p:nvSpPr>
        <p:spPr>
          <a:xfrm>
            <a:off x="3931956" y="6193594"/>
            <a:ext cx="1278966" cy="314325"/>
          </a:xfrm>
        </p:spPr>
        <p:txBody>
          <a:bodyPr>
            <a:normAutofit/>
          </a:bodyPr>
          <a:lstStyle/>
          <a:p>
            <a:pPr algn="ctr"/>
            <a:r>
              <a:rPr lang="en-US" sz="1200" dirty="0"/>
              <a:t>Figure 23.18</a:t>
            </a:r>
          </a:p>
        </p:txBody>
      </p:sp>
      <p:sp>
        <p:nvSpPr>
          <p:cNvPr id="6" name="Text Placeholder 4">
            <a:extLst>
              <a:ext uri="{FF2B5EF4-FFF2-40B4-BE49-F238E27FC236}">
                <a16:creationId xmlns:a16="http://schemas.microsoft.com/office/drawing/2014/main" id="{905A73CA-9A2D-4250-AB80-AF4672E2BE7E}"/>
              </a:ext>
            </a:extLst>
          </p:cNvPr>
          <p:cNvSpPr>
            <a:spLocks noGrp="1"/>
          </p:cNvSpPr>
          <p:nvPr>
            <p:ph type="body" sz="quarter" idx="19"/>
          </p:nvPr>
        </p:nvSpPr>
        <p:spPr>
          <a:xfrm>
            <a:off x="2921233" y="6507919"/>
            <a:ext cx="3300412" cy="314325"/>
          </a:xfrm>
        </p:spPr>
        <p:txBody>
          <a:bodyPr>
            <a:normAutofit/>
          </a:bodyPr>
          <a:lstStyle/>
          <a:p>
            <a:pPr algn="ctr"/>
            <a:r>
              <a:rPr lang="en-US" sz="1200" dirty="0">
                <a:latin typeface="+mn-lt"/>
                <a:hlinkClick r:id="rId4" action="ppaction://hlinksldjump"/>
              </a:rPr>
              <a:t>Access the text alternative for slide images.</a:t>
            </a:r>
            <a:endParaRPr lang="en-US" sz="1200" dirty="0">
              <a:latin typeface="+mn-lt"/>
            </a:endParaRPr>
          </a:p>
        </p:txBody>
      </p:sp>
      <p:sp>
        <p:nvSpPr>
          <p:cNvPr id="5" name="Slide Number Placeholder 5">
            <a:extLst>
              <a:ext uri="{FF2B5EF4-FFF2-40B4-BE49-F238E27FC236}">
                <a16:creationId xmlns:a16="http://schemas.microsoft.com/office/drawing/2014/main" id="{D1B92705-FA0A-4067-8AEA-B3AA83EBD5B3}"/>
              </a:ext>
            </a:extLst>
          </p:cNvPr>
          <p:cNvSpPr>
            <a:spLocks noGrp="1"/>
          </p:cNvSpPr>
          <p:nvPr>
            <p:ph type="sldNum" sz="quarter" idx="4"/>
          </p:nvPr>
        </p:nvSpPr>
        <p:spPr/>
        <p:txBody>
          <a:bodyPr/>
          <a:lstStyle/>
          <a:p>
            <a:fld id="{08F9AD23-695F-4808-8E99-6281554D0F77}" type="slidenum">
              <a:rPr lang="en-IN" smtClean="0"/>
              <a:t>68</a:t>
            </a:fld>
            <a:endParaRPr lang="en-IN"/>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noChangeArrowheads="1"/>
          </p:cNvSpPr>
          <p:nvPr>
            <p:ph type="title"/>
          </p:nvPr>
        </p:nvSpPr>
        <p:spPr>
          <a:xfrm>
            <a:off x="1716258" y="227447"/>
            <a:ext cx="6203853" cy="688107"/>
          </a:xfrm>
        </p:spPr>
        <p:txBody>
          <a:bodyPr/>
          <a:lstStyle/>
          <a:p>
            <a:r>
              <a:rPr lang="en-US" altLang="en-US" dirty="0"/>
              <a:t>Uses of Conifers</a:t>
            </a:r>
          </a:p>
        </p:txBody>
      </p:sp>
      <p:sp>
        <p:nvSpPr>
          <p:cNvPr id="3" name="Content Placeholder 2">
            <a:extLst>
              <a:ext uri="{FF2B5EF4-FFF2-40B4-BE49-F238E27FC236}">
                <a16:creationId xmlns:a16="http://schemas.microsoft.com/office/drawing/2014/main" id="{9D4662D5-A67D-4B78-A385-51873294BB9C}"/>
              </a:ext>
            </a:extLst>
          </p:cNvPr>
          <p:cNvSpPr>
            <a:spLocks noGrp="1"/>
          </p:cNvSpPr>
          <p:nvPr>
            <p:ph sz="quarter" idx="10"/>
          </p:nvPr>
        </p:nvSpPr>
        <p:spPr>
          <a:xfrm>
            <a:off x="457200" y="1188150"/>
            <a:ext cx="7772400" cy="4963569"/>
          </a:xfrm>
        </p:spPr>
        <p:txBody>
          <a:bodyPr/>
          <a:lstStyle/>
          <a:p>
            <a:r>
              <a:rPr lang="en-US" sz="2400" b="0" i="0" u="none" strike="noStrike" baseline="0" dirty="0"/>
              <a:t>Pines are known for their beauty and pleasant smell</a:t>
            </a:r>
          </a:p>
          <a:p>
            <a:pPr lvl="1">
              <a:buFont typeface="Arial" panose="020B0604020202020204" pitchFamily="34" charset="0"/>
              <a:buChar char="•"/>
            </a:pPr>
            <a:r>
              <a:rPr lang="en-US" sz="2200" dirty="0"/>
              <a:t>M</a:t>
            </a:r>
            <a:r>
              <a:rPr lang="en-US" sz="2200" b="0" i="0" u="none" strike="noStrike" baseline="0" dirty="0"/>
              <a:t>ake attractive additions to parks and gardens</a:t>
            </a:r>
          </a:p>
          <a:p>
            <a:pPr lvl="1">
              <a:buFont typeface="Arial" panose="020B0604020202020204" pitchFamily="34" charset="0"/>
              <a:buChar char="•"/>
            </a:pPr>
            <a:r>
              <a:rPr lang="en-US" sz="2200" dirty="0"/>
              <a:t>H</a:t>
            </a:r>
            <a:r>
              <a:rPr lang="en-US" sz="2200" b="0" i="0" u="none" strike="noStrike" baseline="0" dirty="0"/>
              <a:t>ave medicinal value</a:t>
            </a:r>
          </a:p>
          <a:p>
            <a:pPr marL="625475" lvl="2" indent="-266700">
              <a:buFont typeface="Arial" panose="020B0604020202020204" pitchFamily="34" charset="0"/>
              <a:buChar char="•"/>
            </a:pPr>
            <a:r>
              <a:rPr lang="en-US" sz="2000" b="0" i="0" u="none" strike="noStrike" baseline="0" dirty="0"/>
              <a:t>Needles and bark are rich in vitamins A and C</a:t>
            </a:r>
          </a:p>
          <a:p>
            <a:pPr marL="890588" lvl="3" indent="-265113">
              <a:buFont typeface="Arial" panose="020B0604020202020204" pitchFamily="34" charset="0"/>
              <a:buChar char="•"/>
            </a:pPr>
            <a:r>
              <a:rPr lang="en-US" sz="2000" dirty="0"/>
              <a:t>C</a:t>
            </a:r>
            <a:r>
              <a:rPr lang="en-US" sz="2000" b="0" i="0" u="none" strike="noStrike" baseline="0" dirty="0"/>
              <a:t>an be used to create teas that ease symptoms of a cold or cough</a:t>
            </a:r>
          </a:p>
          <a:p>
            <a:pPr lvl="1">
              <a:buFont typeface="Arial" panose="020B0604020202020204" pitchFamily="34" charset="0"/>
              <a:buChar char="•"/>
            </a:pPr>
            <a:r>
              <a:rPr lang="en-US" sz="2200" b="0" i="0" u="none" strike="noStrike" baseline="0" dirty="0"/>
              <a:t>Large pine seeds, called pine nuts, are sometimes harvested for use in cooking</a:t>
            </a:r>
          </a:p>
          <a:p>
            <a:pPr lvl="1">
              <a:buFont typeface="Arial" panose="020B0604020202020204" pitchFamily="34" charset="0"/>
              <a:buChar char="•"/>
            </a:pPr>
            <a:r>
              <a:rPr lang="en-US" sz="2200" b="0" i="0" u="none" strike="noStrike" baseline="0" dirty="0"/>
              <a:t>Pine oil is used to scent a number of household and personal care products, such as room sprays and deodorant</a:t>
            </a:r>
            <a:endParaRPr lang="en-US" sz="2200" dirty="0"/>
          </a:p>
        </p:txBody>
      </p:sp>
      <p:sp>
        <p:nvSpPr>
          <p:cNvPr id="4" name="Slide Number Placeholder 3">
            <a:extLst>
              <a:ext uri="{FF2B5EF4-FFF2-40B4-BE49-F238E27FC236}">
                <a16:creationId xmlns:a16="http://schemas.microsoft.com/office/drawing/2014/main" id="{C00C323C-C2CD-4DD5-856E-DBE0FE37220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69</a:t>
            </a:fld>
            <a:endParaRPr lang="en-I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noChangeArrowheads="1"/>
          </p:cNvSpPr>
          <p:nvPr>
            <p:ph type="title"/>
          </p:nvPr>
        </p:nvSpPr>
        <p:spPr>
          <a:xfrm>
            <a:off x="369277" y="12030"/>
            <a:ext cx="8229600" cy="917023"/>
          </a:xfrm>
        </p:spPr>
        <p:txBody>
          <a:bodyPr/>
          <a:lstStyle/>
          <a:p>
            <a:r>
              <a:rPr lang="en-US" altLang="en-US" sz="3800" dirty="0"/>
              <a:t>Cycads</a:t>
            </a:r>
          </a:p>
        </p:txBody>
      </p:sp>
      <p:sp>
        <p:nvSpPr>
          <p:cNvPr id="43011" name="Content Placeholder 2"/>
          <p:cNvSpPr>
            <a:spLocks noGrp="1" noChangeArrowheads="1"/>
          </p:cNvSpPr>
          <p:nvPr>
            <p:ph idx="1"/>
          </p:nvPr>
        </p:nvSpPr>
        <p:spPr>
          <a:xfrm>
            <a:off x="172122" y="839231"/>
            <a:ext cx="8602601" cy="5714414"/>
          </a:xfrm>
        </p:spPr>
        <p:txBody>
          <a:bodyPr>
            <a:noAutofit/>
          </a:bodyPr>
          <a:lstStyle/>
          <a:p>
            <a:pPr marL="338328" lvl="2" indent="0">
              <a:spcBef>
                <a:spcPts val="0"/>
              </a:spcBef>
              <a:spcAft>
                <a:spcPts val="0"/>
              </a:spcAft>
              <a:buNone/>
            </a:pPr>
            <a:r>
              <a:rPr lang="en-US" sz="2400" dirty="0"/>
              <a:t>Include 10 genera and 300 species of distinctive gymnosperms</a:t>
            </a:r>
          </a:p>
          <a:p>
            <a:pPr marL="338328" lvl="2" indent="0">
              <a:spcBef>
                <a:spcPts val="1200"/>
              </a:spcBef>
              <a:spcAft>
                <a:spcPts val="0"/>
              </a:spcAft>
              <a:buNone/>
            </a:pPr>
            <a:r>
              <a:rPr lang="en-US" sz="2400" dirty="0"/>
              <a:t>Large, finely divided leaves that grow in clusters at the top of the stem</a:t>
            </a:r>
          </a:p>
          <a:p>
            <a:pPr marL="338328" lvl="2" indent="0">
              <a:spcBef>
                <a:spcPts val="1200"/>
              </a:spcBef>
              <a:spcAft>
                <a:spcPts val="0"/>
              </a:spcAft>
              <a:buNone/>
            </a:pPr>
            <a:r>
              <a:rPr lang="en-US" sz="2400" dirty="0"/>
              <a:t>Cones can be more than 1 m long</a:t>
            </a:r>
          </a:p>
          <a:p>
            <a:pPr marL="338328" lvl="2" indent="0">
              <a:spcBef>
                <a:spcPts val="1200"/>
              </a:spcBef>
              <a:spcAft>
                <a:spcPts val="0"/>
              </a:spcAft>
              <a:buNone/>
            </a:pPr>
            <a:r>
              <a:rPr lang="en-US" sz="2400" dirty="0"/>
              <a:t>Pollen and seed cones are on separate plants</a:t>
            </a:r>
          </a:p>
          <a:p>
            <a:pPr marL="338328" lvl="2" indent="0">
              <a:spcBef>
                <a:spcPts val="1200"/>
              </a:spcBef>
              <a:spcAft>
                <a:spcPts val="0"/>
              </a:spcAft>
              <a:buNone/>
            </a:pPr>
            <a:r>
              <a:rPr lang="en-US" sz="2400" dirty="0"/>
              <a:t>Pollinated by insects rather than wind</a:t>
            </a:r>
          </a:p>
          <a:p>
            <a:pPr marL="717550" lvl="3" indent="-358775">
              <a:spcBef>
                <a:spcPts val="1200"/>
              </a:spcBef>
              <a:buFont typeface="Arial" panose="020B0604020202020204" pitchFamily="34" charset="0"/>
              <a:buChar char="•"/>
              <a:tabLst>
                <a:tab pos="717550" algn="l"/>
              </a:tabLst>
            </a:pPr>
            <a:r>
              <a:rPr lang="en-US" sz="2200" dirty="0"/>
              <a:t>Pollen tube bursts near egg and </a:t>
            </a:r>
            <a:r>
              <a:rPr lang="en-US" sz="2200" dirty="0" err="1"/>
              <a:t>multiflagellated</a:t>
            </a:r>
            <a:r>
              <a:rPr lang="en-US" sz="2200" dirty="0"/>
              <a:t> sperm swim to reach an egg</a:t>
            </a:r>
          </a:p>
          <a:p>
            <a:pPr marL="338328" lvl="2" indent="0">
              <a:spcBef>
                <a:spcPts val="1200"/>
              </a:spcBef>
              <a:buNone/>
            </a:pPr>
            <a:r>
              <a:rPr lang="en-US" sz="2400" dirty="0"/>
              <a:t>Plentiful in Mesozoic era at the time of the dinosaurs</a:t>
            </a:r>
          </a:p>
          <a:p>
            <a:pPr marL="717550" lvl="3" indent="-358775">
              <a:spcBef>
                <a:spcPts val="1200"/>
              </a:spcBef>
              <a:buFont typeface="Arial" panose="020B0604020202020204" pitchFamily="34" charset="0"/>
              <a:buChar char="•"/>
              <a:tabLst>
                <a:tab pos="717550" algn="l"/>
              </a:tabLst>
            </a:pPr>
            <a:r>
              <a:rPr lang="en-US" sz="2200" dirty="0"/>
              <a:t>Dinosaurs fed on cycad seeds</a:t>
            </a:r>
          </a:p>
        </p:txBody>
      </p:sp>
      <p:sp>
        <p:nvSpPr>
          <p:cNvPr id="4" name="Slide Number Placeholder 3">
            <a:extLst>
              <a:ext uri="{FF2B5EF4-FFF2-40B4-BE49-F238E27FC236}">
                <a16:creationId xmlns:a16="http://schemas.microsoft.com/office/drawing/2014/main" id="{A13BF0D9-102C-4F87-94DA-E88D1C2D5E5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70</a:t>
            </a:fld>
            <a:endParaRPr lang="en-I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ltLang="en-US" dirty="0"/>
              <a:t>African Cycad</a:t>
            </a:r>
          </a:p>
        </p:txBody>
      </p:sp>
      <p:pic>
        <p:nvPicPr>
          <p:cNvPr id="5" name="Picture 2" descr="A cycad exhibits trunk, leaves, with an inset on top-right depicting presence of cones on separate plants. "/>
          <p:cNvPicPr>
            <a:picLocks noChangeAspect="1" noChangeArrowheads="1"/>
          </p:cNvPicPr>
          <p:nvPr/>
        </p:nvPicPr>
        <p:blipFill rotWithShape="1">
          <a:blip r:embed="rId3">
            <a:extLst>
              <a:ext uri="{28A0092B-C50C-407E-A947-70E740481C1C}">
                <a14:useLocalDpi xmlns:a14="http://schemas.microsoft.com/office/drawing/2010/main" val="0"/>
              </a:ext>
            </a:extLst>
          </a:blip>
          <a:srcRect t="2443" b="8310"/>
          <a:stretch/>
        </p:blipFill>
        <p:spPr bwMode="auto">
          <a:xfrm>
            <a:off x="2182553" y="701717"/>
            <a:ext cx="4777772" cy="5024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Content Placeholder 3">
            <a:extLst>
              <a:ext uri="{FF2B5EF4-FFF2-40B4-BE49-F238E27FC236}">
                <a16:creationId xmlns:a16="http://schemas.microsoft.com/office/drawing/2014/main" id="{305AAE9A-C476-4140-A51D-ADDE7A2519C3}"/>
              </a:ext>
            </a:extLst>
          </p:cNvPr>
          <p:cNvSpPr>
            <a:spLocks noGrp="1"/>
          </p:cNvSpPr>
          <p:nvPr>
            <p:ph type="body" sz="quarter" idx="19"/>
          </p:nvPr>
        </p:nvSpPr>
        <p:spPr>
          <a:xfrm>
            <a:off x="2381206" y="5739646"/>
            <a:ext cx="1267848" cy="246075"/>
          </a:xfrm>
        </p:spPr>
        <p:txBody>
          <a:bodyPr/>
          <a:lstStyle/>
          <a:p>
            <a:pPr marL="179388" indent="-179388">
              <a:buFont typeface="+mj-lt"/>
              <a:buAutoNum type="alphaLcPeriod"/>
            </a:pPr>
            <a:r>
              <a:rPr lang="en-US" sz="800" dirty="0"/>
              <a:t>An African cycad</a:t>
            </a:r>
          </a:p>
        </p:txBody>
      </p:sp>
      <p:sp>
        <p:nvSpPr>
          <p:cNvPr id="17" name="Content Placeholder 4">
            <a:extLst>
              <a:ext uri="{FF2B5EF4-FFF2-40B4-BE49-F238E27FC236}">
                <a16:creationId xmlns:a16="http://schemas.microsoft.com/office/drawing/2014/main" id="{764B57F0-68FC-4DA0-9EE9-F56428425BA7}"/>
              </a:ext>
            </a:extLst>
          </p:cNvPr>
          <p:cNvSpPr>
            <a:spLocks noGrp="1"/>
          </p:cNvSpPr>
          <p:nvPr>
            <p:ph type="body" sz="quarter" idx="18"/>
          </p:nvPr>
        </p:nvSpPr>
        <p:spPr>
          <a:xfrm>
            <a:off x="520699" y="6018331"/>
            <a:ext cx="8101481" cy="314325"/>
          </a:xfrm>
        </p:spPr>
        <p:txBody>
          <a:bodyPr>
            <a:noAutofit/>
          </a:bodyPr>
          <a:lstStyle/>
          <a:p>
            <a:r>
              <a:rPr lang="en-US" sz="1200" dirty="0"/>
              <a:t>Figure 23.19</a:t>
            </a:r>
          </a:p>
        </p:txBody>
      </p:sp>
      <p:sp>
        <p:nvSpPr>
          <p:cNvPr id="3" name="Text Placeholder 5">
            <a:extLst>
              <a:ext uri="{FF2B5EF4-FFF2-40B4-BE49-F238E27FC236}">
                <a16:creationId xmlns:a16="http://schemas.microsoft.com/office/drawing/2014/main" id="{44E949D6-366B-40E2-9553-4D3B593BE6DE}"/>
              </a:ext>
            </a:extLst>
          </p:cNvPr>
          <p:cNvSpPr>
            <a:spLocks noGrp="1"/>
          </p:cNvSpPr>
          <p:nvPr>
            <p:ph type="body" sz="quarter" idx="21"/>
          </p:nvPr>
        </p:nvSpPr>
        <p:spPr/>
        <p:txBody>
          <a:bodyPr/>
          <a:lstStyle/>
          <a:p>
            <a:r>
              <a:rPr lang="en-US" sz="800" dirty="0"/>
              <a:t>(a): (cycad): Hoberman Collection/</a:t>
            </a:r>
            <a:r>
              <a:rPr lang="en-US" sz="800" dirty="0" err="1"/>
              <a:t>Alamy</a:t>
            </a:r>
            <a:r>
              <a:rPr lang="en-US" sz="800" dirty="0"/>
              <a:t> Stock Photo; (cycad cone): </a:t>
            </a:r>
            <a:r>
              <a:rPr lang="en-US" sz="800" dirty="0" err="1"/>
              <a:t>PlazaCameraman</a:t>
            </a:r>
            <a:r>
              <a:rPr lang="en-US" sz="800" dirty="0"/>
              <a:t>/Getty Images</a:t>
            </a:r>
          </a:p>
        </p:txBody>
      </p:sp>
      <p:sp>
        <p:nvSpPr>
          <p:cNvPr id="7" name="Slide Number Placeholder 6">
            <a:extLst>
              <a:ext uri="{FF2B5EF4-FFF2-40B4-BE49-F238E27FC236}">
                <a16:creationId xmlns:a16="http://schemas.microsoft.com/office/drawing/2014/main" id="{CA3CF4F9-2C58-4F5F-8EDB-73BEA1F17040}"/>
              </a:ext>
            </a:extLst>
          </p:cNvPr>
          <p:cNvSpPr>
            <a:spLocks noGrp="1"/>
          </p:cNvSpPr>
          <p:nvPr>
            <p:ph type="sldNum" sz="quarter" idx="4"/>
          </p:nvPr>
        </p:nvSpPr>
        <p:spPr/>
        <p:txBody>
          <a:bodyPr/>
          <a:lstStyle/>
          <a:p>
            <a:fld id="{08F9AD23-695F-4808-8E99-6281554D0F77}" type="slidenum">
              <a:rPr lang="en-IN" smtClean="0"/>
              <a:t>71</a:t>
            </a:fld>
            <a:endParaRPr lang="en-I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noChangeArrowheads="1"/>
          </p:cNvSpPr>
          <p:nvPr>
            <p:ph type="title"/>
          </p:nvPr>
        </p:nvSpPr>
        <p:spPr>
          <a:xfrm>
            <a:off x="457200" y="-1"/>
            <a:ext cx="8229600" cy="997327"/>
          </a:xfrm>
        </p:spPr>
        <p:txBody>
          <a:bodyPr/>
          <a:lstStyle/>
          <a:p>
            <a:r>
              <a:rPr lang="en-US" altLang="en-US" sz="3600" dirty="0"/>
              <a:t>Ginkgoes</a:t>
            </a:r>
          </a:p>
        </p:txBody>
      </p:sp>
      <p:sp>
        <p:nvSpPr>
          <p:cNvPr id="45059" name="Content Placeholder 2"/>
          <p:cNvSpPr>
            <a:spLocks noGrp="1" noChangeArrowheads="1"/>
          </p:cNvSpPr>
          <p:nvPr>
            <p:ph idx="1"/>
          </p:nvPr>
        </p:nvSpPr>
        <p:spPr>
          <a:xfrm>
            <a:off x="377190" y="997327"/>
            <a:ext cx="8229600" cy="4980704"/>
          </a:xfrm>
        </p:spPr>
        <p:txBody>
          <a:bodyPr/>
          <a:lstStyle/>
          <a:p>
            <a:pPr>
              <a:spcBef>
                <a:spcPts val="1200"/>
              </a:spcBef>
              <a:spcAft>
                <a:spcPts val="0"/>
              </a:spcAft>
            </a:pPr>
            <a:r>
              <a:rPr lang="en-US" sz="2400" dirty="0"/>
              <a:t>One surviving species is</a:t>
            </a:r>
            <a:r>
              <a:rPr lang="en-US" sz="2400" i="1" dirty="0"/>
              <a:t> Gingko biloba</a:t>
            </a:r>
            <a:endParaRPr lang="en-US" sz="2400" dirty="0"/>
          </a:p>
          <a:p>
            <a:pPr lvl="1">
              <a:spcBef>
                <a:spcPts val="1200"/>
              </a:spcBef>
              <a:spcAft>
                <a:spcPts val="0"/>
              </a:spcAft>
              <a:buFont typeface="Arial" panose="020B0604020202020204" pitchFamily="34" charset="0"/>
              <a:buChar char="•"/>
            </a:pPr>
            <a:r>
              <a:rPr lang="en-US" sz="2200" b="1" dirty="0">
                <a:solidFill>
                  <a:srgbClr val="D90000"/>
                </a:solidFill>
              </a:rPr>
              <a:t>Dioecious</a:t>
            </a:r>
          </a:p>
          <a:p>
            <a:pPr marL="628650" lvl="2" indent="-274638">
              <a:spcBef>
                <a:spcPts val="1200"/>
              </a:spcBef>
              <a:spcAft>
                <a:spcPts val="0"/>
              </a:spcAft>
              <a:buFont typeface="Arial" panose="020B0604020202020204" pitchFamily="34" charset="0"/>
              <a:buChar char="•"/>
            </a:pPr>
            <a:r>
              <a:rPr lang="en-US" sz="2000" dirty="0"/>
              <a:t>Some trees produce seeds</a:t>
            </a:r>
          </a:p>
          <a:p>
            <a:pPr marL="628650" lvl="2" indent="-274638">
              <a:spcBef>
                <a:spcPts val="1200"/>
              </a:spcBef>
              <a:spcAft>
                <a:spcPts val="0"/>
              </a:spcAft>
              <a:buFont typeface="Arial" panose="020B0604020202020204" pitchFamily="34" charset="0"/>
              <a:buChar char="•"/>
            </a:pPr>
            <a:r>
              <a:rPr lang="en-US" sz="2000" dirty="0"/>
              <a:t>Other trees produce pollen</a:t>
            </a:r>
          </a:p>
          <a:p>
            <a:pPr lvl="1">
              <a:spcBef>
                <a:spcPts val="1200"/>
              </a:spcBef>
              <a:spcAft>
                <a:spcPts val="0"/>
              </a:spcAft>
              <a:buFont typeface="Arial" panose="020B0604020202020204" pitchFamily="34" charset="0"/>
              <a:buChar char="•"/>
            </a:pPr>
            <a:r>
              <a:rPr lang="en-US" sz="2200" dirty="0"/>
              <a:t>Trees </a:t>
            </a:r>
            <a:r>
              <a:rPr lang="en-US" sz="2200" b="0" i="0" u="none" strike="noStrike" baseline="0" dirty="0"/>
              <a:t>are resistant to pollution and do well along city streets and in city parks</a:t>
            </a:r>
          </a:p>
          <a:p>
            <a:pPr lvl="1">
              <a:spcBef>
                <a:spcPts val="1200"/>
              </a:spcBef>
              <a:spcAft>
                <a:spcPts val="0"/>
              </a:spcAft>
              <a:buFont typeface="Arial" panose="020B0604020202020204" pitchFamily="34" charset="0"/>
              <a:buChar char="•"/>
            </a:pPr>
            <a:r>
              <a:rPr lang="en-US" sz="2200" dirty="0"/>
              <a:t>N</a:t>
            </a:r>
            <a:r>
              <a:rPr lang="en-US" sz="2200" b="0" i="0" u="none" strike="noStrike" baseline="0" dirty="0"/>
              <a:t>ative to China, and in Asia, ginkgo seeds are considered a delicacy</a:t>
            </a:r>
          </a:p>
          <a:p>
            <a:pPr lvl="1">
              <a:spcBef>
                <a:spcPts val="1200"/>
              </a:spcBef>
              <a:spcAft>
                <a:spcPts val="0"/>
              </a:spcAft>
              <a:buFont typeface="Arial" panose="020B0604020202020204" pitchFamily="34" charset="0"/>
              <a:buChar char="•"/>
            </a:pPr>
            <a:r>
              <a:rPr lang="en-US" sz="2200" b="0" i="0" u="none" strike="noStrike" baseline="0" dirty="0"/>
              <a:t>Extracts have been used to improve blood circulation</a:t>
            </a:r>
          </a:p>
          <a:p>
            <a:pPr lvl="1">
              <a:spcBef>
                <a:spcPts val="1200"/>
              </a:spcBef>
              <a:spcAft>
                <a:spcPts val="0"/>
              </a:spcAft>
              <a:buFont typeface="Arial" panose="020B0604020202020204" pitchFamily="34" charset="0"/>
              <a:buChar char="•"/>
            </a:pPr>
            <a:r>
              <a:rPr lang="en-US" sz="2200" b="0" i="0" u="none" strike="noStrike" baseline="0" dirty="0"/>
              <a:t>Like cycads, the pollen tube of ginkgo bursts to release </a:t>
            </a:r>
            <a:r>
              <a:rPr lang="en-US" sz="2200" b="0" i="0" u="none" strike="noStrike" baseline="0" dirty="0" err="1"/>
              <a:t>multiflagellated</a:t>
            </a:r>
            <a:r>
              <a:rPr lang="en-US" sz="2200" b="0" i="0" u="none" strike="noStrike" baseline="0" dirty="0"/>
              <a:t> sperm that swim to the egg</a:t>
            </a:r>
            <a:endParaRPr lang="en-US" sz="2200" dirty="0"/>
          </a:p>
        </p:txBody>
      </p:sp>
      <p:sp>
        <p:nvSpPr>
          <p:cNvPr id="4" name="Slide Number Placeholder 3">
            <a:extLst>
              <a:ext uri="{FF2B5EF4-FFF2-40B4-BE49-F238E27FC236}">
                <a16:creationId xmlns:a16="http://schemas.microsoft.com/office/drawing/2014/main" id="{F68A0FD4-77F6-4808-8E96-881E4599EC10}"/>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72</a:t>
            </a:fld>
            <a:endParaRPr lang="en-IN"/>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noChangeArrowheads="1"/>
          </p:cNvSpPr>
          <p:nvPr>
            <p:ph type="title"/>
          </p:nvPr>
        </p:nvSpPr>
        <p:spPr>
          <a:xfrm>
            <a:off x="457200" y="272187"/>
            <a:ext cx="8229600" cy="598627"/>
          </a:xfrm>
        </p:spPr>
        <p:txBody>
          <a:bodyPr>
            <a:normAutofit fontScale="90000"/>
          </a:bodyPr>
          <a:lstStyle/>
          <a:p>
            <a:r>
              <a:rPr lang="en-US" altLang="en-US" i="1" dirty="0"/>
              <a:t>Ginkgo biloba</a:t>
            </a:r>
            <a:r>
              <a:rPr lang="en-US" altLang="en-US" dirty="0"/>
              <a:t>, a Native of China</a:t>
            </a:r>
          </a:p>
        </p:txBody>
      </p:sp>
      <p:pic>
        <p:nvPicPr>
          <p:cNvPr id="5" name="Picture 2" descr="A ginkgo tree has broad leaves and fleshy seeds borne at the end of stalk like megasporophylls."/>
          <p:cNvPicPr>
            <a:picLocks noChangeAspect="1" noChangeArrowheads="1"/>
          </p:cNvPicPr>
          <p:nvPr/>
        </p:nvPicPr>
        <p:blipFill rotWithShape="1">
          <a:blip r:embed="rId3">
            <a:extLst>
              <a:ext uri="{28A0092B-C50C-407E-A947-70E740481C1C}">
                <a14:useLocalDpi xmlns:a14="http://schemas.microsoft.com/office/drawing/2010/main" val="0"/>
              </a:ext>
            </a:extLst>
          </a:blip>
          <a:srcRect t="3387" b="11371"/>
          <a:stretch/>
        </p:blipFill>
        <p:spPr bwMode="auto">
          <a:xfrm>
            <a:off x="855661" y="870814"/>
            <a:ext cx="7432675" cy="4285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Content Placeholder 3">
            <a:extLst>
              <a:ext uri="{FF2B5EF4-FFF2-40B4-BE49-F238E27FC236}">
                <a16:creationId xmlns:a16="http://schemas.microsoft.com/office/drawing/2014/main" id="{78835E7A-4B37-46B5-9508-C8B5912A41FA}"/>
              </a:ext>
            </a:extLst>
          </p:cNvPr>
          <p:cNvSpPr>
            <a:spLocks noGrp="1"/>
          </p:cNvSpPr>
          <p:nvPr>
            <p:ph sz="quarter" idx="19"/>
          </p:nvPr>
        </p:nvSpPr>
        <p:spPr>
          <a:xfrm>
            <a:off x="1033402" y="5133557"/>
            <a:ext cx="2569194" cy="346529"/>
          </a:xfrm>
        </p:spPr>
        <p:txBody>
          <a:bodyPr>
            <a:normAutofit/>
          </a:bodyPr>
          <a:lstStyle/>
          <a:p>
            <a:pPr marL="168275" indent="-168275">
              <a:buFont typeface="+mj-lt"/>
              <a:buAutoNum type="alphaLcPeriod" startAt="2"/>
            </a:pPr>
            <a:r>
              <a:rPr lang="en-US" sz="1200" dirty="0"/>
              <a:t> </a:t>
            </a:r>
            <a:r>
              <a:rPr lang="en-US" sz="1200" i="1" dirty="0"/>
              <a:t>Ginkgo biloba</a:t>
            </a:r>
            <a:r>
              <a:rPr lang="en-US" sz="1200" dirty="0"/>
              <a:t>, a native of China</a:t>
            </a:r>
          </a:p>
        </p:txBody>
      </p:sp>
      <p:sp>
        <p:nvSpPr>
          <p:cNvPr id="7" name="TextBox 4">
            <a:extLst>
              <a:ext uri="{FF2B5EF4-FFF2-40B4-BE49-F238E27FC236}">
                <a16:creationId xmlns:a16="http://schemas.microsoft.com/office/drawing/2014/main" id="{64398028-0C09-4584-A535-EAE0D4942945}"/>
              </a:ext>
            </a:extLst>
          </p:cNvPr>
          <p:cNvSpPr txBox="1"/>
          <p:nvPr/>
        </p:nvSpPr>
        <p:spPr>
          <a:xfrm>
            <a:off x="3843863" y="5616555"/>
            <a:ext cx="1456267" cy="276999"/>
          </a:xfrm>
          <a:prstGeom prst="rect">
            <a:avLst/>
          </a:prstGeom>
          <a:noFill/>
        </p:spPr>
        <p:txBody>
          <a:bodyPr wrap="square" rtlCol="0">
            <a:spAutoFit/>
          </a:bodyPr>
          <a:lstStyle/>
          <a:p>
            <a:pPr algn="ctr"/>
            <a:r>
              <a:rPr lang="en-US" sz="1200" dirty="0"/>
              <a:t>Figure 23.19</a:t>
            </a:r>
          </a:p>
        </p:txBody>
      </p:sp>
      <p:sp>
        <p:nvSpPr>
          <p:cNvPr id="15" name="Content Placeholder 5">
            <a:extLst>
              <a:ext uri="{FF2B5EF4-FFF2-40B4-BE49-F238E27FC236}">
                <a16:creationId xmlns:a16="http://schemas.microsoft.com/office/drawing/2014/main" id="{B6CCC63F-BB6D-41CA-A5D8-20B6194C5888}"/>
              </a:ext>
            </a:extLst>
          </p:cNvPr>
          <p:cNvSpPr>
            <a:spLocks noGrp="1"/>
          </p:cNvSpPr>
          <p:nvPr>
            <p:ph sz="quarter" idx="4294967295"/>
          </p:nvPr>
        </p:nvSpPr>
        <p:spPr>
          <a:xfrm>
            <a:off x="3425494" y="6536195"/>
            <a:ext cx="5054087" cy="257774"/>
          </a:xfrm>
        </p:spPr>
        <p:txBody>
          <a:bodyPr/>
          <a:lstStyle/>
          <a:p>
            <a:pPr marL="0" indent="0" algn="ctr">
              <a:buNone/>
            </a:pPr>
            <a:r>
              <a:rPr lang="en-US" sz="800" dirty="0"/>
              <a:t>(b): (</a:t>
            </a:r>
            <a:r>
              <a:rPr lang="en-US" sz="800" i="1" dirty="0"/>
              <a:t>Gingko</a:t>
            </a:r>
            <a:r>
              <a:rPr lang="en-US" sz="800" dirty="0"/>
              <a:t> leaves): </a:t>
            </a:r>
            <a:r>
              <a:rPr lang="en-US" sz="800" dirty="0" err="1"/>
              <a:t>blickwinkel</a:t>
            </a:r>
            <a:r>
              <a:rPr lang="en-US" sz="800" dirty="0"/>
              <a:t>/Koenig/</a:t>
            </a:r>
            <a:r>
              <a:rPr lang="en-US" sz="800" dirty="0" err="1"/>
              <a:t>Alamy</a:t>
            </a:r>
            <a:r>
              <a:rPr lang="en-US" sz="800" dirty="0"/>
              <a:t> Stock Photo, (ovule): Ken Robertson, University of Illinois/INHS</a:t>
            </a:r>
          </a:p>
        </p:txBody>
      </p:sp>
      <p:sp>
        <p:nvSpPr>
          <p:cNvPr id="8" name="Slide Number Placeholder 6">
            <a:extLst>
              <a:ext uri="{FF2B5EF4-FFF2-40B4-BE49-F238E27FC236}">
                <a16:creationId xmlns:a16="http://schemas.microsoft.com/office/drawing/2014/main" id="{F0EF2836-BD45-4DF7-944F-C12E16BA215C}"/>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73</a:t>
            </a:fld>
            <a:endParaRPr lang="en-IN"/>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noChangeArrowheads="1"/>
          </p:cNvSpPr>
          <p:nvPr>
            <p:ph type="title"/>
          </p:nvPr>
        </p:nvSpPr>
        <p:spPr>
          <a:xfrm>
            <a:off x="407967" y="-1"/>
            <a:ext cx="8229600" cy="1070903"/>
          </a:xfrm>
        </p:spPr>
        <p:txBody>
          <a:bodyPr/>
          <a:lstStyle/>
          <a:p>
            <a:r>
              <a:rPr lang="en-US" altLang="en-US" sz="3600" dirty="0" err="1"/>
              <a:t>Gnetophytes</a:t>
            </a:r>
            <a:endParaRPr lang="en-US" altLang="en-US" sz="3600" dirty="0"/>
          </a:p>
        </p:txBody>
      </p:sp>
      <p:sp>
        <p:nvSpPr>
          <p:cNvPr id="45059" name="Content Placeholder 2"/>
          <p:cNvSpPr>
            <a:spLocks noGrp="1" noChangeArrowheads="1"/>
          </p:cNvSpPr>
          <p:nvPr>
            <p:ph idx="1"/>
          </p:nvPr>
        </p:nvSpPr>
        <p:spPr>
          <a:xfrm>
            <a:off x="650631" y="1070903"/>
            <a:ext cx="7842738" cy="4804117"/>
          </a:xfrm>
        </p:spPr>
        <p:txBody>
          <a:bodyPr>
            <a:normAutofit/>
          </a:bodyPr>
          <a:lstStyle/>
          <a:p>
            <a:pPr marL="0" lvl="1" indent="0">
              <a:spcBef>
                <a:spcPts val="1200"/>
              </a:spcBef>
              <a:spcAft>
                <a:spcPts val="0"/>
              </a:spcAft>
              <a:buNone/>
            </a:pPr>
            <a:r>
              <a:rPr lang="en-US" sz="2400" dirty="0"/>
              <a:t>Three living genera with 65 diverse species</a:t>
            </a:r>
          </a:p>
          <a:p>
            <a:pPr marL="0" lvl="1" indent="0">
              <a:spcBef>
                <a:spcPts val="1200"/>
              </a:spcBef>
              <a:spcAft>
                <a:spcPts val="0"/>
              </a:spcAft>
              <a:buNone/>
            </a:pPr>
            <a:r>
              <a:rPr lang="en-US" sz="2400" dirty="0"/>
              <a:t>They have similarly structured xylem</a:t>
            </a:r>
          </a:p>
          <a:p>
            <a:pPr marL="0" lvl="1" indent="0">
              <a:spcBef>
                <a:spcPts val="1200"/>
              </a:spcBef>
              <a:spcAft>
                <a:spcPts val="0"/>
              </a:spcAft>
              <a:buNone/>
            </a:pPr>
            <a:r>
              <a:rPr lang="en-US" sz="2400" dirty="0"/>
              <a:t>None have archegonia</a:t>
            </a:r>
          </a:p>
          <a:p>
            <a:pPr marL="0" lvl="1" indent="0">
              <a:spcBef>
                <a:spcPts val="1200"/>
              </a:spcBef>
              <a:spcAft>
                <a:spcPts val="0"/>
              </a:spcAft>
              <a:buNone/>
            </a:pPr>
            <a:r>
              <a:rPr lang="en-US" sz="2400" dirty="0"/>
              <a:t>Strobili have similar construction</a:t>
            </a:r>
          </a:p>
          <a:p>
            <a:pPr marL="358775" lvl="2" indent="-358775">
              <a:spcAft>
                <a:spcPts val="0"/>
              </a:spcAft>
              <a:buFont typeface="Arial" panose="020B0604020202020204" pitchFamily="34" charset="0"/>
              <a:buChar char="•"/>
            </a:pPr>
            <a:r>
              <a:rPr lang="en-US" sz="2200" i="1" dirty="0"/>
              <a:t>Gnetum</a:t>
            </a:r>
            <a:r>
              <a:rPr lang="en-US" sz="2200" dirty="0"/>
              <a:t> consists of trees or climbing vines with broad, leathery leaves arranged in pairs</a:t>
            </a:r>
          </a:p>
          <a:p>
            <a:pPr marL="358775" lvl="2" indent="-358775">
              <a:spcAft>
                <a:spcPts val="0"/>
              </a:spcAft>
              <a:buFont typeface="Arial" panose="020B0604020202020204" pitchFamily="34" charset="0"/>
              <a:buChar char="•"/>
            </a:pPr>
            <a:r>
              <a:rPr lang="en-US" sz="2200" dirty="0"/>
              <a:t>Ephedrine, a medicine with serious side effects, is extracted from </a:t>
            </a:r>
            <a:r>
              <a:rPr lang="en-US" sz="2200" i="1" dirty="0"/>
              <a:t>Ephedra</a:t>
            </a:r>
          </a:p>
          <a:p>
            <a:pPr marL="358775" lvl="2" indent="-358775">
              <a:spcAft>
                <a:spcPts val="0"/>
              </a:spcAft>
              <a:buFont typeface="Arial" panose="020B0604020202020204" pitchFamily="34" charset="0"/>
              <a:buChar char="•"/>
            </a:pPr>
            <a:r>
              <a:rPr lang="en-US" sz="2200" b="0" i="1" u="none" strike="noStrike" baseline="0" dirty="0"/>
              <a:t>Welwitschia, </a:t>
            </a:r>
            <a:r>
              <a:rPr lang="en-US" sz="2200" b="0" i="0" u="none" strike="noStrike" baseline="0" dirty="0"/>
              <a:t>found in southwestern Africa, has only two enormous, straplike leaves that fray as it gets older </a:t>
            </a:r>
            <a:endParaRPr lang="en-US" sz="2200" dirty="0"/>
          </a:p>
        </p:txBody>
      </p:sp>
      <p:sp>
        <p:nvSpPr>
          <p:cNvPr id="4" name="Slide Number Placeholder 3">
            <a:extLst>
              <a:ext uri="{FF2B5EF4-FFF2-40B4-BE49-F238E27FC236}">
                <a16:creationId xmlns:a16="http://schemas.microsoft.com/office/drawing/2014/main" id="{1CAD3EBA-C26A-49C5-97E9-1F64BFFBD976}"/>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74</a:t>
            </a:fld>
            <a:endParaRPr lang="en-IN"/>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noChangeArrowheads="1"/>
          </p:cNvSpPr>
          <p:nvPr>
            <p:ph type="title"/>
          </p:nvPr>
        </p:nvSpPr>
        <p:spPr>
          <a:xfrm>
            <a:off x="457200" y="195215"/>
            <a:ext cx="8229600" cy="752571"/>
          </a:xfrm>
        </p:spPr>
        <p:txBody>
          <a:bodyPr/>
          <a:lstStyle/>
          <a:p>
            <a:r>
              <a:rPr lang="en-US" altLang="en-US" i="1" dirty="0"/>
              <a:t>Ephedra</a:t>
            </a:r>
            <a:r>
              <a:rPr lang="en-US" altLang="en-US" dirty="0"/>
              <a:t>, a Type of Gnetophyte</a:t>
            </a:r>
          </a:p>
        </p:txBody>
      </p:sp>
      <p:pic>
        <p:nvPicPr>
          <p:cNvPr id="5" name="Picture 2" descr="This example is a branched shrub with small, scale-like leaves. Pollen is produced in microsporangia."/>
          <p:cNvPicPr>
            <a:picLocks noChangeAspect="1" noChangeArrowheads="1"/>
          </p:cNvPicPr>
          <p:nvPr/>
        </p:nvPicPr>
        <p:blipFill rotWithShape="1">
          <a:blip r:embed="rId3">
            <a:extLst>
              <a:ext uri="{28A0092B-C50C-407E-A947-70E740481C1C}">
                <a14:useLocalDpi xmlns:a14="http://schemas.microsoft.com/office/drawing/2010/main" val="0"/>
              </a:ext>
            </a:extLst>
          </a:blip>
          <a:srcRect t="4832" b="10826"/>
          <a:stretch/>
        </p:blipFill>
        <p:spPr bwMode="auto">
          <a:xfrm>
            <a:off x="492125" y="933270"/>
            <a:ext cx="8159750" cy="4177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5C28473F-F446-429F-B431-9A6D8FF4D0B2}"/>
              </a:ext>
            </a:extLst>
          </p:cNvPr>
          <p:cNvSpPr>
            <a:spLocks noGrp="1"/>
          </p:cNvSpPr>
          <p:nvPr>
            <p:ph sz="quarter" idx="4294967295"/>
          </p:nvPr>
        </p:nvSpPr>
        <p:spPr>
          <a:xfrm>
            <a:off x="615130" y="5143447"/>
            <a:ext cx="2482400" cy="257775"/>
          </a:xfrm>
        </p:spPr>
        <p:txBody>
          <a:bodyPr>
            <a:normAutofit lnSpcReduction="10000"/>
          </a:bodyPr>
          <a:lstStyle/>
          <a:p>
            <a:pPr marL="228600" indent="-228600">
              <a:buFont typeface="+mj-lt"/>
              <a:buAutoNum type="alphaLcPeriod" startAt="3"/>
            </a:pPr>
            <a:r>
              <a:rPr lang="en-US" sz="1200" i="1" dirty="0">
                <a:latin typeface="+mn-lt"/>
              </a:rPr>
              <a:t>Ephedra</a:t>
            </a:r>
            <a:r>
              <a:rPr lang="en-US" sz="1200" dirty="0">
                <a:latin typeface="+mn-lt"/>
              </a:rPr>
              <a:t>, a type of gnetophyte</a:t>
            </a:r>
          </a:p>
        </p:txBody>
      </p:sp>
      <p:sp>
        <p:nvSpPr>
          <p:cNvPr id="7" name="TextBox 4">
            <a:extLst>
              <a:ext uri="{FF2B5EF4-FFF2-40B4-BE49-F238E27FC236}">
                <a16:creationId xmlns:a16="http://schemas.microsoft.com/office/drawing/2014/main" id="{C640FC02-F135-46A8-A026-1502F985D84D}"/>
              </a:ext>
            </a:extLst>
          </p:cNvPr>
          <p:cNvSpPr txBox="1"/>
          <p:nvPr/>
        </p:nvSpPr>
        <p:spPr>
          <a:xfrm>
            <a:off x="3843865" y="5645094"/>
            <a:ext cx="1456267" cy="261610"/>
          </a:xfrm>
          <a:prstGeom prst="rect">
            <a:avLst/>
          </a:prstGeom>
          <a:noFill/>
        </p:spPr>
        <p:txBody>
          <a:bodyPr wrap="square" rtlCol="0">
            <a:spAutoFit/>
          </a:bodyPr>
          <a:lstStyle/>
          <a:p>
            <a:pPr algn="ctr"/>
            <a:r>
              <a:rPr lang="en-US" sz="1100" dirty="0"/>
              <a:t>Figure 23.19</a:t>
            </a:r>
          </a:p>
        </p:txBody>
      </p:sp>
      <p:sp>
        <p:nvSpPr>
          <p:cNvPr id="3" name="Content Placeholder 5">
            <a:extLst>
              <a:ext uri="{FF2B5EF4-FFF2-40B4-BE49-F238E27FC236}">
                <a16:creationId xmlns:a16="http://schemas.microsoft.com/office/drawing/2014/main" id="{1DC11586-6851-4F72-8BF8-46C9C34C8981}"/>
              </a:ext>
            </a:extLst>
          </p:cNvPr>
          <p:cNvSpPr>
            <a:spLocks noGrp="1"/>
          </p:cNvSpPr>
          <p:nvPr>
            <p:ph sz="quarter" idx="4294967295"/>
          </p:nvPr>
        </p:nvSpPr>
        <p:spPr>
          <a:xfrm>
            <a:off x="4865198" y="6553467"/>
            <a:ext cx="3784636" cy="212130"/>
          </a:xfrm>
        </p:spPr>
        <p:txBody>
          <a:bodyPr>
            <a:noAutofit/>
          </a:bodyPr>
          <a:lstStyle/>
          <a:p>
            <a:pPr marL="0" indent="0" algn="r">
              <a:buNone/>
            </a:pPr>
            <a:r>
              <a:rPr lang="en-US" sz="800" dirty="0">
                <a:latin typeface="+mn-lt"/>
              </a:rPr>
              <a:t>(c): (plant): Evelyn Jo Johnson/McGraw-Hill; (microsporangia): Karl J. Niklas</a:t>
            </a:r>
          </a:p>
        </p:txBody>
      </p:sp>
      <p:sp>
        <p:nvSpPr>
          <p:cNvPr id="8" name="Slide Number Placeholder 6">
            <a:extLst>
              <a:ext uri="{FF2B5EF4-FFF2-40B4-BE49-F238E27FC236}">
                <a16:creationId xmlns:a16="http://schemas.microsoft.com/office/drawing/2014/main" id="{3C1FB59E-C92F-452B-ADC6-18AC59AFDCD6}"/>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75</a:t>
            </a:fld>
            <a:endParaRPr lang="en-IN"/>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noChangeArrowheads="1"/>
          </p:cNvSpPr>
          <p:nvPr>
            <p:ph type="title"/>
          </p:nvPr>
        </p:nvSpPr>
        <p:spPr>
          <a:xfrm>
            <a:off x="342894" y="16406"/>
            <a:ext cx="8458200" cy="1116726"/>
          </a:xfrm>
        </p:spPr>
        <p:txBody>
          <a:bodyPr>
            <a:noAutofit/>
          </a:bodyPr>
          <a:lstStyle/>
          <a:p>
            <a:r>
              <a:rPr lang="en-US" altLang="en-US" i="1" dirty="0"/>
              <a:t>Welwitschia</a:t>
            </a:r>
            <a:r>
              <a:rPr lang="en-US" altLang="en-US" dirty="0"/>
              <a:t>, a Type of Gnetophyte</a:t>
            </a:r>
          </a:p>
        </p:txBody>
      </p:sp>
      <p:pic>
        <p:nvPicPr>
          <p:cNvPr id="5" name="Picture 2" descr="This example produces 2 straplike leaves that fray and split."/>
          <p:cNvPicPr>
            <a:picLocks noChangeAspect="1" noChangeArrowheads="1"/>
          </p:cNvPicPr>
          <p:nvPr/>
        </p:nvPicPr>
        <p:blipFill rotWithShape="1">
          <a:blip r:embed="rId3">
            <a:extLst>
              <a:ext uri="{28A0092B-C50C-407E-A947-70E740481C1C}">
                <a14:useLocalDpi xmlns:a14="http://schemas.microsoft.com/office/drawing/2010/main" val="0"/>
              </a:ext>
            </a:extLst>
          </a:blip>
          <a:srcRect t="4666" b="10431"/>
          <a:stretch/>
        </p:blipFill>
        <p:spPr bwMode="auto">
          <a:xfrm>
            <a:off x="1173157" y="1251645"/>
            <a:ext cx="6797675" cy="412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BFC02D3A-7972-4989-B51E-366362050851}"/>
              </a:ext>
            </a:extLst>
          </p:cNvPr>
          <p:cNvSpPr>
            <a:spLocks noGrp="1"/>
          </p:cNvSpPr>
          <p:nvPr>
            <p:ph sz="quarter" idx="4294967295"/>
          </p:nvPr>
        </p:nvSpPr>
        <p:spPr>
          <a:xfrm>
            <a:off x="1382573" y="5446297"/>
            <a:ext cx="3677540" cy="278365"/>
          </a:xfrm>
        </p:spPr>
        <p:txBody>
          <a:bodyPr>
            <a:normAutofit fontScale="85000" lnSpcReduction="20000"/>
          </a:bodyPr>
          <a:lstStyle/>
          <a:p>
            <a:pPr marL="168275" indent="-168275">
              <a:buFont typeface="+mj-lt"/>
              <a:buAutoNum type="alphaLcPeriod" startAt="4"/>
            </a:pPr>
            <a:r>
              <a:rPr lang="en-US" sz="1620" dirty="0">
                <a:latin typeface="+mn-lt"/>
              </a:rPr>
              <a:t> </a:t>
            </a:r>
            <a:r>
              <a:rPr lang="en-US" sz="1620" i="1" dirty="0">
                <a:latin typeface="+mn-lt"/>
              </a:rPr>
              <a:t>Welwitschia</a:t>
            </a:r>
            <a:r>
              <a:rPr lang="en-US" sz="1620" dirty="0">
                <a:latin typeface="+mn-lt"/>
              </a:rPr>
              <a:t>, a type of gnetophyte</a:t>
            </a:r>
          </a:p>
        </p:txBody>
      </p:sp>
      <p:sp>
        <p:nvSpPr>
          <p:cNvPr id="7" name="TextBox 4">
            <a:extLst>
              <a:ext uri="{FF2B5EF4-FFF2-40B4-BE49-F238E27FC236}">
                <a16:creationId xmlns:a16="http://schemas.microsoft.com/office/drawing/2014/main" id="{A6D69722-17D6-426A-84E9-6C4782AD48FA}"/>
              </a:ext>
            </a:extLst>
          </p:cNvPr>
          <p:cNvSpPr txBox="1"/>
          <p:nvPr/>
        </p:nvSpPr>
        <p:spPr>
          <a:xfrm>
            <a:off x="3843862" y="5910268"/>
            <a:ext cx="1456267" cy="276999"/>
          </a:xfrm>
          <a:prstGeom prst="rect">
            <a:avLst/>
          </a:prstGeom>
          <a:noFill/>
        </p:spPr>
        <p:txBody>
          <a:bodyPr wrap="square" rtlCol="0">
            <a:spAutoFit/>
          </a:bodyPr>
          <a:lstStyle/>
          <a:p>
            <a:pPr algn="ctr"/>
            <a:r>
              <a:rPr lang="en-US" sz="1200" dirty="0"/>
              <a:t>Figure 23.19</a:t>
            </a:r>
          </a:p>
        </p:txBody>
      </p:sp>
      <p:sp>
        <p:nvSpPr>
          <p:cNvPr id="3" name="Content Placeholder 5">
            <a:extLst>
              <a:ext uri="{FF2B5EF4-FFF2-40B4-BE49-F238E27FC236}">
                <a16:creationId xmlns:a16="http://schemas.microsoft.com/office/drawing/2014/main" id="{93E6AC83-2224-40B0-902C-7EEBDF12C754}"/>
              </a:ext>
            </a:extLst>
          </p:cNvPr>
          <p:cNvSpPr>
            <a:spLocks noGrp="1"/>
          </p:cNvSpPr>
          <p:nvPr>
            <p:ph sz="quarter" idx="4294967295"/>
          </p:nvPr>
        </p:nvSpPr>
        <p:spPr>
          <a:xfrm>
            <a:off x="6283321" y="6563554"/>
            <a:ext cx="2196260" cy="203056"/>
          </a:xfrm>
        </p:spPr>
        <p:txBody>
          <a:bodyPr anchor="ctr">
            <a:normAutofit lnSpcReduction="10000"/>
          </a:bodyPr>
          <a:lstStyle/>
          <a:p>
            <a:pPr marL="0" indent="0" algn="r">
              <a:buNone/>
            </a:pPr>
            <a:r>
              <a:rPr lang="en-US" sz="800" dirty="0">
                <a:latin typeface="+mn-lt"/>
              </a:rPr>
              <a:t>(d): </a:t>
            </a:r>
            <a:r>
              <a:rPr lang="en-US" sz="800" dirty="0" err="1">
                <a:latin typeface="+mn-lt"/>
              </a:rPr>
              <a:t>TravelMuse</a:t>
            </a:r>
            <a:r>
              <a:rPr lang="en-US" sz="800" dirty="0">
                <a:latin typeface="+mn-lt"/>
              </a:rPr>
              <a:t>/</a:t>
            </a:r>
            <a:r>
              <a:rPr lang="en-US" sz="800" dirty="0" err="1">
                <a:latin typeface="+mn-lt"/>
              </a:rPr>
              <a:t>Alamy</a:t>
            </a:r>
            <a:r>
              <a:rPr lang="en-US" sz="800" dirty="0">
                <a:latin typeface="+mn-lt"/>
              </a:rPr>
              <a:t> Stock Photo</a:t>
            </a:r>
          </a:p>
        </p:txBody>
      </p:sp>
      <p:sp>
        <p:nvSpPr>
          <p:cNvPr id="8" name="Slide Number Placeholder 6">
            <a:extLst>
              <a:ext uri="{FF2B5EF4-FFF2-40B4-BE49-F238E27FC236}">
                <a16:creationId xmlns:a16="http://schemas.microsoft.com/office/drawing/2014/main" id="{967A31E9-2721-4668-A0D8-009038B57C4B}"/>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76</a:t>
            </a:fld>
            <a:endParaRPr lang="en-IN"/>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a:xfrm>
            <a:off x="342900" y="0"/>
            <a:ext cx="8458200" cy="822057"/>
          </a:xfrm>
        </p:spPr>
        <p:txBody>
          <a:bodyPr/>
          <a:lstStyle/>
          <a:p>
            <a:r>
              <a:rPr lang="en-US" altLang="en-US" dirty="0"/>
              <a:t>Angiosperms</a:t>
            </a:r>
          </a:p>
        </p:txBody>
      </p:sp>
      <p:sp>
        <p:nvSpPr>
          <p:cNvPr id="50179" name="Content Placeholder 2"/>
          <p:cNvSpPr>
            <a:spLocks noGrp="1" noChangeArrowheads="1"/>
          </p:cNvSpPr>
          <p:nvPr>
            <p:ph idx="1"/>
          </p:nvPr>
        </p:nvSpPr>
        <p:spPr>
          <a:xfrm>
            <a:off x="1" y="1139101"/>
            <a:ext cx="8864300" cy="5434028"/>
          </a:xfrm>
        </p:spPr>
        <p:txBody>
          <a:bodyPr>
            <a:noAutofit/>
          </a:bodyPr>
          <a:lstStyle/>
          <a:p>
            <a:pPr marL="400050" lvl="2" indent="0">
              <a:spcBef>
                <a:spcPts val="0"/>
              </a:spcBef>
              <a:spcAft>
                <a:spcPts val="1200"/>
              </a:spcAft>
              <a:buNone/>
            </a:pPr>
            <a:r>
              <a:rPr lang="en-US" sz="2400" dirty="0"/>
              <a:t>Flowering plants</a:t>
            </a:r>
          </a:p>
          <a:p>
            <a:pPr marL="400050" lvl="2" indent="0">
              <a:spcBef>
                <a:spcPts val="0"/>
              </a:spcBef>
              <a:spcAft>
                <a:spcPts val="1200"/>
              </a:spcAft>
              <a:buNone/>
            </a:pPr>
            <a:r>
              <a:rPr lang="en-US" sz="2400" b="0" i="0" u="none" strike="noStrike" baseline="0" dirty="0"/>
              <a:t>Called angiosperms because their ovules are always enclosed within diploid tissues</a:t>
            </a:r>
            <a:endParaRPr lang="en-US" sz="2400" dirty="0"/>
          </a:p>
          <a:p>
            <a:pPr marL="400050" lvl="2" indent="0">
              <a:spcBef>
                <a:spcPts val="0"/>
              </a:spcBef>
              <a:spcAft>
                <a:spcPts val="1200"/>
              </a:spcAft>
              <a:buNone/>
            </a:pPr>
            <a:r>
              <a:rPr lang="en-US" sz="2400" dirty="0"/>
              <a:t>Exceptionally large and successful group of plants</a:t>
            </a:r>
          </a:p>
          <a:p>
            <a:pPr marL="717550" lvl="3" indent="-266700">
              <a:spcBef>
                <a:spcPts val="0"/>
              </a:spcBef>
              <a:spcAft>
                <a:spcPts val="1200"/>
              </a:spcAft>
              <a:buFont typeface="Arial" panose="020B0604020202020204" pitchFamily="34" charset="0"/>
              <a:buChar char="•"/>
            </a:pPr>
            <a:r>
              <a:rPr lang="en-US" sz="2200" dirty="0"/>
              <a:t>352,000 known species</a:t>
            </a:r>
          </a:p>
          <a:p>
            <a:pPr marL="400050" lvl="2" indent="0">
              <a:spcBef>
                <a:spcPts val="0"/>
              </a:spcBef>
              <a:spcAft>
                <a:spcPts val="1200"/>
              </a:spcAft>
              <a:buNone/>
            </a:pPr>
            <a:r>
              <a:rPr lang="en-US" sz="2400" dirty="0"/>
              <a:t>Range in size from tiny duckweed to </a:t>
            </a:r>
            <a:r>
              <a:rPr lang="en-US" sz="2400" i="1" dirty="0"/>
              <a:t>Eucalyptus</a:t>
            </a:r>
            <a:r>
              <a:rPr lang="en-US" sz="2400" dirty="0"/>
              <a:t>, over   100 m tall</a:t>
            </a:r>
          </a:p>
          <a:p>
            <a:pPr marL="400050" lvl="2" indent="0">
              <a:spcBef>
                <a:spcPts val="0"/>
              </a:spcBef>
              <a:spcAft>
                <a:spcPts val="1200"/>
              </a:spcAft>
              <a:buNone/>
            </a:pPr>
            <a:r>
              <a:rPr lang="en-US" sz="2400" b="0" i="0" u="none" strike="noStrike" baseline="0" dirty="0"/>
              <a:t>All fruits, vegetables, nuts, herbs, and grains, which are the staples of the human diet, are angiosperms </a:t>
            </a:r>
          </a:p>
          <a:p>
            <a:pPr marL="400050" lvl="2" indent="0">
              <a:spcBef>
                <a:spcPts val="0"/>
              </a:spcBef>
              <a:spcAft>
                <a:spcPts val="1200"/>
              </a:spcAft>
              <a:buNone/>
            </a:pPr>
            <a:r>
              <a:rPr lang="en-US" sz="2400" dirty="0"/>
              <a:t>P</a:t>
            </a:r>
            <a:r>
              <a:rPr lang="en-US" sz="2400" b="0" i="0" u="none" strike="noStrike" baseline="0" dirty="0"/>
              <a:t>rovide us with clothing, food, medicines, and other commercially valuable products</a:t>
            </a:r>
            <a:endParaRPr lang="en-US" sz="2400" dirty="0"/>
          </a:p>
        </p:txBody>
      </p:sp>
      <p:sp>
        <p:nvSpPr>
          <p:cNvPr id="4" name="Slide Number Placeholder 3">
            <a:extLst>
              <a:ext uri="{FF2B5EF4-FFF2-40B4-BE49-F238E27FC236}">
                <a16:creationId xmlns:a16="http://schemas.microsoft.com/office/drawing/2014/main" id="{9299EC97-7DB7-4770-B21B-BA17D2E2C9C9}"/>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77</a:t>
            </a:fld>
            <a:endParaRPr lang="en-IN"/>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noChangeArrowheads="1"/>
          </p:cNvSpPr>
          <p:nvPr>
            <p:ph type="title"/>
          </p:nvPr>
        </p:nvSpPr>
        <p:spPr>
          <a:xfrm>
            <a:off x="295422" y="0"/>
            <a:ext cx="8391378" cy="818147"/>
          </a:xfrm>
        </p:spPr>
        <p:txBody>
          <a:bodyPr/>
          <a:lstStyle/>
          <a:p>
            <a:r>
              <a:rPr lang="en-US" altLang="en-US" sz="3600" dirty="0"/>
              <a:t>Origin and Radiation of Angiosperms</a:t>
            </a:r>
          </a:p>
        </p:txBody>
      </p:sp>
      <p:sp>
        <p:nvSpPr>
          <p:cNvPr id="50179" name="Content Placeholder 2"/>
          <p:cNvSpPr>
            <a:spLocks noGrp="1" noChangeArrowheads="1"/>
          </p:cNvSpPr>
          <p:nvPr>
            <p:ph idx="1"/>
          </p:nvPr>
        </p:nvSpPr>
        <p:spPr>
          <a:xfrm>
            <a:off x="158262" y="818147"/>
            <a:ext cx="8665698" cy="5666048"/>
          </a:xfrm>
        </p:spPr>
        <p:txBody>
          <a:bodyPr>
            <a:noAutofit/>
          </a:bodyPr>
          <a:lstStyle/>
          <a:p>
            <a:pPr algn="l">
              <a:spcBef>
                <a:spcPts val="600"/>
              </a:spcBef>
            </a:pPr>
            <a:r>
              <a:rPr lang="en-US" sz="2400" b="0" i="0" u="none" strike="noStrike" baseline="0" dirty="0"/>
              <a:t>Until recently, the earliest known angiosperm fossil was </a:t>
            </a:r>
            <a:r>
              <a:rPr lang="en-US" sz="2400" b="0" i="1" u="none" strike="noStrike" baseline="0" dirty="0" err="1"/>
              <a:t>Archaefructus</a:t>
            </a:r>
            <a:r>
              <a:rPr lang="en-US" sz="2400" b="0" i="1" u="none" strike="noStrike" baseline="0" dirty="0"/>
              <a:t> </a:t>
            </a:r>
            <a:r>
              <a:rPr lang="en-US" sz="2400" b="0" i="1" u="none" strike="noStrike" baseline="0" dirty="0" err="1"/>
              <a:t>liaoningensis</a:t>
            </a:r>
            <a:endParaRPr lang="en-US" sz="2400" i="1" dirty="0"/>
          </a:p>
          <a:p>
            <a:pPr lvl="1">
              <a:spcBef>
                <a:spcPts val="600"/>
              </a:spcBef>
              <a:spcAft>
                <a:spcPts val="0"/>
              </a:spcAft>
              <a:buFont typeface="Arial" panose="020B0604020202020204" pitchFamily="34" charset="0"/>
              <a:buChar char="•"/>
            </a:pPr>
            <a:r>
              <a:rPr lang="en-US" sz="2200" dirty="0"/>
              <a:t>D</a:t>
            </a:r>
            <a:r>
              <a:rPr lang="en-US" sz="2200" b="0" i="0" u="none" strike="noStrike" baseline="0" dirty="0"/>
              <a:t>ates back 135 million years to the Jurassic</a:t>
            </a:r>
          </a:p>
          <a:p>
            <a:pPr lvl="1">
              <a:spcBef>
                <a:spcPts val="600"/>
              </a:spcBef>
              <a:spcAft>
                <a:spcPts val="0"/>
              </a:spcAft>
              <a:buFont typeface="Arial" panose="020B0604020202020204" pitchFamily="34" charset="0"/>
              <a:buChar char="•"/>
            </a:pPr>
            <a:r>
              <a:rPr lang="en-US" sz="2200" b="0" i="1" u="none" strike="noStrike" baseline="0" dirty="0" err="1"/>
              <a:t>Archaefructus</a:t>
            </a:r>
            <a:r>
              <a:rPr lang="en-US" sz="2200" b="0" i="0" u="none" strike="noStrike" baseline="0" dirty="0"/>
              <a:t> fossil has fruit and flowers</a:t>
            </a:r>
          </a:p>
          <a:p>
            <a:pPr>
              <a:spcBef>
                <a:spcPts val="600"/>
              </a:spcBef>
            </a:pPr>
            <a:r>
              <a:rPr lang="en-US" sz="2400" dirty="0"/>
              <a:t>P</a:t>
            </a:r>
            <a:r>
              <a:rPr lang="en-US" sz="2400" b="0" i="0" u="none" strike="noStrike" baseline="0" dirty="0"/>
              <a:t>ollen can be used to date the appearance of a seed plant in an area</a:t>
            </a:r>
          </a:p>
          <a:p>
            <a:pPr lvl="1">
              <a:spcBef>
                <a:spcPts val="600"/>
              </a:spcBef>
              <a:buFont typeface="Arial" panose="020B0604020202020204" pitchFamily="34" charset="0"/>
              <a:buChar char="•"/>
            </a:pPr>
            <a:r>
              <a:rPr lang="en-US" sz="2200" b="0" i="0" u="none" strike="noStrike" baseline="0" dirty="0"/>
              <a:t>Paleobotanists working in Switzerland discovered 240-million-year-old fossilized pollen from the Triassic</a:t>
            </a:r>
            <a:endParaRPr lang="en-US" sz="2200" dirty="0"/>
          </a:p>
          <a:p>
            <a:pPr>
              <a:spcBef>
                <a:spcPts val="600"/>
              </a:spcBef>
            </a:pPr>
            <a:r>
              <a:rPr lang="en-US" sz="2400" dirty="0"/>
              <a:t>L</a:t>
            </a:r>
            <a:r>
              <a:rPr lang="en-US" sz="2400" b="0" i="0" u="none" strike="noStrike" baseline="0" dirty="0"/>
              <a:t>iving angiosperm of today that might be most closely related to the first angiosperms is </a:t>
            </a:r>
            <a:r>
              <a:rPr lang="en-US" sz="2400" b="0" i="1" u="none" strike="noStrike" baseline="0" dirty="0" err="1"/>
              <a:t>Amborella</a:t>
            </a:r>
            <a:r>
              <a:rPr lang="en-US" sz="2400" b="0" i="1" u="none" strike="noStrike" baseline="0" dirty="0"/>
              <a:t> </a:t>
            </a:r>
          </a:p>
          <a:p>
            <a:pPr lvl="1">
              <a:spcBef>
                <a:spcPts val="600"/>
              </a:spcBef>
              <a:spcAft>
                <a:spcPts val="0"/>
              </a:spcAft>
              <a:buFont typeface="Arial" panose="020B0604020202020204" pitchFamily="34" charset="0"/>
              <a:buChar char="•"/>
            </a:pPr>
            <a:r>
              <a:rPr lang="en-US" sz="2200" dirty="0"/>
              <a:t>L</a:t>
            </a:r>
            <a:r>
              <a:rPr lang="en-US" sz="2200" b="0" i="0" u="none" strike="noStrike" baseline="0" dirty="0"/>
              <a:t>ives only on the island of New Caledonia in the South Pacific</a:t>
            </a:r>
          </a:p>
          <a:p>
            <a:pPr lvl="1">
              <a:spcBef>
                <a:spcPts val="600"/>
              </a:spcBef>
              <a:spcAft>
                <a:spcPts val="0"/>
              </a:spcAft>
              <a:buFont typeface="Arial" panose="020B0604020202020204" pitchFamily="34" charset="0"/>
              <a:buChar char="•"/>
            </a:pPr>
            <a:r>
              <a:rPr lang="en-US" sz="2200" dirty="0"/>
              <a:t>Botanists hope that </a:t>
            </a:r>
            <a:r>
              <a:rPr lang="en-US" sz="2200" b="0" i="0" u="none" strike="noStrike" baseline="0" dirty="0"/>
              <a:t>much may be learned about the early adaptive radiation of angiosperms during the Tertiary period</a:t>
            </a:r>
            <a:endParaRPr lang="en-US" sz="2200" b="0" i="0" u="none" strike="noStrike" baseline="0" dirty="0">
              <a:solidFill>
                <a:srgbClr val="000000"/>
              </a:solidFill>
            </a:endParaRPr>
          </a:p>
        </p:txBody>
      </p:sp>
      <p:sp>
        <p:nvSpPr>
          <p:cNvPr id="4" name="Slide Number Placeholder 3">
            <a:extLst>
              <a:ext uri="{FF2B5EF4-FFF2-40B4-BE49-F238E27FC236}">
                <a16:creationId xmlns:a16="http://schemas.microsoft.com/office/drawing/2014/main" id="{349B1D7A-F0FD-430A-9668-3C06DEB17564}"/>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78</a:t>
            </a:fld>
            <a:endParaRPr lang="en-IN"/>
          </a:p>
        </p:txBody>
      </p:sp>
    </p:spTree>
    <p:extLst>
      <p:ext uri="{BB962C8B-B14F-4D97-AF65-F5344CB8AC3E}">
        <p14:creationId xmlns:p14="http://schemas.microsoft.com/office/powerpoint/2010/main" val="1048956245"/>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noChangeArrowheads="1"/>
          </p:cNvSpPr>
          <p:nvPr>
            <p:ph type="title"/>
          </p:nvPr>
        </p:nvSpPr>
        <p:spPr>
          <a:xfrm>
            <a:off x="342900" y="0"/>
            <a:ext cx="8458200" cy="935604"/>
          </a:xfrm>
        </p:spPr>
        <p:txBody>
          <a:bodyPr>
            <a:normAutofit fontScale="90000"/>
          </a:bodyPr>
          <a:lstStyle/>
          <a:p>
            <a:r>
              <a:rPr lang="en-US" altLang="en-US" dirty="0"/>
              <a:t>Evolution of Flowering Plants: </a:t>
            </a:r>
            <a:r>
              <a:rPr lang="en-US" altLang="en-US" i="1" dirty="0"/>
              <a:t>Amborella trichopoda</a:t>
            </a:r>
          </a:p>
        </p:txBody>
      </p:sp>
      <p:pic>
        <p:nvPicPr>
          <p:cNvPr id="5" name="Picture 2" descr="Close-up of a plant shows small, creamy white flowers arranged in inflorescence borne in the axils of foliage leaves."/>
          <p:cNvPicPr>
            <a:picLocks noChangeAspect="1" noChangeArrowheads="1"/>
          </p:cNvPicPr>
          <p:nvPr/>
        </p:nvPicPr>
        <p:blipFill rotWithShape="1">
          <a:blip r:embed="rId3">
            <a:extLst>
              <a:ext uri="{28A0092B-C50C-407E-A947-70E740481C1C}">
                <a14:useLocalDpi xmlns:a14="http://schemas.microsoft.com/office/drawing/2010/main" val="0"/>
              </a:ext>
            </a:extLst>
          </a:blip>
          <a:srcRect t="3261" b="8136"/>
          <a:stretch/>
        </p:blipFill>
        <p:spPr bwMode="auto">
          <a:xfrm>
            <a:off x="1761536" y="1008181"/>
            <a:ext cx="5622925" cy="4347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3">
            <a:extLst>
              <a:ext uri="{FF2B5EF4-FFF2-40B4-BE49-F238E27FC236}">
                <a16:creationId xmlns:a16="http://schemas.microsoft.com/office/drawing/2014/main" id="{E95B46F1-6D4B-42C7-92F1-3B440931DFA3}"/>
              </a:ext>
            </a:extLst>
          </p:cNvPr>
          <p:cNvSpPr>
            <a:spLocks noGrp="1"/>
          </p:cNvSpPr>
          <p:nvPr>
            <p:ph sz="quarter" idx="4294967295"/>
          </p:nvPr>
        </p:nvSpPr>
        <p:spPr>
          <a:xfrm>
            <a:off x="1952591" y="5428456"/>
            <a:ext cx="2360781" cy="264374"/>
          </a:xfrm>
        </p:spPr>
        <p:txBody>
          <a:bodyPr anchor="ctr">
            <a:normAutofit fontScale="92500" lnSpcReduction="10000"/>
          </a:bodyPr>
          <a:lstStyle/>
          <a:p>
            <a:pPr marL="0" indent="0">
              <a:buFont typeface="+mj-lt"/>
              <a:buAutoNum type="alphaLcPeriod" startAt="2"/>
            </a:pPr>
            <a:r>
              <a:rPr lang="en-US" sz="1340" dirty="0">
                <a:latin typeface="+mn-lt"/>
              </a:rPr>
              <a:t> </a:t>
            </a:r>
            <a:r>
              <a:rPr lang="en-US" sz="1340" i="1" dirty="0">
                <a:latin typeface="+mn-lt"/>
              </a:rPr>
              <a:t>Amborella trichopoda</a:t>
            </a:r>
          </a:p>
        </p:txBody>
      </p:sp>
      <p:sp>
        <p:nvSpPr>
          <p:cNvPr id="7" name="TextBox 4">
            <a:extLst>
              <a:ext uri="{FF2B5EF4-FFF2-40B4-BE49-F238E27FC236}">
                <a16:creationId xmlns:a16="http://schemas.microsoft.com/office/drawing/2014/main" id="{9E6BDEE9-E572-4277-B588-7F860C434A49}"/>
              </a:ext>
            </a:extLst>
          </p:cNvPr>
          <p:cNvSpPr txBox="1"/>
          <p:nvPr/>
        </p:nvSpPr>
        <p:spPr>
          <a:xfrm>
            <a:off x="3843866" y="5829422"/>
            <a:ext cx="1456267" cy="276999"/>
          </a:xfrm>
          <a:prstGeom prst="rect">
            <a:avLst/>
          </a:prstGeom>
          <a:noFill/>
        </p:spPr>
        <p:txBody>
          <a:bodyPr wrap="square" rtlCol="0">
            <a:spAutoFit/>
          </a:bodyPr>
          <a:lstStyle/>
          <a:p>
            <a:pPr algn="ctr"/>
            <a:r>
              <a:rPr lang="en-US" sz="1200" dirty="0"/>
              <a:t>Figure 23.20</a:t>
            </a:r>
          </a:p>
        </p:txBody>
      </p:sp>
      <p:sp>
        <p:nvSpPr>
          <p:cNvPr id="3" name="Content Placeholder 6">
            <a:extLst>
              <a:ext uri="{FF2B5EF4-FFF2-40B4-BE49-F238E27FC236}">
                <a16:creationId xmlns:a16="http://schemas.microsoft.com/office/drawing/2014/main" id="{06D00E71-53D9-413E-A931-7674C51428F0}"/>
              </a:ext>
            </a:extLst>
          </p:cNvPr>
          <p:cNvSpPr>
            <a:spLocks noGrp="1"/>
          </p:cNvSpPr>
          <p:nvPr>
            <p:ph sz="quarter" idx="4294967295"/>
          </p:nvPr>
        </p:nvSpPr>
        <p:spPr>
          <a:xfrm>
            <a:off x="6805881" y="6534766"/>
            <a:ext cx="1673700" cy="257774"/>
          </a:xfrm>
        </p:spPr>
        <p:txBody>
          <a:bodyPr anchor="ctr">
            <a:noAutofit/>
          </a:bodyPr>
          <a:lstStyle/>
          <a:p>
            <a:pPr marL="0" indent="0" algn="r">
              <a:buNone/>
            </a:pPr>
            <a:r>
              <a:rPr lang="en-US" sz="800" dirty="0">
                <a:latin typeface="+mn-lt"/>
              </a:rPr>
              <a:t>(b): Stephen McCabe</a:t>
            </a:r>
          </a:p>
        </p:txBody>
      </p:sp>
      <p:sp>
        <p:nvSpPr>
          <p:cNvPr id="8" name="Slide Number Placeholder 7">
            <a:extLst>
              <a:ext uri="{FF2B5EF4-FFF2-40B4-BE49-F238E27FC236}">
                <a16:creationId xmlns:a16="http://schemas.microsoft.com/office/drawing/2014/main" id="{01B1953F-B22D-4ABF-91FE-3E0AD8B294BF}"/>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79</a:t>
            </a:fld>
            <a:endParaRPr lang="en-IN"/>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p:cNvSpPr>
            <a:spLocks noGrp="1" noChangeArrowheads="1"/>
          </p:cNvSpPr>
          <p:nvPr>
            <p:ph type="title"/>
          </p:nvPr>
        </p:nvSpPr>
        <p:spPr/>
        <p:txBody>
          <a:bodyPr/>
          <a:lstStyle/>
          <a:p>
            <a:r>
              <a:rPr lang="en-US" altLang="en-US" sz="3600" dirty="0"/>
              <a:t>Monocots and Eudicots</a:t>
            </a:r>
          </a:p>
        </p:txBody>
      </p:sp>
      <p:sp>
        <p:nvSpPr>
          <p:cNvPr id="52227" name="Content Plaveholder 2"/>
          <p:cNvSpPr>
            <a:spLocks noGrp="1" noChangeArrowheads="1"/>
          </p:cNvSpPr>
          <p:nvPr>
            <p:ph idx="1"/>
          </p:nvPr>
        </p:nvSpPr>
        <p:spPr>
          <a:xfrm>
            <a:off x="620976" y="1143000"/>
            <a:ext cx="7902048" cy="5332583"/>
          </a:xfrm>
        </p:spPr>
        <p:txBody>
          <a:bodyPr>
            <a:normAutofit/>
          </a:bodyPr>
          <a:lstStyle/>
          <a:p>
            <a:pPr algn="just">
              <a:spcAft>
                <a:spcPts val="0"/>
              </a:spcAft>
            </a:pPr>
            <a:r>
              <a:rPr lang="en-US" sz="2400" b="0" i="0" u="none" strike="noStrike" baseline="0" dirty="0"/>
              <a:t>Most flowering plants belong to one of two classes: </a:t>
            </a:r>
          </a:p>
          <a:p>
            <a:pPr lvl="1" algn="just">
              <a:spcAft>
                <a:spcPts val="0"/>
              </a:spcAft>
              <a:buFont typeface="Arial" panose="020B0604020202020204" pitchFamily="34" charset="0"/>
              <a:buChar char="•"/>
            </a:pPr>
            <a:r>
              <a:rPr lang="en-US" sz="2200" b="0" i="1" u="none" strike="noStrike" baseline="0" dirty="0" err="1"/>
              <a:t>Monocotyledones</a:t>
            </a:r>
            <a:r>
              <a:rPr lang="en-US" sz="2200" b="0" i="1" u="none" strike="noStrike" baseline="0" dirty="0"/>
              <a:t> </a:t>
            </a:r>
            <a:r>
              <a:rPr lang="en-US" sz="2200" b="0" u="none" strike="noStrike" baseline="0" dirty="0"/>
              <a:t>(</a:t>
            </a:r>
            <a:r>
              <a:rPr lang="en-US" sz="2200" b="1" i="0" u="none" strike="noStrike" baseline="0" dirty="0">
                <a:solidFill>
                  <a:srgbClr val="D90000"/>
                </a:solidFill>
              </a:rPr>
              <a:t>monocots</a:t>
            </a:r>
            <a:r>
              <a:rPr lang="en-US" sz="2200" i="0" u="none" strike="noStrike" baseline="0" dirty="0"/>
              <a:t>)</a:t>
            </a:r>
          </a:p>
          <a:p>
            <a:pPr marL="625475" lvl="2" algn="just">
              <a:buFont typeface="Arial" panose="020B0604020202020204" pitchFamily="34" charset="0"/>
              <a:buChar char="•"/>
            </a:pPr>
            <a:r>
              <a:rPr lang="en-US" sz="2000" b="0" i="0" u="none" strike="noStrike" baseline="0" dirty="0"/>
              <a:t>Examples include corn, tulips, pineapples, and sugarcane </a:t>
            </a:r>
            <a:endParaRPr lang="en-US" sz="2000" b="1" i="0" u="none" strike="noStrike" baseline="0" dirty="0"/>
          </a:p>
          <a:p>
            <a:pPr lvl="1" algn="just">
              <a:spcAft>
                <a:spcPts val="0"/>
              </a:spcAft>
              <a:buFont typeface="Arial" panose="020B0604020202020204" pitchFamily="34" charset="0"/>
              <a:buChar char="•"/>
            </a:pPr>
            <a:r>
              <a:rPr lang="en-US" sz="2200" b="0" i="1" u="none" strike="noStrike" baseline="0" dirty="0" err="1"/>
              <a:t>Eudicotyledones</a:t>
            </a:r>
            <a:r>
              <a:rPr lang="en-US" sz="2200" b="0" i="1" u="none" strike="noStrike" baseline="0" dirty="0"/>
              <a:t> </a:t>
            </a:r>
            <a:r>
              <a:rPr lang="en-US" sz="2200" b="0" u="none" strike="noStrike" baseline="0" dirty="0"/>
              <a:t>(</a:t>
            </a:r>
            <a:r>
              <a:rPr lang="en-US" sz="2200" b="1" i="0" u="none" strike="noStrike" baseline="0" dirty="0">
                <a:solidFill>
                  <a:srgbClr val="D90000"/>
                </a:solidFill>
              </a:rPr>
              <a:t>eudicots</a:t>
            </a:r>
            <a:r>
              <a:rPr lang="en-US" sz="2200" i="0" u="none" strike="noStrike" baseline="0" dirty="0"/>
              <a:t>)</a:t>
            </a:r>
            <a:r>
              <a:rPr lang="en-US" sz="2200" b="1" i="0" u="none" strike="noStrike" baseline="0" dirty="0"/>
              <a:t> </a:t>
            </a:r>
          </a:p>
          <a:p>
            <a:pPr marL="625475" lvl="2" algn="just">
              <a:spcAft>
                <a:spcPts val="0"/>
              </a:spcAft>
              <a:buFont typeface="Arial" panose="020B0604020202020204" pitchFamily="34" charset="0"/>
              <a:buChar char="•"/>
            </a:pPr>
            <a:r>
              <a:rPr lang="en-US" sz="2000" b="0" i="0" u="none" strike="noStrike" baseline="0" dirty="0"/>
              <a:t>Examples include cacti, strawberries, dandelions, poplars, and beans </a:t>
            </a:r>
            <a:endParaRPr lang="en-US" sz="2000" b="1" i="0" u="none" strike="noStrike" baseline="0" dirty="0"/>
          </a:p>
          <a:p>
            <a:pPr algn="just"/>
            <a:r>
              <a:rPr lang="en-US" sz="2400" dirty="0"/>
              <a:t>Cotyledons are the seed leaves containing nutrients that nourish the embryo</a:t>
            </a:r>
          </a:p>
          <a:p>
            <a:pPr lvl="1" algn="just">
              <a:spcAft>
                <a:spcPts val="0"/>
              </a:spcAft>
              <a:buFont typeface="Arial" panose="020B0604020202020204" pitchFamily="34" charset="0"/>
              <a:buChar char="•"/>
            </a:pPr>
            <a:r>
              <a:rPr lang="en-US" sz="2200" dirty="0"/>
              <a:t>Monocots: One cotyledon in seed</a:t>
            </a:r>
          </a:p>
          <a:p>
            <a:pPr lvl="1" algn="just">
              <a:spcAft>
                <a:spcPts val="0"/>
              </a:spcAft>
              <a:buFont typeface="Arial" panose="020B0604020202020204" pitchFamily="34" charset="0"/>
              <a:buChar char="•"/>
            </a:pPr>
            <a:r>
              <a:rPr lang="en-US" sz="2200" dirty="0"/>
              <a:t>Eudicots: Two cotyledons in seed</a:t>
            </a:r>
          </a:p>
        </p:txBody>
      </p:sp>
      <p:sp>
        <p:nvSpPr>
          <p:cNvPr id="4" name="Slide Number Placeholder 3">
            <a:extLst>
              <a:ext uri="{FF2B5EF4-FFF2-40B4-BE49-F238E27FC236}">
                <a16:creationId xmlns:a16="http://schemas.microsoft.com/office/drawing/2014/main" id="{21E44F10-DB0B-4C30-B017-ED66CA562F11}"/>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80</a:t>
            </a:fld>
            <a:endParaRPr lang="en-IN"/>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580AA-9BE9-4061-A8E8-9E6C0FE6A9F0}"/>
              </a:ext>
            </a:extLst>
          </p:cNvPr>
          <p:cNvSpPr>
            <a:spLocks noGrp="1"/>
          </p:cNvSpPr>
          <p:nvPr>
            <p:ph type="title"/>
          </p:nvPr>
        </p:nvSpPr>
        <p:spPr>
          <a:xfrm>
            <a:off x="0" y="1"/>
            <a:ext cx="9144000" cy="1093861"/>
          </a:xfrm>
        </p:spPr>
        <p:txBody>
          <a:bodyPr>
            <a:noAutofit/>
          </a:bodyPr>
          <a:lstStyle/>
          <a:p>
            <a:r>
              <a:rPr lang="en-US" dirty="0"/>
              <a:t>Key Features of Monocots and Eudicots</a:t>
            </a:r>
          </a:p>
        </p:txBody>
      </p:sp>
      <p:sp>
        <p:nvSpPr>
          <p:cNvPr id="3" name="Text Placeholder 2">
            <a:extLst>
              <a:ext uri="{FF2B5EF4-FFF2-40B4-BE49-F238E27FC236}">
                <a16:creationId xmlns:a16="http://schemas.microsoft.com/office/drawing/2014/main" id="{78C0F844-1E0C-47F5-9BC6-CF7C18CFD88D}"/>
              </a:ext>
            </a:extLst>
          </p:cNvPr>
          <p:cNvSpPr>
            <a:spLocks noGrp="1"/>
          </p:cNvSpPr>
          <p:nvPr>
            <p:ph type="body" sz="quarter" idx="19"/>
          </p:nvPr>
        </p:nvSpPr>
        <p:spPr>
          <a:xfrm>
            <a:off x="1524000" y="1189281"/>
            <a:ext cx="6096000" cy="349959"/>
          </a:xfrm>
        </p:spPr>
        <p:txBody>
          <a:bodyPr>
            <a:noAutofit/>
          </a:bodyPr>
          <a:lstStyle/>
          <a:p>
            <a:r>
              <a:rPr lang="en-US" sz="1800" b="1" dirty="0">
                <a:solidFill>
                  <a:srgbClr val="0070C0"/>
                </a:solidFill>
              </a:rPr>
              <a:t>Table 23.2 </a:t>
            </a:r>
            <a:r>
              <a:rPr lang="en-US" sz="1800" dirty="0"/>
              <a:t>Key Features of Monocots and Eudicots</a:t>
            </a:r>
          </a:p>
        </p:txBody>
      </p:sp>
      <p:sp>
        <p:nvSpPr>
          <p:cNvPr id="9" name="Table summary 4" hidden="1">
            <a:extLst>
              <a:ext uri="{FF2B5EF4-FFF2-40B4-BE49-F238E27FC236}">
                <a16:creationId xmlns:a16="http://schemas.microsoft.com/office/drawing/2014/main" id="{3D43B3BF-41D3-4689-8CEF-F4FA6582487E}"/>
              </a:ext>
            </a:extLst>
          </p:cNvPr>
          <p:cNvSpPr>
            <a:spLocks noGrp="1"/>
          </p:cNvSpPr>
          <p:nvPr>
            <p:ph type="body" sz="quarter" idx="20"/>
          </p:nvPr>
        </p:nvSpPr>
        <p:spPr>
          <a:xfrm>
            <a:off x="2419828" y="2971800"/>
            <a:ext cx="4304343" cy="914400"/>
          </a:xfrm>
        </p:spPr>
        <p:txBody>
          <a:bodyPr>
            <a:normAutofit fontScale="77500" lnSpcReduction="20000"/>
          </a:bodyPr>
          <a:lstStyle/>
          <a:p>
            <a:r>
              <a:rPr lang="en-US" dirty="0"/>
              <a:t>Table divided into two columns summarizes key features of monocots and eudicots. The column headers are: Monocots and eudicots.</a:t>
            </a:r>
            <a:endParaRPr lang="en-IN" dirty="0"/>
          </a:p>
        </p:txBody>
      </p:sp>
      <p:graphicFrame>
        <p:nvGraphicFramePr>
          <p:cNvPr id="13" name="Table 2">
            <a:extLst>
              <a:ext uri="{FF2B5EF4-FFF2-40B4-BE49-F238E27FC236}">
                <a16:creationId xmlns:a16="http://schemas.microsoft.com/office/drawing/2014/main" id="{D95960BF-C50D-40E4-A776-A6EA1A6E303E}"/>
              </a:ext>
            </a:extLst>
          </p:cNvPr>
          <p:cNvGraphicFramePr>
            <a:graphicFrameLocks noGrp="1"/>
          </p:cNvGraphicFramePr>
          <p:nvPr>
            <p:extLst>
              <p:ext uri="{D42A27DB-BD31-4B8C-83A1-F6EECF244321}">
                <p14:modId xmlns:p14="http://schemas.microsoft.com/office/powerpoint/2010/main" val="2215311"/>
              </p:ext>
            </p:extLst>
          </p:nvPr>
        </p:nvGraphicFramePr>
        <p:xfrm>
          <a:off x="1524000" y="1539240"/>
          <a:ext cx="6096000" cy="3779520"/>
        </p:xfrm>
        <a:graphic>
          <a:graphicData uri="http://schemas.openxmlformats.org/drawingml/2006/table">
            <a:tbl>
              <a:tblPr firstRow="1" bandRow="1">
                <a:tableStyleId>{5940675A-B579-460E-94D1-54222C63F5DA}</a:tableStyleId>
              </a:tblPr>
              <a:tblGrid>
                <a:gridCol w="3048000">
                  <a:extLst>
                    <a:ext uri="{9D8B030D-6E8A-4147-A177-3AD203B41FA5}">
                      <a16:colId xmlns:a16="http://schemas.microsoft.com/office/drawing/2014/main" val="2725883614"/>
                    </a:ext>
                  </a:extLst>
                </a:gridCol>
                <a:gridCol w="3048000">
                  <a:extLst>
                    <a:ext uri="{9D8B030D-6E8A-4147-A177-3AD203B41FA5}">
                      <a16:colId xmlns:a16="http://schemas.microsoft.com/office/drawing/2014/main" val="1773018107"/>
                    </a:ext>
                  </a:extLst>
                </a:gridCol>
              </a:tblGrid>
              <a:tr h="370840">
                <a:tc>
                  <a:txBody>
                    <a:bodyPr/>
                    <a:lstStyle/>
                    <a:p>
                      <a:r>
                        <a:rPr lang="en-IN" b="1" dirty="0"/>
                        <a:t>Monocots</a:t>
                      </a:r>
                    </a:p>
                  </a:txBody>
                  <a:tcPr/>
                </a:tc>
                <a:tc>
                  <a:txBody>
                    <a:bodyPr/>
                    <a:lstStyle/>
                    <a:p>
                      <a:r>
                        <a:rPr lang="en-IN" b="1" dirty="0"/>
                        <a:t>Eudicots</a:t>
                      </a:r>
                    </a:p>
                  </a:txBody>
                  <a:tcPr/>
                </a:tc>
                <a:extLst>
                  <a:ext uri="{0D108BD9-81ED-4DB2-BD59-A6C34878D82A}">
                    <a16:rowId xmlns:a16="http://schemas.microsoft.com/office/drawing/2014/main" val="3122802304"/>
                  </a:ext>
                </a:extLst>
              </a:tr>
              <a:tr h="370840">
                <a:tc>
                  <a:txBody>
                    <a:bodyPr/>
                    <a:lstStyle/>
                    <a:p>
                      <a:r>
                        <a:rPr lang="en-IN" dirty="0"/>
                        <a:t>One cotyledon</a:t>
                      </a:r>
                    </a:p>
                  </a:txBody>
                  <a:tcPr/>
                </a:tc>
                <a:tc>
                  <a:txBody>
                    <a:bodyPr/>
                    <a:lstStyle/>
                    <a:p>
                      <a:r>
                        <a:rPr lang="en-IN" dirty="0"/>
                        <a:t>Two cotyledons</a:t>
                      </a:r>
                    </a:p>
                  </a:txBody>
                  <a:tcPr/>
                </a:tc>
                <a:extLst>
                  <a:ext uri="{0D108BD9-81ED-4DB2-BD59-A6C34878D82A}">
                    <a16:rowId xmlns:a16="http://schemas.microsoft.com/office/drawing/2014/main" val="1472733600"/>
                  </a:ext>
                </a:extLst>
              </a:tr>
              <a:tr h="370840">
                <a:tc>
                  <a:txBody>
                    <a:bodyPr/>
                    <a:lstStyle/>
                    <a:p>
                      <a:r>
                        <a:rPr lang="en-US" dirty="0"/>
                        <a:t>Flower parts In threes or multiples of three</a:t>
                      </a:r>
                      <a:endParaRPr lang="en-IN" dirty="0"/>
                    </a:p>
                  </a:txBody>
                  <a:tcPr/>
                </a:tc>
                <a:tc>
                  <a:txBody>
                    <a:bodyPr/>
                    <a:lstStyle/>
                    <a:p>
                      <a:r>
                        <a:rPr lang="en-US" dirty="0"/>
                        <a:t>Flower parts In fours or fives or multiples of four or five</a:t>
                      </a:r>
                      <a:endParaRPr lang="en-IN" dirty="0"/>
                    </a:p>
                  </a:txBody>
                  <a:tcPr/>
                </a:tc>
                <a:extLst>
                  <a:ext uri="{0D108BD9-81ED-4DB2-BD59-A6C34878D82A}">
                    <a16:rowId xmlns:a16="http://schemas.microsoft.com/office/drawing/2014/main" val="483335180"/>
                  </a:ext>
                </a:extLst>
              </a:tr>
              <a:tr h="370840">
                <a:tc>
                  <a:txBody>
                    <a:bodyPr/>
                    <a:lstStyle/>
                    <a:p>
                      <a:r>
                        <a:rPr lang="en-US" dirty="0"/>
                        <a:t>Pollen grain with one pore</a:t>
                      </a:r>
                      <a:endParaRPr lang="en-IN" dirty="0"/>
                    </a:p>
                  </a:txBody>
                  <a:tcPr/>
                </a:tc>
                <a:tc>
                  <a:txBody>
                    <a:bodyPr/>
                    <a:lstStyle/>
                    <a:p>
                      <a:r>
                        <a:rPr lang="en-US" dirty="0"/>
                        <a:t>Pollen grain with three pores</a:t>
                      </a:r>
                      <a:endParaRPr lang="en-IN" dirty="0"/>
                    </a:p>
                  </a:txBody>
                  <a:tcPr/>
                </a:tc>
                <a:extLst>
                  <a:ext uri="{0D108BD9-81ED-4DB2-BD59-A6C34878D82A}">
                    <a16:rowId xmlns:a16="http://schemas.microsoft.com/office/drawing/2014/main" val="247661394"/>
                  </a:ext>
                </a:extLst>
              </a:tr>
              <a:tr h="370840">
                <a:tc>
                  <a:txBody>
                    <a:bodyPr/>
                    <a:lstStyle/>
                    <a:p>
                      <a:r>
                        <a:rPr lang="en-IN" dirty="0"/>
                        <a:t>Usually herbaceous</a:t>
                      </a:r>
                    </a:p>
                  </a:txBody>
                  <a:tcPr/>
                </a:tc>
                <a:tc>
                  <a:txBody>
                    <a:bodyPr/>
                    <a:lstStyle/>
                    <a:p>
                      <a:r>
                        <a:rPr lang="en-IN" dirty="0"/>
                        <a:t>Woody or herbaceous</a:t>
                      </a:r>
                    </a:p>
                  </a:txBody>
                  <a:tcPr/>
                </a:tc>
                <a:extLst>
                  <a:ext uri="{0D108BD9-81ED-4DB2-BD59-A6C34878D82A}">
                    <a16:rowId xmlns:a16="http://schemas.microsoft.com/office/drawing/2014/main" val="422726303"/>
                  </a:ext>
                </a:extLst>
              </a:tr>
              <a:tr h="370840">
                <a:tc>
                  <a:txBody>
                    <a:bodyPr/>
                    <a:lstStyle/>
                    <a:p>
                      <a:r>
                        <a:rPr lang="en-IN" dirty="0"/>
                        <a:t>Usually parallel venation</a:t>
                      </a:r>
                    </a:p>
                  </a:txBody>
                  <a:tcPr/>
                </a:tc>
                <a:tc>
                  <a:txBody>
                    <a:bodyPr/>
                    <a:lstStyle/>
                    <a:p>
                      <a:r>
                        <a:rPr lang="en-IN" dirty="0"/>
                        <a:t>Usually net venation</a:t>
                      </a:r>
                    </a:p>
                  </a:txBody>
                  <a:tcPr/>
                </a:tc>
                <a:extLst>
                  <a:ext uri="{0D108BD9-81ED-4DB2-BD59-A6C34878D82A}">
                    <a16:rowId xmlns:a16="http://schemas.microsoft.com/office/drawing/2014/main" val="42642740"/>
                  </a:ext>
                </a:extLst>
              </a:tr>
              <a:tr h="370840">
                <a:tc>
                  <a:txBody>
                    <a:bodyPr/>
                    <a:lstStyle/>
                    <a:p>
                      <a:r>
                        <a:rPr lang="en-IN" dirty="0"/>
                        <a:t>Scattered bundles In stem</a:t>
                      </a:r>
                    </a:p>
                  </a:txBody>
                  <a:tcPr/>
                </a:tc>
                <a:tc>
                  <a:txBody>
                    <a:bodyPr/>
                    <a:lstStyle/>
                    <a:p>
                      <a:r>
                        <a:rPr lang="en-US" dirty="0"/>
                        <a:t>Vascular bundles in a ring</a:t>
                      </a:r>
                      <a:endParaRPr lang="en-IN" dirty="0"/>
                    </a:p>
                  </a:txBody>
                  <a:tcPr/>
                </a:tc>
                <a:extLst>
                  <a:ext uri="{0D108BD9-81ED-4DB2-BD59-A6C34878D82A}">
                    <a16:rowId xmlns:a16="http://schemas.microsoft.com/office/drawing/2014/main" val="496884887"/>
                  </a:ext>
                </a:extLst>
              </a:tr>
              <a:tr h="370840">
                <a:tc>
                  <a:txBody>
                    <a:bodyPr/>
                    <a:lstStyle/>
                    <a:p>
                      <a:r>
                        <a:rPr lang="en-IN" dirty="0"/>
                        <a:t>Fibrous root system</a:t>
                      </a:r>
                    </a:p>
                  </a:txBody>
                  <a:tcPr/>
                </a:tc>
                <a:tc>
                  <a:txBody>
                    <a:bodyPr/>
                    <a:lstStyle/>
                    <a:p>
                      <a:r>
                        <a:rPr lang="en-IN" dirty="0"/>
                        <a:t>Taproot system</a:t>
                      </a:r>
                    </a:p>
                  </a:txBody>
                  <a:tcPr/>
                </a:tc>
                <a:extLst>
                  <a:ext uri="{0D108BD9-81ED-4DB2-BD59-A6C34878D82A}">
                    <a16:rowId xmlns:a16="http://schemas.microsoft.com/office/drawing/2014/main" val="1482973485"/>
                  </a:ext>
                </a:extLst>
              </a:tr>
            </a:tbl>
          </a:graphicData>
        </a:graphic>
      </p:graphicFrame>
      <p:sp>
        <p:nvSpPr>
          <p:cNvPr id="4" name="Slide Number Placeholder 5">
            <a:extLst>
              <a:ext uri="{FF2B5EF4-FFF2-40B4-BE49-F238E27FC236}">
                <a16:creationId xmlns:a16="http://schemas.microsoft.com/office/drawing/2014/main" id="{EC435CD7-8516-4FB4-A5DC-660AB6FA8C98}"/>
              </a:ext>
            </a:extLst>
          </p:cNvPr>
          <p:cNvSpPr>
            <a:spLocks noGrp="1"/>
          </p:cNvSpPr>
          <p:nvPr>
            <p:ph type="sldNum" sz="quarter" idx="4"/>
          </p:nvPr>
        </p:nvSpPr>
        <p:spPr/>
        <p:txBody>
          <a:bodyPr/>
          <a:lstStyle/>
          <a:p>
            <a:fld id="{08F9AD23-695F-4808-8E99-6281554D0F77}" type="slidenum">
              <a:rPr lang="en-IN" smtClean="0"/>
              <a:t>81</a:t>
            </a:fld>
            <a:endParaRPr lang="en-IN"/>
          </a:p>
        </p:txBody>
      </p:sp>
    </p:spTree>
    <p:extLst>
      <p:ext uri="{BB962C8B-B14F-4D97-AF65-F5344CB8AC3E}">
        <p14:creationId xmlns:p14="http://schemas.microsoft.com/office/powerpoint/2010/main" val="41239612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noChangeArrowheads="1"/>
          </p:cNvSpPr>
          <p:nvPr>
            <p:ph type="title"/>
          </p:nvPr>
        </p:nvSpPr>
        <p:spPr/>
        <p:txBody>
          <a:bodyPr>
            <a:normAutofit/>
          </a:bodyPr>
          <a:lstStyle/>
          <a:p>
            <a:r>
              <a:rPr lang="en-US" altLang="en-US" dirty="0"/>
              <a:t>Flower Diversity</a:t>
            </a:r>
          </a:p>
        </p:txBody>
      </p:sp>
      <p:pic>
        <p:nvPicPr>
          <p:cNvPr id="10" name="Picture 2" descr="A) Three white colored petals (monocots). B) Five petals flower in white with stripes of pink (eudicot).">
            <a:extLst>
              <a:ext uri="{FF2B5EF4-FFF2-40B4-BE49-F238E27FC236}">
                <a16:creationId xmlns:a16="http://schemas.microsoft.com/office/drawing/2014/main" id="{C01D86AB-C3B3-49D6-9D2C-5A71BB237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0608" y="817445"/>
            <a:ext cx="2302784" cy="4857638"/>
          </a:xfrm>
          <a:prstGeom prst="rect">
            <a:avLst/>
          </a:prstGeom>
        </p:spPr>
      </p:pic>
      <p:sp>
        <p:nvSpPr>
          <p:cNvPr id="6" name="Content Placeholder 3"/>
          <p:cNvSpPr>
            <a:spLocks noGrp="1"/>
          </p:cNvSpPr>
          <p:nvPr>
            <p:ph type="body" sz="quarter" idx="18"/>
          </p:nvPr>
        </p:nvSpPr>
        <p:spPr>
          <a:xfrm>
            <a:off x="520699" y="5971806"/>
            <a:ext cx="8101481" cy="314325"/>
          </a:xfrm>
        </p:spPr>
        <p:txBody>
          <a:bodyPr>
            <a:normAutofit/>
          </a:bodyPr>
          <a:lstStyle/>
          <a:p>
            <a:r>
              <a:rPr lang="en-US" sz="1200" dirty="0"/>
              <a:t>Figure 23.21</a:t>
            </a:r>
          </a:p>
        </p:txBody>
      </p:sp>
      <p:sp>
        <p:nvSpPr>
          <p:cNvPr id="12" name="Text Placeholder 5">
            <a:extLst>
              <a:ext uri="{FF2B5EF4-FFF2-40B4-BE49-F238E27FC236}">
                <a16:creationId xmlns:a16="http://schemas.microsoft.com/office/drawing/2014/main" id="{95B933A6-DFA1-4FE1-BCB5-D33D7512040B}"/>
              </a:ext>
            </a:extLst>
          </p:cNvPr>
          <p:cNvSpPr>
            <a:spLocks noGrp="1"/>
          </p:cNvSpPr>
          <p:nvPr>
            <p:ph type="body" sz="quarter" idx="21"/>
          </p:nvPr>
        </p:nvSpPr>
        <p:spPr/>
        <p:txBody>
          <a:bodyPr/>
          <a:lstStyle/>
          <a:p>
            <a:r>
              <a:rPr lang="en-US" sz="800" dirty="0"/>
              <a:t>(a): Ed Reschke/Stone/Getty Images; (b) Steven P. Lynch</a:t>
            </a:r>
          </a:p>
        </p:txBody>
      </p:sp>
      <p:sp>
        <p:nvSpPr>
          <p:cNvPr id="9" name="Slide Number Placeholder 6">
            <a:extLst>
              <a:ext uri="{FF2B5EF4-FFF2-40B4-BE49-F238E27FC236}">
                <a16:creationId xmlns:a16="http://schemas.microsoft.com/office/drawing/2014/main" id="{E4963147-2513-4906-A70D-3EB5CF45BEBB}"/>
              </a:ext>
            </a:extLst>
          </p:cNvPr>
          <p:cNvSpPr>
            <a:spLocks noGrp="1"/>
          </p:cNvSpPr>
          <p:nvPr>
            <p:ph type="sldNum" sz="quarter" idx="4"/>
          </p:nvPr>
        </p:nvSpPr>
        <p:spPr/>
        <p:txBody>
          <a:bodyPr/>
          <a:lstStyle/>
          <a:p>
            <a:fld id="{08F9AD23-695F-4808-8E99-6281554D0F77}" type="slidenum">
              <a:rPr lang="en-IN" smtClean="0"/>
              <a:t>82</a:t>
            </a:fld>
            <a:endParaRPr lang="en-IN"/>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p:txBody>
          <a:bodyPr/>
          <a:lstStyle/>
          <a:p>
            <a:r>
              <a:rPr lang="en-US" altLang="en-US" sz="3600" dirty="0"/>
              <a:t>The Flower</a:t>
            </a:r>
          </a:p>
        </p:txBody>
      </p:sp>
      <p:sp>
        <p:nvSpPr>
          <p:cNvPr id="50179" name="Content Placeholder 2"/>
          <p:cNvSpPr>
            <a:spLocks noGrp="1" noChangeArrowheads="1"/>
          </p:cNvSpPr>
          <p:nvPr>
            <p:ph idx="1"/>
          </p:nvPr>
        </p:nvSpPr>
        <p:spPr>
          <a:xfrm>
            <a:off x="296247" y="987068"/>
            <a:ext cx="8229599" cy="5245290"/>
          </a:xfrm>
        </p:spPr>
        <p:txBody>
          <a:bodyPr>
            <a:noAutofit/>
          </a:bodyPr>
          <a:lstStyle/>
          <a:p>
            <a:pPr algn="just">
              <a:spcAft>
                <a:spcPts val="0"/>
              </a:spcAft>
            </a:pPr>
            <a:r>
              <a:rPr lang="en-US" sz="2400" b="0" i="0" u="none" strike="noStrike" baseline="0" dirty="0"/>
              <a:t>Although </a:t>
            </a:r>
            <a:r>
              <a:rPr lang="en-US" sz="2400" b="1" i="0" u="none" strike="noStrike" baseline="0" dirty="0">
                <a:solidFill>
                  <a:srgbClr val="D90000"/>
                </a:solidFill>
              </a:rPr>
              <a:t>flowers</a:t>
            </a:r>
            <a:r>
              <a:rPr lang="en-US" sz="2400" b="1" i="0" u="none" strike="noStrike" baseline="0" dirty="0"/>
              <a:t> </a:t>
            </a:r>
            <a:r>
              <a:rPr lang="en-US" sz="2400" b="0" i="0" u="none" strike="noStrike" baseline="0" dirty="0"/>
              <a:t>vary widely in appearance, most have certain structures in common:</a:t>
            </a:r>
          </a:p>
          <a:p>
            <a:pPr marL="266700" lvl="1" indent="-266700" algn="just">
              <a:spcAft>
                <a:spcPts val="0"/>
              </a:spcAft>
              <a:buFont typeface="Arial" panose="020B0604020202020204" pitchFamily="34" charset="0"/>
              <a:buChar char="•"/>
            </a:pPr>
            <a:r>
              <a:rPr lang="en-US" sz="2200" b="0" i="0" u="none" strike="noStrike" baseline="0" dirty="0"/>
              <a:t> </a:t>
            </a:r>
            <a:r>
              <a:rPr lang="en-US" sz="2200" b="1" i="0" u="none" strike="noStrike" baseline="0" dirty="0">
                <a:solidFill>
                  <a:srgbClr val="D90000"/>
                </a:solidFill>
              </a:rPr>
              <a:t>Sepals</a:t>
            </a:r>
            <a:r>
              <a:rPr lang="en-US" sz="2200" i="0" u="none" strike="noStrike" baseline="0" dirty="0"/>
              <a:t> are </a:t>
            </a:r>
            <a:r>
              <a:rPr lang="en-US" sz="2200" b="0" i="0" u="none" strike="noStrike" baseline="0" dirty="0"/>
              <a:t>collectively called the calyx</a:t>
            </a:r>
          </a:p>
          <a:p>
            <a:pPr marL="717550" lvl="2" indent="-358775" algn="just">
              <a:spcAft>
                <a:spcPts val="0"/>
              </a:spcAft>
              <a:buFont typeface="Arial" panose="020B0604020202020204" pitchFamily="34" charset="0"/>
              <a:buChar char="•"/>
            </a:pPr>
            <a:r>
              <a:rPr lang="en-US" sz="2000" dirty="0"/>
              <a:t>P</a:t>
            </a:r>
            <a:r>
              <a:rPr lang="en-US" sz="2000" b="0" i="0" u="none" strike="noStrike" baseline="0" dirty="0"/>
              <a:t>rotect the flower bud before it opens</a:t>
            </a:r>
          </a:p>
          <a:p>
            <a:pPr marL="717550" lvl="2" indent="-358775" algn="just">
              <a:spcAft>
                <a:spcPts val="0"/>
              </a:spcAft>
              <a:buFont typeface="Arial" panose="020B0604020202020204" pitchFamily="34" charset="0"/>
              <a:buChar char="•"/>
            </a:pPr>
            <a:r>
              <a:rPr lang="en-US" sz="2000" dirty="0"/>
              <a:t>S</a:t>
            </a:r>
            <a:r>
              <a:rPr lang="en-US" sz="2000" b="0" i="0" u="none" strike="noStrike" baseline="0" dirty="0"/>
              <a:t>epals may drop off or may be colored like the petals</a:t>
            </a:r>
          </a:p>
          <a:p>
            <a:pPr marL="717550" lvl="2" indent="-358775" algn="just">
              <a:spcAft>
                <a:spcPts val="0"/>
              </a:spcAft>
              <a:buFont typeface="Arial" panose="020B0604020202020204" pitchFamily="34" charset="0"/>
              <a:buChar char="•"/>
            </a:pPr>
            <a:r>
              <a:rPr lang="en-US" sz="2000" b="0" i="0" u="none" strike="noStrike" baseline="0" dirty="0"/>
              <a:t>Usually, however, sepals are green and remain attached to the flower stalk. </a:t>
            </a:r>
          </a:p>
          <a:p>
            <a:pPr marL="358775" lvl="1">
              <a:spcAft>
                <a:spcPts val="0"/>
              </a:spcAft>
              <a:buFont typeface="Arial" panose="020B0604020202020204" pitchFamily="34" charset="0"/>
              <a:buChar char="•"/>
            </a:pPr>
            <a:r>
              <a:rPr lang="en-US" sz="2200" b="1" dirty="0">
                <a:solidFill>
                  <a:srgbClr val="D90000"/>
                </a:solidFill>
              </a:rPr>
              <a:t>P</a:t>
            </a:r>
            <a:r>
              <a:rPr lang="en-US" sz="2200" b="1" i="0" u="none" strike="noStrike" baseline="0" dirty="0">
                <a:solidFill>
                  <a:srgbClr val="D90000"/>
                </a:solidFill>
              </a:rPr>
              <a:t>etals</a:t>
            </a:r>
            <a:r>
              <a:rPr lang="en-US" sz="2200" b="1" i="0" u="none" strike="noStrike" baseline="0" dirty="0"/>
              <a:t> </a:t>
            </a:r>
            <a:r>
              <a:rPr lang="en-US" sz="2200" i="0" u="none" strike="noStrike" baseline="0" dirty="0"/>
              <a:t>are</a:t>
            </a:r>
            <a:r>
              <a:rPr lang="en-US" sz="2200" b="1" i="0" u="none" strike="noStrike" baseline="0" dirty="0"/>
              <a:t> </a:t>
            </a:r>
            <a:r>
              <a:rPr lang="en-US" sz="2200" b="0" i="0" u="none" strike="noStrike" baseline="0" dirty="0"/>
              <a:t>collectively called the corolla</a:t>
            </a:r>
          </a:p>
          <a:p>
            <a:pPr marL="717550" lvl="2" indent="-358775">
              <a:spcAft>
                <a:spcPts val="0"/>
              </a:spcAft>
              <a:buFont typeface="Arial" panose="020B0604020202020204" pitchFamily="34" charset="0"/>
              <a:buChar char="•"/>
            </a:pPr>
            <a:r>
              <a:rPr lang="en-US" sz="2000" b="0" i="0" u="none" strike="noStrike" baseline="0" dirty="0"/>
              <a:t>Very diverse in size, shape, and color</a:t>
            </a:r>
          </a:p>
          <a:p>
            <a:pPr marL="717550" lvl="2" indent="-358775">
              <a:spcAft>
                <a:spcPts val="0"/>
              </a:spcAft>
              <a:buFont typeface="Arial" panose="020B0604020202020204" pitchFamily="34" charset="0"/>
              <a:buChar char="•"/>
            </a:pPr>
            <a:r>
              <a:rPr lang="en-US" sz="2000" dirty="0"/>
              <a:t>P</a:t>
            </a:r>
            <a:r>
              <a:rPr lang="en-US" sz="2000" b="0" i="0" u="none" strike="noStrike" baseline="0" dirty="0"/>
              <a:t>etals are often used to attract a particular pollinator </a:t>
            </a:r>
          </a:p>
        </p:txBody>
      </p:sp>
      <p:sp>
        <p:nvSpPr>
          <p:cNvPr id="4" name="Slide Number Placeholder 3">
            <a:extLst>
              <a:ext uri="{FF2B5EF4-FFF2-40B4-BE49-F238E27FC236}">
                <a16:creationId xmlns:a16="http://schemas.microsoft.com/office/drawing/2014/main" id="{8577082B-6925-45EF-BC1F-4D7448F270C7}"/>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83</a:t>
            </a:fld>
            <a:endParaRPr lang="en-IN"/>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12031"/>
            <a:ext cx="8458200" cy="685800"/>
          </a:xfrm>
        </p:spPr>
        <p:txBody>
          <a:bodyPr/>
          <a:lstStyle/>
          <a:p>
            <a:r>
              <a:rPr lang="en-US" altLang="en-US" sz="3600" dirty="0"/>
              <a:t>Parts of Flower</a:t>
            </a:r>
          </a:p>
        </p:txBody>
      </p:sp>
      <p:sp>
        <p:nvSpPr>
          <p:cNvPr id="50179" name="Content Placeholder 2"/>
          <p:cNvSpPr>
            <a:spLocks noGrp="1" noChangeArrowheads="1"/>
          </p:cNvSpPr>
          <p:nvPr>
            <p:ph idx="1"/>
          </p:nvPr>
        </p:nvSpPr>
        <p:spPr>
          <a:xfrm>
            <a:off x="102198" y="794150"/>
            <a:ext cx="8939604" cy="5870932"/>
          </a:xfrm>
        </p:spPr>
        <p:txBody>
          <a:bodyPr>
            <a:noAutofit/>
          </a:bodyPr>
          <a:lstStyle/>
          <a:p>
            <a:pPr marL="1588" lvl="1" indent="0">
              <a:buNone/>
            </a:pPr>
            <a:r>
              <a:rPr lang="en-US" sz="2400" b="1" i="0" u="none" strike="noStrike" baseline="0" dirty="0">
                <a:solidFill>
                  <a:srgbClr val="D90000"/>
                </a:solidFill>
              </a:rPr>
              <a:t>Stamens</a:t>
            </a:r>
            <a:r>
              <a:rPr lang="en-US" sz="2400" b="0" i="0" u="none" strike="noStrike" baseline="0" dirty="0"/>
              <a:t> are the male structures </a:t>
            </a:r>
            <a:r>
              <a:rPr lang="en-US" sz="2400" dirty="0"/>
              <a:t>and consist </a:t>
            </a:r>
            <a:r>
              <a:rPr lang="en-US" sz="2400" b="0" i="0" u="none" strike="noStrike" baseline="0" dirty="0"/>
              <a:t>of two parts: </a:t>
            </a:r>
          </a:p>
          <a:p>
            <a:pPr marL="358775" lvl="2" indent="-358775">
              <a:spcAft>
                <a:spcPts val="0"/>
              </a:spcAft>
              <a:buFont typeface="Arial" panose="020B0604020202020204" pitchFamily="34" charset="0"/>
              <a:buChar char="•"/>
            </a:pPr>
            <a:r>
              <a:rPr lang="en-US" sz="2200" b="0" i="0" u="none" strike="noStrike" baseline="0" dirty="0"/>
              <a:t>Filament: a slender stalk that holds up the anther</a:t>
            </a:r>
          </a:p>
          <a:p>
            <a:pPr marL="358775" lvl="2" indent="-358775">
              <a:spcAft>
                <a:spcPts val="0"/>
              </a:spcAft>
              <a:buFont typeface="Arial" panose="020B0604020202020204" pitchFamily="34" charset="0"/>
              <a:buChar char="•"/>
            </a:pPr>
            <a:r>
              <a:rPr lang="en-US" sz="2200" dirty="0"/>
              <a:t>Anther: saclike container that produces pollen</a:t>
            </a:r>
          </a:p>
          <a:p>
            <a:pPr marL="1588" lvl="1" indent="0">
              <a:spcAft>
                <a:spcPts val="0"/>
              </a:spcAft>
              <a:buNone/>
            </a:pPr>
            <a:r>
              <a:rPr lang="en-US" sz="2400" b="1" i="0" u="none" strike="noStrike" baseline="0" dirty="0">
                <a:solidFill>
                  <a:srgbClr val="D90000"/>
                </a:solidFill>
              </a:rPr>
              <a:t>Carpels</a:t>
            </a:r>
            <a:r>
              <a:rPr lang="en-US" sz="2400" b="1" i="0" u="none" strike="noStrike" baseline="0" dirty="0"/>
              <a:t> </a:t>
            </a:r>
            <a:r>
              <a:rPr lang="en-US" sz="2400" i="0" u="none" strike="noStrike" baseline="0" dirty="0"/>
              <a:t>are the female structure and are comprised of</a:t>
            </a:r>
            <a:r>
              <a:rPr lang="en-US" sz="2400" b="1" i="0" u="none" strike="noStrike" baseline="0" dirty="0"/>
              <a:t> </a:t>
            </a:r>
            <a:r>
              <a:rPr lang="en-US" sz="2400" b="0" i="0" u="none" strike="noStrike" baseline="0" dirty="0"/>
              <a:t>three major regions: </a:t>
            </a:r>
          </a:p>
          <a:p>
            <a:pPr marL="358775" lvl="2" indent="-358775">
              <a:spcAft>
                <a:spcPts val="0"/>
              </a:spcAft>
              <a:buFont typeface="Arial" panose="020B0604020202020204" pitchFamily="34" charset="0"/>
              <a:buChar char="•"/>
            </a:pPr>
            <a:r>
              <a:rPr lang="en-US" sz="2200" dirty="0"/>
              <a:t>S</a:t>
            </a:r>
            <a:r>
              <a:rPr lang="en-US" sz="2200" b="0" i="0" u="none" strike="noStrike" baseline="0" dirty="0"/>
              <a:t>tigma, an enlarged, sticky knob</a:t>
            </a:r>
          </a:p>
          <a:p>
            <a:pPr marL="358775" lvl="2" indent="-358775">
              <a:spcAft>
                <a:spcPts val="0"/>
              </a:spcAft>
              <a:buFont typeface="Arial" panose="020B0604020202020204" pitchFamily="34" charset="0"/>
              <a:buChar char="•"/>
            </a:pPr>
            <a:r>
              <a:rPr lang="en-US" sz="2200" b="0" i="0" u="none" strike="noStrike" baseline="0" dirty="0"/>
              <a:t>Style, a slender stalk</a:t>
            </a:r>
          </a:p>
          <a:p>
            <a:pPr marL="358775" lvl="2" indent="-358775">
              <a:spcAft>
                <a:spcPts val="0"/>
              </a:spcAft>
              <a:buFont typeface="Arial" panose="020B0604020202020204" pitchFamily="34" charset="0"/>
              <a:buChar char="•"/>
            </a:pPr>
            <a:r>
              <a:rPr lang="en-US" sz="2200" b="1" dirty="0">
                <a:solidFill>
                  <a:srgbClr val="D90000"/>
                </a:solidFill>
              </a:rPr>
              <a:t>O</a:t>
            </a:r>
            <a:r>
              <a:rPr lang="en-US" sz="2200" b="1" i="0" u="none" strike="noStrike" baseline="0" dirty="0">
                <a:solidFill>
                  <a:srgbClr val="D90000"/>
                </a:solidFill>
              </a:rPr>
              <a:t>vary</a:t>
            </a:r>
            <a:r>
              <a:rPr lang="en-US" sz="2200" i="0" u="none" strike="noStrike" baseline="0" dirty="0"/>
              <a:t>,</a:t>
            </a:r>
            <a:r>
              <a:rPr lang="en-US" sz="2200" b="1" i="0" u="none" strike="noStrike" baseline="0" dirty="0"/>
              <a:t> </a:t>
            </a:r>
            <a:r>
              <a:rPr lang="en-US" sz="2200" b="0" i="0" u="none" strike="noStrike" baseline="0" dirty="0"/>
              <a:t>an enlarged base that encloses one or more ovules</a:t>
            </a:r>
          </a:p>
          <a:p>
            <a:pPr marL="625475" lvl="3" indent="-266700">
              <a:buFont typeface="Arial" panose="020B0604020202020204" pitchFamily="34" charset="0"/>
              <a:buChar char="•"/>
            </a:pPr>
            <a:r>
              <a:rPr lang="en-US" sz="2000" dirty="0"/>
              <a:t>O</a:t>
            </a:r>
            <a:r>
              <a:rPr lang="en-US" sz="2000" b="0" i="0" u="none" strike="noStrike" baseline="0" dirty="0"/>
              <a:t>vule becomes the seed, and the ovary becomes the fruit. Fruit is often instrumental in the distribution of seeds.</a:t>
            </a:r>
          </a:p>
        </p:txBody>
      </p:sp>
      <p:sp>
        <p:nvSpPr>
          <p:cNvPr id="4" name="Slide Number Placeholder 3">
            <a:extLst>
              <a:ext uri="{FF2B5EF4-FFF2-40B4-BE49-F238E27FC236}">
                <a16:creationId xmlns:a16="http://schemas.microsoft.com/office/drawing/2014/main" id="{59872DB1-4E70-46E2-AFFB-EE1CBEF47D8D}"/>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84</a:t>
            </a:fld>
            <a:endParaRPr lang="en-IN"/>
          </a:p>
        </p:txBody>
      </p:sp>
    </p:spTree>
    <p:extLst>
      <p:ext uri="{BB962C8B-B14F-4D97-AF65-F5344CB8AC3E}">
        <p14:creationId xmlns:p14="http://schemas.microsoft.com/office/powerpoint/2010/main" val="4196175431"/>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noChangeArrowheads="1"/>
          </p:cNvSpPr>
          <p:nvPr>
            <p:ph type="title"/>
          </p:nvPr>
        </p:nvSpPr>
        <p:spPr/>
        <p:txBody>
          <a:bodyPr>
            <a:noAutofit/>
          </a:bodyPr>
          <a:lstStyle/>
          <a:p>
            <a:r>
              <a:rPr lang="en-US" altLang="en-US" dirty="0"/>
              <a:t>Generalized Flower</a:t>
            </a:r>
          </a:p>
        </p:txBody>
      </p:sp>
      <p:pic>
        <p:nvPicPr>
          <p:cNvPr id="98308" name="Picture 2" descr="A flower has 4 main parts: sepals, petals, stamens (anther and filament), and carpels (stigma, style, ovule, pollen tube, and ovary)."/>
          <p:cNvPicPr>
            <a:picLocks noChangeAspect="1" noChangeArrowheads="1"/>
          </p:cNvPicPr>
          <p:nvPr/>
        </p:nvPicPr>
        <p:blipFill rotWithShape="1">
          <a:blip r:embed="rId3">
            <a:extLst>
              <a:ext uri="{28A0092B-C50C-407E-A947-70E740481C1C}">
                <a14:useLocalDpi xmlns:a14="http://schemas.microsoft.com/office/drawing/2010/main" val="0"/>
              </a:ext>
            </a:extLst>
          </a:blip>
          <a:srcRect t="1908"/>
          <a:stretch/>
        </p:blipFill>
        <p:spPr bwMode="auto">
          <a:xfrm>
            <a:off x="2245965" y="821313"/>
            <a:ext cx="4650947" cy="4836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Content Placeholder 3"/>
          <p:cNvSpPr>
            <a:spLocks noGrp="1"/>
          </p:cNvSpPr>
          <p:nvPr>
            <p:ph type="body" sz="quarter" idx="18"/>
          </p:nvPr>
        </p:nvSpPr>
        <p:spPr>
          <a:xfrm>
            <a:off x="520699" y="5814817"/>
            <a:ext cx="8101481" cy="314325"/>
          </a:xfrm>
        </p:spPr>
        <p:txBody>
          <a:bodyPr>
            <a:normAutofit/>
          </a:bodyPr>
          <a:lstStyle/>
          <a:p>
            <a:r>
              <a:rPr lang="en-US" sz="1200" dirty="0"/>
              <a:t>Figure 23.22</a:t>
            </a:r>
          </a:p>
        </p:txBody>
      </p:sp>
      <p:sp>
        <p:nvSpPr>
          <p:cNvPr id="6" name="Slide Number Placeholder 4">
            <a:extLst>
              <a:ext uri="{FF2B5EF4-FFF2-40B4-BE49-F238E27FC236}">
                <a16:creationId xmlns:a16="http://schemas.microsoft.com/office/drawing/2014/main" id="{A1C9255A-5DC3-4AAD-A700-590C54EB592D}"/>
              </a:ext>
            </a:extLst>
          </p:cNvPr>
          <p:cNvSpPr>
            <a:spLocks noGrp="1"/>
          </p:cNvSpPr>
          <p:nvPr>
            <p:ph type="sldNum" sz="quarter" idx="4"/>
          </p:nvPr>
        </p:nvSpPr>
        <p:spPr/>
        <p:txBody>
          <a:bodyPr/>
          <a:lstStyle/>
          <a:p>
            <a:fld id="{08F9AD23-695F-4808-8E99-6281554D0F77}" type="slidenum">
              <a:rPr lang="en-IN" smtClean="0"/>
              <a:t>85</a:t>
            </a:fld>
            <a:endParaRPr lang="en-IN"/>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0"/>
            <a:ext cx="8458200" cy="1170910"/>
          </a:xfrm>
        </p:spPr>
        <p:txBody>
          <a:bodyPr/>
          <a:lstStyle/>
          <a:p>
            <a:r>
              <a:rPr lang="en-US" altLang="en-US" dirty="0"/>
              <a:t>Flowering Plant Life Cycle</a:t>
            </a:r>
            <a:r>
              <a:rPr lang="en-US" altLang="en-US" sz="3600" dirty="0"/>
              <a:t> </a:t>
            </a:r>
            <a:r>
              <a:rPr lang="en-US" altLang="en-US" sz="1600" dirty="0"/>
              <a:t>1</a:t>
            </a:r>
          </a:p>
        </p:txBody>
      </p:sp>
      <p:sp>
        <p:nvSpPr>
          <p:cNvPr id="50179" name="Content Placeholder 2"/>
          <p:cNvSpPr>
            <a:spLocks noGrp="1" noChangeArrowheads="1"/>
          </p:cNvSpPr>
          <p:nvPr>
            <p:ph idx="1"/>
          </p:nvPr>
        </p:nvSpPr>
        <p:spPr>
          <a:xfrm>
            <a:off x="457200" y="1170910"/>
            <a:ext cx="7640053" cy="5443339"/>
          </a:xfrm>
        </p:spPr>
        <p:txBody>
          <a:bodyPr>
            <a:noAutofit/>
          </a:bodyPr>
          <a:lstStyle/>
          <a:p>
            <a:pPr>
              <a:spcAft>
                <a:spcPts val="600"/>
              </a:spcAft>
            </a:pPr>
            <a:r>
              <a:rPr lang="en-US" sz="2600" dirty="0">
                <a:solidFill>
                  <a:srgbClr val="000000"/>
                </a:solidFill>
              </a:rPr>
              <a:t>F</a:t>
            </a:r>
            <a:r>
              <a:rPr lang="en-US" sz="2600" b="0" i="0" u="none" strike="noStrike" baseline="0" dirty="0"/>
              <a:t>lowering plants are heterosporous, producing two types of spores:</a:t>
            </a:r>
          </a:p>
          <a:p>
            <a:pPr lvl="1">
              <a:spcAft>
                <a:spcPts val="600"/>
              </a:spcAft>
              <a:buFont typeface="Arial" panose="020B0604020202020204" pitchFamily="34" charset="0"/>
              <a:buChar char="•"/>
            </a:pPr>
            <a:r>
              <a:rPr lang="en-US" sz="2000" b="0" i="0" u="none" strike="noStrike" baseline="0" dirty="0"/>
              <a:t> </a:t>
            </a:r>
            <a:r>
              <a:rPr lang="en-US" sz="2400" dirty="0"/>
              <a:t>M</a:t>
            </a:r>
            <a:r>
              <a:rPr lang="en-US" sz="2400" b="0" i="0" u="none" strike="noStrike" baseline="0" dirty="0"/>
              <a:t>egaspore</a:t>
            </a:r>
            <a:r>
              <a:rPr lang="en-US" sz="2000" b="0" i="0" u="none" strike="noStrike" baseline="0" dirty="0"/>
              <a:t> </a:t>
            </a:r>
          </a:p>
          <a:p>
            <a:pPr marL="722313" lvl="2" indent="-361950">
              <a:spcAft>
                <a:spcPts val="0"/>
              </a:spcAft>
              <a:buFont typeface="Arial" panose="020B0604020202020204" pitchFamily="34" charset="0"/>
              <a:buChar char="•"/>
            </a:pPr>
            <a:r>
              <a:rPr lang="en-US" sz="2200" b="0" i="0" u="none" strike="noStrike" baseline="0" dirty="0"/>
              <a:t>Located in an ovule within an ovary of a carpel </a:t>
            </a:r>
          </a:p>
          <a:p>
            <a:pPr marL="722313" lvl="2" indent="-361950">
              <a:spcAft>
                <a:spcPts val="0"/>
              </a:spcAft>
              <a:buFont typeface="Arial" panose="020B0604020202020204" pitchFamily="34" charset="0"/>
              <a:buChar char="•"/>
            </a:pPr>
            <a:r>
              <a:rPr lang="en-US" sz="2200" b="0" i="0" u="none" strike="noStrike" baseline="0" dirty="0"/>
              <a:t>Develops into an egg-bearing female gametophyte, called the embryo sac</a:t>
            </a:r>
          </a:p>
          <a:p>
            <a:pPr marL="1071563" lvl="3" indent="-349250">
              <a:spcAft>
                <a:spcPts val="600"/>
              </a:spcAft>
              <a:buFont typeface="Arial" panose="020B0604020202020204" pitchFamily="34" charset="0"/>
              <a:buChar char="•"/>
            </a:pPr>
            <a:r>
              <a:rPr lang="en-US" sz="2000" b="0" i="0" u="none" strike="noStrike" baseline="0" dirty="0"/>
              <a:t>Usually has seven cells, two have special functions:</a:t>
            </a:r>
          </a:p>
          <a:p>
            <a:pPr marL="1431925" lvl="4" indent="-360363">
              <a:spcBef>
                <a:spcPts val="600"/>
              </a:spcBef>
              <a:spcAft>
                <a:spcPts val="600"/>
              </a:spcAft>
              <a:buFont typeface="Arial" panose="020B0604020202020204" pitchFamily="34" charset="0"/>
              <a:buChar char="•"/>
            </a:pPr>
            <a:r>
              <a:rPr lang="en-US" sz="1800" b="0" i="0" u="none" strike="noStrike" baseline="0" dirty="0"/>
              <a:t>One is an egg </a:t>
            </a:r>
          </a:p>
          <a:p>
            <a:pPr marL="1431925" lvl="4" indent="-360363">
              <a:spcBef>
                <a:spcPts val="600"/>
              </a:spcBef>
              <a:spcAft>
                <a:spcPts val="600"/>
              </a:spcAft>
              <a:buFont typeface="Arial" panose="020B0604020202020204" pitchFamily="34" charset="0"/>
              <a:buChar char="•"/>
            </a:pPr>
            <a:r>
              <a:rPr lang="en-US" sz="1800" b="0" i="0" u="none" strike="noStrike" baseline="0" dirty="0"/>
              <a:t>One contains two polar nuclei	</a:t>
            </a:r>
          </a:p>
          <a:p>
            <a:pPr marL="1708150" lvl="5" indent="-276225">
              <a:spcAft>
                <a:spcPts val="600"/>
              </a:spcAft>
              <a:buFont typeface="Arial" panose="020B0604020202020204" pitchFamily="34" charset="0"/>
              <a:buChar char="•"/>
            </a:pPr>
            <a:r>
              <a:rPr lang="en-US" sz="1600" b="0" i="0" u="none" strike="noStrike" baseline="0" dirty="0"/>
              <a:t>“</a:t>
            </a:r>
            <a:r>
              <a:rPr lang="en-US" sz="1600" dirty="0"/>
              <a:t>P</a:t>
            </a:r>
            <a:r>
              <a:rPr lang="en-US" sz="1600" b="0" i="0" u="none" strike="noStrike" baseline="0" dirty="0"/>
              <a:t>olar” </a:t>
            </a:r>
            <a:r>
              <a:rPr lang="en-US" sz="1600" dirty="0"/>
              <a:t>because they come </a:t>
            </a:r>
            <a:r>
              <a:rPr lang="en-US" sz="1600" b="0" i="0" u="none" strike="noStrike" baseline="0" dirty="0"/>
              <a:t>from opposite ends of the embryo sac</a:t>
            </a:r>
          </a:p>
        </p:txBody>
      </p:sp>
      <p:sp>
        <p:nvSpPr>
          <p:cNvPr id="4" name="Slide Number Placeholder 3">
            <a:extLst>
              <a:ext uri="{FF2B5EF4-FFF2-40B4-BE49-F238E27FC236}">
                <a16:creationId xmlns:a16="http://schemas.microsoft.com/office/drawing/2014/main" id="{756F2603-A67A-420A-B4B4-DD46A00948E0}"/>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86</a:t>
            </a:fld>
            <a:endParaRPr lang="en-IN"/>
          </a:p>
        </p:txBody>
      </p:sp>
    </p:spTree>
    <p:extLst>
      <p:ext uri="{BB962C8B-B14F-4D97-AF65-F5344CB8AC3E}">
        <p14:creationId xmlns:p14="http://schemas.microsoft.com/office/powerpoint/2010/main" val="3288479405"/>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342900" y="0"/>
            <a:ext cx="8458200" cy="822057"/>
          </a:xfrm>
        </p:spPr>
        <p:txBody>
          <a:bodyPr/>
          <a:lstStyle/>
          <a:p>
            <a:r>
              <a:rPr lang="en-US" altLang="en-US" sz="3600" dirty="0"/>
              <a:t>Flowering Plant Life Cycle </a:t>
            </a:r>
            <a:r>
              <a:rPr lang="en-US" altLang="en-US" sz="1600" dirty="0"/>
              <a:t>2</a:t>
            </a:r>
          </a:p>
        </p:txBody>
      </p:sp>
      <p:sp>
        <p:nvSpPr>
          <p:cNvPr id="50179" name="Content Placeholder 2"/>
          <p:cNvSpPr>
            <a:spLocks noGrp="1" noChangeArrowheads="1"/>
          </p:cNvSpPr>
          <p:nvPr>
            <p:ph idx="1"/>
          </p:nvPr>
        </p:nvSpPr>
        <p:spPr>
          <a:xfrm>
            <a:off x="733926" y="794150"/>
            <a:ext cx="7676147" cy="5690045"/>
          </a:xfrm>
        </p:spPr>
        <p:txBody>
          <a:bodyPr>
            <a:noAutofit/>
          </a:bodyPr>
          <a:lstStyle/>
          <a:p>
            <a:pPr marL="1588" lvl="1" indent="0">
              <a:buNone/>
            </a:pPr>
            <a:r>
              <a:rPr lang="en-US" sz="2200" b="0" i="0" u="none" strike="noStrike" baseline="0" dirty="0"/>
              <a:t>Microspores</a:t>
            </a:r>
          </a:p>
          <a:p>
            <a:pPr marL="358775" lvl="2" indent="-358775">
              <a:spcAft>
                <a:spcPts val="0"/>
              </a:spcAft>
              <a:buFont typeface="Arial" panose="020B0604020202020204" pitchFamily="34" charset="0"/>
              <a:buChar char="•"/>
            </a:pPr>
            <a:r>
              <a:rPr lang="en-US" sz="2000" b="0" i="0" u="none" strike="noStrike" baseline="0" dirty="0"/>
              <a:t>Produced within anthers</a:t>
            </a:r>
          </a:p>
          <a:p>
            <a:pPr marL="358775" lvl="2" indent="-358775">
              <a:spcAft>
                <a:spcPts val="0"/>
              </a:spcAft>
              <a:buFont typeface="Arial" panose="020B0604020202020204" pitchFamily="34" charset="0"/>
              <a:buChar char="•"/>
            </a:pPr>
            <a:r>
              <a:rPr lang="en-US" sz="2000" b="0" i="0" u="none" strike="noStrike" baseline="0" dirty="0"/>
              <a:t>Become pollen grains that, when mature, are male gametophytes with sperm </a:t>
            </a:r>
          </a:p>
          <a:p>
            <a:pPr marL="358775" lvl="2" indent="-358775">
              <a:spcAft>
                <a:spcPts val="0"/>
              </a:spcAft>
              <a:buFont typeface="Arial" panose="020B0604020202020204" pitchFamily="34" charset="0"/>
              <a:buChar char="•"/>
            </a:pPr>
            <a:r>
              <a:rPr lang="en-US" sz="2000" dirty="0"/>
              <a:t>M</a:t>
            </a:r>
            <a:r>
              <a:rPr lang="en-US" sz="2000" b="0" i="0" u="none" strike="noStrike" baseline="0" dirty="0"/>
              <a:t>ature male gametophyte consists of only three cells: the tube cell and two sperm cells</a:t>
            </a:r>
          </a:p>
          <a:p>
            <a:r>
              <a:rPr lang="en-US" sz="2400" b="0" i="0" u="none" strike="noStrike" baseline="0" dirty="0"/>
              <a:t>During pollination, pollen is transported from the anther to the stigma of a carpel</a:t>
            </a:r>
          </a:p>
          <a:p>
            <a:pPr lvl="1">
              <a:buFont typeface="Arial" panose="020B0604020202020204" pitchFamily="34" charset="0"/>
              <a:buChar char="•"/>
            </a:pPr>
            <a:r>
              <a:rPr lang="en-US" sz="2200" dirty="0"/>
              <a:t>T</a:t>
            </a:r>
            <a:r>
              <a:rPr lang="en-US" sz="2200" b="0" i="0" u="none" strike="noStrike" baseline="0" dirty="0"/>
              <a:t>ube cell produces a pollen tube</a:t>
            </a:r>
          </a:p>
          <a:p>
            <a:pPr lvl="1">
              <a:buFont typeface="Arial" panose="020B0604020202020204" pitchFamily="34" charset="0"/>
              <a:buChar char="•"/>
            </a:pPr>
            <a:r>
              <a:rPr lang="en-US" sz="2200" b="0" i="0" u="none" strike="noStrike" baseline="0" dirty="0"/>
              <a:t>Two sperm travel through the tube to the micropyle (small opening) of an ovule </a:t>
            </a:r>
            <a:endParaRPr lang="en-US" sz="2200" dirty="0"/>
          </a:p>
        </p:txBody>
      </p:sp>
      <p:sp>
        <p:nvSpPr>
          <p:cNvPr id="4" name="Slide Number Placeholder 3">
            <a:extLst>
              <a:ext uri="{FF2B5EF4-FFF2-40B4-BE49-F238E27FC236}">
                <a16:creationId xmlns:a16="http://schemas.microsoft.com/office/drawing/2014/main" id="{A21E01CA-8E51-4C55-B72E-72BE78E22BA2}"/>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87</a:t>
            </a:fld>
            <a:endParaRPr lang="en-IN"/>
          </a:p>
        </p:txBody>
      </p:sp>
    </p:spTree>
    <p:extLst>
      <p:ext uri="{BB962C8B-B14F-4D97-AF65-F5344CB8AC3E}">
        <p14:creationId xmlns:p14="http://schemas.microsoft.com/office/powerpoint/2010/main" val="607246388"/>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title"/>
          </p:nvPr>
        </p:nvSpPr>
        <p:spPr>
          <a:xfrm>
            <a:off x="457199" y="0"/>
            <a:ext cx="8229600" cy="801858"/>
          </a:xfrm>
        </p:spPr>
        <p:txBody>
          <a:bodyPr/>
          <a:lstStyle/>
          <a:p>
            <a:r>
              <a:rPr lang="en-US" altLang="en-US" sz="3600" dirty="0"/>
              <a:t>Flowering Plant Life Cycle </a:t>
            </a:r>
            <a:r>
              <a:rPr lang="en-US" altLang="en-US" sz="1600" dirty="0"/>
              <a:t>3</a:t>
            </a:r>
          </a:p>
        </p:txBody>
      </p:sp>
      <p:sp>
        <p:nvSpPr>
          <p:cNvPr id="50179" name="Content Placeholder 2"/>
          <p:cNvSpPr>
            <a:spLocks noGrp="1" noChangeArrowheads="1"/>
          </p:cNvSpPr>
          <p:nvPr>
            <p:ph idx="1"/>
          </p:nvPr>
        </p:nvSpPr>
        <p:spPr>
          <a:xfrm>
            <a:off x="311973" y="818255"/>
            <a:ext cx="8638390" cy="5870932"/>
          </a:xfrm>
        </p:spPr>
        <p:txBody>
          <a:bodyPr>
            <a:noAutofit/>
          </a:bodyPr>
          <a:lstStyle/>
          <a:p>
            <a:pPr>
              <a:spcBef>
                <a:spcPts val="600"/>
              </a:spcBef>
              <a:spcAft>
                <a:spcPts val="600"/>
              </a:spcAft>
            </a:pPr>
            <a:r>
              <a:rPr lang="en-US" sz="2400" b="0" i="0" u="none" strike="noStrike" baseline="0" dirty="0"/>
              <a:t>Flowering plants undergo </a:t>
            </a:r>
            <a:r>
              <a:rPr lang="en-US" sz="2400" b="1" i="0" u="none" strike="noStrike" baseline="0" dirty="0">
                <a:solidFill>
                  <a:srgbClr val="D90000"/>
                </a:solidFill>
              </a:rPr>
              <a:t>double fertilization</a:t>
            </a:r>
          </a:p>
          <a:p>
            <a:pPr marL="342900" lvl="1">
              <a:spcBef>
                <a:spcPts val="600"/>
              </a:spcBef>
              <a:spcAft>
                <a:spcPts val="600"/>
              </a:spcAft>
              <a:buFont typeface="Arial" panose="020B0604020202020204" pitchFamily="34" charset="0"/>
              <a:buChar char="•"/>
            </a:pPr>
            <a:r>
              <a:rPr lang="en-US" sz="2200" b="0" i="0" u="none" strike="noStrike" baseline="0" dirty="0"/>
              <a:t>One sperm unites with an egg</a:t>
            </a:r>
          </a:p>
          <a:p>
            <a:pPr marL="722313" lvl="2" indent="-361950">
              <a:spcBef>
                <a:spcPts val="600"/>
              </a:spcBef>
              <a:spcAft>
                <a:spcPts val="600"/>
              </a:spcAft>
              <a:buFont typeface="Arial" panose="020B0604020202020204" pitchFamily="34" charset="0"/>
              <a:buChar char="•"/>
            </a:pPr>
            <a:r>
              <a:rPr lang="en-US" sz="2000" dirty="0"/>
              <a:t>Forms</a:t>
            </a:r>
            <a:r>
              <a:rPr lang="en-US" sz="2000" b="0" i="0" u="none" strike="noStrike" baseline="0" dirty="0"/>
              <a:t> a diploid zygote </a:t>
            </a:r>
          </a:p>
          <a:p>
            <a:pPr lvl="1">
              <a:spcBef>
                <a:spcPts val="600"/>
              </a:spcBef>
              <a:spcAft>
                <a:spcPts val="600"/>
              </a:spcAft>
              <a:buFont typeface="Arial" panose="020B0604020202020204" pitchFamily="34" charset="0"/>
              <a:buChar char="•"/>
            </a:pPr>
            <a:r>
              <a:rPr lang="en-US" sz="2200" dirty="0"/>
              <a:t>O</a:t>
            </a:r>
            <a:r>
              <a:rPr lang="en-US" sz="2200" b="0" i="0" u="none" strike="noStrike" baseline="0" dirty="0"/>
              <a:t>ther sperm unites with polar nuclei</a:t>
            </a:r>
          </a:p>
          <a:p>
            <a:pPr marL="722313" lvl="2" indent="-361950">
              <a:spcBef>
                <a:spcPts val="600"/>
              </a:spcBef>
              <a:spcAft>
                <a:spcPts val="600"/>
              </a:spcAft>
              <a:buFont typeface="Arial" panose="020B0604020202020204" pitchFamily="34" charset="0"/>
              <a:buChar char="•"/>
            </a:pPr>
            <a:r>
              <a:rPr lang="en-US" sz="2000" dirty="0"/>
              <a:t>F</a:t>
            </a:r>
            <a:r>
              <a:rPr lang="en-US" sz="2000" b="0" i="0" u="none" strike="noStrike" baseline="0" dirty="0"/>
              <a:t>orms a triploid endosperm nucleus </a:t>
            </a:r>
          </a:p>
          <a:p>
            <a:pPr>
              <a:spcBef>
                <a:spcPts val="600"/>
              </a:spcBef>
              <a:spcAft>
                <a:spcPts val="600"/>
              </a:spcAft>
            </a:pPr>
            <a:r>
              <a:rPr lang="en-US" sz="2400" b="0" i="0" u="none" strike="noStrike" baseline="0" dirty="0"/>
              <a:t>Ovule becomes a seed </a:t>
            </a:r>
            <a:endParaRPr lang="en-US" sz="2400" dirty="0"/>
          </a:p>
          <a:p>
            <a:pPr lvl="1">
              <a:spcBef>
                <a:spcPts val="600"/>
              </a:spcBef>
              <a:spcAft>
                <a:spcPts val="600"/>
              </a:spcAft>
              <a:buFont typeface="Arial" panose="020B0604020202020204" pitchFamily="34" charset="0"/>
              <a:buChar char="•"/>
            </a:pPr>
            <a:r>
              <a:rPr lang="en-US" sz="2200" b="0" i="0" u="none" strike="noStrike" baseline="0" dirty="0"/>
              <a:t>Contains the embryo (the sporophyte of the next generation) </a:t>
            </a:r>
          </a:p>
          <a:p>
            <a:pPr lvl="1">
              <a:spcBef>
                <a:spcPts val="600"/>
              </a:spcBef>
              <a:spcAft>
                <a:spcPts val="600"/>
              </a:spcAft>
              <a:buFont typeface="Arial" panose="020B0604020202020204" pitchFamily="34" charset="0"/>
              <a:buChar char="•"/>
            </a:pPr>
            <a:r>
              <a:rPr lang="en-US" sz="2200" b="0" i="0" u="none" strike="noStrike" baseline="0" dirty="0"/>
              <a:t>Stores food (endosperm) enclosed within a seed coat  </a:t>
            </a:r>
          </a:p>
          <a:p>
            <a:pPr>
              <a:spcBef>
                <a:spcPts val="600"/>
              </a:spcBef>
              <a:spcAft>
                <a:spcPts val="600"/>
              </a:spcAft>
            </a:pPr>
            <a:r>
              <a:rPr lang="en-US" sz="2400" b="1" i="0" u="none" strike="noStrike" baseline="0" dirty="0">
                <a:solidFill>
                  <a:srgbClr val="D90000"/>
                </a:solidFill>
              </a:rPr>
              <a:t>Fruit</a:t>
            </a:r>
            <a:r>
              <a:rPr lang="en-US" sz="2400" b="1" i="0" u="none" strike="noStrike" baseline="0" dirty="0"/>
              <a:t> </a:t>
            </a:r>
            <a:r>
              <a:rPr lang="en-US" sz="2400" b="0" i="0" u="none" strike="noStrike" baseline="0" dirty="0"/>
              <a:t>is derived from an ovary</a:t>
            </a:r>
          </a:p>
          <a:p>
            <a:pPr lvl="1">
              <a:spcBef>
                <a:spcPts val="600"/>
              </a:spcBef>
              <a:spcAft>
                <a:spcPts val="600"/>
              </a:spcAft>
              <a:buFont typeface="Arial" panose="020B0604020202020204" pitchFamily="34" charset="0"/>
              <a:buChar char="•"/>
            </a:pPr>
            <a:r>
              <a:rPr lang="en-US" sz="2200" b="0" i="0" u="none" strike="noStrike" baseline="0" dirty="0"/>
              <a:t>Some fruits, such as apples provide a moist, fleshy covering</a:t>
            </a:r>
          </a:p>
          <a:p>
            <a:pPr lvl="1">
              <a:spcBef>
                <a:spcPts val="600"/>
              </a:spcBef>
              <a:spcAft>
                <a:spcPts val="600"/>
              </a:spcAft>
              <a:buFont typeface="Arial" panose="020B0604020202020204" pitchFamily="34" charset="0"/>
              <a:buChar char="•"/>
            </a:pPr>
            <a:r>
              <a:rPr lang="en-US" sz="2200" b="0" i="0" u="none" strike="noStrike" baseline="0" dirty="0"/>
              <a:t>Other fruits, such acorns, provide a dry covering for seeds</a:t>
            </a:r>
            <a:endParaRPr lang="en-US" sz="2200" dirty="0"/>
          </a:p>
        </p:txBody>
      </p:sp>
      <p:sp>
        <p:nvSpPr>
          <p:cNvPr id="4" name="Slide Number Placeholder 3">
            <a:extLst>
              <a:ext uri="{FF2B5EF4-FFF2-40B4-BE49-F238E27FC236}">
                <a16:creationId xmlns:a16="http://schemas.microsoft.com/office/drawing/2014/main" id="{46F78C96-92C6-4595-83D1-89B72E6B75BE}"/>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88</a:t>
            </a:fld>
            <a:endParaRPr lang="en-IN"/>
          </a:p>
        </p:txBody>
      </p:sp>
    </p:spTree>
    <p:extLst>
      <p:ext uri="{BB962C8B-B14F-4D97-AF65-F5344CB8AC3E}">
        <p14:creationId xmlns:p14="http://schemas.microsoft.com/office/powerpoint/2010/main" val="560797966"/>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noChangeArrowheads="1"/>
          </p:cNvSpPr>
          <p:nvPr>
            <p:ph type="title"/>
          </p:nvPr>
        </p:nvSpPr>
        <p:spPr>
          <a:xfrm>
            <a:off x="0" y="2"/>
            <a:ext cx="9144000" cy="810410"/>
          </a:xfrm>
        </p:spPr>
        <p:txBody>
          <a:bodyPr>
            <a:normAutofit/>
          </a:bodyPr>
          <a:lstStyle/>
          <a:p>
            <a:r>
              <a:rPr lang="en-US" altLang="en-US" dirty="0"/>
              <a:t>Life Cycle of Flowering Plant</a:t>
            </a:r>
          </a:p>
        </p:txBody>
      </p:sp>
      <p:pic>
        <p:nvPicPr>
          <p:cNvPr id="3" name="Picture 2" descr="Details of a typical flowering plant life cycle include gametophyte formation, meiosis and spore formation, and double fertilization.">
            <a:extLst>
              <a:ext uri="{FF2B5EF4-FFF2-40B4-BE49-F238E27FC236}">
                <a16:creationId xmlns:a16="http://schemas.microsoft.com/office/drawing/2014/main" id="{41E177DE-AE8D-4D5E-82C9-6E47A01C9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2087" y="898001"/>
            <a:ext cx="4139826" cy="5061997"/>
          </a:xfrm>
          <a:prstGeom prst="rect">
            <a:avLst/>
          </a:prstGeom>
        </p:spPr>
      </p:pic>
      <p:sp>
        <p:nvSpPr>
          <p:cNvPr id="12" name="Content Placeholder 3"/>
          <p:cNvSpPr>
            <a:spLocks noGrp="1"/>
          </p:cNvSpPr>
          <p:nvPr>
            <p:ph type="body" sz="quarter" idx="19"/>
          </p:nvPr>
        </p:nvSpPr>
        <p:spPr>
          <a:xfrm>
            <a:off x="4040625" y="6047588"/>
            <a:ext cx="1062749" cy="275605"/>
          </a:xfrm>
        </p:spPr>
        <p:txBody>
          <a:bodyPr>
            <a:noAutofit/>
          </a:bodyPr>
          <a:lstStyle/>
          <a:p>
            <a:pPr algn="ctr"/>
            <a:r>
              <a:rPr lang="en-US" sz="1200" dirty="0"/>
              <a:t>Figure 23.23</a:t>
            </a:r>
          </a:p>
        </p:txBody>
      </p:sp>
      <p:sp>
        <p:nvSpPr>
          <p:cNvPr id="4" name="Text Placeholder 4">
            <a:extLst>
              <a:ext uri="{FF2B5EF4-FFF2-40B4-BE49-F238E27FC236}">
                <a16:creationId xmlns:a16="http://schemas.microsoft.com/office/drawing/2014/main" id="{E4775D58-A90A-4A16-A358-C7B02590B763}"/>
              </a:ext>
            </a:extLst>
          </p:cNvPr>
          <p:cNvSpPr>
            <a:spLocks noGrp="1"/>
          </p:cNvSpPr>
          <p:nvPr>
            <p:ph type="body" sz="quarter" idx="20"/>
          </p:nvPr>
        </p:nvSpPr>
        <p:spPr>
          <a:xfrm>
            <a:off x="2970827" y="6272980"/>
            <a:ext cx="3202343" cy="275605"/>
          </a:xfrm>
        </p:spPr>
        <p:txBody>
          <a:bodyPr>
            <a:normAutofit/>
          </a:bodyPr>
          <a:lstStyle/>
          <a:p>
            <a:pPr algn="ctr"/>
            <a:r>
              <a:rPr lang="en-US" sz="1200" dirty="0">
                <a:hlinkClick r:id="rId4" action="ppaction://hlinksldjump"/>
              </a:rPr>
              <a:t>Access the text alternative for slide images.</a:t>
            </a:r>
            <a:endParaRPr lang="en-US" sz="1200" dirty="0"/>
          </a:p>
        </p:txBody>
      </p:sp>
      <p:sp>
        <p:nvSpPr>
          <p:cNvPr id="5" name="Slide Number Placeholder 5">
            <a:extLst>
              <a:ext uri="{FF2B5EF4-FFF2-40B4-BE49-F238E27FC236}">
                <a16:creationId xmlns:a16="http://schemas.microsoft.com/office/drawing/2014/main" id="{16019258-E903-4E06-9596-B87FAC9EDCDF}"/>
              </a:ext>
            </a:extLst>
          </p:cNvPr>
          <p:cNvSpPr>
            <a:spLocks noGrp="1"/>
          </p:cNvSpPr>
          <p:nvPr>
            <p:ph type="sldNum" sz="quarter" idx="4"/>
          </p:nvPr>
        </p:nvSpPr>
        <p:spPr/>
        <p:txBody>
          <a:bodyPr/>
          <a:lstStyle/>
          <a:p>
            <a:fld id="{08F9AD23-695F-4808-8E99-6281554D0F77}" type="slidenum">
              <a:rPr lang="en-IN" smtClean="0"/>
              <a:t>89</a:t>
            </a:fld>
            <a:endParaRPr lang="en-IN"/>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p:cNvSpPr>
            <a:spLocks noGrp="1" noChangeArrowheads="1"/>
          </p:cNvSpPr>
          <p:nvPr>
            <p:ph type="title"/>
          </p:nvPr>
        </p:nvSpPr>
        <p:spPr>
          <a:xfrm>
            <a:off x="342900" y="12031"/>
            <a:ext cx="8458200" cy="810026"/>
          </a:xfrm>
        </p:spPr>
        <p:txBody>
          <a:bodyPr/>
          <a:lstStyle/>
          <a:p>
            <a:r>
              <a:rPr lang="en-US" altLang="en-US" dirty="0"/>
              <a:t>Flowers and Diversification</a:t>
            </a:r>
          </a:p>
        </p:txBody>
      </p:sp>
      <p:sp>
        <p:nvSpPr>
          <p:cNvPr id="100355" name="Content Placeholder 2"/>
          <p:cNvSpPr>
            <a:spLocks noGrp="1" noChangeArrowheads="1"/>
          </p:cNvSpPr>
          <p:nvPr>
            <p:ph idx="1"/>
          </p:nvPr>
        </p:nvSpPr>
        <p:spPr>
          <a:xfrm>
            <a:off x="457200" y="1202788"/>
            <a:ext cx="8229600" cy="5063197"/>
          </a:xfrm>
        </p:spPr>
        <p:txBody>
          <a:bodyPr>
            <a:normAutofit fontScale="92500" lnSpcReduction="20000"/>
          </a:bodyPr>
          <a:lstStyle/>
          <a:p>
            <a:r>
              <a:rPr lang="en-US" sz="2600" dirty="0"/>
              <a:t>V</a:t>
            </a:r>
            <a:r>
              <a:rPr lang="en-US" sz="2600" b="0" i="0" u="none" strike="noStrike" baseline="0" dirty="0"/>
              <a:t>arious ways pollen and seeds can be dispersed have resulted in many different types of flowers:</a:t>
            </a:r>
          </a:p>
          <a:p>
            <a:pPr lvl="1">
              <a:buFont typeface="Arial" panose="020B0604020202020204" pitchFamily="34" charset="0"/>
              <a:buChar char="•"/>
            </a:pPr>
            <a:r>
              <a:rPr lang="en-US" altLang="en-US" sz="2400" dirty="0"/>
              <a:t>Wind-pollinated flowers are usually not showy</a:t>
            </a:r>
          </a:p>
          <a:p>
            <a:pPr lvl="1">
              <a:buFont typeface="Arial" panose="020B0604020202020204" pitchFamily="34" charset="0"/>
              <a:buChar char="•"/>
            </a:pPr>
            <a:r>
              <a:rPr lang="en-US" altLang="en-US" sz="2400" dirty="0"/>
              <a:t>Bird-pollinated and insect-pollinated flowers are often colorful</a:t>
            </a:r>
          </a:p>
          <a:p>
            <a:pPr lvl="1">
              <a:buFont typeface="Arial" panose="020B0604020202020204" pitchFamily="34" charset="0"/>
              <a:buChar char="•"/>
            </a:pPr>
            <a:r>
              <a:rPr lang="en-US" altLang="en-US" sz="2400" dirty="0"/>
              <a:t>Night-blooming flowers attract nocturnal mammals or insects</a:t>
            </a:r>
          </a:p>
          <a:p>
            <a:pPr marL="625475" lvl="3" indent="-265113">
              <a:buFont typeface="Arial" panose="020B0604020202020204" pitchFamily="34" charset="0"/>
              <a:buChar char="•"/>
            </a:pPr>
            <a:r>
              <a:rPr lang="en-US" altLang="en-US" sz="2100" dirty="0"/>
              <a:t>Usually white or cream-colored and aromatic</a:t>
            </a:r>
          </a:p>
          <a:p>
            <a:pPr marL="0" lvl="1" indent="0">
              <a:buNone/>
            </a:pPr>
            <a:r>
              <a:rPr lang="en-US" altLang="en-US" sz="2600" dirty="0"/>
              <a:t>Many flowers are adapted to a specific pollinator</a:t>
            </a:r>
          </a:p>
          <a:p>
            <a:pPr marL="0" lvl="1" indent="0">
              <a:buNone/>
            </a:pPr>
            <a:r>
              <a:rPr lang="en-US" altLang="en-US" sz="2600" dirty="0"/>
              <a:t>Fruits of flowers protect and aid in seed dispersal</a:t>
            </a:r>
          </a:p>
          <a:p>
            <a:pPr marL="358775" lvl="2" indent="-358775">
              <a:buFont typeface="Arial" panose="020B0604020202020204" pitchFamily="34" charset="0"/>
              <a:buChar char="•"/>
            </a:pPr>
            <a:r>
              <a:rPr lang="en-US" altLang="en-US" sz="2400" dirty="0"/>
              <a:t>Utilize wind, gravity, water, and animals for dispersal</a:t>
            </a:r>
          </a:p>
        </p:txBody>
      </p:sp>
      <p:sp>
        <p:nvSpPr>
          <p:cNvPr id="4" name="Slide Number Placeholder 3">
            <a:extLst>
              <a:ext uri="{FF2B5EF4-FFF2-40B4-BE49-F238E27FC236}">
                <a16:creationId xmlns:a16="http://schemas.microsoft.com/office/drawing/2014/main" id="{8E89CCD1-B97E-4AF7-ACFE-C930620F1A3B}"/>
              </a:ext>
            </a:extLst>
          </p:cNvPr>
          <p:cNvSpPr>
            <a:spLocks noGrp="1"/>
          </p:cNvSpPr>
          <p:nvPr>
            <p:ph type="sldNum" sz="quarter" idx="4"/>
          </p:nvPr>
        </p:nvSpPr>
        <p:spPr>
          <a:xfrm>
            <a:off x="8479581" y="6484195"/>
            <a:ext cx="435820" cy="361774"/>
          </a:xfrm>
        </p:spPr>
        <p:txBody>
          <a:bodyPr/>
          <a:lstStyle/>
          <a:p>
            <a:fld id="{08F9AD23-695F-4808-8E99-6281554D0F77}" type="slidenum">
              <a:rPr lang="en-IN" smtClean="0"/>
              <a:t>90</a:t>
            </a:fld>
            <a:endParaRPr lang="en-IN"/>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Other Flower Terminology</a:t>
            </a:r>
            <a:endParaRPr lang="en-US" dirty="0"/>
          </a:p>
        </p:txBody>
      </p:sp>
      <p:sp>
        <p:nvSpPr>
          <p:cNvPr id="3" name="Content Placeholder 2"/>
          <p:cNvSpPr>
            <a:spLocks noGrp="1"/>
          </p:cNvSpPr>
          <p:nvPr>
            <p:ph type="body" sz="quarter" idx="19"/>
          </p:nvPr>
        </p:nvSpPr>
        <p:spPr>
          <a:xfrm>
            <a:off x="953739" y="1330489"/>
            <a:ext cx="5301782" cy="438490"/>
          </a:xfrm>
        </p:spPr>
        <p:txBody>
          <a:bodyPr>
            <a:noAutofit/>
          </a:bodyPr>
          <a:lstStyle/>
          <a:p>
            <a:pPr marL="0" indent="0">
              <a:buNone/>
              <a:tabLst>
                <a:tab pos="1714500" algn="l"/>
              </a:tabLst>
            </a:pPr>
            <a:r>
              <a:rPr lang="en-US" sz="2400" b="1" dirty="0">
                <a:solidFill>
                  <a:srgbClr val="0070C0"/>
                </a:solidFill>
                <a:latin typeface="Arial" panose="020B0604020202020204" pitchFamily="34" charset="0"/>
                <a:cs typeface="Arial" panose="020B0604020202020204" pitchFamily="34" charset="0"/>
              </a:rPr>
              <a:t>Table 23.3 </a:t>
            </a:r>
            <a:r>
              <a:rPr lang="en-US" sz="2400" dirty="0">
                <a:latin typeface="Arial" panose="020B0604020202020204" pitchFamily="34" charset="0"/>
                <a:cs typeface="Arial" panose="020B0604020202020204" pitchFamily="34" charset="0"/>
              </a:rPr>
              <a:t>Other Flower Terminology</a:t>
            </a:r>
          </a:p>
        </p:txBody>
      </p:sp>
      <p:sp>
        <p:nvSpPr>
          <p:cNvPr id="7" name="Text Placeholder 4" hidden="1">
            <a:extLst>
              <a:ext uri="{FF2B5EF4-FFF2-40B4-BE49-F238E27FC236}">
                <a16:creationId xmlns:a16="http://schemas.microsoft.com/office/drawing/2014/main" id="{5D3BC76C-DA86-4954-886D-C8756785000D}"/>
              </a:ext>
            </a:extLst>
          </p:cNvPr>
          <p:cNvSpPr>
            <a:spLocks noGrp="1"/>
          </p:cNvSpPr>
          <p:nvPr>
            <p:ph type="body" sz="quarter" idx="20"/>
          </p:nvPr>
        </p:nvSpPr>
        <p:spPr>
          <a:xfrm>
            <a:off x="2376893" y="2928149"/>
            <a:ext cx="4390208" cy="914400"/>
          </a:xfrm>
        </p:spPr>
        <p:txBody>
          <a:bodyPr>
            <a:normAutofit fontScale="85000" lnSpcReduction="10000"/>
          </a:bodyPr>
          <a:lstStyle/>
          <a:p>
            <a:r>
              <a:rPr lang="en-US" dirty="0"/>
              <a:t>Table divided into two columns summarizes other flower terminology. The column headers are: Term and description of flower.</a:t>
            </a:r>
            <a:endParaRPr lang="en-IN" dirty="0"/>
          </a:p>
        </p:txBody>
      </p:sp>
      <p:graphicFrame>
        <p:nvGraphicFramePr>
          <p:cNvPr id="5" name="Table">
            <a:extLst>
              <a:ext uri="{FF2B5EF4-FFF2-40B4-BE49-F238E27FC236}">
                <a16:creationId xmlns:a16="http://schemas.microsoft.com/office/drawing/2014/main" id="{586161BF-8211-456A-AECF-5FD543423167}"/>
              </a:ext>
            </a:extLst>
          </p:cNvPr>
          <p:cNvGraphicFramePr>
            <a:graphicFrameLocks/>
          </p:cNvGraphicFramePr>
          <p:nvPr>
            <p:extLst>
              <p:ext uri="{D42A27DB-BD31-4B8C-83A1-F6EECF244321}">
                <p14:modId xmlns:p14="http://schemas.microsoft.com/office/powerpoint/2010/main" val="946661585"/>
              </p:ext>
            </p:extLst>
          </p:nvPr>
        </p:nvGraphicFramePr>
        <p:xfrm>
          <a:off x="953739" y="1838199"/>
          <a:ext cx="7236515" cy="3334911"/>
        </p:xfrm>
        <a:graphic>
          <a:graphicData uri="http://schemas.openxmlformats.org/drawingml/2006/table">
            <a:tbl>
              <a:tblPr firstRow="1" bandRow="1">
                <a:tableStyleId>{5940675A-B579-460E-94D1-54222C63F5DA}</a:tableStyleId>
              </a:tblPr>
              <a:tblGrid>
                <a:gridCol w="2566543">
                  <a:extLst>
                    <a:ext uri="{9D8B030D-6E8A-4147-A177-3AD203B41FA5}">
                      <a16:colId xmlns:a16="http://schemas.microsoft.com/office/drawing/2014/main" val="2179079888"/>
                    </a:ext>
                  </a:extLst>
                </a:gridCol>
                <a:gridCol w="4669972">
                  <a:extLst>
                    <a:ext uri="{9D8B030D-6E8A-4147-A177-3AD203B41FA5}">
                      <a16:colId xmlns:a16="http://schemas.microsoft.com/office/drawing/2014/main" val="80926123"/>
                    </a:ext>
                  </a:extLst>
                </a:gridCol>
              </a:tblGrid>
              <a:tr h="487227">
                <a:tc>
                  <a:txBody>
                    <a:bodyPr/>
                    <a:lstStyle/>
                    <a:p>
                      <a:pPr marL="0" indent="114300"/>
                      <a:r>
                        <a:rPr lang="en-US" b="1" dirty="0"/>
                        <a:t>Term</a:t>
                      </a:r>
                      <a:endParaRPr lang="en-US" b="1" dirty="0">
                        <a:solidFill>
                          <a:schemeClr val="tx1"/>
                        </a:solidFill>
                      </a:endParaRPr>
                    </a:p>
                  </a:txBody>
                  <a:tcPr/>
                </a:tc>
                <a:tc>
                  <a:txBody>
                    <a:bodyPr/>
                    <a:lstStyle/>
                    <a:p>
                      <a:r>
                        <a:rPr lang="en-US" b="1" baseline="0" dirty="0"/>
                        <a:t>Description of Flower</a:t>
                      </a:r>
                      <a:endParaRPr lang="en-US" b="1" dirty="0">
                        <a:solidFill>
                          <a:schemeClr val="tx1"/>
                        </a:solidFill>
                      </a:endParaRPr>
                    </a:p>
                  </a:txBody>
                  <a:tcPr/>
                </a:tc>
                <a:extLst>
                  <a:ext uri="{0D108BD9-81ED-4DB2-BD59-A6C34878D82A}">
                    <a16:rowId xmlns:a16="http://schemas.microsoft.com/office/drawing/2014/main" val="365504491"/>
                  </a:ext>
                </a:extLst>
              </a:tr>
              <a:tr h="636814">
                <a:tc>
                  <a:txBody>
                    <a:bodyPr/>
                    <a:lstStyle/>
                    <a:p>
                      <a:pPr marL="0" indent="114300" algn="l"/>
                      <a:r>
                        <a:rPr lang="en-US" sz="1750" dirty="0"/>
                        <a:t>Complete</a:t>
                      </a:r>
                      <a:endParaRPr lang="en-US" sz="1750" dirty="0">
                        <a:solidFill>
                          <a:schemeClr val="tx1"/>
                        </a:solidFill>
                      </a:endParaRPr>
                    </a:p>
                  </a:txBody>
                  <a:tcPr/>
                </a:tc>
                <a:tc>
                  <a:txBody>
                    <a:bodyPr/>
                    <a:lstStyle/>
                    <a:p>
                      <a:pPr marL="179388" indent="-179388"/>
                      <a:r>
                        <a:rPr lang="en-US" sz="1750" dirty="0"/>
                        <a:t>All four parts (sepals, petals, stamens, and carpels)</a:t>
                      </a:r>
                      <a:r>
                        <a:rPr lang="en-US" sz="1750" baseline="0" dirty="0"/>
                        <a:t> present</a:t>
                      </a:r>
                      <a:endParaRPr lang="en-US" sz="1750" dirty="0"/>
                    </a:p>
                  </a:txBody>
                  <a:tcPr/>
                </a:tc>
                <a:extLst>
                  <a:ext uri="{0D108BD9-81ED-4DB2-BD59-A6C34878D82A}">
                    <a16:rowId xmlns:a16="http://schemas.microsoft.com/office/drawing/2014/main" val="3886519196"/>
                  </a:ext>
                </a:extLst>
              </a:tr>
              <a:tr h="410911">
                <a:tc>
                  <a:txBody>
                    <a:bodyPr/>
                    <a:lstStyle/>
                    <a:p>
                      <a:pPr marL="0" indent="114300"/>
                      <a:r>
                        <a:rPr lang="en-US" sz="1750" dirty="0"/>
                        <a:t>Incomplete</a:t>
                      </a:r>
                    </a:p>
                  </a:txBody>
                  <a:tcPr/>
                </a:tc>
                <a:tc>
                  <a:txBody>
                    <a:bodyPr/>
                    <a:lstStyle/>
                    <a:p>
                      <a:r>
                        <a:rPr lang="en-US" sz="1750" dirty="0"/>
                        <a:t>Lacks one or more of the four parts</a:t>
                      </a:r>
                    </a:p>
                  </a:txBody>
                  <a:tcPr/>
                </a:tc>
                <a:extLst>
                  <a:ext uri="{0D108BD9-81ED-4DB2-BD59-A6C34878D82A}">
                    <a16:rowId xmlns:a16="http://schemas.microsoft.com/office/drawing/2014/main" val="2802801297"/>
                  </a:ext>
                </a:extLst>
              </a:tr>
              <a:tr h="374435">
                <a:tc>
                  <a:txBody>
                    <a:bodyPr/>
                    <a:lstStyle/>
                    <a:p>
                      <a:pPr marL="0" indent="114300"/>
                      <a:r>
                        <a:rPr lang="en-US" sz="1750" dirty="0"/>
                        <a:t>Perfect</a:t>
                      </a:r>
                    </a:p>
                  </a:txBody>
                  <a:tcPr/>
                </a:tc>
                <a:tc>
                  <a:txBody>
                    <a:bodyPr/>
                    <a:lstStyle/>
                    <a:p>
                      <a:r>
                        <a:rPr lang="en-US" sz="1750" dirty="0"/>
                        <a:t>Has both stamens and (a) carpel(s)</a:t>
                      </a:r>
                    </a:p>
                  </a:txBody>
                  <a:tcPr/>
                </a:tc>
                <a:extLst>
                  <a:ext uri="{0D108BD9-81ED-4DB2-BD59-A6C34878D82A}">
                    <a16:rowId xmlns:a16="http://schemas.microsoft.com/office/drawing/2014/main" val="3113238912"/>
                  </a:ext>
                </a:extLst>
              </a:tr>
              <a:tr h="306424">
                <a:tc>
                  <a:txBody>
                    <a:bodyPr/>
                    <a:lstStyle/>
                    <a:p>
                      <a:pPr marL="0" indent="114300"/>
                      <a:r>
                        <a:rPr lang="en-US" sz="1750" dirty="0"/>
                        <a:t>Imperfect</a:t>
                      </a:r>
                    </a:p>
                  </a:txBody>
                  <a:tcPr/>
                </a:tc>
                <a:tc>
                  <a:txBody>
                    <a:bodyPr/>
                    <a:lstStyle/>
                    <a:p>
                      <a:r>
                        <a:rPr lang="en-US" sz="1750" dirty="0"/>
                        <a:t>Has stamens or (a) carpel(s),</a:t>
                      </a:r>
                      <a:r>
                        <a:rPr lang="en-US" sz="1750" baseline="0" dirty="0"/>
                        <a:t> but not both</a:t>
                      </a:r>
                      <a:endParaRPr lang="en-US" sz="1750" dirty="0"/>
                    </a:p>
                  </a:txBody>
                  <a:tcPr/>
                </a:tc>
                <a:extLst>
                  <a:ext uri="{0D108BD9-81ED-4DB2-BD59-A6C34878D82A}">
                    <a16:rowId xmlns:a16="http://schemas.microsoft.com/office/drawing/2014/main" val="3200630276"/>
                  </a:ext>
                </a:extLst>
              </a:tr>
              <a:tr h="222084">
                <a:tc>
                  <a:txBody>
                    <a:bodyPr/>
                    <a:lstStyle/>
                    <a:p>
                      <a:pPr marL="0" indent="114300"/>
                      <a:r>
                        <a:rPr lang="en-US" sz="1750" dirty="0"/>
                        <a:t>Inflorescence</a:t>
                      </a:r>
                    </a:p>
                  </a:txBody>
                  <a:tcPr/>
                </a:tc>
                <a:tc>
                  <a:txBody>
                    <a:bodyPr/>
                    <a:lstStyle/>
                    <a:p>
                      <a:r>
                        <a:rPr lang="en-US" sz="1750" dirty="0"/>
                        <a:t>A cluster</a:t>
                      </a:r>
                      <a:r>
                        <a:rPr lang="en-US" sz="1750" baseline="0" dirty="0"/>
                        <a:t> of flowers</a:t>
                      </a:r>
                      <a:endParaRPr lang="en-US" sz="1750" dirty="0"/>
                    </a:p>
                  </a:txBody>
                  <a:tcPr/>
                </a:tc>
                <a:extLst>
                  <a:ext uri="{0D108BD9-81ED-4DB2-BD59-A6C34878D82A}">
                    <a16:rowId xmlns:a16="http://schemas.microsoft.com/office/drawing/2014/main" val="342888273"/>
                  </a:ext>
                </a:extLst>
              </a:tr>
              <a:tr h="709244">
                <a:tc>
                  <a:txBody>
                    <a:bodyPr/>
                    <a:lstStyle/>
                    <a:p>
                      <a:pPr marL="0" indent="114300"/>
                      <a:r>
                        <a:rPr lang="en-US" sz="1750" dirty="0"/>
                        <a:t>Composite</a:t>
                      </a:r>
                    </a:p>
                  </a:txBody>
                  <a:tcPr/>
                </a:tc>
                <a:tc>
                  <a:txBody>
                    <a:bodyPr/>
                    <a:lstStyle/>
                    <a:p>
                      <a:r>
                        <a:rPr lang="en-US" sz="1750" dirty="0"/>
                        <a:t>Appears to be a single flower but consists</a:t>
                      </a:r>
                    </a:p>
                    <a:p>
                      <a:pPr marL="0" indent="179388"/>
                      <a:r>
                        <a:rPr lang="en-US" sz="1750" dirty="0"/>
                        <a:t>of a group of tiny flowers</a:t>
                      </a:r>
                    </a:p>
                  </a:txBody>
                  <a:tcPr/>
                </a:tc>
                <a:extLst>
                  <a:ext uri="{0D108BD9-81ED-4DB2-BD59-A6C34878D82A}">
                    <a16:rowId xmlns:a16="http://schemas.microsoft.com/office/drawing/2014/main" val="1636744969"/>
                  </a:ext>
                </a:extLst>
              </a:tr>
            </a:tbl>
          </a:graphicData>
        </a:graphic>
      </p:graphicFrame>
      <p:sp>
        <p:nvSpPr>
          <p:cNvPr id="4" name="Slide Number Placeholder 5">
            <a:extLst>
              <a:ext uri="{FF2B5EF4-FFF2-40B4-BE49-F238E27FC236}">
                <a16:creationId xmlns:a16="http://schemas.microsoft.com/office/drawing/2014/main" id="{F9FF21C1-38D1-4171-BBDB-FD6378D8601C}"/>
              </a:ext>
            </a:extLst>
          </p:cNvPr>
          <p:cNvSpPr>
            <a:spLocks noGrp="1"/>
          </p:cNvSpPr>
          <p:nvPr>
            <p:ph type="sldNum" sz="quarter" idx="4"/>
          </p:nvPr>
        </p:nvSpPr>
        <p:spPr/>
        <p:txBody>
          <a:bodyPr/>
          <a:lstStyle/>
          <a:p>
            <a:fld id="{08F9AD23-695F-4808-8E99-6281554D0F77}" type="slidenum">
              <a:rPr lang="en-IN" smtClean="0"/>
              <a:t>91</a:t>
            </a:fld>
            <a:endParaRPr lang="en-I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dirty="0"/>
              <a:t>End of main content</a:t>
            </a:r>
          </a:p>
        </p:txBody>
      </p:sp>
      <p:sp>
        <p:nvSpPr>
          <p:cNvPr id="3" name="Content Placeholder 8">
            <a:extLst>
              <a:ext uri="{FF2B5EF4-FFF2-40B4-BE49-F238E27FC236}">
                <a16:creationId xmlns:a16="http://schemas.microsoft.com/office/drawing/2014/main" id="{9BA4D7B8-9871-47C4-84B8-1C640B62E918}"/>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dirty="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dirty="0"/>
          </a:p>
        </p:txBody>
      </p:sp>
    </p:spTree>
    <p:extLst>
      <p:ext uri="{BB962C8B-B14F-4D97-AF65-F5344CB8AC3E}">
        <p14:creationId xmlns:p14="http://schemas.microsoft.com/office/powerpoint/2010/main" val="31503895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noProof="0"/>
              <a:t>Accessibility Content: Text Alternatives for Images</a:t>
            </a:r>
            <a:endParaRPr lang="en-IN" dirty="0"/>
          </a:p>
        </p:txBody>
      </p:sp>
    </p:spTree>
    <p:extLst>
      <p:ext uri="{BB962C8B-B14F-4D97-AF65-F5344CB8AC3E}">
        <p14:creationId xmlns:p14="http://schemas.microsoft.com/office/powerpoint/2010/main" val="24751155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4C2933-9AB3-4B95-A07A-9B3AC82FF331}"/>
              </a:ext>
            </a:extLst>
          </p:cNvPr>
          <p:cNvSpPr>
            <a:spLocks noGrp="1"/>
          </p:cNvSpPr>
          <p:nvPr>
            <p:ph type="title"/>
          </p:nvPr>
        </p:nvSpPr>
        <p:spPr/>
        <p:txBody>
          <a:bodyPr/>
          <a:lstStyle/>
          <a:p>
            <a:r>
              <a:rPr lang="en-US" altLang="en-US" dirty="0">
                <a:solidFill>
                  <a:schemeClr val="accent3">
                    <a:lumMod val="50000"/>
                  </a:schemeClr>
                </a:solidFill>
                <a:latin typeface="+mj-lt"/>
              </a:rPr>
              <a:t> Evolutionary History of Plants</a:t>
            </a:r>
            <a:r>
              <a:rPr lang="en-US" noProof="0" dirty="0"/>
              <a:t> - Text Alternative</a:t>
            </a:r>
            <a:endParaRPr lang="en-IN" dirty="0"/>
          </a:p>
        </p:txBody>
      </p:sp>
      <p:sp>
        <p:nvSpPr>
          <p:cNvPr id="5" name="Text Placeholder 2">
            <a:extLst>
              <a:ext uri="{FF2B5EF4-FFF2-40B4-BE49-F238E27FC236}">
                <a16:creationId xmlns:a16="http://schemas.microsoft.com/office/drawing/2014/main" id="{180637A7-959C-46FA-8053-AB4BA177A1EA}"/>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6" name="Content Placeholder 3">
            <a:extLst>
              <a:ext uri="{FF2B5EF4-FFF2-40B4-BE49-F238E27FC236}">
                <a16:creationId xmlns:a16="http://schemas.microsoft.com/office/drawing/2014/main" id="{EB74C14A-55D6-4118-8DF9-A182DABB7080}"/>
              </a:ext>
            </a:extLst>
          </p:cNvPr>
          <p:cNvSpPr>
            <a:spLocks noGrp="1"/>
          </p:cNvSpPr>
          <p:nvPr>
            <p:ph sz="quarter" idx="21"/>
          </p:nvPr>
        </p:nvSpPr>
        <p:spPr/>
        <p:txBody>
          <a:bodyPr/>
          <a:lstStyle/>
          <a:p>
            <a:r>
              <a:rPr lang="en-IN" dirty="0"/>
              <a:t>Common green algal ancestor leads to vascular (seed) through flowering plants and gymnosperms.</a:t>
            </a:r>
          </a:p>
          <a:p>
            <a:r>
              <a:rPr lang="en-IN" dirty="0"/>
              <a:t>Common green algal ancestor leads to vascular (seedless) through ferns and allies and lycophytes.</a:t>
            </a:r>
          </a:p>
          <a:p>
            <a:r>
              <a:rPr lang="en-IN" dirty="0"/>
              <a:t>Common green algal ancestor leads to nonvascular (bryophytes) through hornworts, mosses and liverworts. </a:t>
            </a:r>
          </a:p>
          <a:p>
            <a:r>
              <a:rPr lang="en-IN" dirty="0"/>
              <a:t>Common green algal ancestor leads to charophytes.</a:t>
            </a:r>
          </a:p>
        </p:txBody>
      </p:sp>
      <p:sp>
        <p:nvSpPr>
          <p:cNvPr id="7" name="Text Placeholder 4">
            <a:extLst>
              <a:ext uri="{FF2B5EF4-FFF2-40B4-BE49-F238E27FC236}">
                <a16:creationId xmlns:a16="http://schemas.microsoft.com/office/drawing/2014/main" id="{19F13CA7-A55A-49B3-9604-348B81AE2D88}"/>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3" name="Slide Number Placeholder 5">
            <a:extLst>
              <a:ext uri="{FF2B5EF4-FFF2-40B4-BE49-F238E27FC236}">
                <a16:creationId xmlns:a16="http://schemas.microsoft.com/office/drawing/2014/main" id="{CC239667-E29E-4838-9BC8-1A87FE42C43A}"/>
              </a:ext>
            </a:extLst>
          </p:cNvPr>
          <p:cNvSpPr>
            <a:spLocks noGrp="1"/>
          </p:cNvSpPr>
          <p:nvPr>
            <p:ph type="sldNum" sz="quarter" idx="10"/>
          </p:nvPr>
        </p:nvSpPr>
        <p:spPr/>
        <p:txBody>
          <a:bodyPr/>
          <a:lstStyle/>
          <a:p>
            <a:fld id="{68151E55-6873-49E2-B8D5-2F265E6F1973}" type="slidenum">
              <a:rPr lang="en-US" smtClean="0"/>
              <a:pPr/>
              <a:t>94</a:t>
            </a:fld>
            <a:endParaRPr lang="en-US" dirty="0"/>
          </a:p>
        </p:txBody>
      </p:sp>
    </p:spTree>
    <p:extLst>
      <p:ext uri="{BB962C8B-B14F-4D97-AF65-F5344CB8AC3E}">
        <p14:creationId xmlns:p14="http://schemas.microsoft.com/office/powerpoint/2010/main" val="6519154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sz="3600" dirty="0">
                <a:solidFill>
                  <a:schemeClr val="accent3">
                    <a:lumMod val="50000"/>
                  </a:schemeClr>
                </a:solidFill>
                <a:latin typeface="+mn-lt"/>
              </a:rPr>
              <a:t>Embryo Difference in Green Algae and Land Plants</a:t>
            </a:r>
            <a:r>
              <a:rPr lang="en-US" noProof="0" dirty="0"/>
              <a:t> -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Microscopic view of embryo of Oedogonium is depicted a tube-like alga with unprotected embryo. B) Microscopic view shows a nourished and protected embryo of </a:t>
            </a:r>
            <a:r>
              <a:rPr lang="en-US" sz="1400" dirty="0" err="1"/>
              <a:t>Capsella</a:t>
            </a:r>
            <a:r>
              <a:rPr lang="en-US" sz="1400" dirty="0"/>
              <a:t> encapsulated in seed.</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95</a:t>
            </a:fld>
            <a:endParaRPr lang="en-US" dirty="0"/>
          </a:p>
        </p:txBody>
      </p:sp>
    </p:spTree>
    <p:extLst>
      <p:ext uri="{BB962C8B-B14F-4D97-AF65-F5344CB8AC3E}">
        <p14:creationId xmlns:p14="http://schemas.microsoft.com/office/powerpoint/2010/main" val="10782958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Leaf Adaptation to Prevent Desiccation </a:t>
            </a:r>
            <a:br>
              <a:rPr lang="en-US" altLang="en-US" dirty="0">
                <a:solidFill>
                  <a:schemeClr val="accent3">
                    <a:lumMod val="50000"/>
                  </a:schemeClr>
                </a:solidFill>
                <a:latin typeface="+mn-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Leaves have a waterproof cuticle: </a:t>
            </a:r>
          </a:p>
          <a:p>
            <a:r>
              <a:rPr lang="en-US" sz="1400" dirty="0"/>
              <a:t>Enlarged diagram shows the presence of white cuticle. </a:t>
            </a:r>
          </a:p>
          <a:p>
            <a:r>
              <a:rPr lang="en-US" sz="1400" dirty="0"/>
              <a:t>B) Falsely colored scanning electron micrograph of leaf surface: </a:t>
            </a:r>
          </a:p>
          <a:p>
            <a:r>
              <a:rPr lang="en-US" sz="1400" dirty="0"/>
              <a:t>Micrograph (enlarged 214 times) shows presence of eye shaped stomata across the surface of leaf. </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a:xfrm>
            <a:off x="703545" y="5742807"/>
            <a:ext cx="7736911" cy="385194"/>
          </a:xfrm>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96</a:t>
            </a:fld>
            <a:endParaRPr lang="en-US" dirty="0"/>
          </a:p>
        </p:txBody>
      </p:sp>
    </p:spTree>
    <p:extLst>
      <p:ext uri="{BB962C8B-B14F-4D97-AF65-F5344CB8AC3E}">
        <p14:creationId xmlns:p14="http://schemas.microsoft.com/office/powerpoint/2010/main" val="276609019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Alternation of Generations in Land Plants </a:t>
            </a:r>
            <a:br>
              <a:rPr lang="en-US" altLang="en-US" dirty="0">
                <a:solidFill>
                  <a:schemeClr val="accent3">
                    <a:lumMod val="50000"/>
                  </a:schemeClr>
                </a:solidFill>
                <a:latin typeface="+mn-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a:xfrm>
            <a:off x="703545" y="1824957"/>
            <a:ext cx="7736911" cy="3773228"/>
          </a:xfrm>
        </p:spPr>
        <p:txBody>
          <a:bodyPr/>
          <a:lstStyle/>
          <a:p>
            <a:r>
              <a:rPr lang="en-GB" sz="1400" dirty="0"/>
              <a:t>In diploid phase, zygote(2n) on mitosis leads to sporophyte (2n), which further leads to sporangium (2).</a:t>
            </a:r>
          </a:p>
          <a:p>
            <a:r>
              <a:rPr lang="en-GB" sz="1400" dirty="0"/>
              <a:t>In haploid phase (n), meiosis leads to spores (n), which on mitosis leads to gametophyte (n). Further, on mitosis, gametes (n) are formed which on fertilization leads to formation of zygote in diploid phase.</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97</a:t>
            </a:fld>
            <a:endParaRPr lang="en-US" dirty="0"/>
          </a:p>
        </p:txBody>
      </p:sp>
    </p:spTree>
    <p:extLst>
      <p:ext uri="{BB962C8B-B14F-4D97-AF65-F5344CB8AC3E}">
        <p14:creationId xmlns:p14="http://schemas.microsoft.com/office/powerpoint/2010/main" val="292294017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j-lt"/>
              </a:rPr>
              <a:t>Reduction in the Size of the Gametophyte </a:t>
            </a:r>
            <a:br>
              <a:rPr lang="en-US" altLang="en-US" dirty="0">
                <a:solidFill>
                  <a:schemeClr val="accent3">
                    <a:lumMod val="50000"/>
                  </a:schemeClr>
                </a:solidFill>
                <a:latin typeface="+mj-lt"/>
              </a:rPr>
            </a:b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GB" sz="1400" dirty="0"/>
              <a:t>The data is as follows:  </a:t>
            </a:r>
          </a:p>
          <a:p>
            <a:r>
              <a:rPr lang="en-GB" sz="1400" dirty="0"/>
              <a:t>Gametophyte (n): </a:t>
            </a:r>
          </a:p>
          <a:p>
            <a:r>
              <a:rPr lang="en-GB" sz="1400" dirty="0"/>
              <a:t>Moss: rhizoids.</a:t>
            </a:r>
          </a:p>
          <a:p>
            <a:r>
              <a:rPr lang="en-GB" sz="1400" dirty="0"/>
              <a:t>Fern: rhizoids</a:t>
            </a:r>
          </a:p>
          <a:p>
            <a:r>
              <a:rPr lang="en-GB" sz="1400" dirty="0"/>
              <a:t>Gymnosperm: blank</a:t>
            </a:r>
          </a:p>
          <a:p>
            <a:r>
              <a:rPr lang="en-GB" sz="1400" dirty="0"/>
              <a:t>Angiosperm: blank</a:t>
            </a:r>
          </a:p>
          <a:p>
            <a:r>
              <a:rPr lang="en-GB" sz="1400" dirty="0"/>
              <a:t>Sporophytes (2n): </a:t>
            </a:r>
          </a:p>
          <a:p>
            <a:r>
              <a:rPr lang="en-GB" sz="1400" dirty="0"/>
              <a:t>Moss: spores</a:t>
            </a:r>
          </a:p>
          <a:p>
            <a:r>
              <a:rPr lang="en-GB" sz="1400" dirty="0"/>
              <a:t>Fern: spores and roots</a:t>
            </a:r>
          </a:p>
          <a:p>
            <a:r>
              <a:rPr lang="en-GB" sz="1400" dirty="0"/>
              <a:t>Gymnosperm: seed and roots </a:t>
            </a:r>
          </a:p>
          <a:p>
            <a:r>
              <a:rPr lang="en-GB" sz="1400" dirty="0"/>
              <a:t>Angiosperm: seed and roots. </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98</a:t>
            </a:fld>
            <a:endParaRPr lang="en-US" dirty="0"/>
          </a:p>
        </p:txBody>
      </p:sp>
    </p:spTree>
    <p:extLst>
      <p:ext uri="{BB962C8B-B14F-4D97-AF65-F5344CB8AC3E}">
        <p14:creationId xmlns:p14="http://schemas.microsoft.com/office/powerpoint/2010/main" val="19102161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solidFill>
                  <a:schemeClr val="accent3">
                    <a:lumMod val="50000"/>
                  </a:schemeClr>
                </a:solidFill>
                <a:latin typeface="+mn-lt"/>
              </a:rPr>
              <a:t>Liverwort, </a:t>
            </a:r>
            <a:r>
              <a:rPr lang="en-US" altLang="en-US" i="1" dirty="0">
                <a:solidFill>
                  <a:schemeClr val="accent3">
                    <a:lumMod val="50000"/>
                  </a:schemeClr>
                </a:solidFill>
                <a:latin typeface="+mn-lt"/>
              </a:rPr>
              <a:t>Marchantia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GB" sz="1400" dirty="0"/>
              <a:t>a) Microscopic view shows thallus present between </a:t>
            </a:r>
            <a:r>
              <a:rPr lang="en-GB" sz="1400" dirty="0" err="1"/>
              <a:t>gemma</a:t>
            </a:r>
            <a:r>
              <a:rPr lang="en-GB" sz="1400" dirty="0"/>
              <a:t> cup and rhizoids.</a:t>
            </a:r>
          </a:p>
          <a:p>
            <a:r>
              <a:rPr lang="en-GB" sz="1400" dirty="0"/>
              <a:t>b) Male gametophytes bearing antheridia is depicted as sac-like structure of sterile cells.</a:t>
            </a:r>
          </a:p>
          <a:p>
            <a:r>
              <a:rPr lang="en-GB" sz="1400" dirty="0"/>
              <a:t>c) Female gametophyte bearing archegonia is depicted as umbrella shaped  structure on top of a stalk.</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99</a:t>
            </a:fld>
            <a:endParaRPr lang="en-US" dirty="0"/>
          </a:p>
        </p:txBody>
      </p:sp>
    </p:spTree>
    <p:extLst>
      <p:ext uri="{BB962C8B-B14F-4D97-AF65-F5344CB8AC3E}">
        <p14:creationId xmlns:p14="http://schemas.microsoft.com/office/powerpoint/2010/main" val="323246238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4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n-lt"/>
              </a:rPr>
              <a:t> The mature sporophyte has a foot buried in female gametophyte tissue, a stalk, and an upper capsule (the sporangium), where meiosis occurs and spores are produced.</a:t>
            </a:r>
            <a:endParaRPr lang="en-US" sz="1100" dirty="0">
              <a:latin typeface="+mn-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100</a:t>
            </a:fld>
            <a:endParaRPr lang="en-US" dirty="0"/>
          </a:p>
        </p:txBody>
      </p:sp>
    </p:spTree>
    <p:extLst>
      <p:ext uri="{BB962C8B-B14F-4D97-AF65-F5344CB8AC3E}">
        <p14:creationId xmlns:p14="http://schemas.microsoft.com/office/powerpoint/2010/main" val="13843837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5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When the lid (operculum) of a capsule falls of, the spores are mature. One or two rings of teeth project inward from the margin of the capsule. The teeth close the opening, except when the weather is dry.</a:t>
            </a:r>
            <a:endParaRPr lang="en-US"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101</a:t>
            </a:fld>
            <a:endParaRPr lang="en-US" dirty="0"/>
          </a:p>
        </p:txBody>
      </p:sp>
    </p:spTree>
    <p:extLst>
      <p:ext uri="{BB962C8B-B14F-4D97-AF65-F5344CB8AC3E}">
        <p14:creationId xmlns:p14="http://schemas.microsoft.com/office/powerpoint/2010/main" val="49782243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Moss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fontScale="70000" lnSpcReduction="20000"/>
          </a:bodyPr>
          <a:lstStyle/>
          <a:p>
            <a:r>
              <a:rPr lang="en-US" sz="1400" dirty="0"/>
              <a:t>The details of the moss life cycle between fertilization and meiosis are as follows: </a:t>
            </a:r>
          </a:p>
          <a:p>
            <a:r>
              <a:rPr lang="en-US" sz="1400" dirty="0"/>
              <a:t>1. The mature gametophytes: </a:t>
            </a:r>
          </a:p>
          <a:p>
            <a:r>
              <a:rPr lang="en-US" sz="1400" dirty="0"/>
              <a:t>In mosses, the leafy gametophyte shoots bear either antheridia or archegonia, where gametes are produced by mitosis. </a:t>
            </a:r>
          </a:p>
          <a:p>
            <a:r>
              <a:rPr lang="en-US" sz="1400" dirty="0"/>
              <a:t>2. Fertilization: </a:t>
            </a:r>
          </a:p>
          <a:p>
            <a:r>
              <a:rPr lang="en-US" sz="1400" dirty="0"/>
              <a:t>Flagellate sperm produced in antheridia swim in external water to archegonia, each bearing a single egg. </a:t>
            </a:r>
          </a:p>
          <a:p>
            <a:r>
              <a:rPr lang="en-US" sz="1400" dirty="0"/>
              <a:t>3. The zygote: </a:t>
            </a:r>
          </a:p>
          <a:p>
            <a:r>
              <a:rPr lang="en-US" sz="1400" dirty="0"/>
              <a:t>The zygote and developing sporophyte are retained within the archegonium. </a:t>
            </a:r>
          </a:p>
          <a:p>
            <a:r>
              <a:rPr lang="en-US" sz="1400" dirty="0"/>
              <a:t>4. The sporophyte: </a:t>
            </a:r>
          </a:p>
          <a:p>
            <a:r>
              <a:rPr lang="en-US" sz="1400" dirty="0"/>
              <a:t>The mature sporophyte has a foot buried in female gametophyte tissue, a stalk, and an upper capsule (the sporangium), where meiosis occurs and spores are produced.</a:t>
            </a:r>
          </a:p>
          <a:p>
            <a:r>
              <a:rPr lang="en-US" sz="1400" dirty="0"/>
              <a:t>5. The spores: </a:t>
            </a:r>
          </a:p>
          <a:p>
            <a:r>
              <a:rPr lang="en-US" sz="1400" dirty="0"/>
              <a:t>When the lid (operculum) of a capsule falls of, the spores are mature. One or two rings of teeth project inward from the margin of the capsule. The teeth close the opening, except when the weather is dry.</a:t>
            </a:r>
          </a:p>
          <a:p>
            <a:r>
              <a:rPr lang="en-US" sz="1400" dirty="0"/>
              <a:t>6. Spore dispersal:</a:t>
            </a:r>
          </a:p>
          <a:p>
            <a:r>
              <a:rPr lang="en-US" sz="1400" dirty="0"/>
              <a:t>Spores are released when they are most likely to be dispersed by air currents.</a:t>
            </a:r>
          </a:p>
          <a:p>
            <a:r>
              <a:rPr lang="en-US" sz="1400" dirty="0"/>
              <a:t>7. The immature gametophyte:</a:t>
            </a:r>
          </a:p>
          <a:p>
            <a:r>
              <a:rPr lang="en-US" sz="1400" dirty="0"/>
              <a:t>A spore germinates into a male or female protonema, the first stage of the male and the female gametophytes.</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102</a:t>
            </a:fld>
            <a:endParaRPr lang="en-US" dirty="0"/>
          </a:p>
        </p:txBody>
      </p:sp>
    </p:spTree>
    <p:extLst>
      <p:ext uri="{BB962C8B-B14F-4D97-AF65-F5344CB8AC3E}">
        <p14:creationId xmlns:p14="http://schemas.microsoft.com/office/powerpoint/2010/main" val="1114581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Lycophytes Example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A spike moss, Selaginella.</a:t>
            </a:r>
          </a:p>
          <a:p>
            <a:r>
              <a:rPr lang="en-US" sz="1400" dirty="0"/>
              <a:t>B) The upper part of club moss consists of strobili (which further consists of sporangia units) and leaves (microphylls), the middle parts consists of branches and the lower part consists of aerial stem, lateral rhizome and root.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103</a:t>
            </a:fld>
            <a:endParaRPr lang="en-US" dirty="0"/>
          </a:p>
        </p:txBody>
      </p:sp>
    </p:spTree>
    <p:extLst>
      <p:ext uri="{BB962C8B-B14F-4D97-AF65-F5344CB8AC3E}">
        <p14:creationId xmlns:p14="http://schemas.microsoft.com/office/powerpoint/2010/main" val="388443833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Microphylls and Megaphylls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A) Microphyll: </a:t>
            </a:r>
          </a:p>
          <a:p>
            <a:r>
              <a:rPr lang="en-US" sz="1400" dirty="0"/>
              <a:t>It consists of a single strand of vascular tissue. </a:t>
            </a:r>
          </a:p>
          <a:p>
            <a:r>
              <a:rPr lang="en-US" sz="1400" dirty="0"/>
              <a:t>Megaphyll:  </a:t>
            </a:r>
          </a:p>
          <a:p>
            <a:r>
              <a:rPr lang="en-US" sz="1400" dirty="0"/>
              <a:t>It consists of branched vascular tissue. </a:t>
            </a:r>
          </a:p>
          <a:p>
            <a:r>
              <a:rPr lang="en-US" sz="1400" dirty="0"/>
              <a:t>B) Megaphyll evolution process: </a:t>
            </a:r>
          </a:p>
          <a:p>
            <a:r>
              <a:rPr lang="en-US" sz="1400" dirty="0"/>
              <a:t>The branched stem system leads to one branch began to dominate the stem system, leading to the side branches flattened into a single plane which further leads to tissue filled in the spaces between the side branches and megaphyll leaf. </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104</a:t>
            </a:fld>
            <a:endParaRPr lang="en-US" dirty="0"/>
          </a:p>
        </p:txBody>
      </p:sp>
    </p:spTree>
    <p:extLst>
      <p:ext uri="{BB962C8B-B14F-4D97-AF65-F5344CB8AC3E}">
        <p14:creationId xmlns:p14="http://schemas.microsoft.com/office/powerpoint/2010/main" val="407310785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6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Fertilization takes place when moisture is present, because the flagellated sperm must swim in a film of water from the antheridia to the egg within the archegonium.</a:t>
            </a:r>
            <a:endParaRPr lang="en-GB" sz="11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105</a:t>
            </a:fld>
            <a:endParaRPr lang="en-US" dirty="0"/>
          </a:p>
        </p:txBody>
      </p:sp>
    </p:spTree>
    <p:extLst>
      <p:ext uri="{BB962C8B-B14F-4D97-AF65-F5344CB8AC3E}">
        <p14:creationId xmlns:p14="http://schemas.microsoft.com/office/powerpoint/2010/main" val="195203503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7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resulting sporophyte zygote begins its development inside an archegonium. As the distinctive first leaf appears above the prothallus, and the roots develop below it, the sporophyte becomes visible.</a:t>
            </a:r>
            <a:endParaRPr lang="en-GB"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106</a:t>
            </a:fld>
            <a:endParaRPr lang="en-US" dirty="0"/>
          </a:p>
        </p:txBody>
      </p:sp>
    </p:spTree>
    <p:extLst>
      <p:ext uri="{BB962C8B-B14F-4D97-AF65-F5344CB8AC3E}">
        <p14:creationId xmlns:p14="http://schemas.microsoft.com/office/powerpoint/2010/main" val="372311547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Fern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r>
              <a:rPr lang="en-US" sz="1400" dirty="0"/>
              <a:t>Details of the fern life cycle are shown. 1. The sporophyte: The sporophyte portion of the life cycle is dominant in ferns. 2. The sporangia: In this fern, the sporangia are located within sori, on the underside of the leaflets, and protected by the indusium. 3. The spores: Within a sporangium, meiosis occurs and spores are produced. When a sporangium opens, the spores are released. 4. The gametophyte: A spore germinates into a prothallus (the gametophyte), which typically bears archegonia at the notch and antheridia at the tip between the rhizoids. 5. Fertilization: Fertilization takes place when moisture is present, because the flagellated sperm must swim in a film of water from the antheridia to the egg within the archegonium. 6. The zygote: The resulting sporophyte zygote begins its development inside an archegonium. As the distinctive first leaf appears above the prothallus, and the roots develop below it, the sporophyte becomes visible. 7. The fronds: The sporophyte develops a root-bearing rhizome from which the aerial fronds project.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107</a:t>
            </a:fld>
            <a:endParaRPr lang="en-US" dirty="0"/>
          </a:p>
        </p:txBody>
      </p:sp>
    </p:spTree>
    <p:extLst>
      <p:ext uri="{BB962C8B-B14F-4D97-AF65-F5344CB8AC3E}">
        <p14:creationId xmlns:p14="http://schemas.microsoft.com/office/powerpoint/2010/main" val="29181537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3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pollen sac: A pollen cone has two pollen sacs (microsporangia) that lie on the underside of each scale. The ovules: The seed cone has two ovules (megasporangia) that lie on the upper surface of each scale.</a:t>
            </a:r>
            <a:endParaRPr lang="en-GB" sz="11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108</a:t>
            </a:fld>
            <a:endParaRPr lang="en-US" dirty="0"/>
          </a:p>
        </p:txBody>
      </p:sp>
    </p:spTree>
    <p:extLst>
      <p:ext uri="{BB962C8B-B14F-4D97-AF65-F5344CB8AC3E}">
        <p14:creationId xmlns:p14="http://schemas.microsoft.com/office/powerpoint/2010/main" val="206621746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6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mature female gametophyte: Only one of the megaspores undergoes mitosis and develops into a mature female gametophyte, having 2 to 6 archegonia. Each archegonium contains a single large egg lying near the ovule.</a:t>
            </a:r>
            <a:endParaRPr lang="en-GB" sz="10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109</a:t>
            </a:fld>
            <a:endParaRPr lang="en-US" dirty="0"/>
          </a:p>
        </p:txBody>
      </p:sp>
    </p:spTree>
    <p:extLst>
      <p:ext uri="{BB962C8B-B14F-4D97-AF65-F5344CB8AC3E}">
        <p14:creationId xmlns:p14="http://schemas.microsoft.com/office/powerpoint/2010/main" val="34300371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7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zygote: Once a pollen grain reaches a seed cone, it becomes a mature male gametophyte. A pollen tube digests its way slowly toward a female gametophyte and discharges two </a:t>
            </a:r>
            <a:r>
              <a:rPr lang="en-US" b="0" i="0" u="none" strike="noStrike" dirty="0" err="1">
                <a:solidFill>
                  <a:srgbClr val="000000"/>
                </a:solidFill>
                <a:effectLst/>
                <a:latin typeface="+mj-lt"/>
              </a:rPr>
              <a:t>nonflagellated</a:t>
            </a:r>
            <a:r>
              <a:rPr lang="en-US" b="0" i="0" u="none" strike="noStrike" dirty="0">
                <a:solidFill>
                  <a:srgbClr val="000000"/>
                </a:solidFill>
                <a:effectLst/>
                <a:latin typeface="+mj-lt"/>
              </a:rPr>
              <a:t> sperm. One of these fertilizes an egg in an archegonium, and a zygote results.</a:t>
            </a:r>
            <a:endParaRPr lang="en-GB" sz="8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110</a:t>
            </a:fld>
            <a:endParaRPr lang="en-US" dirty="0"/>
          </a:p>
        </p:txBody>
      </p:sp>
    </p:spTree>
    <p:extLst>
      <p:ext uri="{BB962C8B-B14F-4D97-AF65-F5344CB8AC3E}">
        <p14:creationId xmlns:p14="http://schemas.microsoft.com/office/powerpoint/2010/main" val="204924358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8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a:bodyPr>
          <a:lstStyle/>
          <a:p>
            <a:r>
              <a:rPr lang="en-US" b="0" i="0" u="none" strike="noStrike" dirty="0">
                <a:solidFill>
                  <a:srgbClr val="000000"/>
                </a:solidFill>
                <a:effectLst/>
                <a:latin typeface="+mj-lt"/>
              </a:rPr>
              <a:t>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endParaRPr lang="en-GB" sz="600" dirty="0">
              <a:latin typeface="+mj-lt"/>
            </a:endParaRP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111</a:t>
            </a:fld>
            <a:endParaRPr lang="en-US" dirty="0"/>
          </a:p>
        </p:txBody>
      </p:sp>
    </p:spTree>
    <p:extLst>
      <p:ext uri="{BB962C8B-B14F-4D97-AF65-F5344CB8AC3E}">
        <p14:creationId xmlns:p14="http://schemas.microsoft.com/office/powerpoint/2010/main" val="37338714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Pine Life Cycle </a:t>
            </a:r>
            <a:r>
              <a:rPr lang="en-US" altLang="en-US" sz="1400" dirty="0"/>
              <a:t>9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lnSpcReduction="10000"/>
          </a:bodyPr>
          <a:lstStyle/>
          <a:p>
            <a:r>
              <a:rPr lang="en-US" sz="1400" dirty="0"/>
              <a:t>Details of a typical conifer life cycle are shown. 1. The pollen cones: Typically, the pollen cones are quite small and develop near the tips of lower branches. The seed cones: The seed cones are larger than the pollen cones and are located near the tips of higher branches. 2. The pollen sac: A pollen cone has two pollen sacs (microsporangia) that lie on the underside of each scale. The ovules: The seed cone has two ovules (megasporangia) that lie on the upper surface of each scale. 3. The microspores: Within the pollen sacs, meiosis produces four microspores. The megaspore: Within an ovule, meiosis produces four megaspores; only one survives. 4. The pollen grains: Each microspore becomes a pollen grain, which has two wings and is carried by the wind to the seed cone during pollination. 5. The mature female gametophyte: Only one of the megaspores undergoes mitosis and develops into a mature female gametophyte, having two to six archegonia. Each archegonium contains a single large egg lying near the ovule. 6. The zygote: Once a pollen grain reaches a seed cone, it becomes a mature male gametophyte. A pollen tube digests its way slowly toward a female gametophyte and discharges two </a:t>
            </a:r>
            <a:r>
              <a:rPr lang="en-US" sz="1400" dirty="0" err="1"/>
              <a:t>nonflagellated</a:t>
            </a:r>
            <a:r>
              <a:rPr lang="en-US" sz="1400" dirty="0"/>
              <a:t> sperm. One of these fertilizes an egg in an archegonium, and a zygote results. 7. The sporophyte: After fertilization, the ovule matures and becomes the seed composed of the embryo, reserve food, and a seed coat. Finally, in the fall of the second season, the seed cone, by now woody and hard, opens to release winged seeds. When a seed germinates, the sporophyte embryo develops into a new pine tree, and the cycle is complete.</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112</a:t>
            </a:fld>
            <a:endParaRPr lang="en-US" dirty="0"/>
          </a:p>
        </p:txBody>
      </p:sp>
    </p:spTree>
    <p:extLst>
      <p:ext uri="{BB962C8B-B14F-4D97-AF65-F5344CB8AC3E}">
        <p14:creationId xmlns:p14="http://schemas.microsoft.com/office/powerpoint/2010/main" val="415847615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Flower Diversity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lstStyle/>
          <a:p>
            <a:pPr marL="0" indent="0">
              <a:buNone/>
            </a:pPr>
            <a:r>
              <a:rPr lang="en-GB" sz="1400" dirty="0"/>
              <a:t>Regardless of size and shape, flowers, such as this </a:t>
            </a:r>
          </a:p>
          <a:p>
            <a:pPr>
              <a:buAutoNum type="alphaLcParenBoth"/>
            </a:pPr>
            <a:r>
              <a:rPr lang="en-GB" sz="1400" dirty="0"/>
              <a:t>monocot, and </a:t>
            </a:r>
          </a:p>
          <a:p>
            <a:pPr>
              <a:buAutoNum type="alphaLcParenBoth"/>
            </a:pPr>
            <a:r>
              <a:rPr lang="en-GB" sz="1400" dirty="0"/>
              <a:t>eudicot, share certain features.</a:t>
            </a:r>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113</a:t>
            </a:fld>
            <a:endParaRPr lang="en-US" dirty="0"/>
          </a:p>
        </p:txBody>
      </p:sp>
    </p:spTree>
    <p:extLst>
      <p:ext uri="{BB962C8B-B14F-4D97-AF65-F5344CB8AC3E}">
        <p14:creationId xmlns:p14="http://schemas.microsoft.com/office/powerpoint/2010/main" val="24560483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3F09C-938B-4A6B-BB8A-501BE5E9136B}"/>
              </a:ext>
            </a:extLst>
          </p:cNvPr>
          <p:cNvSpPr>
            <a:spLocks noGrp="1"/>
          </p:cNvSpPr>
          <p:nvPr>
            <p:ph type="title"/>
          </p:nvPr>
        </p:nvSpPr>
        <p:spPr/>
        <p:txBody>
          <a:bodyPr/>
          <a:lstStyle/>
          <a:p>
            <a:r>
              <a:rPr lang="en-US" altLang="en-US" dirty="0"/>
              <a:t>Life Cycle of Flowering Plant </a:t>
            </a:r>
            <a:r>
              <a:rPr lang="en-US" noProof="0" dirty="0"/>
              <a:t>- Text Alternative</a:t>
            </a:r>
            <a:endParaRPr lang="en-IN" dirty="0"/>
          </a:p>
        </p:txBody>
      </p:sp>
      <p:sp>
        <p:nvSpPr>
          <p:cNvPr id="3" name="Text Placeholder 2">
            <a:extLst>
              <a:ext uri="{FF2B5EF4-FFF2-40B4-BE49-F238E27FC236}">
                <a16:creationId xmlns:a16="http://schemas.microsoft.com/office/drawing/2014/main" id="{81E5C9E4-C48F-4E8A-8825-B5D750DAAEEF}"/>
              </a:ext>
            </a:extLst>
          </p:cNvPr>
          <p:cNvSpPr>
            <a:spLocks noGrp="1"/>
          </p:cNvSpPr>
          <p:nvPr>
            <p:ph type="body" sz="quarter" idx="20"/>
          </p:nvPr>
        </p:nvSpPr>
        <p:spPr/>
        <p:txBody>
          <a:bodyPr/>
          <a:lstStyle/>
          <a:p>
            <a:r>
              <a:rPr lang="en-US" dirty="0">
                <a:hlinkClick r:id="rId2" action="ppaction://hlinksldjump"/>
              </a:rPr>
              <a:t>Return to parent-slide containing images.</a:t>
            </a:r>
            <a:endParaRPr lang="en-IN" dirty="0"/>
          </a:p>
        </p:txBody>
      </p:sp>
      <p:sp>
        <p:nvSpPr>
          <p:cNvPr id="4" name="Content Placeholder 3">
            <a:extLst>
              <a:ext uri="{FF2B5EF4-FFF2-40B4-BE49-F238E27FC236}">
                <a16:creationId xmlns:a16="http://schemas.microsoft.com/office/drawing/2014/main" id="{EA3D7A5F-082B-4D67-AB44-5D78750D73E4}"/>
              </a:ext>
            </a:extLst>
          </p:cNvPr>
          <p:cNvSpPr>
            <a:spLocks noGrp="1"/>
          </p:cNvSpPr>
          <p:nvPr>
            <p:ph sz="quarter" idx="21"/>
          </p:nvPr>
        </p:nvSpPr>
        <p:spPr/>
        <p:txBody>
          <a:bodyPr>
            <a:normAutofit fontScale="85000" lnSpcReduction="10000"/>
          </a:bodyPr>
          <a:lstStyle/>
          <a:p>
            <a:r>
              <a:rPr lang="en-US" sz="1400" dirty="0"/>
              <a:t>Details of a typical flowering plant cycle are shown.1. The stamen: An anther at the top of a stamen has four pollen sacs. Pollen grains are produced in pollen sacs. The carpel: The ovary at the base of a carpel contains one or more ovules. The contents of an ovule change during the flowering plant lifecycle. 2. The pollen sacs: In pollen sacs (microsporangia) of the anther, meiosis produces microspores. The ovules: In an ovule (megasporangium) within an ovary, meiosis produces four megaspores. 3. The microspores: Each microspore in a pollen sac undergoes mitosis to become an immature pollen grain with two cells: the tube cell and the generative cell. The pollen sacs open, and the pollen grains are windblown or transported by an animal carrier, usually to other flowers. This is known as pollination. The megaspores: Inside the ovules of an ovary, three megaspores disintegrate, and only the remaining one undergoes mitosis to become a female gametophyte. 4. The mature male gametophyte: A pollen grain that lands on the carpel of the same type of plant germinates and produces a pollen tube, which grows within the style until it reaches an ovule in the ovary. Inside the pollen tube, the generative cell nucleus divides and produces two </a:t>
            </a:r>
            <a:r>
              <a:rPr lang="en-US" sz="1400" dirty="0" err="1"/>
              <a:t>nonflagellated</a:t>
            </a:r>
            <a:r>
              <a:rPr lang="en-US" sz="1400" dirty="0"/>
              <a:t> sperm. A fully germinated pollen grain is the mature male gametophyte. The mature female gametophyte: The ovule now contains the mature female gametophyte (embryo sac), which typically consists of eight haploid nuclei embedded in a mass of cytoplasm. The cytoplasm differentiates into cells, one of which is an egg and another that contains two polar nuclei. 5. Double fertilization: On reaching the ovule, the pollen tube discharges the sperm. One of the two sperm migrates to and fertilizes the egg, forming a zygote; the other unites with the two polar nuclei, producing a 3n (triploid) endosperm nucleus. The endosperm nucleus divides to form endosperm, food for the developing embryo. 6. The seed: The ovule now develops into the seed, which contains an embryo and food enclosed by a protective seed coat. The wall of the ovary and sometimes adjacent parts develop into a fruit that surrounds the seed(s). 7. The sporophyte: The embryo within a seed is the immature sporophyte. When a seed germinates, growth and differentiation produce the mature sporophyte of a flowering plant.</a:t>
            </a:r>
            <a:endParaRPr lang="en-GB" sz="1400" dirty="0"/>
          </a:p>
        </p:txBody>
      </p:sp>
      <p:sp>
        <p:nvSpPr>
          <p:cNvPr id="5" name="Text Placeholder 4">
            <a:extLst>
              <a:ext uri="{FF2B5EF4-FFF2-40B4-BE49-F238E27FC236}">
                <a16:creationId xmlns:a16="http://schemas.microsoft.com/office/drawing/2014/main" id="{41DF71E9-74F6-4DB5-A5BB-81C3D000168A}"/>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3A5028F7-49E9-4823-9DF9-F28FBA830ED5}"/>
              </a:ext>
            </a:extLst>
          </p:cNvPr>
          <p:cNvSpPr>
            <a:spLocks noGrp="1"/>
          </p:cNvSpPr>
          <p:nvPr>
            <p:ph type="sldNum" sz="quarter" idx="10"/>
          </p:nvPr>
        </p:nvSpPr>
        <p:spPr/>
        <p:txBody>
          <a:bodyPr/>
          <a:lstStyle/>
          <a:p>
            <a:fld id="{68151E55-6873-49E2-B8D5-2F265E6F1973}" type="slidenum">
              <a:rPr lang="en-US" smtClean="0"/>
              <a:t>114</a:t>
            </a:fld>
            <a:endParaRPr lang="en-US" dirty="0"/>
          </a:p>
        </p:txBody>
      </p:sp>
    </p:spTree>
    <p:extLst>
      <p:ext uri="{BB962C8B-B14F-4D97-AF65-F5344CB8AC3E}">
        <p14:creationId xmlns:p14="http://schemas.microsoft.com/office/powerpoint/2010/main" val="2417609838"/>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855</TotalTime>
  <Words>6947</Words>
  <Application>Microsoft Office PowerPoint</Application>
  <PresentationFormat>On-screen Show (4:3)</PresentationFormat>
  <Paragraphs>853</Paragraphs>
  <Slides>114</Slides>
  <Notes>88</Notes>
  <HiddenSlides>22</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114</vt:i4>
      </vt:variant>
    </vt:vector>
  </HeadingPairs>
  <TitlesOfParts>
    <vt:vector size="129" baseType="lpstr">
      <vt:lpstr>Arial</vt:lpstr>
      <vt:lpstr>Arial (Body)</vt:lpstr>
      <vt:lpstr>Arial (Headings)</vt:lpstr>
      <vt:lpstr>Calibri</vt:lpstr>
      <vt:lpstr>Calibri (Body)</vt:lpstr>
      <vt:lpstr>Calibri (Headings)</vt:lpstr>
      <vt:lpstr>Symbol</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23.1 Ancestry and Features of Land Plants</vt:lpstr>
      <vt:lpstr>Characteristics of Plants</vt:lpstr>
      <vt:lpstr>The Ancestry of Land Plants</vt:lpstr>
      <vt:lpstr> Evolutionary History of Plants</vt:lpstr>
      <vt:lpstr>Embryo Difference in Green Algae and Land Plants</vt:lpstr>
      <vt:lpstr>Charophytes</vt:lpstr>
      <vt:lpstr>Adaptation to Land</vt:lpstr>
      <vt:lpstr>Leaf Adaptation to Prevent Desiccation</vt:lpstr>
      <vt:lpstr>Land Plants</vt:lpstr>
      <vt:lpstr>Alternation of Generations</vt:lpstr>
      <vt:lpstr> Alternation of Generations in Land Plants</vt:lpstr>
      <vt:lpstr>Dominant Generation</vt:lpstr>
      <vt:lpstr> Reduction in the Size of the Gametophyte</vt:lpstr>
      <vt:lpstr>23.2 Evolution of Bryophytes: Colonization of Land</vt:lpstr>
      <vt:lpstr>Liverworts</vt:lpstr>
      <vt:lpstr>Liverwort, Marchantia</vt:lpstr>
      <vt:lpstr>Hornworts</vt:lpstr>
      <vt:lpstr>Hornwort, Anthoceros sp.</vt:lpstr>
      <vt:lpstr>Mosses</vt:lpstr>
      <vt:lpstr>Life Cycle of Moss</vt:lpstr>
      <vt:lpstr>Moss Life Cycle 1</vt:lpstr>
      <vt:lpstr>Moss Life Cycle 2</vt:lpstr>
      <vt:lpstr>Moss Life Cycle 3</vt:lpstr>
      <vt:lpstr>Moss Life Cycle 4</vt:lpstr>
      <vt:lpstr>Moss Life Cycle 5</vt:lpstr>
      <vt:lpstr>Moss Life Cycle 6</vt:lpstr>
      <vt:lpstr>Moss Life Cycle 7</vt:lpstr>
      <vt:lpstr>Moss Life Cycle 8</vt:lpstr>
      <vt:lpstr>23.3 Evolution of Lycophytes: Vascular Tissue</vt:lpstr>
      <vt:lpstr>The Origin of Vascular Plants</vt:lpstr>
      <vt:lpstr>A Cooksonia Fossil</vt:lpstr>
      <vt:lpstr>Lycophytes</vt:lpstr>
      <vt:lpstr>Lycophytes Example</vt:lpstr>
      <vt:lpstr>23.4 Evolution of Pteridophytes: Megaphylls</vt:lpstr>
      <vt:lpstr>Microphylls and Megaphylls</vt:lpstr>
      <vt:lpstr>Horsetails</vt:lpstr>
      <vt:lpstr> Horsetail, Equisetum</vt:lpstr>
      <vt:lpstr>Whisk Ferns</vt:lpstr>
      <vt:lpstr> Whisk Fern, Psilotum</vt:lpstr>
      <vt:lpstr>Ferns</vt:lpstr>
      <vt:lpstr>Fern Life Cycle</vt:lpstr>
      <vt:lpstr>Diversity of Ferns</vt:lpstr>
      <vt:lpstr>Fern Life Cycle 1</vt:lpstr>
      <vt:lpstr>Fern Life Cycle 2</vt:lpstr>
      <vt:lpstr>Fern Life Cycle 3</vt:lpstr>
      <vt:lpstr>Fern Life Cycle 4</vt:lpstr>
      <vt:lpstr>Fern Life Cycle 5</vt:lpstr>
      <vt:lpstr>Fern Life Cycle 6</vt:lpstr>
      <vt:lpstr>Fern Life Cycle 7</vt:lpstr>
      <vt:lpstr>Fern Life Cycle 8</vt:lpstr>
      <vt:lpstr>The Uses of Ferns</vt:lpstr>
      <vt:lpstr>23.5 Evolution of Seed Plants: Full Adaptation to Land</vt:lpstr>
      <vt:lpstr>Seed Plants</vt:lpstr>
      <vt:lpstr>Gymnosperms and Angiosperms</vt:lpstr>
      <vt:lpstr>Gymnosperms</vt:lpstr>
      <vt:lpstr>Conifers</vt:lpstr>
      <vt:lpstr>Conifer Examples</vt:lpstr>
      <vt:lpstr>Pine Life Cycle 1</vt:lpstr>
      <vt:lpstr>Pine Life Cycle 2</vt:lpstr>
      <vt:lpstr>Pine Life Cycle 3</vt:lpstr>
      <vt:lpstr>Pine Life Cycle 4</vt:lpstr>
      <vt:lpstr>Pine Life Cycle 5</vt:lpstr>
      <vt:lpstr>Pine Life Cycle 6</vt:lpstr>
      <vt:lpstr>Pine Life Cycle 7</vt:lpstr>
      <vt:lpstr>Pine Life Cycle 8</vt:lpstr>
      <vt:lpstr>Pine Life Cycle 9</vt:lpstr>
      <vt:lpstr>Uses of Conifers</vt:lpstr>
      <vt:lpstr>Cycads</vt:lpstr>
      <vt:lpstr>African Cycad</vt:lpstr>
      <vt:lpstr>Ginkgoes</vt:lpstr>
      <vt:lpstr>Ginkgo biloba, a Native of China</vt:lpstr>
      <vt:lpstr>Gnetophytes</vt:lpstr>
      <vt:lpstr>Ephedra, a Type of Gnetophyte</vt:lpstr>
      <vt:lpstr>Welwitschia, a Type of Gnetophyte</vt:lpstr>
      <vt:lpstr>Angiosperms</vt:lpstr>
      <vt:lpstr>Origin and Radiation of Angiosperms</vt:lpstr>
      <vt:lpstr>Evolution of Flowering Plants: Amborella trichopoda</vt:lpstr>
      <vt:lpstr>Monocots and Eudicots</vt:lpstr>
      <vt:lpstr>Key Features of Monocots and Eudicots</vt:lpstr>
      <vt:lpstr>Flower Diversity</vt:lpstr>
      <vt:lpstr>The Flower</vt:lpstr>
      <vt:lpstr>Parts of Flower</vt:lpstr>
      <vt:lpstr>Generalized Flower</vt:lpstr>
      <vt:lpstr>Flowering Plant Life Cycle 1</vt:lpstr>
      <vt:lpstr>Flowering Plant Life Cycle 2</vt:lpstr>
      <vt:lpstr>Flowering Plant Life Cycle 3</vt:lpstr>
      <vt:lpstr>Life Cycle of Flowering Plant</vt:lpstr>
      <vt:lpstr>Flowers and Diversification</vt:lpstr>
      <vt:lpstr>Other Flower Terminology</vt:lpstr>
      <vt:lpstr>End of main content</vt:lpstr>
      <vt:lpstr>Accessibility Content: Text Alternatives for Images</vt:lpstr>
      <vt:lpstr> Evolutionary History of Plants - Text Alternative</vt:lpstr>
      <vt:lpstr>Embryo Difference in Green Algae and Land Plants - Text Alternative</vt:lpstr>
      <vt:lpstr>Leaf Adaptation to Prevent Desiccation  - Text Alternative</vt:lpstr>
      <vt:lpstr>Alternation of Generations in Land Plants  - Text Alternative</vt:lpstr>
      <vt:lpstr>Reduction in the Size of the Gametophyte  - Text Alternative</vt:lpstr>
      <vt:lpstr>Liverwort, Marchantia - Text Alternative</vt:lpstr>
      <vt:lpstr>Moss Life Cycle 4 - Text Alternative</vt:lpstr>
      <vt:lpstr>Moss Life Cycle 5 - Text Alternative</vt:lpstr>
      <vt:lpstr>Moss Life Cycle 8 - Text Alternative</vt:lpstr>
      <vt:lpstr>Lycophytes Example - Text Alternative</vt:lpstr>
      <vt:lpstr>Microphylls and Megaphylls - Text Alternative</vt:lpstr>
      <vt:lpstr>Fern Life Cycle 6 - Text Alternative</vt:lpstr>
      <vt:lpstr>Fern Life Cycle 7 - Text Alternative</vt:lpstr>
      <vt:lpstr>Fern Life Cycle 8 - Text Alternative</vt:lpstr>
      <vt:lpstr>Pine Life Cycle 3 - Text Alternative</vt:lpstr>
      <vt:lpstr>Pine Life Cycle 6 - Text Alternative</vt:lpstr>
      <vt:lpstr>Pine Life Cycle 7 - Text Alternative</vt:lpstr>
      <vt:lpstr>Pine Life Cycle 8 - Text Alternative</vt:lpstr>
      <vt:lpstr>Pine Life Cycle 9 - Text Alternative</vt:lpstr>
      <vt:lpstr>Flower Diversity - Text Alternative</vt:lpstr>
      <vt:lpstr>Life Cycle of Flowering Plant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23: Plant Evolution and Diversity Lecture Outline</dc:title>
  <dc:creator>Aman Chaudhary</dc:creator>
  <cp:lastModifiedBy>Ritik Singh</cp:lastModifiedBy>
  <cp:revision>571</cp:revision>
  <dcterms:created xsi:type="dcterms:W3CDTF">2021-02-05T09:33:46Z</dcterms:created>
  <dcterms:modified xsi:type="dcterms:W3CDTF">2021-03-30T10:33:31Z</dcterms:modified>
</cp:coreProperties>
</file>
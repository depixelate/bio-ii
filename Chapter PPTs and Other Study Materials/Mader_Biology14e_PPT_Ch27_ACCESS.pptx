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theme/theme6.xml" ContentType="application/vnd.openxmlformats-officedocument.theme+xml"/>
  <Override PartName="/ppt/slideLayouts/slideLayout17.xml" ContentType="application/vnd.openxmlformats-officedocument.presentationml.slideLayout+xml"/>
  <Override PartName="/ppt/theme/theme7.xml" ContentType="application/vnd.openxmlformats-officedocument.theme+xml"/>
  <Override PartName="/ppt/slideLayouts/slideLayout1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5" r:id="rId2"/>
    <p:sldMasterId id="2147483678" r:id="rId3"/>
    <p:sldMasterId id="2147483680" r:id="rId4"/>
    <p:sldMasterId id="2147483682" r:id="rId5"/>
    <p:sldMasterId id="2147483684" r:id="rId6"/>
    <p:sldMasterId id="2147483686" r:id="rId7"/>
    <p:sldMasterId id="2147483688" r:id="rId8"/>
  </p:sldMasterIdLst>
  <p:notesMasterIdLst>
    <p:notesMasterId r:id="rId63"/>
  </p:notesMasterIdLst>
  <p:sldIdLst>
    <p:sldId id="256" r:id="rId9"/>
    <p:sldId id="262" r:id="rId10"/>
    <p:sldId id="263" r:id="rId11"/>
    <p:sldId id="265" r:id="rId12"/>
    <p:sldId id="266" r:id="rId13"/>
    <p:sldId id="267" r:id="rId14"/>
    <p:sldId id="268" r:id="rId15"/>
    <p:sldId id="269" r:id="rId16"/>
    <p:sldId id="270" r:id="rId17"/>
    <p:sldId id="271" r:id="rId18"/>
    <p:sldId id="275" r:id="rId19"/>
    <p:sldId id="276" r:id="rId20"/>
    <p:sldId id="277" r:id="rId21"/>
    <p:sldId id="278" r:id="rId22"/>
    <p:sldId id="279" r:id="rId23"/>
    <p:sldId id="280" r:id="rId24"/>
    <p:sldId id="281" r:id="rId25"/>
    <p:sldId id="294"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9" r:id="rId39"/>
    <p:sldId id="300" r:id="rId40"/>
    <p:sldId id="301" r:id="rId41"/>
    <p:sldId id="302" r:id="rId42"/>
    <p:sldId id="303" r:id="rId43"/>
    <p:sldId id="304" r:id="rId44"/>
    <p:sldId id="305" r:id="rId45"/>
    <p:sldId id="306" r:id="rId46"/>
    <p:sldId id="307" r:id="rId47"/>
    <p:sldId id="308" r:id="rId48"/>
    <p:sldId id="309" r:id="rId49"/>
    <p:sldId id="264" r:id="rId50"/>
    <p:sldId id="259" r:id="rId51"/>
    <p:sldId id="260" r:id="rId52"/>
    <p:sldId id="310" r:id="rId53"/>
    <p:sldId id="298" r:id="rId54"/>
    <p:sldId id="273" r:id="rId55"/>
    <p:sldId id="311" r:id="rId56"/>
    <p:sldId id="274" r:id="rId57"/>
    <p:sldId id="295" r:id="rId58"/>
    <p:sldId id="312" r:id="rId59"/>
    <p:sldId id="313" r:id="rId60"/>
    <p:sldId id="314" r:id="rId61"/>
    <p:sldId id="296" r:id="rId6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89EE48B6-907B-46A8-B9CB-C0A5F4E9B501}">
          <p14:sldIdLst>
            <p14:sldId id="256"/>
            <p14:sldId id="262"/>
            <p14:sldId id="263"/>
            <p14:sldId id="265"/>
            <p14:sldId id="266"/>
            <p14:sldId id="267"/>
            <p14:sldId id="268"/>
            <p14:sldId id="269"/>
            <p14:sldId id="270"/>
            <p14:sldId id="271"/>
            <p14:sldId id="275"/>
            <p14:sldId id="276"/>
            <p14:sldId id="277"/>
            <p14:sldId id="278"/>
            <p14:sldId id="279"/>
            <p14:sldId id="280"/>
            <p14:sldId id="281"/>
            <p14:sldId id="294"/>
            <p14:sldId id="282"/>
            <p14:sldId id="283"/>
            <p14:sldId id="284"/>
            <p14:sldId id="285"/>
            <p14:sldId id="286"/>
            <p14:sldId id="287"/>
            <p14:sldId id="288"/>
            <p14:sldId id="289"/>
            <p14:sldId id="290"/>
            <p14:sldId id="291"/>
            <p14:sldId id="292"/>
            <p14:sldId id="293"/>
            <p14:sldId id="299"/>
            <p14:sldId id="300"/>
            <p14:sldId id="301"/>
            <p14:sldId id="302"/>
            <p14:sldId id="303"/>
            <p14:sldId id="304"/>
            <p14:sldId id="305"/>
            <p14:sldId id="306"/>
            <p14:sldId id="307"/>
            <p14:sldId id="308"/>
            <p14:sldId id="309"/>
            <p14:sldId id="264"/>
          </p14:sldIdLst>
        </p14:section>
        <p14:section name="Appendix: Image Descriptions for Unsighted Students" id="{190CAB3E-E7E3-4FE1-933B-0DC940C329C4}">
          <p14:sldIdLst>
            <p14:sldId id="259"/>
            <p14:sldId id="260"/>
            <p14:sldId id="310"/>
            <p14:sldId id="298"/>
            <p14:sldId id="273"/>
            <p14:sldId id="311"/>
            <p14:sldId id="274"/>
            <p14:sldId id="295"/>
            <p14:sldId id="312"/>
            <p14:sldId id="313"/>
            <p14:sldId id="314"/>
            <p14:sldId id="2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240" autoAdjust="0"/>
    <p:restoredTop sz="96229" autoAdjust="0"/>
  </p:normalViewPr>
  <p:slideViewPr>
    <p:cSldViewPr snapToGrid="0">
      <p:cViewPr varScale="1">
        <p:scale>
          <a:sx n="106" d="100"/>
          <a:sy n="106" d="100"/>
        </p:scale>
        <p:origin x="2076" y="132"/>
      </p:cViewPr>
      <p:guideLst/>
    </p:cSldViewPr>
  </p:slideViewPr>
  <p:outlineViewPr>
    <p:cViewPr>
      <p:scale>
        <a:sx n="33" d="100"/>
        <a:sy n="33" d="100"/>
      </p:scale>
      <p:origin x="0" y="-2869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63" Type="http://schemas.openxmlformats.org/officeDocument/2006/relationships/notesMaster" Target="notesMasters/notesMaster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theme" Target="theme/theme1.xml"/><Relationship Id="rId5" Type="http://schemas.openxmlformats.org/officeDocument/2006/relationships/slideMaster" Target="slideMasters/slideMaster5.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tableStyles" Target="tableStyle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EBE6D9-4E21-49BC-8B21-58B9810C6D31}" type="datetimeFigureOut">
              <a:rPr lang="en-IN" smtClean="0"/>
              <a:t>06-04-2021</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637FCD-24FE-4EA3-97D5-98C99BF479D3}" type="slidenum">
              <a:rPr lang="en-IN" smtClean="0"/>
              <a:t>‹#›</a:t>
            </a:fld>
            <a:endParaRPr lang="en-IN"/>
          </a:p>
        </p:txBody>
      </p:sp>
    </p:spTree>
    <p:extLst>
      <p:ext uri="{BB962C8B-B14F-4D97-AF65-F5344CB8AC3E}">
        <p14:creationId xmlns:p14="http://schemas.microsoft.com/office/powerpoint/2010/main" val="3500623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82637FCD-24FE-4EA3-97D5-98C99BF479D3}" type="slidenum">
              <a:rPr lang="en-IN" smtClean="0"/>
              <a:t>35</a:t>
            </a:fld>
            <a:endParaRPr lang="en-IN"/>
          </a:p>
        </p:txBody>
      </p:sp>
    </p:spTree>
    <p:extLst>
      <p:ext uri="{BB962C8B-B14F-4D97-AF65-F5344CB8AC3E}">
        <p14:creationId xmlns:p14="http://schemas.microsoft.com/office/powerpoint/2010/main" val="4203654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COVER">
    <p:bg>
      <p:bgPr>
        <a:solidFill>
          <a:schemeClr val="bg1"/>
        </a:solidFill>
        <a:effectLst/>
      </p:bgPr>
    </p:bg>
    <p:spTree>
      <p:nvGrpSpPr>
        <p:cNvPr id="1" name=""/>
        <p:cNvGrpSpPr/>
        <p:nvPr/>
      </p:nvGrpSpPr>
      <p:grpSpPr>
        <a:xfrm>
          <a:off x="0" y="0"/>
          <a:ext cx="0" cy="0"/>
          <a:chOff x="0" y="0"/>
          <a:chExt cx="0" cy="0"/>
        </a:xfrm>
      </p:grpSpPr>
      <p:sp>
        <p:nvSpPr>
          <p:cNvPr id="7" name="Title"/>
          <p:cNvSpPr>
            <a:spLocks noGrp="1"/>
          </p:cNvSpPr>
          <p:nvPr>
            <p:ph type="ctrTitle" hasCustomPrompt="1"/>
          </p:nvPr>
        </p:nvSpPr>
        <p:spPr>
          <a:xfrm>
            <a:off x="4572000" y="1348470"/>
            <a:ext cx="4572000" cy="1320966"/>
          </a:xfrm>
          <a:prstGeom prst="rect">
            <a:avLst/>
          </a:prstGeom>
          <a:solidFill>
            <a:schemeClr val="bg1">
              <a:alpha val="0"/>
            </a:schemeClr>
          </a:solidFill>
        </p:spPr>
        <p:txBody>
          <a:bodyPr anchor="ctr">
            <a:noAutofit/>
          </a:bodyPr>
          <a:lstStyle>
            <a:lvl1pPr algn="ctr">
              <a:lnSpc>
                <a:spcPct val="100000"/>
              </a:lnSpc>
              <a:defRPr sz="4000" b="1" i="1">
                <a:solidFill>
                  <a:srgbClr val="DB0F0F"/>
                </a:solidFill>
                <a:latin typeface="Arial (Headings)"/>
                <a:cs typeface="Calibri" panose="020F0502020204030204" pitchFamily="34" charset="0"/>
              </a:defRPr>
            </a:lvl1pPr>
          </a:lstStyle>
          <a:p>
            <a:r>
              <a:rPr lang="en-US" dirty="0"/>
              <a:t>Chapter Title</a:t>
            </a:r>
          </a:p>
        </p:txBody>
      </p:sp>
      <p:sp>
        <p:nvSpPr>
          <p:cNvPr id="8" name="Subtitle" hidden="1"/>
          <p:cNvSpPr>
            <a:spLocks noGrp="1"/>
          </p:cNvSpPr>
          <p:nvPr>
            <p:ph type="subTitle" idx="1" hasCustomPrompt="1"/>
          </p:nvPr>
        </p:nvSpPr>
        <p:spPr>
          <a:xfrm>
            <a:off x="3242733" y="2133600"/>
            <a:ext cx="5748866" cy="1011381"/>
          </a:xfrm>
          <a:prstGeom prst="rect">
            <a:avLst/>
          </a:prstGeom>
          <a:solidFill>
            <a:schemeClr val="bg1">
              <a:alpha val="0"/>
            </a:schemeClr>
          </a:solidFill>
        </p:spPr>
        <p:txBody>
          <a:bodyPr anchor="ctr"/>
          <a:lstStyle>
            <a:lvl1pPr marL="0" indent="0" algn="ctr" defTabSz="914400" rtl="0" eaLnBrk="1" latinLnBrk="0" hangingPunct="1">
              <a:lnSpc>
                <a:spcPct val="100000"/>
              </a:lnSpc>
              <a:spcBef>
                <a:spcPct val="0"/>
              </a:spcBef>
              <a:buNone/>
              <a:defRPr lang="en-US" sz="5400" b="1" kern="1200" dirty="0">
                <a:solidFill>
                  <a:schemeClr val="bg1"/>
                </a:solidFill>
                <a:effectLst>
                  <a:outerShdw blurRad="38100" dist="38100" dir="2700000" algn="ctr" rotWithShape="0">
                    <a:schemeClr val="tx1"/>
                  </a:outerShdw>
                </a:effectLst>
                <a:latin typeface="Calibri (Headings)"/>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Subtitle</a:t>
            </a:r>
          </a:p>
        </p:txBody>
      </p:sp>
      <p:sp>
        <p:nvSpPr>
          <p:cNvPr id="3" name="Content Placeholder 2">
            <a:extLst>
              <a:ext uri="{FF2B5EF4-FFF2-40B4-BE49-F238E27FC236}">
                <a16:creationId xmlns:a16="http://schemas.microsoft.com/office/drawing/2014/main" id="{5A006BF3-2CB8-4BD4-9ACF-A1517A92D517}"/>
              </a:ext>
            </a:extLst>
          </p:cNvPr>
          <p:cNvSpPr>
            <a:spLocks noGrp="1"/>
          </p:cNvSpPr>
          <p:nvPr>
            <p:ph sz="quarter" idx="11" hasCustomPrompt="1"/>
          </p:nvPr>
        </p:nvSpPr>
        <p:spPr>
          <a:xfrm>
            <a:off x="4572000" y="2757640"/>
            <a:ext cx="4572000" cy="622300"/>
          </a:xfrm>
          <a:prstGeom prst="rect">
            <a:avLst/>
          </a:prstGeom>
        </p:spPr>
        <p:txBody>
          <a:bodyPr anchor="ctr"/>
          <a:lstStyle>
            <a:lvl1pPr algn="ctr">
              <a:defRPr sz="1800" b="1">
                <a:latin typeface="Arial (Headings)"/>
              </a:defRPr>
            </a:lvl1pPr>
          </a:lstStyle>
          <a:p>
            <a:pPr lvl="0"/>
            <a:r>
              <a:rPr lang="en-US" dirty="0"/>
              <a:t>Content </a:t>
            </a:r>
            <a:r>
              <a:rPr lang="en-US" dirty="0" err="1"/>
              <a:t>placehlder</a:t>
            </a:r>
            <a:r>
              <a:rPr lang="en-US" dirty="0"/>
              <a:t> 1</a:t>
            </a:r>
          </a:p>
        </p:txBody>
      </p:sp>
      <p:sp>
        <p:nvSpPr>
          <p:cNvPr id="5" name="Content Placeholder 4">
            <a:extLst>
              <a:ext uri="{FF2B5EF4-FFF2-40B4-BE49-F238E27FC236}">
                <a16:creationId xmlns:a16="http://schemas.microsoft.com/office/drawing/2014/main" id="{72BFCBE2-A216-47C6-9214-A3955A557166}"/>
              </a:ext>
            </a:extLst>
          </p:cNvPr>
          <p:cNvSpPr>
            <a:spLocks noGrp="1"/>
          </p:cNvSpPr>
          <p:nvPr>
            <p:ph sz="quarter" idx="12" hasCustomPrompt="1"/>
          </p:nvPr>
        </p:nvSpPr>
        <p:spPr>
          <a:xfrm>
            <a:off x="4572000" y="3791102"/>
            <a:ext cx="4572000" cy="961001"/>
          </a:xfrm>
          <a:prstGeom prst="rect">
            <a:avLst/>
          </a:prstGeom>
        </p:spPr>
        <p:txBody>
          <a:bodyPr anchor="t"/>
          <a:lstStyle>
            <a:lvl1pPr algn="ctr">
              <a:defRPr sz="2800">
                <a:latin typeface="Arial (Headings)"/>
              </a:defRPr>
            </a:lvl1pPr>
          </a:lstStyle>
          <a:p>
            <a:pPr lvl="0"/>
            <a:r>
              <a:rPr lang="en-US" dirty="0"/>
              <a:t>Content </a:t>
            </a:r>
            <a:r>
              <a:rPr lang="en-US" dirty="0" err="1"/>
              <a:t>placehlder</a:t>
            </a:r>
            <a:r>
              <a:rPr lang="en-US" dirty="0"/>
              <a:t> 2</a:t>
            </a:r>
          </a:p>
        </p:txBody>
      </p:sp>
      <p:sp>
        <p:nvSpPr>
          <p:cNvPr id="15" name="Content Placeholder 14">
            <a:extLst>
              <a:ext uri="{FF2B5EF4-FFF2-40B4-BE49-F238E27FC236}">
                <a16:creationId xmlns:a16="http://schemas.microsoft.com/office/drawing/2014/main" id="{93627D8A-B3C5-4BF6-B433-D9B26D347CC0}"/>
              </a:ext>
            </a:extLst>
          </p:cNvPr>
          <p:cNvSpPr>
            <a:spLocks noGrp="1"/>
          </p:cNvSpPr>
          <p:nvPr>
            <p:ph sz="quarter" idx="13" hasCustomPrompt="1"/>
          </p:nvPr>
        </p:nvSpPr>
        <p:spPr>
          <a:xfrm>
            <a:off x="4572000" y="4932068"/>
            <a:ext cx="4572000" cy="663575"/>
          </a:xfrm>
          <a:prstGeom prst="rect">
            <a:avLst/>
          </a:prstGeom>
        </p:spPr>
        <p:txBody>
          <a:bodyPr/>
          <a:lstStyle>
            <a:lvl1pPr algn="ctr">
              <a:defRPr b="1"/>
            </a:lvl1pPr>
          </a:lstStyle>
          <a:p>
            <a:pPr lvl="0"/>
            <a:r>
              <a:rPr lang="en-US" dirty="0"/>
              <a:t>Content placeholder 3</a:t>
            </a:r>
          </a:p>
        </p:txBody>
      </p:sp>
      <p:sp>
        <p:nvSpPr>
          <p:cNvPr id="14" name="Slide Number Placeholder" hidden="1">
            <a:extLst>
              <a:ext uri="{FF2B5EF4-FFF2-40B4-BE49-F238E27FC236}">
                <a16:creationId xmlns:a16="http://schemas.microsoft.com/office/drawing/2014/main" id="{5C691E31-1A94-439E-8E83-DB872CC124C4}"/>
              </a:ext>
            </a:extLst>
          </p:cNvPr>
          <p:cNvSpPr>
            <a:spLocks noGrp="1"/>
          </p:cNvSpPr>
          <p:nvPr>
            <p:ph type="sldNum" sz="quarter" idx="4"/>
          </p:nvPr>
        </p:nvSpPr>
        <p:spPr>
          <a:xfrm>
            <a:off x="8444542" y="6194459"/>
            <a:ext cx="461703" cy="279400"/>
          </a:xfrm>
          <a:prstGeom prst="rect">
            <a:avLst/>
          </a:prstGeom>
        </p:spPr>
        <p:txBody>
          <a:bodyPr vert="horz" lIns="45720" tIns="45720" rIns="45720" bIns="45720" rtlCol="0" anchor="ctr"/>
          <a:lstStyle>
            <a:lvl1pPr algn="r">
              <a:defRPr sz="10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sz="1000" dirty="0"/>
          </a:p>
        </p:txBody>
      </p:sp>
      <p:sp>
        <p:nvSpPr>
          <p:cNvPr id="9" name="Content Placeholder 8">
            <a:extLst>
              <a:ext uri="{FF2B5EF4-FFF2-40B4-BE49-F238E27FC236}">
                <a16:creationId xmlns:a16="http://schemas.microsoft.com/office/drawing/2014/main" id="{832A26C5-3035-4D87-94B1-1A1FF1CB321A}"/>
              </a:ext>
            </a:extLst>
          </p:cNvPr>
          <p:cNvSpPr txBox="1">
            <a:spLocks/>
          </p:cNvSpPr>
          <p:nvPr userDrawn="1"/>
        </p:nvSpPr>
        <p:spPr>
          <a:xfrm>
            <a:off x="0" y="6383045"/>
            <a:ext cx="9144000" cy="474955"/>
          </a:xfrm>
          <a:prstGeom prst="rect">
            <a:avLst/>
          </a:prstGeom>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en-US" sz="800" dirty="0"/>
          </a:p>
        </p:txBody>
      </p:sp>
      <p:sp>
        <p:nvSpPr>
          <p:cNvPr id="4" name="Text Placeholder 3">
            <a:extLst>
              <a:ext uri="{FF2B5EF4-FFF2-40B4-BE49-F238E27FC236}">
                <a16:creationId xmlns:a16="http://schemas.microsoft.com/office/drawing/2014/main" id="{BD1490E9-C8AE-49C0-A2E4-7043E5E184B6}"/>
              </a:ext>
            </a:extLst>
          </p:cNvPr>
          <p:cNvSpPr>
            <a:spLocks noGrp="1"/>
          </p:cNvSpPr>
          <p:nvPr>
            <p:ph type="body" sz="quarter" idx="14"/>
          </p:nvPr>
        </p:nvSpPr>
        <p:spPr>
          <a:xfrm>
            <a:off x="0" y="6383338"/>
            <a:ext cx="9144000" cy="474662"/>
          </a:xfrm>
          <a:prstGeom prst="rect">
            <a:avLst/>
          </a:prstGeom>
        </p:spPr>
        <p:txBody>
          <a:bodyPr anchor="ctr"/>
          <a:lstStyle>
            <a:lvl1pPr algn="ctr">
              <a:defRPr sz="800"/>
            </a:lvl1pPr>
            <a:lvl2pPr algn="ctr">
              <a:defRPr sz="800"/>
            </a:lvl2pPr>
            <a:lvl3pPr algn="ctr">
              <a:defRPr sz="800"/>
            </a:lvl3pPr>
            <a:lvl4pPr algn="ctr">
              <a:defRPr sz="800"/>
            </a:lvl4pPr>
            <a:lvl5pPr algn="ctr">
              <a:defRPr sz="800"/>
            </a:lvl5pPr>
          </a:lstStyle>
          <a:p>
            <a:pPr lvl="0"/>
            <a:endParaRPr lang="en-US" dirty="0"/>
          </a:p>
        </p:txBody>
      </p:sp>
    </p:spTree>
    <p:extLst>
      <p:ext uri="{BB962C8B-B14F-4D97-AF65-F5344CB8AC3E}">
        <p14:creationId xmlns:p14="http://schemas.microsoft.com/office/powerpoint/2010/main" val="1795482773"/>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8F9AD23-695F-4808-8E99-6281554D0F77}" type="slidenum">
              <a:rPr lang="en-IN" smtClean="0"/>
              <a:t>‹#›</a:t>
            </a:fld>
            <a:endParaRPr lang="en-IN"/>
          </a:p>
        </p:txBody>
      </p:sp>
    </p:spTree>
    <p:extLst>
      <p:ext uri="{BB962C8B-B14F-4D97-AF65-F5344CB8AC3E}">
        <p14:creationId xmlns:p14="http://schemas.microsoft.com/office/powerpoint/2010/main" val="1109600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3">
            <a:extLst>
              <a:ext uri="{FF2B5EF4-FFF2-40B4-BE49-F238E27FC236}">
                <a16:creationId xmlns:a16="http://schemas.microsoft.com/office/drawing/2014/main" id="{65F38756-9587-4F47-AAF7-1F04C911367E}"/>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15809628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79294276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Text Placeholder 3">
            <a:extLst>
              <a:ext uri="{FF2B5EF4-FFF2-40B4-BE49-F238E27FC236}">
                <a16:creationId xmlns:a16="http://schemas.microsoft.com/office/drawing/2014/main" id="{6C2A9141-206E-4D7B-A0C1-70BA6703B6EB}"/>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387709513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3">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4400554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3244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6">
            <a:extLst>
              <a:ext uri="{FF2B5EF4-FFF2-40B4-BE49-F238E27FC236}">
                <a16:creationId xmlns:a16="http://schemas.microsoft.com/office/drawing/2014/main" id="{14F7A605-44D5-45ED-BFD6-E58353F97E4F}"/>
              </a:ext>
            </a:extLst>
          </p:cNvPr>
          <p:cNvSpPr>
            <a:spLocks noGrp="1"/>
          </p:cNvSpPr>
          <p:nvPr>
            <p:ph type="body" sz="quarter" idx="21"/>
          </p:nvPr>
        </p:nvSpPr>
        <p:spPr>
          <a:xfrm>
            <a:off x="950913" y="43719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6">
            <a:extLst>
              <a:ext uri="{FF2B5EF4-FFF2-40B4-BE49-F238E27FC236}">
                <a16:creationId xmlns:a16="http://schemas.microsoft.com/office/drawing/2014/main" id="{D57AE75C-9DC5-469E-8EA6-7C610556BF0A}"/>
              </a:ext>
            </a:extLst>
          </p:cNvPr>
          <p:cNvSpPr>
            <a:spLocks noGrp="1"/>
          </p:cNvSpPr>
          <p:nvPr>
            <p:ph type="body" sz="quarter" idx="22"/>
          </p:nvPr>
        </p:nvSpPr>
        <p:spPr>
          <a:xfrm>
            <a:off x="1181764" y="4979157"/>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Text Placeholder 3">
            <a:extLst>
              <a:ext uri="{FF2B5EF4-FFF2-40B4-BE49-F238E27FC236}">
                <a16:creationId xmlns:a16="http://schemas.microsoft.com/office/drawing/2014/main" id="{1B000B48-8AC4-4FC2-AD52-6A4E3AE6E15A}"/>
              </a:ext>
            </a:extLst>
          </p:cNvPr>
          <p:cNvSpPr>
            <a:spLocks noGrp="1"/>
          </p:cNvSpPr>
          <p:nvPr>
            <p:ph type="body" sz="quarter" idx="23"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184780309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1260" y="1865081"/>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3" name="Content Placeholder 12">
            <a:extLst>
              <a:ext uri="{FF2B5EF4-FFF2-40B4-BE49-F238E27FC236}">
                <a16:creationId xmlns:a16="http://schemas.microsoft.com/office/drawing/2014/main" id="{AF2B8440-A8C3-4970-9445-DE220532B290}"/>
              </a:ext>
            </a:extLst>
          </p:cNvPr>
          <p:cNvSpPr>
            <a:spLocks noGrp="1"/>
          </p:cNvSpPr>
          <p:nvPr>
            <p:ph sz="quarter" idx="13" hasCustomPrompt="1"/>
          </p:nvPr>
        </p:nvSpPr>
        <p:spPr>
          <a:xfrm>
            <a:off x="521260" y="238848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3</a:t>
            </a:r>
          </a:p>
        </p:txBody>
      </p:sp>
      <p:sp>
        <p:nvSpPr>
          <p:cNvPr id="15" name="Content Placeholder 14">
            <a:extLst>
              <a:ext uri="{FF2B5EF4-FFF2-40B4-BE49-F238E27FC236}">
                <a16:creationId xmlns:a16="http://schemas.microsoft.com/office/drawing/2014/main" id="{2AA36A2C-553A-49F8-A35E-5142F66F8C7C}"/>
              </a:ext>
            </a:extLst>
          </p:cNvPr>
          <p:cNvSpPr>
            <a:spLocks noGrp="1"/>
          </p:cNvSpPr>
          <p:nvPr>
            <p:ph sz="quarter" idx="14" hasCustomPrompt="1"/>
          </p:nvPr>
        </p:nvSpPr>
        <p:spPr>
          <a:xfrm>
            <a:off x="521259" y="2889294"/>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4</a:t>
            </a:r>
          </a:p>
        </p:txBody>
      </p:sp>
      <p:sp>
        <p:nvSpPr>
          <p:cNvPr id="17" name="Content Placeholder 16">
            <a:extLst>
              <a:ext uri="{FF2B5EF4-FFF2-40B4-BE49-F238E27FC236}">
                <a16:creationId xmlns:a16="http://schemas.microsoft.com/office/drawing/2014/main" id="{BF2C5FFC-20D4-4A05-9580-282061042C42}"/>
              </a:ext>
            </a:extLst>
          </p:cNvPr>
          <p:cNvSpPr>
            <a:spLocks noGrp="1"/>
          </p:cNvSpPr>
          <p:nvPr>
            <p:ph sz="quarter" idx="15" hasCustomPrompt="1"/>
          </p:nvPr>
        </p:nvSpPr>
        <p:spPr>
          <a:xfrm>
            <a:off x="521259" y="3361720"/>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5</a:t>
            </a:r>
          </a:p>
        </p:txBody>
      </p:sp>
      <p:sp>
        <p:nvSpPr>
          <p:cNvPr id="19" name="Content Placeholder 18">
            <a:extLst>
              <a:ext uri="{FF2B5EF4-FFF2-40B4-BE49-F238E27FC236}">
                <a16:creationId xmlns:a16="http://schemas.microsoft.com/office/drawing/2014/main" id="{EFE9EF17-8BE8-440A-B62B-80D09B55AC38}"/>
              </a:ext>
            </a:extLst>
          </p:cNvPr>
          <p:cNvSpPr>
            <a:spLocks noGrp="1"/>
          </p:cNvSpPr>
          <p:nvPr>
            <p:ph sz="quarter" idx="16" hasCustomPrompt="1"/>
          </p:nvPr>
        </p:nvSpPr>
        <p:spPr>
          <a:xfrm>
            <a:off x="521259" y="3855374"/>
            <a:ext cx="8101481"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6</a:t>
            </a:r>
          </a:p>
        </p:txBody>
      </p:sp>
      <p:sp>
        <p:nvSpPr>
          <p:cNvPr id="21" name="Content Placeholder 20">
            <a:extLst>
              <a:ext uri="{FF2B5EF4-FFF2-40B4-BE49-F238E27FC236}">
                <a16:creationId xmlns:a16="http://schemas.microsoft.com/office/drawing/2014/main" id="{AD4C7CD8-D449-4D2F-B0E8-59D4E0725C11}"/>
              </a:ext>
            </a:extLst>
          </p:cNvPr>
          <p:cNvSpPr>
            <a:spLocks noGrp="1"/>
          </p:cNvSpPr>
          <p:nvPr>
            <p:ph sz="quarter" idx="17" hasCustomPrompt="1"/>
          </p:nvPr>
        </p:nvSpPr>
        <p:spPr>
          <a:xfrm>
            <a:off x="521259" y="4379625"/>
            <a:ext cx="8101482"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7</a:t>
            </a:r>
          </a:p>
        </p:txBody>
      </p:sp>
      <p:sp>
        <p:nvSpPr>
          <p:cNvPr id="5" name="Content Placeholder 4">
            <a:extLst>
              <a:ext uri="{FF2B5EF4-FFF2-40B4-BE49-F238E27FC236}">
                <a16:creationId xmlns:a16="http://schemas.microsoft.com/office/drawing/2014/main" id="{63D910F2-5B14-B640-BA8E-D5BAE35431D4}"/>
              </a:ext>
            </a:extLst>
          </p:cNvPr>
          <p:cNvSpPr>
            <a:spLocks noGrp="1"/>
          </p:cNvSpPr>
          <p:nvPr>
            <p:ph sz="quarter" idx="18" hasCustomPrompt="1"/>
          </p:nvPr>
        </p:nvSpPr>
        <p:spPr>
          <a:xfrm>
            <a:off x="520700" y="487306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8</a:t>
            </a:r>
          </a:p>
        </p:txBody>
      </p:sp>
      <p:sp>
        <p:nvSpPr>
          <p:cNvPr id="8" name="Content Placeholder 7">
            <a:extLst>
              <a:ext uri="{FF2B5EF4-FFF2-40B4-BE49-F238E27FC236}">
                <a16:creationId xmlns:a16="http://schemas.microsoft.com/office/drawing/2014/main" id="{6AC24DEE-53EB-E940-8BA1-39C4FCB5CF81}"/>
              </a:ext>
            </a:extLst>
          </p:cNvPr>
          <p:cNvSpPr>
            <a:spLocks noGrp="1"/>
          </p:cNvSpPr>
          <p:nvPr>
            <p:ph sz="quarter" idx="19" hasCustomPrompt="1"/>
          </p:nvPr>
        </p:nvSpPr>
        <p:spPr>
          <a:xfrm>
            <a:off x="520700" y="5355908"/>
            <a:ext cx="8101482" cy="380671"/>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9</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09594994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460012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3605517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28896135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0697" y="4057297"/>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48966449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CLOSING">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501687" y="0"/>
            <a:ext cx="2292103" cy="409904"/>
          </a:xfrm>
          <a:prstGeom prst="rect">
            <a:avLst/>
          </a:prstGeom>
        </p:spPr>
        <p:txBody>
          <a:bodyPr/>
          <a:lstStyle>
            <a:lvl1pPr>
              <a:defRPr>
                <a:solidFill>
                  <a:schemeClr val="tx1"/>
                </a:solidFill>
                <a:latin typeface="Arial (Headings)"/>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50211" y="1479079"/>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4372423"/>
            <a:ext cx="5682508"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40" normalizeH="0" baseline="0" noProof="0" dirty="0">
                <a:ln>
                  <a:noFill/>
                </a:ln>
                <a:solidFill>
                  <a:srgbClr val="000000"/>
                </a:solidFill>
                <a:effectLst/>
                <a:uLnTx/>
                <a:uFillTx/>
                <a:latin typeface="Calibri (Body)"/>
                <a:ea typeface="Calibri" panose="020F0502020204030204" pitchFamily="34" charset="0"/>
                <a:cs typeface="+mn-cs"/>
              </a:rPr>
              <a:t>Because learning changes everything.</a:t>
            </a:r>
            <a:r>
              <a:rPr kumimoji="0" lang="en-US" sz="2600" b="0" i="0" u="none" strike="noStrike" kern="1200" cap="none" spc="40" normalizeH="0" baseline="40000" noProof="0" dirty="0">
                <a:ln>
                  <a:noFill/>
                </a:ln>
                <a:solidFill>
                  <a:srgbClr val="000000"/>
                </a:solidFill>
                <a:effectLst/>
                <a:uLnTx/>
                <a:uFillTx/>
                <a:latin typeface="Calibri (Body)"/>
                <a:ea typeface="Calibri" panose="020F0502020204030204" pitchFamily="34" charset="0"/>
                <a:cs typeface="+mn-cs"/>
              </a:rPr>
              <a:t>®</a:t>
            </a:r>
            <a:endParaRPr kumimoji="0" lang="en-US" sz="2600" b="0" i="0" u="none" strike="noStrike" kern="1200" cap="none" spc="40" normalizeH="0" baseline="40000" noProof="0" dirty="0">
              <a:ln>
                <a:noFill/>
              </a:ln>
              <a:solidFill>
                <a:srgbClr val="000000"/>
              </a:solidFill>
              <a:effectLst/>
              <a:uLnTx/>
              <a:uFillTx/>
              <a:latin typeface="Calibri (Body)"/>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Body)"/>
                <a:ea typeface="+mn-ea"/>
                <a:cs typeface="+mn-cs"/>
              </a:rPr>
              <a:t>www.mheducation.com</a:t>
            </a:r>
          </a:p>
        </p:txBody>
      </p:sp>
      <p:sp>
        <p:nvSpPr>
          <p:cNvPr id="7" name="Footer Placeholder 2">
            <a:extLst>
              <a:ext uri="{FF2B5EF4-FFF2-40B4-BE49-F238E27FC236}">
                <a16:creationId xmlns:a16="http://schemas.microsoft.com/office/drawing/2014/main" id="{9CF0A730-D7C8-4E8F-AEFB-EF1D3A3771B0}"/>
              </a:ext>
            </a:extLst>
          </p:cNvPr>
          <p:cNvSpPr>
            <a:spLocks noGrp="1"/>
          </p:cNvSpPr>
          <p:nvPr>
            <p:ph type="body" sz="quarter" idx="10" hasCustomPrompt="1"/>
          </p:nvPr>
        </p:nvSpPr>
        <p:spPr>
          <a:xfrm>
            <a:off x="1" y="6365559"/>
            <a:ext cx="9144000" cy="492442"/>
          </a:xfrm>
          <a:prstGeom prst="rect">
            <a:avLst/>
          </a:prstGeom>
        </p:spPr>
        <p:txBody>
          <a:bodyPr anchor="ctr"/>
          <a:lstStyle>
            <a:lvl1pPr algn="ctr">
              <a:defRPr sz="850">
                <a:solidFill>
                  <a:schemeClr val="tx1"/>
                </a:solidFill>
                <a:latin typeface="Arial (Body)"/>
              </a:defRPr>
            </a:lvl1pPr>
          </a:lstStyle>
          <a:p>
            <a:pPr lvl="0"/>
            <a:r>
              <a:rPr lang="en-IN" dirty="0"/>
              <a:t>Place long copyright here</a:t>
            </a:r>
            <a:endParaRPr lang="en-US" dirty="0"/>
          </a:p>
        </p:txBody>
      </p:sp>
    </p:spTree>
    <p:extLst>
      <p:ext uri="{BB962C8B-B14F-4D97-AF65-F5344CB8AC3E}">
        <p14:creationId xmlns:p14="http://schemas.microsoft.com/office/powerpoint/2010/main" val="2863927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LOSSARY OPENER">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FC4A42A-F982-4BF3-855D-C46FC3848A70}"/>
              </a:ext>
            </a:extLst>
          </p:cNvPr>
          <p:cNvSpPr/>
          <p:nvPr userDrawn="1"/>
        </p:nvSpPr>
        <p:spPr>
          <a:xfrm>
            <a:off x="0" y="2853266"/>
            <a:ext cx="9144000" cy="1151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bg1"/>
                </a:solidFill>
                <a:latin typeface="Calibri (Headings)"/>
                <a:ea typeface="+mn-ea"/>
                <a:cs typeface="Calibri" panose="020F0502020204030204" pitchFamily="34" charset="0"/>
              </a:defRPr>
            </a:lvl1pPr>
          </a:lstStyle>
          <a:p>
            <a:r>
              <a:rPr lang="en-US" dirty="0"/>
              <a:t>Glossary Title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lvl1pPr>
              <a:defRPr>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29596874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LOSSARY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521260" y="143933"/>
            <a:ext cx="8101480" cy="107245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081D48"/>
                </a:solidFill>
                <a:latin typeface="Calibri (Headings)"/>
                <a:ea typeface="+mn-ea"/>
                <a:cs typeface="Calibri" panose="020F0502020204030204" pitchFamily="34" charset="0"/>
              </a:defRPr>
            </a:lvl1pPr>
          </a:lstStyle>
          <a:p>
            <a:r>
              <a:rPr lang="en-US" dirty="0"/>
              <a:t>Glossary-#</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520700" y="1338263"/>
            <a:ext cx="8102600"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520700" y="1812925"/>
            <a:ext cx="8102600"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Place Glossary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520700" y="5718743"/>
            <a:ext cx="8102600"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Calibri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04054883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PPENDIX OPEN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8E8A6E-2134-462B-9229-B1F01D5FD7F4}"/>
              </a:ext>
            </a:extLst>
          </p:cNvPr>
          <p:cNvSpPr/>
          <p:nvPr userDrawn="1"/>
        </p:nvSpPr>
        <p:spPr bwMode="auto">
          <a:xfrm>
            <a:off x="0" y="2853265"/>
            <a:ext cx="9144000" cy="1151467"/>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tx1"/>
                </a:solidFill>
                <a:latin typeface="Arial (Headings)"/>
                <a:ea typeface="+mn-ea"/>
                <a:cs typeface="Calibri" panose="020F0502020204030204" pitchFamily="34" charset="0"/>
              </a:defRPr>
            </a:lvl1pPr>
          </a:lstStyle>
          <a:p>
            <a:r>
              <a:rPr lang="en-US" dirty="0"/>
              <a:t>Appendix Title</a:t>
            </a:r>
          </a:p>
        </p:txBody>
      </p:sp>
      <p:sp>
        <p:nvSpPr>
          <p:cNvPr id="6" name="Slide Number Placeholder">
            <a:extLst>
              <a:ext uri="{FF2B5EF4-FFF2-40B4-BE49-F238E27FC236}">
                <a16:creationId xmlns:a16="http://schemas.microsoft.com/office/drawing/2014/main" id="{00556159-A873-408F-99F4-67C548E58AC9}"/>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185889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PPENDIX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7"/>
            <a:ext cx="9144000" cy="1201780"/>
          </a:xfrm>
          <a:prstGeom prst="rect">
            <a:avLst/>
          </a:prstGeom>
        </p:spPr>
        <p:txBody>
          <a:bodyPr anchor="ctr">
            <a:noAutofit/>
          </a:bodyPr>
          <a:lstStyle>
            <a:lvl1pPr algn="ctr" defTabSz="914400" rtl="0" eaLnBrk="1" latinLnBrk="0" hangingPunct="1">
              <a:spcBef>
                <a:spcPct val="0"/>
              </a:spcBef>
              <a:buNone/>
              <a:defRPr lang="en-US" sz="3600" b="0" kern="1200" dirty="0">
                <a:solidFill>
                  <a:srgbClr val="081D48"/>
                </a:solidFill>
                <a:latin typeface="Arial" panose="020B0604020202020204" pitchFamily="34" charset="0"/>
                <a:ea typeface="+mn-ea"/>
                <a:cs typeface="Arial" panose="020B0604020202020204" pitchFamily="34" charset="0"/>
              </a:defRPr>
            </a:lvl1pPr>
          </a:lstStyle>
          <a:p>
            <a:r>
              <a:rPr lang="en-US" dirty="0"/>
              <a:t>Appendix Title - Text Alternative</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703545" y="1338263"/>
            <a:ext cx="7736911"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stStyle>
          <a:p>
            <a:pPr lvl="0"/>
            <a:r>
              <a:rPr lang="en-US" dirty="0"/>
              <a:t>Return to parent-slide containing images.</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703545" y="1812925"/>
            <a:ext cx="7736911"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1400">
                <a:latin typeface="Arial" panose="020B0604020202020204" pitchFamily="34" charset="0"/>
                <a:cs typeface="Arial" panose="020B0604020202020204" pitchFamily="34" charset="0"/>
              </a:defRPr>
            </a:lvl1pPr>
          </a:lstStyle>
          <a:p>
            <a:pPr lvl="0"/>
            <a:r>
              <a:rPr lang="en-US" dirty="0"/>
              <a:t>Place Appendix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703545" y="5718743"/>
            <a:ext cx="7736911"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Arial" panose="020B0604020202020204" pitchFamily="34" charset="0"/>
                <a:ea typeface="+mn-ea"/>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440456" y="6458200"/>
            <a:ext cx="541796" cy="385194"/>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7787461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PPENDIX TITLE SUBTITLE">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735677" y="2345267"/>
            <a:ext cx="7672647" cy="1354666"/>
          </a:xfrm>
          <a:prstGeom prst="rect">
            <a:avLst/>
          </a:prstGeom>
        </p:spPr>
        <p:txBody>
          <a:bodyPr anchor="ctr" anchorCtr="1">
            <a:noAutofit/>
          </a:bodyPr>
          <a:lstStyle>
            <a:lvl1pPr algn="ctr" defTabSz="914400" rtl="0" eaLnBrk="1" latinLnBrk="0" hangingPunct="1">
              <a:spcBef>
                <a:spcPct val="0"/>
              </a:spcBef>
              <a:buNone/>
              <a:defRPr lang="en-US" sz="4400" b="1" kern="1200" dirty="0">
                <a:solidFill>
                  <a:srgbClr val="081D48"/>
                </a:solidFill>
                <a:latin typeface="Calibri (Headings)"/>
                <a:ea typeface="+mn-ea"/>
                <a:cs typeface="Calibri" panose="020F0502020204030204" pitchFamily="34" charset="0"/>
              </a:defRPr>
            </a:lvl1pPr>
          </a:lstStyle>
          <a:p>
            <a:r>
              <a:rPr lang="en-US" dirty="0"/>
              <a:t>Appendix</a:t>
            </a:r>
          </a:p>
        </p:txBody>
      </p:sp>
      <p:sp>
        <p:nvSpPr>
          <p:cNvPr id="14" name="Subtitle 2">
            <a:extLst>
              <a:ext uri="{FF2B5EF4-FFF2-40B4-BE49-F238E27FC236}">
                <a16:creationId xmlns:a16="http://schemas.microsoft.com/office/drawing/2014/main" id="{94B2AA13-A008-444C-B284-83EB2A0F5D97}"/>
              </a:ext>
            </a:extLst>
          </p:cNvPr>
          <p:cNvSpPr>
            <a:spLocks noGrp="1"/>
          </p:cNvSpPr>
          <p:nvPr>
            <p:ph type="subTitle" idx="1" hasCustomPrompt="1"/>
          </p:nvPr>
        </p:nvSpPr>
        <p:spPr>
          <a:xfrm>
            <a:off x="1596044" y="3981796"/>
            <a:ext cx="5951912" cy="1729048"/>
          </a:xfrm>
        </p:spPr>
        <p:txBody>
          <a:bodyPr anchor="ctr" anchorCtr="1">
            <a:normAutofit/>
          </a:bodyPr>
          <a:lstStyle>
            <a:lvl1pPr marL="0" indent="0" algn="ctr">
              <a:buNone/>
              <a:defRPr sz="4400">
                <a:latin typeface="Calibri (Body)"/>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Appendix Subtitle</a:t>
            </a:r>
          </a:p>
        </p:txBody>
      </p:sp>
      <p:sp>
        <p:nvSpPr>
          <p:cNvPr id="23" name="Long Description Link 22" hidden="1">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5790672"/>
            <a:ext cx="8101481" cy="314325"/>
          </a:xfrm>
        </p:spPr>
        <p:txBody>
          <a:bodyPr anchor="ctr">
            <a:normAutofit/>
          </a:bodyPr>
          <a:lstStyle>
            <a:lvl1pPr algn="ctr">
              <a:defRPr sz="900">
                <a:latin typeface="Calibri (Body)"/>
              </a:defRPr>
            </a:lvl1pPr>
          </a:lstStyle>
          <a:p>
            <a:pPr lvl="0"/>
            <a:r>
              <a:rPr lang="en-US" dirty="0"/>
              <a:t>Add text alternative link, if needed.</a:t>
            </a:r>
          </a:p>
        </p:txBody>
      </p:sp>
      <p:sp>
        <p:nvSpPr>
          <p:cNvPr id="25" name="Image Credit" hidden="1">
            <a:extLst>
              <a:ext uri="{FF2B5EF4-FFF2-40B4-BE49-F238E27FC236}">
                <a16:creationId xmlns:a16="http://schemas.microsoft.com/office/drawing/2014/main" id="{5CA37626-93A6-4081-9ED9-636DCDEED43D}"/>
              </a:ext>
            </a:extLst>
          </p:cNvPr>
          <p:cNvSpPr>
            <a:spLocks noGrp="1"/>
          </p:cNvSpPr>
          <p:nvPr>
            <p:ph type="body" sz="quarter" idx="19" hasCustomPrompt="1"/>
          </p:nvPr>
        </p:nvSpPr>
        <p:spPr>
          <a:xfrm>
            <a:off x="1592569" y="6458201"/>
            <a:ext cx="6932612" cy="385194"/>
          </a:xfrm>
        </p:spPr>
        <p:txBody>
          <a:bodyPr rIns="0" anchor="ctr" anchorCtr="0">
            <a:noAutofit/>
          </a:bodyPr>
          <a:lstStyle>
            <a:lvl1pPr algn="r">
              <a:defRPr lang="en-US" sz="800" kern="1200" dirty="0">
                <a:solidFill>
                  <a:schemeClr val="bg1"/>
                </a:solidFill>
                <a:latin typeface="Calibri" panose="020F0502020204030204" pitchFamily="34" charset="0"/>
                <a:ea typeface="+mn-ea"/>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70701267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theme" Target="../theme/theme2.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5B9B96F-01AB-4DD8-9A0B-D81D4B92BC67}"/>
              </a:ext>
            </a:extLst>
          </p:cNvPr>
          <p:cNvSpPr/>
          <p:nvPr userDrawn="1"/>
        </p:nvSpPr>
        <p:spPr bwMode="auto">
          <a:xfrm>
            <a:off x="0" y="-1"/>
            <a:ext cx="9144000" cy="481867"/>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pic>
        <p:nvPicPr>
          <p:cNvPr id="8" name="MGH logo">
            <a:extLst>
              <a:ext uri="{FF2B5EF4-FFF2-40B4-BE49-F238E27FC236}">
                <a16:creationId xmlns:a16="http://schemas.microsoft.com/office/drawing/2014/main" id="{202AAA75-63DC-48F9-8834-4D17A1CF4E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4600" y="126037"/>
            <a:ext cx="612648" cy="612648"/>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p:nvSpPr>
        <p:spPr>
          <a:xfrm>
            <a:off x="465512" y="741460"/>
            <a:ext cx="8558299" cy="307777"/>
          </a:xfrm>
          <a:prstGeom prst="rect">
            <a:avLst/>
          </a:prstGeom>
          <a:noFill/>
        </p:spPr>
        <p:txBody>
          <a:bodyPr wrap="square" lIns="45720" rIns="4572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40" dirty="0">
                <a:effectLst/>
                <a:latin typeface="Arial" panose="020B0604020202020204" pitchFamily="34" charset="0"/>
                <a:ea typeface="Calibri" panose="020F0502020204030204" pitchFamily="34" charset="0"/>
                <a:cs typeface="Arial" panose="020B0604020202020204" pitchFamily="34" charset="0"/>
              </a:rPr>
              <a:t>Because learning changes everything.</a:t>
            </a:r>
            <a:r>
              <a:rPr lang="en-US" sz="1400" spc="40" baseline="30000" dirty="0">
                <a:effectLst/>
                <a:latin typeface="Arial" panose="020B0604020202020204" pitchFamily="34" charset="0"/>
                <a:ea typeface="Calibri" panose="020F0502020204030204" pitchFamily="34" charset="0"/>
                <a:cs typeface="Arial" panose="020B0604020202020204" pitchFamily="34" charset="0"/>
              </a:rPr>
              <a:t>®</a:t>
            </a:r>
            <a:endParaRPr lang="en-US" sz="1400" spc="40" baseline="300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6A1A395B-AC00-4912-B68A-9FFDC1A8A4D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40575" y="1284804"/>
            <a:ext cx="4229373" cy="4663440"/>
          </a:xfrm>
          <a:prstGeom prst="rect">
            <a:avLst/>
          </a:prstGeom>
        </p:spPr>
      </p:pic>
      <p:sp>
        <p:nvSpPr>
          <p:cNvPr id="14" name="Slide Number Placeholder">
            <a:extLst>
              <a:ext uri="{FF2B5EF4-FFF2-40B4-BE49-F238E27FC236}">
                <a16:creationId xmlns:a16="http://schemas.microsoft.com/office/drawing/2014/main" id="{358CCDBF-D83B-42C0-9F60-3DB5E69B969D}"/>
              </a:ext>
            </a:extLst>
          </p:cNvPr>
          <p:cNvSpPr>
            <a:spLocks noGrp="1"/>
          </p:cNvSpPr>
          <p:nvPr>
            <p:ph type="sldNum" sz="quarter" idx="4"/>
          </p:nvPr>
        </p:nvSpPr>
        <p:spPr>
          <a:xfrm>
            <a:off x="8562109" y="6089955"/>
            <a:ext cx="461703" cy="279400"/>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11" name="Rectangle 10">
            <a:extLst>
              <a:ext uri="{FF2B5EF4-FFF2-40B4-BE49-F238E27FC236}">
                <a16:creationId xmlns:a16="http://schemas.microsoft.com/office/drawing/2014/main" id="{827CDCCE-AEEF-467C-B925-131D7D384F3C}"/>
              </a:ext>
            </a:extLst>
          </p:cNvPr>
          <p:cNvSpPr/>
          <p:nvPr userDrawn="1"/>
        </p:nvSpPr>
        <p:spPr bwMode="auto">
          <a:xfrm>
            <a:off x="0" y="6369355"/>
            <a:ext cx="9144000" cy="490954"/>
          </a:xfrm>
          <a:prstGeom prst="rect">
            <a:avLst/>
          </a:prstGeom>
          <a:solidFill>
            <a:srgbClr val="D9D9D9"/>
          </a:solidFill>
          <a:ln>
            <a:noFill/>
          </a:ln>
          <a:effectLst/>
        </p:spPr>
        <p:txBody>
          <a:bodyPr lIns="90488" tIns="44450" rIns="90488" bIns="44450" anchor="ctr"/>
          <a:lstStyle/>
          <a:p>
            <a:pPr algn="ctr">
              <a:defRPr/>
            </a:pPr>
            <a:endParaRPr lang="en-US" sz="100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4098600466"/>
      </p:ext>
    </p:extLst>
  </p:cSld>
  <p:clrMap bg1="lt1" tx1="dk1" bg2="lt2" tx2="dk2" accent1="accent1" accent2="accent2" accent3="accent3" accent4="accent4" accent5="accent5" accent6="accent6" hlink="hlink" folHlink="folHlink"/>
  <p:sldLayoutIdLst>
    <p:sldLayoutId id="2147483673" r:id="rId1"/>
    <p:sldLayoutId id="2147483674"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7D76183D-3485-4A46-8E8E-BA5DC84389D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603059519"/>
      </p:ext>
    </p:extLst>
  </p:cSld>
  <p:clrMap bg1="lt1" tx1="dk1" bg2="lt2" tx2="dk2" accent1="accent1" accent2="accent2" accent3="accent3" accent4="accent4" accent5="accent5" accent6="accent6" hlink="hlink" folHlink="folHlink"/>
  <p:sldLayoutIdLst>
    <p:sldLayoutId id="2147483694" r:id="rId1"/>
    <p:sldLayoutId id="2147483696" r:id="rId2"/>
    <p:sldLayoutId id="2147483676" r:id="rId3"/>
    <p:sldLayoutId id="2147483697" r:id="rId4"/>
    <p:sldLayoutId id="2147483695" r:id="rId5"/>
    <p:sldLayoutId id="2147483677" r:id="rId6"/>
    <p:sldLayoutId id="2147483690" r:id="rId7"/>
    <p:sldLayoutId id="2147483693" r:id="rId8"/>
    <p:sldLayoutId id="2147483692" r:id="rId9"/>
    <p:sldLayoutId id="2147483691" r:id="rId10"/>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E2F7581-8105-4856-B006-EAE98E0C9AC7}"/>
              </a:ext>
            </a:extLst>
          </p:cNvPr>
          <p:cNvSpPr/>
          <p:nvPr userDrawn="1"/>
        </p:nvSpPr>
        <p:spPr bwMode="auto">
          <a:xfrm>
            <a:off x="-1" y="0"/>
            <a:ext cx="9144000" cy="490954"/>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7" name="Rectangle 6">
            <a:extLst>
              <a:ext uri="{FF2B5EF4-FFF2-40B4-BE49-F238E27FC236}">
                <a16:creationId xmlns:a16="http://schemas.microsoft.com/office/drawing/2014/main" id="{70958A1A-1A12-45A2-B5E0-60CE12EFE953}"/>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nchor="ctr"/>
          <a:lstStyle/>
          <a:p>
            <a:pPr marL="0" marR="0" lvl="0" indent="0" algn="ctr" defTabSz="457200" rtl="0" eaLnBrk="0" fontAlgn="auto" latinLnBrk="0" hangingPunct="0">
              <a:lnSpc>
                <a:spcPct val="100000"/>
              </a:lnSpc>
              <a:spcBef>
                <a:spcPct val="34000"/>
              </a:spcBef>
              <a:spcAft>
                <a:spcPts val="0"/>
              </a:spcAft>
              <a:buClr>
                <a:srgbClr val="000000"/>
              </a:buClr>
              <a:buSzPct val="100000"/>
              <a:buFont typeface="Symbol" pitchFamily="18" charset="2"/>
              <a:buNone/>
              <a:tabLst/>
              <a:defRPr/>
            </a:pPr>
            <a:endParaRPr lang="en-US" sz="1000" i="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580835463"/>
      </p:ext>
    </p:extLst>
  </p:cSld>
  <p:clrMap bg1="lt1" tx1="dk1" bg2="lt2" tx2="dk2" accent1="accent1" accent2="accent2" accent3="accent3" accent4="accent4" accent5="accent5" accent6="accent6" hlink="hlink" folHlink="folHlink"/>
  <p:sldLayoutIdLst>
    <p:sldLayoutId id="2147483679"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2160">
          <p15:clr>
            <a:srgbClr val="F26B43"/>
          </p15:clr>
        </p15:guide>
        <p15:guide id="13" pos="36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59613783"/>
      </p:ext>
    </p:extLst>
  </p:cSld>
  <p:clrMap bg1="lt1" tx1="dk1" bg2="lt2" tx2="dk2" accent1="accent1" accent2="accent2" accent3="accent3" accent4="accent4" accent5="accent5" accent6="accent6" hlink="hlink" folHlink="folHlink"/>
  <p:sldLayoutIdLst>
    <p:sldLayoutId id="2147483681"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512794" y="148703"/>
            <a:ext cx="8118412" cy="1053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517588" y="1346200"/>
            <a:ext cx="8108824" cy="4766733"/>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25060620"/>
      </p:ext>
    </p:extLst>
  </p:cSld>
  <p:clrMap bg1="lt1" tx1="dk1" bg2="lt2" tx2="dk2" accent1="accent1" accent2="accent2" accent3="accent3" accent4="accent4" accent5="accent5" accent6="accent6" hlink="hlink" folHlink="folHlink"/>
  <p:sldLayoutIdLst>
    <p:sldLayoutId id="2147483683"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10" name="Rectangle 9">
            <a:extLst>
              <a:ext uri="{FF2B5EF4-FFF2-40B4-BE49-F238E27FC236}">
                <a16:creationId xmlns:a16="http://schemas.microsoft.com/office/drawing/2014/main" id="{B5AFE35D-2800-49B9-98ED-918880A1185E}"/>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8" name="Short Copyright">
            <a:extLst>
              <a:ext uri="{FF2B5EF4-FFF2-40B4-BE49-F238E27FC236}">
                <a16:creationId xmlns:a16="http://schemas.microsoft.com/office/drawing/2014/main" id="{4A2FC72F-53CB-4924-9CB5-4C71034E8F6B}"/>
              </a:ext>
            </a:extLst>
          </p:cNvPr>
          <p:cNvSpPr txBox="1"/>
          <p:nvPr userDrawn="1"/>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9" name="Slide Number Placeholder">
            <a:extLst>
              <a:ext uri="{FF2B5EF4-FFF2-40B4-BE49-F238E27FC236}">
                <a16:creationId xmlns:a16="http://schemas.microsoft.com/office/drawing/2014/main" id="{D81F4F2D-3BB8-4150-BA92-5F3FA2A274EB}"/>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68668309"/>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E9109236-1BF2-42DF-B3D7-8095A631169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687634475"/>
      </p:ext>
    </p:extLst>
  </p:cSld>
  <p:clrMap bg1="lt1" tx1="dk1" bg2="lt2" tx2="dk2" accent1="accent1" accent2="accent2" accent3="accent3" accent4="accent4" accent5="accent5" accent6="accent6" hlink="hlink" folHlink="folHlink"/>
  <p:sldLayoutIdLst>
    <p:sldLayoutId id="2147483687"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730223" y="2335879"/>
            <a:ext cx="7683555" cy="1363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1584125" y="3961709"/>
            <a:ext cx="5975751" cy="1765764"/>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76714983"/>
      </p:ext>
    </p:extLst>
  </p:cSld>
  <p:clrMap bg1="lt1" tx1="dk1" bg2="lt2" tx2="dk2" accent1="accent1" accent2="accent2" accent3="accent3" accent4="accent4" accent5="accent5" accent6="accent6" hlink="hlink" folHlink="folHlink"/>
  <p:sldLayoutIdLst>
    <p:sldLayoutId id="2147483689"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slide" Target="slide44.xml"/><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slide" Target="slide45.xml"/><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slide" Target="slide4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3.xml"/><Relationship Id="rId4" Type="http://schemas.openxmlformats.org/officeDocument/2006/relationships/slide" Target="slide4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slide" Target="slide49.xml"/><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slide" Target="slide52.xml"/><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image" Target="../media/image17.JP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slide" Target="slide5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slide" Target="slide51.xml"/><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slide" Target="slide19.xml"/><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2" Type="http://schemas.openxmlformats.org/officeDocument/2006/relationships/slide" Target="slide32.xml"/><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2" Type="http://schemas.openxmlformats.org/officeDocument/2006/relationships/slide" Target="slide24.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slide" Target="slide39.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2" Type="http://schemas.openxmlformats.org/officeDocument/2006/relationships/slide" Target="slide26.xml"/><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2" Type="http://schemas.openxmlformats.org/officeDocument/2006/relationships/slide" Target="slide35.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0733ED0-3842-43A7-8BDE-AFE8B97FDE28}"/>
              </a:ext>
            </a:extLst>
          </p:cNvPr>
          <p:cNvSpPr>
            <a:spLocks noGrp="1"/>
          </p:cNvSpPr>
          <p:nvPr>
            <p:ph type="ctrTitle"/>
          </p:nvPr>
        </p:nvSpPr>
        <p:spPr>
          <a:xfrm>
            <a:off x="4572000" y="1300036"/>
            <a:ext cx="4572000" cy="1129393"/>
          </a:xfrm>
        </p:spPr>
        <p:txBody>
          <a:bodyPr/>
          <a:lstStyle/>
          <a:p>
            <a:r>
              <a:rPr lang="en-US" altLang="en-US" dirty="0"/>
              <a:t>Biology</a:t>
            </a:r>
            <a:endParaRPr lang="en-IN" dirty="0"/>
          </a:p>
        </p:txBody>
      </p:sp>
      <p:sp>
        <p:nvSpPr>
          <p:cNvPr id="5" name="Text placeholder 2">
            <a:extLst>
              <a:ext uri="{FF2B5EF4-FFF2-40B4-BE49-F238E27FC236}">
                <a16:creationId xmlns:a16="http://schemas.microsoft.com/office/drawing/2014/main" id="{0870AA8A-D98D-4EB3-81F3-3373CF2A34CB}"/>
              </a:ext>
            </a:extLst>
          </p:cNvPr>
          <p:cNvSpPr>
            <a:spLocks noGrp="1"/>
          </p:cNvSpPr>
          <p:nvPr>
            <p:ph type="subTitle" idx="1"/>
          </p:nvPr>
        </p:nvSpPr>
        <p:spPr>
          <a:xfrm>
            <a:off x="4454771" y="2273103"/>
            <a:ext cx="4689229" cy="1011381"/>
          </a:xfrm>
        </p:spPr>
        <p:txBody>
          <a:bodyPr/>
          <a:lstStyle/>
          <a:p>
            <a:r>
              <a:rPr lang="en-US" altLang="en-US" sz="1800" dirty="0">
                <a:solidFill>
                  <a:schemeClr val="tx1"/>
                </a:solidFill>
                <a:effectLst/>
                <a:latin typeface="+mj-lt"/>
              </a:rPr>
              <a:t>Sylvia S. </a:t>
            </a:r>
            <a:r>
              <a:rPr lang="en-US" altLang="en-US" sz="1800" dirty="0" err="1">
                <a:solidFill>
                  <a:schemeClr val="tx1"/>
                </a:solidFill>
                <a:effectLst/>
                <a:latin typeface="+mj-lt"/>
              </a:rPr>
              <a:t>Mader</a:t>
            </a:r>
            <a:br>
              <a:rPr lang="en-US" altLang="en-US" sz="1800" dirty="0">
                <a:solidFill>
                  <a:schemeClr val="tx1"/>
                </a:solidFill>
                <a:effectLst/>
                <a:latin typeface="+mj-lt"/>
              </a:rPr>
            </a:br>
            <a:r>
              <a:rPr lang="en-US" altLang="en-US" sz="1800" dirty="0">
                <a:solidFill>
                  <a:schemeClr val="tx1"/>
                </a:solidFill>
                <a:effectLst/>
                <a:latin typeface="+mj-lt"/>
              </a:rPr>
              <a:t>Michael Windelspecht2</a:t>
            </a:r>
            <a:endParaRPr lang="en-IN" sz="1800" dirty="0">
              <a:solidFill>
                <a:schemeClr val="tx1"/>
              </a:solidFill>
              <a:effectLst/>
              <a:latin typeface="+mj-lt"/>
            </a:endParaRPr>
          </a:p>
        </p:txBody>
      </p:sp>
      <p:sp>
        <p:nvSpPr>
          <p:cNvPr id="6" name="Text placeholder 3">
            <a:extLst>
              <a:ext uri="{FF2B5EF4-FFF2-40B4-BE49-F238E27FC236}">
                <a16:creationId xmlns:a16="http://schemas.microsoft.com/office/drawing/2014/main" id="{592C8D69-86D8-4DDD-A213-ED8E89CF93EE}"/>
              </a:ext>
            </a:extLst>
          </p:cNvPr>
          <p:cNvSpPr>
            <a:spLocks noGrp="1"/>
          </p:cNvSpPr>
          <p:nvPr>
            <p:ph sz="quarter" idx="11"/>
          </p:nvPr>
        </p:nvSpPr>
        <p:spPr>
          <a:xfrm>
            <a:off x="4513385" y="3797529"/>
            <a:ext cx="4572000" cy="622300"/>
          </a:xfrm>
        </p:spPr>
        <p:txBody>
          <a:bodyPr/>
          <a:lstStyle/>
          <a:p>
            <a:pPr lvl="0">
              <a:spcBef>
                <a:spcPts val="0"/>
              </a:spcBef>
            </a:pPr>
            <a:r>
              <a:rPr lang="en-US" altLang="en-US" sz="2800" b="0" dirty="0">
                <a:latin typeface="Arial" panose="020B0604020202020204" pitchFamily="34" charset="0"/>
                <a:cs typeface="Arial" panose="020B0604020202020204" pitchFamily="34" charset="0"/>
              </a:rPr>
              <a:t>Chapter 27 </a:t>
            </a:r>
          </a:p>
          <a:p>
            <a:pPr lvl="0">
              <a:spcBef>
                <a:spcPts val="0"/>
              </a:spcBef>
            </a:pPr>
            <a:r>
              <a:rPr lang="en-US" altLang="en-US" sz="2800" b="0" dirty="0">
                <a:latin typeface="Arial" panose="020B0604020202020204" pitchFamily="34" charset="0"/>
                <a:cs typeface="Arial" panose="020B0604020202020204" pitchFamily="34" charset="0"/>
              </a:rPr>
              <a:t>Flowering Plants: Reproduction</a:t>
            </a:r>
          </a:p>
          <a:p>
            <a:pPr lvl="0">
              <a:spcBef>
                <a:spcPts val="0"/>
              </a:spcBef>
            </a:pPr>
            <a:r>
              <a:rPr lang="en-US" altLang="en-US" sz="2800" b="0" dirty="0">
                <a:latin typeface="Arial" panose="020B0604020202020204" pitchFamily="34" charset="0"/>
                <a:cs typeface="Arial" panose="020B0604020202020204" pitchFamily="34" charset="0"/>
              </a:rPr>
              <a:t>Lecture Outline </a:t>
            </a:r>
          </a:p>
        </p:txBody>
      </p:sp>
      <p:sp>
        <p:nvSpPr>
          <p:cNvPr id="7" name="Text placeholder 4">
            <a:extLst>
              <a:ext uri="{FF2B5EF4-FFF2-40B4-BE49-F238E27FC236}">
                <a16:creationId xmlns:a16="http://schemas.microsoft.com/office/drawing/2014/main" id="{50B07C52-C32A-404C-823B-3E0C2B4D72F2}"/>
              </a:ext>
            </a:extLst>
          </p:cNvPr>
          <p:cNvSpPr>
            <a:spLocks noGrp="1"/>
          </p:cNvSpPr>
          <p:nvPr>
            <p:ph sz="quarter" idx="12"/>
          </p:nvPr>
        </p:nvSpPr>
        <p:spPr>
          <a:xfrm>
            <a:off x="4876800" y="5187517"/>
            <a:ext cx="3962400" cy="961001"/>
          </a:xfrm>
        </p:spPr>
        <p:txBody>
          <a:bodyPr/>
          <a:lstStyle/>
          <a:p>
            <a:r>
              <a:rPr lang="en-US" altLang="en-US" sz="1400" b="1" dirty="0">
                <a:latin typeface="+mn-lt"/>
              </a:rPr>
              <a:t>See separate </a:t>
            </a:r>
            <a:r>
              <a:rPr lang="en-US" altLang="en-US" sz="1400" b="1" dirty="0" err="1">
                <a:latin typeface="+mn-lt"/>
              </a:rPr>
              <a:t>FlexArt</a:t>
            </a:r>
            <a:r>
              <a:rPr lang="en-US" altLang="en-US" sz="1400" b="1" dirty="0">
                <a:latin typeface="+mn-lt"/>
              </a:rPr>
              <a:t> PowerPoint slides for all figures and tables pre-inserted into PowerPoint without notes.</a:t>
            </a:r>
            <a:endParaRPr lang="en-IN" sz="1400" b="1" dirty="0">
              <a:latin typeface="+mn-lt"/>
            </a:endParaRPr>
          </a:p>
        </p:txBody>
      </p:sp>
      <p:sp>
        <p:nvSpPr>
          <p:cNvPr id="8" name="Content Placeholder 8">
            <a:extLst>
              <a:ext uri="{FF2B5EF4-FFF2-40B4-BE49-F238E27FC236}">
                <a16:creationId xmlns:a16="http://schemas.microsoft.com/office/drawing/2014/main" id="{832A26C5-3035-4D87-94B1-1A1FF1CB321A}"/>
              </a:ext>
            </a:extLst>
          </p:cNvPr>
          <p:cNvSpPr txBox="1">
            <a:spLocks/>
          </p:cNvSpPr>
          <p:nvPr/>
        </p:nvSpPr>
        <p:spPr>
          <a:xfrm>
            <a:off x="0" y="6383045"/>
            <a:ext cx="9144000" cy="474955"/>
          </a:xfrm>
          <a:prstGeom prst="rect">
            <a:avLst/>
          </a:prstGeom>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dirty="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dirty="0"/>
          </a:p>
        </p:txBody>
      </p:sp>
    </p:spTree>
    <p:extLst>
      <p:ext uri="{BB962C8B-B14F-4D97-AF65-F5344CB8AC3E}">
        <p14:creationId xmlns:p14="http://schemas.microsoft.com/office/powerpoint/2010/main" val="4132492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8941B0B-1809-492E-ACFF-6768CC723330}"/>
              </a:ext>
            </a:extLst>
          </p:cNvPr>
          <p:cNvSpPr>
            <a:spLocks noGrp="1"/>
          </p:cNvSpPr>
          <p:nvPr>
            <p:ph type="title"/>
          </p:nvPr>
        </p:nvSpPr>
        <p:spPr/>
        <p:txBody>
          <a:bodyPr/>
          <a:lstStyle/>
          <a:p>
            <a:r>
              <a:rPr lang="en-US" dirty="0"/>
              <a:t>Outline</a:t>
            </a:r>
            <a:endParaRPr lang="en-IN" dirty="0"/>
          </a:p>
        </p:txBody>
      </p:sp>
      <p:sp>
        <p:nvSpPr>
          <p:cNvPr id="8" name="Text Placeholder 2">
            <a:extLst>
              <a:ext uri="{FF2B5EF4-FFF2-40B4-BE49-F238E27FC236}">
                <a16:creationId xmlns:a16="http://schemas.microsoft.com/office/drawing/2014/main" id="{9E5BA1E4-31AB-45B0-A83E-B8224597B5B0}"/>
              </a:ext>
            </a:extLst>
          </p:cNvPr>
          <p:cNvSpPr>
            <a:spLocks noGrp="1"/>
          </p:cNvSpPr>
          <p:nvPr>
            <p:ph type="body" sz="quarter" idx="19"/>
          </p:nvPr>
        </p:nvSpPr>
        <p:spPr>
          <a:xfrm>
            <a:off x="432655" y="1364748"/>
            <a:ext cx="7623676" cy="3070729"/>
          </a:xfrm>
        </p:spPr>
        <p:txBody>
          <a:bodyPr>
            <a:normAutofit/>
          </a:bodyPr>
          <a:lstStyle/>
          <a:p>
            <a:pPr>
              <a:spcAft>
                <a:spcPts val="2000"/>
              </a:spcAft>
            </a:pPr>
            <a:r>
              <a:rPr lang="en-US" altLang="en-US" sz="3200" dirty="0"/>
              <a:t>27.1 Sexual Reproductive Strategies</a:t>
            </a:r>
          </a:p>
          <a:p>
            <a:pPr>
              <a:spcAft>
                <a:spcPts val="2000"/>
              </a:spcAft>
            </a:pPr>
            <a:r>
              <a:rPr lang="en-US" altLang="en-US" sz="3200" dirty="0"/>
              <a:t>27.2 Seed Development</a:t>
            </a:r>
          </a:p>
          <a:p>
            <a:pPr>
              <a:spcAft>
                <a:spcPts val="2000"/>
              </a:spcAft>
            </a:pPr>
            <a:r>
              <a:rPr lang="en-US" altLang="en-US" sz="3200" dirty="0"/>
              <a:t>27.3 Fruit Types and Seed Dispersal</a:t>
            </a:r>
          </a:p>
          <a:p>
            <a:pPr>
              <a:spcAft>
                <a:spcPts val="2000"/>
              </a:spcAft>
            </a:pPr>
            <a:r>
              <a:rPr lang="en-US" altLang="en-US" sz="3200" dirty="0"/>
              <a:t>27.4 Asexual Reproductive Strategies</a:t>
            </a:r>
          </a:p>
        </p:txBody>
      </p:sp>
      <p:sp>
        <p:nvSpPr>
          <p:cNvPr id="4" name="Slide Number Placeholder 3">
            <a:extLst>
              <a:ext uri="{FF2B5EF4-FFF2-40B4-BE49-F238E27FC236}">
                <a16:creationId xmlns:a16="http://schemas.microsoft.com/office/drawing/2014/main" id="{06FD65B7-960F-4FF5-B858-E6E7B20D1CC7}"/>
              </a:ext>
            </a:extLst>
          </p:cNvPr>
          <p:cNvSpPr>
            <a:spLocks noGrp="1"/>
          </p:cNvSpPr>
          <p:nvPr>
            <p:ph type="sldNum" sz="quarter" idx="4"/>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3381230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6F8EA-94DA-4D34-888B-85B53C34DE00}"/>
              </a:ext>
            </a:extLst>
          </p:cNvPr>
          <p:cNvSpPr>
            <a:spLocks noGrp="1"/>
          </p:cNvSpPr>
          <p:nvPr>
            <p:ph type="title"/>
          </p:nvPr>
        </p:nvSpPr>
        <p:spPr>
          <a:xfrm>
            <a:off x="196768" y="0"/>
            <a:ext cx="8750461" cy="1192192"/>
          </a:xfrm>
        </p:spPr>
        <p:txBody>
          <a:bodyPr/>
          <a:lstStyle/>
          <a:p>
            <a:r>
              <a:rPr lang="en-US" altLang="en-US" dirty="0"/>
              <a:t>27.1 Sexual Reproductive Strategies</a:t>
            </a:r>
            <a:endParaRPr lang="en-IN" dirty="0"/>
          </a:p>
        </p:txBody>
      </p:sp>
      <p:sp>
        <p:nvSpPr>
          <p:cNvPr id="5" name="Text Placeholder 2">
            <a:extLst>
              <a:ext uri="{FF2B5EF4-FFF2-40B4-BE49-F238E27FC236}">
                <a16:creationId xmlns:a16="http://schemas.microsoft.com/office/drawing/2014/main" id="{E2336465-884D-45A6-99E1-9D7DFB659931}"/>
              </a:ext>
            </a:extLst>
          </p:cNvPr>
          <p:cNvSpPr>
            <a:spLocks noGrp="1"/>
          </p:cNvSpPr>
          <p:nvPr>
            <p:ph type="body" sz="quarter" idx="19"/>
          </p:nvPr>
        </p:nvSpPr>
        <p:spPr>
          <a:xfrm>
            <a:off x="519865" y="1401854"/>
            <a:ext cx="8104266" cy="5420390"/>
          </a:xfrm>
        </p:spPr>
        <p:txBody>
          <a:bodyPr>
            <a:normAutofit lnSpcReduction="10000"/>
          </a:bodyPr>
          <a:lstStyle/>
          <a:p>
            <a:r>
              <a:rPr lang="en-US" sz="2700" dirty="0"/>
              <a:t>Plants have a two-stage, alternating life cycle.</a:t>
            </a:r>
          </a:p>
          <a:p>
            <a:pPr marL="0" lvl="1" indent="0">
              <a:spcBef>
                <a:spcPts val="0"/>
              </a:spcBef>
              <a:spcAft>
                <a:spcPts val="0"/>
              </a:spcAft>
              <a:buNone/>
            </a:pPr>
            <a:r>
              <a:rPr lang="en-US" sz="2400" dirty="0"/>
              <a:t>The diploid sporophyte is dominant and produces haploid spores by meiosis.</a:t>
            </a:r>
          </a:p>
          <a:p>
            <a:pPr marL="266700" lvl="2" indent="-266700">
              <a:spcBef>
                <a:spcPts val="1200"/>
              </a:spcBef>
              <a:spcAft>
                <a:spcPts val="0"/>
              </a:spcAft>
            </a:pPr>
            <a:r>
              <a:rPr lang="en-US" sz="2000" dirty="0"/>
              <a:t>It is the portion of the life cycle that bears flowers.</a:t>
            </a:r>
          </a:p>
          <a:p>
            <a:pPr marL="0" lvl="1" indent="0">
              <a:spcBef>
                <a:spcPts val="1200"/>
              </a:spcBef>
              <a:spcAft>
                <a:spcPts val="0"/>
              </a:spcAft>
              <a:buNone/>
            </a:pPr>
            <a:r>
              <a:rPr lang="en-US" sz="2400" dirty="0"/>
              <a:t>Flowers produces two types of spores: microspores and megaspores.</a:t>
            </a:r>
          </a:p>
          <a:p>
            <a:pPr marL="0" lvl="1" indent="0">
              <a:spcBef>
                <a:spcPts val="1200"/>
              </a:spcBef>
              <a:spcAft>
                <a:spcPts val="0"/>
              </a:spcAft>
              <a:buNone/>
            </a:pPr>
            <a:r>
              <a:rPr lang="en-US" sz="2400" dirty="0"/>
              <a:t>Spores divide mitotically to become haploid gametophytes.</a:t>
            </a:r>
          </a:p>
          <a:p>
            <a:pPr marL="0" lvl="1" indent="0">
              <a:spcBef>
                <a:spcPts val="1200"/>
              </a:spcBef>
              <a:spcAft>
                <a:spcPts val="0"/>
              </a:spcAft>
              <a:buNone/>
            </a:pPr>
            <a:r>
              <a:rPr lang="en-US" sz="2400" dirty="0"/>
              <a:t>Gametophytes produce gametes.</a:t>
            </a:r>
          </a:p>
          <a:p>
            <a:pPr marL="0" lvl="1" indent="0">
              <a:spcBef>
                <a:spcPts val="1200"/>
              </a:spcBef>
              <a:spcAft>
                <a:spcPts val="0"/>
              </a:spcAft>
              <a:buNone/>
            </a:pPr>
            <a:r>
              <a:rPr lang="en-US" sz="2400" dirty="0"/>
              <a:t>Gametes fuse to produce a diploid zygote.</a:t>
            </a:r>
          </a:p>
          <a:p>
            <a:pPr marL="0" lvl="1" indent="0">
              <a:spcBef>
                <a:spcPts val="1200"/>
              </a:spcBef>
              <a:spcAft>
                <a:spcPts val="0"/>
              </a:spcAft>
              <a:buNone/>
            </a:pPr>
            <a:r>
              <a:rPr lang="en-US" sz="2400" dirty="0"/>
              <a:t>Zygote divides mitotically to become the diploid sporophyte, which becomes a mature organism.</a:t>
            </a:r>
          </a:p>
        </p:txBody>
      </p:sp>
      <p:sp>
        <p:nvSpPr>
          <p:cNvPr id="4" name="Slide Number Placeholder 3">
            <a:extLst>
              <a:ext uri="{FF2B5EF4-FFF2-40B4-BE49-F238E27FC236}">
                <a16:creationId xmlns:a16="http://schemas.microsoft.com/office/drawing/2014/main" id="{AD9D0EF6-80F7-49A7-8805-6D2418433608}"/>
              </a:ext>
            </a:extLst>
          </p:cNvPr>
          <p:cNvSpPr>
            <a:spLocks noGrp="1"/>
          </p:cNvSpPr>
          <p:nvPr>
            <p:ph type="sldNum" sz="quarter" idx="4"/>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2231482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30C28-F0C3-418E-A98D-D6AFFDDBEF51}"/>
              </a:ext>
            </a:extLst>
          </p:cNvPr>
          <p:cNvSpPr>
            <a:spLocks noGrp="1"/>
          </p:cNvSpPr>
          <p:nvPr>
            <p:ph type="title"/>
          </p:nvPr>
        </p:nvSpPr>
        <p:spPr>
          <a:xfrm>
            <a:off x="0" y="0"/>
            <a:ext cx="9144000" cy="1215341"/>
          </a:xfrm>
        </p:spPr>
        <p:txBody>
          <a:bodyPr/>
          <a:lstStyle/>
          <a:p>
            <a:r>
              <a:rPr lang="en-US" altLang="en-US" dirty="0"/>
              <a:t>Sexual Reproduction </a:t>
            </a:r>
            <a:br>
              <a:rPr lang="en-US" altLang="en-US" dirty="0"/>
            </a:br>
            <a:r>
              <a:rPr lang="en-US" altLang="en-US" dirty="0"/>
              <a:t>in Flowering Plants</a:t>
            </a:r>
            <a:endParaRPr lang="en-IN" dirty="0"/>
          </a:p>
        </p:txBody>
      </p:sp>
      <p:pic>
        <p:nvPicPr>
          <p:cNvPr id="8" name="Picture 2" descr="Sexual reproduction of a flowering plant includes a haploid and diploid lifecycle.">
            <a:extLst>
              <a:ext uri="{FF2B5EF4-FFF2-40B4-BE49-F238E27FC236}">
                <a16:creationId xmlns:a16="http://schemas.microsoft.com/office/drawing/2014/main" id="{D87E7048-E8C5-4BE5-96E2-3C839DFFE5A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726"/>
          <a:stretch/>
        </p:blipFill>
        <p:spPr>
          <a:xfrm>
            <a:off x="2447292" y="1188056"/>
            <a:ext cx="4249411" cy="4848375"/>
          </a:xfrm>
          <a:prstGeom prst="rect">
            <a:avLst/>
          </a:prstGeom>
        </p:spPr>
      </p:pic>
      <p:sp>
        <p:nvSpPr>
          <p:cNvPr id="5" name="Text Placeholder 3">
            <a:extLst>
              <a:ext uri="{FF2B5EF4-FFF2-40B4-BE49-F238E27FC236}">
                <a16:creationId xmlns:a16="http://schemas.microsoft.com/office/drawing/2014/main" id="{EECBFE6C-26CF-48D0-85A2-27FDE3BA1987}"/>
              </a:ext>
            </a:extLst>
          </p:cNvPr>
          <p:cNvSpPr>
            <a:spLocks noGrp="1"/>
          </p:cNvSpPr>
          <p:nvPr>
            <p:ph type="body" sz="quarter" idx="18"/>
          </p:nvPr>
        </p:nvSpPr>
        <p:spPr>
          <a:xfrm>
            <a:off x="3981887" y="6036431"/>
            <a:ext cx="1180219" cy="314325"/>
          </a:xfrm>
        </p:spPr>
        <p:txBody>
          <a:bodyPr>
            <a:normAutofit/>
          </a:bodyPr>
          <a:lstStyle/>
          <a:p>
            <a:r>
              <a:rPr lang="en-US" sz="1200" dirty="0"/>
              <a:t>Figure 27.1</a:t>
            </a:r>
          </a:p>
        </p:txBody>
      </p:sp>
      <p:sp>
        <p:nvSpPr>
          <p:cNvPr id="6" name="Text Placeholder 4">
            <a:extLst>
              <a:ext uri="{FF2B5EF4-FFF2-40B4-BE49-F238E27FC236}">
                <a16:creationId xmlns:a16="http://schemas.microsoft.com/office/drawing/2014/main" id="{84CB34A1-2643-48A6-87F7-DFF031BF11E9}"/>
              </a:ext>
            </a:extLst>
          </p:cNvPr>
          <p:cNvSpPr>
            <a:spLocks noGrp="1"/>
          </p:cNvSpPr>
          <p:nvPr>
            <p:ph type="body" sz="quarter" idx="19"/>
          </p:nvPr>
        </p:nvSpPr>
        <p:spPr>
          <a:xfrm>
            <a:off x="2966741" y="6287997"/>
            <a:ext cx="3210515" cy="314325"/>
          </a:xfrm>
        </p:spPr>
        <p:txBody>
          <a:bodyPr>
            <a:noAutofit/>
          </a:bodyPr>
          <a:lstStyle/>
          <a:p>
            <a:r>
              <a:rPr lang="en-US" sz="1200" dirty="0">
                <a:hlinkClick r:id="rId3" action="ppaction://hlinksldjump"/>
              </a:rPr>
              <a:t>Access the text alternative for slide images.</a:t>
            </a:r>
            <a:endParaRPr lang="en-US" sz="1200" dirty="0"/>
          </a:p>
        </p:txBody>
      </p:sp>
      <p:sp>
        <p:nvSpPr>
          <p:cNvPr id="4" name="Slide Number Placeholder 5">
            <a:extLst>
              <a:ext uri="{FF2B5EF4-FFF2-40B4-BE49-F238E27FC236}">
                <a16:creationId xmlns:a16="http://schemas.microsoft.com/office/drawing/2014/main" id="{31823A4A-0C9B-48C4-8B6B-FB16D75A3C53}"/>
              </a:ext>
            </a:extLst>
          </p:cNvPr>
          <p:cNvSpPr>
            <a:spLocks noGrp="1"/>
          </p:cNvSpPr>
          <p:nvPr>
            <p:ph type="sldNum" sz="quarter" idx="4"/>
          </p:nvPr>
        </p:nvSpPr>
        <p:spPr/>
        <p:txBody>
          <a:bodyPr/>
          <a:lstStyle/>
          <a:p>
            <a:fld id="{68151E55-6873-49E2-B8D5-2F265E6F1973}" type="slidenum">
              <a:rPr lang="en-US" smtClean="0"/>
              <a:pPr/>
              <a:t>4</a:t>
            </a:fld>
            <a:endParaRPr lang="en-US" dirty="0"/>
          </a:p>
        </p:txBody>
      </p:sp>
    </p:spTree>
    <p:extLst>
      <p:ext uri="{BB962C8B-B14F-4D97-AF65-F5344CB8AC3E}">
        <p14:creationId xmlns:p14="http://schemas.microsoft.com/office/powerpoint/2010/main" val="3098634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6B9CC-C0DE-41B0-96FA-A46F8089EBFB}"/>
              </a:ext>
            </a:extLst>
          </p:cNvPr>
          <p:cNvSpPr>
            <a:spLocks noGrp="1"/>
          </p:cNvSpPr>
          <p:nvPr>
            <p:ph type="title"/>
          </p:nvPr>
        </p:nvSpPr>
        <p:spPr>
          <a:xfrm>
            <a:off x="0" y="1"/>
            <a:ext cx="9144000" cy="1177177"/>
          </a:xfrm>
        </p:spPr>
        <p:txBody>
          <a:bodyPr/>
          <a:lstStyle/>
          <a:p>
            <a:r>
              <a:rPr lang="en-US" altLang="en-US" dirty="0"/>
              <a:t>Sexual Reproductive Strategies</a:t>
            </a:r>
            <a:endParaRPr lang="en-IN" dirty="0"/>
          </a:p>
        </p:txBody>
      </p:sp>
      <p:sp>
        <p:nvSpPr>
          <p:cNvPr id="3" name="Text Placeholder 2">
            <a:extLst>
              <a:ext uri="{FF2B5EF4-FFF2-40B4-BE49-F238E27FC236}">
                <a16:creationId xmlns:a16="http://schemas.microsoft.com/office/drawing/2014/main" id="{FA71EB38-6408-41A3-BB11-2C0B39CA46DE}"/>
              </a:ext>
            </a:extLst>
          </p:cNvPr>
          <p:cNvSpPr>
            <a:spLocks noGrp="1"/>
          </p:cNvSpPr>
          <p:nvPr>
            <p:ph type="body" sz="quarter" idx="19"/>
          </p:nvPr>
        </p:nvSpPr>
        <p:spPr>
          <a:xfrm>
            <a:off x="842963" y="1177179"/>
            <a:ext cx="7623676" cy="5330739"/>
          </a:xfrm>
        </p:spPr>
        <p:txBody>
          <a:bodyPr>
            <a:normAutofit lnSpcReduction="10000"/>
          </a:bodyPr>
          <a:lstStyle/>
          <a:p>
            <a:pPr>
              <a:spcAft>
                <a:spcPts val="1500"/>
              </a:spcAft>
            </a:pPr>
            <a:r>
              <a:rPr lang="en-US" sz="3200" dirty="0"/>
              <a:t>A </a:t>
            </a:r>
            <a:r>
              <a:rPr lang="en-US" sz="3200" b="1" dirty="0">
                <a:solidFill>
                  <a:srgbClr val="D90000"/>
                </a:solidFill>
              </a:rPr>
              <a:t>flower</a:t>
            </a:r>
            <a:r>
              <a:rPr lang="en-US" sz="3200" dirty="0"/>
              <a:t> produces two types of spores.</a:t>
            </a:r>
          </a:p>
          <a:p>
            <a:pPr marL="0" lvl="1" indent="0">
              <a:spcBef>
                <a:spcPts val="0"/>
              </a:spcBef>
              <a:buNone/>
            </a:pPr>
            <a:r>
              <a:rPr lang="en-US" sz="3200" b="1" dirty="0">
                <a:solidFill>
                  <a:srgbClr val="D90000"/>
                </a:solidFill>
              </a:rPr>
              <a:t>Microspore</a:t>
            </a:r>
            <a:r>
              <a:rPr lang="en-US" sz="3200" dirty="0"/>
              <a:t> – Male gametophyte</a:t>
            </a:r>
          </a:p>
          <a:p>
            <a:pPr marL="266700" lvl="2" indent="-266700">
              <a:spcBef>
                <a:spcPts val="1200"/>
              </a:spcBef>
              <a:spcAft>
                <a:spcPts val="0"/>
              </a:spcAft>
              <a:tabLst>
                <a:tab pos="173038" algn="l"/>
              </a:tabLst>
            </a:pPr>
            <a:r>
              <a:rPr lang="en-US" sz="2400" dirty="0"/>
              <a:t>It undergoes mitosis.</a:t>
            </a:r>
          </a:p>
          <a:p>
            <a:pPr marL="266700" lvl="2" indent="-266700">
              <a:spcBef>
                <a:spcPts val="1200"/>
              </a:spcBef>
              <a:spcAft>
                <a:spcPts val="0"/>
              </a:spcAft>
              <a:tabLst>
                <a:tab pos="173038" algn="l"/>
              </a:tabLst>
            </a:pPr>
            <a:r>
              <a:rPr lang="en-US" sz="2400" dirty="0"/>
              <a:t>It becomes pollen grain.</a:t>
            </a:r>
          </a:p>
          <a:p>
            <a:pPr marL="0" lvl="1" indent="0">
              <a:spcBef>
                <a:spcPts val="1200"/>
              </a:spcBef>
              <a:buNone/>
            </a:pPr>
            <a:r>
              <a:rPr lang="en-US" sz="3200" b="1" dirty="0">
                <a:solidFill>
                  <a:srgbClr val="D90000"/>
                </a:solidFill>
              </a:rPr>
              <a:t>Megaspore</a:t>
            </a:r>
            <a:r>
              <a:rPr lang="en-US" sz="3200" dirty="0"/>
              <a:t> – Female gametophyte</a:t>
            </a:r>
          </a:p>
          <a:p>
            <a:pPr marL="266700" lvl="2" indent="-266700">
              <a:spcBef>
                <a:spcPts val="1200"/>
              </a:spcBef>
              <a:spcAft>
                <a:spcPts val="0"/>
              </a:spcAft>
              <a:tabLst>
                <a:tab pos="173038" algn="l"/>
              </a:tabLst>
            </a:pPr>
            <a:r>
              <a:rPr lang="en-US" sz="2400" dirty="0"/>
              <a:t>It undergoes mitosis.</a:t>
            </a:r>
          </a:p>
          <a:p>
            <a:pPr marL="266700" lvl="2" indent="-266700">
              <a:spcBef>
                <a:spcPts val="1200"/>
              </a:spcBef>
              <a:spcAft>
                <a:spcPts val="0"/>
              </a:spcAft>
              <a:tabLst>
                <a:tab pos="173038" algn="l"/>
              </a:tabLst>
            </a:pPr>
            <a:r>
              <a:rPr lang="en-US" sz="2400" dirty="0"/>
              <a:t>It becomes the female gametophyte, an embryo sac within an ovule within an ovary.</a:t>
            </a:r>
          </a:p>
          <a:p>
            <a:pPr marL="266700" lvl="2" indent="-266700">
              <a:spcBef>
                <a:spcPts val="1200"/>
              </a:spcBef>
              <a:spcAft>
                <a:spcPts val="0"/>
              </a:spcAft>
              <a:tabLst>
                <a:tab pos="173038" algn="l"/>
              </a:tabLst>
            </a:pPr>
            <a:r>
              <a:rPr lang="en-US" sz="2400" dirty="0"/>
              <a:t>The ovule becomes a </a:t>
            </a:r>
            <a:r>
              <a:rPr lang="en-US" sz="2400" b="1" dirty="0">
                <a:solidFill>
                  <a:srgbClr val="D90000"/>
                </a:solidFill>
              </a:rPr>
              <a:t>seed</a:t>
            </a:r>
            <a:r>
              <a:rPr lang="en-US" sz="2400" dirty="0"/>
              <a:t>.</a:t>
            </a:r>
          </a:p>
          <a:p>
            <a:pPr marL="266700" lvl="2" indent="-266700">
              <a:spcBef>
                <a:spcPts val="1200"/>
              </a:spcBef>
              <a:spcAft>
                <a:spcPts val="0"/>
              </a:spcAft>
              <a:tabLst>
                <a:tab pos="173038" algn="l"/>
              </a:tabLst>
            </a:pPr>
            <a:r>
              <a:rPr lang="en-US" sz="2400" dirty="0"/>
              <a:t>The ovary becomes a fruit.</a:t>
            </a:r>
          </a:p>
        </p:txBody>
      </p:sp>
      <p:sp>
        <p:nvSpPr>
          <p:cNvPr id="4" name="Slide Number Placeholder 3">
            <a:extLst>
              <a:ext uri="{FF2B5EF4-FFF2-40B4-BE49-F238E27FC236}">
                <a16:creationId xmlns:a16="http://schemas.microsoft.com/office/drawing/2014/main" id="{47D9127E-6EF4-402E-96CC-EA4A25E92D97}"/>
              </a:ext>
            </a:extLst>
          </p:cNvPr>
          <p:cNvSpPr>
            <a:spLocks noGrp="1"/>
          </p:cNvSpPr>
          <p:nvPr>
            <p:ph type="sldNum" sz="quarter" idx="4"/>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3559732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5E826-309F-4D52-A759-823C392DDE9F}"/>
              </a:ext>
            </a:extLst>
          </p:cNvPr>
          <p:cNvSpPr>
            <a:spLocks noGrp="1"/>
          </p:cNvSpPr>
          <p:nvPr>
            <p:ph type="title"/>
          </p:nvPr>
        </p:nvSpPr>
        <p:spPr/>
        <p:txBody>
          <a:bodyPr/>
          <a:lstStyle/>
          <a:p>
            <a:r>
              <a:rPr lang="en-US" altLang="en-US" dirty="0"/>
              <a:t>Flowers</a:t>
            </a:r>
            <a:endParaRPr lang="en-IN" dirty="0"/>
          </a:p>
        </p:txBody>
      </p:sp>
      <p:sp>
        <p:nvSpPr>
          <p:cNvPr id="3" name="Text Placeholder 2">
            <a:extLst>
              <a:ext uri="{FF2B5EF4-FFF2-40B4-BE49-F238E27FC236}">
                <a16:creationId xmlns:a16="http://schemas.microsoft.com/office/drawing/2014/main" id="{5D1BB815-BEEB-41B0-8C0C-2EFC18CC37D7}"/>
              </a:ext>
            </a:extLst>
          </p:cNvPr>
          <p:cNvSpPr>
            <a:spLocks noGrp="1"/>
          </p:cNvSpPr>
          <p:nvPr>
            <p:ph type="body" sz="quarter" idx="19"/>
          </p:nvPr>
        </p:nvSpPr>
        <p:spPr>
          <a:xfrm>
            <a:off x="842962" y="1177179"/>
            <a:ext cx="7085695" cy="5330739"/>
          </a:xfrm>
        </p:spPr>
        <p:txBody>
          <a:bodyPr>
            <a:normAutofit fontScale="92500" lnSpcReduction="20000"/>
          </a:bodyPr>
          <a:lstStyle/>
          <a:p>
            <a:pPr marL="0" lvl="1" indent="0">
              <a:spcBef>
                <a:spcPts val="0"/>
              </a:spcBef>
              <a:buNone/>
            </a:pPr>
            <a:r>
              <a:rPr lang="en-US" altLang="en-US" sz="2800" dirty="0"/>
              <a:t>Unique to angiosperms</a:t>
            </a:r>
          </a:p>
          <a:p>
            <a:pPr marL="0" lvl="1" indent="0">
              <a:spcBef>
                <a:spcPts val="1200"/>
              </a:spcBef>
              <a:buNone/>
            </a:pPr>
            <a:r>
              <a:rPr lang="en-US" altLang="en-US" sz="2800" dirty="0"/>
              <a:t>Attract pollinators</a:t>
            </a:r>
          </a:p>
          <a:p>
            <a:pPr marL="0" lvl="1" indent="0">
              <a:spcBef>
                <a:spcPts val="1200"/>
              </a:spcBef>
              <a:buNone/>
            </a:pPr>
            <a:r>
              <a:rPr lang="en-US" altLang="en-US" sz="2800" dirty="0"/>
              <a:t>Produce fruits that enclose seeds</a:t>
            </a:r>
          </a:p>
          <a:p>
            <a:pPr marL="0" lvl="1" indent="0">
              <a:spcBef>
                <a:spcPts val="1200"/>
              </a:spcBef>
              <a:buNone/>
            </a:pPr>
            <a:r>
              <a:rPr lang="en-US" altLang="en-US" sz="2800" dirty="0"/>
              <a:t>Flowering occurs in response to environmental signals such as day length.</a:t>
            </a:r>
          </a:p>
          <a:p>
            <a:pPr marL="0" lvl="1" indent="0">
              <a:spcBef>
                <a:spcPts val="1200"/>
              </a:spcBef>
              <a:buNone/>
            </a:pPr>
            <a:r>
              <a:rPr lang="en-US" altLang="en-US" sz="2800" dirty="0"/>
              <a:t>In some plants, flowers develop when leaf-forming meristems stop producing leaves and start producing flowers in a bud.</a:t>
            </a:r>
          </a:p>
          <a:p>
            <a:pPr marL="266700" lvl="2" indent="-266700">
              <a:spcBef>
                <a:spcPts val="1200"/>
              </a:spcBef>
              <a:spcAft>
                <a:spcPts val="0"/>
              </a:spcAft>
            </a:pPr>
            <a:r>
              <a:rPr lang="en-US" altLang="en-US" sz="2400" dirty="0"/>
              <a:t>In monocots, flower parts occur in threes and multiples of three.</a:t>
            </a:r>
          </a:p>
          <a:p>
            <a:pPr marL="266700" lvl="2" indent="-266700">
              <a:spcBef>
                <a:spcPts val="1200"/>
              </a:spcBef>
              <a:spcAft>
                <a:spcPts val="0"/>
              </a:spcAft>
            </a:pPr>
            <a:r>
              <a:rPr lang="en-US" altLang="en-US" sz="2400" dirty="0"/>
              <a:t>In eudicots, flower parts occur in fours or fives and multiples of four or five.</a:t>
            </a:r>
          </a:p>
        </p:txBody>
      </p:sp>
      <p:sp>
        <p:nvSpPr>
          <p:cNvPr id="4" name="Slide Number Placeholder 3">
            <a:extLst>
              <a:ext uri="{FF2B5EF4-FFF2-40B4-BE49-F238E27FC236}">
                <a16:creationId xmlns:a16="http://schemas.microsoft.com/office/drawing/2014/main" id="{C8D14333-1458-4D7F-90C7-266A701A5CF3}"/>
              </a:ext>
            </a:extLst>
          </p:cNvPr>
          <p:cNvSpPr>
            <a:spLocks noGrp="1"/>
          </p:cNvSpPr>
          <p:nvPr>
            <p:ph type="sldNum" sz="quarter" idx="4"/>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203476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8305C-4C62-43F5-910F-3AA9CB97ECF8}"/>
              </a:ext>
            </a:extLst>
          </p:cNvPr>
          <p:cNvSpPr>
            <a:spLocks noGrp="1"/>
          </p:cNvSpPr>
          <p:nvPr>
            <p:ph type="title"/>
          </p:nvPr>
        </p:nvSpPr>
        <p:spPr>
          <a:xfrm>
            <a:off x="0" y="2"/>
            <a:ext cx="9144000" cy="694480"/>
          </a:xfrm>
        </p:spPr>
        <p:txBody>
          <a:bodyPr/>
          <a:lstStyle/>
          <a:p>
            <a:r>
              <a:rPr lang="en-US" altLang="en-US" dirty="0"/>
              <a:t>Flower Structure</a:t>
            </a:r>
            <a:endParaRPr lang="en-IN" dirty="0"/>
          </a:p>
        </p:txBody>
      </p:sp>
      <p:sp>
        <p:nvSpPr>
          <p:cNvPr id="3" name="Text Placeholder 2">
            <a:extLst>
              <a:ext uri="{FF2B5EF4-FFF2-40B4-BE49-F238E27FC236}">
                <a16:creationId xmlns:a16="http://schemas.microsoft.com/office/drawing/2014/main" id="{F918DD64-F182-4DB1-ADE4-031EA0ACD23D}"/>
              </a:ext>
            </a:extLst>
          </p:cNvPr>
          <p:cNvSpPr>
            <a:spLocks noGrp="1"/>
          </p:cNvSpPr>
          <p:nvPr>
            <p:ph type="body" sz="quarter" idx="19"/>
          </p:nvPr>
        </p:nvSpPr>
        <p:spPr>
          <a:xfrm>
            <a:off x="842963" y="755296"/>
            <a:ext cx="7849624" cy="5909785"/>
          </a:xfrm>
        </p:spPr>
        <p:txBody>
          <a:bodyPr>
            <a:normAutofit fontScale="92500" lnSpcReduction="10000"/>
          </a:bodyPr>
          <a:lstStyle/>
          <a:p>
            <a:pPr>
              <a:spcAft>
                <a:spcPts val="1200"/>
              </a:spcAft>
            </a:pPr>
            <a:r>
              <a:rPr lang="en-US" sz="2700" dirty="0"/>
              <a:t>A typical eudicot flower has four whorls of modified leaves attached to a receptacle at the end of a flower stalk called a </a:t>
            </a:r>
            <a:r>
              <a:rPr lang="en-US" sz="2700" b="1" dirty="0"/>
              <a:t>peduncle</a:t>
            </a:r>
            <a:r>
              <a:rPr lang="en-US" sz="2700" dirty="0"/>
              <a:t>.</a:t>
            </a:r>
          </a:p>
          <a:p>
            <a:pPr marL="0" lvl="1" indent="0">
              <a:spcBef>
                <a:spcPts val="0"/>
              </a:spcBef>
              <a:spcAft>
                <a:spcPts val="0"/>
              </a:spcAft>
              <a:buClr>
                <a:schemeClr val="tx1"/>
              </a:buClr>
              <a:buNone/>
            </a:pPr>
            <a:r>
              <a:rPr lang="en-US" sz="2700" b="1" dirty="0">
                <a:solidFill>
                  <a:srgbClr val="D90000"/>
                </a:solidFill>
              </a:rPr>
              <a:t>Sepals</a:t>
            </a:r>
            <a:r>
              <a:rPr lang="en-US" sz="2700" dirty="0"/>
              <a:t> protect the bud.</a:t>
            </a:r>
          </a:p>
          <a:p>
            <a:pPr marL="0" lvl="1" indent="0">
              <a:spcBef>
                <a:spcPts val="1200"/>
              </a:spcBef>
              <a:spcAft>
                <a:spcPts val="0"/>
              </a:spcAft>
              <a:buClr>
                <a:schemeClr val="tx1"/>
              </a:buClr>
              <a:buNone/>
            </a:pPr>
            <a:r>
              <a:rPr lang="en-US" sz="2700" b="1" dirty="0">
                <a:solidFill>
                  <a:srgbClr val="D90000"/>
                </a:solidFill>
              </a:rPr>
              <a:t>Petals</a:t>
            </a:r>
            <a:r>
              <a:rPr lang="en-US" sz="2700" dirty="0"/>
              <a:t> attract pollinators.</a:t>
            </a:r>
          </a:p>
          <a:p>
            <a:pPr marL="0" lvl="1" indent="0">
              <a:spcBef>
                <a:spcPts val="1200"/>
              </a:spcBef>
              <a:spcAft>
                <a:spcPts val="0"/>
              </a:spcAft>
              <a:buClr>
                <a:schemeClr val="tx1"/>
              </a:buClr>
              <a:buNone/>
            </a:pPr>
            <a:r>
              <a:rPr lang="en-US" sz="2700" b="1" dirty="0">
                <a:solidFill>
                  <a:srgbClr val="D90000"/>
                </a:solidFill>
              </a:rPr>
              <a:t>Stamens</a:t>
            </a:r>
            <a:r>
              <a:rPr lang="en-US" sz="2700" dirty="0"/>
              <a:t> are the male portion of the flower.</a:t>
            </a:r>
          </a:p>
          <a:p>
            <a:pPr marL="220663" lvl="2" indent="-220663">
              <a:spcBef>
                <a:spcPts val="1200"/>
              </a:spcBef>
              <a:spcAft>
                <a:spcPts val="0"/>
              </a:spcAft>
            </a:pPr>
            <a:r>
              <a:rPr lang="en-US" sz="2100" b="1" dirty="0"/>
              <a:t>Anther</a:t>
            </a:r>
            <a:r>
              <a:rPr lang="en-US" sz="2100" dirty="0"/>
              <a:t> – Saclike container</a:t>
            </a:r>
          </a:p>
          <a:p>
            <a:pPr marL="220663" lvl="2" indent="-220663">
              <a:spcBef>
                <a:spcPts val="1200"/>
              </a:spcBef>
              <a:spcAft>
                <a:spcPts val="0"/>
              </a:spcAft>
            </a:pPr>
            <a:r>
              <a:rPr lang="en-US" sz="2100" b="1" dirty="0"/>
              <a:t>Filament</a:t>
            </a:r>
            <a:r>
              <a:rPr lang="en-US" sz="2100" dirty="0"/>
              <a:t> – Slender stalk</a:t>
            </a:r>
          </a:p>
          <a:p>
            <a:pPr marL="0" lvl="1" indent="0">
              <a:spcBef>
                <a:spcPts val="1200"/>
              </a:spcBef>
              <a:spcAft>
                <a:spcPts val="0"/>
              </a:spcAft>
              <a:buClr>
                <a:schemeClr val="tx1"/>
              </a:buClr>
              <a:buNone/>
            </a:pPr>
            <a:r>
              <a:rPr lang="en-US" sz="2400" b="1" dirty="0">
                <a:solidFill>
                  <a:srgbClr val="D90000"/>
                </a:solidFill>
              </a:rPr>
              <a:t>Carpel</a:t>
            </a:r>
            <a:r>
              <a:rPr lang="en-US" sz="2400" dirty="0"/>
              <a:t> is the female portion of flower.</a:t>
            </a:r>
          </a:p>
          <a:p>
            <a:pPr marL="220663" lvl="2" indent="-220663">
              <a:spcBef>
                <a:spcPts val="1200"/>
              </a:spcBef>
              <a:spcAft>
                <a:spcPts val="0"/>
              </a:spcAft>
              <a:buClr>
                <a:schemeClr val="tx1"/>
              </a:buClr>
            </a:pPr>
            <a:r>
              <a:rPr lang="en-US" sz="2100" b="1" dirty="0">
                <a:solidFill>
                  <a:srgbClr val="D90000"/>
                </a:solidFill>
              </a:rPr>
              <a:t>Stigma</a:t>
            </a:r>
            <a:r>
              <a:rPr lang="en-US" sz="2100" dirty="0"/>
              <a:t> – Enlarged sticky knob</a:t>
            </a:r>
          </a:p>
          <a:p>
            <a:pPr marL="220663" lvl="2" indent="-220663">
              <a:spcBef>
                <a:spcPts val="1200"/>
              </a:spcBef>
              <a:spcAft>
                <a:spcPts val="0"/>
              </a:spcAft>
              <a:buClr>
                <a:schemeClr val="tx1"/>
              </a:buClr>
            </a:pPr>
            <a:r>
              <a:rPr lang="en-US" sz="2100" b="1" dirty="0">
                <a:solidFill>
                  <a:srgbClr val="D90000"/>
                </a:solidFill>
              </a:rPr>
              <a:t>Style</a:t>
            </a:r>
            <a:r>
              <a:rPr lang="en-US" sz="2100" dirty="0"/>
              <a:t> – Slender stalk</a:t>
            </a:r>
          </a:p>
          <a:p>
            <a:pPr marL="220663" lvl="2" indent="-220663">
              <a:spcBef>
                <a:spcPts val="1200"/>
              </a:spcBef>
              <a:spcAft>
                <a:spcPts val="0"/>
              </a:spcAft>
              <a:buClr>
                <a:schemeClr val="tx1"/>
              </a:buClr>
            </a:pPr>
            <a:r>
              <a:rPr lang="en-US" sz="2100" b="1" dirty="0">
                <a:solidFill>
                  <a:srgbClr val="D90000"/>
                </a:solidFill>
              </a:rPr>
              <a:t>Ovary</a:t>
            </a:r>
            <a:r>
              <a:rPr lang="en-US" sz="2100" dirty="0"/>
              <a:t> – Enlarged base enclosing ovules</a:t>
            </a:r>
          </a:p>
          <a:p>
            <a:pPr marL="220663" lvl="2" indent="-220663">
              <a:spcBef>
                <a:spcPts val="1200"/>
              </a:spcBef>
              <a:spcAft>
                <a:spcPts val="0"/>
              </a:spcAft>
              <a:buClr>
                <a:schemeClr val="tx1"/>
              </a:buClr>
            </a:pPr>
            <a:r>
              <a:rPr lang="en-US" sz="2100" b="1" dirty="0">
                <a:solidFill>
                  <a:srgbClr val="D90000"/>
                </a:solidFill>
              </a:rPr>
              <a:t>Ovules</a:t>
            </a:r>
            <a:r>
              <a:rPr lang="en-US" sz="2100" dirty="0"/>
              <a:t> – Play a significant role in the production of megaspores (female gametophyte)</a:t>
            </a:r>
          </a:p>
        </p:txBody>
      </p:sp>
      <p:sp>
        <p:nvSpPr>
          <p:cNvPr id="4" name="Slide Number Placeholder 3">
            <a:extLst>
              <a:ext uri="{FF2B5EF4-FFF2-40B4-BE49-F238E27FC236}">
                <a16:creationId xmlns:a16="http://schemas.microsoft.com/office/drawing/2014/main" id="{5E7E9ECB-BAAB-406D-90F3-3232D148663D}"/>
              </a:ext>
            </a:extLst>
          </p:cNvPr>
          <p:cNvSpPr>
            <a:spLocks noGrp="1"/>
          </p:cNvSpPr>
          <p:nvPr>
            <p:ph type="sldNum" sz="quarter" idx="4"/>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2377094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94604-495C-4C61-9222-3D7ABE5228D6}"/>
              </a:ext>
            </a:extLst>
          </p:cNvPr>
          <p:cNvSpPr>
            <a:spLocks noGrp="1"/>
          </p:cNvSpPr>
          <p:nvPr>
            <p:ph type="title"/>
          </p:nvPr>
        </p:nvSpPr>
        <p:spPr/>
        <p:txBody>
          <a:bodyPr/>
          <a:lstStyle/>
          <a:p>
            <a:r>
              <a:rPr lang="en-US" altLang="en-US" dirty="0"/>
              <a:t>Anatomy of a Flower</a:t>
            </a:r>
            <a:endParaRPr lang="en-IN" dirty="0"/>
          </a:p>
        </p:txBody>
      </p:sp>
      <p:pic>
        <p:nvPicPr>
          <p:cNvPr id="8" name="Picture 2" descr="Diagram of a flower shows stamen (anther and filament) and carpel (stigma, style, ovary and ovule) with petal, sepal, receptacle, and peduncle. ">
            <a:extLst>
              <a:ext uri="{FF2B5EF4-FFF2-40B4-BE49-F238E27FC236}">
                <a16:creationId xmlns:a16="http://schemas.microsoft.com/office/drawing/2014/main" id="{506EE3E4-2F97-45D9-BB4F-2C4216181BC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176"/>
          <a:stretch/>
        </p:blipFill>
        <p:spPr>
          <a:xfrm>
            <a:off x="2097144" y="1401510"/>
            <a:ext cx="4949712" cy="3924356"/>
          </a:xfrm>
          <a:prstGeom prst="rect">
            <a:avLst/>
          </a:prstGeom>
        </p:spPr>
      </p:pic>
      <p:sp>
        <p:nvSpPr>
          <p:cNvPr id="5" name="Text Placeholder 3">
            <a:extLst>
              <a:ext uri="{FF2B5EF4-FFF2-40B4-BE49-F238E27FC236}">
                <a16:creationId xmlns:a16="http://schemas.microsoft.com/office/drawing/2014/main" id="{5AEC5183-5BE8-4933-9033-381378401A7E}"/>
              </a:ext>
            </a:extLst>
          </p:cNvPr>
          <p:cNvSpPr>
            <a:spLocks noGrp="1"/>
          </p:cNvSpPr>
          <p:nvPr>
            <p:ph type="body" sz="quarter" idx="18"/>
          </p:nvPr>
        </p:nvSpPr>
        <p:spPr>
          <a:xfrm>
            <a:off x="4005039" y="5513545"/>
            <a:ext cx="1133921" cy="314325"/>
          </a:xfrm>
        </p:spPr>
        <p:txBody>
          <a:bodyPr>
            <a:normAutofit/>
          </a:bodyPr>
          <a:lstStyle/>
          <a:p>
            <a:r>
              <a:rPr lang="en-US" sz="1200" dirty="0"/>
              <a:t>Figure 27.2</a:t>
            </a:r>
          </a:p>
        </p:txBody>
      </p:sp>
      <p:sp>
        <p:nvSpPr>
          <p:cNvPr id="4" name="Slide Number Placeholder 4">
            <a:extLst>
              <a:ext uri="{FF2B5EF4-FFF2-40B4-BE49-F238E27FC236}">
                <a16:creationId xmlns:a16="http://schemas.microsoft.com/office/drawing/2014/main" id="{0C2BD0F1-58B0-4861-8A26-A97B2F6C465D}"/>
              </a:ext>
            </a:extLst>
          </p:cNvPr>
          <p:cNvSpPr>
            <a:spLocks noGrp="1"/>
          </p:cNvSpPr>
          <p:nvPr>
            <p:ph type="sldNum" sz="quarter" idx="4"/>
          </p:nvPr>
        </p:nvSpPr>
        <p:spPr/>
        <p:txBody>
          <a:bodyPr/>
          <a:lstStyle/>
          <a:p>
            <a:fld id="{68151E55-6873-49E2-B8D5-2F265E6F1973}" type="slidenum">
              <a:rPr lang="en-US" smtClean="0"/>
              <a:pPr/>
              <a:t>8</a:t>
            </a:fld>
            <a:endParaRPr lang="en-US" dirty="0"/>
          </a:p>
        </p:txBody>
      </p:sp>
    </p:spTree>
    <p:extLst>
      <p:ext uri="{BB962C8B-B14F-4D97-AF65-F5344CB8AC3E}">
        <p14:creationId xmlns:p14="http://schemas.microsoft.com/office/powerpoint/2010/main" val="2654263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1A4B2-DA65-4097-B732-5492FBD3F7B7}"/>
              </a:ext>
            </a:extLst>
          </p:cNvPr>
          <p:cNvSpPr>
            <a:spLocks noGrp="1"/>
          </p:cNvSpPr>
          <p:nvPr>
            <p:ph type="title"/>
          </p:nvPr>
        </p:nvSpPr>
        <p:spPr/>
        <p:txBody>
          <a:bodyPr/>
          <a:lstStyle/>
          <a:p>
            <a:r>
              <a:rPr lang="en-US" altLang="en-US" dirty="0"/>
              <a:t>Monocot Versus Eudicot Flowers</a:t>
            </a:r>
            <a:endParaRPr lang="en-IN" dirty="0"/>
          </a:p>
        </p:txBody>
      </p:sp>
      <p:pic>
        <p:nvPicPr>
          <p:cNvPr id="10" name="Picture 2" descr="Monocots and eudicots exhibit characteristic petal arrangements.">
            <a:extLst>
              <a:ext uri="{FF2B5EF4-FFF2-40B4-BE49-F238E27FC236}">
                <a16:creationId xmlns:a16="http://schemas.microsoft.com/office/drawing/2014/main" id="{CDCB8F3C-7A17-4784-A55B-301EEEBFBC4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054" b="16391"/>
          <a:stretch/>
        </p:blipFill>
        <p:spPr>
          <a:xfrm>
            <a:off x="452435" y="1164906"/>
            <a:ext cx="8159486" cy="2655389"/>
          </a:xfrm>
          <a:prstGeom prst="rect">
            <a:avLst/>
          </a:prstGeom>
        </p:spPr>
      </p:pic>
      <p:sp>
        <p:nvSpPr>
          <p:cNvPr id="6" name="Text Placeholder 3">
            <a:extLst>
              <a:ext uri="{FF2B5EF4-FFF2-40B4-BE49-F238E27FC236}">
                <a16:creationId xmlns:a16="http://schemas.microsoft.com/office/drawing/2014/main" id="{8DA4865C-905F-40DD-A5E9-EE70D3B179F7}"/>
              </a:ext>
            </a:extLst>
          </p:cNvPr>
          <p:cNvSpPr>
            <a:spLocks noGrp="1"/>
          </p:cNvSpPr>
          <p:nvPr>
            <p:ph type="body" sz="quarter" idx="18"/>
          </p:nvPr>
        </p:nvSpPr>
        <p:spPr>
          <a:xfrm>
            <a:off x="1377721" y="3820295"/>
            <a:ext cx="1818818" cy="314325"/>
          </a:xfrm>
        </p:spPr>
        <p:txBody>
          <a:bodyPr>
            <a:normAutofit/>
          </a:bodyPr>
          <a:lstStyle/>
          <a:p>
            <a:pPr marL="114300" indent="-114300">
              <a:buFont typeface="+mj-lt"/>
              <a:buAutoNum type="alphaLcPeriod"/>
            </a:pPr>
            <a:r>
              <a:rPr lang="en-US" dirty="0"/>
              <a:t>Daylily, </a:t>
            </a:r>
            <a:r>
              <a:rPr lang="en-US" i="1" dirty="0"/>
              <a:t>Hemerocallis</a:t>
            </a:r>
            <a:r>
              <a:rPr lang="en-US" dirty="0"/>
              <a:t> sp.</a:t>
            </a:r>
          </a:p>
        </p:txBody>
      </p:sp>
      <p:sp>
        <p:nvSpPr>
          <p:cNvPr id="7" name="Text Placeholder 4">
            <a:extLst>
              <a:ext uri="{FF2B5EF4-FFF2-40B4-BE49-F238E27FC236}">
                <a16:creationId xmlns:a16="http://schemas.microsoft.com/office/drawing/2014/main" id="{8FD3C03F-D2F7-4B47-8201-DCB7F79413BC}"/>
              </a:ext>
            </a:extLst>
          </p:cNvPr>
          <p:cNvSpPr>
            <a:spLocks noGrp="1"/>
          </p:cNvSpPr>
          <p:nvPr>
            <p:ph type="body" sz="quarter" idx="19"/>
          </p:nvPr>
        </p:nvSpPr>
        <p:spPr>
          <a:xfrm>
            <a:off x="5749962" y="3857973"/>
            <a:ext cx="2126379" cy="254497"/>
          </a:xfrm>
        </p:spPr>
        <p:txBody>
          <a:bodyPr>
            <a:noAutofit/>
          </a:bodyPr>
          <a:lstStyle/>
          <a:p>
            <a:pPr marL="114300" indent="-114300">
              <a:buFont typeface="+mj-lt"/>
              <a:buAutoNum type="alphaLcPeriod" startAt="2"/>
            </a:pPr>
            <a:r>
              <a:rPr lang="en-US" sz="900" dirty="0"/>
              <a:t>Festive azalea, </a:t>
            </a:r>
            <a:r>
              <a:rPr lang="en-US" sz="900" i="1" dirty="0"/>
              <a:t>Rhododendron </a:t>
            </a:r>
            <a:r>
              <a:rPr lang="en-US" sz="900" dirty="0"/>
              <a:t>sp.</a:t>
            </a:r>
          </a:p>
        </p:txBody>
      </p:sp>
      <p:sp>
        <p:nvSpPr>
          <p:cNvPr id="8" name="Text Placeholder 5">
            <a:extLst>
              <a:ext uri="{FF2B5EF4-FFF2-40B4-BE49-F238E27FC236}">
                <a16:creationId xmlns:a16="http://schemas.microsoft.com/office/drawing/2014/main" id="{04DCCEBA-539A-45E7-8996-A4425740E346}"/>
              </a:ext>
            </a:extLst>
          </p:cNvPr>
          <p:cNvSpPr>
            <a:spLocks noGrp="1"/>
          </p:cNvSpPr>
          <p:nvPr>
            <p:ph type="body" sz="quarter" idx="20"/>
          </p:nvPr>
        </p:nvSpPr>
        <p:spPr>
          <a:xfrm>
            <a:off x="4031226" y="4638777"/>
            <a:ext cx="1116395" cy="277268"/>
          </a:xfrm>
        </p:spPr>
        <p:txBody>
          <a:bodyPr>
            <a:normAutofit/>
          </a:bodyPr>
          <a:lstStyle/>
          <a:p>
            <a:pPr algn="ctr"/>
            <a:r>
              <a:rPr lang="en-US" sz="1200" dirty="0"/>
              <a:t>Figure 27.3</a:t>
            </a:r>
          </a:p>
        </p:txBody>
      </p:sp>
      <p:sp>
        <p:nvSpPr>
          <p:cNvPr id="9" name="Text Placeholder 6">
            <a:extLst>
              <a:ext uri="{FF2B5EF4-FFF2-40B4-BE49-F238E27FC236}">
                <a16:creationId xmlns:a16="http://schemas.microsoft.com/office/drawing/2014/main" id="{A913DED4-BD8E-4C2A-984D-78BCA031690E}"/>
              </a:ext>
            </a:extLst>
          </p:cNvPr>
          <p:cNvSpPr>
            <a:spLocks noGrp="1"/>
          </p:cNvSpPr>
          <p:nvPr>
            <p:ph type="body" sz="quarter" idx="21"/>
          </p:nvPr>
        </p:nvSpPr>
        <p:spPr>
          <a:xfrm>
            <a:off x="2885799" y="5885567"/>
            <a:ext cx="3292757" cy="277268"/>
          </a:xfrm>
        </p:spPr>
        <p:txBody>
          <a:bodyPr>
            <a:noAutofit/>
          </a:bodyPr>
          <a:lstStyle/>
          <a:p>
            <a:pPr algn="ctr"/>
            <a:r>
              <a:rPr lang="en-US" sz="1200" dirty="0">
                <a:hlinkClick r:id="rId3" action="ppaction://hlinksldjump"/>
              </a:rPr>
              <a:t>Access the text alternative for slide images.</a:t>
            </a:r>
            <a:endParaRPr lang="en-US" sz="1200" dirty="0"/>
          </a:p>
        </p:txBody>
      </p:sp>
      <p:sp>
        <p:nvSpPr>
          <p:cNvPr id="3" name="Text Placeholder 7">
            <a:extLst>
              <a:ext uri="{FF2B5EF4-FFF2-40B4-BE49-F238E27FC236}">
                <a16:creationId xmlns:a16="http://schemas.microsoft.com/office/drawing/2014/main" id="{919EFD36-F56F-4376-A34A-34532DEF1A9A}"/>
              </a:ext>
            </a:extLst>
          </p:cNvPr>
          <p:cNvSpPr>
            <a:spLocks noGrp="1"/>
          </p:cNvSpPr>
          <p:nvPr>
            <p:ph type="body" sz="quarter" idx="22"/>
          </p:nvPr>
        </p:nvSpPr>
        <p:spPr>
          <a:xfrm>
            <a:off x="5591397" y="6544976"/>
            <a:ext cx="3089486" cy="277268"/>
          </a:xfrm>
        </p:spPr>
        <p:txBody>
          <a:bodyPr>
            <a:normAutofit/>
          </a:bodyPr>
          <a:lstStyle/>
          <a:p>
            <a:pPr algn="r"/>
            <a:r>
              <a:rPr lang="en-US" sz="800" dirty="0"/>
              <a:t>(a): Marg Cousens/Getty Images; (b): Dr. Murray P. </a:t>
            </a:r>
            <a:r>
              <a:rPr lang="en-US" sz="800" dirty="0" err="1"/>
              <a:t>Pendarvis</a:t>
            </a:r>
            <a:endParaRPr lang="en-US" sz="800" dirty="0"/>
          </a:p>
        </p:txBody>
      </p:sp>
      <p:sp>
        <p:nvSpPr>
          <p:cNvPr id="4" name="Slide Number Placeholder 8">
            <a:extLst>
              <a:ext uri="{FF2B5EF4-FFF2-40B4-BE49-F238E27FC236}">
                <a16:creationId xmlns:a16="http://schemas.microsoft.com/office/drawing/2014/main" id="{1BE5FE6A-627B-49DD-BBD1-1FC48590B25C}"/>
              </a:ext>
            </a:extLst>
          </p:cNvPr>
          <p:cNvSpPr>
            <a:spLocks noGrp="1"/>
          </p:cNvSpPr>
          <p:nvPr>
            <p:ph type="sldNum" sz="quarter" idx="4"/>
          </p:nvPr>
        </p:nvSpPr>
        <p:spPr/>
        <p:txBody>
          <a:bodyPr/>
          <a:lstStyle/>
          <a:p>
            <a:fld id="{68151E55-6873-49E2-B8D5-2F265E6F1973}" type="slidenum">
              <a:rPr lang="en-US" smtClean="0"/>
              <a:pPr/>
              <a:t>9</a:t>
            </a:fld>
            <a:endParaRPr lang="en-US" dirty="0"/>
          </a:p>
        </p:txBody>
      </p:sp>
    </p:spTree>
    <p:extLst>
      <p:ext uri="{BB962C8B-B14F-4D97-AF65-F5344CB8AC3E}">
        <p14:creationId xmlns:p14="http://schemas.microsoft.com/office/powerpoint/2010/main" val="3546802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51B66-A646-4E4E-AA15-45598590E785}"/>
              </a:ext>
            </a:extLst>
          </p:cNvPr>
          <p:cNvSpPr>
            <a:spLocks noGrp="1"/>
          </p:cNvSpPr>
          <p:nvPr>
            <p:ph type="title"/>
          </p:nvPr>
        </p:nvSpPr>
        <p:spPr/>
        <p:txBody>
          <a:bodyPr/>
          <a:lstStyle/>
          <a:p>
            <a:r>
              <a:rPr lang="en-US" altLang="en-US" dirty="0"/>
              <a:t>Variations in Flower Structure</a:t>
            </a:r>
            <a:endParaRPr lang="en-IN" dirty="0"/>
          </a:p>
        </p:txBody>
      </p:sp>
      <p:sp>
        <p:nvSpPr>
          <p:cNvPr id="6" name="Text Placeholder 2">
            <a:extLst>
              <a:ext uri="{FF2B5EF4-FFF2-40B4-BE49-F238E27FC236}">
                <a16:creationId xmlns:a16="http://schemas.microsoft.com/office/drawing/2014/main" id="{713114A9-0F28-43A2-A16B-D857BBB77BCF}"/>
              </a:ext>
            </a:extLst>
          </p:cNvPr>
          <p:cNvSpPr>
            <a:spLocks noGrp="1"/>
          </p:cNvSpPr>
          <p:nvPr>
            <p:ph type="body" sz="quarter" idx="19"/>
          </p:nvPr>
        </p:nvSpPr>
        <p:spPr>
          <a:xfrm>
            <a:off x="950913" y="888166"/>
            <a:ext cx="7745452" cy="1973179"/>
          </a:xfrm>
        </p:spPr>
        <p:txBody>
          <a:bodyPr>
            <a:normAutofit fontScale="92500"/>
          </a:bodyPr>
          <a:lstStyle/>
          <a:p>
            <a:pPr>
              <a:spcAft>
                <a:spcPts val="1500"/>
              </a:spcAft>
            </a:pPr>
            <a:r>
              <a:rPr lang="en-US" altLang="en-US" sz="2700" dirty="0"/>
              <a:t>Complete versus incomplete flowers:</a:t>
            </a:r>
          </a:p>
          <a:p>
            <a:pPr marL="285750" lvl="1" indent="-285750">
              <a:spcBef>
                <a:spcPts val="0"/>
              </a:spcBef>
              <a:spcAft>
                <a:spcPts val="0"/>
              </a:spcAft>
            </a:pPr>
            <a:r>
              <a:rPr lang="en-US" altLang="en-US" sz="2400" b="1" dirty="0"/>
              <a:t>Complete</a:t>
            </a:r>
            <a:r>
              <a:rPr lang="en-US" altLang="en-US" sz="2400" dirty="0"/>
              <a:t> flowers have sepals, petals, stamens, and a carpel.</a:t>
            </a:r>
          </a:p>
          <a:p>
            <a:pPr marL="285750" lvl="1" indent="-285750">
              <a:spcBef>
                <a:spcPts val="1200"/>
              </a:spcBef>
              <a:spcAft>
                <a:spcPts val="0"/>
              </a:spcAft>
            </a:pPr>
            <a:r>
              <a:rPr lang="en-US" altLang="en-US" sz="2400" b="1" dirty="0"/>
              <a:t>Incomplete</a:t>
            </a:r>
            <a:r>
              <a:rPr lang="en-US" altLang="en-US" sz="2400" dirty="0"/>
              <a:t> flowers are missing one or more of the above.</a:t>
            </a:r>
          </a:p>
        </p:txBody>
      </p:sp>
      <p:sp>
        <p:nvSpPr>
          <p:cNvPr id="7" name="Text Placeholder 3">
            <a:extLst>
              <a:ext uri="{FF2B5EF4-FFF2-40B4-BE49-F238E27FC236}">
                <a16:creationId xmlns:a16="http://schemas.microsoft.com/office/drawing/2014/main" id="{11F8DB35-547C-4B6E-B545-42FD6E1F9825}"/>
              </a:ext>
            </a:extLst>
          </p:cNvPr>
          <p:cNvSpPr>
            <a:spLocks noGrp="1"/>
          </p:cNvSpPr>
          <p:nvPr>
            <p:ph type="body" sz="quarter" idx="20"/>
          </p:nvPr>
        </p:nvSpPr>
        <p:spPr>
          <a:xfrm>
            <a:off x="950913" y="2861345"/>
            <a:ext cx="7977429" cy="1525353"/>
          </a:xfrm>
        </p:spPr>
        <p:txBody>
          <a:bodyPr>
            <a:normAutofit fontScale="92500"/>
          </a:bodyPr>
          <a:lstStyle/>
          <a:p>
            <a:pPr lvl="0">
              <a:lnSpc>
                <a:spcPct val="80000"/>
              </a:lnSpc>
              <a:spcAft>
                <a:spcPts val="1500"/>
              </a:spcAft>
            </a:pPr>
            <a:r>
              <a:rPr lang="en-US" altLang="en-US" sz="2700" dirty="0">
                <a:solidFill>
                  <a:prstClr val="black"/>
                </a:solidFill>
              </a:rPr>
              <a:t>Perfect versus imperfect flowers:</a:t>
            </a:r>
          </a:p>
          <a:p>
            <a:pPr marL="230188" lvl="1" indent="-287338">
              <a:lnSpc>
                <a:spcPct val="80000"/>
              </a:lnSpc>
              <a:spcBef>
                <a:spcPts val="0"/>
              </a:spcBef>
              <a:spcAft>
                <a:spcPts val="0"/>
              </a:spcAft>
            </a:pPr>
            <a:r>
              <a:rPr lang="en-US" altLang="en-US" sz="2400" b="1" dirty="0">
                <a:solidFill>
                  <a:prstClr val="black"/>
                </a:solidFill>
              </a:rPr>
              <a:t>Perfect</a:t>
            </a:r>
            <a:r>
              <a:rPr lang="en-US" altLang="en-US" sz="2400" dirty="0">
                <a:solidFill>
                  <a:prstClr val="black"/>
                </a:solidFill>
              </a:rPr>
              <a:t> (bisexual) flowers have both stamens and carpels.</a:t>
            </a:r>
          </a:p>
          <a:p>
            <a:pPr marL="230188" lvl="1" indent="-287338">
              <a:lnSpc>
                <a:spcPct val="80000"/>
              </a:lnSpc>
              <a:spcBef>
                <a:spcPts val="1200"/>
              </a:spcBef>
              <a:spcAft>
                <a:spcPts val="0"/>
              </a:spcAft>
            </a:pPr>
            <a:r>
              <a:rPr lang="en-US" altLang="en-US" sz="2400" b="1" dirty="0">
                <a:solidFill>
                  <a:prstClr val="black"/>
                </a:solidFill>
              </a:rPr>
              <a:t>Imperfect</a:t>
            </a:r>
            <a:r>
              <a:rPr lang="en-US" altLang="en-US" sz="2400" dirty="0">
                <a:solidFill>
                  <a:prstClr val="black"/>
                </a:solidFill>
              </a:rPr>
              <a:t> (unisexual) flowers have one but not the other.</a:t>
            </a:r>
          </a:p>
        </p:txBody>
      </p:sp>
      <p:sp>
        <p:nvSpPr>
          <p:cNvPr id="8" name="Text Placeholder 4">
            <a:extLst>
              <a:ext uri="{FF2B5EF4-FFF2-40B4-BE49-F238E27FC236}">
                <a16:creationId xmlns:a16="http://schemas.microsoft.com/office/drawing/2014/main" id="{F539551D-6C9B-4692-9688-3302157A26E8}"/>
              </a:ext>
            </a:extLst>
          </p:cNvPr>
          <p:cNvSpPr>
            <a:spLocks noGrp="1"/>
          </p:cNvSpPr>
          <p:nvPr>
            <p:ph type="body" sz="quarter" idx="21"/>
          </p:nvPr>
        </p:nvSpPr>
        <p:spPr>
          <a:xfrm>
            <a:off x="950913" y="4312592"/>
            <a:ext cx="7515726" cy="2352489"/>
          </a:xfrm>
        </p:spPr>
        <p:txBody>
          <a:bodyPr>
            <a:normAutofit/>
          </a:bodyPr>
          <a:lstStyle/>
          <a:p>
            <a:pPr lvl="0">
              <a:lnSpc>
                <a:spcPct val="80000"/>
              </a:lnSpc>
              <a:spcAft>
                <a:spcPts val="1500"/>
              </a:spcAft>
            </a:pPr>
            <a:r>
              <a:rPr lang="en-US" altLang="en-US" sz="2500" dirty="0">
                <a:solidFill>
                  <a:prstClr val="black"/>
                </a:solidFill>
              </a:rPr>
              <a:t>Monoecious versus dioecious plants:</a:t>
            </a:r>
          </a:p>
          <a:p>
            <a:pPr marL="0" lvl="1" indent="0">
              <a:lnSpc>
                <a:spcPct val="80000"/>
              </a:lnSpc>
              <a:spcBef>
                <a:spcPts val="0"/>
              </a:spcBef>
              <a:spcAft>
                <a:spcPts val="0"/>
              </a:spcAft>
              <a:buNone/>
            </a:pPr>
            <a:r>
              <a:rPr lang="en-US" altLang="en-US" sz="2200" b="1" dirty="0">
                <a:solidFill>
                  <a:prstClr val="black"/>
                </a:solidFill>
              </a:rPr>
              <a:t>Monoecious</a:t>
            </a:r>
            <a:r>
              <a:rPr lang="en-US" altLang="en-US" sz="2200" dirty="0">
                <a:solidFill>
                  <a:prstClr val="black"/>
                </a:solidFill>
              </a:rPr>
              <a:t> plants have staminate flowers and carpellate flowers on the same plant.</a:t>
            </a:r>
          </a:p>
          <a:p>
            <a:pPr marL="0" lvl="1" indent="0">
              <a:lnSpc>
                <a:spcPct val="80000"/>
              </a:lnSpc>
              <a:spcBef>
                <a:spcPts val="1200"/>
              </a:spcBef>
              <a:spcAft>
                <a:spcPts val="0"/>
              </a:spcAft>
              <a:buNone/>
            </a:pPr>
            <a:r>
              <a:rPr lang="en-US" altLang="en-US" sz="2200" b="1" dirty="0">
                <a:solidFill>
                  <a:prstClr val="black"/>
                </a:solidFill>
              </a:rPr>
              <a:t>Dioecious</a:t>
            </a:r>
            <a:r>
              <a:rPr lang="en-US" altLang="en-US" sz="2200" dirty="0">
                <a:solidFill>
                  <a:prstClr val="black"/>
                </a:solidFill>
              </a:rPr>
              <a:t> plants have staminate and carpellate flowers on separate plants.</a:t>
            </a:r>
          </a:p>
          <a:p>
            <a:pPr marL="266700" lvl="2" indent="-266700">
              <a:lnSpc>
                <a:spcPct val="80000"/>
              </a:lnSpc>
              <a:spcBef>
                <a:spcPts val="1200"/>
              </a:spcBef>
              <a:tabLst>
                <a:tab pos="173038" algn="l"/>
                <a:tab pos="266700" algn="l"/>
              </a:tabLst>
            </a:pPr>
            <a:r>
              <a:rPr lang="en-US" altLang="en-US" sz="1900" dirty="0">
                <a:solidFill>
                  <a:prstClr val="black"/>
                </a:solidFill>
              </a:rPr>
              <a:t>Holly trees are dioecious.</a:t>
            </a:r>
          </a:p>
        </p:txBody>
      </p:sp>
      <p:sp>
        <p:nvSpPr>
          <p:cNvPr id="4" name="Slide Number Placeholder 5">
            <a:extLst>
              <a:ext uri="{FF2B5EF4-FFF2-40B4-BE49-F238E27FC236}">
                <a16:creationId xmlns:a16="http://schemas.microsoft.com/office/drawing/2014/main" id="{7B19F568-123B-4383-B6D0-F5B851580D29}"/>
              </a:ext>
            </a:extLst>
          </p:cNvPr>
          <p:cNvSpPr>
            <a:spLocks noGrp="1"/>
          </p:cNvSpPr>
          <p:nvPr>
            <p:ph type="sldNum" sz="quarter" idx="4"/>
          </p:nvPr>
        </p:nvSpPr>
        <p:spPr/>
        <p:txBody>
          <a:bodyPr/>
          <a:lstStyle/>
          <a:p>
            <a:fld id="{68151E55-6873-49E2-B8D5-2F265E6F1973}" type="slidenum">
              <a:rPr lang="en-US" smtClean="0"/>
              <a:pPr/>
              <a:t>10</a:t>
            </a:fld>
            <a:endParaRPr lang="en-US" dirty="0"/>
          </a:p>
        </p:txBody>
      </p:sp>
    </p:spTree>
    <p:extLst>
      <p:ext uri="{BB962C8B-B14F-4D97-AF65-F5344CB8AC3E}">
        <p14:creationId xmlns:p14="http://schemas.microsoft.com/office/powerpoint/2010/main" val="4271129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AF29789-8C79-494F-B758-8C96D922F912}"/>
              </a:ext>
            </a:extLst>
          </p:cNvPr>
          <p:cNvSpPr>
            <a:spLocks noGrp="1"/>
          </p:cNvSpPr>
          <p:nvPr>
            <p:ph type="title"/>
          </p:nvPr>
        </p:nvSpPr>
        <p:spPr>
          <a:xfrm>
            <a:off x="520699" y="0"/>
            <a:ext cx="8101481" cy="1169043"/>
          </a:xfrm>
        </p:spPr>
        <p:txBody>
          <a:bodyPr/>
          <a:lstStyle/>
          <a:p>
            <a:r>
              <a:rPr lang="en-US" altLang="en-US" dirty="0"/>
              <a:t>Monoecious and Dioecious Plants</a:t>
            </a:r>
            <a:endParaRPr lang="en-IN" dirty="0"/>
          </a:p>
        </p:txBody>
      </p:sp>
      <p:pic>
        <p:nvPicPr>
          <p:cNvPr id="13" name="Picture 2" descr="(a)Cose of Jatropha plant exhibits both male and female flowers on same plant.">
            <a:extLst>
              <a:ext uri="{FF2B5EF4-FFF2-40B4-BE49-F238E27FC236}">
                <a16:creationId xmlns:a16="http://schemas.microsoft.com/office/drawing/2014/main" id="{9A577724-F1C2-488E-8A54-6AB7E5F6141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252" b="2623"/>
          <a:stretch/>
        </p:blipFill>
        <p:spPr>
          <a:xfrm>
            <a:off x="386637" y="1481559"/>
            <a:ext cx="4967256" cy="3621018"/>
          </a:xfrm>
          <a:prstGeom prst="rect">
            <a:avLst/>
          </a:prstGeom>
        </p:spPr>
      </p:pic>
      <p:pic>
        <p:nvPicPr>
          <p:cNvPr id="14" name="Picture 3" descr="(b) Close-up of Holly trees bearing small, red berries.">
            <a:extLst>
              <a:ext uri="{FF2B5EF4-FFF2-40B4-BE49-F238E27FC236}">
                <a16:creationId xmlns:a16="http://schemas.microsoft.com/office/drawing/2014/main" id="{8669A861-EF63-4507-9A02-77E4AD3014E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974" b="2593"/>
          <a:stretch/>
        </p:blipFill>
        <p:spPr>
          <a:xfrm>
            <a:off x="5702415" y="1481559"/>
            <a:ext cx="2499317" cy="3621018"/>
          </a:xfrm>
          <a:prstGeom prst="rect">
            <a:avLst/>
          </a:prstGeom>
        </p:spPr>
      </p:pic>
      <p:sp>
        <p:nvSpPr>
          <p:cNvPr id="11" name="Text Placeholder 4">
            <a:extLst>
              <a:ext uri="{FF2B5EF4-FFF2-40B4-BE49-F238E27FC236}">
                <a16:creationId xmlns:a16="http://schemas.microsoft.com/office/drawing/2014/main" id="{79900A45-9282-4EF6-9ED6-50F960D8E225}"/>
              </a:ext>
            </a:extLst>
          </p:cNvPr>
          <p:cNvSpPr>
            <a:spLocks noGrp="1"/>
          </p:cNvSpPr>
          <p:nvPr>
            <p:ph type="body" sz="quarter" idx="19"/>
          </p:nvPr>
        </p:nvSpPr>
        <p:spPr>
          <a:xfrm>
            <a:off x="3528290" y="5376441"/>
            <a:ext cx="1043710" cy="314325"/>
          </a:xfrm>
        </p:spPr>
        <p:txBody>
          <a:bodyPr>
            <a:normAutofit/>
          </a:bodyPr>
          <a:lstStyle/>
          <a:p>
            <a:r>
              <a:rPr lang="en-US" sz="1200" dirty="0"/>
              <a:t>Figure 27.4</a:t>
            </a:r>
          </a:p>
        </p:txBody>
      </p:sp>
      <p:sp>
        <p:nvSpPr>
          <p:cNvPr id="12" name="Text Placeholder 5">
            <a:extLst>
              <a:ext uri="{FF2B5EF4-FFF2-40B4-BE49-F238E27FC236}">
                <a16:creationId xmlns:a16="http://schemas.microsoft.com/office/drawing/2014/main" id="{53464209-374E-4297-8432-A8DFCE295E8C}"/>
              </a:ext>
            </a:extLst>
          </p:cNvPr>
          <p:cNvSpPr>
            <a:spLocks noGrp="1"/>
          </p:cNvSpPr>
          <p:nvPr>
            <p:ph type="body" sz="quarter" idx="21"/>
          </p:nvPr>
        </p:nvSpPr>
        <p:spPr/>
        <p:txBody>
          <a:bodyPr/>
          <a:lstStyle/>
          <a:p>
            <a:pPr lvl="0"/>
            <a:r>
              <a:rPr lang="en-US" sz="800" dirty="0"/>
              <a:t>(a): Steven P. Lynch; (b): Martin Hughes-Jones/Garden World Images/age </a:t>
            </a:r>
            <a:r>
              <a:rPr lang="en-US" sz="800" dirty="0" err="1"/>
              <a:t>fotostock</a:t>
            </a:r>
            <a:endParaRPr lang="en-US" sz="800" dirty="0"/>
          </a:p>
        </p:txBody>
      </p:sp>
      <p:sp>
        <p:nvSpPr>
          <p:cNvPr id="4" name="Slide Number Placeholder 6">
            <a:extLst>
              <a:ext uri="{FF2B5EF4-FFF2-40B4-BE49-F238E27FC236}">
                <a16:creationId xmlns:a16="http://schemas.microsoft.com/office/drawing/2014/main" id="{960E516E-EFF4-447E-801F-5DB5C5070D55}"/>
              </a:ext>
            </a:extLst>
          </p:cNvPr>
          <p:cNvSpPr>
            <a:spLocks noGrp="1"/>
          </p:cNvSpPr>
          <p:nvPr>
            <p:ph type="sldNum" sz="quarter" idx="4"/>
          </p:nvPr>
        </p:nvSpPr>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3994258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FCF5C-02D7-4E71-9283-54C0AA4656C5}"/>
              </a:ext>
            </a:extLst>
          </p:cNvPr>
          <p:cNvSpPr>
            <a:spLocks noGrp="1"/>
          </p:cNvSpPr>
          <p:nvPr>
            <p:ph type="title"/>
          </p:nvPr>
        </p:nvSpPr>
        <p:spPr>
          <a:xfrm>
            <a:off x="584521" y="26927"/>
            <a:ext cx="7974957" cy="1211564"/>
          </a:xfrm>
        </p:spPr>
        <p:txBody>
          <a:bodyPr/>
          <a:lstStyle/>
          <a:p>
            <a:r>
              <a:rPr lang="en-US" dirty="0"/>
              <a:t>Development of Male Gametophyte</a:t>
            </a:r>
            <a:endParaRPr lang="en-IN" dirty="0"/>
          </a:p>
        </p:txBody>
      </p:sp>
      <p:sp>
        <p:nvSpPr>
          <p:cNvPr id="3" name="Text Placeholder 2">
            <a:extLst>
              <a:ext uri="{FF2B5EF4-FFF2-40B4-BE49-F238E27FC236}">
                <a16:creationId xmlns:a16="http://schemas.microsoft.com/office/drawing/2014/main" id="{F7A5ADDF-0850-460D-9F8D-DDF892735C13}"/>
              </a:ext>
            </a:extLst>
          </p:cNvPr>
          <p:cNvSpPr>
            <a:spLocks noGrp="1"/>
          </p:cNvSpPr>
          <p:nvPr>
            <p:ph type="body" sz="quarter" idx="19"/>
          </p:nvPr>
        </p:nvSpPr>
        <p:spPr>
          <a:xfrm>
            <a:off x="842963" y="1238491"/>
            <a:ext cx="7623676" cy="5364867"/>
          </a:xfrm>
        </p:spPr>
        <p:txBody>
          <a:bodyPr>
            <a:normAutofit lnSpcReduction="10000"/>
          </a:bodyPr>
          <a:lstStyle/>
          <a:p>
            <a:pPr marL="0" lvl="1" indent="0">
              <a:spcBef>
                <a:spcPts val="0"/>
              </a:spcBef>
              <a:spcAft>
                <a:spcPts val="0"/>
              </a:spcAft>
              <a:buNone/>
            </a:pPr>
            <a:r>
              <a:rPr lang="en-US" sz="2800" dirty="0"/>
              <a:t>Microspores are produced in anthers.</a:t>
            </a:r>
          </a:p>
          <a:p>
            <a:pPr marL="0" lvl="1" indent="0">
              <a:spcBef>
                <a:spcPts val="1200"/>
              </a:spcBef>
              <a:spcAft>
                <a:spcPts val="0"/>
              </a:spcAft>
              <a:buNone/>
            </a:pPr>
            <a:r>
              <a:rPr lang="en-US" sz="2800" dirty="0"/>
              <a:t>Each anther has four pollen sacs, each with many microspore mother cells.</a:t>
            </a:r>
          </a:p>
          <a:p>
            <a:pPr marL="266700" lvl="2" indent="-266700">
              <a:spcBef>
                <a:spcPts val="1200"/>
              </a:spcBef>
              <a:spcAft>
                <a:spcPts val="0"/>
              </a:spcAft>
            </a:pPr>
            <a:r>
              <a:rPr lang="en-US" sz="2400" dirty="0"/>
              <a:t>Microspore mother cells undergo meiosis – produces four haploid microspores.</a:t>
            </a:r>
          </a:p>
          <a:p>
            <a:pPr marL="266700" lvl="2" indent="-266700">
              <a:spcBef>
                <a:spcPts val="1200"/>
              </a:spcBef>
              <a:spcAft>
                <a:spcPts val="0"/>
              </a:spcAft>
            </a:pPr>
            <a:r>
              <a:rPr lang="en-US" sz="2400" dirty="0"/>
              <a:t>Microspores undergo mitosis – produce </a:t>
            </a:r>
            <a:r>
              <a:rPr lang="en-US" sz="2400" b="1" dirty="0">
                <a:solidFill>
                  <a:srgbClr val="D90000"/>
                </a:solidFill>
              </a:rPr>
              <a:t>pollen grains</a:t>
            </a:r>
            <a:r>
              <a:rPr lang="en-US" sz="2400" dirty="0"/>
              <a:t>.</a:t>
            </a:r>
          </a:p>
          <a:p>
            <a:pPr marL="531813" lvl="3" indent="-265113">
              <a:spcBef>
                <a:spcPts val="1200"/>
              </a:spcBef>
              <a:spcAft>
                <a:spcPts val="0"/>
              </a:spcAft>
            </a:pPr>
            <a:r>
              <a:rPr lang="en-US" sz="2000" dirty="0"/>
              <a:t>The pollen gain is at first an immature gametophyte consisting of a tube cell and a generative cell.</a:t>
            </a:r>
          </a:p>
          <a:p>
            <a:pPr marL="531813" lvl="3" indent="-265113">
              <a:spcBef>
                <a:spcPts val="1200"/>
              </a:spcBef>
              <a:spcAft>
                <a:spcPts val="0"/>
              </a:spcAft>
            </a:pPr>
            <a:r>
              <a:rPr lang="en-US" sz="2000" dirty="0"/>
              <a:t>The tube cell divides to produce a </a:t>
            </a:r>
            <a:r>
              <a:rPr lang="en-US" sz="2000" b="1" dirty="0"/>
              <a:t>pollen tube</a:t>
            </a:r>
            <a:r>
              <a:rPr lang="en-US" sz="2000" dirty="0"/>
              <a:t>.</a:t>
            </a:r>
          </a:p>
          <a:p>
            <a:pPr marL="531813" lvl="3" indent="-265113">
              <a:spcBef>
                <a:spcPts val="1200"/>
              </a:spcBef>
              <a:spcAft>
                <a:spcPts val="0"/>
              </a:spcAft>
            </a:pPr>
            <a:r>
              <a:rPr lang="en-US" sz="2000" dirty="0"/>
              <a:t>The generative cell produces two sperm by mitosis.</a:t>
            </a:r>
          </a:p>
          <a:p>
            <a:pPr marL="531813" lvl="3" indent="-265113">
              <a:spcBef>
                <a:spcPts val="1200"/>
              </a:spcBef>
              <a:spcAft>
                <a:spcPts val="0"/>
              </a:spcAft>
            </a:pPr>
            <a:r>
              <a:rPr lang="en-US" sz="2000" dirty="0"/>
              <a:t>Finally, the pollen grain has become the mature male gametophyte.</a:t>
            </a:r>
          </a:p>
        </p:txBody>
      </p:sp>
      <p:sp>
        <p:nvSpPr>
          <p:cNvPr id="4" name="Slide Number Placeholder 3">
            <a:extLst>
              <a:ext uri="{FF2B5EF4-FFF2-40B4-BE49-F238E27FC236}">
                <a16:creationId xmlns:a16="http://schemas.microsoft.com/office/drawing/2014/main" id="{D83D8A27-9D24-4BC9-A649-600D743417E2}"/>
              </a:ext>
            </a:extLst>
          </p:cNvPr>
          <p:cNvSpPr>
            <a:spLocks noGrp="1"/>
          </p:cNvSpPr>
          <p:nvPr>
            <p:ph type="sldNum" sz="quarter" idx="4"/>
          </p:nvPr>
        </p:nvSpPr>
        <p:spPr/>
        <p:txBody>
          <a:bodyPr/>
          <a:lstStyle/>
          <a:p>
            <a:fld id="{68151E55-6873-49E2-B8D5-2F265E6F1973}" type="slidenum">
              <a:rPr lang="en-US" smtClean="0"/>
              <a:pPr/>
              <a:t>12</a:t>
            </a:fld>
            <a:endParaRPr lang="en-US" dirty="0"/>
          </a:p>
        </p:txBody>
      </p:sp>
    </p:spTree>
    <p:extLst>
      <p:ext uri="{BB962C8B-B14F-4D97-AF65-F5344CB8AC3E}">
        <p14:creationId xmlns:p14="http://schemas.microsoft.com/office/powerpoint/2010/main" val="2280882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B7B36-6340-4B0B-82BF-A947CD852F7C}"/>
              </a:ext>
            </a:extLst>
          </p:cNvPr>
          <p:cNvSpPr>
            <a:spLocks noGrp="1"/>
          </p:cNvSpPr>
          <p:nvPr>
            <p:ph type="title"/>
          </p:nvPr>
        </p:nvSpPr>
        <p:spPr/>
        <p:txBody>
          <a:bodyPr/>
          <a:lstStyle/>
          <a:p>
            <a:r>
              <a:rPr lang="en-US" altLang="en-US" dirty="0"/>
              <a:t>Life Cycle of Flowering Plants</a:t>
            </a:r>
            <a:endParaRPr lang="en-IN" dirty="0"/>
          </a:p>
        </p:txBody>
      </p:sp>
      <p:pic>
        <p:nvPicPr>
          <p:cNvPr id="8" name="Picture 2" descr="Illustration shows life-cycle of flowering plants from double fertilization to meiosis and back to fertilization. ">
            <a:extLst>
              <a:ext uri="{FF2B5EF4-FFF2-40B4-BE49-F238E27FC236}">
                <a16:creationId xmlns:a16="http://schemas.microsoft.com/office/drawing/2014/main" id="{D490A873-A456-4536-97FB-79E99B16CFF7}"/>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harpenSoften amount="20000"/>
                    </a14:imgEffect>
                  </a14:imgLayer>
                </a14:imgProps>
              </a:ext>
              <a:ext uri="{28A0092B-C50C-407E-A947-70E740481C1C}">
                <a14:useLocalDpi xmlns:a14="http://schemas.microsoft.com/office/drawing/2010/main" val="0"/>
              </a:ext>
            </a:extLst>
          </a:blip>
          <a:srcRect t="2877"/>
          <a:stretch/>
        </p:blipFill>
        <p:spPr>
          <a:xfrm>
            <a:off x="2663860" y="1088020"/>
            <a:ext cx="3816280" cy="4718486"/>
          </a:xfrm>
          <a:prstGeom prst="rect">
            <a:avLst/>
          </a:prstGeom>
        </p:spPr>
      </p:pic>
      <p:sp>
        <p:nvSpPr>
          <p:cNvPr id="5" name="Text Placeholder 3">
            <a:extLst>
              <a:ext uri="{FF2B5EF4-FFF2-40B4-BE49-F238E27FC236}">
                <a16:creationId xmlns:a16="http://schemas.microsoft.com/office/drawing/2014/main" id="{AEED8DDA-BF2C-432E-BB02-BFFDD1C753E2}"/>
              </a:ext>
            </a:extLst>
          </p:cNvPr>
          <p:cNvSpPr>
            <a:spLocks noGrp="1"/>
          </p:cNvSpPr>
          <p:nvPr>
            <p:ph type="body" sz="quarter" idx="18"/>
          </p:nvPr>
        </p:nvSpPr>
        <p:spPr>
          <a:xfrm>
            <a:off x="4016614" y="5880407"/>
            <a:ext cx="1110771" cy="314325"/>
          </a:xfrm>
        </p:spPr>
        <p:txBody>
          <a:bodyPr>
            <a:normAutofit/>
          </a:bodyPr>
          <a:lstStyle/>
          <a:p>
            <a:r>
              <a:rPr lang="en-US" sz="1200" dirty="0"/>
              <a:t>Figure 27.5</a:t>
            </a:r>
          </a:p>
        </p:txBody>
      </p:sp>
      <p:sp>
        <p:nvSpPr>
          <p:cNvPr id="6" name="Text Placeholder 4">
            <a:extLst>
              <a:ext uri="{FF2B5EF4-FFF2-40B4-BE49-F238E27FC236}">
                <a16:creationId xmlns:a16="http://schemas.microsoft.com/office/drawing/2014/main" id="{5094CA27-2DEB-4072-BF95-CEEDFD9515C4}"/>
              </a:ext>
            </a:extLst>
          </p:cNvPr>
          <p:cNvSpPr>
            <a:spLocks noGrp="1"/>
          </p:cNvSpPr>
          <p:nvPr>
            <p:ph type="body" sz="quarter" idx="19"/>
          </p:nvPr>
        </p:nvSpPr>
        <p:spPr>
          <a:xfrm>
            <a:off x="2985274" y="6193594"/>
            <a:ext cx="3173452" cy="314325"/>
          </a:xfrm>
        </p:spPr>
        <p:txBody>
          <a:bodyPr>
            <a:normAutofit/>
          </a:bodyPr>
          <a:lstStyle/>
          <a:p>
            <a:r>
              <a:rPr lang="en-US" sz="1200" dirty="0">
                <a:hlinkClick r:id="rId4" action="ppaction://hlinksldjump"/>
              </a:rPr>
              <a:t>Access the text alternative for slide images.</a:t>
            </a:r>
            <a:endParaRPr lang="en-US" sz="1200" dirty="0"/>
          </a:p>
        </p:txBody>
      </p:sp>
      <p:sp>
        <p:nvSpPr>
          <p:cNvPr id="4" name="Slide Number Placeholder 5">
            <a:extLst>
              <a:ext uri="{FF2B5EF4-FFF2-40B4-BE49-F238E27FC236}">
                <a16:creationId xmlns:a16="http://schemas.microsoft.com/office/drawing/2014/main" id="{2455E450-820C-411C-9264-C2150C23BDAF}"/>
              </a:ext>
            </a:extLst>
          </p:cNvPr>
          <p:cNvSpPr>
            <a:spLocks noGrp="1"/>
          </p:cNvSpPr>
          <p:nvPr>
            <p:ph type="sldNum" sz="quarter" idx="4"/>
          </p:nvPr>
        </p:nvSpPr>
        <p:spPr/>
        <p:txBody>
          <a:bodyPr/>
          <a:lstStyle/>
          <a:p>
            <a:fld id="{68151E55-6873-49E2-B8D5-2F265E6F1973}" type="slidenum">
              <a:rPr lang="en-US" smtClean="0"/>
              <a:pPr/>
              <a:t>13</a:t>
            </a:fld>
            <a:endParaRPr lang="en-US" dirty="0"/>
          </a:p>
        </p:txBody>
      </p:sp>
    </p:spTree>
    <p:extLst>
      <p:ext uri="{BB962C8B-B14F-4D97-AF65-F5344CB8AC3E}">
        <p14:creationId xmlns:p14="http://schemas.microsoft.com/office/powerpoint/2010/main" val="219303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C16FC-DD05-4B9D-8A11-974CD13051DC}"/>
              </a:ext>
            </a:extLst>
          </p:cNvPr>
          <p:cNvSpPr>
            <a:spLocks noGrp="1"/>
          </p:cNvSpPr>
          <p:nvPr>
            <p:ph type="title"/>
          </p:nvPr>
        </p:nvSpPr>
        <p:spPr>
          <a:xfrm>
            <a:off x="0" y="1"/>
            <a:ext cx="9144000" cy="1125564"/>
          </a:xfrm>
        </p:spPr>
        <p:txBody>
          <a:bodyPr/>
          <a:lstStyle/>
          <a:p>
            <a:r>
              <a:rPr lang="en-US" dirty="0"/>
              <a:t>Development of Female Gametophyte</a:t>
            </a:r>
            <a:endParaRPr lang="en-IN" dirty="0"/>
          </a:p>
        </p:txBody>
      </p:sp>
      <p:sp>
        <p:nvSpPr>
          <p:cNvPr id="3" name="Text Placeholder 2">
            <a:extLst>
              <a:ext uri="{FF2B5EF4-FFF2-40B4-BE49-F238E27FC236}">
                <a16:creationId xmlns:a16="http://schemas.microsoft.com/office/drawing/2014/main" id="{0A1BD46E-21E1-47C2-A916-D752B90E520B}"/>
              </a:ext>
            </a:extLst>
          </p:cNvPr>
          <p:cNvSpPr>
            <a:spLocks noGrp="1"/>
          </p:cNvSpPr>
          <p:nvPr>
            <p:ph type="body" sz="quarter" idx="19"/>
          </p:nvPr>
        </p:nvSpPr>
        <p:spPr>
          <a:xfrm>
            <a:off x="565814" y="1125565"/>
            <a:ext cx="7511386" cy="5561635"/>
          </a:xfrm>
        </p:spPr>
        <p:txBody>
          <a:bodyPr>
            <a:normAutofit lnSpcReduction="10000"/>
          </a:bodyPr>
          <a:lstStyle/>
          <a:p>
            <a:r>
              <a:rPr lang="en-US" sz="2700" dirty="0"/>
              <a:t>The ovary contains one or more ovules.</a:t>
            </a:r>
          </a:p>
          <a:p>
            <a:pPr marL="0" lvl="1" indent="0">
              <a:spcBef>
                <a:spcPts val="0"/>
              </a:spcBef>
              <a:spcAft>
                <a:spcPts val="0"/>
              </a:spcAft>
              <a:buNone/>
            </a:pPr>
            <a:r>
              <a:rPr lang="en-US" sz="2400" dirty="0"/>
              <a:t>An ovule has a central mass of parenchyma cells covered by integuments.</a:t>
            </a:r>
          </a:p>
          <a:p>
            <a:pPr marL="0" lvl="1" indent="0">
              <a:spcBef>
                <a:spcPts val="1200"/>
              </a:spcBef>
              <a:spcAft>
                <a:spcPts val="0"/>
              </a:spcAft>
              <a:buNone/>
            </a:pPr>
            <a:r>
              <a:rPr lang="en-US" sz="2400" dirty="0"/>
              <a:t>One parenchyma cell enlarges to become a megaspore mother cell.</a:t>
            </a:r>
          </a:p>
          <a:p>
            <a:pPr marL="355600" lvl="2" indent="-355600">
              <a:spcBef>
                <a:spcPts val="1200"/>
              </a:spcBef>
              <a:spcAft>
                <a:spcPts val="0"/>
              </a:spcAft>
            </a:pPr>
            <a:r>
              <a:rPr lang="en-US" sz="2000" dirty="0"/>
              <a:t>The megaspore mother cell undergoes meiosis to produce four haploid megaspores, three of which are nonfunctional.</a:t>
            </a:r>
          </a:p>
          <a:p>
            <a:pPr marL="355600" lvl="2" indent="-355600">
              <a:spcBef>
                <a:spcPts val="1200"/>
              </a:spcBef>
              <a:spcAft>
                <a:spcPts val="0"/>
              </a:spcAft>
            </a:pPr>
            <a:r>
              <a:rPr lang="en-US" sz="2000" dirty="0"/>
              <a:t>The functional megaspore divides mitotically until there are eight nuclei in the female gametophyte.</a:t>
            </a:r>
          </a:p>
          <a:p>
            <a:pPr marL="0" lvl="1" indent="0">
              <a:spcBef>
                <a:spcPts val="1200"/>
              </a:spcBef>
              <a:buNone/>
            </a:pPr>
            <a:r>
              <a:rPr lang="en-US" sz="2400" dirty="0"/>
              <a:t>The </a:t>
            </a:r>
            <a:r>
              <a:rPr lang="en-US" sz="2400" b="1" dirty="0"/>
              <a:t>female gametophyte </a:t>
            </a:r>
            <a:r>
              <a:rPr lang="en-US" sz="2400" dirty="0"/>
              <a:t>(</a:t>
            </a:r>
            <a:r>
              <a:rPr lang="en-US" sz="2400" b="1" dirty="0">
                <a:solidFill>
                  <a:srgbClr val="D90000"/>
                </a:solidFill>
              </a:rPr>
              <a:t>embryo sac</a:t>
            </a:r>
            <a:r>
              <a:rPr lang="en-US" sz="2400" dirty="0"/>
              <a:t>) contains:</a:t>
            </a:r>
          </a:p>
          <a:p>
            <a:pPr marL="355600" lvl="2" indent="-355600">
              <a:spcBef>
                <a:spcPts val="1200"/>
              </a:spcBef>
              <a:spcAft>
                <a:spcPts val="0"/>
              </a:spcAft>
            </a:pPr>
            <a:r>
              <a:rPr lang="en-US" sz="2000" dirty="0"/>
              <a:t>One egg cell associated with two synergid cells</a:t>
            </a:r>
          </a:p>
          <a:p>
            <a:pPr marL="355600" lvl="2" indent="-355600">
              <a:spcBef>
                <a:spcPts val="1200"/>
              </a:spcBef>
              <a:spcAft>
                <a:spcPts val="0"/>
              </a:spcAft>
            </a:pPr>
            <a:r>
              <a:rPr lang="en-US" sz="2000" dirty="0"/>
              <a:t>One central cell with two polar nuclei</a:t>
            </a:r>
          </a:p>
          <a:p>
            <a:pPr marL="355600" lvl="2" indent="-355600">
              <a:spcBef>
                <a:spcPts val="1200"/>
              </a:spcBef>
              <a:spcAft>
                <a:spcPts val="0"/>
              </a:spcAft>
            </a:pPr>
            <a:r>
              <a:rPr lang="en-US" sz="2000" dirty="0"/>
              <a:t>Three antipodal cells</a:t>
            </a:r>
          </a:p>
          <a:p>
            <a:endParaRPr lang="en-IN" dirty="0"/>
          </a:p>
        </p:txBody>
      </p:sp>
      <p:sp>
        <p:nvSpPr>
          <p:cNvPr id="4" name="Slide Number Placeholder 3">
            <a:extLst>
              <a:ext uri="{FF2B5EF4-FFF2-40B4-BE49-F238E27FC236}">
                <a16:creationId xmlns:a16="http://schemas.microsoft.com/office/drawing/2014/main" id="{B9B4645F-B5C5-4130-A4D0-3936B3FCED48}"/>
              </a:ext>
            </a:extLst>
          </p:cNvPr>
          <p:cNvSpPr>
            <a:spLocks noGrp="1"/>
          </p:cNvSpPr>
          <p:nvPr>
            <p:ph type="sldNum" sz="quarter" idx="4"/>
          </p:nvPr>
        </p:nvSpPr>
        <p:spPr/>
        <p:txBody>
          <a:bodyPr/>
          <a:lstStyle/>
          <a:p>
            <a:fld id="{68151E55-6873-49E2-B8D5-2F265E6F1973}" type="slidenum">
              <a:rPr lang="en-US" smtClean="0"/>
              <a:pPr/>
              <a:t>14</a:t>
            </a:fld>
            <a:endParaRPr lang="en-US" dirty="0"/>
          </a:p>
        </p:txBody>
      </p:sp>
    </p:spTree>
    <p:extLst>
      <p:ext uri="{BB962C8B-B14F-4D97-AF65-F5344CB8AC3E}">
        <p14:creationId xmlns:p14="http://schemas.microsoft.com/office/powerpoint/2010/main" val="4036445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416CC-D5F0-4E47-8270-ECB277645FFF}"/>
              </a:ext>
            </a:extLst>
          </p:cNvPr>
          <p:cNvSpPr>
            <a:spLocks noGrp="1"/>
          </p:cNvSpPr>
          <p:nvPr>
            <p:ph type="title"/>
          </p:nvPr>
        </p:nvSpPr>
        <p:spPr>
          <a:xfrm>
            <a:off x="0" y="1"/>
            <a:ext cx="9144000" cy="1177178"/>
          </a:xfrm>
        </p:spPr>
        <p:txBody>
          <a:bodyPr/>
          <a:lstStyle/>
          <a:p>
            <a:r>
              <a:rPr lang="en-US" altLang="en-US" dirty="0"/>
              <a:t>Types of Pollination</a:t>
            </a:r>
            <a:endParaRPr lang="en-IN" dirty="0"/>
          </a:p>
        </p:txBody>
      </p:sp>
      <p:sp>
        <p:nvSpPr>
          <p:cNvPr id="3" name="Text Placeholder 2">
            <a:extLst>
              <a:ext uri="{FF2B5EF4-FFF2-40B4-BE49-F238E27FC236}">
                <a16:creationId xmlns:a16="http://schemas.microsoft.com/office/drawing/2014/main" id="{6188E77F-BF34-4843-A217-EE505D5CC741}"/>
              </a:ext>
            </a:extLst>
          </p:cNvPr>
          <p:cNvSpPr>
            <a:spLocks noGrp="1"/>
          </p:cNvSpPr>
          <p:nvPr>
            <p:ph type="body" sz="quarter" idx="19"/>
          </p:nvPr>
        </p:nvSpPr>
        <p:spPr>
          <a:xfrm>
            <a:off x="842963" y="1177179"/>
            <a:ext cx="7623676" cy="4019853"/>
          </a:xfrm>
        </p:spPr>
        <p:txBody>
          <a:bodyPr/>
          <a:lstStyle/>
          <a:p>
            <a:pPr marL="0" lvl="1" indent="0">
              <a:spcBef>
                <a:spcPts val="0"/>
              </a:spcBef>
              <a:buNone/>
            </a:pPr>
            <a:r>
              <a:rPr lang="en-US" sz="2800" dirty="0"/>
              <a:t>The transfer of pollen from an anther to the stigma of a carpel</a:t>
            </a:r>
          </a:p>
          <a:p>
            <a:pPr marL="266700" lvl="2" indent="-266700">
              <a:spcAft>
                <a:spcPts val="0"/>
              </a:spcAft>
            </a:pPr>
            <a:r>
              <a:rPr lang="en-US" sz="2400" dirty="0"/>
              <a:t>Self-pollination occurs if the pollen is from the same plant.</a:t>
            </a:r>
          </a:p>
          <a:p>
            <a:pPr marL="266700" lvl="2" indent="-266700">
              <a:spcAft>
                <a:spcPts val="0"/>
              </a:spcAft>
            </a:pPr>
            <a:r>
              <a:rPr lang="en-US" sz="2400" dirty="0"/>
              <a:t>Cross-pollination occurs if the pollen is from a different plant of the same species.</a:t>
            </a:r>
          </a:p>
        </p:txBody>
      </p:sp>
      <p:sp>
        <p:nvSpPr>
          <p:cNvPr id="4" name="Slide Number Placeholder 3">
            <a:extLst>
              <a:ext uri="{FF2B5EF4-FFF2-40B4-BE49-F238E27FC236}">
                <a16:creationId xmlns:a16="http://schemas.microsoft.com/office/drawing/2014/main" id="{227068D1-9551-45FB-A1F2-DE08B68FC96D}"/>
              </a:ext>
            </a:extLst>
          </p:cNvPr>
          <p:cNvSpPr>
            <a:spLocks noGrp="1"/>
          </p:cNvSpPr>
          <p:nvPr>
            <p:ph type="sldNum" sz="quarter" idx="4"/>
          </p:nvPr>
        </p:nvSpPr>
        <p:spPr/>
        <p:txBody>
          <a:bodyPr/>
          <a:lstStyle/>
          <a:p>
            <a:fld id="{68151E55-6873-49E2-B8D5-2F265E6F1973}" type="slidenum">
              <a:rPr lang="en-US" smtClean="0"/>
              <a:pPr/>
              <a:t>15</a:t>
            </a:fld>
            <a:endParaRPr lang="en-US" dirty="0"/>
          </a:p>
        </p:txBody>
      </p:sp>
    </p:spTree>
    <p:extLst>
      <p:ext uri="{BB962C8B-B14F-4D97-AF65-F5344CB8AC3E}">
        <p14:creationId xmlns:p14="http://schemas.microsoft.com/office/powerpoint/2010/main" val="1246803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3905EA-18C0-48D8-B213-4200F9986EAA}"/>
              </a:ext>
            </a:extLst>
          </p:cNvPr>
          <p:cNvSpPr>
            <a:spLocks noGrp="1"/>
          </p:cNvSpPr>
          <p:nvPr>
            <p:ph type="title"/>
          </p:nvPr>
        </p:nvSpPr>
        <p:spPr/>
        <p:txBody>
          <a:bodyPr/>
          <a:lstStyle/>
          <a:p>
            <a:r>
              <a:rPr lang="en-US" altLang="en-US" dirty="0"/>
              <a:t>Pollination</a:t>
            </a:r>
            <a:endParaRPr lang="en-IN" dirty="0"/>
          </a:p>
        </p:txBody>
      </p:sp>
      <p:pic>
        <p:nvPicPr>
          <p:cNvPr id="9" name="Picture 2" descr="a. Grass releasing pollen. b. Pollen grains of Canadian goldenrod, Solidago canadensis. c. Pollen grains of asparagus, Asparagus officinalis. ">
            <a:extLst>
              <a:ext uri="{FF2B5EF4-FFF2-40B4-BE49-F238E27FC236}">
                <a16:creationId xmlns:a16="http://schemas.microsoft.com/office/drawing/2014/main" id="{ABF1E51F-3446-46F5-8CCA-C6AE8A6138D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710" b="4250"/>
          <a:stretch/>
        </p:blipFill>
        <p:spPr>
          <a:xfrm>
            <a:off x="2285718" y="1214637"/>
            <a:ext cx="4572559" cy="4419764"/>
          </a:xfrm>
          <a:prstGeom prst="rect">
            <a:avLst/>
          </a:prstGeom>
        </p:spPr>
      </p:pic>
      <p:sp>
        <p:nvSpPr>
          <p:cNvPr id="6" name="Text Placeholder 3">
            <a:extLst>
              <a:ext uri="{FF2B5EF4-FFF2-40B4-BE49-F238E27FC236}">
                <a16:creationId xmlns:a16="http://schemas.microsoft.com/office/drawing/2014/main" id="{F18F830F-B1F8-486A-BD88-75B2544D5AE1}"/>
              </a:ext>
            </a:extLst>
          </p:cNvPr>
          <p:cNvSpPr>
            <a:spLocks noGrp="1"/>
          </p:cNvSpPr>
          <p:nvPr>
            <p:ph type="body" sz="quarter" idx="18"/>
          </p:nvPr>
        </p:nvSpPr>
        <p:spPr>
          <a:xfrm>
            <a:off x="3987676" y="5900825"/>
            <a:ext cx="1168645" cy="314325"/>
          </a:xfrm>
        </p:spPr>
        <p:txBody>
          <a:bodyPr>
            <a:normAutofit/>
          </a:bodyPr>
          <a:lstStyle/>
          <a:p>
            <a:r>
              <a:rPr lang="en-US" sz="1200" dirty="0"/>
              <a:t>Figure 27.6</a:t>
            </a:r>
          </a:p>
        </p:txBody>
      </p:sp>
      <p:sp>
        <p:nvSpPr>
          <p:cNvPr id="8" name="Text Placeholder 4">
            <a:extLst>
              <a:ext uri="{FF2B5EF4-FFF2-40B4-BE49-F238E27FC236}">
                <a16:creationId xmlns:a16="http://schemas.microsoft.com/office/drawing/2014/main" id="{3790FD25-7EF2-4E72-B4B9-92B913C9F250}"/>
              </a:ext>
            </a:extLst>
          </p:cNvPr>
          <p:cNvSpPr>
            <a:spLocks noGrp="1"/>
          </p:cNvSpPr>
          <p:nvPr>
            <p:ph type="body" sz="quarter" idx="21"/>
          </p:nvPr>
        </p:nvSpPr>
        <p:spPr>
          <a:xfrm>
            <a:off x="2285718" y="6563439"/>
            <a:ext cx="6336461" cy="161452"/>
          </a:xfrm>
        </p:spPr>
        <p:txBody>
          <a:bodyPr/>
          <a:lstStyle/>
          <a:p>
            <a:pPr lvl="0"/>
            <a:r>
              <a:rPr lang="en-US" sz="800" dirty="0"/>
              <a:t>(a): Tim Gainey/</a:t>
            </a:r>
            <a:r>
              <a:rPr lang="en-US" sz="800" dirty="0" err="1"/>
              <a:t>Alamy</a:t>
            </a:r>
            <a:r>
              <a:rPr lang="en-US" sz="800" dirty="0"/>
              <a:t> Stock Photo; (b): </a:t>
            </a:r>
            <a:r>
              <a:rPr lang="en-US" sz="800" dirty="0" err="1"/>
              <a:t>Mediscan</a:t>
            </a:r>
            <a:r>
              <a:rPr lang="en-US" sz="800" dirty="0"/>
              <a:t>/</a:t>
            </a:r>
            <a:r>
              <a:rPr lang="en-US" sz="800" dirty="0" err="1"/>
              <a:t>Alamy</a:t>
            </a:r>
            <a:r>
              <a:rPr lang="en-US" sz="800" dirty="0"/>
              <a:t> Stock Photo; (c): Steve </a:t>
            </a:r>
            <a:r>
              <a:rPr lang="en-US" sz="800" dirty="0" err="1"/>
              <a:t>Gschmeissner</a:t>
            </a:r>
            <a:r>
              <a:rPr lang="en-US" sz="800" dirty="0"/>
              <a:t>/Science Photo Library/Getty Images</a:t>
            </a:r>
          </a:p>
        </p:txBody>
      </p:sp>
      <p:sp>
        <p:nvSpPr>
          <p:cNvPr id="4" name="Slide Number Placeholder 5">
            <a:extLst>
              <a:ext uri="{FF2B5EF4-FFF2-40B4-BE49-F238E27FC236}">
                <a16:creationId xmlns:a16="http://schemas.microsoft.com/office/drawing/2014/main" id="{9B697E40-0BC0-4A9A-8C54-99456A782E40}"/>
              </a:ext>
            </a:extLst>
          </p:cNvPr>
          <p:cNvSpPr>
            <a:spLocks noGrp="1"/>
          </p:cNvSpPr>
          <p:nvPr>
            <p:ph type="sldNum" sz="quarter" idx="4"/>
          </p:nvPr>
        </p:nvSpPr>
        <p:spPr/>
        <p:txBody>
          <a:bodyPr/>
          <a:lstStyle/>
          <a:p>
            <a:fld id="{68151E55-6873-49E2-B8D5-2F265E6F1973}" type="slidenum">
              <a:rPr lang="en-US" smtClean="0"/>
              <a:pPr/>
              <a:t>16</a:t>
            </a:fld>
            <a:endParaRPr lang="en-US" dirty="0"/>
          </a:p>
        </p:txBody>
      </p:sp>
    </p:spTree>
    <p:extLst>
      <p:ext uri="{BB962C8B-B14F-4D97-AF65-F5344CB8AC3E}">
        <p14:creationId xmlns:p14="http://schemas.microsoft.com/office/powerpoint/2010/main" val="3496102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E02E2-DBCA-45A3-919B-58E150AD1BFD}"/>
              </a:ext>
            </a:extLst>
          </p:cNvPr>
          <p:cNvSpPr>
            <a:spLocks noGrp="1"/>
          </p:cNvSpPr>
          <p:nvPr>
            <p:ph type="title"/>
          </p:nvPr>
        </p:nvSpPr>
        <p:spPr>
          <a:xfrm>
            <a:off x="0" y="1"/>
            <a:ext cx="9144000" cy="1177177"/>
          </a:xfrm>
        </p:spPr>
        <p:txBody>
          <a:bodyPr/>
          <a:lstStyle/>
          <a:p>
            <a:r>
              <a:rPr lang="en-US" altLang="en-US" dirty="0"/>
              <a:t>Fertilization</a:t>
            </a:r>
            <a:endParaRPr lang="en-IN" dirty="0"/>
          </a:p>
        </p:txBody>
      </p:sp>
      <p:sp>
        <p:nvSpPr>
          <p:cNvPr id="3" name="Text Placeholder 2">
            <a:extLst>
              <a:ext uri="{FF2B5EF4-FFF2-40B4-BE49-F238E27FC236}">
                <a16:creationId xmlns:a16="http://schemas.microsoft.com/office/drawing/2014/main" id="{30A2C06F-37EE-47A1-BC7D-BE98C48DFB64}"/>
              </a:ext>
            </a:extLst>
          </p:cNvPr>
          <p:cNvSpPr>
            <a:spLocks noGrp="1"/>
          </p:cNvSpPr>
          <p:nvPr>
            <p:ph type="body" sz="quarter" idx="19"/>
          </p:nvPr>
        </p:nvSpPr>
        <p:spPr>
          <a:xfrm>
            <a:off x="842963" y="1177179"/>
            <a:ext cx="7623676" cy="5330739"/>
          </a:xfrm>
        </p:spPr>
        <p:txBody>
          <a:bodyPr/>
          <a:lstStyle/>
          <a:p>
            <a:pPr marL="0" lvl="1" indent="0">
              <a:spcBef>
                <a:spcPts val="0"/>
              </a:spcBef>
              <a:spcAft>
                <a:spcPts val="0"/>
              </a:spcAft>
              <a:buNone/>
            </a:pPr>
            <a:r>
              <a:rPr lang="en-US" sz="2600" dirty="0"/>
              <a:t>When a pollen grain lands on the stigma, it germinates, forming a pollen tube.</a:t>
            </a:r>
          </a:p>
          <a:p>
            <a:pPr marL="0" lvl="1" indent="0">
              <a:spcBef>
                <a:spcPts val="1200"/>
              </a:spcBef>
              <a:spcAft>
                <a:spcPts val="0"/>
              </a:spcAft>
              <a:buNone/>
            </a:pPr>
            <a:r>
              <a:rPr lang="en-US" sz="2600" dirty="0"/>
              <a:t>The pollen tube passes between the stigma and style to reach the micropyle of the ovule.</a:t>
            </a:r>
          </a:p>
          <a:p>
            <a:pPr marL="0" lvl="1" indent="0">
              <a:spcBef>
                <a:spcPts val="1200"/>
              </a:spcBef>
              <a:spcAft>
                <a:spcPts val="0"/>
              </a:spcAft>
              <a:buClr>
                <a:schemeClr val="tx1"/>
              </a:buClr>
              <a:buNone/>
            </a:pPr>
            <a:r>
              <a:rPr lang="en-US" sz="2600" b="1" dirty="0">
                <a:solidFill>
                  <a:srgbClr val="D90000"/>
                </a:solidFill>
              </a:rPr>
              <a:t>Double fertilization </a:t>
            </a:r>
            <a:r>
              <a:rPr lang="en-US" sz="2600" dirty="0"/>
              <a:t>occurs</a:t>
            </a:r>
          </a:p>
          <a:p>
            <a:pPr marL="266700" lvl="2" indent="-266700">
              <a:spcBef>
                <a:spcPts val="1200"/>
              </a:spcBef>
              <a:spcAft>
                <a:spcPts val="0"/>
              </a:spcAft>
              <a:tabLst>
                <a:tab pos="92075" algn="l"/>
                <a:tab pos="266700" algn="l"/>
              </a:tabLst>
            </a:pPr>
            <a:r>
              <a:rPr lang="en-US" dirty="0"/>
              <a:t>One sperm nucleus unites with the egg nucleus, producing a 2n zygote.</a:t>
            </a:r>
          </a:p>
          <a:p>
            <a:pPr marL="266700" lvl="2" indent="-266700">
              <a:spcBef>
                <a:spcPts val="1200"/>
              </a:spcBef>
              <a:spcAft>
                <a:spcPts val="0"/>
              </a:spcAft>
              <a:tabLst>
                <a:tab pos="92075" algn="l"/>
                <a:tab pos="266700" algn="l"/>
              </a:tabLst>
            </a:pPr>
            <a:r>
              <a:rPr lang="en-US" dirty="0"/>
              <a:t>The other sperm nucleus unites with the polar nuclei, forming a 3n endosperm nucleus, which develops into the </a:t>
            </a:r>
            <a:r>
              <a:rPr lang="en-US" b="1" dirty="0">
                <a:solidFill>
                  <a:srgbClr val="D90000"/>
                </a:solidFill>
              </a:rPr>
              <a:t>endosperm</a:t>
            </a:r>
            <a:r>
              <a:rPr lang="en-US" b="1" dirty="0">
                <a:solidFill>
                  <a:schemeClr val="bg2">
                    <a:lumMod val="25000"/>
                  </a:schemeClr>
                </a:solidFill>
              </a:rPr>
              <a:t>.</a:t>
            </a:r>
          </a:p>
          <a:p>
            <a:pPr marL="0" lvl="1" indent="0">
              <a:spcBef>
                <a:spcPts val="1200"/>
              </a:spcBef>
              <a:buNone/>
            </a:pPr>
            <a:r>
              <a:rPr lang="en-US" sz="2600" dirty="0"/>
              <a:t>A mature seed contains the embryo, stored food, and the seed coat.</a:t>
            </a:r>
          </a:p>
        </p:txBody>
      </p:sp>
      <p:sp>
        <p:nvSpPr>
          <p:cNvPr id="4" name="Slide Number Placeholder 3">
            <a:extLst>
              <a:ext uri="{FF2B5EF4-FFF2-40B4-BE49-F238E27FC236}">
                <a16:creationId xmlns:a16="http://schemas.microsoft.com/office/drawing/2014/main" id="{B267B08F-2297-4AA3-9E6E-7C11925740A0}"/>
              </a:ext>
            </a:extLst>
          </p:cNvPr>
          <p:cNvSpPr>
            <a:spLocks noGrp="1"/>
          </p:cNvSpPr>
          <p:nvPr>
            <p:ph type="sldNum" sz="quarter" idx="4"/>
          </p:nvPr>
        </p:nvSpPr>
        <p:spPr/>
        <p:txBody>
          <a:bodyPr/>
          <a:lstStyle/>
          <a:p>
            <a:fld id="{68151E55-6873-49E2-B8D5-2F265E6F1973}" type="slidenum">
              <a:rPr lang="en-US" smtClean="0"/>
              <a:pPr/>
              <a:t>17</a:t>
            </a:fld>
            <a:endParaRPr lang="en-US" dirty="0"/>
          </a:p>
        </p:txBody>
      </p:sp>
    </p:spTree>
    <p:extLst>
      <p:ext uri="{BB962C8B-B14F-4D97-AF65-F5344CB8AC3E}">
        <p14:creationId xmlns:p14="http://schemas.microsoft.com/office/powerpoint/2010/main" val="1641757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640B5-0959-4F3D-AFDD-AD846C91FBA2}"/>
              </a:ext>
            </a:extLst>
          </p:cNvPr>
          <p:cNvSpPr>
            <a:spLocks noGrp="1"/>
          </p:cNvSpPr>
          <p:nvPr>
            <p:ph type="title"/>
          </p:nvPr>
        </p:nvSpPr>
        <p:spPr>
          <a:xfrm>
            <a:off x="0" y="0"/>
            <a:ext cx="9144000" cy="1250065"/>
          </a:xfrm>
        </p:spPr>
        <p:txBody>
          <a:bodyPr/>
          <a:lstStyle/>
          <a:p>
            <a:r>
              <a:rPr lang="en-US" altLang="en-US" dirty="0"/>
              <a:t>Insect Pollinators</a:t>
            </a:r>
            <a:endParaRPr lang="en-IN" dirty="0"/>
          </a:p>
        </p:txBody>
      </p:sp>
      <p:pic>
        <p:nvPicPr>
          <p:cNvPr id="8" name="Picture 2" descr="(a)Bees nectaring on a purple flower.">
            <a:extLst>
              <a:ext uri="{FF2B5EF4-FFF2-40B4-BE49-F238E27FC236}">
                <a16:creationId xmlns:a16="http://schemas.microsoft.com/office/drawing/2014/main" id="{35B39330-2BF1-4AAF-8777-440D36F95F7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102" b="3205"/>
          <a:stretch/>
        </p:blipFill>
        <p:spPr>
          <a:xfrm>
            <a:off x="339682" y="1620455"/>
            <a:ext cx="3921665" cy="3119185"/>
          </a:xfrm>
          <a:prstGeom prst="rect">
            <a:avLst/>
          </a:prstGeom>
        </p:spPr>
      </p:pic>
      <p:pic>
        <p:nvPicPr>
          <p:cNvPr id="9" name="Picture 3" descr="(b) Butterfly nectaring sitting on a flower.">
            <a:extLst>
              <a:ext uri="{FF2B5EF4-FFF2-40B4-BE49-F238E27FC236}">
                <a16:creationId xmlns:a16="http://schemas.microsoft.com/office/drawing/2014/main" id="{B95FB0BA-01B0-4EE5-BB94-F604AB0FAE6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491" b="3442"/>
          <a:stretch/>
        </p:blipFill>
        <p:spPr>
          <a:xfrm>
            <a:off x="4486134" y="1620455"/>
            <a:ext cx="4380874" cy="3187766"/>
          </a:xfrm>
          <a:prstGeom prst="rect">
            <a:avLst/>
          </a:prstGeom>
        </p:spPr>
      </p:pic>
      <p:sp>
        <p:nvSpPr>
          <p:cNvPr id="6" name="Text Placeholder 4">
            <a:extLst>
              <a:ext uri="{FF2B5EF4-FFF2-40B4-BE49-F238E27FC236}">
                <a16:creationId xmlns:a16="http://schemas.microsoft.com/office/drawing/2014/main" id="{436CC292-ECDE-4D1B-A069-1BDAB8D82AAB}"/>
              </a:ext>
            </a:extLst>
          </p:cNvPr>
          <p:cNvSpPr>
            <a:spLocks noGrp="1"/>
          </p:cNvSpPr>
          <p:nvPr>
            <p:ph type="body" sz="quarter" idx="19"/>
          </p:nvPr>
        </p:nvSpPr>
        <p:spPr>
          <a:xfrm>
            <a:off x="3970066" y="5009836"/>
            <a:ext cx="1032136" cy="314325"/>
          </a:xfrm>
        </p:spPr>
        <p:txBody>
          <a:bodyPr>
            <a:normAutofit/>
          </a:bodyPr>
          <a:lstStyle/>
          <a:p>
            <a:r>
              <a:rPr lang="en-US" sz="1200" dirty="0"/>
              <a:t>Figure 27A</a:t>
            </a:r>
          </a:p>
        </p:txBody>
      </p:sp>
      <p:sp>
        <p:nvSpPr>
          <p:cNvPr id="7" name="Text Placeholder 5">
            <a:extLst>
              <a:ext uri="{FF2B5EF4-FFF2-40B4-BE49-F238E27FC236}">
                <a16:creationId xmlns:a16="http://schemas.microsoft.com/office/drawing/2014/main" id="{3C4D480D-7D2F-4090-92CF-1BFFDC31D367}"/>
              </a:ext>
            </a:extLst>
          </p:cNvPr>
          <p:cNvSpPr>
            <a:spLocks noGrp="1"/>
          </p:cNvSpPr>
          <p:nvPr>
            <p:ph type="body" sz="quarter" idx="21"/>
          </p:nvPr>
        </p:nvSpPr>
        <p:spPr>
          <a:xfrm>
            <a:off x="6041985" y="6563439"/>
            <a:ext cx="2580194" cy="258805"/>
          </a:xfrm>
        </p:spPr>
        <p:txBody>
          <a:bodyPr/>
          <a:lstStyle/>
          <a:p>
            <a:pPr lvl="0"/>
            <a:r>
              <a:rPr lang="en-US" sz="800" dirty="0"/>
              <a:t>(a): Steven P. Lynch; (b): </a:t>
            </a:r>
            <a:r>
              <a:rPr lang="en-US" sz="800" dirty="0" err="1"/>
              <a:t>Purestock</a:t>
            </a:r>
            <a:r>
              <a:rPr lang="en-US" sz="800" dirty="0"/>
              <a:t>/Getty Images</a:t>
            </a:r>
          </a:p>
        </p:txBody>
      </p:sp>
      <p:sp>
        <p:nvSpPr>
          <p:cNvPr id="4" name="Slide Number Placeholder 6">
            <a:extLst>
              <a:ext uri="{FF2B5EF4-FFF2-40B4-BE49-F238E27FC236}">
                <a16:creationId xmlns:a16="http://schemas.microsoft.com/office/drawing/2014/main" id="{AC53C928-868C-4F21-A310-D0116CDD9A19}"/>
              </a:ext>
            </a:extLst>
          </p:cNvPr>
          <p:cNvSpPr>
            <a:spLocks noGrp="1"/>
          </p:cNvSpPr>
          <p:nvPr>
            <p:ph type="sldNum" sz="quarter" idx="4"/>
          </p:nvPr>
        </p:nvSpPr>
        <p:spPr/>
        <p:txBody>
          <a:bodyPr/>
          <a:lstStyle/>
          <a:p>
            <a:fld id="{68151E55-6873-49E2-B8D5-2F265E6F1973}" type="slidenum">
              <a:rPr lang="en-US" smtClean="0"/>
              <a:pPr/>
              <a:t>18</a:t>
            </a:fld>
            <a:endParaRPr lang="en-US" dirty="0"/>
          </a:p>
        </p:txBody>
      </p:sp>
    </p:spTree>
    <p:extLst>
      <p:ext uri="{BB962C8B-B14F-4D97-AF65-F5344CB8AC3E}">
        <p14:creationId xmlns:p14="http://schemas.microsoft.com/office/powerpoint/2010/main" val="26403626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A2693-F420-41C1-A70D-43398249E61C}"/>
              </a:ext>
            </a:extLst>
          </p:cNvPr>
          <p:cNvSpPr>
            <a:spLocks noGrp="1"/>
          </p:cNvSpPr>
          <p:nvPr>
            <p:ph type="title"/>
          </p:nvPr>
        </p:nvSpPr>
        <p:spPr/>
        <p:txBody>
          <a:bodyPr/>
          <a:lstStyle/>
          <a:p>
            <a:r>
              <a:rPr lang="en-US" altLang="en-US" dirty="0"/>
              <a:t>Bird and Bat Pollinators</a:t>
            </a:r>
            <a:endParaRPr lang="en-IN" b="0" dirty="0"/>
          </a:p>
        </p:txBody>
      </p:sp>
      <p:pic>
        <p:nvPicPr>
          <p:cNvPr id="10" name="Picture 2" descr="(a) A hummingbird visiting a pink flower with a tubular base. ">
            <a:extLst>
              <a:ext uri="{FF2B5EF4-FFF2-40B4-BE49-F238E27FC236}">
                <a16:creationId xmlns:a16="http://schemas.microsoft.com/office/drawing/2014/main" id="{10536D06-CE36-4D3D-B7FA-BEDB9CC6B3D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720" b="3557"/>
          <a:stretch/>
        </p:blipFill>
        <p:spPr>
          <a:xfrm>
            <a:off x="563963" y="1828800"/>
            <a:ext cx="4235105" cy="2933700"/>
          </a:xfrm>
          <a:prstGeom prst="rect">
            <a:avLst/>
          </a:prstGeom>
        </p:spPr>
      </p:pic>
      <p:pic>
        <p:nvPicPr>
          <p:cNvPr id="11" name="Picture 3" descr="(b)A bat visiting a white cactus flower with a wide, sturdy base.">
            <a:extLst>
              <a:ext uri="{FF2B5EF4-FFF2-40B4-BE49-F238E27FC236}">
                <a16:creationId xmlns:a16="http://schemas.microsoft.com/office/drawing/2014/main" id="{B4709804-8789-455D-A030-A1584898C46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812" b="5927"/>
          <a:stretch/>
        </p:blipFill>
        <p:spPr>
          <a:xfrm>
            <a:off x="4941504" y="1828800"/>
            <a:ext cx="3807541" cy="2933700"/>
          </a:xfrm>
          <a:prstGeom prst="rect">
            <a:avLst/>
          </a:prstGeom>
        </p:spPr>
      </p:pic>
      <p:sp>
        <p:nvSpPr>
          <p:cNvPr id="5" name="Text Placeholder 4">
            <a:extLst>
              <a:ext uri="{FF2B5EF4-FFF2-40B4-BE49-F238E27FC236}">
                <a16:creationId xmlns:a16="http://schemas.microsoft.com/office/drawing/2014/main" id="{8E4F89E6-F44F-4406-B49E-5BA2AA3F9F6D}"/>
              </a:ext>
            </a:extLst>
          </p:cNvPr>
          <p:cNvSpPr>
            <a:spLocks noGrp="1"/>
          </p:cNvSpPr>
          <p:nvPr>
            <p:ph type="body" sz="quarter" idx="18"/>
          </p:nvPr>
        </p:nvSpPr>
        <p:spPr>
          <a:xfrm>
            <a:off x="4295768" y="5029039"/>
            <a:ext cx="1006599" cy="314325"/>
          </a:xfrm>
        </p:spPr>
        <p:txBody>
          <a:bodyPr>
            <a:normAutofit/>
          </a:bodyPr>
          <a:lstStyle/>
          <a:p>
            <a:r>
              <a:rPr lang="en-US" sz="1200" dirty="0"/>
              <a:t>Figure 27B</a:t>
            </a:r>
          </a:p>
        </p:txBody>
      </p:sp>
      <p:sp>
        <p:nvSpPr>
          <p:cNvPr id="6" name="Text Placeholder 5">
            <a:extLst>
              <a:ext uri="{FF2B5EF4-FFF2-40B4-BE49-F238E27FC236}">
                <a16:creationId xmlns:a16="http://schemas.microsoft.com/office/drawing/2014/main" id="{EC33CE85-4BA7-46F2-8BD4-B9014EFBE276}"/>
              </a:ext>
            </a:extLst>
          </p:cNvPr>
          <p:cNvSpPr>
            <a:spLocks noGrp="1"/>
          </p:cNvSpPr>
          <p:nvPr>
            <p:ph type="body" sz="quarter" idx="19"/>
          </p:nvPr>
        </p:nvSpPr>
        <p:spPr>
          <a:xfrm>
            <a:off x="3366352" y="5398885"/>
            <a:ext cx="3150303" cy="314325"/>
          </a:xfrm>
        </p:spPr>
        <p:txBody>
          <a:bodyPr>
            <a:normAutofit/>
          </a:bodyPr>
          <a:lstStyle/>
          <a:p>
            <a:r>
              <a:rPr lang="en-US" sz="1200" dirty="0">
                <a:hlinkClick r:id="rId4" action="ppaction://hlinksldjump"/>
              </a:rPr>
              <a:t>Access the text alternative for slide images.</a:t>
            </a:r>
            <a:endParaRPr lang="en-US" sz="1200" dirty="0"/>
          </a:p>
        </p:txBody>
      </p:sp>
      <p:sp>
        <p:nvSpPr>
          <p:cNvPr id="7" name="Text Placeholder 6">
            <a:extLst>
              <a:ext uri="{FF2B5EF4-FFF2-40B4-BE49-F238E27FC236}">
                <a16:creationId xmlns:a16="http://schemas.microsoft.com/office/drawing/2014/main" id="{6CD30C0A-B808-4D12-9125-7D3789F99CE6}"/>
              </a:ext>
            </a:extLst>
          </p:cNvPr>
          <p:cNvSpPr>
            <a:spLocks noGrp="1"/>
          </p:cNvSpPr>
          <p:nvPr>
            <p:ph type="body" sz="quarter" idx="21"/>
          </p:nvPr>
        </p:nvSpPr>
        <p:spPr>
          <a:xfrm>
            <a:off x="4224759" y="6563440"/>
            <a:ext cx="4397420" cy="184602"/>
          </a:xfrm>
        </p:spPr>
        <p:txBody>
          <a:bodyPr/>
          <a:lstStyle/>
          <a:p>
            <a:pPr lvl="0"/>
            <a:r>
              <a:rPr lang="en-US" sz="800" dirty="0"/>
              <a:t>(a): Daniel Dempster Photography/</a:t>
            </a:r>
            <a:r>
              <a:rPr lang="en-US" sz="800" dirty="0" err="1"/>
              <a:t>Alamy</a:t>
            </a:r>
            <a:r>
              <a:rPr lang="en-US" sz="800" dirty="0"/>
              <a:t> Stock Photo; (b): Merlin D. Tuttle/Science Source</a:t>
            </a:r>
          </a:p>
        </p:txBody>
      </p:sp>
      <p:sp>
        <p:nvSpPr>
          <p:cNvPr id="4" name="Slide Number Placeholder 7">
            <a:extLst>
              <a:ext uri="{FF2B5EF4-FFF2-40B4-BE49-F238E27FC236}">
                <a16:creationId xmlns:a16="http://schemas.microsoft.com/office/drawing/2014/main" id="{7CEAD7C8-4E02-4A2A-9BC6-20296DCBEFAB}"/>
              </a:ext>
            </a:extLst>
          </p:cNvPr>
          <p:cNvSpPr>
            <a:spLocks noGrp="1"/>
          </p:cNvSpPr>
          <p:nvPr>
            <p:ph type="sldNum" sz="quarter" idx="4"/>
          </p:nvPr>
        </p:nvSpPr>
        <p:spPr/>
        <p:txBody>
          <a:bodyPr/>
          <a:lstStyle/>
          <a:p>
            <a:fld id="{68151E55-6873-49E2-B8D5-2F265E6F1973}" type="slidenum">
              <a:rPr lang="en-US" smtClean="0"/>
              <a:pPr/>
              <a:t>19</a:t>
            </a:fld>
            <a:endParaRPr lang="en-US" dirty="0"/>
          </a:p>
        </p:txBody>
      </p:sp>
    </p:spTree>
    <p:extLst>
      <p:ext uri="{BB962C8B-B14F-4D97-AF65-F5344CB8AC3E}">
        <p14:creationId xmlns:p14="http://schemas.microsoft.com/office/powerpoint/2010/main" val="26954422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6085D-2EB9-4994-B2C4-E0C9E066E4E6}"/>
              </a:ext>
            </a:extLst>
          </p:cNvPr>
          <p:cNvSpPr>
            <a:spLocks noGrp="1"/>
          </p:cNvSpPr>
          <p:nvPr>
            <p:ph type="title"/>
          </p:nvPr>
        </p:nvSpPr>
        <p:spPr/>
        <p:txBody>
          <a:bodyPr/>
          <a:lstStyle/>
          <a:p>
            <a:r>
              <a:rPr lang="en-US" altLang="en-US" dirty="0"/>
              <a:t>27.2 Seed Development</a:t>
            </a:r>
            <a:endParaRPr lang="en-IN" dirty="0"/>
          </a:p>
        </p:txBody>
      </p:sp>
      <p:sp>
        <p:nvSpPr>
          <p:cNvPr id="3" name="Text Placeholder 2">
            <a:extLst>
              <a:ext uri="{FF2B5EF4-FFF2-40B4-BE49-F238E27FC236}">
                <a16:creationId xmlns:a16="http://schemas.microsoft.com/office/drawing/2014/main" id="{B8AD48EC-7439-476A-A695-579C07A64628}"/>
              </a:ext>
            </a:extLst>
          </p:cNvPr>
          <p:cNvSpPr>
            <a:spLocks noGrp="1"/>
          </p:cNvSpPr>
          <p:nvPr>
            <p:ph type="body" sz="quarter" idx="19"/>
          </p:nvPr>
        </p:nvSpPr>
        <p:spPr>
          <a:xfrm>
            <a:off x="842963" y="856527"/>
            <a:ext cx="7623676" cy="6001473"/>
          </a:xfrm>
        </p:spPr>
        <p:txBody>
          <a:bodyPr>
            <a:normAutofit fontScale="92500" lnSpcReduction="10000"/>
          </a:bodyPr>
          <a:lstStyle/>
          <a:p>
            <a:pPr marL="0" lvl="1" indent="0">
              <a:spcBef>
                <a:spcPts val="0"/>
              </a:spcBef>
              <a:buNone/>
            </a:pPr>
            <a:r>
              <a:rPr lang="en-US" altLang="en-US" sz="2800" b="1" dirty="0">
                <a:solidFill>
                  <a:srgbClr val="D90000"/>
                </a:solidFill>
              </a:rPr>
              <a:t>Development</a:t>
            </a:r>
            <a:r>
              <a:rPr lang="en-US" altLang="en-US" sz="2800" dirty="0"/>
              <a:t> is a programmed series of stages from a simple to a more complex form.</a:t>
            </a:r>
          </a:p>
          <a:p>
            <a:pPr marL="0" lvl="1" indent="0">
              <a:spcBef>
                <a:spcPts val="1200"/>
              </a:spcBef>
              <a:buNone/>
            </a:pPr>
            <a:r>
              <a:rPr lang="en-US" altLang="en-US" sz="2800" dirty="0"/>
              <a:t>Cellular </a:t>
            </a:r>
            <a:r>
              <a:rPr lang="en-US" altLang="en-US" sz="2800" b="1" dirty="0">
                <a:solidFill>
                  <a:srgbClr val="D90000"/>
                </a:solidFill>
              </a:rPr>
              <a:t>differentiation</a:t>
            </a:r>
            <a:r>
              <a:rPr lang="en-US" altLang="en-US" sz="2800" dirty="0"/>
              <a:t> occurs as development proceeds.</a:t>
            </a:r>
          </a:p>
          <a:p>
            <a:pPr marL="0" lvl="1" indent="0">
              <a:spcBef>
                <a:spcPts val="1200"/>
              </a:spcBef>
              <a:buNone/>
            </a:pPr>
            <a:r>
              <a:rPr lang="en-US" altLang="en-US" sz="2800" dirty="0"/>
              <a:t>Development of a eudicot embryo</a:t>
            </a:r>
          </a:p>
          <a:p>
            <a:pPr marL="266700" lvl="2" indent="-266700">
              <a:spcBef>
                <a:spcPts val="1200"/>
              </a:spcBef>
              <a:spcAft>
                <a:spcPts val="0"/>
              </a:spcAft>
              <a:tabLst>
                <a:tab pos="92075" algn="l"/>
              </a:tabLst>
            </a:pPr>
            <a:r>
              <a:rPr lang="en-US" altLang="en-US" sz="2400" dirty="0"/>
              <a:t>After double fertilization, the zygote divides repeatedly to form a </a:t>
            </a:r>
            <a:r>
              <a:rPr lang="en-US" altLang="en-US" sz="2400" dirty="0" err="1"/>
              <a:t>proembryo</a:t>
            </a:r>
            <a:r>
              <a:rPr lang="en-US" altLang="en-US" sz="2400" dirty="0"/>
              <a:t> and a suspensor.</a:t>
            </a:r>
          </a:p>
          <a:p>
            <a:pPr marL="266700" lvl="2" indent="-266700">
              <a:spcBef>
                <a:spcPts val="1200"/>
              </a:spcBef>
              <a:spcAft>
                <a:spcPts val="0"/>
              </a:spcAft>
              <a:tabLst>
                <a:tab pos="92075" algn="l"/>
              </a:tabLst>
            </a:pPr>
            <a:r>
              <a:rPr lang="en-US" altLang="en-US" sz="2400" dirty="0"/>
              <a:t>The root-shoot axis has been established already.</a:t>
            </a:r>
          </a:p>
          <a:p>
            <a:pPr marL="0" lvl="1" indent="0">
              <a:spcBef>
                <a:spcPts val="1200"/>
              </a:spcBef>
              <a:buNone/>
            </a:pPr>
            <a:r>
              <a:rPr lang="en-US" altLang="en-US" sz="2800" dirty="0"/>
              <a:t>During the globular stage, the </a:t>
            </a:r>
            <a:r>
              <a:rPr lang="en-US" altLang="en-US" sz="2800" dirty="0" err="1"/>
              <a:t>proembryo</a:t>
            </a:r>
            <a:r>
              <a:rPr lang="en-US" altLang="en-US" sz="2800" dirty="0"/>
              <a:t> is a ball of cells.</a:t>
            </a:r>
          </a:p>
          <a:p>
            <a:pPr marL="266700" lvl="2" indent="-266700">
              <a:spcBef>
                <a:spcPts val="1200"/>
              </a:spcBef>
            </a:pPr>
            <a:r>
              <a:rPr lang="en-US" altLang="en-US" sz="2400" dirty="0"/>
              <a:t>The outermost cells will become dermal tissue.</a:t>
            </a:r>
          </a:p>
          <a:p>
            <a:pPr marL="450850" lvl="3" indent="-184150">
              <a:spcBef>
                <a:spcPts val="1200"/>
              </a:spcBef>
            </a:pPr>
            <a:r>
              <a:rPr lang="en-US" altLang="en-US" sz="2100" dirty="0"/>
              <a:t>Protects the plant from desiccation and include stomata</a:t>
            </a:r>
          </a:p>
        </p:txBody>
      </p:sp>
      <p:sp>
        <p:nvSpPr>
          <p:cNvPr id="4" name="Slide Number Placeholder 3">
            <a:extLst>
              <a:ext uri="{FF2B5EF4-FFF2-40B4-BE49-F238E27FC236}">
                <a16:creationId xmlns:a16="http://schemas.microsoft.com/office/drawing/2014/main" id="{D47F5CCC-61A7-4920-8A2F-305FD5A69BF0}"/>
              </a:ext>
            </a:extLst>
          </p:cNvPr>
          <p:cNvSpPr>
            <a:spLocks noGrp="1"/>
          </p:cNvSpPr>
          <p:nvPr>
            <p:ph type="sldNum" sz="quarter" idx="4"/>
          </p:nvPr>
        </p:nvSpPr>
        <p:spPr/>
        <p:txBody>
          <a:bodyPr/>
          <a:lstStyle/>
          <a:p>
            <a:fld id="{68151E55-6873-49E2-B8D5-2F265E6F1973}" type="slidenum">
              <a:rPr lang="en-US" smtClean="0"/>
              <a:pPr/>
              <a:t>20</a:t>
            </a:fld>
            <a:endParaRPr lang="en-US" dirty="0"/>
          </a:p>
        </p:txBody>
      </p:sp>
    </p:spTree>
    <p:extLst>
      <p:ext uri="{BB962C8B-B14F-4D97-AF65-F5344CB8AC3E}">
        <p14:creationId xmlns:p14="http://schemas.microsoft.com/office/powerpoint/2010/main" val="34505752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FC07-34B0-4B22-8CAC-9A72DBDC676A}"/>
              </a:ext>
            </a:extLst>
          </p:cNvPr>
          <p:cNvSpPr>
            <a:spLocks noGrp="1"/>
          </p:cNvSpPr>
          <p:nvPr>
            <p:ph type="title"/>
          </p:nvPr>
        </p:nvSpPr>
        <p:spPr>
          <a:xfrm>
            <a:off x="367809" y="0"/>
            <a:ext cx="8573984" cy="1306286"/>
          </a:xfrm>
        </p:spPr>
        <p:txBody>
          <a:bodyPr/>
          <a:lstStyle/>
          <a:p>
            <a:r>
              <a:rPr lang="en-US" altLang="en-US" dirty="0"/>
              <a:t>The Heart Stage and Torpedo Stage Embryos</a:t>
            </a:r>
            <a:endParaRPr lang="en-IN" dirty="0"/>
          </a:p>
        </p:txBody>
      </p:sp>
      <p:sp>
        <p:nvSpPr>
          <p:cNvPr id="3" name="Text Placeholder 2">
            <a:extLst>
              <a:ext uri="{FF2B5EF4-FFF2-40B4-BE49-F238E27FC236}">
                <a16:creationId xmlns:a16="http://schemas.microsoft.com/office/drawing/2014/main" id="{1FB26DD2-C0F4-451A-915B-FC22833B563C}"/>
              </a:ext>
            </a:extLst>
          </p:cNvPr>
          <p:cNvSpPr>
            <a:spLocks noGrp="1"/>
          </p:cNvSpPr>
          <p:nvPr>
            <p:ph type="body" sz="quarter" idx="19"/>
          </p:nvPr>
        </p:nvSpPr>
        <p:spPr>
          <a:xfrm>
            <a:off x="842963" y="1449030"/>
            <a:ext cx="7623676" cy="5058889"/>
          </a:xfrm>
        </p:spPr>
        <p:txBody>
          <a:bodyPr>
            <a:normAutofit/>
          </a:bodyPr>
          <a:lstStyle/>
          <a:p>
            <a:pPr marL="285750" lvl="1" indent="-285750">
              <a:spcBef>
                <a:spcPts val="0"/>
              </a:spcBef>
            </a:pPr>
            <a:r>
              <a:rPr lang="en-US" sz="2800" dirty="0"/>
              <a:t>The embryo is heart-shaped when </a:t>
            </a:r>
            <a:r>
              <a:rPr lang="en-US" sz="2800" b="1" dirty="0">
                <a:solidFill>
                  <a:srgbClr val="D90000"/>
                </a:solidFill>
              </a:rPr>
              <a:t>cotyledons</a:t>
            </a:r>
            <a:r>
              <a:rPr lang="en-US" sz="2800" dirty="0"/>
              <a:t> appear.</a:t>
            </a:r>
          </a:p>
          <a:p>
            <a:pPr marL="285750" lvl="1" indent="-285750"/>
            <a:r>
              <a:rPr lang="en-US" sz="2800" dirty="0"/>
              <a:t>The embryo enlarges, elongates, and takes on a torpedo shape.</a:t>
            </a:r>
          </a:p>
          <a:p>
            <a:pPr marL="285750" lvl="1" indent="-285750"/>
            <a:r>
              <a:rPr lang="en-US" sz="2800" dirty="0"/>
              <a:t>The shoot apical meristem is responsible for aboveground growth.</a:t>
            </a:r>
          </a:p>
          <a:p>
            <a:pPr marL="285750" lvl="1" indent="-285750"/>
            <a:r>
              <a:rPr lang="en-US" sz="2800" dirty="0"/>
              <a:t>The root apical meristem is responsible for underground growth.</a:t>
            </a:r>
          </a:p>
        </p:txBody>
      </p:sp>
      <p:sp>
        <p:nvSpPr>
          <p:cNvPr id="4" name="Slide Number Placeholder 3">
            <a:extLst>
              <a:ext uri="{FF2B5EF4-FFF2-40B4-BE49-F238E27FC236}">
                <a16:creationId xmlns:a16="http://schemas.microsoft.com/office/drawing/2014/main" id="{1B2D1E0B-482C-4EDE-9EC4-7753CF4CCFDD}"/>
              </a:ext>
            </a:extLst>
          </p:cNvPr>
          <p:cNvSpPr>
            <a:spLocks noGrp="1"/>
          </p:cNvSpPr>
          <p:nvPr>
            <p:ph type="sldNum" sz="quarter" idx="4"/>
          </p:nvPr>
        </p:nvSpPr>
        <p:spPr/>
        <p:txBody>
          <a:bodyPr/>
          <a:lstStyle/>
          <a:p>
            <a:fld id="{68151E55-6873-49E2-B8D5-2F265E6F1973}" type="slidenum">
              <a:rPr lang="en-US" smtClean="0"/>
              <a:pPr/>
              <a:t>21</a:t>
            </a:fld>
            <a:endParaRPr lang="en-US" dirty="0"/>
          </a:p>
        </p:txBody>
      </p:sp>
    </p:spTree>
    <p:extLst>
      <p:ext uri="{BB962C8B-B14F-4D97-AF65-F5344CB8AC3E}">
        <p14:creationId xmlns:p14="http://schemas.microsoft.com/office/powerpoint/2010/main" val="2269865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74233-FB31-435B-86BC-2D9215EAB67E}"/>
              </a:ext>
            </a:extLst>
          </p:cNvPr>
          <p:cNvSpPr>
            <a:spLocks noGrp="1"/>
          </p:cNvSpPr>
          <p:nvPr>
            <p:ph type="title"/>
          </p:nvPr>
        </p:nvSpPr>
        <p:spPr/>
        <p:txBody>
          <a:bodyPr/>
          <a:lstStyle/>
          <a:p>
            <a:r>
              <a:rPr lang="en-US" altLang="en-US" dirty="0"/>
              <a:t>The Mature Embryo</a:t>
            </a:r>
            <a:endParaRPr lang="en-IN" dirty="0"/>
          </a:p>
        </p:txBody>
      </p:sp>
      <p:sp>
        <p:nvSpPr>
          <p:cNvPr id="3" name="Text Placeholder 2">
            <a:extLst>
              <a:ext uri="{FF2B5EF4-FFF2-40B4-BE49-F238E27FC236}">
                <a16:creationId xmlns:a16="http://schemas.microsoft.com/office/drawing/2014/main" id="{99ABF9E0-5929-48BB-B7DD-246284D26B20}"/>
              </a:ext>
            </a:extLst>
          </p:cNvPr>
          <p:cNvSpPr>
            <a:spLocks noGrp="1"/>
          </p:cNvSpPr>
          <p:nvPr>
            <p:ph type="body" sz="quarter" idx="19"/>
          </p:nvPr>
        </p:nvSpPr>
        <p:spPr>
          <a:xfrm>
            <a:off x="842962" y="1177180"/>
            <a:ext cx="7921027" cy="3917334"/>
          </a:xfrm>
        </p:spPr>
        <p:txBody>
          <a:bodyPr>
            <a:normAutofit/>
          </a:bodyPr>
          <a:lstStyle/>
          <a:p>
            <a:pPr marL="285750" lvl="1">
              <a:spcBef>
                <a:spcPts val="0"/>
              </a:spcBef>
            </a:pPr>
            <a:r>
              <a:rPr lang="en-US" altLang="en-US" sz="2800" dirty="0"/>
              <a:t>The </a:t>
            </a:r>
            <a:r>
              <a:rPr lang="en-US" altLang="en-US" sz="2800" b="1" dirty="0"/>
              <a:t>epicotyl</a:t>
            </a:r>
            <a:r>
              <a:rPr lang="en-US" altLang="en-US" sz="2800" dirty="0"/>
              <a:t> is the portion between cotyledons contributing to shoot development.</a:t>
            </a:r>
          </a:p>
          <a:p>
            <a:pPr marL="285750" lvl="1"/>
            <a:r>
              <a:rPr lang="en-US" altLang="en-US" sz="2800" dirty="0"/>
              <a:t>The </a:t>
            </a:r>
            <a:r>
              <a:rPr lang="en-US" altLang="en-US" sz="2800" b="1" dirty="0"/>
              <a:t>hypocotyl</a:t>
            </a:r>
            <a:r>
              <a:rPr lang="en-US" altLang="en-US" sz="2800" dirty="0"/>
              <a:t> is the portion below that contributes to stem development.</a:t>
            </a:r>
          </a:p>
          <a:p>
            <a:pPr marL="285750" lvl="1"/>
            <a:r>
              <a:rPr lang="en-US" altLang="en-US" sz="2800" dirty="0"/>
              <a:t>The radicle is the embryonic root.</a:t>
            </a:r>
          </a:p>
        </p:txBody>
      </p:sp>
      <p:sp>
        <p:nvSpPr>
          <p:cNvPr id="4" name="Slide Number Placeholder 3">
            <a:extLst>
              <a:ext uri="{FF2B5EF4-FFF2-40B4-BE49-F238E27FC236}">
                <a16:creationId xmlns:a16="http://schemas.microsoft.com/office/drawing/2014/main" id="{12BA59BB-473F-43E2-90F4-2844B46CDC62}"/>
              </a:ext>
            </a:extLst>
          </p:cNvPr>
          <p:cNvSpPr>
            <a:spLocks noGrp="1"/>
          </p:cNvSpPr>
          <p:nvPr>
            <p:ph type="sldNum" sz="quarter" idx="4"/>
          </p:nvPr>
        </p:nvSpPr>
        <p:spPr/>
        <p:txBody>
          <a:bodyPr/>
          <a:lstStyle/>
          <a:p>
            <a:fld id="{68151E55-6873-49E2-B8D5-2F265E6F1973}" type="slidenum">
              <a:rPr lang="en-US" smtClean="0"/>
              <a:pPr/>
              <a:t>22</a:t>
            </a:fld>
            <a:endParaRPr lang="en-US" dirty="0"/>
          </a:p>
        </p:txBody>
      </p:sp>
    </p:spTree>
    <p:extLst>
      <p:ext uri="{BB962C8B-B14F-4D97-AF65-F5344CB8AC3E}">
        <p14:creationId xmlns:p14="http://schemas.microsoft.com/office/powerpoint/2010/main" val="36493818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3276D-079E-4989-8A6D-1B78C1AF17AE}"/>
              </a:ext>
            </a:extLst>
          </p:cNvPr>
          <p:cNvSpPr>
            <a:spLocks noGrp="1"/>
          </p:cNvSpPr>
          <p:nvPr>
            <p:ph type="title"/>
          </p:nvPr>
        </p:nvSpPr>
        <p:spPr>
          <a:xfrm>
            <a:off x="1288422" y="63517"/>
            <a:ext cx="6709558" cy="1104482"/>
          </a:xfrm>
        </p:spPr>
        <p:txBody>
          <a:bodyPr/>
          <a:lstStyle/>
          <a:p>
            <a:r>
              <a:rPr lang="en-US" altLang="en-US" sz="3600" dirty="0"/>
              <a:t>Development of a Eudicot Embryo </a:t>
            </a:r>
            <a:r>
              <a:rPr lang="en-US" altLang="en-US" sz="1600" dirty="0"/>
              <a:t>1</a:t>
            </a:r>
            <a:endParaRPr lang="en-IN" sz="1600" dirty="0"/>
          </a:p>
        </p:txBody>
      </p:sp>
      <p:pic>
        <p:nvPicPr>
          <p:cNvPr id="8" name="Picture 2" descr="An enlarged diagram of zygote taken from a cross-section of flower shows zygotic and proembryonic stages. ">
            <a:extLst>
              <a:ext uri="{FF2B5EF4-FFF2-40B4-BE49-F238E27FC236}">
                <a16:creationId xmlns:a16="http://schemas.microsoft.com/office/drawing/2014/main" id="{6E1136F7-E64A-44C9-BE27-BF1C28F7818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214" b="3212"/>
          <a:stretch/>
        </p:blipFill>
        <p:spPr>
          <a:xfrm>
            <a:off x="1288422" y="1543791"/>
            <a:ext cx="6567156" cy="3729327"/>
          </a:xfrm>
          <a:prstGeom prst="rect">
            <a:avLst/>
          </a:prstGeom>
        </p:spPr>
      </p:pic>
      <p:sp>
        <p:nvSpPr>
          <p:cNvPr id="5" name="Text Placeholder 3">
            <a:extLst>
              <a:ext uri="{FF2B5EF4-FFF2-40B4-BE49-F238E27FC236}">
                <a16:creationId xmlns:a16="http://schemas.microsoft.com/office/drawing/2014/main" id="{04050CA5-A148-43C5-9CD6-490CC9E9DE04}"/>
              </a:ext>
            </a:extLst>
          </p:cNvPr>
          <p:cNvSpPr>
            <a:spLocks noGrp="1"/>
          </p:cNvSpPr>
          <p:nvPr>
            <p:ph type="body" sz="quarter" idx="18"/>
          </p:nvPr>
        </p:nvSpPr>
        <p:spPr>
          <a:xfrm>
            <a:off x="4019170" y="5747236"/>
            <a:ext cx="1105660" cy="314325"/>
          </a:xfrm>
        </p:spPr>
        <p:txBody>
          <a:bodyPr>
            <a:normAutofit/>
          </a:bodyPr>
          <a:lstStyle/>
          <a:p>
            <a:r>
              <a:rPr lang="en-US" sz="1200" dirty="0"/>
              <a:t>Figure 27.7</a:t>
            </a:r>
          </a:p>
        </p:txBody>
      </p:sp>
      <p:sp>
        <p:nvSpPr>
          <p:cNvPr id="6" name="Text Placeholder 4">
            <a:extLst>
              <a:ext uri="{FF2B5EF4-FFF2-40B4-BE49-F238E27FC236}">
                <a16:creationId xmlns:a16="http://schemas.microsoft.com/office/drawing/2014/main" id="{CAEAF9A2-9734-4520-99FC-2117E60F5B95}"/>
              </a:ext>
            </a:extLst>
          </p:cNvPr>
          <p:cNvSpPr>
            <a:spLocks noGrp="1"/>
          </p:cNvSpPr>
          <p:nvPr>
            <p:ph type="body" sz="quarter" idx="19"/>
          </p:nvPr>
        </p:nvSpPr>
        <p:spPr>
          <a:xfrm>
            <a:off x="3041602" y="6193593"/>
            <a:ext cx="3218398" cy="314325"/>
          </a:xfrm>
        </p:spPr>
        <p:txBody>
          <a:bodyPr>
            <a:normAutofit/>
          </a:bodyPr>
          <a:lstStyle/>
          <a:p>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B93BEFA3-BC89-4E2A-9904-E9CE2B60C788}"/>
              </a:ext>
            </a:extLst>
          </p:cNvPr>
          <p:cNvSpPr>
            <a:spLocks noGrp="1"/>
          </p:cNvSpPr>
          <p:nvPr>
            <p:ph type="body" sz="quarter" idx="21"/>
          </p:nvPr>
        </p:nvSpPr>
        <p:spPr>
          <a:xfrm>
            <a:off x="7271758" y="6535679"/>
            <a:ext cx="1425732" cy="258804"/>
          </a:xfrm>
        </p:spPr>
        <p:txBody>
          <a:bodyPr/>
          <a:lstStyle/>
          <a:p>
            <a:pPr lvl="0"/>
            <a:r>
              <a:rPr lang="en-US" sz="900" dirty="0"/>
              <a:t>(b): ©Dr. Chun-Ming Liu</a:t>
            </a:r>
          </a:p>
        </p:txBody>
      </p:sp>
      <p:sp>
        <p:nvSpPr>
          <p:cNvPr id="4" name="Slide Number Placeholder 6">
            <a:extLst>
              <a:ext uri="{FF2B5EF4-FFF2-40B4-BE49-F238E27FC236}">
                <a16:creationId xmlns:a16="http://schemas.microsoft.com/office/drawing/2014/main" id="{262FF47E-3EE3-4E75-97D1-93AB4F3B279A}"/>
              </a:ext>
            </a:extLst>
          </p:cNvPr>
          <p:cNvSpPr>
            <a:spLocks noGrp="1"/>
          </p:cNvSpPr>
          <p:nvPr>
            <p:ph type="sldNum" sz="quarter" idx="4"/>
          </p:nvPr>
        </p:nvSpPr>
        <p:spPr/>
        <p:txBody>
          <a:bodyPr/>
          <a:lstStyle/>
          <a:p>
            <a:fld id="{68151E55-6873-49E2-B8D5-2F265E6F1973}" type="slidenum">
              <a:rPr lang="en-US" smtClean="0"/>
              <a:pPr/>
              <a:t>23</a:t>
            </a:fld>
            <a:endParaRPr lang="en-US" dirty="0"/>
          </a:p>
        </p:txBody>
      </p:sp>
    </p:spTree>
    <p:extLst>
      <p:ext uri="{BB962C8B-B14F-4D97-AF65-F5344CB8AC3E}">
        <p14:creationId xmlns:p14="http://schemas.microsoft.com/office/powerpoint/2010/main" val="17759341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42F0B60-2834-42FC-A9AC-49CE6E8112C3}"/>
              </a:ext>
            </a:extLst>
          </p:cNvPr>
          <p:cNvSpPr>
            <a:spLocks noGrp="1"/>
          </p:cNvSpPr>
          <p:nvPr>
            <p:ph type="title"/>
          </p:nvPr>
        </p:nvSpPr>
        <p:spPr>
          <a:xfrm>
            <a:off x="1050966" y="0"/>
            <a:ext cx="7042068" cy="1175657"/>
          </a:xfrm>
        </p:spPr>
        <p:txBody>
          <a:bodyPr/>
          <a:lstStyle/>
          <a:p>
            <a:r>
              <a:rPr lang="en-US" altLang="en-US" sz="3600" dirty="0"/>
              <a:t>Development of a Eudicot Embryo </a:t>
            </a:r>
            <a:r>
              <a:rPr lang="en-US" altLang="en-US" sz="1600" dirty="0"/>
              <a:t>2</a:t>
            </a:r>
            <a:endParaRPr lang="en-IN" sz="1600" dirty="0"/>
          </a:p>
        </p:txBody>
      </p:sp>
      <p:pic>
        <p:nvPicPr>
          <p:cNvPr id="9" name="Picture 2" descr="Set of four panels show globular and heart stage diagrams of A. thaliana; and torpedo and mature embryo stage of Capsella.">
            <a:extLst>
              <a:ext uri="{FF2B5EF4-FFF2-40B4-BE49-F238E27FC236}">
                <a16:creationId xmlns:a16="http://schemas.microsoft.com/office/drawing/2014/main" id="{16B77C98-4948-48E5-A244-34353B75929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777" b="2386"/>
          <a:stretch/>
        </p:blipFill>
        <p:spPr>
          <a:xfrm>
            <a:off x="1104194" y="1298432"/>
            <a:ext cx="6988840" cy="4031637"/>
          </a:xfrm>
          <a:prstGeom prst="rect">
            <a:avLst/>
          </a:prstGeom>
        </p:spPr>
      </p:pic>
      <p:sp>
        <p:nvSpPr>
          <p:cNvPr id="6" name="Text Placeholder 3">
            <a:extLst>
              <a:ext uri="{FF2B5EF4-FFF2-40B4-BE49-F238E27FC236}">
                <a16:creationId xmlns:a16="http://schemas.microsoft.com/office/drawing/2014/main" id="{AF518F7D-DE43-48C2-BC30-38D817C09995}"/>
              </a:ext>
            </a:extLst>
          </p:cNvPr>
          <p:cNvSpPr>
            <a:spLocks noGrp="1"/>
          </p:cNvSpPr>
          <p:nvPr>
            <p:ph type="body" sz="quarter" idx="18"/>
          </p:nvPr>
        </p:nvSpPr>
        <p:spPr>
          <a:xfrm>
            <a:off x="3912292" y="5675984"/>
            <a:ext cx="1319416" cy="314325"/>
          </a:xfrm>
        </p:spPr>
        <p:txBody>
          <a:bodyPr>
            <a:normAutofit/>
          </a:bodyPr>
          <a:lstStyle/>
          <a:p>
            <a:r>
              <a:rPr lang="en-US" sz="1200" dirty="0"/>
              <a:t>Figure 27.7</a:t>
            </a:r>
          </a:p>
        </p:txBody>
      </p:sp>
      <p:sp>
        <p:nvSpPr>
          <p:cNvPr id="7" name="Text Placeholder 4">
            <a:extLst>
              <a:ext uri="{FF2B5EF4-FFF2-40B4-BE49-F238E27FC236}">
                <a16:creationId xmlns:a16="http://schemas.microsoft.com/office/drawing/2014/main" id="{968ADE11-BA36-4229-82CA-096C9DD951B4}"/>
              </a:ext>
            </a:extLst>
          </p:cNvPr>
          <p:cNvSpPr>
            <a:spLocks noGrp="1"/>
          </p:cNvSpPr>
          <p:nvPr>
            <p:ph type="body" sz="quarter" idx="19"/>
          </p:nvPr>
        </p:nvSpPr>
        <p:spPr>
          <a:xfrm>
            <a:off x="3007228" y="6064192"/>
            <a:ext cx="3182772" cy="314325"/>
          </a:xfrm>
        </p:spPr>
        <p:txBody>
          <a:bodyPr>
            <a:normAutofit/>
          </a:bodyPr>
          <a:lstStyle/>
          <a:p>
            <a:r>
              <a:rPr lang="en-US" sz="1200" dirty="0">
                <a:hlinkClick r:id="rId3" action="ppaction://hlinksldjump"/>
              </a:rPr>
              <a:t>Access the text alternative for slide images.</a:t>
            </a:r>
            <a:endParaRPr lang="en-US" sz="1200" dirty="0"/>
          </a:p>
        </p:txBody>
      </p:sp>
      <p:sp>
        <p:nvSpPr>
          <p:cNvPr id="8" name="Text Placeholder 5">
            <a:extLst>
              <a:ext uri="{FF2B5EF4-FFF2-40B4-BE49-F238E27FC236}">
                <a16:creationId xmlns:a16="http://schemas.microsoft.com/office/drawing/2014/main" id="{14BC9F29-4CB3-4AFC-AE68-7012E8664276}"/>
              </a:ext>
            </a:extLst>
          </p:cNvPr>
          <p:cNvSpPr>
            <a:spLocks noGrp="1"/>
          </p:cNvSpPr>
          <p:nvPr>
            <p:ph type="body" sz="quarter" idx="21"/>
          </p:nvPr>
        </p:nvSpPr>
        <p:spPr>
          <a:xfrm>
            <a:off x="4572000" y="6563439"/>
            <a:ext cx="4050180" cy="258805"/>
          </a:xfrm>
        </p:spPr>
        <p:txBody>
          <a:bodyPr/>
          <a:lstStyle/>
          <a:p>
            <a:pPr lvl="0"/>
            <a:r>
              <a:rPr lang="en-US" sz="800" dirty="0"/>
              <a:t>(c to d): ©Dr. Chun-Ming Liu; (e): Biology Pics/Science Source; (f): Steven P. Lynch</a:t>
            </a:r>
          </a:p>
        </p:txBody>
      </p:sp>
      <p:sp>
        <p:nvSpPr>
          <p:cNvPr id="4" name="Slide Number Placeholder 6">
            <a:extLst>
              <a:ext uri="{FF2B5EF4-FFF2-40B4-BE49-F238E27FC236}">
                <a16:creationId xmlns:a16="http://schemas.microsoft.com/office/drawing/2014/main" id="{EB64FA09-A8C0-467C-9062-D50A30C63927}"/>
              </a:ext>
            </a:extLst>
          </p:cNvPr>
          <p:cNvSpPr>
            <a:spLocks noGrp="1"/>
          </p:cNvSpPr>
          <p:nvPr>
            <p:ph type="sldNum" sz="quarter" idx="4"/>
          </p:nvPr>
        </p:nvSpPr>
        <p:spPr/>
        <p:txBody>
          <a:bodyPr/>
          <a:lstStyle/>
          <a:p>
            <a:fld id="{68151E55-6873-49E2-B8D5-2F265E6F1973}" type="slidenum">
              <a:rPr lang="en-US" smtClean="0"/>
              <a:pPr/>
              <a:t>24</a:t>
            </a:fld>
            <a:endParaRPr lang="en-US" dirty="0"/>
          </a:p>
        </p:txBody>
      </p:sp>
    </p:spTree>
    <p:extLst>
      <p:ext uri="{BB962C8B-B14F-4D97-AF65-F5344CB8AC3E}">
        <p14:creationId xmlns:p14="http://schemas.microsoft.com/office/powerpoint/2010/main" val="14417284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E8887-134C-419D-ABBC-F0D545D77571}"/>
              </a:ext>
            </a:extLst>
          </p:cNvPr>
          <p:cNvSpPr>
            <a:spLocks noGrp="1"/>
          </p:cNvSpPr>
          <p:nvPr>
            <p:ph type="title"/>
          </p:nvPr>
        </p:nvSpPr>
        <p:spPr>
          <a:xfrm>
            <a:off x="0" y="1"/>
            <a:ext cx="9144000" cy="997526"/>
          </a:xfrm>
        </p:spPr>
        <p:txBody>
          <a:bodyPr/>
          <a:lstStyle/>
          <a:p>
            <a:r>
              <a:rPr lang="en-US" altLang="en-US" dirty="0"/>
              <a:t>Monocot Versus Eudicot Seeds</a:t>
            </a:r>
            <a:endParaRPr lang="en-IN" dirty="0"/>
          </a:p>
        </p:txBody>
      </p:sp>
      <p:sp>
        <p:nvSpPr>
          <p:cNvPr id="3" name="Text Placeholder 2">
            <a:extLst>
              <a:ext uri="{FF2B5EF4-FFF2-40B4-BE49-F238E27FC236}">
                <a16:creationId xmlns:a16="http://schemas.microsoft.com/office/drawing/2014/main" id="{7F07FA6F-8EFB-4947-80C9-7AC79E1481B4}"/>
              </a:ext>
            </a:extLst>
          </p:cNvPr>
          <p:cNvSpPr>
            <a:spLocks noGrp="1"/>
          </p:cNvSpPr>
          <p:nvPr>
            <p:ph type="body" sz="quarter" idx="19"/>
          </p:nvPr>
        </p:nvSpPr>
        <p:spPr>
          <a:xfrm>
            <a:off x="842963" y="1177179"/>
            <a:ext cx="7623676" cy="4855485"/>
          </a:xfrm>
        </p:spPr>
        <p:txBody>
          <a:bodyPr>
            <a:normAutofit/>
          </a:bodyPr>
          <a:lstStyle/>
          <a:p>
            <a:pPr marL="0" lvl="1" indent="0">
              <a:spcBef>
                <a:spcPts val="0"/>
              </a:spcBef>
              <a:buNone/>
            </a:pPr>
            <a:r>
              <a:rPr lang="en-US" altLang="en-US" sz="2800" dirty="0"/>
              <a:t>Monocots have only one cotyledon.</a:t>
            </a:r>
          </a:p>
          <a:p>
            <a:pPr marL="0" lvl="1" indent="0">
              <a:buNone/>
            </a:pPr>
            <a:r>
              <a:rPr lang="en-US" altLang="en-US" sz="2800" dirty="0"/>
              <a:t>The monocot cotyledon stores certain nutrients, absorbs others from the endosperm, and passes them to the embryo.</a:t>
            </a:r>
          </a:p>
          <a:p>
            <a:pPr marL="0" lvl="1" indent="0">
              <a:buNone/>
            </a:pPr>
            <a:r>
              <a:rPr lang="en-US" altLang="en-US" sz="2800" dirty="0"/>
              <a:t>The eudicot cotyledons store all the nutrients the embryo needs.</a:t>
            </a:r>
          </a:p>
          <a:p>
            <a:pPr marL="273050" lvl="2" indent="-273050"/>
            <a:r>
              <a:rPr lang="en-US" altLang="en-US" sz="2400" dirty="0"/>
              <a:t>The endosperm is taken up by the two cotyledons.</a:t>
            </a:r>
          </a:p>
        </p:txBody>
      </p:sp>
      <p:sp>
        <p:nvSpPr>
          <p:cNvPr id="4" name="Slide Number Placeholder 3">
            <a:extLst>
              <a:ext uri="{FF2B5EF4-FFF2-40B4-BE49-F238E27FC236}">
                <a16:creationId xmlns:a16="http://schemas.microsoft.com/office/drawing/2014/main" id="{445188D4-0C15-40D7-B8BC-CDED0FF5F8C8}"/>
              </a:ext>
            </a:extLst>
          </p:cNvPr>
          <p:cNvSpPr>
            <a:spLocks noGrp="1"/>
          </p:cNvSpPr>
          <p:nvPr>
            <p:ph type="sldNum" sz="quarter" idx="4"/>
          </p:nvPr>
        </p:nvSpPr>
        <p:spPr/>
        <p:txBody>
          <a:bodyPr/>
          <a:lstStyle/>
          <a:p>
            <a:fld id="{68151E55-6873-49E2-B8D5-2F265E6F1973}" type="slidenum">
              <a:rPr lang="en-US" smtClean="0"/>
              <a:pPr/>
              <a:t>25</a:t>
            </a:fld>
            <a:endParaRPr lang="en-US" dirty="0"/>
          </a:p>
        </p:txBody>
      </p:sp>
    </p:spTree>
    <p:extLst>
      <p:ext uri="{BB962C8B-B14F-4D97-AF65-F5344CB8AC3E}">
        <p14:creationId xmlns:p14="http://schemas.microsoft.com/office/powerpoint/2010/main" val="22781657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5FC27-D619-4891-96D7-0595AA1C29F9}"/>
              </a:ext>
            </a:extLst>
          </p:cNvPr>
          <p:cNvSpPr>
            <a:spLocks noGrp="1"/>
          </p:cNvSpPr>
          <p:nvPr>
            <p:ph type="title"/>
          </p:nvPr>
        </p:nvSpPr>
        <p:spPr/>
        <p:txBody>
          <a:bodyPr/>
          <a:lstStyle/>
          <a:p>
            <a:r>
              <a:rPr lang="en-US" altLang="en-US" dirty="0"/>
              <a:t>Monocot Versus Eudicot</a:t>
            </a:r>
            <a:endParaRPr lang="en-IN" dirty="0"/>
          </a:p>
        </p:txBody>
      </p:sp>
      <p:pic>
        <p:nvPicPr>
          <p:cNvPr id="8" name="Picture 2" descr="A set of two diagrams shows a monocot and eudicot embryos.">
            <a:extLst>
              <a:ext uri="{FF2B5EF4-FFF2-40B4-BE49-F238E27FC236}">
                <a16:creationId xmlns:a16="http://schemas.microsoft.com/office/drawing/2014/main" id="{C89C4212-7B95-4F6A-B95F-72269369667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7642"/>
          <a:stretch/>
        </p:blipFill>
        <p:spPr>
          <a:xfrm>
            <a:off x="290029" y="2189433"/>
            <a:ext cx="8562819" cy="2347650"/>
          </a:xfrm>
          <a:prstGeom prst="rect">
            <a:avLst/>
          </a:prstGeom>
        </p:spPr>
      </p:pic>
      <p:sp>
        <p:nvSpPr>
          <p:cNvPr id="3" name="Text Placeholder 3">
            <a:extLst>
              <a:ext uri="{FF2B5EF4-FFF2-40B4-BE49-F238E27FC236}">
                <a16:creationId xmlns:a16="http://schemas.microsoft.com/office/drawing/2014/main" id="{D4DD5BF0-290D-436B-9B94-9264221D45C9}"/>
              </a:ext>
            </a:extLst>
          </p:cNvPr>
          <p:cNvSpPr>
            <a:spLocks noGrp="1"/>
          </p:cNvSpPr>
          <p:nvPr>
            <p:ph type="body" sz="quarter" idx="18"/>
          </p:nvPr>
        </p:nvSpPr>
        <p:spPr>
          <a:xfrm>
            <a:off x="520696" y="4783685"/>
            <a:ext cx="8101481" cy="314325"/>
          </a:xfrm>
        </p:spPr>
        <p:txBody>
          <a:bodyPr>
            <a:normAutofit/>
          </a:bodyPr>
          <a:lstStyle/>
          <a:p>
            <a:r>
              <a:rPr lang="en-US" sz="1200" dirty="0"/>
              <a:t>Figure 27.8</a:t>
            </a:r>
          </a:p>
        </p:txBody>
      </p:sp>
      <p:sp>
        <p:nvSpPr>
          <p:cNvPr id="6" name="Text Placeholder 4">
            <a:extLst>
              <a:ext uri="{FF2B5EF4-FFF2-40B4-BE49-F238E27FC236}">
                <a16:creationId xmlns:a16="http://schemas.microsoft.com/office/drawing/2014/main" id="{1EB83A89-C875-43A3-8CF2-6314B35271AC}"/>
              </a:ext>
            </a:extLst>
          </p:cNvPr>
          <p:cNvSpPr>
            <a:spLocks noGrp="1"/>
          </p:cNvSpPr>
          <p:nvPr>
            <p:ph type="body" sz="quarter" idx="19"/>
          </p:nvPr>
        </p:nvSpPr>
        <p:spPr>
          <a:xfrm>
            <a:off x="2706917" y="5938470"/>
            <a:ext cx="3729037"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D9DDE789-B076-488B-ABDE-3ED2D449B917}"/>
              </a:ext>
            </a:extLst>
          </p:cNvPr>
          <p:cNvSpPr>
            <a:spLocks noGrp="1"/>
          </p:cNvSpPr>
          <p:nvPr>
            <p:ph type="body" sz="quarter" idx="21"/>
          </p:nvPr>
        </p:nvSpPr>
        <p:spPr/>
        <p:txBody>
          <a:bodyPr/>
          <a:lstStyle/>
          <a:p>
            <a:r>
              <a:rPr lang="en-US" sz="800" dirty="0"/>
              <a:t>(photos): (bean): Robert and Jean Pollock/Science Source; (corn): ©Ray F. Evert/University of Wisconsin</a:t>
            </a:r>
          </a:p>
        </p:txBody>
      </p:sp>
      <p:sp>
        <p:nvSpPr>
          <p:cNvPr id="4" name="Slide Number Placeholder 6">
            <a:extLst>
              <a:ext uri="{FF2B5EF4-FFF2-40B4-BE49-F238E27FC236}">
                <a16:creationId xmlns:a16="http://schemas.microsoft.com/office/drawing/2014/main" id="{828A18E0-DEF8-4F98-B9B2-A48819B72D34}"/>
              </a:ext>
            </a:extLst>
          </p:cNvPr>
          <p:cNvSpPr>
            <a:spLocks noGrp="1"/>
          </p:cNvSpPr>
          <p:nvPr>
            <p:ph type="sldNum" sz="quarter" idx="4"/>
          </p:nvPr>
        </p:nvSpPr>
        <p:spPr/>
        <p:txBody>
          <a:bodyPr/>
          <a:lstStyle/>
          <a:p>
            <a:fld id="{68151E55-6873-49E2-B8D5-2F265E6F1973}" type="slidenum">
              <a:rPr lang="en-US" smtClean="0"/>
              <a:pPr/>
              <a:t>26</a:t>
            </a:fld>
            <a:endParaRPr lang="en-US" dirty="0"/>
          </a:p>
        </p:txBody>
      </p:sp>
    </p:spTree>
    <p:extLst>
      <p:ext uri="{BB962C8B-B14F-4D97-AF65-F5344CB8AC3E}">
        <p14:creationId xmlns:p14="http://schemas.microsoft.com/office/powerpoint/2010/main" val="11833029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2AC15-8445-4BAA-A121-E79BD14069DE}"/>
              </a:ext>
            </a:extLst>
          </p:cNvPr>
          <p:cNvSpPr>
            <a:spLocks noGrp="1"/>
          </p:cNvSpPr>
          <p:nvPr>
            <p:ph type="title"/>
          </p:nvPr>
        </p:nvSpPr>
        <p:spPr>
          <a:xfrm>
            <a:off x="0" y="1"/>
            <a:ext cx="9144000" cy="1092529"/>
          </a:xfrm>
        </p:spPr>
        <p:txBody>
          <a:bodyPr/>
          <a:lstStyle/>
          <a:p>
            <a:r>
              <a:rPr lang="en-US" altLang="en-US" sz="3600" dirty="0"/>
              <a:t>27.3 Fruit Types and Seed Dispersal</a:t>
            </a:r>
            <a:endParaRPr lang="en-IN" sz="3600" dirty="0"/>
          </a:p>
        </p:txBody>
      </p:sp>
      <p:sp>
        <p:nvSpPr>
          <p:cNvPr id="5" name="Text Placeholder 2">
            <a:extLst>
              <a:ext uri="{FF2B5EF4-FFF2-40B4-BE49-F238E27FC236}">
                <a16:creationId xmlns:a16="http://schemas.microsoft.com/office/drawing/2014/main" id="{CA5472F5-AA90-4BF2-A725-DCF6583B92FE}"/>
              </a:ext>
            </a:extLst>
          </p:cNvPr>
          <p:cNvSpPr>
            <a:spLocks noGrp="1"/>
          </p:cNvSpPr>
          <p:nvPr>
            <p:ph type="body" sz="quarter" idx="19"/>
          </p:nvPr>
        </p:nvSpPr>
        <p:spPr>
          <a:xfrm>
            <a:off x="842963" y="1177179"/>
            <a:ext cx="7719146" cy="2112285"/>
          </a:xfrm>
        </p:spPr>
        <p:txBody>
          <a:bodyPr>
            <a:normAutofit/>
          </a:bodyPr>
          <a:lstStyle/>
          <a:p>
            <a:pPr lvl="0"/>
            <a:r>
              <a:rPr lang="en-US" sz="2700" dirty="0"/>
              <a:t>A </a:t>
            </a:r>
            <a:r>
              <a:rPr lang="en-US" sz="2700" b="1" dirty="0">
                <a:solidFill>
                  <a:srgbClr val="D90000"/>
                </a:solidFill>
              </a:rPr>
              <a:t>fruit</a:t>
            </a:r>
            <a:r>
              <a:rPr lang="en-US" sz="2700" dirty="0"/>
              <a:t> is a mature ovary.</a:t>
            </a:r>
          </a:p>
          <a:p>
            <a:pPr lvl="0"/>
            <a:r>
              <a:rPr lang="en-US" sz="2700" b="1" dirty="0"/>
              <a:t>Simple Fruits</a:t>
            </a:r>
          </a:p>
          <a:p>
            <a:pPr marL="285750" lvl="1" indent="-285750">
              <a:spcBef>
                <a:spcPts val="0"/>
              </a:spcBef>
            </a:pPr>
            <a:r>
              <a:rPr lang="en-US" sz="2400" dirty="0"/>
              <a:t>Simple fruits are derived from a single ovary with one or several chambers.</a:t>
            </a:r>
          </a:p>
        </p:txBody>
      </p:sp>
      <p:sp>
        <p:nvSpPr>
          <p:cNvPr id="6" name="Text Placeholder 3">
            <a:extLst>
              <a:ext uri="{FF2B5EF4-FFF2-40B4-BE49-F238E27FC236}">
                <a16:creationId xmlns:a16="http://schemas.microsoft.com/office/drawing/2014/main" id="{01FFD6BB-9B3B-4BCE-89DF-4E92CFAF2F95}"/>
              </a:ext>
            </a:extLst>
          </p:cNvPr>
          <p:cNvSpPr>
            <a:spLocks noGrp="1"/>
          </p:cNvSpPr>
          <p:nvPr>
            <p:ph type="body" sz="quarter" idx="20"/>
          </p:nvPr>
        </p:nvSpPr>
        <p:spPr>
          <a:xfrm>
            <a:off x="814137" y="3099701"/>
            <a:ext cx="7747972" cy="3429000"/>
          </a:xfrm>
        </p:spPr>
        <p:txBody>
          <a:bodyPr>
            <a:normAutofit/>
          </a:bodyPr>
          <a:lstStyle/>
          <a:p>
            <a:pPr lvl="0">
              <a:lnSpc>
                <a:spcPct val="80000"/>
              </a:lnSpc>
              <a:spcAft>
                <a:spcPts val="1500"/>
              </a:spcAft>
            </a:pPr>
            <a:r>
              <a:rPr lang="en-US" sz="2700" b="1" dirty="0">
                <a:solidFill>
                  <a:prstClr val="black"/>
                </a:solidFill>
              </a:rPr>
              <a:t>Compound fruits </a:t>
            </a:r>
            <a:r>
              <a:rPr lang="en-US" sz="2700" dirty="0">
                <a:solidFill>
                  <a:prstClr val="black"/>
                </a:solidFill>
              </a:rPr>
              <a:t>develop from several groups of ovaries.</a:t>
            </a:r>
          </a:p>
          <a:p>
            <a:pPr marL="0" lvl="1" indent="0">
              <a:lnSpc>
                <a:spcPct val="80000"/>
              </a:lnSpc>
              <a:spcBef>
                <a:spcPts val="0"/>
              </a:spcBef>
              <a:buNone/>
            </a:pPr>
            <a:r>
              <a:rPr lang="en-US" sz="2400" b="1" dirty="0">
                <a:solidFill>
                  <a:prstClr val="black"/>
                </a:solidFill>
              </a:rPr>
              <a:t>Aggregate Fruits</a:t>
            </a:r>
          </a:p>
          <a:p>
            <a:pPr marL="273050" lvl="2" indent="-273050">
              <a:lnSpc>
                <a:spcPct val="80000"/>
              </a:lnSpc>
              <a:spcBef>
                <a:spcPts val="1200"/>
              </a:spcBef>
              <a:spcAft>
                <a:spcPts val="0"/>
              </a:spcAft>
            </a:pPr>
            <a:r>
              <a:rPr lang="en-US" sz="2000" dirty="0">
                <a:solidFill>
                  <a:prstClr val="black"/>
                </a:solidFill>
              </a:rPr>
              <a:t>Ovaries are from a single flower one receptacle.</a:t>
            </a:r>
          </a:p>
          <a:p>
            <a:pPr marL="273050" lvl="2" indent="-273050">
              <a:lnSpc>
                <a:spcPct val="80000"/>
              </a:lnSpc>
              <a:spcBef>
                <a:spcPts val="1200"/>
              </a:spcBef>
              <a:spcAft>
                <a:spcPts val="0"/>
              </a:spcAft>
            </a:pPr>
            <a:r>
              <a:rPr lang="en-US" sz="2000" dirty="0">
                <a:solidFill>
                  <a:prstClr val="black"/>
                </a:solidFill>
              </a:rPr>
              <a:t>Blackberry</a:t>
            </a:r>
          </a:p>
          <a:p>
            <a:pPr marL="0" lvl="1" indent="0">
              <a:lnSpc>
                <a:spcPct val="80000"/>
              </a:lnSpc>
              <a:spcBef>
                <a:spcPts val="1200"/>
              </a:spcBef>
              <a:spcAft>
                <a:spcPts val="0"/>
              </a:spcAft>
              <a:buNone/>
            </a:pPr>
            <a:r>
              <a:rPr lang="en-US" sz="2400" b="1" dirty="0">
                <a:solidFill>
                  <a:prstClr val="black"/>
                </a:solidFill>
              </a:rPr>
              <a:t>Multiple Fruits </a:t>
            </a:r>
          </a:p>
          <a:p>
            <a:pPr marL="273050" lvl="2" indent="-273050">
              <a:lnSpc>
                <a:spcPct val="80000"/>
              </a:lnSpc>
              <a:spcBef>
                <a:spcPts val="1200"/>
              </a:spcBef>
              <a:spcAft>
                <a:spcPts val="0"/>
              </a:spcAft>
            </a:pPr>
            <a:r>
              <a:rPr lang="en-US" sz="2000" dirty="0">
                <a:solidFill>
                  <a:prstClr val="black"/>
                </a:solidFill>
              </a:rPr>
              <a:t>Ovaries are from separate flowers clustered together.</a:t>
            </a:r>
          </a:p>
          <a:p>
            <a:pPr marL="273050" lvl="2" indent="-273050">
              <a:lnSpc>
                <a:spcPct val="80000"/>
              </a:lnSpc>
              <a:spcBef>
                <a:spcPts val="1200"/>
              </a:spcBef>
              <a:spcAft>
                <a:spcPts val="0"/>
              </a:spcAft>
            </a:pPr>
            <a:r>
              <a:rPr lang="en-US" sz="2000" dirty="0">
                <a:solidFill>
                  <a:prstClr val="black"/>
                </a:solidFill>
              </a:rPr>
              <a:t>Pineapple</a:t>
            </a:r>
          </a:p>
        </p:txBody>
      </p:sp>
      <p:sp>
        <p:nvSpPr>
          <p:cNvPr id="4" name="Slide Number Placeholder 4">
            <a:extLst>
              <a:ext uri="{FF2B5EF4-FFF2-40B4-BE49-F238E27FC236}">
                <a16:creationId xmlns:a16="http://schemas.microsoft.com/office/drawing/2014/main" id="{A61DCC19-3E0A-49D0-88C5-85DE9B4979CB}"/>
              </a:ext>
            </a:extLst>
          </p:cNvPr>
          <p:cNvSpPr>
            <a:spLocks noGrp="1"/>
          </p:cNvSpPr>
          <p:nvPr>
            <p:ph type="sldNum" sz="quarter" idx="4"/>
          </p:nvPr>
        </p:nvSpPr>
        <p:spPr/>
        <p:txBody>
          <a:bodyPr/>
          <a:lstStyle/>
          <a:p>
            <a:fld id="{68151E55-6873-49E2-B8D5-2F265E6F1973}" type="slidenum">
              <a:rPr lang="en-US" smtClean="0"/>
              <a:pPr/>
              <a:t>27</a:t>
            </a:fld>
            <a:endParaRPr lang="en-US" dirty="0"/>
          </a:p>
        </p:txBody>
      </p:sp>
    </p:spTree>
    <p:extLst>
      <p:ext uri="{BB962C8B-B14F-4D97-AF65-F5344CB8AC3E}">
        <p14:creationId xmlns:p14="http://schemas.microsoft.com/office/powerpoint/2010/main" val="5446969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C93DE-0E82-4F42-89B6-9EE658E24C6B}"/>
              </a:ext>
            </a:extLst>
          </p:cNvPr>
          <p:cNvSpPr>
            <a:spLocks noGrp="1"/>
          </p:cNvSpPr>
          <p:nvPr>
            <p:ph type="title"/>
          </p:nvPr>
        </p:nvSpPr>
        <p:spPr/>
        <p:txBody>
          <a:bodyPr/>
          <a:lstStyle/>
          <a:p>
            <a:r>
              <a:rPr lang="en-US" altLang="en-US" dirty="0"/>
              <a:t>Fruit Development</a:t>
            </a:r>
            <a:endParaRPr lang="en-IN" dirty="0"/>
          </a:p>
        </p:txBody>
      </p:sp>
      <p:sp>
        <p:nvSpPr>
          <p:cNvPr id="3" name="Text Placeholder 2">
            <a:extLst>
              <a:ext uri="{FF2B5EF4-FFF2-40B4-BE49-F238E27FC236}">
                <a16:creationId xmlns:a16="http://schemas.microsoft.com/office/drawing/2014/main" id="{156CC273-3F75-4B70-8389-B891B8660156}"/>
              </a:ext>
            </a:extLst>
          </p:cNvPr>
          <p:cNvSpPr>
            <a:spLocks noGrp="1"/>
          </p:cNvSpPr>
          <p:nvPr>
            <p:ph type="body" sz="quarter" idx="19"/>
          </p:nvPr>
        </p:nvSpPr>
        <p:spPr>
          <a:xfrm>
            <a:off x="842963" y="1177180"/>
            <a:ext cx="7623676" cy="4131090"/>
          </a:xfrm>
        </p:spPr>
        <p:txBody>
          <a:bodyPr/>
          <a:lstStyle/>
          <a:p>
            <a:pPr marL="0" lvl="1" indent="0">
              <a:spcBef>
                <a:spcPts val="0"/>
              </a:spcBef>
              <a:buNone/>
            </a:pPr>
            <a:r>
              <a:rPr lang="en-US" altLang="en-US" sz="2800" dirty="0"/>
              <a:t>The ovary wall thickens to become the </a:t>
            </a:r>
            <a:r>
              <a:rPr lang="en-US" altLang="en-US" sz="2800" b="1" dirty="0"/>
              <a:t>pericarp</a:t>
            </a:r>
            <a:r>
              <a:rPr lang="en-US" altLang="en-US" sz="2800" dirty="0"/>
              <a:t>, which can have three layers.</a:t>
            </a:r>
          </a:p>
          <a:p>
            <a:pPr marL="273050" lvl="2" indent="-273050">
              <a:spcAft>
                <a:spcPts val="0"/>
              </a:spcAft>
            </a:pPr>
            <a:r>
              <a:rPr lang="en-US" altLang="en-US" sz="2400" dirty="0"/>
              <a:t>The </a:t>
            </a:r>
            <a:r>
              <a:rPr lang="en-US" altLang="en-US" sz="2400" b="1" dirty="0"/>
              <a:t>exocarp</a:t>
            </a:r>
            <a:r>
              <a:rPr lang="en-US" altLang="en-US" sz="2400" dirty="0"/>
              <a:t> forms the outermost skin.</a:t>
            </a:r>
          </a:p>
          <a:p>
            <a:pPr marL="273050" lvl="2" indent="-273050">
              <a:spcAft>
                <a:spcPts val="0"/>
              </a:spcAft>
            </a:pPr>
            <a:r>
              <a:rPr lang="en-US" altLang="en-US" sz="2400" dirty="0"/>
              <a:t>The </a:t>
            </a:r>
            <a:r>
              <a:rPr lang="en-US" altLang="en-US" sz="2400" b="1" dirty="0"/>
              <a:t>mesocarp</a:t>
            </a:r>
            <a:r>
              <a:rPr lang="en-US" altLang="en-US" sz="2400" dirty="0"/>
              <a:t> is the fleshy tissue between the exocarp and the endocarp.</a:t>
            </a:r>
          </a:p>
          <a:p>
            <a:pPr marL="273050" lvl="2" indent="-273050">
              <a:spcAft>
                <a:spcPts val="0"/>
              </a:spcAft>
            </a:pPr>
            <a:r>
              <a:rPr lang="en-US" altLang="en-US" sz="2400" dirty="0"/>
              <a:t>The </a:t>
            </a:r>
            <a:r>
              <a:rPr lang="en-US" altLang="en-US" sz="2400" b="1" dirty="0"/>
              <a:t>endocarp</a:t>
            </a:r>
            <a:r>
              <a:rPr lang="en-US" altLang="en-US" sz="2400" dirty="0"/>
              <a:t> is the boundary around the seeds.</a:t>
            </a:r>
          </a:p>
        </p:txBody>
      </p:sp>
      <p:sp>
        <p:nvSpPr>
          <p:cNvPr id="4" name="Slide Number Placeholder 3">
            <a:extLst>
              <a:ext uri="{FF2B5EF4-FFF2-40B4-BE49-F238E27FC236}">
                <a16:creationId xmlns:a16="http://schemas.microsoft.com/office/drawing/2014/main" id="{536A7078-F0CF-4B26-8ADD-0970D11C6454}"/>
              </a:ext>
            </a:extLst>
          </p:cNvPr>
          <p:cNvSpPr>
            <a:spLocks noGrp="1"/>
          </p:cNvSpPr>
          <p:nvPr>
            <p:ph type="sldNum" sz="quarter" idx="4"/>
          </p:nvPr>
        </p:nvSpPr>
        <p:spPr/>
        <p:txBody>
          <a:bodyPr/>
          <a:lstStyle/>
          <a:p>
            <a:fld id="{68151E55-6873-49E2-B8D5-2F265E6F1973}" type="slidenum">
              <a:rPr lang="en-US" smtClean="0"/>
              <a:pPr/>
              <a:t>28</a:t>
            </a:fld>
            <a:endParaRPr lang="en-US" dirty="0"/>
          </a:p>
        </p:txBody>
      </p:sp>
    </p:spTree>
    <p:extLst>
      <p:ext uri="{BB962C8B-B14F-4D97-AF65-F5344CB8AC3E}">
        <p14:creationId xmlns:p14="http://schemas.microsoft.com/office/powerpoint/2010/main" val="9574253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EE2F9-88F5-4DF7-8C57-3ECC318E30D4}"/>
              </a:ext>
            </a:extLst>
          </p:cNvPr>
          <p:cNvSpPr>
            <a:spLocks noGrp="1"/>
          </p:cNvSpPr>
          <p:nvPr>
            <p:ph type="title"/>
          </p:nvPr>
        </p:nvSpPr>
        <p:spPr>
          <a:xfrm>
            <a:off x="0" y="1"/>
            <a:ext cx="9144000" cy="1177178"/>
          </a:xfrm>
        </p:spPr>
        <p:txBody>
          <a:bodyPr/>
          <a:lstStyle/>
          <a:p>
            <a:r>
              <a:rPr lang="en-US" altLang="en-US" dirty="0"/>
              <a:t>Fruit Types</a:t>
            </a:r>
            <a:endParaRPr lang="en-IN" dirty="0"/>
          </a:p>
        </p:txBody>
      </p:sp>
      <p:sp>
        <p:nvSpPr>
          <p:cNvPr id="3" name="Text Placeholder 2">
            <a:extLst>
              <a:ext uri="{FF2B5EF4-FFF2-40B4-BE49-F238E27FC236}">
                <a16:creationId xmlns:a16="http://schemas.microsoft.com/office/drawing/2014/main" id="{F149B46C-677D-4DE2-82AB-BDB5372CB203}"/>
              </a:ext>
            </a:extLst>
          </p:cNvPr>
          <p:cNvSpPr>
            <a:spLocks noGrp="1"/>
          </p:cNvSpPr>
          <p:nvPr>
            <p:ph type="body" sz="quarter" idx="19"/>
          </p:nvPr>
        </p:nvSpPr>
        <p:spPr>
          <a:xfrm>
            <a:off x="842963" y="1177179"/>
            <a:ext cx="7481640" cy="5033615"/>
          </a:xfrm>
        </p:spPr>
        <p:txBody>
          <a:bodyPr/>
          <a:lstStyle/>
          <a:p>
            <a:pPr marL="0" lvl="1" indent="0">
              <a:spcBef>
                <a:spcPts val="0"/>
              </a:spcBef>
              <a:buNone/>
            </a:pPr>
            <a:r>
              <a:rPr lang="en-US" altLang="en-US" sz="2800" dirty="0"/>
              <a:t>In </a:t>
            </a:r>
            <a:r>
              <a:rPr lang="en-US" altLang="en-US" sz="2800" b="1" dirty="0"/>
              <a:t>dry fruits</a:t>
            </a:r>
            <a:r>
              <a:rPr lang="en-US" altLang="en-US" sz="2800" dirty="0"/>
              <a:t>, the pericarp is paper, leathery, or woody when the fruit is mature.</a:t>
            </a:r>
          </a:p>
          <a:p>
            <a:pPr marL="273050" lvl="2" indent="-273050"/>
            <a:r>
              <a:rPr lang="en-US" altLang="en-US" sz="2400" dirty="0"/>
              <a:t>Dehiscent – The fruit splits open when ripe</a:t>
            </a:r>
          </a:p>
          <a:p>
            <a:pPr marL="534988" lvl="3" indent="-261938"/>
            <a:r>
              <a:rPr lang="en-US" altLang="en-US" sz="2000" dirty="0"/>
              <a:t>Legumes</a:t>
            </a:r>
          </a:p>
          <a:p>
            <a:pPr marL="273050" lvl="2" indent="-273050"/>
            <a:r>
              <a:rPr lang="en-US" altLang="en-US" sz="2400" dirty="0"/>
              <a:t>Indehiscent – The fruit does not split open when ripe</a:t>
            </a:r>
          </a:p>
          <a:p>
            <a:pPr marL="534988" lvl="3" indent="-261938"/>
            <a:r>
              <a:rPr lang="en-US" altLang="en-US" sz="2000" dirty="0"/>
              <a:t>Grains</a:t>
            </a:r>
          </a:p>
        </p:txBody>
      </p:sp>
      <p:sp>
        <p:nvSpPr>
          <p:cNvPr id="4" name="Slide Number Placeholder 3">
            <a:extLst>
              <a:ext uri="{FF2B5EF4-FFF2-40B4-BE49-F238E27FC236}">
                <a16:creationId xmlns:a16="http://schemas.microsoft.com/office/drawing/2014/main" id="{63F070DA-BE49-41D4-8A83-DD390D1668C4}"/>
              </a:ext>
            </a:extLst>
          </p:cNvPr>
          <p:cNvSpPr>
            <a:spLocks noGrp="1"/>
          </p:cNvSpPr>
          <p:nvPr>
            <p:ph type="sldNum" sz="quarter" idx="4"/>
          </p:nvPr>
        </p:nvSpPr>
        <p:spPr/>
        <p:txBody>
          <a:bodyPr/>
          <a:lstStyle/>
          <a:p>
            <a:fld id="{68151E55-6873-49E2-B8D5-2F265E6F1973}" type="slidenum">
              <a:rPr lang="en-US" smtClean="0"/>
              <a:pPr/>
              <a:t>29</a:t>
            </a:fld>
            <a:endParaRPr lang="en-US" dirty="0"/>
          </a:p>
        </p:txBody>
      </p:sp>
    </p:spTree>
    <p:extLst>
      <p:ext uri="{BB962C8B-B14F-4D97-AF65-F5344CB8AC3E}">
        <p14:creationId xmlns:p14="http://schemas.microsoft.com/office/powerpoint/2010/main" val="31941419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53836-A8C3-4DB3-A509-037CAB23D83E}"/>
              </a:ext>
            </a:extLst>
          </p:cNvPr>
          <p:cNvSpPr>
            <a:spLocks noGrp="1"/>
          </p:cNvSpPr>
          <p:nvPr>
            <p:ph type="title"/>
          </p:nvPr>
        </p:nvSpPr>
        <p:spPr/>
        <p:txBody>
          <a:bodyPr/>
          <a:lstStyle/>
          <a:p>
            <a:r>
              <a:rPr lang="en-US" altLang="en-US" dirty="0"/>
              <a:t>Fruits</a:t>
            </a:r>
            <a:endParaRPr lang="en-IN" dirty="0"/>
          </a:p>
        </p:txBody>
      </p:sp>
      <p:pic>
        <p:nvPicPr>
          <p:cNvPr id="9" name="Picture 2" descr="Describes the key features of a drape, a berry, a legume, a samara, an aggregate fruit, and a multiple fruit">
            <a:extLst>
              <a:ext uri="{FF2B5EF4-FFF2-40B4-BE49-F238E27FC236}">
                <a16:creationId xmlns:a16="http://schemas.microsoft.com/office/drawing/2014/main" id="{B494C3B7-F703-4DA5-85BD-540670C473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137" y="1057275"/>
            <a:ext cx="7705725" cy="4743450"/>
          </a:xfrm>
          <a:prstGeom prst="rect">
            <a:avLst/>
          </a:prstGeom>
        </p:spPr>
      </p:pic>
      <p:sp>
        <p:nvSpPr>
          <p:cNvPr id="5" name="Text Placeholder 3">
            <a:extLst>
              <a:ext uri="{FF2B5EF4-FFF2-40B4-BE49-F238E27FC236}">
                <a16:creationId xmlns:a16="http://schemas.microsoft.com/office/drawing/2014/main" id="{8540EF5C-8D0C-4626-96C0-E0A6172B7A9B}"/>
              </a:ext>
            </a:extLst>
          </p:cNvPr>
          <p:cNvSpPr>
            <a:spLocks noGrp="1"/>
          </p:cNvSpPr>
          <p:nvPr>
            <p:ph type="body" sz="quarter" idx="18"/>
          </p:nvPr>
        </p:nvSpPr>
        <p:spPr>
          <a:xfrm>
            <a:off x="520699" y="5137891"/>
            <a:ext cx="8101481" cy="314325"/>
          </a:xfrm>
        </p:spPr>
        <p:txBody>
          <a:bodyPr>
            <a:normAutofit/>
          </a:bodyPr>
          <a:lstStyle/>
          <a:p>
            <a:r>
              <a:rPr lang="en-US" sz="1200" dirty="0"/>
              <a:t>Figure 27.9</a:t>
            </a:r>
          </a:p>
        </p:txBody>
      </p:sp>
      <p:sp>
        <p:nvSpPr>
          <p:cNvPr id="3" name="Text Placeholder 4">
            <a:extLst>
              <a:ext uri="{FF2B5EF4-FFF2-40B4-BE49-F238E27FC236}">
                <a16:creationId xmlns:a16="http://schemas.microsoft.com/office/drawing/2014/main" id="{58BA5438-C11B-4D92-BFC1-FF8F26FC9CE1}"/>
              </a:ext>
            </a:extLst>
          </p:cNvPr>
          <p:cNvSpPr>
            <a:spLocks noGrp="1"/>
          </p:cNvSpPr>
          <p:nvPr>
            <p:ph type="body" sz="quarter" idx="19"/>
          </p:nvPr>
        </p:nvSpPr>
        <p:spPr>
          <a:xfrm>
            <a:off x="2774654" y="6036432"/>
            <a:ext cx="3593570"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02FB07E3-0949-4677-A992-F90D0F79BC2C}"/>
              </a:ext>
            </a:extLst>
          </p:cNvPr>
          <p:cNvSpPr>
            <a:spLocks noGrp="1"/>
          </p:cNvSpPr>
          <p:nvPr>
            <p:ph type="body" sz="quarter" idx="21"/>
          </p:nvPr>
        </p:nvSpPr>
        <p:spPr>
          <a:xfrm>
            <a:off x="1222048" y="6563439"/>
            <a:ext cx="7400131" cy="258805"/>
          </a:xfrm>
        </p:spPr>
        <p:txBody>
          <a:bodyPr/>
          <a:lstStyle/>
          <a:p>
            <a:pPr lvl="0"/>
            <a:r>
              <a:rPr lang="en-US" sz="600" dirty="0"/>
              <a:t>(a): ©Peter </a:t>
            </a:r>
            <a:r>
              <a:rPr lang="en-US" sz="600" dirty="0" err="1"/>
              <a:t>Fakler</a:t>
            </a:r>
            <a:r>
              <a:rPr lang="en-US" sz="600" dirty="0"/>
              <a:t>/</a:t>
            </a:r>
            <a:r>
              <a:rPr lang="en-US" sz="600" dirty="0" err="1"/>
              <a:t>Alamy</a:t>
            </a:r>
            <a:r>
              <a:rPr lang="en-US" sz="600" dirty="0"/>
              <a:t> Stock Photo; (b): D. Hurst/</a:t>
            </a:r>
            <a:r>
              <a:rPr lang="en-US" sz="600" dirty="0" err="1"/>
              <a:t>Alamy</a:t>
            </a:r>
            <a:r>
              <a:rPr lang="en-US" sz="600" dirty="0"/>
              <a:t> Stock Photo; (c): Danny Smythe/Shutterstock; (d): Robert Llewellyn/Corbis/Getty Images; (e): Ricochet Creative Productions LLC; (f): Ingram Publishing/</a:t>
            </a:r>
            <a:r>
              <a:rPr lang="en-US" sz="600" dirty="0" err="1"/>
              <a:t>Alamy</a:t>
            </a:r>
            <a:r>
              <a:rPr lang="en-US" sz="600" dirty="0"/>
              <a:t> Stock Photo</a:t>
            </a:r>
          </a:p>
        </p:txBody>
      </p:sp>
      <p:sp>
        <p:nvSpPr>
          <p:cNvPr id="4" name="Slide Number Placeholder 6">
            <a:extLst>
              <a:ext uri="{FF2B5EF4-FFF2-40B4-BE49-F238E27FC236}">
                <a16:creationId xmlns:a16="http://schemas.microsoft.com/office/drawing/2014/main" id="{FE205DC3-C16C-4A18-8679-FEBE2A4AF05F}"/>
              </a:ext>
            </a:extLst>
          </p:cNvPr>
          <p:cNvSpPr>
            <a:spLocks noGrp="1"/>
          </p:cNvSpPr>
          <p:nvPr>
            <p:ph type="sldNum" sz="quarter" idx="4"/>
          </p:nvPr>
        </p:nvSpPr>
        <p:spPr/>
        <p:txBody>
          <a:bodyPr/>
          <a:lstStyle/>
          <a:p>
            <a:fld id="{68151E55-6873-49E2-B8D5-2F265E6F1973}" type="slidenum">
              <a:rPr lang="en-US" smtClean="0"/>
              <a:pPr/>
              <a:t>30</a:t>
            </a:fld>
            <a:endParaRPr lang="en-US" dirty="0"/>
          </a:p>
        </p:txBody>
      </p:sp>
    </p:spTree>
    <p:extLst>
      <p:ext uri="{BB962C8B-B14F-4D97-AF65-F5344CB8AC3E}">
        <p14:creationId xmlns:p14="http://schemas.microsoft.com/office/powerpoint/2010/main" val="8707923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54973-EC66-4A3E-A56F-6F07616EE1FB}"/>
              </a:ext>
            </a:extLst>
          </p:cNvPr>
          <p:cNvSpPr>
            <a:spLocks noGrp="1"/>
          </p:cNvSpPr>
          <p:nvPr>
            <p:ph type="title"/>
          </p:nvPr>
        </p:nvSpPr>
        <p:spPr>
          <a:xfrm>
            <a:off x="0" y="1"/>
            <a:ext cx="9144000" cy="957614"/>
          </a:xfrm>
        </p:spPr>
        <p:txBody>
          <a:bodyPr/>
          <a:lstStyle/>
          <a:p>
            <a:r>
              <a:rPr lang="en-US" altLang="en-US" dirty="0"/>
              <a:t>Dispersal of Fruits</a:t>
            </a:r>
            <a:endParaRPr lang="en-IN" dirty="0"/>
          </a:p>
        </p:txBody>
      </p:sp>
      <p:sp>
        <p:nvSpPr>
          <p:cNvPr id="3" name="Text Placeholder 2">
            <a:extLst>
              <a:ext uri="{FF2B5EF4-FFF2-40B4-BE49-F238E27FC236}">
                <a16:creationId xmlns:a16="http://schemas.microsoft.com/office/drawing/2014/main" id="{368BDD5E-2A1D-44C2-904C-1A42B192BC3D}"/>
              </a:ext>
            </a:extLst>
          </p:cNvPr>
          <p:cNvSpPr>
            <a:spLocks noGrp="1"/>
          </p:cNvSpPr>
          <p:nvPr>
            <p:ph type="body" sz="quarter" idx="19"/>
          </p:nvPr>
        </p:nvSpPr>
        <p:spPr>
          <a:xfrm>
            <a:off x="842963" y="1177179"/>
            <a:ext cx="7623676" cy="5425501"/>
          </a:xfrm>
        </p:spPr>
        <p:txBody>
          <a:bodyPr/>
          <a:lstStyle/>
          <a:p>
            <a:pPr marL="0" lvl="1" indent="0">
              <a:spcBef>
                <a:spcPts val="0"/>
              </a:spcBef>
              <a:buNone/>
            </a:pPr>
            <a:r>
              <a:rPr lang="en-US" altLang="en-US" sz="2800" dirty="0"/>
              <a:t>Many dry fruits are dispersed by wind.</a:t>
            </a:r>
          </a:p>
          <a:p>
            <a:pPr marL="273050" lvl="2" indent="-273050">
              <a:tabLst>
                <a:tab pos="82550" algn="l"/>
              </a:tabLst>
            </a:pPr>
            <a:r>
              <a:rPr lang="en-US" altLang="en-US" sz="2400" dirty="0"/>
              <a:t>Woolly hairs, plumes, wings</a:t>
            </a:r>
          </a:p>
          <a:p>
            <a:pPr marL="0" lvl="1" indent="0">
              <a:buNone/>
            </a:pPr>
            <a:r>
              <a:rPr lang="en-US" altLang="en-US" sz="2800" dirty="0"/>
              <a:t>Many fruits attract animals and provide them with food.</a:t>
            </a:r>
          </a:p>
          <a:p>
            <a:pPr marL="273050" lvl="2" indent="-273050">
              <a:tabLst>
                <a:tab pos="82550" algn="l"/>
              </a:tabLst>
            </a:pPr>
            <a:r>
              <a:rPr lang="en-US" altLang="en-US" sz="2400" dirty="0"/>
              <a:t>Peaches, cherries, tomatoes</a:t>
            </a:r>
          </a:p>
          <a:p>
            <a:pPr marL="0" lvl="1" indent="0">
              <a:buNone/>
            </a:pPr>
            <a:r>
              <a:rPr lang="en-US" altLang="en-US" sz="2800" dirty="0"/>
              <a:t>Hooks and spines attach a dry fruit to animal fur and human clothing.</a:t>
            </a:r>
          </a:p>
          <a:p>
            <a:pPr marL="0" lvl="1" indent="0">
              <a:buNone/>
            </a:pPr>
            <a:r>
              <a:rPr lang="en-US" altLang="en-US" sz="2800" dirty="0"/>
              <a:t>Plants with dehiscent fruits disperse their seeds by forced ejection.</a:t>
            </a:r>
          </a:p>
        </p:txBody>
      </p:sp>
      <p:sp>
        <p:nvSpPr>
          <p:cNvPr id="4" name="Slide Number Placeholder 3">
            <a:extLst>
              <a:ext uri="{FF2B5EF4-FFF2-40B4-BE49-F238E27FC236}">
                <a16:creationId xmlns:a16="http://schemas.microsoft.com/office/drawing/2014/main" id="{9B3D80B0-2240-452D-AB27-791A4B98D841}"/>
              </a:ext>
            </a:extLst>
          </p:cNvPr>
          <p:cNvSpPr>
            <a:spLocks noGrp="1"/>
          </p:cNvSpPr>
          <p:nvPr>
            <p:ph type="sldNum" sz="quarter" idx="4"/>
          </p:nvPr>
        </p:nvSpPr>
        <p:spPr/>
        <p:txBody>
          <a:bodyPr/>
          <a:lstStyle/>
          <a:p>
            <a:fld id="{68151E55-6873-49E2-B8D5-2F265E6F1973}" type="slidenum">
              <a:rPr lang="en-US" smtClean="0"/>
              <a:pPr/>
              <a:t>31</a:t>
            </a:fld>
            <a:endParaRPr lang="en-US" dirty="0"/>
          </a:p>
        </p:txBody>
      </p:sp>
    </p:spTree>
    <p:extLst>
      <p:ext uri="{BB962C8B-B14F-4D97-AF65-F5344CB8AC3E}">
        <p14:creationId xmlns:p14="http://schemas.microsoft.com/office/powerpoint/2010/main" val="22105320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3D65812-2293-4B8A-A292-6CBF6DD9A557}"/>
              </a:ext>
            </a:extLst>
          </p:cNvPr>
          <p:cNvSpPr>
            <a:spLocks noGrp="1"/>
          </p:cNvSpPr>
          <p:nvPr>
            <p:ph type="title"/>
          </p:nvPr>
        </p:nvSpPr>
        <p:spPr/>
        <p:txBody>
          <a:bodyPr/>
          <a:lstStyle/>
          <a:p>
            <a:r>
              <a:rPr lang="en-US" altLang="en-US" dirty="0"/>
              <a:t>Methods of Fruit and Seed Dispersal </a:t>
            </a:r>
            <a:endParaRPr lang="en-IN" dirty="0"/>
          </a:p>
        </p:txBody>
      </p:sp>
      <p:pic>
        <p:nvPicPr>
          <p:cNvPr id="9" name="Picture 2" descr="Four methods of fruit and seed dispersal are represented.">
            <a:extLst>
              <a:ext uri="{FF2B5EF4-FFF2-40B4-BE49-F238E27FC236}">
                <a16:creationId xmlns:a16="http://schemas.microsoft.com/office/drawing/2014/main" id="{5CB64A2D-7DDB-4E18-B3CD-FA8461763F6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492" b="1375"/>
          <a:stretch/>
        </p:blipFill>
        <p:spPr>
          <a:xfrm>
            <a:off x="2957156" y="1015526"/>
            <a:ext cx="3228565" cy="4276977"/>
          </a:xfrm>
          <a:prstGeom prst="rect">
            <a:avLst/>
          </a:prstGeom>
        </p:spPr>
      </p:pic>
      <p:sp>
        <p:nvSpPr>
          <p:cNvPr id="2" name="Text Placeholder 3">
            <a:extLst>
              <a:ext uri="{FF2B5EF4-FFF2-40B4-BE49-F238E27FC236}">
                <a16:creationId xmlns:a16="http://schemas.microsoft.com/office/drawing/2014/main" id="{734EF526-430A-483A-AF8A-83350956777D}"/>
              </a:ext>
            </a:extLst>
          </p:cNvPr>
          <p:cNvSpPr>
            <a:spLocks noGrp="1"/>
          </p:cNvSpPr>
          <p:nvPr>
            <p:ph type="body" sz="quarter" idx="18"/>
          </p:nvPr>
        </p:nvSpPr>
        <p:spPr>
          <a:xfrm>
            <a:off x="3849301" y="5676659"/>
            <a:ext cx="1444274" cy="314325"/>
          </a:xfrm>
        </p:spPr>
        <p:txBody>
          <a:bodyPr>
            <a:normAutofit/>
          </a:bodyPr>
          <a:lstStyle/>
          <a:p>
            <a:r>
              <a:rPr lang="en-US" sz="1200" dirty="0"/>
              <a:t>Figure 27.10</a:t>
            </a:r>
          </a:p>
        </p:txBody>
      </p:sp>
      <p:sp>
        <p:nvSpPr>
          <p:cNvPr id="7" name="Text Placeholder 4">
            <a:extLst>
              <a:ext uri="{FF2B5EF4-FFF2-40B4-BE49-F238E27FC236}">
                <a16:creationId xmlns:a16="http://schemas.microsoft.com/office/drawing/2014/main" id="{ABADBC7B-8ADA-4B7F-ADEB-7CA97B41303B}"/>
              </a:ext>
            </a:extLst>
          </p:cNvPr>
          <p:cNvSpPr>
            <a:spLocks noGrp="1"/>
          </p:cNvSpPr>
          <p:nvPr>
            <p:ph type="body" sz="quarter" idx="19"/>
          </p:nvPr>
        </p:nvSpPr>
        <p:spPr>
          <a:xfrm>
            <a:off x="2957156" y="6181802"/>
            <a:ext cx="3228565"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8" name="Text Placeholder 5">
            <a:extLst>
              <a:ext uri="{FF2B5EF4-FFF2-40B4-BE49-F238E27FC236}">
                <a16:creationId xmlns:a16="http://schemas.microsoft.com/office/drawing/2014/main" id="{B84AE177-1CEA-40CB-9302-1F94119437FD}"/>
              </a:ext>
            </a:extLst>
          </p:cNvPr>
          <p:cNvSpPr>
            <a:spLocks noGrp="1"/>
          </p:cNvSpPr>
          <p:nvPr>
            <p:ph type="body" sz="quarter" idx="21"/>
          </p:nvPr>
        </p:nvSpPr>
        <p:spPr/>
        <p:txBody>
          <a:bodyPr/>
          <a:lstStyle/>
          <a:p>
            <a:pPr lvl="0"/>
            <a:r>
              <a:rPr lang="en-US" sz="800" dirty="0"/>
              <a:t>(a): Dimitri </a:t>
            </a:r>
            <a:r>
              <a:rPr lang="en-US" sz="800" dirty="0" err="1"/>
              <a:t>Vervitsiotis</a:t>
            </a:r>
            <a:r>
              <a:rPr lang="en-US" sz="800" dirty="0"/>
              <a:t>/Getty Images; (b): </a:t>
            </a:r>
            <a:r>
              <a:rPr lang="en-US" sz="800" dirty="0" err="1"/>
              <a:t>Stockbyte</a:t>
            </a:r>
            <a:r>
              <a:rPr lang="en-US" sz="800" dirty="0"/>
              <a:t>/ Getty Images; (c): Scott </a:t>
            </a:r>
            <a:r>
              <a:rPr lang="en-US" sz="800" dirty="0" err="1"/>
              <a:t>Camazine</a:t>
            </a:r>
            <a:r>
              <a:rPr lang="en-US" sz="800" dirty="0"/>
              <a:t>/Science Source; (d): M. Brodie/</a:t>
            </a:r>
            <a:r>
              <a:rPr lang="en-US" sz="800" dirty="0" err="1"/>
              <a:t>Alamy</a:t>
            </a:r>
            <a:r>
              <a:rPr lang="en-US" sz="800" dirty="0"/>
              <a:t> Stock Photo</a:t>
            </a:r>
          </a:p>
        </p:txBody>
      </p:sp>
      <p:sp>
        <p:nvSpPr>
          <p:cNvPr id="4" name="Slide Number Placeholder 6">
            <a:extLst>
              <a:ext uri="{FF2B5EF4-FFF2-40B4-BE49-F238E27FC236}">
                <a16:creationId xmlns:a16="http://schemas.microsoft.com/office/drawing/2014/main" id="{FBA877F5-6785-48AD-BED7-67F1A576FD0F}"/>
              </a:ext>
            </a:extLst>
          </p:cNvPr>
          <p:cNvSpPr>
            <a:spLocks noGrp="1"/>
          </p:cNvSpPr>
          <p:nvPr>
            <p:ph type="sldNum" sz="quarter" idx="4"/>
          </p:nvPr>
        </p:nvSpPr>
        <p:spPr/>
        <p:txBody>
          <a:bodyPr/>
          <a:lstStyle/>
          <a:p>
            <a:fld id="{68151E55-6873-49E2-B8D5-2F265E6F1973}" type="slidenum">
              <a:rPr lang="en-US" smtClean="0"/>
              <a:pPr/>
              <a:t>32</a:t>
            </a:fld>
            <a:endParaRPr lang="en-US" dirty="0"/>
          </a:p>
        </p:txBody>
      </p:sp>
    </p:spTree>
    <p:extLst>
      <p:ext uri="{BB962C8B-B14F-4D97-AF65-F5344CB8AC3E}">
        <p14:creationId xmlns:p14="http://schemas.microsoft.com/office/powerpoint/2010/main" val="34248731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F8CB3-F779-4EF6-A037-9C1874727B00}"/>
              </a:ext>
            </a:extLst>
          </p:cNvPr>
          <p:cNvSpPr>
            <a:spLocks noGrp="1"/>
          </p:cNvSpPr>
          <p:nvPr>
            <p:ph type="title"/>
          </p:nvPr>
        </p:nvSpPr>
        <p:spPr>
          <a:xfrm>
            <a:off x="0" y="1"/>
            <a:ext cx="9144000" cy="1080654"/>
          </a:xfrm>
        </p:spPr>
        <p:txBody>
          <a:bodyPr/>
          <a:lstStyle/>
          <a:p>
            <a:r>
              <a:rPr lang="en-US" altLang="en-US" dirty="0"/>
              <a:t>Seed Germination</a:t>
            </a:r>
            <a:endParaRPr lang="en-IN" dirty="0"/>
          </a:p>
        </p:txBody>
      </p:sp>
      <p:sp>
        <p:nvSpPr>
          <p:cNvPr id="3" name="Text Placeholder 2">
            <a:extLst>
              <a:ext uri="{FF2B5EF4-FFF2-40B4-BE49-F238E27FC236}">
                <a16:creationId xmlns:a16="http://schemas.microsoft.com/office/drawing/2014/main" id="{562ABB04-187D-49C7-B23E-839D42F31CFC}"/>
              </a:ext>
            </a:extLst>
          </p:cNvPr>
          <p:cNvSpPr>
            <a:spLocks noGrp="1"/>
          </p:cNvSpPr>
          <p:nvPr>
            <p:ph type="body" sz="quarter" idx="19"/>
          </p:nvPr>
        </p:nvSpPr>
        <p:spPr>
          <a:xfrm>
            <a:off x="842963" y="1177179"/>
            <a:ext cx="7422263" cy="5330739"/>
          </a:xfrm>
        </p:spPr>
        <p:txBody>
          <a:bodyPr/>
          <a:lstStyle/>
          <a:p>
            <a:pPr marL="0" lvl="1" indent="0">
              <a:spcBef>
                <a:spcPts val="0"/>
              </a:spcBef>
              <a:buNone/>
            </a:pPr>
            <a:r>
              <a:rPr lang="en-US" sz="2800" dirty="0"/>
              <a:t>When seed germination occurs, the embryo resumes growth and metabolic activity.</a:t>
            </a:r>
          </a:p>
          <a:p>
            <a:pPr marL="0" lvl="1" indent="0">
              <a:spcBef>
                <a:spcPts val="1200"/>
              </a:spcBef>
              <a:buNone/>
            </a:pPr>
            <a:r>
              <a:rPr lang="en-US" sz="2800" dirty="0"/>
              <a:t>Length of time seeds retain their viability is quite variable.</a:t>
            </a:r>
          </a:p>
          <a:p>
            <a:pPr marL="0" lvl="1" indent="0">
              <a:spcBef>
                <a:spcPts val="1200"/>
              </a:spcBef>
              <a:buNone/>
            </a:pPr>
            <a:r>
              <a:rPr lang="en-US" sz="2800" dirty="0"/>
              <a:t>Some seeds do not </a:t>
            </a:r>
            <a:r>
              <a:rPr lang="en-US" sz="2800" b="1" dirty="0">
                <a:solidFill>
                  <a:srgbClr val="D90000"/>
                </a:solidFill>
              </a:rPr>
              <a:t>germinate</a:t>
            </a:r>
            <a:r>
              <a:rPr lang="en-US" sz="2800" dirty="0"/>
              <a:t> until they have been through a </a:t>
            </a:r>
            <a:r>
              <a:rPr lang="en-US" sz="2800" b="1" dirty="0"/>
              <a:t>dormant</a:t>
            </a:r>
            <a:r>
              <a:rPr lang="en-US" sz="2800" dirty="0"/>
              <a:t> period.</a:t>
            </a:r>
          </a:p>
          <a:p>
            <a:pPr marL="273050" lvl="2" indent="-273050">
              <a:spcBef>
                <a:spcPts val="1200"/>
              </a:spcBef>
            </a:pPr>
            <a:r>
              <a:rPr lang="en-US" sz="2400" dirty="0"/>
              <a:t>No growth occurs	</a:t>
            </a:r>
          </a:p>
          <a:p>
            <a:pPr marL="534988" lvl="3" indent="-261938">
              <a:spcBef>
                <a:spcPts val="1200"/>
              </a:spcBef>
              <a:spcAft>
                <a:spcPts val="0"/>
              </a:spcAft>
            </a:pPr>
            <a:r>
              <a:rPr lang="en-US" sz="2000" dirty="0"/>
              <a:t>Temperate zones – Cold weather breaks dormancy</a:t>
            </a:r>
          </a:p>
          <a:p>
            <a:pPr marL="534988" lvl="3" indent="-261938">
              <a:spcBef>
                <a:spcPts val="1200"/>
              </a:spcBef>
              <a:spcAft>
                <a:spcPts val="0"/>
              </a:spcAft>
            </a:pPr>
            <a:r>
              <a:rPr lang="en-US" sz="2000" dirty="0"/>
              <a:t>Fleshy fruits contain inhibitors to prevent germination when the fruit is on the plant.</a:t>
            </a:r>
          </a:p>
        </p:txBody>
      </p:sp>
      <p:sp>
        <p:nvSpPr>
          <p:cNvPr id="4" name="Slide Number Placeholder 3">
            <a:extLst>
              <a:ext uri="{FF2B5EF4-FFF2-40B4-BE49-F238E27FC236}">
                <a16:creationId xmlns:a16="http://schemas.microsoft.com/office/drawing/2014/main" id="{8A7716DC-910C-4C29-A3EE-B68338DB7DBC}"/>
              </a:ext>
            </a:extLst>
          </p:cNvPr>
          <p:cNvSpPr>
            <a:spLocks noGrp="1"/>
          </p:cNvSpPr>
          <p:nvPr>
            <p:ph type="sldNum" sz="quarter" idx="4"/>
          </p:nvPr>
        </p:nvSpPr>
        <p:spPr/>
        <p:txBody>
          <a:bodyPr/>
          <a:lstStyle/>
          <a:p>
            <a:fld id="{68151E55-6873-49E2-B8D5-2F265E6F1973}" type="slidenum">
              <a:rPr lang="en-US" smtClean="0"/>
              <a:pPr/>
              <a:t>33</a:t>
            </a:fld>
            <a:endParaRPr lang="en-US" dirty="0"/>
          </a:p>
        </p:txBody>
      </p:sp>
    </p:spTree>
    <p:extLst>
      <p:ext uri="{BB962C8B-B14F-4D97-AF65-F5344CB8AC3E}">
        <p14:creationId xmlns:p14="http://schemas.microsoft.com/office/powerpoint/2010/main" val="27842394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A7A8D-62BE-454F-B563-2A4381D23141}"/>
              </a:ext>
            </a:extLst>
          </p:cNvPr>
          <p:cNvSpPr>
            <a:spLocks noGrp="1"/>
          </p:cNvSpPr>
          <p:nvPr>
            <p:ph type="title"/>
          </p:nvPr>
        </p:nvSpPr>
        <p:spPr/>
        <p:txBody>
          <a:bodyPr/>
          <a:lstStyle/>
          <a:p>
            <a:r>
              <a:rPr lang="en-US" altLang="en-US" dirty="0"/>
              <a:t>Germination Requirements</a:t>
            </a:r>
            <a:endParaRPr lang="en-IN" dirty="0"/>
          </a:p>
        </p:txBody>
      </p:sp>
      <p:sp>
        <p:nvSpPr>
          <p:cNvPr id="3" name="Text Placeholder 2">
            <a:extLst>
              <a:ext uri="{FF2B5EF4-FFF2-40B4-BE49-F238E27FC236}">
                <a16:creationId xmlns:a16="http://schemas.microsoft.com/office/drawing/2014/main" id="{09191176-C973-4557-8D04-D50C4289CD21}"/>
              </a:ext>
            </a:extLst>
          </p:cNvPr>
          <p:cNvSpPr>
            <a:spLocks noGrp="1"/>
          </p:cNvSpPr>
          <p:nvPr>
            <p:ph type="body" sz="quarter" idx="19"/>
          </p:nvPr>
        </p:nvSpPr>
        <p:spPr>
          <a:xfrm>
            <a:off x="842963" y="1177180"/>
            <a:ext cx="7623676" cy="3703578"/>
          </a:xfrm>
        </p:spPr>
        <p:txBody>
          <a:bodyPr>
            <a:normAutofit/>
          </a:bodyPr>
          <a:lstStyle/>
          <a:p>
            <a:pPr marL="285750" lvl="1">
              <a:spcBef>
                <a:spcPts val="0"/>
              </a:spcBef>
            </a:pPr>
            <a:r>
              <a:rPr lang="en-US" altLang="en-US" sz="2800" dirty="0"/>
              <a:t>Availability of oxygen for metabolic needs</a:t>
            </a:r>
          </a:p>
          <a:p>
            <a:pPr marL="285750" lvl="1"/>
            <a:r>
              <a:rPr lang="en-US" altLang="en-US" sz="2800" dirty="0"/>
              <a:t>Adequate warmth for enzyme activity</a:t>
            </a:r>
          </a:p>
          <a:p>
            <a:pPr marL="285750" lvl="1"/>
            <a:r>
              <a:rPr lang="en-US" altLang="en-US" sz="2800" dirty="0"/>
              <a:t>Adequate water for hydration of cells</a:t>
            </a:r>
          </a:p>
        </p:txBody>
      </p:sp>
      <p:sp>
        <p:nvSpPr>
          <p:cNvPr id="4" name="Slide Number Placeholder 3">
            <a:extLst>
              <a:ext uri="{FF2B5EF4-FFF2-40B4-BE49-F238E27FC236}">
                <a16:creationId xmlns:a16="http://schemas.microsoft.com/office/drawing/2014/main" id="{1535620C-281D-4416-85A5-EEB598993EBC}"/>
              </a:ext>
            </a:extLst>
          </p:cNvPr>
          <p:cNvSpPr>
            <a:spLocks noGrp="1"/>
          </p:cNvSpPr>
          <p:nvPr>
            <p:ph type="sldNum" sz="quarter" idx="4"/>
          </p:nvPr>
        </p:nvSpPr>
        <p:spPr/>
        <p:txBody>
          <a:bodyPr/>
          <a:lstStyle/>
          <a:p>
            <a:fld id="{68151E55-6873-49E2-B8D5-2F265E6F1973}" type="slidenum">
              <a:rPr lang="en-US" smtClean="0"/>
              <a:pPr/>
              <a:t>34</a:t>
            </a:fld>
            <a:endParaRPr lang="en-US" dirty="0"/>
          </a:p>
        </p:txBody>
      </p:sp>
    </p:spTree>
    <p:extLst>
      <p:ext uri="{BB962C8B-B14F-4D97-AF65-F5344CB8AC3E}">
        <p14:creationId xmlns:p14="http://schemas.microsoft.com/office/powerpoint/2010/main" val="18239871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5DF96-BD00-4762-AE86-E9B4BFEB675F}"/>
              </a:ext>
            </a:extLst>
          </p:cNvPr>
          <p:cNvSpPr>
            <a:spLocks noGrp="1"/>
          </p:cNvSpPr>
          <p:nvPr>
            <p:ph type="title"/>
          </p:nvPr>
        </p:nvSpPr>
        <p:spPr>
          <a:xfrm>
            <a:off x="0" y="1"/>
            <a:ext cx="9144000" cy="1177179"/>
          </a:xfrm>
        </p:spPr>
        <p:txBody>
          <a:bodyPr/>
          <a:lstStyle/>
          <a:p>
            <a:r>
              <a:rPr lang="en-US" altLang="en-US" dirty="0"/>
              <a:t>Eudicot and Monocot Seed Germination</a:t>
            </a:r>
            <a:endParaRPr lang="en-IN" dirty="0"/>
          </a:p>
        </p:txBody>
      </p:sp>
      <p:pic>
        <p:nvPicPr>
          <p:cNvPr id="44" name="Picture 2" descr="Illustration shows bean seed and bean germination (a) and growth with corn seed and corn germination and growth (b).">
            <a:extLst>
              <a:ext uri="{FF2B5EF4-FFF2-40B4-BE49-F238E27FC236}">
                <a16:creationId xmlns:a16="http://schemas.microsoft.com/office/drawing/2014/main" id="{FF24BE4B-E986-4563-9E2E-2ACD311F498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3846" b="5935"/>
          <a:stretch/>
        </p:blipFill>
        <p:spPr>
          <a:xfrm>
            <a:off x="1035066" y="1261038"/>
            <a:ext cx="7072746" cy="4546866"/>
          </a:xfrm>
          <a:prstGeom prst="rect">
            <a:avLst/>
          </a:prstGeom>
        </p:spPr>
      </p:pic>
      <p:sp>
        <p:nvSpPr>
          <p:cNvPr id="38" name="Text Placeholder 3">
            <a:extLst>
              <a:ext uri="{FF2B5EF4-FFF2-40B4-BE49-F238E27FC236}">
                <a16:creationId xmlns:a16="http://schemas.microsoft.com/office/drawing/2014/main" id="{099A9E90-B9FB-43F0-BACB-99933E910339}"/>
              </a:ext>
            </a:extLst>
          </p:cNvPr>
          <p:cNvSpPr>
            <a:spLocks noGrp="1"/>
          </p:cNvSpPr>
          <p:nvPr>
            <p:ph type="body" sz="quarter" idx="18"/>
          </p:nvPr>
        </p:nvSpPr>
        <p:spPr>
          <a:xfrm>
            <a:off x="1035066" y="5807904"/>
            <a:ext cx="1913183" cy="314325"/>
          </a:xfrm>
        </p:spPr>
        <p:txBody>
          <a:bodyPr/>
          <a:lstStyle/>
          <a:p>
            <a:pPr marL="114300" lvl="0" indent="-114300">
              <a:buFont typeface="+mj-lt"/>
              <a:buAutoNum type="alphaLcPeriod"/>
            </a:pPr>
            <a:r>
              <a:rPr lang="en-US" sz="800" dirty="0"/>
              <a:t>Bean germination and growth</a:t>
            </a:r>
          </a:p>
        </p:txBody>
      </p:sp>
      <p:sp>
        <p:nvSpPr>
          <p:cNvPr id="39" name="Text Placeholder 4">
            <a:extLst>
              <a:ext uri="{FF2B5EF4-FFF2-40B4-BE49-F238E27FC236}">
                <a16:creationId xmlns:a16="http://schemas.microsoft.com/office/drawing/2014/main" id="{C0C166C4-05A7-4B3F-BAD9-05591616521D}"/>
              </a:ext>
            </a:extLst>
          </p:cNvPr>
          <p:cNvSpPr>
            <a:spLocks noGrp="1"/>
          </p:cNvSpPr>
          <p:nvPr>
            <p:ph type="body" sz="quarter" idx="19"/>
          </p:nvPr>
        </p:nvSpPr>
        <p:spPr>
          <a:xfrm>
            <a:off x="5375631" y="5845621"/>
            <a:ext cx="1627105" cy="238787"/>
          </a:xfrm>
        </p:spPr>
        <p:txBody>
          <a:bodyPr>
            <a:normAutofit/>
          </a:bodyPr>
          <a:lstStyle/>
          <a:p>
            <a:pPr marL="114300" lvl="0" indent="-114300">
              <a:buFont typeface="+mj-lt"/>
              <a:buAutoNum type="alphaLcPeriod" startAt="2"/>
            </a:pPr>
            <a:r>
              <a:rPr lang="en-US" sz="800" dirty="0"/>
              <a:t>Corn germination and growth</a:t>
            </a:r>
          </a:p>
        </p:txBody>
      </p:sp>
      <p:sp>
        <p:nvSpPr>
          <p:cNvPr id="40" name="Text Placeholder 5">
            <a:extLst>
              <a:ext uri="{FF2B5EF4-FFF2-40B4-BE49-F238E27FC236}">
                <a16:creationId xmlns:a16="http://schemas.microsoft.com/office/drawing/2014/main" id="{FD4C45C1-2BA6-4B2F-A0E3-D857DA4E99C4}"/>
              </a:ext>
            </a:extLst>
          </p:cNvPr>
          <p:cNvSpPr>
            <a:spLocks noGrp="1"/>
          </p:cNvSpPr>
          <p:nvPr>
            <p:ph type="body" sz="quarter" idx="20"/>
          </p:nvPr>
        </p:nvSpPr>
        <p:spPr>
          <a:xfrm>
            <a:off x="3841247" y="6080015"/>
            <a:ext cx="1627105" cy="233934"/>
          </a:xfrm>
        </p:spPr>
        <p:txBody>
          <a:bodyPr>
            <a:noAutofit/>
          </a:bodyPr>
          <a:lstStyle/>
          <a:p>
            <a:pPr algn="ctr"/>
            <a:r>
              <a:rPr lang="en-US" sz="1200" dirty="0"/>
              <a:t>Figure 27.11</a:t>
            </a:r>
          </a:p>
        </p:txBody>
      </p:sp>
      <p:sp>
        <p:nvSpPr>
          <p:cNvPr id="41" name="Text Placeholder 6">
            <a:extLst>
              <a:ext uri="{FF2B5EF4-FFF2-40B4-BE49-F238E27FC236}">
                <a16:creationId xmlns:a16="http://schemas.microsoft.com/office/drawing/2014/main" id="{FE645756-BD50-482B-85CE-B6FF44F1EC0F}"/>
              </a:ext>
            </a:extLst>
          </p:cNvPr>
          <p:cNvSpPr>
            <a:spLocks noGrp="1"/>
          </p:cNvSpPr>
          <p:nvPr>
            <p:ph type="body" sz="quarter" idx="21"/>
          </p:nvPr>
        </p:nvSpPr>
        <p:spPr>
          <a:xfrm>
            <a:off x="3120417" y="6351666"/>
            <a:ext cx="3068767" cy="314325"/>
          </a:xfrm>
        </p:spPr>
        <p:txBody>
          <a:bodyPr>
            <a:normAutofit fontScale="92500"/>
          </a:bodyPr>
          <a:lstStyle/>
          <a:p>
            <a:r>
              <a:rPr lang="en-US" sz="1200" dirty="0">
                <a:hlinkClick r:id="rId4" action="ppaction://hlinksldjump"/>
              </a:rPr>
              <a:t>Access the text alternative for slide images.</a:t>
            </a:r>
            <a:endParaRPr lang="en-US" sz="1200" dirty="0"/>
          </a:p>
        </p:txBody>
      </p:sp>
      <p:sp>
        <p:nvSpPr>
          <p:cNvPr id="43" name="Text Placeholder 7">
            <a:extLst>
              <a:ext uri="{FF2B5EF4-FFF2-40B4-BE49-F238E27FC236}">
                <a16:creationId xmlns:a16="http://schemas.microsoft.com/office/drawing/2014/main" id="{C09219F4-58EC-41B5-86CC-4A6A5B7AF9ED}"/>
              </a:ext>
            </a:extLst>
          </p:cNvPr>
          <p:cNvSpPr>
            <a:spLocks noGrp="1"/>
          </p:cNvSpPr>
          <p:nvPr>
            <p:ph type="body" sz="quarter" idx="23"/>
          </p:nvPr>
        </p:nvSpPr>
        <p:spPr/>
        <p:txBody>
          <a:bodyPr/>
          <a:lstStyle/>
          <a:p>
            <a:pPr lvl="0"/>
            <a:r>
              <a:rPr lang="en-US" sz="800" dirty="0"/>
              <a:t>(photos): (bean): Ed Reschke; (corn): Ed Reschke/Stone/Getty Images</a:t>
            </a:r>
          </a:p>
        </p:txBody>
      </p:sp>
      <p:sp>
        <p:nvSpPr>
          <p:cNvPr id="4" name="Slide Number Placeholder 8">
            <a:extLst>
              <a:ext uri="{FF2B5EF4-FFF2-40B4-BE49-F238E27FC236}">
                <a16:creationId xmlns:a16="http://schemas.microsoft.com/office/drawing/2014/main" id="{24727643-6176-497D-9301-84700DF9E676}"/>
              </a:ext>
            </a:extLst>
          </p:cNvPr>
          <p:cNvSpPr>
            <a:spLocks noGrp="1"/>
          </p:cNvSpPr>
          <p:nvPr>
            <p:ph type="sldNum" sz="quarter" idx="4"/>
          </p:nvPr>
        </p:nvSpPr>
        <p:spPr/>
        <p:txBody>
          <a:bodyPr/>
          <a:lstStyle/>
          <a:p>
            <a:fld id="{68151E55-6873-49E2-B8D5-2F265E6F1973}" type="slidenum">
              <a:rPr lang="en-US" smtClean="0"/>
              <a:pPr/>
              <a:t>35</a:t>
            </a:fld>
            <a:endParaRPr lang="en-US" dirty="0"/>
          </a:p>
        </p:txBody>
      </p:sp>
    </p:spTree>
    <p:extLst>
      <p:ext uri="{BB962C8B-B14F-4D97-AF65-F5344CB8AC3E}">
        <p14:creationId xmlns:p14="http://schemas.microsoft.com/office/powerpoint/2010/main" val="41257579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B995D-6445-46D8-8EB1-927FD9344B9A}"/>
              </a:ext>
            </a:extLst>
          </p:cNvPr>
          <p:cNvSpPr>
            <a:spLocks noGrp="1"/>
          </p:cNvSpPr>
          <p:nvPr>
            <p:ph type="title"/>
          </p:nvPr>
        </p:nvSpPr>
        <p:spPr>
          <a:xfrm>
            <a:off x="0" y="1"/>
            <a:ext cx="9144000" cy="1258783"/>
          </a:xfrm>
        </p:spPr>
        <p:txBody>
          <a:bodyPr/>
          <a:lstStyle/>
          <a:p>
            <a:r>
              <a:rPr lang="en-US" dirty="0"/>
              <a:t>27.4 Asexual Reproductive Strategies</a:t>
            </a:r>
            <a:endParaRPr lang="en-IN" dirty="0"/>
          </a:p>
        </p:txBody>
      </p:sp>
      <p:sp>
        <p:nvSpPr>
          <p:cNvPr id="3" name="Text Placeholder 2">
            <a:extLst>
              <a:ext uri="{FF2B5EF4-FFF2-40B4-BE49-F238E27FC236}">
                <a16:creationId xmlns:a16="http://schemas.microsoft.com/office/drawing/2014/main" id="{77AE31DF-57F2-486F-A3AD-AC32CED82F85}"/>
              </a:ext>
            </a:extLst>
          </p:cNvPr>
          <p:cNvSpPr>
            <a:spLocks noGrp="1"/>
          </p:cNvSpPr>
          <p:nvPr>
            <p:ph type="body" sz="quarter" idx="19"/>
          </p:nvPr>
        </p:nvSpPr>
        <p:spPr>
          <a:xfrm>
            <a:off x="842963" y="1614858"/>
            <a:ext cx="7623676" cy="5050223"/>
          </a:xfrm>
        </p:spPr>
        <p:txBody>
          <a:bodyPr>
            <a:normAutofit lnSpcReduction="10000"/>
          </a:bodyPr>
          <a:lstStyle/>
          <a:p>
            <a:pPr>
              <a:spcAft>
                <a:spcPts val="1500"/>
              </a:spcAft>
            </a:pPr>
            <a:r>
              <a:rPr lang="en-US" altLang="en-US" sz="3000" dirty="0"/>
              <a:t>Plants can reproduce asexually with the use of:</a:t>
            </a:r>
          </a:p>
          <a:p>
            <a:pPr marL="0" lvl="1" indent="0">
              <a:spcBef>
                <a:spcPts val="0"/>
              </a:spcBef>
              <a:buNone/>
            </a:pPr>
            <a:r>
              <a:rPr lang="en-US" altLang="en-US" sz="2600" b="1" dirty="0" err="1"/>
              <a:t>Stolons</a:t>
            </a:r>
            <a:r>
              <a:rPr lang="en-US" altLang="en-US" sz="2600" dirty="0"/>
              <a:t> – Horizontal stems that run aboveground</a:t>
            </a:r>
          </a:p>
          <a:p>
            <a:pPr marL="0" lvl="1" indent="0">
              <a:spcBef>
                <a:spcPts val="1200"/>
              </a:spcBef>
              <a:buNone/>
            </a:pPr>
            <a:r>
              <a:rPr lang="en-US" altLang="en-US" sz="2600" b="1" dirty="0"/>
              <a:t>Rhizomes</a:t>
            </a:r>
            <a:r>
              <a:rPr lang="en-US" altLang="en-US" sz="2600" dirty="0"/>
              <a:t> – Underground stems that produce new plants asexually</a:t>
            </a:r>
          </a:p>
          <a:p>
            <a:pPr marL="0" lvl="1" indent="0">
              <a:spcBef>
                <a:spcPts val="1200"/>
              </a:spcBef>
              <a:buNone/>
            </a:pPr>
            <a:r>
              <a:rPr lang="en-US" altLang="en-US" sz="2600" dirty="0"/>
              <a:t>Nodes of stems are regions where new growth can occur.</a:t>
            </a:r>
          </a:p>
          <a:p>
            <a:pPr marL="273050" lvl="2" indent="-273050">
              <a:spcBef>
                <a:spcPts val="1200"/>
              </a:spcBef>
              <a:spcAft>
                <a:spcPts val="0"/>
              </a:spcAft>
            </a:pPr>
            <a:r>
              <a:rPr lang="en-US" altLang="en-US" sz="2200" dirty="0"/>
              <a:t>New plants arise at the nodes of </a:t>
            </a:r>
            <a:r>
              <a:rPr lang="en-US" altLang="en-US" sz="2200" dirty="0" err="1"/>
              <a:t>stolons</a:t>
            </a:r>
            <a:r>
              <a:rPr lang="en-US" altLang="en-US" sz="2200" dirty="0"/>
              <a:t> and rhizomes.</a:t>
            </a:r>
          </a:p>
          <a:p>
            <a:pPr marL="273050" lvl="2" indent="-273050">
              <a:spcBef>
                <a:spcPts val="1200"/>
              </a:spcBef>
              <a:spcAft>
                <a:spcPts val="0"/>
              </a:spcAft>
            </a:pPr>
            <a:r>
              <a:rPr lang="en-US" altLang="en-US" sz="2200" dirty="0"/>
              <a:t>The “eyes” of white potatoes are buds that can produce a new plant if planted with a portion of the tuber (rhizome).</a:t>
            </a:r>
          </a:p>
        </p:txBody>
      </p:sp>
      <p:sp>
        <p:nvSpPr>
          <p:cNvPr id="4" name="Slide Number Placeholder 3">
            <a:extLst>
              <a:ext uri="{FF2B5EF4-FFF2-40B4-BE49-F238E27FC236}">
                <a16:creationId xmlns:a16="http://schemas.microsoft.com/office/drawing/2014/main" id="{C5FBAD0C-B700-4992-AD8F-E3B2F0765D29}"/>
              </a:ext>
            </a:extLst>
          </p:cNvPr>
          <p:cNvSpPr>
            <a:spLocks noGrp="1"/>
          </p:cNvSpPr>
          <p:nvPr>
            <p:ph type="sldNum" sz="quarter" idx="4"/>
          </p:nvPr>
        </p:nvSpPr>
        <p:spPr/>
        <p:txBody>
          <a:bodyPr/>
          <a:lstStyle/>
          <a:p>
            <a:fld id="{68151E55-6873-49E2-B8D5-2F265E6F1973}" type="slidenum">
              <a:rPr lang="en-US" smtClean="0"/>
              <a:pPr/>
              <a:t>36</a:t>
            </a:fld>
            <a:endParaRPr lang="en-US" dirty="0"/>
          </a:p>
        </p:txBody>
      </p:sp>
    </p:spTree>
    <p:extLst>
      <p:ext uri="{BB962C8B-B14F-4D97-AF65-F5344CB8AC3E}">
        <p14:creationId xmlns:p14="http://schemas.microsoft.com/office/powerpoint/2010/main" val="42489106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6B8CD-DA7B-485A-BA59-AA7D1E497C69}"/>
              </a:ext>
            </a:extLst>
          </p:cNvPr>
          <p:cNvSpPr>
            <a:spLocks noGrp="1"/>
          </p:cNvSpPr>
          <p:nvPr>
            <p:ph type="title"/>
          </p:nvPr>
        </p:nvSpPr>
        <p:spPr>
          <a:xfrm>
            <a:off x="0" y="1"/>
            <a:ext cx="9144000" cy="1128155"/>
          </a:xfrm>
        </p:spPr>
        <p:txBody>
          <a:bodyPr/>
          <a:lstStyle/>
          <a:p>
            <a:r>
              <a:rPr lang="en-US" altLang="en-US" dirty="0"/>
              <a:t>Asexual Reproduction in Plants</a:t>
            </a:r>
            <a:endParaRPr lang="en-IN" dirty="0"/>
          </a:p>
        </p:txBody>
      </p:sp>
      <p:pic>
        <p:nvPicPr>
          <p:cNvPr id="8" name="Picture 2" descr="Asexual reproduction in strawberry plants, Fragaria, as stolons grow from a parent plant and give rise to new plants at nodes.">
            <a:extLst>
              <a:ext uri="{FF2B5EF4-FFF2-40B4-BE49-F238E27FC236}">
                <a16:creationId xmlns:a16="http://schemas.microsoft.com/office/drawing/2014/main" id="{F3C21BDF-D028-400E-847E-96AB19CF265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229" b="2343"/>
          <a:stretch/>
        </p:blipFill>
        <p:spPr>
          <a:xfrm>
            <a:off x="1415226" y="1352575"/>
            <a:ext cx="6312425" cy="3940958"/>
          </a:xfrm>
          <a:prstGeom prst="rect">
            <a:avLst/>
          </a:prstGeom>
        </p:spPr>
      </p:pic>
      <p:sp>
        <p:nvSpPr>
          <p:cNvPr id="6" name="Text Placeholder 3">
            <a:extLst>
              <a:ext uri="{FF2B5EF4-FFF2-40B4-BE49-F238E27FC236}">
                <a16:creationId xmlns:a16="http://schemas.microsoft.com/office/drawing/2014/main" id="{73E2EC41-037A-46F4-93FF-97CB8F9E9B71}"/>
              </a:ext>
            </a:extLst>
          </p:cNvPr>
          <p:cNvSpPr>
            <a:spLocks noGrp="1"/>
          </p:cNvSpPr>
          <p:nvPr>
            <p:ph type="body" sz="quarter" idx="19"/>
          </p:nvPr>
        </p:nvSpPr>
        <p:spPr>
          <a:xfrm>
            <a:off x="3995393" y="5697894"/>
            <a:ext cx="1152092" cy="314325"/>
          </a:xfrm>
        </p:spPr>
        <p:txBody>
          <a:bodyPr>
            <a:normAutofit/>
          </a:bodyPr>
          <a:lstStyle/>
          <a:p>
            <a:r>
              <a:rPr lang="en-US" sz="1200" dirty="0"/>
              <a:t>Figure 27.12</a:t>
            </a:r>
          </a:p>
        </p:txBody>
      </p:sp>
      <p:sp>
        <p:nvSpPr>
          <p:cNvPr id="7" name="Text Placeholder 4">
            <a:extLst>
              <a:ext uri="{FF2B5EF4-FFF2-40B4-BE49-F238E27FC236}">
                <a16:creationId xmlns:a16="http://schemas.microsoft.com/office/drawing/2014/main" id="{BCDD5170-FEAA-4BF6-A85C-E97AF0F62912}"/>
              </a:ext>
            </a:extLst>
          </p:cNvPr>
          <p:cNvSpPr>
            <a:spLocks noGrp="1"/>
          </p:cNvSpPr>
          <p:nvPr>
            <p:ph type="body" sz="quarter" idx="21"/>
          </p:nvPr>
        </p:nvSpPr>
        <p:spPr/>
        <p:txBody>
          <a:bodyPr/>
          <a:lstStyle/>
          <a:p>
            <a:pPr lvl="0"/>
            <a:r>
              <a:rPr lang="en-US" sz="800" dirty="0"/>
              <a:t>NHPA/</a:t>
            </a:r>
            <a:r>
              <a:rPr lang="en-US" sz="800" dirty="0" err="1"/>
              <a:t>SuperStock</a:t>
            </a:r>
            <a:endParaRPr lang="en-US" sz="800" dirty="0"/>
          </a:p>
        </p:txBody>
      </p:sp>
      <p:sp>
        <p:nvSpPr>
          <p:cNvPr id="4" name="Slide Number Placeholder 5">
            <a:extLst>
              <a:ext uri="{FF2B5EF4-FFF2-40B4-BE49-F238E27FC236}">
                <a16:creationId xmlns:a16="http://schemas.microsoft.com/office/drawing/2014/main" id="{AB0FDD8C-330B-47A5-AEFA-CF902A17AA0D}"/>
              </a:ext>
            </a:extLst>
          </p:cNvPr>
          <p:cNvSpPr>
            <a:spLocks noGrp="1"/>
          </p:cNvSpPr>
          <p:nvPr>
            <p:ph type="sldNum" sz="quarter" idx="4"/>
          </p:nvPr>
        </p:nvSpPr>
        <p:spPr/>
        <p:txBody>
          <a:bodyPr/>
          <a:lstStyle/>
          <a:p>
            <a:fld id="{68151E55-6873-49E2-B8D5-2F265E6F1973}" type="slidenum">
              <a:rPr lang="en-US" smtClean="0"/>
              <a:pPr/>
              <a:t>37</a:t>
            </a:fld>
            <a:endParaRPr lang="en-US" dirty="0"/>
          </a:p>
        </p:txBody>
      </p:sp>
    </p:spTree>
    <p:extLst>
      <p:ext uri="{BB962C8B-B14F-4D97-AF65-F5344CB8AC3E}">
        <p14:creationId xmlns:p14="http://schemas.microsoft.com/office/powerpoint/2010/main" val="5458693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9B763-455D-41FD-8E14-33259DB23E95}"/>
              </a:ext>
            </a:extLst>
          </p:cNvPr>
          <p:cNvSpPr>
            <a:spLocks noGrp="1"/>
          </p:cNvSpPr>
          <p:nvPr>
            <p:ph type="title"/>
          </p:nvPr>
        </p:nvSpPr>
        <p:spPr/>
        <p:txBody>
          <a:bodyPr/>
          <a:lstStyle/>
          <a:p>
            <a:r>
              <a:rPr lang="en-US" altLang="en-US" dirty="0"/>
              <a:t>Tissue Culture of Plants</a:t>
            </a:r>
            <a:endParaRPr lang="en-IN" dirty="0"/>
          </a:p>
        </p:txBody>
      </p:sp>
      <p:sp>
        <p:nvSpPr>
          <p:cNvPr id="3" name="Text Placeholder 2">
            <a:extLst>
              <a:ext uri="{FF2B5EF4-FFF2-40B4-BE49-F238E27FC236}">
                <a16:creationId xmlns:a16="http://schemas.microsoft.com/office/drawing/2014/main" id="{74FE78FD-806C-4E63-BFFC-B7977FE5A8ED}"/>
              </a:ext>
            </a:extLst>
          </p:cNvPr>
          <p:cNvSpPr>
            <a:spLocks noGrp="1"/>
          </p:cNvSpPr>
          <p:nvPr>
            <p:ph type="body" sz="quarter" idx="19"/>
          </p:nvPr>
        </p:nvSpPr>
        <p:spPr>
          <a:xfrm>
            <a:off x="842963" y="1177179"/>
            <a:ext cx="7623676" cy="3382945"/>
          </a:xfrm>
        </p:spPr>
        <p:txBody>
          <a:bodyPr>
            <a:normAutofit/>
          </a:bodyPr>
          <a:lstStyle/>
          <a:p>
            <a:pPr>
              <a:spcAft>
                <a:spcPts val="2000"/>
              </a:spcAft>
            </a:pPr>
            <a:r>
              <a:rPr lang="en-US" sz="3200" b="1" dirty="0">
                <a:solidFill>
                  <a:srgbClr val="D90000"/>
                </a:solidFill>
              </a:rPr>
              <a:t>Tissue culture </a:t>
            </a:r>
            <a:r>
              <a:rPr lang="en-US" sz="3200" dirty="0"/>
              <a:t>is the growth of a tissue in an artificial liquid or solid culture medium.</a:t>
            </a:r>
          </a:p>
          <a:p>
            <a:pPr marL="0" lvl="1" indent="0">
              <a:spcBef>
                <a:spcPts val="0"/>
              </a:spcBef>
              <a:buNone/>
            </a:pPr>
            <a:r>
              <a:rPr lang="en-US" sz="2800" dirty="0"/>
              <a:t>Many plant cells are </a:t>
            </a:r>
            <a:r>
              <a:rPr lang="en-US" sz="2800" b="1" dirty="0">
                <a:solidFill>
                  <a:srgbClr val="D90000"/>
                </a:solidFill>
              </a:rPr>
              <a:t>totipotent</a:t>
            </a:r>
            <a:r>
              <a:rPr lang="en-US" sz="2800" dirty="0"/>
              <a:t>.</a:t>
            </a:r>
          </a:p>
          <a:p>
            <a:pPr marL="273050" lvl="2" indent="-273050">
              <a:tabLst>
                <a:tab pos="273050" algn="l"/>
              </a:tabLst>
            </a:pPr>
            <a:r>
              <a:rPr lang="en-US" sz="2400" dirty="0"/>
              <a:t>Each has the genetic capability of becoming an entire plant</a:t>
            </a:r>
          </a:p>
        </p:txBody>
      </p:sp>
      <p:sp>
        <p:nvSpPr>
          <p:cNvPr id="4" name="Slide Number Placeholder 3">
            <a:extLst>
              <a:ext uri="{FF2B5EF4-FFF2-40B4-BE49-F238E27FC236}">
                <a16:creationId xmlns:a16="http://schemas.microsoft.com/office/drawing/2014/main" id="{A7FAC992-F0BB-4042-A103-FFFEFFE090AA}"/>
              </a:ext>
            </a:extLst>
          </p:cNvPr>
          <p:cNvSpPr>
            <a:spLocks noGrp="1"/>
          </p:cNvSpPr>
          <p:nvPr>
            <p:ph type="sldNum" sz="quarter" idx="4"/>
          </p:nvPr>
        </p:nvSpPr>
        <p:spPr/>
        <p:txBody>
          <a:bodyPr/>
          <a:lstStyle/>
          <a:p>
            <a:fld id="{68151E55-6873-49E2-B8D5-2F265E6F1973}" type="slidenum">
              <a:rPr lang="en-US" smtClean="0"/>
              <a:pPr/>
              <a:t>38</a:t>
            </a:fld>
            <a:endParaRPr lang="en-US" dirty="0"/>
          </a:p>
        </p:txBody>
      </p:sp>
    </p:spTree>
    <p:extLst>
      <p:ext uri="{BB962C8B-B14F-4D97-AF65-F5344CB8AC3E}">
        <p14:creationId xmlns:p14="http://schemas.microsoft.com/office/powerpoint/2010/main" val="13010246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B32FD-367F-459C-A28E-80F4CE2D018A}"/>
              </a:ext>
            </a:extLst>
          </p:cNvPr>
          <p:cNvSpPr>
            <a:spLocks noGrp="1"/>
          </p:cNvSpPr>
          <p:nvPr>
            <p:ph type="title"/>
          </p:nvPr>
        </p:nvSpPr>
        <p:spPr>
          <a:xfrm>
            <a:off x="0" y="1"/>
            <a:ext cx="9144000" cy="1021628"/>
          </a:xfrm>
        </p:spPr>
        <p:txBody>
          <a:bodyPr/>
          <a:lstStyle/>
          <a:p>
            <a:r>
              <a:rPr lang="en-US" dirty="0"/>
              <a:t>Asexual Reproduction Through Tissue Culture</a:t>
            </a:r>
            <a:endParaRPr lang="en-IN" dirty="0"/>
          </a:p>
        </p:txBody>
      </p:sp>
      <p:pic>
        <p:nvPicPr>
          <p:cNvPr id="8" name="Picture 2" descr="Set of four illustrations marked a through d represents tissue culture.">
            <a:extLst>
              <a:ext uri="{FF2B5EF4-FFF2-40B4-BE49-F238E27FC236}">
                <a16:creationId xmlns:a16="http://schemas.microsoft.com/office/drawing/2014/main" id="{6AC16326-EB3A-4F8A-A6F5-AD570C2D6CE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626" b="2074"/>
          <a:stretch/>
        </p:blipFill>
        <p:spPr>
          <a:xfrm>
            <a:off x="1197050" y="1088941"/>
            <a:ext cx="6748775" cy="4628738"/>
          </a:xfrm>
          <a:prstGeom prst="rect">
            <a:avLst/>
          </a:prstGeom>
        </p:spPr>
      </p:pic>
      <p:sp>
        <p:nvSpPr>
          <p:cNvPr id="3" name="Text Placeholder 3">
            <a:extLst>
              <a:ext uri="{FF2B5EF4-FFF2-40B4-BE49-F238E27FC236}">
                <a16:creationId xmlns:a16="http://schemas.microsoft.com/office/drawing/2014/main" id="{4A11FDA2-7088-4368-93D7-7791BBC77FD0}"/>
              </a:ext>
            </a:extLst>
          </p:cNvPr>
          <p:cNvSpPr>
            <a:spLocks noGrp="1"/>
          </p:cNvSpPr>
          <p:nvPr>
            <p:ph type="body" sz="quarter" idx="18"/>
          </p:nvPr>
        </p:nvSpPr>
        <p:spPr>
          <a:xfrm>
            <a:off x="3973214" y="5877501"/>
            <a:ext cx="1196446" cy="314325"/>
          </a:xfrm>
        </p:spPr>
        <p:txBody>
          <a:bodyPr>
            <a:normAutofit/>
          </a:bodyPr>
          <a:lstStyle/>
          <a:p>
            <a:r>
              <a:rPr lang="en-US" sz="1200" dirty="0"/>
              <a:t>Figure 27.13</a:t>
            </a:r>
          </a:p>
        </p:txBody>
      </p:sp>
      <p:sp>
        <p:nvSpPr>
          <p:cNvPr id="6" name="Text Placeholder 4">
            <a:extLst>
              <a:ext uri="{FF2B5EF4-FFF2-40B4-BE49-F238E27FC236}">
                <a16:creationId xmlns:a16="http://schemas.microsoft.com/office/drawing/2014/main" id="{DAA19D04-856B-4D2B-8E6E-00C70803C7F1}"/>
              </a:ext>
            </a:extLst>
          </p:cNvPr>
          <p:cNvSpPr>
            <a:spLocks noGrp="1"/>
          </p:cNvSpPr>
          <p:nvPr>
            <p:ph type="body" sz="quarter" idx="19"/>
          </p:nvPr>
        </p:nvSpPr>
        <p:spPr>
          <a:xfrm>
            <a:off x="2988931" y="6210922"/>
            <a:ext cx="3165015" cy="38717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F3925A9D-0BC1-4614-AE76-09CA7A6C8AFB}"/>
              </a:ext>
            </a:extLst>
          </p:cNvPr>
          <p:cNvSpPr>
            <a:spLocks noGrp="1"/>
          </p:cNvSpPr>
          <p:nvPr>
            <p:ph type="body" sz="quarter" idx="21"/>
          </p:nvPr>
        </p:nvSpPr>
        <p:spPr/>
        <p:txBody>
          <a:bodyPr/>
          <a:lstStyle/>
          <a:p>
            <a:pPr lvl="0"/>
            <a:r>
              <a:rPr lang="en-US" dirty="0"/>
              <a:t>(a): </a:t>
            </a:r>
            <a:r>
              <a:rPr lang="en-US" dirty="0" err="1"/>
              <a:t>Biophoto</a:t>
            </a:r>
            <a:r>
              <a:rPr lang="en-US" dirty="0"/>
              <a:t> Associates/Science Source; (b—c): Courtesy Prof. Dr. Hans-Ulrich Koop from Plant Cell Reports, 17:601—604; (d): Edwin </a:t>
            </a:r>
            <a:r>
              <a:rPr lang="en-US" dirty="0" err="1"/>
              <a:t>Remsberg</a:t>
            </a:r>
            <a:r>
              <a:rPr lang="en-US" dirty="0"/>
              <a:t>/</a:t>
            </a:r>
            <a:r>
              <a:rPr lang="en-US" dirty="0" err="1"/>
              <a:t>Alamy</a:t>
            </a:r>
            <a:r>
              <a:rPr lang="en-US" dirty="0"/>
              <a:t> Stock Photo</a:t>
            </a:r>
          </a:p>
        </p:txBody>
      </p:sp>
      <p:sp>
        <p:nvSpPr>
          <p:cNvPr id="4" name="Slide Number Placeholder 6">
            <a:extLst>
              <a:ext uri="{FF2B5EF4-FFF2-40B4-BE49-F238E27FC236}">
                <a16:creationId xmlns:a16="http://schemas.microsoft.com/office/drawing/2014/main" id="{61D3E0B3-AB79-4117-A0E2-64E13FAF7A91}"/>
              </a:ext>
            </a:extLst>
          </p:cNvPr>
          <p:cNvSpPr>
            <a:spLocks noGrp="1"/>
          </p:cNvSpPr>
          <p:nvPr>
            <p:ph type="sldNum" sz="quarter" idx="4"/>
          </p:nvPr>
        </p:nvSpPr>
        <p:spPr/>
        <p:txBody>
          <a:bodyPr/>
          <a:lstStyle/>
          <a:p>
            <a:fld id="{68151E55-6873-49E2-B8D5-2F265E6F1973}" type="slidenum">
              <a:rPr lang="en-US" smtClean="0"/>
              <a:pPr/>
              <a:t>39</a:t>
            </a:fld>
            <a:endParaRPr lang="en-US" dirty="0"/>
          </a:p>
        </p:txBody>
      </p:sp>
    </p:spTree>
    <p:extLst>
      <p:ext uri="{BB962C8B-B14F-4D97-AF65-F5344CB8AC3E}">
        <p14:creationId xmlns:p14="http://schemas.microsoft.com/office/powerpoint/2010/main" val="29057826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B007F-E8CB-44A5-A2EC-2FBA34DA9EB8}"/>
              </a:ext>
            </a:extLst>
          </p:cNvPr>
          <p:cNvSpPr>
            <a:spLocks noGrp="1"/>
          </p:cNvSpPr>
          <p:nvPr>
            <p:ph type="title"/>
          </p:nvPr>
        </p:nvSpPr>
        <p:spPr>
          <a:xfrm>
            <a:off x="0" y="1"/>
            <a:ext cx="9144000" cy="1080654"/>
          </a:xfrm>
        </p:spPr>
        <p:txBody>
          <a:bodyPr/>
          <a:lstStyle/>
          <a:p>
            <a:r>
              <a:rPr lang="en-US" altLang="en-US" sz="3600" dirty="0"/>
              <a:t>Tissue Culture and Cell </a:t>
            </a:r>
            <a:br>
              <a:rPr lang="en-US" altLang="en-US" sz="3600" dirty="0"/>
            </a:br>
            <a:r>
              <a:rPr lang="en-US" altLang="en-US" sz="3600" dirty="0"/>
              <a:t>Suspension Culture</a:t>
            </a:r>
            <a:endParaRPr lang="en-IN" sz="3600" dirty="0"/>
          </a:p>
        </p:txBody>
      </p:sp>
      <p:sp>
        <p:nvSpPr>
          <p:cNvPr id="5" name="Text Placeholder 2">
            <a:extLst>
              <a:ext uri="{FF2B5EF4-FFF2-40B4-BE49-F238E27FC236}">
                <a16:creationId xmlns:a16="http://schemas.microsoft.com/office/drawing/2014/main" id="{6252CDDB-0A1A-401F-BE01-5B4EB401AA19}"/>
              </a:ext>
            </a:extLst>
          </p:cNvPr>
          <p:cNvSpPr>
            <a:spLocks noGrp="1"/>
          </p:cNvSpPr>
          <p:nvPr>
            <p:ph type="body" sz="quarter" idx="19"/>
          </p:nvPr>
        </p:nvSpPr>
        <p:spPr>
          <a:xfrm>
            <a:off x="1304666" y="1200930"/>
            <a:ext cx="7623676" cy="3353757"/>
          </a:xfrm>
        </p:spPr>
        <p:txBody>
          <a:bodyPr>
            <a:normAutofit fontScale="92500" lnSpcReduction="10000"/>
          </a:bodyPr>
          <a:lstStyle/>
          <a:p>
            <a:pPr>
              <a:spcAft>
                <a:spcPts val="1200"/>
              </a:spcAft>
            </a:pPr>
            <a:r>
              <a:rPr lang="en-US" sz="2700" b="1" dirty="0"/>
              <a:t>Meristem</a:t>
            </a:r>
            <a:r>
              <a:rPr lang="en-US" sz="2700" i="1" dirty="0"/>
              <a:t> </a:t>
            </a:r>
            <a:r>
              <a:rPr lang="en-US" sz="2700" dirty="0"/>
              <a:t>tissue</a:t>
            </a:r>
          </a:p>
          <a:p>
            <a:pPr marL="285750" lvl="1" indent="-285750">
              <a:spcBef>
                <a:spcPts val="0"/>
              </a:spcBef>
              <a:spcAft>
                <a:spcPts val="0"/>
              </a:spcAft>
            </a:pPr>
            <a:r>
              <a:rPr lang="en-US" sz="2400" dirty="0"/>
              <a:t>Results in clonal plants with identical traits</a:t>
            </a:r>
          </a:p>
          <a:p>
            <a:pPr marL="285750" lvl="1" indent="-285750">
              <a:spcAft>
                <a:spcPts val="0"/>
              </a:spcAft>
            </a:pPr>
            <a:r>
              <a:rPr lang="en-US" sz="2400" dirty="0"/>
              <a:t>Grown in medium containing auxin, </a:t>
            </a:r>
            <a:r>
              <a:rPr lang="en-US" sz="2400" dirty="0" err="1"/>
              <a:t>cytokinins</a:t>
            </a:r>
            <a:r>
              <a:rPr lang="en-US" sz="2400" dirty="0"/>
              <a:t>, and nutrients</a:t>
            </a:r>
          </a:p>
          <a:p>
            <a:pPr marL="285750" lvl="1" indent="-285750">
              <a:spcAft>
                <a:spcPts val="0"/>
              </a:spcAft>
            </a:pPr>
            <a:r>
              <a:rPr lang="en-US" sz="2400" dirty="0"/>
              <a:t>Undifferentiated cells called a callus form first.</a:t>
            </a:r>
          </a:p>
          <a:p>
            <a:pPr marL="285750" lvl="1" indent="-285750">
              <a:spcAft>
                <a:spcPts val="0"/>
              </a:spcAft>
            </a:pPr>
            <a:r>
              <a:rPr lang="en-US" sz="2400" dirty="0"/>
              <a:t>Organogenesis results and initiates root and shoot formation.</a:t>
            </a:r>
          </a:p>
          <a:p>
            <a:pPr marL="285750" lvl="1" indent="-285750">
              <a:spcAft>
                <a:spcPts val="0"/>
              </a:spcAft>
            </a:pPr>
            <a:r>
              <a:rPr lang="en-US" sz="2400" dirty="0"/>
              <a:t>Finally, a plantlet is formed.</a:t>
            </a:r>
          </a:p>
        </p:txBody>
      </p:sp>
      <p:sp>
        <p:nvSpPr>
          <p:cNvPr id="6" name="Text Placeholder 3">
            <a:extLst>
              <a:ext uri="{FF2B5EF4-FFF2-40B4-BE49-F238E27FC236}">
                <a16:creationId xmlns:a16="http://schemas.microsoft.com/office/drawing/2014/main" id="{BED82361-75BB-4998-BE68-53C599537D6A}"/>
              </a:ext>
            </a:extLst>
          </p:cNvPr>
          <p:cNvSpPr>
            <a:spLocks noGrp="1"/>
          </p:cNvSpPr>
          <p:nvPr>
            <p:ph type="body" sz="quarter" idx="20"/>
          </p:nvPr>
        </p:nvSpPr>
        <p:spPr>
          <a:xfrm>
            <a:off x="1304666" y="4302700"/>
            <a:ext cx="7515726" cy="2555299"/>
          </a:xfrm>
        </p:spPr>
        <p:txBody>
          <a:bodyPr>
            <a:normAutofit fontScale="92500" lnSpcReduction="10000"/>
          </a:bodyPr>
          <a:lstStyle/>
          <a:p>
            <a:pPr lvl="0">
              <a:lnSpc>
                <a:spcPct val="80000"/>
              </a:lnSpc>
              <a:spcAft>
                <a:spcPts val="1200"/>
              </a:spcAft>
            </a:pPr>
            <a:r>
              <a:rPr lang="en-US" sz="2500" b="1" dirty="0">
                <a:solidFill>
                  <a:srgbClr val="D90000"/>
                </a:solidFill>
              </a:rPr>
              <a:t>Cell Suspension Culture</a:t>
            </a:r>
          </a:p>
          <a:p>
            <a:pPr marL="0" lvl="1" indent="0">
              <a:lnSpc>
                <a:spcPct val="80000"/>
              </a:lnSpc>
              <a:spcBef>
                <a:spcPts val="0"/>
              </a:spcBef>
              <a:buNone/>
            </a:pPr>
            <a:r>
              <a:rPr lang="en-US" sz="2200" dirty="0">
                <a:solidFill>
                  <a:prstClr val="black"/>
                </a:solidFill>
              </a:rPr>
              <a:t>Rapidly growing calluses are cut into small pieces and shaken into a liquid nutrient medium.</a:t>
            </a:r>
          </a:p>
          <a:p>
            <a:pPr marL="273050" lvl="2" indent="-273050">
              <a:lnSpc>
                <a:spcPct val="80000"/>
              </a:lnSpc>
            </a:pPr>
            <a:r>
              <a:rPr lang="en-US" sz="1900" dirty="0">
                <a:solidFill>
                  <a:prstClr val="black"/>
                </a:solidFill>
              </a:rPr>
              <a:t>Single cells or small clumps break off and form a suspension.</a:t>
            </a:r>
          </a:p>
          <a:p>
            <a:pPr marL="273050" lvl="2" indent="-273050">
              <a:lnSpc>
                <a:spcPct val="80000"/>
              </a:lnSpc>
            </a:pPr>
            <a:r>
              <a:rPr lang="en-US" sz="1900" dirty="0">
                <a:solidFill>
                  <a:prstClr val="black"/>
                </a:solidFill>
              </a:rPr>
              <a:t>Chemicals can be extracted from genetically modified plant cells.</a:t>
            </a:r>
          </a:p>
          <a:p>
            <a:pPr marL="273050" lvl="2" indent="-273050">
              <a:lnSpc>
                <a:spcPct val="80000"/>
              </a:lnSpc>
            </a:pPr>
            <a:r>
              <a:rPr lang="en-US" sz="1900" i="1" dirty="0">
                <a:solidFill>
                  <a:prstClr val="black"/>
                </a:solidFill>
              </a:rPr>
              <a:t>Digitalis</a:t>
            </a:r>
            <a:r>
              <a:rPr lang="en-US" sz="1900" dirty="0">
                <a:solidFill>
                  <a:prstClr val="black"/>
                </a:solidFill>
              </a:rPr>
              <a:t> species produce drugs used to treat heart disease.</a:t>
            </a:r>
          </a:p>
          <a:p>
            <a:pPr marL="273050" lvl="2" indent="-273050">
              <a:lnSpc>
                <a:spcPct val="80000"/>
              </a:lnSpc>
            </a:pPr>
            <a:r>
              <a:rPr lang="en-US" sz="1900" dirty="0">
                <a:solidFill>
                  <a:prstClr val="black"/>
                </a:solidFill>
              </a:rPr>
              <a:t>Avoids overcollection of wild plants from native environments</a:t>
            </a:r>
          </a:p>
        </p:txBody>
      </p:sp>
      <p:sp>
        <p:nvSpPr>
          <p:cNvPr id="4" name="Slide Number Placeholder 4">
            <a:extLst>
              <a:ext uri="{FF2B5EF4-FFF2-40B4-BE49-F238E27FC236}">
                <a16:creationId xmlns:a16="http://schemas.microsoft.com/office/drawing/2014/main" id="{C96B1BA1-01DE-4F88-8112-A0174E13C67B}"/>
              </a:ext>
            </a:extLst>
          </p:cNvPr>
          <p:cNvSpPr>
            <a:spLocks noGrp="1"/>
          </p:cNvSpPr>
          <p:nvPr>
            <p:ph type="sldNum" sz="quarter" idx="4"/>
          </p:nvPr>
        </p:nvSpPr>
        <p:spPr/>
        <p:txBody>
          <a:bodyPr/>
          <a:lstStyle/>
          <a:p>
            <a:fld id="{68151E55-6873-49E2-B8D5-2F265E6F1973}" type="slidenum">
              <a:rPr lang="en-US" smtClean="0"/>
              <a:pPr/>
              <a:t>40</a:t>
            </a:fld>
            <a:endParaRPr lang="en-US" dirty="0"/>
          </a:p>
        </p:txBody>
      </p:sp>
    </p:spTree>
    <p:extLst>
      <p:ext uri="{BB962C8B-B14F-4D97-AF65-F5344CB8AC3E}">
        <p14:creationId xmlns:p14="http://schemas.microsoft.com/office/powerpoint/2010/main" val="23535963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685D0-36E6-4547-AF5D-4A4B78089808}"/>
              </a:ext>
            </a:extLst>
          </p:cNvPr>
          <p:cNvSpPr>
            <a:spLocks noGrp="1"/>
          </p:cNvSpPr>
          <p:nvPr>
            <p:ph type="title"/>
          </p:nvPr>
        </p:nvSpPr>
        <p:spPr>
          <a:xfrm>
            <a:off x="0" y="1"/>
            <a:ext cx="9144000" cy="1201020"/>
          </a:xfrm>
        </p:spPr>
        <p:txBody>
          <a:bodyPr/>
          <a:lstStyle/>
          <a:p>
            <a:r>
              <a:rPr lang="en-US" dirty="0"/>
              <a:t>Tissue Culture for Plant Conservation</a:t>
            </a:r>
            <a:endParaRPr lang="en-IN" dirty="0"/>
          </a:p>
        </p:txBody>
      </p:sp>
      <p:pic>
        <p:nvPicPr>
          <p:cNvPr id="8" name="Picture 2" descr="Close-up of ladyslipper orchid developed from tissue culture.">
            <a:extLst>
              <a:ext uri="{FF2B5EF4-FFF2-40B4-BE49-F238E27FC236}">
                <a16:creationId xmlns:a16="http://schemas.microsoft.com/office/drawing/2014/main" id="{806D68BE-F9CE-4FDC-94BD-1FFCD09E511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474" b="2093"/>
          <a:stretch/>
        </p:blipFill>
        <p:spPr>
          <a:xfrm>
            <a:off x="2968177" y="1291070"/>
            <a:ext cx="3216756" cy="4275859"/>
          </a:xfrm>
          <a:prstGeom prst="rect">
            <a:avLst/>
          </a:prstGeom>
        </p:spPr>
      </p:pic>
      <p:sp>
        <p:nvSpPr>
          <p:cNvPr id="5" name="Text Placeholder 3">
            <a:extLst>
              <a:ext uri="{FF2B5EF4-FFF2-40B4-BE49-F238E27FC236}">
                <a16:creationId xmlns:a16="http://schemas.microsoft.com/office/drawing/2014/main" id="{B89CCF7A-39D7-4606-9A16-BF0B1A823E61}"/>
              </a:ext>
            </a:extLst>
          </p:cNvPr>
          <p:cNvSpPr>
            <a:spLocks noGrp="1"/>
          </p:cNvSpPr>
          <p:nvPr>
            <p:ph type="body" sz="quarter" idx="18"/>
          </p:nvPr>
        </p:nvSpPr>
        <p:spPr>
          <a:xfrm>
            <a:off x="3953293" y="5789220"/>
            <a:ext cx="1236289" cy="314325"/>
          </a:xfrm>
        </p:spPr>
        <p:txBody>
          <a:bodyPr>
            <a:normAutofit/>
          </a:bodyPr>
          <a:lstStyle/>
          <a:p>
            <a:r>
              <a:rPr lang="en-US" sz="1200" dirty="0"/>
              <a:t>Figure 27.14</a:t>
            </a:r>
          </a:p>
        </p:txBody>
      </p:sp>
      <p:sp>
        <p:nvSpPr>
          <p:cNvPr id="7" name="Text Placeholder 4">
            <a:extLst>
              <a:ext uri="{FF2B5EF4-FFF2-40B4-BE49-F238E27FC236}">
                <a16:creationId xmlns:a16="http://schemas.microsoft.com/office/drawing/2014/main" id="{5D1949AC-99C3-43CD-9E75-B67715811998}"/>
              </a:ext>
            </a:extLst>
          </p:cNvPr>
          <p:cNvSpPr>
            <a:spLocks noGrp="1"/>
          </p:cNvSpPr>
          <p:nvPr>
            <p:ph type="body" sz="quarter" idx="21"/>
          </p:nvPr>
        </p:nvSpPr>
        <p:spPr/>
        <p:txBody>
          <a:bodyPr/>
          <a:lstStyle/>
          <a:p>
            <a:pPr lvl="0"/>
            <a:r>
              <a:rPr lang="en-US" sz="800" dirty="0">
                <a:solidFill>
                  <a:prstClr val="black"/>
                </a:solidFill>
                <a:latin typeface="Arial" pitchFamily="34" charset="0"/>
                <a:cs typeface="Arial" pitchFamily="34" charset="0"/>
              </a:rPr>
              <a:t>©Hillside Nursery, Shelburne Falls, MA</a:t>
            </a:r>
          </a:p>
        </p:txBody>
      </p:sp>
      <p:sp>
        <p:nvSpPr>
          <p:cNvPr id="4" name="Slide Number Placeholder 5">
            <a:extLst>
              <a:ext uri="{FF2B5EF4-FFF2-40B4-BE49-F238E27FC236}">
                <a16:creationId xmlns:a16="http://schemas.microsoft.com/office/drawing/2014/main" id="{17D89865-016F-4DD7-AB64-CC7CB14DF6FD}"/>
              </a:ext>
            </a:extLst>
          </p:cNvPr>
          <p:cNvSpPr>
            <a:spLocks noGrp="1"/>
          </p:cNvSpPr>
          <p:nvPr>
            <p:ph type="sldNum" sz="quarter" idx="4"/>
          </p:nvPr>
        </p:nvSpPr>
        <p:spPr/>
        <p:txBody>
          <a:bodyPr/>
          <a:lstStyle/>
          <a:p>
            <a:fld id="{68151E55-6873-49E2-B8D5-2F265E6F1973}" type="slidenum">
              <a:rPr lang="en-US" smtClean="0"/>
              <a:pPr/>
              <a:t>41</a:t>
            </a:fld>
            <a:endParaRPr lang="en-US" dirty="0"/>
          </a:p>
        </p:txBody>
      </p:sp>
    </p:spTree>
    <p:extLst>
      <p:ext uri="{BB962C8B-B14F-4D97-AF65-F5344CB8AC3E}">
        <p14:creationId xmlns:p14="http://schemas.microsoft.com/office/powerpoint/2010/main" val="6064966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hidden="1">
            <a:extLst>
              <a:ext uri="{FF2B5EF4-FFF2-40B4-BE49-F238E27FC236}">
                <a16:creationId xmlns:a16="http://schemas.microsoft.com/office/drawing/2014/main" id="{2DB381F5-A910-4EE2-B9E1-BF7DADBC82F5}"/>
              </a:ext>
            </a:extLst>
          </p:cNvPr>
          <p:cNvSpPr>
            <a:spLocks noGrp="1"/>
          </p:cNvSpPr>
          <p:nvPr>
            <p:ph type="title"/>
          </p:nvPr>
        </p:nvSpPr>
        <p:spPr/>
        <p:txBody>
          <a:bodyPr/>
          <a:lstStyle/>
          <a:p>
            <a:r>
              <a:rPr lang="en-IN" dirty="0"/>
              <a:t>End of main content</a:t>
            </a:r>
          </a:p>
        </p:txBody>
      </p:sp>
      <p:sp>
        <p:nvSpPr>
          <p:cNvPr id="3" name="Content Placeholder 8">
            <a:extLst>
              <a:ext uri="{FF2B5EF4-FFF2-40B4-BE49-F238E27FC236}">
                <a16:creationId xmlns:a16="http://schemas.microsoft.com/office/drawing/2014/main" id="{832A26C5-3035-4D87-94B1-1A1FF1CB321A}"/>
              </a:ext>
            </a:extLst>
          </p:cNvPr>
          <p:cNvSpPr txBox="1">
            <a:spLocks/>
          </p:cNvSpPr>
          <p:nvPr/>
        </p:nvSpPr>
        <p:spPr>
          <a:xfrm>
            <a:off x="0" y="6383045"/>
            <a:ext cx="9144000" cy="474955"/>
          </a:xfrm>
          <a:prstGeom prst="rect">
            <a:avLst/>
          </a:prstGeom>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dirty="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dirty="0"/>
          </a:p>
        </p:txBody>
      </p:sp>
    </p:spTree>
    <p:extLst>
      <p:ext uri="{BB962C8B-B14F-4D97-AF65-F5344CB8AC3E}">
        <p14:creationId xmlns:p14="http://schemas.microsoft.com/office/powerpoint/2010/main" val="31503895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737D552-265F-4B72-AC96-158D0C5E1A32}"/>
              </a:ext>
            </a:extLst>
          </p:cNvPr>
          <p:cNvSpPr>
            <a:spLocks noGrp="1"/>
          </p:cNvSpPr>
          <p:nvPr>
            <p:ph type="title"/>
          </p:nvPr>
        </p:nvSpPr>
        <p:spPr/>
        <p:txBody>
          <a:bodyPr/>
          <a:lstStyle/>
          <a:p>
            <a:r>
              <a:rPr lang="en-US" noProof="0" dirty="0"/>
              <a:t>Accessibility Content: Text Alternatives for Images</a:t>
            </a:r>
            <a:endParaRPr lang="en-IN" dirty="0"/>
          </a:p>
        </p:txBody>
      </p:sp>
    </p:spTree>
    <p:extLst>
      <p:ext uri="{BB962C8B-B14F-4D97-AF65-F5344CB8AC3E}">
        <p14:creationId xmlns:p14="http://schemas.microsoft.com/office/powerpoint/2010/main" val="2475115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44C2933-9AB3-4B95-A07A-9B3AC82FF331}"/>
              </a:ext>
            </a:extLst>
          </p:cNvPr>
          <p:cNvSpPr>
            <a:spLocks noGrp="1"/>
          </p:cNvSpPr>
          <p:nvPr>
            <p:ph type="title"/>
          </p:nvPr>
        </p:nvSpPr>
        <p:spPr/>
        <p:txBody>
          <a:bodyPr/>
          <a:lstStyle/>
          <a:p>
            <a:r>
              <a:rPr lang="en-US" altLang="en-US" dirty="0"/>
              <a:t>Sexual Reproduction </a:t>
            </a:r>
            <a:br>
              <a:rPr lang="en-US" altLang="en-US" dirty="0"/>
            </a:br>
            <a:r>
              <a:rPr lang="en-US" altLang="en-US" dirty="0"/>
              <a:t>in Flowering Plants</a:t>
            </a:r>
            <a:r>
              <a:rPr lang="en-US" dirty="0"/>
              <a:t> - Text Alternative</a:t>
            </a:r>
            <a:endParaRPr lang="en-IN" dirty="0"/>
          </a:p>
        </p:txBody>
      </p:sp>
      <p:sp>
        <p:nvSpPr>
          <p:cNvPr id="5" name="Text Placeholder 2">
            <a:extLst>
              <a:ext uri="{FF2B5EF4-FFF2-40B4-BE49-F238E27FC236}">
                <a16:creationId xmlns:a16="http://schemas.microsoft.com/office/drawing/2014/main" id="{180637A7-959C-46FA-8053-AB4BA177A1EA}"/>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6" name="Content Placeholder 3">
            <a:extLst>
              <a:ext uri="{FF2B5EF4-FFF2-40B4-BE49-F238E27FC236}">
                <a16:creationId xmlns:a16="http://schemas.microsoft.com/office/drawing/2014/main" id="{EB74C14A-55D6-4118-8DF9-A182DABB7080}"/>
              </a:ext>
            </a:extLst>
          </p:cNvPr>
          <p:cNvSpPr>
            <a:spLocks noGrp="1"/>
          </p:cNvSpPr>
          <p:nvPr>
            <p:ph sz="quarter" idx="21"/>
          </p:nvPr>
        </p:nvSpPr>
        <p:spPr/>
        <p:txBody>
          <a:bodyPr/>
          <a:lstStyle/>
          <a:p>
            <a:r>
              <a:rPr lang="en-US" dirty="0">
                <a:solidFill>
                  <a:srgbClr val="000000"/>
                </a:solidFill>
              </a:rPr>
              <a:t>The sporophyte bears flowers. The flower produces microspores within anthers and megaspores within ovules by meiosis. A megaspore becomes a female gametophyte, which produces an egg within an embryo sac, and a microspore becomes a male gametophyte (pollen grain), which produces sperm. Fertilization results in a zygote. A seed contains an embryo and stored food within a seed coat. After dispersal, a seed becomes a new sporophyte plant.</a:t>
            </a:r>
            <a:r>
              <a:rPr lang="en-US" dirty="0"/>
              <a:t> </a:t>
            </a:r>
          </a:p>
        </p:txBody>
      </p:sp>
      <p:sp>
        <p:nvSpPr>
          <p:cNvPr id="7" name="Text Placeholder 4">
            <a:extLst>
              <a:ext uri="{FF2B5EF4-FFF2-40B4-BE49-F238E27FC236}">
                <a16:creationId xmlns:a16="http://schemas.microsoft.com/office/drawing/2014/main" id="{19F13CA7-A55A-49B3-9604-348B81AE2D88}"/>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3" name="Slide Number Placeholder 5">
            <a:extLst>
              <a:ext uri="{FF2B5EF4-FFF2-40B4-BE49-F238E27FC236}">
                <a16:creationId xmlns:a16="http://schemas.microsoft.com/office/drawing/2014/main" id="{CC239667-E29E-4838-9BC8-1A87FE42C43A}"/>
              </a:ext>
            </a:extLst>
          </p:cNvPr>
          <p:cNvSpPr>
            <a:spLocks noGrp="1"/>
          </p:cNvSpPr>
          <p:nvPr>
            <p:ph type="sldNum" sz="quarter" idx="10"/>
          </p:nvPr>
        </p:nvSpPr>
        <p:spPr/>
        <p:txBody>
          <a:bodyPr/>
          <a:lstStyle/>
          <a:p>
            <a:fld id="{68151E55-6873-49E2-B8D5-2F265E6F1973}" type="slidenum">
              <a:rPr lang="en-US" smtClean="0"/>
              <a:pPr/>
              <a:t>44</a:t>
            </a:fld>
            <a:endParaRPr lang="en-US" dirty="0"/>
          </a:p>
        </p:txBody>
      </p:sp>
    </p:spTree>
    <p:extLst>
      <p:ext uri="{BB962C8B-B14F-4D97-AF65-F5344CB8AC3E}">
        <p14:creationId xmlns:p14="http://schemas.microsoft.com/office/powerpoint/2010/main" val="6519154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68163-1AB0-4F82-8F43-22C7CF1B1C68}"/>
              </a:ext>
            </a:extLst>
          </p:cNvPr>
          <p:cNvSpPr>
            <a:spLocks noGrp="1"/>
          </p:cNvSpPr>
          <p:nvPr>
            <p:ph type="title"/>
          </p:nvPr>
        </p:nvSpPr>
        <p:spPr/>
        <p:txBody>
          <a:bodyPr/>
          <a:lstStyle/>
          <a:p>
            <a:r>
              <a:rPr lang="en-US" altLang="en-US" dirty="0"/>
              <a:t>Monocot Versus Eudicot Flowers</a:t>
            </a:r>
            <a:r>
              <a:rPr lang="en-US" dirty="0"/>
              <a:t> - Text Alternative</a:t>
            </a:r>
            <a:endParaRPr lang="en-IN" dirty="0"/>
          </a:p>
        </p:txBody>
      </p:sp>
      <p:sp>
        <p:nvSpPr>
          <p:cNvPr id="3" name="Text Placeholder 2">
            <a:extLst>
              <a:ext uri="{FF2B5EF4-FFF2-40B4-BE49-F238E27FC236}">
                <a16:creationId xmlns:a16="http://schemas.microsoft.com/office/drawing/2014/main" id="{BB3430E3-5F18-4855-AD6A-8B904B23FD70}"/>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95CF0A66-B20E-4FA9-B490-B485BF124159}"/>
              </a:ext>
            </a:extLst>
          </p:cNvPr>
          <p:cNvSpPr>
            <a:spLocks noGrp="1"/>
          </p:cNvSpPr>
          <p:nvPr>
            <p:ph sz="quarter" idx="21"/>
          </p:nvPr>
        </p:nvSpPr>
        <p:spPr/>
        <p:txBody>
          <a:bodyPr/>
          <a:lstStyle/>
          <a:p>
            <a:r>
              <a:rPr lang="en-US" dirty="0"/>
              <a:t>a) In Daylily, Hemerocallis sp., there are one carpel, one stamen, three petals, and three sepals.</a:t>
            </a:r>
          </a:p>
          <a:p>
            <a:r>
              <a:rPr lang="en-US" dirty="0"/>
              <a:t>b) In Festive azalea, Rhododendron sp., there is one carpel, one stamen, five petals, and no sepals.</a:t>
            </a:r>
            <a:endParaRPr lang="en-IN" dirty="0"/>
          </a:p>
        </p:txBody>
      </p:sp>
      <p:sp>
        <p:nvSpPr>
          <p:cNvPr id="5" name="Text Placeholder 4">
            <a:extLst>
              <a:ext uri="{FF2B5EF4-FFF2-40B4-BE49-F238E27FC236}">
                <a16:creationId xmlns:a16="http://schemas.microsoft.com/office/drawing/2014/main" id="{480DE5F4-DE9B-4937-B09A-A7D5C3FC2104}"/>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F484386A-D743-4D9F-891C-B4739F1DB8FE}"/>
              </a:ext>
            </a:extLst>
          </p:cNvPr>
          <p:cNvSpPr>
            <a:spLocks noGrp="1"/>
          </p:cNvSpPr>
          <p:nvPr>
            <p:ph type="sldNum" sz="quarter" idx="10"/>
          </p:nvPr>
        </p:nvSpPr>
        <p:spPr/>
        <p:txBody>
          <a:bodyPr/>
          <a:lstStyle/>
          <a:p>
            <a:fld id="{68151E55-6873-49E2-B8D5-2F265E6F1973}" type="slidenum">
              <a:rPr lang="en-US" smtClean="0"/>
              <a:t>45</a:t>
            </a:fld>
            <a:endParaRPr lang="en-US" dirty="0"/>
          </a:p>
        </p:txBody>
      </p:sp>
    </p:spTree>
    <p:extLst>
      <p:ext uri="{BB962C8B-B14F-4D97-AF65-F5344CB8AC3E}">
        <p14:creationId xmlns:p14="http://schemas.microsoft.com/office/powerpoint/2010/main" val="17422847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AF569-C0F9-47A8-8838-D996A2588D3B}"/>
              </a:ext>
            </a:extLst>
          </p:cNvPr>
          <p:cNvSpPr>
            <a:spLocks noGrp="1"/>
          </p:cNvSpPr>
          <p:nvPr>
            <p:ph type="title"/>
          </p:nvPr>
        </p:nvSpPr>
        <p:spPr/>
        <p:txBody>
          <a:bodyPr/>
          <a:lstStyle/>
          <a:p>
            <a:r>
              <a:rPr lang="en-US" altLang="en-US" dirty="0"/>
              <a:t>Life Cycle of Flowering Plants</a:t>
            </a:r>
            <a:r>
              <a:rPr lang="en-US" dirty="0"/>
              <a:t> - Text Alternative</a:t>
            </a:r>
            <a:endParaRPr lang="en-IN" dirty="0"/>
          </a:p>
        </p:txBody>
      </p:sp>
      <p:sp>
        <p:nvSpPr>
          <p:cNvPr id="3" name="Text Placeholder 2">
            <a:extLst>
              <a:ext uri="{FF2B5EF4-FFF2-40B4-BE49-F238E27FC236}">
                <a16:creationId xmlns:a16="http://schemas.microsoft.com/office/drawing/2014/main" id="{0C484DB4-3D56-464C-AF9D-9042DB5DD8E2}"/>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13FBF9E8-6191-4701-9544-472D5CD1AED8}"/>
              </a:ext>
            </a:extLst>
          </p:cNvPr>
          <p:cNvSpPr>
            <a:spLocks noGrp="1"/>
          </p:cNvSpPr>
          <p:nvPr>
            <p:ph sz="quarter" idx="21"/>
          </p:nvPr>
        </p:nvSpPr>
        <p:spPr/>
        <p:txBody>
          <a:bodyPr>
            <a:normAutofit fontScale="62500" lnSpcReduction="20000"/>
          </a:bodyPr>
          <a:lstStyle/>
          <a:p>
            <a:r>
              <a:rPr lang="en-US" dirty="0"/>
              <a:t>The cycle from double fertilization to meiosis is as follows: </a:t>
            </a:r>
          </a:p>
          <a:p>
            <a:r>
              <a:rPr lang="en-US" dirty="0"/>
              <a:t>The ovule develops into a seed containing the embryonic sporophyte and endosperm.</a:t>
            </a:r>
          </a:p>
          <a:p>
            <a:r>
              <a:rPr lang="en-US" dirty="0"/>
              <a:t>Seed consists of a seed coat, embryo and endosperm (3n). This leads to maturation of seed leading to mitosis and finally to sporophyte, pollen sac and ovule. </a:t>
            </a:r>
          </a:p>
          <a:p>
            <a:r>
              <a:rPr lang="en-US" dirty="0"/>
              <a:t>The data for development of the male gametophyte and development of the female gametophyte are as follows:</a:t>
            </a:r>
          </a:p>
          <a:p>
            <a:r>
              <a:rPr lang="en-US" dirty="0"/>
              <a:t>In pollen sacs of the anther, a microspore mother cell undergoes meiosis to produce four microspores: In an ovule within an ovary, a megaspore mother cell undergoes meiosis to produce four megaspores.</a:t>
            </a:r>
          </a:p>
          <a:p>
            <a:r>
              <a:rPr lang="en-US" dirty="0"/>
              <a:t>The cycle from meiosis to double fertilization is as follows:  </a:t>
            </a:r>
          </a:p>
          <a:p>
            <a:r>
              <a:rPr lang="en-US" dirty="0"/>
              <a:t>Meiosis leads to leads to megaspores leading to mitosis which lead to embryo sac (mature female gametophyte) finally leading to mature male gametophyte. </a:t>
            </a:r>
          </a:p>
          <a:p>
            <a:r>
              <a:rPr lang="en-US" dirty="0"/>
              <a:t>Development of the sporophyte:</a:t>
            </a:r>
          </a:p>
          <a:p>
            <a:r>
              <a:rPr lang="en-US" dirty="0"/>
              <a:t>Pollination occurs; a pollen grain germinates and produces a pollen tube.</a:t>
            </a:r>
          </a:p>
          <a:p>
            <a:r>
              <a:rPr lang="en-US" dirty="0"/>
              <a:t>This leads to double fertilization. </a:t>
            </a:r>
          </a:p>
          <a:p>
            <a:r>
              <a:rPr lang="en-US" dirty="0"/>
              <a:t>During double fertilization, one sperm from the male gametophyte will fertilize the egg; another sperm will join with polar nuclei to produce the 3n endosperm.</a:t>
            </a:r>
          </a:p>
          <a:p>
            <a:r>
              <a:rPr lang="en-US" dirty="0"/>
              <a:t>Meiosis leads to microspores leading to mitosis.</a:t>
            </a:r>
          </a:p>
          <a:p>
            <a:r>
              <a:rPr lang="en-US" dirty="0"/>
              <a:t>Microspores develop into male gametophytes (pollen grains). One megaspore becomes the embryo sac (female gametophyte).</a:t>
            </a:r>
          </a:p>
          <a:p>
            <a:r>
              <a:rPr lang="en-US" dirty="0"/>
              <a:t>This leads to pollen grain (male gametophyte) leading to pollination which finally leads to mature male gametophyte leading to double fertilization. </a:t>
            </a:r>
          </a:p>
          <a:p>
            <a:r>
              <a:rPr lang="en-US" dirty="0"/>
              <a:t>During double fertilization, one sperm from the male gametophyte will fertilize the egg; another sperm will join with polar nuclei to produce the 3n endosperm.</a:t>
            </a:r>
            <a:endParaRPr lang="en-IN" dirty="0"/>
          </a:p>
        </p:txBody>
      </p:sp>
      <p:sp>
        <p:nvSpPr>
          <p:cNvPr id="5" name="Text Placeholder 4">
            <a:extLst>
              <a:ext uri="{FF2B5EF4-FFF2-40B4-BE49-F238E27FC236}">
                <a16:creationId xmlns:a16="http://schemas.microsoft.com/office/drawing/2014/main" id="{3CF89F5D-283A-43A6-A836-C11C06DC4D1C}"/>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BD2BCB09-86C9-4500-BD91-36B10E3D61CD}"/>
              </a:ext>
            </a:extLst>
          </p:cNvPr>
          <p:cNvSpPr>
            <a:spLocks noGrp="1"/>
          </p:cNvSpPr>
          <p:nvPr>
            <p:ph type="sldNum" sz="quarter" idx="10"/>
          </p:nvPr>
        </p:nvSpPr>
        <p:spPr/>
        <p:txBody>
          <a:bodyPr/>
          <a:lstStyle/>
          <a:p>
            <a:fld id="{68151E55-6873-49E2-B8D5-2F265E6F1973}" type="slidenum">
              <a:rPr lang="en-US" smtClean="0"/>
              <a:t>46</a:t>
            </a:fld>
            <a:endParaRPr lang="en-US" dirty="0"/>
          </a:p>
        </p:txBody>
      </p:sp>
    </p:spTree>
    <p:extLst>
      <p:ext uri="{BB962C8B-B14F-4D97-AF65-F5344CB8AC3E}">
        <p14:creationId xmlns:p14="http://schemas.microsoft.com/office/powerpoint/2010/main" val="36748363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C85B0-38C9-4B92-A2AB-8917553A9B3F}"/>
              </a:ext>
            </a:extLst>
          </p:cNvPr>
          <p:cNvSpPr>
            <a:spLocks noGrp="1"/>
          </p:cNvSpPr>
          <p:nvPr>
            <p:ph type="title"/>
          </p:nvPr>
        </p:nvSpPr>
        <p:spPr/>
        <p:txBody>
          <a:bodyPr/>
          <a:lstStyle/>
          <a:p>
            <a:r>
              <a:rPr lang="en-US" altLang="en-US" dirty="0"/>
              <a:t>Bird and Bat Pollinators</a:t>
            </a:r>
            <a:r>
              <a:rPr lang="en-US" dirty="0"/>
              <a:t> - Text Alternative</a:t>
            </a:r>
            <a:endParaRPr lang="en-IN" dirty="0"/>
          </a:p>
        </p:txBody>
      </p:sp>
      <p:sp>
        <p:nvSpPr>
          <p:cNvPr id="3" name="Text Placeholder 2">
            <a:extLst>
              <a:ext uri="{FF2B5EF4-FFF2-40B4-BE49-F238E27FC236}">
                <a16:creationId xmlns:a16="http://schemas.microsoft.com/office/drawing/2014/main" id="{FABDC362-8B05-419F-9525-76C81DD2D43B}"/>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A0D89A4E-804F-4802-B629-7607BEEA69BB}"/>
              </a:ext>
            </a:extLst>
          </p:cNvPr>
          <p:cNvSpPr>
            <a:spLocks noGrp="1"/>
          </p:cNvSpPr>
          <p:nvPr>
            <p:ph sz="quarter" idx="21"/>
          </p:nvPr>
        </p:nvSpPr>
        <p:spPr/>
        <p:txBody>
          <a:bodyPr/>
          <a:lstStyle/>
          <a:p>
            <a:pPr marL="355600" indent="-355600">
              <a:buAutoNum type="alphaLcPeriod"/>
            </a:pPr>
            <a:r>
              <a:rPr lang="en-US" dirty="0"/>
              <a:t>Hummingbird-pollinated flowers are curved back, allowing the bird to insert its beak to reach the rich supply of nectar. While doing this, the bird’s forehead and other body parts touch the reproductive structures.</a:t>
            </a:r>
          </a:p>
          <a:p>
            <a:pPr marL="355600" indent="-355600">
              <a:buAutoNum type="alphaLcPeriod"/>
            </a:pPr>
            <a:r>
              <a:rPr lang="en-US" dirty="0"/>
              <a:t>Bat-pollinated flowers are large, sturdy flowers that can take rough treatment. Here, the head of the bat is positioned so its bristly tongue can lap up nectar.</a:t>
            </a:r>
          </a:p>
        </p:txBody>
      </p:sp>
      <p:sp>
        <p:nvSpPr>
          <p:cNvPr id="5" name="Text Placeholder 4">
            <a:extLst>
              <a:ext uri="{FF2B5EF4-FFF2-40B4-BE49-F238E27FC236}">
                <a16:creationId xmlns:a16="http://schemas.microsoft.com/office/drawing/2014/main" id="{58CB9032-823B-475C-86F4-38E05B7ACAFF}"/>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9F2FB229-EAEB-469B-9402-9C390267A327}"/>
              </a:ext>
            </a:extLst>
          </p:cNvPr>
          <p:cNvSpPr>
            <a:spLocks noGrp="1"/>
          </p:cNvSpPr>
          <p:nvPr>
            <p:ph type="sldNum" sz="quarter" idx="10"/>
          </p:nvPr>
        </p:nvSpPr>
        <p:spPr/>
        <p:txBody>
          <a:bodyPr/>
          <a:lstStyle/>
          <a:p>
            <a:fld id="{68151E55-6873-49E2-B8D5-2F265E6F1973}" type="slidenum">
              <a:rPr lang="en-US" smtClean="0"/>
              <a:t>47</a:t>
            </a:fld>
            <a:endParaRPr lang="en-US" dirty="0"/>
          </a:p>
        </p:txBody>
      </p:sp>
    </p:spTree>
    <p:extLst>
      <p:ext uri="{BB962C8B-B14F-4D97-AF65-F5344CB8AC3E}">
        <p14:creationId xmlns:p14="http://schemas.microsoft.com/office/powerpoint/2010/main" val="17519654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B1CAB-279B-4EDC-B0CE-BFB9D15FB98F}"/>
              </a:ext>
            </a:extLst>
          </p:cNvPr>
          <p:cNvSpPr>
            <a:spLocks noGrp="1"/>
          </p:cNvSpPr>
          <p:nvPr>
            <p:ph type="title"/>
          </p:nvPr>
        </p:nvSpPr>
        <p:spPr/>
        <p:txBody>
          <a:bodyPr/>
          <a:lstStyle/>
          <a:p>
            <a:r>
              <a:rPr lang="en-US" altLang="en-US" dirty="0"/>
              <a:t>Methods of Fruit and Seed Dispersal</a:t>
            </a:r>
            <a:r>
              <a:rPr lang="en-US" dirty="0"/>
              <a:t> - Text Alternative</a:t>
            </a:r>
            <a:r>
              <a:rPr lang="en-US" altLang="en-US" dirty="0"/>
              <a:t> </a:t>
            </a:r>
            <a:endParaRPr lang="en-IN" dirty="0"/>
          </a:p>
        </p:txBody>
      </p:sp>
      <p:sp>
        <p:nvSpPr>
          <p:cNvPr id="3" name="Text Placeholder 2">
            <a:extLst>
              <a:ext uri="{FF2B5EF4-FFF2-40B4-BE49-F238E27FC236}">
                <a16:creationId xmlns:a16="http://schemas.microsoft.com/office/drawing/2014/main" id="{8D208CC5-900D-4EFC-9054-A1D8E94C1E5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0EC131CE-F76D-4FA7-9F04-EC8867C06E97}"/>
              </a:ext>
            </a:extLst>
          </p:cNvPr>
          <p:cNvSpPr>
            <a:spLocks noGrp="1"/>
          </p:cNvSpPr>
          <p:nvPr>
            <p:ph sz="quarter" idx="21"/>
          </p:nvPr>
        </p:nvSpPr>
        <p:spPr/>
        <p:txBody>
          <a:bodyPr/>
          <a:lstStyle/>
          <a:p>
            <a:r>
              <a:rPr lang="en-US" dirty="0"/>
              <a:t>They are:</a:t>
            </a:r>
          </a:p>
          <a:p>
            <a:r>
              <a:rPr lang="en-US" dirty="0"/>
              <a:t>1. Dandelion fruits float away on air currents. </a:t>
            </a:r>
          </a:p>
          <a:p>
            <a:r>
              <a:rPr lang="en-US" dirty="0"/>
              <a:t>2. A bird eating fleshy fruits. </a:t>
            </a:r>
          </a:p>
          <a:p>
            <a:r>
              <a:rPr lang="en-US" dirty="0"/>
              <a:t>3. Burdock, a dry fruit, </a:t>
            </a:r>
            <a:r>
              <a:rPr lang="en-US" dirty="0" err="1"/>
              <a:t>clinged</a:t>
            </a:r>
            <a:r>
              <a:rPr lang="en-US" dirty="0"/>
              <a:t> to the fur of a dog. </a:t>
            </a:r>
          </a:p>
          <a:p>
            <a:r>
              <a:rPr lang="en-US" dirty="0"/>
              <a:t>4. A split open dry pod, forcibly ejecting its seeds.</a:t>
            </a:r>
            <a:endParaRPr lang="en-IN" dirty="0"/>
          </a:p>
        </p:txBody>
      </p:sp>
      <p:sp>
        <p:nvSpPr>
          <p:cNvPr id="5" name="Text Placeholder 4">
            <a:extLst>
              <a:ext uri="{FF2B5EF4-FFF2-40B4-BE49-F238E27FC236}">
                <a16:creationId xmlns:a16="http://schemas.microsoft.com/office/drawing/2014/main" id="{9F5905EE-9719-4F05-B81E-0BA1770F0F18}"/>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60E76DA1-88AE-4D84-98EF-1D05EA17064E}"/>
              </a:ext>
            </a:extLst>
          </p:cNvPr>
          <p:cNvSpPr>
            <a:spLocks noGrp="1"/>
          </p:cNvSpPr>
          <p:nvPr>
            <p:ph type="sldNum" sz="quarter" idx="10"/>
          </p:nvPr>
        </p:nvSpPr>
        <p:spPr/>
        <p:txBody>
          <a:bodyPr/>
          <a:lstStyle/>
          <a:p>
            <a:fld id="{68151E55-6873-49E2-B8D5-2F265E6F1973}" type="slidenum">
              <a:rPr lang="en-US" smtClean="0"/>
              <a:t>48</a:t>
            </a:fld>
            <a:endParaRPr lang="en-US" dirty="0"/>
          </a:p>
        </p:txBody>
      </p:sp>
    </p:spTree>
    <p:extLst>
      <p:ext uri="{BB962C8B-B14F-4D97-AF65-F5344CB8AC3E}">
        <p14:creationId xmlns:p14="http://schemas.microsoft.com/office/powerpoint/2010/main" val="26486621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C77DA-EFAD-4F2E-8E50-94418F3436A8}"/>
              </a:ext>
            </a:extLst>
          </p:cNvPr>
          <p:cNvSpPr>
            <a:spLocks noGrp="1"/>
          </p:cNvSpPr>
          <p:nvPr>
            <p:ph type="title"/>
          </p:nvPr>
        </p:nvSpPr>
        <p:spPr/>
        <p:txBody>
          <a:bodyPr/>
          <a:lstStyle/>
          <a:p>
            <a:r>
              <a:rPr lang="en-US" altLang="en-US" dirty="0"/>
              <a:t>Development of a Eudicot Embryo </a:t>
            </a:r>
            <a:r>
              <a:rPr lang="en-US" altLang="en-US" sz="1400" dirty="0"/>
              <a:t>1</a:t>
            </a:r>
            <a:r>
              <a:rPr lang="en-US" dirty="0"/>
              <a:t> - Text Alternative</a:t>
            </a:r>
            <a:endParaRPr lang="en-IN" dirty="0"/>
          </a:p>
        </p:txBody>
      </p:sp>
      <p:sp>
        <p:nvSpPr>
          <p:cNvPr id="3" name="Text Placeholder 2">
            <a:extLst>
              <a:ext uri="{FF2B5EF4-FFF2-40B4-BE49-F238E27FC236}">
                <a16:creationId xmlns:a16="http://schemas.microsoft.com/office/drawing/2014/main" id="{33DEDDD5-8EB4-44F1-A9E8-9810016F1C29}"/>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92DB97E5-E43D-4731-B259-A7785D0C87C8}"/>
              </a:ext>
            </a:extLst>
          </p:cNvPr>
          <p:cNvSpPr>
            <a:spLocks noGrp="1"/>
          </p:cNvSpPr>
          <p:nvPr>
            <p:ph sz="quarter" idx="21"/>
          </p:nvPr>
        </p:nvSpPr>
        <p:spPr/>
        <p:txBody>
          <a:bodyPr/>
          <a:lstStyle/>
          <a:p>
            <a:r>
              <a:rPr lang="en-IN" dirty="0"/>
              <a:t>Zygote stage: </a:t>
            </a:r>
          </a:p>
          <a:p>
            <a:r>
              <a:rPr lang="en-IN" dirty="0"/>
              <a:t>Diagram shows an ovular zygote and irregularly circular endosperm nucleus.</a:t>
            </a:r>
          </a:p>
          <a:p>
            <a:r>
              <a:rPr lang="en-IN" dirty="0"/>
              <a:t>Double fertilization results in zygote (true green) and endosperm.</a:t>
            </a:r>
          </a:p>
          <a:p>
            <a:r>
              <a:rPr lang="en-IN" dirty="0" err="1"/>
              <a:t>Proembryo</a:t>
            </a:r>
            <a:r>
              <a:rPr lang="en-IN" dirty="0"/>
              <a:t> stage:</a:t>
            </a:r>
          </a:p>
          <a:p>
            <a:r>
              <a:rPr lang="en-IN" dirty="0"/>
              <a:t>Diagram shows an ovular basal cell, segmented suspensor, embryo and endosperm.</a:t>
            </a:r>
          </a:p>
          <a:p>
            <a:r>
              <a:rPr lang="en-IN" dirty="0"/>
              <a:t>Embryo (green) is multicellular and the suspensor (purple) is functional.</a:t>
            </a:r>
          </a:p>
        </p:txBody>
      </p:sp>
      <p:sp>
        <p:nvSpPr>
          <p:cNvPr id="5" name="Text Placeholder 4">
            <a:extLst>
              <a:ext uri="{FF2B5EF4-FFF2-40B4-BE49-F238E27FC236}">
                <a16:creationId xmlns:a16="http://schemas.microsoft.com/office/drawing/2014/main" id="{A1E8419C-9223-4AB1-8E6E-D9905F1DEFA2}"/>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CC98DCEE-D87A-4BA5-9158-B1B42E3F9B05}"/>
              </a:ext>
            </a:extLst>
          </p:cNvPr>
          <p:cNvSpPr>
            <a:spLocks noGrp="1"/>
          </p:cNvSpPr>
          <p:nvPr>
            <p:ph type="sldNum" sz="quarter" idx="10"/>
          </p:nvPr>
        </p:nvSpPr>
        <p:spPr/>
        <p:txBody>
          <a:bodyPr/>
          <a:lstStyle/>
          <a:p>
            <a:fld id="{68151E55-6873-49E2-B8D5-2F265E6F1973}" type="slidenum">
              <a:rPr lang="en-US" smtClean="0"/>
              <a:t>49</a:t>
            </a:fld>
            <a:endParaRPr lang="en-US" dirty="0"/>
          </a:p>
        </p:txBody>
      </p:sp>
    </p:spTree>
    <p:extLst>
      <p:ext uri="{BB962C8B-B14F-4D97-AF65-F5344CB8AC3E}">
        <p14:creationId xmlns:p14="http://schemas.microsoft.com/office/powerpoint/2010/main" val="42712531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DA67D-E7FE-47F5-9A6F-6B39342DC4C1}"/>
              </a:ext>
            </a:extLst>
          </p:cNvPr>
          <p:cNvSpPr>
            <a:spLocks noGrp="1"/>
          </p:cNvSpPr>
          <p:nvPr>
            <p:ph type="title"/>
          </p:nvPr>
        </p:nvSpPr>
        <p:spPr/>
        <p:txBody>
          <a:bodyPr/>
          <a:lstStyle/>
          <a:p>
            <a:r>
              <a:rPr lang="en-US" altLang="en-US" dirty="0"/>
              <a:t>Development of a Eudicot Embryo </a:t>
            </a:r>
            <a:r>
              <a:rPr lang="en-US" altLang="en-US" sz="1600" dirty="0"/>
              <a:t>2</a:t>
            </a:r>
            <a:r>
              <a:rPr lang="en-US" dirty="0"/>
              <a:t> - Text Alternative</a:t>
            </a:r>
            <a:endParaRPr lang="en-IN" dirty="0"/>
          </a:p>
        </p:txBody>
      </p:sp>
      <p:sp>
        <p:nvSpPr>
          <p:cNvPr id="3" name="Text Placeholder 2">
            <a:extLst>
              <a:ext uri="{FF2B5EF4-FFF2-40B4-BE49-F238E27FC236}">
                <a16:creationId xmlns:a16="http://schemas.microsoft.com/office/drawing/2014/main" id="{684814FD-541D-49C2-B95F-06C285C09CCE}"/>
              </a:ext>
            </a:extLst>
          </p:cNvPr>
          <p:cNvSpPr>
            <a:spLocks noGrp="1"/>
          </p:cNvSpPr>
          <p:nvPr>
            <p:ph type="body" sz="quarter" idx="20"/>
          </p:nvPr>
        </p:nvSpPr>
        <p:spPr>
          <a:xfrm>
            <a:off x="703545" y="1338263"/>
            <a:ext cx="7736911" cy="405869"/>
          </a:xfrm>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087FA09C-0294-4EFA-8825-0FD09DA9298D}"/>
              </a:ext>
            </a:extLst>
          </p:cNvPr>
          <p:cNvSpPr>
            <a:spLocks noGrp="1"/>
          </p:cNvSpPr>
          <p:nvPr>
            <p:ph sz="quarter" idx="21"/>
          </p:nvPr>
        </p:nvSpPr>
        <p:spPr/>
        <p:txBody>
          <a:bodyPr>
            <a:normAutofit fontScale="85000" lnSpcReduction="20000"/>
          </a:bodyPr>
          <a:lstStyle/>
          <a:p>
            <a:r>
              <a:rPr lang="en-IN" dirty="0"/>
              <a:t>C) A. thaliana: </a:t>
            </a:r>
          </a:p>
          <a:p>
            <a:r>
              <a:rPr lang="en-IN" dirty="0"/>
              <a:t>Cutaway diagram of seed shows curved and segmented endosperm. </a:t>
            </a:r>
          </a:p>
          <a:p>
            <a:r>
              <a:rPr lang="en-IN" dirty="0"/>
              <a:t>Globular stage:</a:t>
            </a:r>
          </a:p>
          <a:p>
            <a:r>
              <a:rPr lang="en-IN" dirty="0"/>
              <a:t>Embryo is globe shaped.</a:t>
            </a:r>
          </a:p>
          <a:p>
            <a:r>
              <a:rPr lang="en-IN" dirty="0"/>
              <a:t>D) A. thaliana: </a:t>
            </a:r>
          </a:p>
          <a:p>
            <a:r>
              <a:rPr lang="en-IN" dirty="0"/>
              <a:t>Cutaway diagram of seed shows cotyledons appearing.</a:t>
            </a:r>
          </a:p>
          <a:p>
            <a:r>
              <a:rPr lang="en-IN" dirty="0"/>
              <a:t>Heart stage: Embryo is heart shaped.</a:t>
            </a:r>
          </a:p>
          <a:p>
            <a:r>
              <a:rPr lang="en-IN" dirty="0"/>
              <a:t>E) </a:t>
            </a:r>
            <a:r>
              <a:rPr lang="en-IN" dirty="0" err="1"/>
              <a:t>Capsella</a:t>
            </a:r>
            <a:r>
              <a:rPr lang="en-IN" dirty="0"/>
              <a:t>: </a:t>
            </a:r>
          </a:p>
          <a:p>
            <a:r>
              <a:rPr lang="en-IN" dirty="0"/>
              <a:t>Cutaway diagram of seed shows shoot apical meristem, bending cotyledons, endosperm and root apical meristem.</a:t>
            </a:r>
          </a:p>
          <a:p>
            <a:r>
              <a:rPr lang="en-IN" dirty="0"/>
              <a:t>Torpedo stage: Embryo is torpedo shaped; the cotyledons are obvious.</a:t>
            </a:r>
          </a:p>
          <a:p>
            <a:r>
              <a:rPr lang="en-IN" dirty="0"/>
              <a:t>F) </a:t>
            </a:r>
            <a:r>
              <a:rPr lang="en-IN" dirty="0" err="1"/>
              <a:t>Capsella</a:t>
            </a:r>
            <a:r>
              <a:rPr lang="en-IN" dirty="0"/>
              <a:t>: </a:t>
            </a:r>
          </a:p>
          <a:p>
            <a:r>
              <a:rPr lang="en-IN" dirty="0"/>
              <a:t>Cutaway diagram of seed shows hypocotyl (root axis), epicotyl (shoot apical meristem), seed coat, radicle (root apical meristem) and cotyledons. </a:t>
            </a:r>
          </a:p>
          <a:p>
            <a:r>
              <a:rPr lang="en-IN" dirty="0"/>
              <a:t>Mature embryo stage: </a:t>
            </a:r>
          </a:p>
          <a:p>
            <a:r>
              <a:rPr lang="en-IN" dirty="0"/>
              <a:t>The epicotyl will be the shoot system; the hypocotyl will be the root system.</a:t>
            </a:r>
          </a:p>
        </p:txBody>
      </p:sp>
      <p:sp>
        <p:nvSpPr>
          <p:cNvPr id="5" name="Text Placeholder 4">
            <a:extLst>
              <a:ext uri="{FF2B5EF4-FFF2-40B4-BE49-F238E27FC236}">
                <a16:creationId xmlns:a16="http://schemas.microsoft.com/office/drawing/2014/main" id="{8361FAE1-C1B8-478E-8C15-D133A43B1A3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B1467598-E9E0-4BC4-96B1-930D1F3D5DAB}"/>
              </a:ext>
            </a:extLst>
          </p:cNvPr>
          <p:cNvSpPr>
            <a:spLocks noGrp="1"/>
          </p:cNvSpPr>
          <p:nvPr>
            <p:ph type="sldNum" sz="quarter" idx="10"/>
          </p:nvPr>
        </p:nvSpPr>
        <p:spPr/>
        <p:txBody>
          <a:bodyPr/>
          <a:lstStyle/>
          <a:p>
            <a:fld id="{68151E55-6873-49E2-B8D5-2F265E6F1973}" type="slidenum">
              <a:rPr lang="en-US" smtClean="0"/>
              <a:t>50</a:t>
            </a:fld>
            <a:endParaRPr lang="en-US" dirty="0"/>
          </a:p>
        </p:txBody>
      </p:sp>
    </p:spTree>
    <p:extLst>
      <p:ext uri="{BB962C8B-B14F-4D97-AF65-F5344CB8AC3E}">
        <p14:creationId xmlns:p14="http://schemas.microsoft.com/office/powerpoint/2010/main" val="23895289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80C72-A051-4981-8B6C-ADFACDB489C7}"/>
              </a:ext>
            </a:extLst>
          </p:cNvPr>
          <p:cNvSpPr>
            <a:spLocks noGrp="1"/>
          </p:cNvSpPr>
          <p:nvPr>
            <p:ph type="title"/>
          </p:nvPr>
        </p:nvSpPr>
        <p:spPr/>
        <p:txBody>
          <a:bodyPr/>
          <a:lstStyle/>
          <a:p>
            <a:r>
              <a:rPr lang="en-US" dirty="0"/>
              <a:t>Asexual Reproduction Through Tissue Culture - Text Alternative</a:t>
            </a:r>
            <a:endParaRPr lang="en-IN" dirty="0"/>
          </a:p>
        </p:txBody>
      </p:sp>
      <p:sp>
        <p:nvSpPr>
          <p:cNvPr id="3" name="Text Placeholder 2">
            <a:extLst>
              <a:ext uri="{FF2B5EF4-FFF2-40B4-BE49-F238E27FC236}">
                <a16:creationId xmlns:a16="http://schemas.microsoft.com/office/drawing/2014/main" id="{2471D164-CE5C-4F12-ABA4-4DCAD6F6877A}"/>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635E535D-BBF9-41BE-895B-E45D1AEF2456}"/>
              </a:ext>
            </a:extLst>
          </p:cNvPr>
          <p:cNvSpPr>
            <a:spLocks noGrp="1"/>
          </p:cNvSpPr>
          <p:nvPr>
            <p:ph sz="quarter" idx="21"/>
          </p:nvPr>
        </p:nvSpPr>
        <p:spPr/>
        <p:txBody>
          <a:bodyPr/>
          <a:lstStyle/>
          <a:p>
            <a:r>
              <a:rPr lang="en-US" dirty="0"/>
              <a:t>a. A conical flask containing  medium shows a meristem tissue placed on the top. b. From the callus, organogenesis takes place and leaves or roots develop. c. The callus develops into a plantlet. d. Plantlets can be stored in a sterile container.</a:t>
            </a:r>
            <a:endParaRPr lang="en-IN" dirty="0"/>
          </a:p>
        </p:txBody>
      </p:sp>
      <p:sp>
        <p:nvSpPr>
          <p:cNvPr id="5" name="Text Placeholder 4">
            <a:extLst>
              <a:ext uri="{FF2B5EF4-FFF2-40B4-BE49-F238E27FC236}">
                <a16:creationId xmlns:a16="http://schemas.microsoft.com/office/drawing/2014/main" id="{828CCEFE-D818-404D-B44B-E484BD2649E9}"/>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46D809BC-0941-48CE-A5C4-81F3AFE35A7C}"/>
              </a:ext>
            </a:extLst>
          </p:cNvPr>
          <p:cNvSpPr>
            <a:spLocks noGrp="1"/>
          </p:cNvSpPr>
          <p:nvPr>
            <p:ph type="sldNum" sz="quarter" idx="10"/>
          </p:nvPr>
        </p:nvSpPr>
        <p:spPr/>
        <p:txBody>
          <a:bodyPr/>
          <a:lstStyle/>
          <a:p>
            <a:fld id="{68151E55-6873-49E2-B8D5-2F265E6F1973}" type="slidenum">
              <a:rPr lang="en-US" smtClean="0"/>
              <a:t>51</a:t>
            </a:fld>
            <a:endParaRPr lang="en-US" dirty="0"/>
          </a:p>
        </p:txBody>
      </p:sp>
    </p:spTree>
    <p:extLst>
      <p:ext uri="{BB962C8B-B14F-4D97-AF65-F5344CB8AC3E}">
        <p14:creationId xmlns:p14="http://schemas.microsoft.com/office/powerpoint/2010/main" val="15594775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7C2F2-F18D-415E-9A64-98A35FC4C764}"/>
              </a:ext>
            </a:extLst>
          </p:cNvPr>
          <p:cNvSpPr>
            <a:spLocks noGrp="1"/>
          </p:cNvSpPr>
          <p:nvPr>
            <p:ph type="title"/>
          </p:nvPr>
        </p:nvSpPr>
        <p:spPr/>
        <p:txBody>
          <a:bodyPr/>
          <a:lstStyle/>
          <a:p>
            <a:r>
              <a:rPr lang="en-US" altLang="en-US" dirty="0"/>
              <a:t>Monocot Versus Eudicot </a:t>
            </a:r>
            <a:r>
              <a:rPr lang="en-US" dirty="0"/>
              <a:t>- Text Alternative</a:t>
            </a:r>
            <a:endParaRPr lang="en-IN" dirty="0"/>
          </a:p>
        </p:txBody>
      </p:sp>
      <p:sp>
        <p:nvSpPr>
          <p:cNvPr id="3" name="Text Placeholder 2">
            <a:extLst>
              <a:ext uri="{FF2B5EF4-FFF2-40B4-BE49-F238E27FC236}">
                <a16:creationId xmlns:a16="http://schemas.microsoft.com/office/drawing/2014/main" id="{4A8B49C5-9BAC-4277-8C0B-EA5461446F16}"/>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E1C89889-E779-4D01-9F60-AA46C1F19D97}"/>
              </a:ext>
            </a:extLst>
          </p:cNvPr>
          <p:cNvSpPr>
            <a:spLocks noGrp="1"/>
          </p:cNvSpPr>
          <p:nvPr>
            <p:ph sz="quarter" idx="21"/>
          </p:nvPr>
        </p:nvSpPr>
        <p:spPr/>
        <p:txBody>
          <a:bodyPr/>
          <a:lstStyle/>
          <a:p>
            <a:r>
              <a:rPr lang="en-IN" dirty="0"/>
              <a:t>A) A longitudinally sectioned diagram shows a monocot embryo seed coat, leaf-like plumule and hypocotyl, radicle tip and cotyledon. </a:t>
            </a:r>
          </a:p>
          <a:p>
            <a:r>
              <a:rPr lang="en-IN" dirty="0"/>
              <a:t>B) A longitudinally sectioned diagram shows an external pericarp layer, inner endosperm, segments of coleoptile, leaf-like cotyledon, plumule, curved segments of radicle and elongated coleorhiza. </a:t>
            </a:r>
          </a:p>
        </p:txBody>
      </p:sp>
      <p:sp>
        <p:nvSpPr>
          <p:cNvPr id="5" name="Text Placeholder 4">
            <a:extLst>
              <a:ext uri="{FF2B5EF4-FFF2-40B4-BE49-F238E27FC236}">
                <a16:creationId xmlns:a16="http://schemas.microsoft.com/office/drawing/2014/main" id="{B12DD908-8025-48B9-8CC5-1246D4F6B846}"/>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CC47FE98-BBA4-441D-85D4-A07A72EA7CEA}"/>
              </a:ext>
            </a:extLst>
          </p:cNvPr>
          <p:cNvSpPr>
            <a:spLocks noGrp="1"/>
          </p:cNvSpPr>
          <p:nvPr>
            <p:ph type="sldNum" sz="quarter" idx="10"/>
          </p:nvPr>
        </p:nvSpPr>
        <p:spPr/>
        <p:txBody>
          <a:bodyPr/>
          <a:lstStyle/>
          <a:p>
            <a:fld id="{68151E55-6873-49E2-B8D5-2F265E6F1973}" type="slidenum">
              <a:rPr lang="en-US" smtClean="0"/>
              <a:t>52</a:t>
            </a:fld>
            <a:endParaRPr lang="en-US" dirty="0"/>
          </a:p>
        </p:txBody>
      </p:sp>
    </p:spTree>
    <p:extLst>
      <p:ext uri="{BB962C8B-B14F-4D97-AF65-F5344CB8AC3E}">
        <p14:creationId xmlns:p14="http://schemas.microsoft.com/office/powerpoint/2010/main" val="25166982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C70F-B89E-48E0-AFD9-B5AD017CABBD}"/>
              </a:ext>
            </a:extLst>
          </p:cNvPr>
          <p:cNvSpPr>
            <a:spLocks noGrp="1"/>
          </p:cNvSpPr>
          <p:nvPr>
            <p:ph type="title"/>
          </p:nvPr>
        </p:nvSpPr>
        <p:spPr/>
        <p:txBody>
          <a:bodyPr/>
          <a:lstStyle/>
          <a:p>
            <a:r>
              <a:rPr lang="en-US" altLang="en-US" dirty="0"/>
              <a:t>Fruits </a:t>
            </a:r>
            <a:r>
              <a:rPr lang="en-US" dirty="0"/>
              <a:t>- Text Alternative</a:t>
            </a:r>
            <a:endParaRPr lang="en-IN" dirty="0"/>
          </a:p>
        </p:txBody>
      </p:sp>
      <p:sp>
        <p:nvSpPr>
          <p:cNvPr id="3" name="Text Placeholder 2">
            <a:extLst>
              <a:ext uri="{FF2B5EF4-FFF2-40B4-BE49-F238E27FC236}">
                <a16:creationId xmlns:a16="http://schemas.microsoft.com/office/drawing/2014/main" id="{CCBB252C-9EDB-4D15-AF5B-DF7B0E3BBF9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513D060C-2F88-4959-AA60-367D80D0A77A}"/>
              </a:ext>
            </a:extLst>
          </p:cNvPr>
          <p:cNvSpPr>
            <a:spLocks noGrp="1"/>
          </p:cNvSpPr>
          <p:nvPr>
            <p:ph sz="quarter" idx="21"/>
          </p:nvPr>
        </p:nvSpPr>
        <p:spPr/>
        <p:txBody>
          <a:bodyPr/>
          <a:lstStyle/>
          <a:p>
            <a:r>
              <a:rPr lang="en-US" dirty="0"/>
              <a:t>A. a drape is a fleshy fruit with a pit containing a single seed produced from a simple ovary. B. A berry is a fleshy fruit having seeds and pulp produced from a compound ovary. C. a legume is a dry dehiscent fruit produced from a single ovary. D. A samara is a dry indehiscent fruit produced from a simple ovary. E. An aggregate fruit contains many fleshy fruits produced from simple ovaries of the same flower. F. A multiple fruit contains many fused fruits produced from simple ovaries of individual flowers.</a:t>
            </a:r>
            <a:endParaRPr lang="en-IN" dirty="0"/>
          </a:p>
        </p:txBody>
      </p:sp>
      <p:sp>
        <p:nvSpPr>
          <p:cNvPr id="5" name="Text Placeholder 4">
            <a:extLst>
              <a:ext uri="{FF2B5EF4-FFF2-40B4-BE49-F238E27FC236}">
                <a16:creationId xmlns:a16="http://schemas.microsoft.com/office/drawing/2014/main" id="{A7B923D7-FD24-4782-B38E-AABAB81BB9A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D26E0B82-E658-4E01-9659-FAD8F247CF38}"/>
              </a:ext>
            </a:extLst>
          </p:cNvPr>
          <p:cNvSpPr>
            <a:spLocks noGrp="1"/>
          </p:cNvSpPr>
          <p:nvPr>
            <p:ph type="sldNum" sz="quarter" idx="10"/>
          </p:nvPr>
        </p:nvSpPr>
        <p:spPr/>
        <p:txBody>
          <a:bodyPr/>
          <a:lstStyle/>
          <a:p>
            <a:fld id="{68151E55-6873-49E2-B8D5-2F265E6F1973}" type="slidenum">
              <a:rPr lang="en-US" smtClean="0"/>
              <a:t>53</a:t>
            </a:fld>
            <a:endParaRPr lang="en-US" dirty="0"/>
          </a:p>
        </p:txBody>
      </p:sp>
    </p:spTree>
    <p:extLst>
      <p:ext uri="{BB962C8B-B14F-4D97-AF65-F5344CB8AC3E}">
        <p14:creationId xmlns:p14="http://schemas.microsoft.com/office/powerpoint/2010/main" val="15765636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0799-81F1-42D7-BBB9-DDB72A4579F8}"/>
              </a:ext>
            </a:extLst>
          </p:cNvPr>
          <p:cNvSpPr>
            <a:spLocks noGrp="1"/>
          </p:cNvSpPr>
          <p:nvPr>
            <p:ph type="title"/>
          </p:nvPr>
        </p:nvSpPr>
        <p:spPr/>
        <p:txBody>
          <a:bodyPr/>
          <a:lstStyle/>
          <a:p>
            <a:r>
              <a:rPr lang="en-US" altLang="en-US" dirty="0"/>
              <a:t>Eudicot and Monocot Seed Germination</a:t>
            </a:r>
            <a:r>
              <a:rPr lang="en-US" dirty="0"/>
              <a:t> - Text Alternative</a:t>
            </a:r>
            <a:endParaRPr lang="en-IN" dirty="0"/>
          </a:p>
        </p:txBody>
      </p:sp>
      <p:sp>
        <p:nvSpPr>
          <p:cNvPr id="3" name="Text Placeholder 2">
            <a:extLst>
              <a:ext uri="{FF2B5EF4-FFF2-40B4-BE49-F238E27FC236}">
                <a16:creationId xmlns:a16="http://schemas.microsoft.com/office/drawing/2014/main" id="{54ACB575-86FA-4BA6-99DB-9B02282400A5}"/>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US" dirty="0"/>
          </a:p>
        </p:txBody>
      </p:sp>
      <p:sp>
        <p:nvSpPr>
          <p:cNvPr id="4" name="Content Placeholder 3">
            <a:extLst>
              <a:ext uri="{FF2B5EF4-FFF2-40B4-BE49-F238E27FC236}">
                <a16:creationId xmlns:a16="http://schemas.microsoft.com/office/drawing/2014/main" id="{7396041C-7A56-4563-A966-27B40B9AF931}"/>
              </a:ext>
            </a:extLst>
          </p:cNvPr>
          <p:cNvSpPr>
            <a:spLocks noGrp="1"/>
          </p:cNvSpPr>
          <p:nvPr>
            <p:ph sz="quarter" idx="21"/>
          </p:nvPr>
        </p:nvSpPr>
        <p:spPr/>
        <p:txBody>
          <a:bodyPr>
            <a:normAutofit fontScale="92500" lnSpcReduction="20000"/>
          </a:bodyPr>
          <a:lstStyle/>
          <a:p>
            <a:r>
              <a:rPr lang="en-US" dirty="0"/>
              <a:t>A) Bean seed (with two cotyledons): </a:t>
            </a:r>
          </a:p>
          <a:p>
            <a:r>
              <a:rPr lang="en-US" dirty="0"/>
              <a:t>Diagram shows leaf shaped plumule and hypocotyl, radicle, external seed coat and internal cotyledon.</a:t>
            </a:r>
          </a:p>
          <a:p>
            <a:r>
              <a:rPr lang="en-US" dirty="0"/>
              <a:t>It shows four stages of bean germination and growth: </a:t>
            </a:r>
          </a:p>
          <a:p>
            <a:r>
              <a:rPr lang="en-US" dirty="0"/>
              <a:t>1. Seed coat appears. </a:t>
            </a:r>
          </a:p>
          <a:p>
            <a:r>
              <a:rPr lang="en-US" dirty="0"/>
              <a:t>2. Hypocotyl and primary root appears. </a:t>
            </a:r>
          </a:p>
          <a:p>
            <a:r>
              <a:rPr lang="en-US" dirty="0"/>
              <a:t>3. First true leaves (primary leaves) and cotyledons (two) appears.</a:t>
            </a:r>
          </a:p>
          <a:p>
            <a:r>
              <a:rPr lang="en-US" dirty="0"/>
              <a:t>4. Epicotyl withered cotyledons, hypocotyl, secondary root and primary root appears. </a:t>
            </a:r>
          </a:p>
          <a:p>
            <a:r>
              <a:rPr lang="en-US" dirty="0"/>
              <a:t>B) Corn seed (with first leaf, coleoptile and primary root): </a:t>
            </a:r>
          </a:p>
          <a:p>
            <a:r>
              <a:rPr lang="en-US" dirty="0"/>
              <a:t>Diagram shows an external pericarp layer, inner endosperm, inside a seed coat, one cotyledon with segments of coleoptile, plumule, curved segments of radicle and elongated coleorhiza.  </a:t>
            </a:r>
          </a:p>
          <a:p>
            <a:r>
              <a:rPr lang="en-US" dirty="0"/>
              <a:t>It shows three stages of corn germination and growth: </a:t>
            </a:r>
          </a:p>
          <a:p>
            <a:r>
              <a:rPr lang="en-US" dirty="0"/>
              <a:t>1. Coleoptile, radicle and coleorhiza appears.</a:t>
            </a:r>
          </a:p>
          <a:p>
            <a:r>
              <a:rPr lang="en-US" dirty="0"/>
              <a:t>2. First leaf, coleoptile, adventitious root and primary root appears.</a:t>
            </a:r>
          </a:p>
          <a:p>
            <a:r>
              <a:rPr lang="en-US" dirty="0"/>
              <a:t>3. True leaf, prop root and primary root appears. </a:t>
            </a:r>
            <a:endParaRPr lang="en-IN" dirty="0"/>
          </a:p>
        </p:txBody>
      </p:sp>
      <p:sp>
        <p:nvSpPr>
          <p:cNvPr id="5" name="Text Placeholder 4">
            <a:extLst>
              <a:ext uri="{FF2B5EF4-FFF2-40B4-BE49-F238E27FC236}">
                <a16:creationId xmlns:a16="http://schemas.microsoft.com/office/drawing/2014/main" id="{37012BA2-CDF4-4A41-A64D-E36D0B8D9256}"/>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US" dirty="0"/>
          </a:p>
        </p:txBody>
      </p:sp>
      <p:sp>
        <p:nvSpPr>
          <p:cNvPr id="6" name="Slide Number Placeholder 5">
            <a:extLst>
              <a:ext uri="{FF2B5EF4-FFF2-40B4-BE49-F238E27FC236}">
                <a16:creationId xmlns:a16="http://schemas.microsoft.com/office/drawing/2014/main" id="{8D9C1C28-1D14-43CE-98D1-57104DFAC8D1}"/>
              </a:ext>
            </a:extLst>
          </p:cNvPr>
          <p:cNvSpPr>
            <a:spLocks noGrp="1"/>
          </p:cNvSpPr>
          <p:nvPr>
            <p:ph type="sldNum" sz="quarter" idx="10"/>
          </p:nvPr>
        </p:nvSpPr>
        <p:spPr/>
        <p:txBody>
          <a:bodyPr/>
          <a:lstStyle/>
          <a:p>
            <a:fld id="{68151E55-6873-49E2-B8D5-2F265E6F1973}" type="slidenum">
              <a:rPr lang="en-US" smtClean="0"/>
              <a:t>54</a:t>
            </a:fld>
            <a:endParaRPr lang="en-US" dirty="0"/>
          </a:p>
        </p:txBody>
      </p:sp>
    </p:spTree>
    <p:extLst>
      <p:ext uri="{BB962C8B-B14F-4D97-AF65-F5344CB8AC3E}">
        <p14:creationId xmlns:p14="http://schemas.microsoft.com/office/powerpoint/2010/main" val="623989017"/>
      </p:ext>
    </p:extLst>
  </p:cSld>
  <p:clrMapOvr>
    <a:masterClrMapping/>
  </p:clrMapOvr>
</p:sld>
</file>

<file path=ppt/theme/theme1.xml><?xml version="1.0" encoding="utf-8"?>
<a:theme xmlns:a="http://schemas.openxmlformats.org/drawingml/2006/main" name="CHAPTER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2.xml><?xml version="1.0" encoding="utf-8"?>
<a:theme xmlns:a="http://schemas.openxmlformats.org/drawingml/2006/main" name="Body_Slid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3.xml><?xml version="1.0" encoding="utf-8"?>
<a:theme xmlns:a="http://schemas.openxmlformats.org/drawingml/2006/main" name="CHAPTER CLOSING">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4.xml><?xml version="1.0" encoding="utf-8"?>
<a:theme xmlns:a="http://schemas.openxmlformats.org/drawingml/2006/main" name="GLOSSARY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5.xml><?xml version="1.0" encoding="utf-8"?>
<a:theme xmlns:a="http://schemas.openxmlformats.org/drawingml/2006/main" name="GLOSSARY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6.xml><?xml version="1.0" encoding="utf-8"?>
<a:theme xmlns:a="http://schemas.openxmlformats.org/drawingml/2006/main" name="APPENDIX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7.xml><?xml version="1.0" encoding="utf-8"?>
<a:theme xmlns:a="http://schemas.openxmlformats.org/drawingml/2006/main" name="APPENDIX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8.xml><?xml version="1.0" encoding="utf-8"?>
<a:theme xmlns:a="http://schemas.openxmlformats.org/drawingml/2006/main" name="APPENDIX TITLE SUBTITL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283</TotalTime>
  <Words>3465</Words>
  <Application>Microsoft Office PowerPoint</Application>
  <PresentationFormat>On-screen Show (4:3)</PresentationFormat>
  <Paragraphs>392</Paragraphs>
  <Slides>54</Slides>
  <Notes>1</Notes>
  <HiddenSlides>12</HiddenSlides>
  <MMClips>0</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54</vt:i4>
      </vt:variant>
    </vt:vector>
  </HeadingPairs>
  <TitlesOfParts>
    <vt:vector size="69" baseType="lpstr">
      <vt:lpstr>Arial</vt:lpstr>
      <vt:lpstr>Arial (Body)</vt:lpstr>
      <vt:lpstr>Arial (Headings)</vt:lpstr>
      <vt:lpstr>Calibri</vt:lpstr>
      <vt:lpstr>Calibri (Body)</vt:lpstr>
      <vt:lpstr>Calibri (Headings)</vt:lpstr>
      <vt:lpstr>Symbol</vt:lpstr>
      <vt:lpstr>CHAPTER OPENER</vt:lpstr>
      <vt:lpstr>Body_Slide</vt:lpstr>
      <vt:lpstr>CHAPTER CLOSING</vt:lpstr>
      <vt:lpstr>GLOSSARY OPENER</vt:lpstr>
      <vt:lpstr>GLOSSARY CONTENT</vt:lpstr>
      <vt:lpstr>APPENDIX OPENER</vt:lpstr>
      <vt:lpstr>APPENDIX CONTENT</vt:lpstr>
      <vt:lpstr>APPENDIX TITLE SUBTITLE</vt:lpstr>
      <vt:lpstr>Biology</vt:lpstr>
      <vt:lpstr>Outline</vt:lpstr>
      <vt:lpstr>27.1 Sexual Reproductive Strategies</vt:lpstr>
      <vt:lpstr>Sexual Reproduction  in Flowering Plants</vt:lpstr>
      <vt:lpstr>Sexual Reproductive Strategies</vt:lpstr>
      <vt:lpstr>Flowers</vt:lpstr>
      <vt:lpstr>Flower Structure</vt:lpstr>
      <vt:lpstr>Anatomy of a Flower</vt:lpstr>
      <vt:lpstr>Monocot Versus Eudicot Flowers</vt:lpstr>
      <vt:lpstr>Variations in Flower Structure</vt:lpstr>
      <vt:lpstr>Monoecious and Dioecious Plants</vt:lpstr>
      <vt:lpstr>Development of Male Gametophyte</vt:lpstr>
      <vt:lpstr>Life Cycle of Flowering Plants</vt:lpstr>
      <vt:lpstr>Development of Female Gametophyte</vt:lpstr>
      <vt:lpstr>Types of Pollination</vt:lpstr>
      <vt:lpstr>Pollination</vt:lpstr>
      <vt:lpstr>Fertilization</vt:lpstr>
      <vt:lpstr>Insect Pollinators</vt:lpstr>
      <vt:lpstr>Bird and Bat Pollinators</vt:lpstr>
      <vt:lpstr>27.2 Seed Development</vt:lpstr>
      <vt:lpstr>The Heart Stage and Torpedo Stage Embryos</vt:lpstr>
      <vt:lpstr>The Mature Embryo</vt:lpstr>
      <vt:lpstr>Development of a Eudicot Embryo 1</vt:lpstr>
      <vt:lpstr>Development of a Eudicot Embryo 2</vt:lpstr>
      <vt:lpstr>Monocot Versus Eudicot Seeds</vt:lpstr>
      <vt:lpstr>Monocot Versus Eudicot</vt:lpstr>
      <vt:lpstr>27.3 Fruit Types and Seed Dispersal</vt:lpstr>
      <vt:lpstr>Fruit Development</vt:lpstr>
      <vt:lpstr>Fruit Types</vt:lpstr>
      <vt:lpstr>Fruits</vt:lpstr>
      <vt:lpstr>Dispersal of Fruits</vt:lpstr>
      <vt:lpstr>Methods of Fruit and Seed Dispersal </vt:lpstr>
      <vt:lpstr>Seed Germination</vt:lpstr>
      <vt:lpstr>Germination Requirements</vt:lpstr>
      <vt:lpstr>Eudicot and Monocot Seed Germination</vt:lpstr>
      <vt:lpstr>27.4 Asexual Reproductive Strategies</vt:lpstr>
      <vt:lpstr>Asexual Reproduction in Plants</vt:lpstr>
      <vt:lpstr>Tissue Culture of Plants</vt:lpstr>
      <vt:lpstr>Asexual Reproduction Through Tissue Culture</vt:lpstr>
      <vt:lpstr>Tissue Culture and Cell  Suspension Culture</vt:lpstr>
      <vt:lpstr>Tissue Culture for Plant Conservation</vt:lpstr>
      <vt:lpstr>End of main content</vt:lpstr>
      <vt:lpstr>Accessibility Content: Text Alternatives for Images</vt:lpstr>
      <vt:lpstr>Sexual Reproduction  in Flowering Plants - Text Alternative</vt:lpstr>
      <vt:lpstr>Monocot Versus Eudicot Flowers - Text Alternative</vt:lpstr>
      <vt:lpstr>Life Cycle of Flowering Plants - Text Alternative</vt:lpstr>
      <vt:lpstr>Bird and Bat Pollinators - Text Alternative</vt:lpstr>
      <vt:lpstr>Methods of Fruit and Seed Dispersal - Text Alternative </vt:lpstr>
      <vt:lpstr>Development of a Eudicot Embryo 1 - Text Alternative</vt:lpstr>
      <vt:lpstr>Development of a Eudicot Embryo 2 - Text Alternative</vt:lpstr>
      <vt:lpstr>Asexual Reproduction Through Tissue Culture - Text Alternative</vt:lpstr>
      <vt:lpstr>Monocot Versus Eudicot - Text Alternative</vt:lpstr>
      <vt:lpstr>Fruits - Text Alternative</vt:lpstr>
      <vt:lpstr>Eudicot and Monocot Seed Germination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Aman Chaudhary</dc:creator>
  <cp:lastModifiedBy>Ritik Singh</cp:lastModifiedBy>
  <cp:revision>256</cp:revision>
  <dcterms:created xsi:type="dcterms:W3CDTF">2021-02-05T09:33:46Z</dcterms:created>
  <dcterms:modified xsi:type="dcterms:W3CDTF">2021-04-06T11:33:03Z</dcterms:modified>
</cp:coreProperties>
</file>
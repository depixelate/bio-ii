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4.xml" ContentType="application/vnd.openxmlformats-officedocument.theme+xml"/>
  <Override PartName="/ppt/slideLayouts/slideLayout20.xml" ContentType="application/vnd.openxmlformats-officedocument.presentationml.slideLayout+xml"/>
  <Override PartName="/ppt/theme/theme5.xml" ContentType="application/vnd.openxmlformats-officedocument.theme+xml"/>
  <Override PartName="/ppt/slideLayouts/slideLayout21.xml" ContentType="application/vnd.openxmlformats-officedocument.presentationml.slideLayout+xml"/>
  <Override PartName="/ppt/theme/theme6.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7.xml" ContentType="application/vnd.openxmlformats-officedocument.theme+xml"/>
  <Override PartName="/ppt/slideLayouts/slideLayout24.xml" ContentType="application/vnd.openxmlformats-officedocument.presentationml.slideLayout+xml"/>
  <Override PartName="/ppt/theme/theme8.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9.xml" ContentType="application/vnd.openxmlformats-officedocument.theme+xml"/>
  <Override PartName="/ppt/slideLayouts/slideLayout27.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1"/>
    <p:sldMasterId id="2147483706" r:id="rId2"/>
    <p:sldMasterId id="2147483691" r:id="rId3"/>
    <p:sldMasterId id="2147483711" r:id="rId4"/>
    <p:sldMasterId id="2147483718" r:id="rId5"/>
    <p:sldMasterId id="2147483684" r:id="rId6"/>
    <p:sldMasterId id="2147483686" r:id="rId7"/>
    <p:sldMasterId id="2147483720" r:id="rId8"/>
    <p:sldMasterId id="2147483701" r:id="rId9"/>
    <p:sldMasterId id="2147483723" r:id="rId10"/>
  </p:sldMasterIdLst>
  <p:notesMasterIdLst>
    <p:notesMasterId r:id="rId77"/>
  </p:notesMasterIdLst>
  <p:sldIdLst>
    <p:sldId id="270" r:id="rId11"/>
    <p:sldId id="273" r:id="rId12"/>
    <p:sldId id="275" r:id="rId13"/>
    <p:sldId id="459" r:id="rId14"/>
    <p:sldId id="277" r:id="rId15"/>
    <p:sldId id="279" r:id="rId16"/>
    <p:sldId id="386" r:id="rId17"/>
    <p:sldId id="460" r:id="rId18"/>
    <p:sldId id="278" r:id="rId19"/>
    <p:sldId id="461" r:id="rId20"/>
    <p:sldId id="462" r:id="rId21"/>
    <p:sldId id="463" r:id="rId22"/>
    <p:sldId id="387" r:id="rId23"/>
    <p:sldId id="464" r:id="rId24"/>
    <p:sldId id="465" r:id="rId25"/>
    <p:sldId id="466" r:id="rId26"/>
    <p:sldId id="467" r:id="rId27"/>
    <p:sldId id="468" r:id="rId28"/>
    <p:sldId id="469" r:id="rId29"/>
    <p:sldId id="470" r:id="rId30"/>
    <p:sldId id="513" r:id="rId31"/>
    <p:sldId id="472" r:id="rId32"/>
    <p:sldId id="473" r:id="rId33"/>
    <p:sldId id="474" r:id="rId34"/>
    <p:sldId id="475" r:id="rId35"/>
    <p:sldId id="476" r:id="rId36"/>
    <p:sldId id="477" r:id="rId37"/>
    <p:sldId id="478" r:id="rId38"/>
    <p:sldId id="479" r:id="rId39"/>
    <p:sldId id="480" r:id="rId40"/>
    <p:sldId id="481" r:id="rId41"/>
    <p:sldId id="482" r:id="rId42"/>
    <p:sldId id="483" r:id="rId43"/>
    <p:sldId id="484" r:id="rId44"/>
    <p:sldId id="485" r:id="rId45"/>
    <p:sldId id="486" r:id="rId46"/>
    <p:sldId id="487" r:id="rId47"/>
    <p:sldId id="488" r:id="rId48"/>
    <p:sldId id="489" r:id="rId49"/>
    <p:sldId id="490" r:id="rId50"/>
    <p:sldId id="491" r:id="rId51"/>
    <p:sldId id="492" r:id="rId52"/>
    <p:sldId id="493" r:id="rId53"/>
    <p:sldId id="494" r:id="rId54"/>
    <p:sldId id="495" r:id="rId55"/>
    <p:sldId id="496" r:id="rId56"/>
    <p:sldId id="497" r:id="rId57"/>
    <p:sldId id="498" r:id="rId58"/>
    <p:sldId id="260" r:id="rId59"/>
    <p:sldId id="271" r:id="rId60"/>
    <p:sldId id="272" r:id="rId61"/>
    <p:sldId id="349" r:id="rId62"/>
    <p:sldId id="499" r:id="rId63"/>
    <p:sldId id="500" r:id="rId64"/>
    <p:sldId id="501" r:id="rId65"/>
    <p:sldId id="502" r:id="rId66"/>
    <p:sldId id="503" r:id="rId67"/>
    <p:sldId id="504" r:id="rId68"/>
    <p:sldId id="505" r:id="rId69"/>
    <p:sldId id="506" r:id="rId70"/>
    <p:sldId id="507" r:id="rId71"/>
    <p:sldId id="508" r:id="rId72"/>
    <p:sldId id="509" r:id="rId73"/>
    <p:sldId id="510" r:id="rId74"/>
    <p:sldId id="511" r:id="rId75"/>
    <p:sldId id="512" r:id="rId7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270"/>
            <p14:sldId id="273"/>
            <p14:sldId id="275"/>
            <p14:sldId id="459"/>
            <p14:sldId id="277"/>
            <p14:sldId id="279"/>
            <p14:sldId id="386"/>
            <p14:sldId id="460"/>
            <p14:sldId id="278"/>
            <p14:sldId id="461"/>
            <p14:sldId id="462"/>
            <p14:sldId id="463"/>
            <p14:sldId id="387"/>
            <p14:sldId id="464"/>
            <p14:sldId id="465"/>
            <p14:sldId id="466"/>
            <p14:sldId id="467"/>
            <p14:sldId id="468"/>
            <p14:sldId id="469"/>
            <p14:sldId id="470"/>
            <p14:sldId id="513"/>
            <p14:sldId id="472"/>
            <p14:sldId id="473"/>
            <p14:sldId id="474"/>
            <p14:sldId id="475"/>
            <p14:sldId id="476"/>
            <p14:sldId id="477"/>
            <p14:sldId id="478"/>
            <p14:sldId id="479"/>
            <p14:sldId id="480"/>
            <p14:sldId id="481"/>
            <p14:sldId id="482"/>
            <p14:sldId id="483"/>
            <p14:sldId id="484"/>
            <p14:sldId id="485"/>
            <p14:sldId id="486"/>
            <p14:sldId id="487"/>
            <p14:sldId id="488"/>
            <p14:sldId id="489"/>
            <p14:sldId id="490"/>
            <p14:sldId id="491"/>
            <p14:sldId id="492"/>
            <p14:sldId id="493"/>
            <p14:sldId id="494"/>
            <p14:sldId id="495"/>
            <p14:sldId id="496"/>
            <p14:sldId id="497"/>
            <p14:sldId id="498"/>
            <p14:sldId id="260"/>
          </p14:sldIdLst>
        </p14:section>
        <p14:section name="Appendix: Image Descriptions for Unsighted Students" id="{9E859B0B-078E-463E-89A6-21C20DD280C4}">
          <p14:sldIdLst>
            <p14:sldId id="271"/>
            <p14:sldId id="272"/>
            <p14:sldId id="349"/>
            <p14:sldId id="499"/>
            <p14:sldId id="500"/>
            <p14:sldId id="501"/>
            <p14:sldId id="502"/>
            <p14:sldId id="503"/>
            <p14:sldId id="504"/>
            <p14:sldId id="505"/>
            <p14:sldId id="506"/>
            <p14:sldId id="507"/>
            <p14:sldId id="508"/>
            <p14:sldId id="509"/>
            <p14:sldId id="510"/>
            <p14:sldId id="511"/>
            <p14:sldId id="512"/>
          </p14:sldIdLst>
        </p14:section>
      </p14:sectionLst>
    </p:ext>
    <p:ext uri="{EFAFB233-063F-42B5-8137-9DF3F51BA10A}">
      <p15:sldGuideLst xmlns:p15="http://schemas.microsoft.com/office/powerpoint/2012/main">
        <p15:guide id="2" pos="768" userDrawn="1">
          <p15:clr>
            <a:srgbClr val="A4A3A4"/>
          </p15:clr>
        </p15:guide>
        <p15:guide id="3" orient="horz" pos="912" userDrawn="1">
          <p15:clr>
            <a:srgbClr val="A4A3A4"/>
          </p15:clr>
        </p15:guide>
        <p15:guide id="4" pos="56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0F0F"/>
    <a:srgbClr val="0D5294"/>
    <a:srgbClr val="081D48"/>
    <a:srgbClr val="7575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48" autoAdjust="0"/>
    <p:restoredTop sz="91817" autoAdjust="0"/>
  </p:normalViewPr>
  <p:slideViewPr>
    <p:cSldViewPr snapToGrid="0" showGuides="1">
      <p:cViewPr>
        <p:scale>
          <a:sx n="75" d="100"/>
          <a:sy n="75" d="100"/>
        </p:scale>
        <p:origin x="888" y="54"/>
      </p:cViewPr>
      <p:guideLst>
        <p:guide pos="768"/>
        <p:guide orient="horz" pos="912"/>
        <p:guide pos="5640"/>
      </p:guideLst>
    </p:cSldViewPr>
  </p:slideViewPr>
  <p:outlineViewPr>
    <p:cViewPr>
      <p:scale>
        <a:sx n="33" d="100"/>
        <a:sy n="33" d="100"/>
      </p:scale>
      <p:origin x="0" y="-18690"/>
    </p:cViewPr>
  </p:outlineViewPr>
  <p:notesTextViewPr>
    <p:cViewPr>
      <p:scale>
        <a:sx n="3" d="2"/>
        <a:sy n="3" d="2"/>
      </p:scale>
      <p:origin x="0" y="0"/>
    </p:cViewPr>
  </p:notesTextViewPr>
  <p:sorterViewPr>
    <p:cViewPr>
      <p:scale>
        <a:sx n="100" d="100"/>
        <a:sy n="100" d="100"/>
      </p:scale>
      <p:origin x="0" y="0"/>
    </p:cViewPr>
  </p:sorterViewPr>
  <p:gridSpacing cx="347472" cy="347472"/>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42" Type="http://schemas.openxmlformats.org/officeDocument/2006/relationships/slide" Target="slides/slide32.xml"/><Relationship Id="rId47" Type="http://schemas.openxmlformats.org/officeDocument/2006/relationships/slide" Target="slides/slide37.xml"/><Relationship Id="rId63" Type="http://schemas.openxmlformats.org/officeDocument/2006/relationships/slide" Target="slides/slide53.xml"/><Relationship Id="rId68" Type="http://schemas.openxmlformats.org/officeDocument/2006/relationships/slide" Target="slides/slide58.xml"/><Relationship Id="rId16" Type="http://schemas.openxmlformats.org/officeDocument/2006/relationships/slide" Target="slides/slide6.xml"/><Relationship Id="rId11" Type="http://schemas.openxmlformats.org/officeDocument/2006/relationships/slide" Target="slides/slide1.xml"/><Relationship Id="rId32" Type="http://schemas.openxmlformats.org/officeDocument/2006/relationships/slide" Target="slides/slide22.xml"/><Relationship Id="rId37" Type="http://schemas.openxmlformats.org/officeDocument/2006/relationships/slide" Target="slides/slide27.xml"/><Relationship Id="rId53" Type="http://schemas.openxmlformats.org/officeDocument/2006/relationships/slide" Target="slides/slide43.xml"/><Relationship Id="rId58" Type="http://schemas.openxmlformats.org/officeDocument/2006/relationships/slide" Target="slides/slide48.xml"/><Relationship Id="rId74" Type="http://schemas.openxmlformats.org/officeDocument/2006/relationships/slide" Target="slides/slide64.xml"/><Relationship Id="rId79"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slide" Target="slides/slide51.xml"/><Relationship Id="rId82" Type="http://schemas.openxmlformats.org/officeDocument/2006/relationships/tableStyles" Target="tableStyles.xml"/><Relationship Id="rId19" Type="http://schemas.openxmlformats.org/officeDocument/2006/relationships/slide" Target="slides/slide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openxmlformats.org/officeDocument/2006/relationships/slide" Target="slides/slide54.xml"/><Relationship Id="rId69" Type="http://schemas.openxmlformats.org/officeDocument/2006/relationships/slide" Target="slides/slide59.xml"/><Relationship Id="rId77" Type="http://schemas.openxmlformats.org/officeDocument/2006/relationships/notesMaster" Target="notesMasters/notesMaster1.xml"/><Relationship Id="rId8" Type="http://schemas.openxmlformats.org/officeDocument/2006/relationships/slideMaster" Target="slideMasters/slideMaster8.xml"/><Relationship Id="rId51" Type="http://schemas.openxmlformats.org/officeDocument/2006/relationships/slide" Target="slides/slide41.xml"/><Relationship Id="rId72" Type="http://schemas.openxmlformats.org/officeDocument/2006/relationships/slide" Target="slides/slide62.xml"/><Relationship Id="rId80"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slide" Target="slides/slide57.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slide" Target="slides/slide52.xml"/><Relationship Id="rId70" Type="http://schemas.openxmlformats.org/officeDocument/2006/relationships/slide" Target="slides/slide60.xml"/><Relationship Id="rId75" Type="http://schemas.openxmlformats.org/officeDocument/2006/relationships/slide" Target="slides/slide65.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10.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slide" Target="slides/slide63.xml"/><Relationship Id="rId78" Type="http://schemas.openxmlformats.org/officeDocument/2006/relationships/commentAuthors" Target="commentAuthors.xml"/><Relationship Id="rId8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 Id="rId76" Type="http://schemas.openxmlformats.org/officeDocument/2006/relationships/slide" Target="slides/slide66.xml"/><Relationship Id="rId7" Type="http://schemas.openxmlformats.org/officeDocument/2006/relationships/slideMaster" Target="slideMasters/slideMaster7.xml"/><Relationship Id="rId71" Type="http://schemas.openxmlformats.org/officeDocument/2006/relationships/slide" Target="slides/slide61.xml"/><Relationship Id="rId2" Type="http://schemas.openxmlformats.org/officeDocument/2006/relationships/slideMaster" Target="slideMasters/slideMaster2.xml"/><Relationship Id="rId29" Type="http://schemas.openxmlformats.org/officeDocument/2006/relationships/slide" Target="slides/slide19.xml"/><Relationship Id="rId24" Type="http://schemas.openxmlformats.org/officeDocument/2006/relationships/slide" Target="slides/slide14.xml"/><Relationship Id="rId40" Type="http://schemas.openxmlformats.org/officeDocument/2006/relationships/slide" Target="slides/slide30.xml"/><Relationship Id="rId45" Type="http://schemas.openxmlformats.org/officeDocument/2006/relationships/slide" Target="slides/slide35.xml"/><Relationship Id="rId66"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5926CA-D79C-4434-ABC7-4B21612BCECA}" type="datetimeFigureOut">
              <a:rPr lang="en-US" smtClean="0"/>
              <a:t>6/17/2024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35D035-9FF3-45EB-AC7C-30EFE90D17F6}" type="slidenum">
              <a:rPr lang="en-US" smtClean="0"/>
              <a:t>‹#›</a:t>
            </a:fld>
            <a:endParaRPr lang="en-US"/>
          </a:p>
        </p:txBody>
      </p:sp>
    </p:spTree>
    <p:extLst>
      <p:ext uri="{BB962C8B-B14F-4D97-AF65-F5344CB8AC3E}">
        <p14:creationId xmlns:p14="http://schemas.microsoft.com/office/powerpoint/2010/main" val="937271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35D035-9FF3-45EB-AC7C-30EFE90D17F6}" type="slidenum">
              <a:rPr lang="en-US" smtClean="0"/>
              <a:t>1</a:t>
            </a:fld>
            <a:endParaRPr lang="en-US"/>
          </a:p>
        </p:txBody>
      </p:sp>
    </p:spTree>
    <p:extLst>
      <p:ext uri="{BB962C8B-B14F-4D97-AF65-F5344CB8AC3E}">
        <p14:creationId xmlns:p14="http://schemas.microsoft.com/office/powerpoint/2010/main" val="1364226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Figure 25.20</a:t>
            </a:r>
          </a:p>
        </p:txBody>
      </p:sp>
      <p:sp>
        <p:nvSpPr>
          <p:cNvPr id="4" name="Slide Number Placeholder 3"/>
          <p:cNvSpPr>
            <a:spLocks noGrp="1"/>
          </p:cNvSpPr>
          <p:nvPr>
            <p:ph type="sldNum" sz="quarter" idx="5"/>
          </p:nvPr>
        </p:nvSpPr>
        <p:spPr/>
        <p:txBody>
          <a:bodyPr/>
          <a:lstStyle/>
          <a:p>
            <a:fld id="{5635D035-9FF3-45EB-AC7C-30EFE90D17F6}" type="slidenum">
              <a:rPr lang="en-US" smtClean="0"/>
              <a:t>48</a:t>
            </a:fld>
            <a:endParaRPr lang="en-US"/>
          </a:p>
        </p:txBody>
      </p:sp>
    </p:spTree>
    <p:extLst>
      <p:ext uri="{BB962C8B-B14F-4D97-AF65-F5344CB8AC3E}">
        <p14:creationId xmlns:p14="http://schemas.microsoft.com/office/powerpoint/2010/main" val="6810378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solidFill>
              </a:defRPr>
            </a:lvl1pPr>
          </a:lstStyle>
          <a:p>
            <a:pPr defTabSz="457200">
              <a:spcBef>
                <a:spcPct val="20000"/>
              </a:spcBef>
              <a:defRPr/>
            </a:pPr>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solidFill>
                  <a:schemeClr val="tx1"/>
                </a:solidFill>
              </a:defRPr>
            </a:lvl1pPr>
          </a:lstStyle>
          <a:p>
            <a:pPr defTabSz="457200">
              <a:spcBef>
                <a:spcPct val="20000"/>
              </a:spcBef>
              <a:defRPr/>
            </a:pPr>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p:ph type="ftr" sz="quarter" idx="11"/>
          </p:nvPr>
        </p:nvSpPr>
        <p:spPr>
          <a:xfrm>
            <a:off x="0" y="6487064"/>
            <a:ext cx="9144000" cy="370935"/>
          </a:xfrm>
        </p:spPr>
        <p:txBody>
          <a:bodyPr/>
          <a:lstStyle>
            <a:lvl1pPr algn="ctr">
              <a:defRPr>
                <a:solidFill>
                  <a:schemeClr val="tx1"/>
                </a:solidFill>
              </a:defRPr>
            </a:lvl1pPr>
          </a:lstStyle>
          <a:p>
            <a:pPr defTabSz="457200">
              <a:spcBef>
                <a:spcPct val="20000"/>
              </a:spcBef>
              <a:defRPr/>
            </a:pPr>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solidFill>
                  <a:schemeClr val="tx1"/>
                </a:solidFill>
              </a:defRPr>
            </a:lvl1pPr>
          </a:lstStyle>
          <a:p>
            <a:pPr defTabSz="457200">
              <a:spcBef>
                <a:spcPct val="20000"/>
              </a:spcBef>
              <a:defRPr/>
            </a:pPr>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sp>
        <p:nvSpPr>
          <p:cNvPr id="7" name="Title"/>
          <p:cNvSpPr>
            <a:spLocks noGrp="1"/>
          </p:cNvSpPr>
          <p:nvPr>
            <p:ph type="ctrTitle" hasCustomPrompt="1"/>
          </p:nvPr>
        </p:nvSpPr>
        <p:spPr>
          <a:xfrm>
            <a:off x="3630168" y="1316736"/>
            <a:ext cx="5312664" cy="1325880"/>
          </a:xfrm>
          <a:prstGeom prst="rect">
            <a:avLst/>
          </a:prstGeom>
        </p:spPr>
        <p:txBody>
          <a:bodyPr lIns="960120" anchor="ctr">
            <a:noAutofit/>
          </a:bodyPr>
          <a:lstStyle>
            <a:lvl1pPr algn="ctr">
              <a:lnSpc>
                <a:spcPct val="100000"/>
              </a:lnSpc>
              <a:defRPr sz="4000" b="1" i="1">
                <a:solidFill>
                  <a:srgbClr val="DB0F0F"/>
                </a:solidFill>
              </a:defRPr>
            </a:lvl1pPr>
          </a:lstStyle>
          <a:p>
            <a:r>
              <a:rPr lang="en-US" dirty="0"/>
              <a:t>Presentation Title</a:t>
            </a:r>
          </a:p>
        </p:txBody>
      </p:sp>
      <p:sp>
        <p:nvSpPr>
          <p:cNvPr id="5" name="Content Placeholder 2">
            <a:extLst>
              <a:ext uri="{FF2B5EF4-FFF2-40B4-BE49-F238E27FC236}">
                <a16:creationId xmlns:a16="http://schemas.microsoft.com/office/drawing/2014/main" id="{F10DE237-2DA0-59FB-C4B2-D2BE789CF297}"/>
              </a:ext>
            </a:extLst>
          </p:cNvPr>
          <p:cNvSpPr>
            <a:spLocks noGrp="1"/>
          </p:cNvSpPr>
          <p:nvPr>
            <p:ph sz="quarter" idx="13"/>
          </p:nvPr>
        </p:nvSpPr>
        <p:spPr>
          <a:xfrm>
            <a:off x="4937760" y="2514600"/>
            <a:ext cx="3547872" cy="621792"/>
          </a:xfrm>
          <a:prstGeom prst="rect">
            <a:avLst/>
          </a:prstGeom>
        </p:spPr>
        <p:txBody>
          <a:bodyPr anchor="ctr"/>
          <a:lstStyle>
            <a:lvl1pPr algn="ctr">
              <a:defRPr sz="1800" b="1"/>
            </a:lvl1pPr>
          </a:lstStyle>
          <a:p>
            <a:pPr lvl="0"/>
            <a:r>
              <a:rPr lang="en-US" dirty="0"/>
              <a:t>Click to edit Master text styles</a:t>
            </a:r>
          </a:p>
        </p:txBody>
      </p:sp>
      <p:sp>
        <p:nvSpPr>
          <p:cNvPr id="10" name="Subtitle">
            <a:extLst>
              <a:ext uri="{FF2B5EF4-FFF2-40B4-BE49-F238E27FC236}">
                <a16:creationId xmlns:a16="http://schemas.microsoft.com/office/drawing/2014/main" id="{2CF03A60-AD9A-082F-2BD0-DC7E7F1E5B8E}"/>
              </a:ext>
            </a:extLst>
          </p:cNvPr>
          <p:cNvSpPr>
            <a:spLocks noGrp="1"/>
          </p:cNvSpPr>
          <p:nvPr>
            <p:ph sz="quarter" idx="14" hasCustomPrompt="1"/>
          </p:nvPr>
        </p:nvSpPr>
        <p:spPr>
          <a:xfrm>
            <a:off x="4489704" y="3337560"/>
            <a:ext cx="4453128" cy="1828800"/>
          </a:xfrm>
          <a:prstGeom prst="rect">
            <a:avLst/>
          </a:prstGeom>
        </p:spPr>
        <p:txBody>
          <a:bodyPr anchor="ctr"/>
          <a:lstStyle>
            <a:lvl1pPr algn="ctr">
              <a:defRPr sz="2800"/>
            </a:lvl1pPr>
          </a:lstStyle>
          <a:p>
            <a:r>
              <a:rPr lang="en-US" dirty="0"/>
              <a:t>Presentation Subtitle</a:t>
            </a:r>
          </a:p>
        </p:txBody>
      </p:sp>
      <p:sp>
        <p:nvSpPr>
          <p:cNvPr id="12" name="Text Placeholder 4">
            <a:extLst>
              <a:ext uri="{FF2B5EF4-FFF2-40B4-BE49-F238E27FC236}">
                <a16:creationId xmlns:a16="http://schemas.microsoft.com/office/drawing/2014/main" id="{7A98EFF1-BC09-1000-C9E0-32FD629533A1}"/>
              </a:ext>
            </a:extLst>
          </p:cNvPr>
          <p:cNvSpPr>
            <a:spLocks noGrp="1"/>
          </p:cNvSpPr>
          <p:nvPr>
            <p:ph type="body" sz="quarter" idx="15"/>
          </p:nvPr>
        </p:nvSpPr>
        <p:spPr>
          <a:xfrm>
            <a:off x="4489259" y="5358384"/>
            <a:ext cx="4452939" cy="713232"/>
          </a:xfrm>
          <a:prstGeom prst="rect">
            <a:avLst/>
          </a:prstGeom>
        </p:spPr>
        <p:txBody>
          <a:bodyPr anchor="ctr"/>
          <a:lstStyle>
            <a:lvl1pPr algn="ctr">
              <a:defRPr b="1"/>
            </a:lvl1pPr>
          </a:lstStyle>
          <a:p>
            <a:pPr lvl="0"/>
            <a:r>
              <a:rPr lang="en-US" dirty="0"/>
              <a:t>Click to edit Master text styles</a:t>
            </a:r>
          </a:p>
        </p:txBody>
      </p:sp>
      <p:sp>
        <p:nvSpPr>
          <p:cNvPr id="17" name="Text Placeholder 16">
            <a:extLst>
              <a:ext uri="{FF2B5EF4-FFF2-40B4-BE49-F238E27FC236}">
                <a16:creationId xmlns:a16="http://schemas.microsoft.com/office/drawing/2014/main" id="{9A5439C2-B29C-2BE2-9085-89BA9B16D636}"/>
              </a:ext>
            </a:extLst>
          </p:cNvPr>
          <p:cNvSpPr>
            <a:spLocks noGrp="1"/>
          </p:cNvSpPr>
          <p:nvPr>
            <p:ph type="body" sz="quarter" idx="16"/>
          </p:nvPr>
        </p:nvSpPr>
        <p:spPr>
          <a:xfrm>
            <a:off x="3374136" y="6138963"/>
            <a:ext cx="2404872" cy="192024"/>
          </a:xfrm>
          <a:prstGeom prst="rect">
            <a:avLst/>
          </a:prstGeom>
        </p:spPr>
        <p:txBody>
          <a:bodyPr anchor="ctr"/>
          <a:lstStyle>
            <a:lvl1pPr algn="ctr">
              <a:defRPr sz="900"/>
            </a:lvl1pPr>
          </a:lstStyle>
          <a:p>
            <a:pPr lvl="0"/>
            <a:endParaRPr lang="en-US" dirty="0"/>
          </a:p>
        </p:txBody>
      </p:sp>
      <p:sp>
        <p:nvSpPr>
          <p:cNvPr id="18"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367996"/>
            <a:ext cx="9144000" cy="490004"/>
          </a:xfrm>
        </p:spPr>
        <p:txBody>
          <a:bodyPr/>
          <a:lstStyle>
            <a:lvl1pPr algn="ctr">
              <a:defRPr>
                <a:solidFill>
                  <a:schemeClr val="tx1"/>
                </a:solidFill>
              </a:defRPr>
            </a:lvl1pPr>
          </a:lstStyle>
          <a:p>
            <a:pPr defTabSz="457200">
              <a:spcBef>
                <a:spcPct val="20000"/>
              </a:spcBef>
              <a:defRPr/>
            </a:pPr>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662071594"/>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4" name="Appendix Link">
            <a:extLst>
              <a:ext uri="{FF2B5EF4-FFF2-40B4-BE49-F238E27FC236}">
                <a16:creationId xmlns:a16="http://schemas.microsoft.com/office/drawing/2014/main" id="{771D63F7-D0B9-6679-7EA3-952D63EE3182}"/>
              </a:ext>
            </a:extLst>
          </p:cNvPr>
          <p:cNvSpPr>
            <a:spLocks noGrp="1"/>
          </p:cNvSpPr>
          <p:nvPr>
            <p:ph type="body" sz="quarter" idx="15"/>
          </p:nvPr>
        </p:nvSpPr>
        <p:spPr>
          <a:xfrm>
            <a:off x="3374136" y="6327648"/>
            <a:ext cx="2404872" cy="192024"/>
          </a:xfrm>
        </p:spPr>
        <p:txBody>
          <a:bodyPr anchor="ctr">
            <a:noAutofit/>
          </a:bodyPr>
          <a:lstStyle>
            <a:lvl1pPr algn="ctr">
              <a:defRPr sz="900"/>
            </a:lvl1pPr>
            <a:lvl2pPr algn="ctr">
              <a:defRPr sz="900"/>
            </a:lvl2pPr>
            <a:lvl3pPr algn="ctr">
              <a:defRPr sz="900"/>
            </a:lvl3pPr>
            <a:lvl4pPr algn="ctr">
              <a:defRPr sz="900"/>
            </a:lvl4pPr>
            <a:lvl5pPr algn="ctr">
              <a:defRPr sz="900"/>
            </a:lvl5pPr>
          </a:lstStyle>
          <a:p>
            <a:pPr lvl="0"/>
            <a:endParaRPr lang="en-US" dirty="0"/>
          </a:p>
        </p:txBody>
      </p:sp>
      <p:sp>
        <p:nvSpPr>
          <p:cNvPr id="7" name="Image Credit">
            <a:extLst>
              <a:ext uri="{FF2B5EF4-FFF2-40B4-BE49-F238E27FC236}">
                <a16:creationId xmlns:a16="http://schemas.microsoft.com/office/drawing/2014/main" id="{F0FBFCC1-3BF3-7126-0F0F-F70CF232FB6B}"/>
              </a:ext>
            </a:extLst>
          </p:cNvPr>
          <p:cNvSpPr>
            <a:spLocks noGrp="1"/>
          </p:cNvSpPr>
          <p:nvPr>
            <p:ph type="body" sz="quarter" idx="16"/>
          </p:nvPr>
        </p:nvSpPr>
        <p:spPr>
          <a:xfrm>
            <a:off x="1563624" y="6675120"/>
            <a:ext cx="6976872" cy="182880"/>
          </a:xfrm>
        </p:spPr>
        <p:txBody>
          <a:bodyPr anchor="ctr">
            <a:noAutofit/>
          </a:bodyPr>
          <a:lstStyle>
            <a:lvl1pPr algn="r">
              <a:defRPr sz="800"/>
            </a:lvl1pPr>
            <a:lvl2pPr algn="r">
              <a:defRPr sz="800"/>
            </a:lvl2pPr>
            <a:lvl3pPr algn="r">
              <a:defRPr sz="800"/>
            </a:lvl3pPr>
            <a:lvl4pPr algn="r">
              <a:defRPr sz="800"/>
            </a:lvl4pPr>
            <a:lvl5pPr algn="r">
              <a:defRPr sz="800"/>
            </a:lvl5pPr>
          </a:lstStyle>
          <a:p>
            <a:pPr lvl="0"/>
            <a:endParaRPr lang="en-US" dirty="0"/>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7119"/>
            <a:ext cx="355840" cy="180879"/>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9" name="Appendix Link">
            <a:extLst>
              <a:ext uri="{FF2B5EF4-FFF2-40B4-BE49-F238E27FC236}">
                <a16:creationId xmlns:a16="http://schemas.microsoft.com/office/drawing/2014/main" id="{0AB70AB4-F7C2-384F-472C-DDF13099864D}"/>
              </a:ext>
            </a:extLst>
          </p:cNvPr>
          <p:cNvSpPr>
            <a:spLocks noGrp="1"/>
          </p:cNvSpPr>
          <p:nvPr>
            <p:ph type="body" sz="quarter" idx="15"/>
          </p:nvPr>
        </p:nvSpPr>
        <p:spPr>
          <a:xfrm>
            <a:off x="3374136" y="6327648"/>
            <a:ext cx="2404872" cy="192024"/>
          </a:xfrm>
        </p:spPr>
        <p:txBody>
          <a:bodyPr anchor="ctr">
            <a:noAutofit/>
          </a:bodyPr>
          <a:lstStyle>
            <a:lvl1pPr algn="ctr">
              <a:defRPr sz="900"/>
            </a:lvl1pPr>
            <a:lvl2pPr algn="ctr">
              <a:defRPr sz="900"/>
            </a:lvl2pPr>
            <a:lvl3pPr algn="ctr">
              <a:defRPr sz="900"/>
            </a:lvl3pPr>
            <a:lvl4pPr algn="ctr">
              <a:defRPr sz="900"/>
            </a:lvl4pPr>
            <a:lvl5pPr algn="ctr">
              <a:defRPr sz="900"/>
            </a:lvl5pPr>
          </a:lstStyle>
          <a:p>
            <a:pPr lvl="0"/>
            <a:endParaRPr lang="en-US" dirty="0"/>
          </a:p>
        </p:txBody>
      </p:sp>
      <p:sp>
        <p:nvSpPr>
          <p:cNvPr id="11" name="Image Credit">
            <a:extLst>
              <a:ext uri="{FF2B5EF4-FFF2-40B4-BE49-F238E27FC236}">
                <a16:creationId xmlns:a16="http://schemas.microsoft.com/office/drawing/2014/main" id="{BD524BE4-D7F7-5A6D-5FB6-DCA53BFA14DE}"/>
              </a:ext>
            </a:extLst>
          </p:cNvPr>
          <p:cNvSpPr>
            <a:spLocks noGrp="1"/>
          </p:cNvSpPr>
          <p:nvPr>
            <p:ph type="body" sz="quarter" idx="16"/>
          </p:nvPr>
        </p:nvSpPr>
        <p:spPr>
          <a:xfrm>
            <a:off x="1563624" y="6675120"/>
            <a:ext cx="6976872" cy="182880"/>
          </a:xfrm>
        </p:spPr>
        <p:txBody>
          <a:bodyPr anchor="ctr">
            <a:noAutofit/>
          </a:bodyPr>
          <a:lstStyle>
            <a:lvl1pPr algn="r">
              <a:defRPr sz="800"/>
            </a:lvl1pPr>
            <a:lvl2pPr algn="r">
              <a:defRPr sz="800"/>
            </a:lvl2pPr>
            <a:lvl3pPr algn="r">
              <a:defRPr sz="800"/>
            </a:lvl3pPr>
            <a:lvl4pPr algn="r">
              <a:defRPr sz="800"/>
            </a:lvl4pPr>
            <a:lvl5pPr algn="r">
              <a:defRPr sz="800"/>
            </a:lvl5pPr>
          </a:lstStyle>
          <a:p>
            <a:pPr lvl="0"/>
            <a:endParaRPr lang="en-US" dirty="0"/>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80160"/>
            <a:ext cx="4076700" cy="4974336"/>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DF179EFA-E3F2-F855-279F-9703B70912C7}"/>
              </a:ext>
            </a:extLst>
          </p:cNvPr>
          <p:cNvSpPr>
            <a:spLocks noGrp="1"/>
          </p:cNvSpPr>
          <p:nvPr>
            <p:ph type="body" sz="quarter" idx="15"/>
          </p:nvPr>
        </p:nvSpPr>
        <p:spPr>
          <a:xfrm>
            <a:off x="3374136" y="6327648"/>
            <a:ext cx="2404872" cy="192024"/>
          </a:xfrm>
        </p:spPr>
        <p:txBody>
          <a:bodyPr anchor="ctr">
            <a:noAutofit/>
          </a:bodyPr>
          <a:lstStyle>
            <a:lvl1pPr algn="ctr">
              <a:defRPr sz="900"/>
            </a:lvl1pPr>
            <a:lvl2pPr algn="ctr">
              <a:defRPr sz="900"/>
            </a:lvl2pPr>
            <a:lvl3pPr algn="ctr">
              <a:defRPr sz="900"/>
            </a:lvl3pPr>
            <a:lvl4pPr algn="ctr">
              <a:defRPr sz="900"/>
            </a:lvl4pPr>
            <a:lvl5pPr algn="ctr">
              <a:defRPr sz="900"/>
            </a:lvl5pPr>
          </a:lstStyle>
          <a:p>
            <a:pPr lvl="0"/>
            <a:endParaRPr lang="en-US" dirty="0"/>
          </a:p>
        </p:txBody>
      </p:sp>
      <p:sp>
        <p:nvSpPr>
          <p:cNvPr id="9" name="Image Credit">
            <a:extLst>
              <a:ext uri="{FF2B5EF4-FFF2-40B4-BE49-F238E27FC236}">
                <a16:creationId xmlns:a16="http://schemas.microsoft.com/office/drawing/2014/main" id="{648FD8F4-6D8E-E138-4434-1B9674E26E36}"/>
              </a:ext>
            </a:extLst>
          </p:cNvPr>
          <p:cNvSpPr>
            <a:spLocks noGrp="1"/>
          </p:cNvSpPr>
          <p:nvPr>
            <p:ph type="body" sz="quarter" idx="16"/>
          </p:nvPr>
        </p:nvSpPr>
        <p:spPr>
          <a:xfrm>
            <a:off x="1563624" y="6675120"/>
            <a:ext cx="6976872" cy="182880"/>
          </a:xfrm>
        </p:spPr>
        <p:txBody>
          <a:bodyPr anchor="ctr">
            <a:noAutofit/>
          </a:bodyPr>
          <a:lstStyle>
            <a:lvl1pPr algn="r">
              <a:defRPr sz="800"/>
            </a:lvl1pPr>
            <a:lvl2pPr algn="r">
              <a:defRPr sz="800"/>
            </a:lvl2pPr>
            <a:lvl3pPr algn="r">
              <a:defRPr sz="800"/>
            </a:lvl3pPr>
            <a:lvl4pPr algn="r">
              <a:defRPr sz="800"/>
            </a:lvl4pPr>
            <a:lvl5pPr algn="r">
              <a:defRPr sz="800"/>
            </a:lvl5pPr>
          </a:lstStyle>
          <a:p>
            <a:pPr lvl="0"/>
            <a:endParaRPr lang="en-US" dirty="0"/>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80160"/>
            <a:ext cx="2383047" cy="4974336"/>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CC2C8DD4-1C81-9EF5-C73F-FB049A5822A8}"/>
              </a:ext>
            </a:extLst>
          </p:cNvPr>
          <p:cNvSpPr>
            <a:spLocks noGrp="1"/>
          </p:cNvSpPr>
          <p:nvPr>
            <p:ph type="body" sz="quarter" idx="15"/>
          </p:nvPr>
        </p:nvSpPr>
        <p:spPr>
          <a:xfrm>
            <a:off x="3374136" y="6327648"/>
            <a:ext cx="2404872" cy="192024"/>
          </a:xfrm>
        </p:spPr>
        <p:txBody>
          <a:bodyPr anchor="ctr">
            <a:noAutofit/>
          </a:bodyPr>
          <a:lstStyle>
            <a:lvl1pPr algn="ctr">
              <a:defRPr sz="900"/>
            </a:lvl1pPr>
            <a:lvl2pPr algn="ctr">
              <a:defRPr sz="900"/>
            </a:lvl2pPr>
            <a:lvl3pPr algn="ctr">
              <a:defRPr sz="900"/>
            </a:lvl3pPr>
            <a:lvl4pPr algn="ctr">
              <a:defRPr sz="900"/>
            </a:lvl4pPr>
            <a:lvl5pPr algn="ctr">
              <a:defRPr sz="900"/>
            </a:lvl5pPr>
          </a:lstStyle>
          <a:p>
            <a:pPr lvl="0"/>
            <a:endParaRPr lang="en-US" dirty="0"/>
          </a:p>
        </p:txBody>
      </p:sp>
      <p:sp>
        <p:nvSpPr>
          <p:cNvPr id="9" name="Image Credit">
            <a:extLst>
              <a:ext uri="{FF2B5EF4-FFF2-40B4-BE49-F238E27FC236}">
                <a16:creationId xmlns:a16="http://schemas.microsoft.com/office/drawing/2014/main" id="{470F90C6-D503-AB73-A1AC-E9F8F2B7513A}"/>
              </a:ext>
            </a:extLst>
          </p:cNvPr>
          <p:cNvSpPr>
            <a:spLocks noGrp="1"/>
          </p:cNvSpPr>
          <p:nvPr>
            <p:ph type="body" sz="quarter" idx="16"/>
          </p:nvPr>
        </p:nvSpPr>
        <p:spPr>
          <a:xfrm>
            <a:off x="1563624" y="6675120"/>
            <a:ext cx="6976872" cy="182880"/>
          </a:xfrm>
        </p:spPr>
        <p:txBody>
          <a:bodyPr anchor="ctr">
            <a:noAutofit/>
          </a:bodyPr>
          <a:lstStyle>
            <a:lvl1pPr algn="r">
              <a:defRPr sz="800"/>
            </a:lvl1pPr>
            <a:lvl2pPr algn="r">
              <a:defRPr sz="800"/>
            </a:lvl2pPr>
            <a:lvl3pPr algn="r">
              <a:defRPr sz="800"/>
            </a:lvl3pPr>
            <a:lvl4pPr algn="r">
              <a:defRPr sz="800"/>
            </a:lvl4pPr>
            <a:lvl5pPr algn="r">
              <a:defRPr sz="800"/>
            </a:lvl5pPr>
          </a:lstStyle>
          <a:p>
            <a:pPr lvl="0"/>
            <a:endParaRPr lang="en-US" dirty="0"/>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DA8475DF-99E9-4DF0-21EE-DA3DC9E612CD}"/>
              </a:ext>
            </a:extLst>
          </p:cNvPr>
          <p:cNvSpPr>
            <a:spLocks noGrp="1"/>
          </p:cNvSpPr>
          <p:nvPr>
            <p:ph type="body" sz="quarter" idx="16"/>
          </p:nvPr>
        </p:nvSpPr>
        <p:spPr>
          <a:xfrm>
            <a:off x="3374136" y="6327648"/>
            <a:ext cx="2404872" cy="192024"/>
          </a:xfrm>
        </p:spPr>
        <p:txBody>
          <a:bodyPr anchor="ctr">
            <a:noAutofit/>
          </a:bodyPr>
          <a:lstStyle>
            <a:lvl1pPr algn="ctr">
              <a:defRPr sz="900"/>
            </a:lvl1pPr>
            <a:lvl2pPr algn="ctr">
              <a:defRPr sz="900"/>
            </a:lvl2pPr>
            <a:lvl3pPr algn="ctr">
              <a:defRPr sz="900"/>
            </a:lvl3pPr>
            <a:lvl4pPr algn="ctr">
              <a:defRPr sz="900"/>
            </a:lvl4pPr>
            <a:lvl5pPr algn="ctr">
              <a:defRPr sz="900"/>
            </a:lvl5pPr>
          </a:lstStyle>
          <a:p>
            <a:pPr lvl="0"/>
            <a:endParaRPr lang="en-US" dirty="0"/>
          </a:p>
        </p:txBody>
      </p:sp>
      <p:sp>
        <p:nvSpPr>
          <p:cNvPr id="9" name="Image Credit">
            <a:extLst>
              <a:ext uri="{FF2B5EF4-FFF2-40B4-BE49-F238E27FC236}">
                <a16:creationId xmlns:a16="http://schemas.microsoft.com/office/drawing/2014/main" id="{4E2841B1-A0CA-C3E0-4152-91817884E0C3}"/>
              </a:ext>
            </a:extLst>
          </p:cNvPr>
          <p:cNvSpPr>
            <a:spLocks noGrp="1"/>
          </p:cNvSpPr>
          <p:nvPr>
            <p:ph type="body" sz="quarter" idx="17"/>
          </p:nvPr>
        </p:nvSpPr>
        <p:spPr>
          <a:xfrm>
            <a:off x="1563624" y="6675120"/>
            <a:ext cx="6976872" cy="182880"/>
          </a:xfrm>
        </p:spPr>
        <p:txBody>
          <a:bodyPr anchor="ctr">
            <a:noAutofit/>
          </a:bodyPr>
          <a:lstStyle>
            <a:lvl1pPr algn="r">
              <a:defRPr sz="800"/>
            </a:lvl1pPr>
            <a:lvl2pPr algn="r">
              <a:defRPr sz="800"/>
            </a:lvl2pPr>
            <a:lvl3pPr algn="r">
              <a:defRPr sz="800"/>
            </a:lvl3pPr>
            <a:lvl4pPr algn="r">
              <a:defRPr sz="800"/>
            </a:lvl4pPr>
            <a:lvl5pPr algn="r">
              <a:defRPr sz="800"/>
            </a:lvl5pPr>
          </a:lstStyle>
          <a:p>
            <a:pPr lvl="0"/>
            <a:endParaRPr lang="en-US" dirty="0"/>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48799C3C-2531-7B94-067C-F9D0FA83E821}"/>
              </a:ext>
            </a:extLst>
          </p:cNvPr>
          <p:cNvSpPr>
            <a:spLocks noGrp="1"/>
          </p:cNvSpPr>
          <p:nvPr>
            <p:ph type="body" sz="quarter" idx="19"/>
          </p:nvPr>
        </p:nvSpPr>
        <p:spPr>
          <a:xfrm>
            <a:off x="3374136" y="6327648"/>
            <a:ext cx="2404872" cy="192024"/>
          </a:xfrm>
        </p:spPr>
        <p:txBody>
          <a:bodyPr anchor="ctr">
            <a:noAutofit/>
          </a:bodyPr>
          <a:lstStyle>
            <a:lvl1pPr algn="ctr">
              <a:defRPr sz="900"/>
            </a:lvl1pPr>
            <a:lvl2pPr algn="ctr">
              <a:defRPr sz="900"/>
            </a:lvl2pPr>
            <a:lvl3pPr algn="ctr">
              <a:defRPr sz="900"/>
            </a:lvl3pPr>
            <a:lvl4pPr algn="ctr">
              <a:defRPr sz="900"/>
            </a:lvl4pPr>
            <a:lvl5pPr algn="ctr">
              <a:defRPr sz="900"/>
            </a:lvl5pPr>
          </a:lstStyle>
          <a:p>
            <a:pPr lvl="0"/>
            <a:endParaRPr lang="en-US" dirty="0"/>
          </a:p>
        </p:txBody>
      </p:sp>
      <p:sp>
        <p:nvSpPr>
          <p:cNvPr id="9" name="Image Credit">
            <a:extLst>
              <a:ext uri="{FF2B5EF4-FFF2-40B4-BE49-F238E27FC236}">
                <a16:creationId xmlns:a16="http://schemas.microsoft.com/office/drawing/2014/main" id="{6FB07903-1497-4C4D-6C02-42CB7D684816}"/>
              </a:ext>
            </a:extLst>
          </p:cNvPr>
          <p:cNvSpPr>
            <a:spLocks noGrp="1"/>
          </p:cNvSpPr>
          <p:nvPr>
            <p:ph type="body" sz="quarter" idx="20"/>
          </p:nvPr>
        </p:nvSpPr>
        <p:spPr>
          <a:xfrm>
            <a:off x="1563624" y="6675120"/>
            <a:ext cx="6976872" cy="182880"/>
          </a:xfrm>
        </p:spPr>
        <p:txBody>
          <a:bodyPr anchor="ctr">
            <a:noAutofit/>
          </a:bodyPr>
          <a:lstStyle>
            <a:lvl1pPr algn="r">
              <a:defRPr sz="800"/>
            </a:lvl1pPr>
            <a:lvl2pPr algn="r">
              <a:defRPr sz="800"/>
            </a:lvl2pPr>
            <a:lvl3pPr algn="r">
              <a:defRPr sz="800"/>
            </a:lvl3pPr>
            <a:lvl4pPr algn="r">
              <a:defRPr sz="800"/>
            </a:lvl4pPr>
            <a:lvl5pPr algn="r">
              <a:defRPr sz="800"/>
            </a:lvl5pPr>
          </a:lstStyle>
          <a:p>
            <a:pPr lvl="0"/>
            <a:endParaRPr lang="en-US" dirty="0"/>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8288"/>
            <a:ext cx="9144000" cy="923544"/>
          </a:xfrm>
          <a:prstGeom prst="rect">
            <a:avLst/>
          </a:prstGeom>
        </p:spPr>
        <p:txBody>
          <a:bodyPr anchor="ctr">
            <a:no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762000" y="1306513"/>
            <a:ext cx="8039100" cy="4941887"/>
          </a:xfrm>
          <a:prstGeom prst="rect">
            <a:avLst/>
          </a:prstGeom>
        </p:spPr>
        <p:txBody>
          <a:bodyPr/>
          <a:lstStyle>
            <a:lvl1pPr>
              <a:defRPr/>
            </a:lvl1pPr>
            <a:lvl3pPr marL="694944" indent="-347472">
              <a:defRPr/>
            </a:lvl3pPr>
          </a:lstStyle>
          <a:p>
            <a:pPr lvl="0"/>
            <a:r>
              <a:rPr lang="en-US" dirty="0"/>
              <a:t>Slide Content</a:t>
            </a:r>
          </a:p>
          <a:p>
            <a:pPr lvl="1"/>
            <a:r>
              <a:rPr lang="en-US" dirty="0"/>
              <a:t>Second level</a:t>
            </a:r>
          </a:p>
          <a:p>
            <a:pPr lvl="2"/>
            <a:r>
              <a:rPr lang="en-US" dirty="0"/>
              <a:t>Third level</a:t>
            </a:r>
          </a:p>
        </p:txBody>
      </p:sp>
      <p:sp>
        <p:nvSpPr>
          <p:cNvPr id="4" name="Appendix Link">
            <a:extLst>
              <a:ext uri="{FF2B5EF4-FFF2-40B4-BE49-F238E27FC236}">
                <a16:creationId xmlns:a16="http://schemas.microsoft.com/office/drawing/2014/main" id="{771D63F7-D0B9-6679-7EA3-952D63EE3182}"/>
              </a:ext>
            </a:extLst>
          </p:cNvPr>
          <p:cNvSpPr>
            <a:spLocks noGrp="1"/>
          </p:cNvSpPr>
          <p:nvPr>
            <p:ph type="body" sz="quarter" idx="15"/>
          </p:nvPr>
        </p:nvSpPr>
        <p:spPr>
          <a:xfrm>
            <a:off x="3374136" y="6327648"/>
            <a:ext cx="2404872" cy="192024"/>
          </a:xfrm>
        </p:spPr>
        <p:txBody>
          <a:bodyPr anchor="ctr">
            <a:noAutofit/>
          </a:bodyPr>
          <a:lstStyle>
            <a:lvl1pPr algn="ctr">
              <a:defRPr sz="900"/>
            </a:lvl1pPr>
            <a:lvl2pPr algn="ctr">
              <a:defRPr sz="900"/>
            </a:lvl2pPr>
            <a:lvl3pPr algn="ctr">
              <a:defRPr sz="900"/>
            </a:lvl3pPr>
            <a:lvl4pPr algn="ctr">
              <a:defRPr sz="900"/>
            </a:lvl4pPr>
            <a:lvl5pPr algn="ctr">
              <a:defRPr sz="900"/>
            </a:lvl5pPr>
          </a:lstStyle>
          <a:p>
            <a:pPr lvl="0"/>
            <a:endParaRPr lang="en-US" dirty="0"/>
          </a:p>
        </p:txBody>
      </p:sp>
      <p:sp>
        <p:nvSpPr>
          <p:cNvPr id="7" name="Image Credit">
            <a:extLst>
              <a:ext uri="{FF2B5EF4-FFF2-40B4-BE49-F238E27FC236}">
                <a16:creationId xmlns:a16="http://schemas.microsoft.com/office/drawing/2014/main" id="{F0FBFCC1-3BF3-7126-0F0F-F70CF232FB6B}"/>
              </a:ext>
            </a:extLst>
          </p:cNvPr>
          <p:cNvSpPr>
            <a:spLocks noGrp="1"/>
          </p:cNvSpPr>
          <p:nvPr>
            <p:ph type="body" sz="quarter" idx="16"/>
          </p:nvPr>
        </p:nvSpPr>
        <p:spPr>
          <a:xfrm>
            <a:off x="1563624" y="6675120"/>
            <a:ext cx="6976872" cy="182880"/>
          </a:xfrm>
        </p:spPr>
        <p:txBody>
          <a:bodyPr anchor="ctr">
            <a:noAutofit/>
          </a:bodyPr>
          <a:lstStyle>
            <a:lvl1pPr algn="r">
              <a:defRPr sz="800"/>
            </a:lvl1pPr>
            <a:lvl2pPr algn="r">
              <a:defRPr sz="800"/>
            </a:lvl2pPr>
            <a:lvl3pPr algn="r">
              <a:defRPr sz="800"/>
            </a:lvl3pPr>
            <a:lvl4pPr algn="r">
              <a:defRPr sz="800"/>
            </a:lvl4pPr>
            <a:lvl5pPr algn="r">
              <a:defRPr sz="800"/>
            </a:lvl5pPr>
          </a:lstStyle>
          <a:p>
            <a:pPr lvl="0"/>
            <a:endParaRPr lang="en-US" dirty="0"/>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7119"/>
            <a:ext cx="355840" cy="180879"/>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328967910"/>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600" userDrawn="1">
          <p15:clr>
            <a:srgbClr val="FBAE40"/>
          </p15:clr>
        </p15:guide>
        <p15:guide id="4" orient="horz" pos="2136"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8288"/>
            <a:ext cx="9144000" cy="923544"/>
          </a:xfrm>
          <a:prstGeom prst="rect">
            <a:avLst/>
          </a:prstGeom>
        </p:spPr>
        <p:txBody>
          <a:bodyPr anchor="ctr">
            <a:no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762000" y="1306513"/>
            <a:ext cx="8039100" cy="278288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762000" y="4279376"/>
            <a:ext cx="8039100" cy="1969024"/>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9" name="Appendix Link">
            <a:extLst>
              <a:ext uri="{FF2B5EF4-FFF2-40B4-BE49-F238E27FC236}">
                <a16:creationId xmlns:a16="http://schemas.microsoft.com/office/drawing/2014/main" id="{0AB70AB4-F7C2-384F-472C-DDF13099864D}"/>
              </a:ext>
            </a:extLst>
          </p:cNvPr>
          <p:cNvSpPr>
            <a:spLocks noGrp="1"/>
          </p:cNvSpPr>
          <p:nvPr>
            <p:ph type="body" sz="quarter" idx="15"/>
          </p:nvPr>
        </p:nvSpPr>
        <p:spPr>
          <a:xfrm>
            <a:off x="3374136" y="6327648"/>
            <a:ext cx="2404872" cy="192024"/>
          </a:xfrm>
        </p:spPr>
        <p:txBody>
          <a:bodyPr anchor="ctr">
            <a:noAutofit/>
          </a:bodyPr>
          <a:lstStyle>
            <a:lvl1pPr algn="ctr">
              <a:defRPr sz="900"/>
            </a:lvl1pPr>
            <a:lvl2pPr algn="ctr">
              <a:defRPr sz="900"/>
            </a:lvl2pPr>
            <a:lvl3pPr algn="ctr">
              <a:defRPr sz="900"/>
            </a:lvl3pPr>
            <a:lvl4pPr algn="ctr">
              <a:defRPr sz="900"/>
            </a:lvl4pPr>
            <a:lvl5pPr algn="ctr">
              <a:defRPr sz="900"/>
            </a:lvl5pPr>
          </a:lstStyle>
          <a:p>
            <a:pPr lvl="0"/>
            <a:endParaRPr lang="en-US" dirty="0"/>
          </a:p>
        </p:txBody>
      </p:sp>
      <p:sp>
        <p:nvSpPr>
          <p:cNvPr id="11" name="Image Credit">
            <a:extLst>
              <a:ext uri="{FF2B5EF4-FFF2-40B4-BE49-F238E27FC236}">
                <a16:creationId xmlns:a16="http://schemas.microsoft.com/office/drawing/2014/main" id="{BD524BE4-D7F7-5A6D-5FB6-DCA53BFA14DE}"/>
              </a:ext>
            </a:extLst>
          </p:cNvPr>
          <p:cNvSpPr>
            <a:spLocks noGrp="1"/>
          </p:cNvSpPr>
          <p:nvPr>
            <p:ph type="body" sz="quarter" idx="16"/>
          </p:nvPr>
        </p:nvSpPr>
        <p:spPr>
          <a:xfrm>
            <a:off x="1563624" y="6675120"/>
            <a:ext cx="6976872" cy="182880"/>
          </a:xfrm>
        </p:spPr>
        <p:txBody>
          <a:bodyPr anchor="ctr">
            <a:noAutofit/>
          </a:bodyPr>
          <a:lstStyle>
            <a:lvl1pPr algn="r">
              <a:defRPr sz="800"/>
            </a:lvl1pPr>
            <a:lvl2pPr algn="r">
              <a:defRPr sz="800"/>
            </a:lvl2pPr>
            <a:lvl3pPr algn="r">
              <a:defRPr sz="800"/>
            </a:lvl3pPr>
            <a:lvl4pPr algn="r">
              <a:defRPr sz="800"/>
            </a:lvl4pPr>
            <a:lvl5pPr algn="r">
              <a:defRPr sz="800"/>
            </a:lvl5pPr>
          </a:lstStyle>
          <a:p>
            <a:pPr lvl="0"/>
            <a:endParaRPr lang="en-US" dirty="0"/>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22715166"/>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8288"/>
            <a:ext cx="9144000" cy="923544"/>
          </a:xfrm>
          <a:prstGeom prst="rect">
            <a:avLst/>
          </a:prstGeom>
        </p:spPr>
        <p:txBody>
          <a:bodyPr anchor="ctr">
            <a:no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762000" y="1306513"/>
            <a:ext cx="3657600" cy="492918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309987"/>
            <a:ext cx="4076700" cy="4931809"/>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DF179EFA-E3F2-F855-279F-9703B70912C7}"/>
              </a:ext>
            </a:extLst>
          </p:cNvPr>
          <p:cNvSpPr>
            <a:spLocks noGrp="1"/>
          </p:cNvSpPr>
          <p:nvPr>
            <p:ph type="body" sz="quarter" idx="15"/>
          </p:nvPr>
        </p:nvSpPr>
        <p:spPr>
          <a:xfrm>
            <a:off x="3374136" y="6327648"/>
            <a:ext cx="2404872" cy="192024"/>
          </a:xfrm>
        </p:spPr>
        <p:txBody>
          <a:bodyPr anchor="ctr">
            <a:noAutofit/>
          </a:bodyPr>
          <a:lstStyle>
            <a:lvl1pPr algn="ctr">
              <a:defRPr sz="900"/>
            </a:lvl1pPr>
            <a:lvl2pPr algn="ctr">
              <a:defRPr sz="900"/>
            </a:lvl2pPr>
            <a:lvl3pPr algn="ctr">
              <a:defRPr sz="900"/>
            </a:lvl3pPr>
            <a:lvl4pPr algn="ctr">
              <a:defRPr sz="900"/>
            </a:lvl4pPr>
            <a:lvl5pPr algn="ctr">
              <a:defRPr sz="900"/>
            </a:lvl5pPr>
          </a:lstStyle>
          <a:p>
            <a:pPr lvl="0"/>
            <a:endParaRPr lang="en-US" dirty="0"/>
          </a:p>
        </p:txBody>
      </p:sp>
      <p:sp>
        <p:nvSpPr>
          <p:cNvPr id="9" name="Image Credit">
            <a:extLst>
              <a:ext uri="{FF2B5EF4-FFF2-40B4-BE49-F238E27FC236}">
                <a16:creationId xmlns:a16="http://schemas.microsoft.com/office/drawing/2014/main" id="{648FD8F4-6D8E-E138-4434-1B9674E26E36}"/>
              </a:ext>
            </a:extLst>
          </p:cNvPr>
          <p:cNvSpPr>
            <a:spLocks noGrp="1"/>
          </p:cNvSpPr>
          <p:nvPr>
            <p:ph type="body" sz="quarter" idx="16"/>
          </p:nvPr>
        </p:nvSpPr>
        <p:spPr>
          <a:xfrm>
            <a:off x="1563624" y="6675120"/>
            <a:ext cx="6976872" cy="182880"/>
          </a:xfrm>
        </p:spPr>
        <p:txBody>
          <a:bodyPr anchor="ctr">
            <a:noAutofit/>
          </a:bodyPr>
          <a:lstStyle>
            <a:lvl1pPr algn="r">
              <a:defRPr sz="800"/>
            </a:lvl1pPr>
            <a:lvl2pPr algn="r">
              <a:defRPr sz="800"/>
            </a:lvl2pPr>
            <a:lvl3pPr algn="r">
              <a:defRPr sz="800"/>
            </a:lvl3pPr>
            <a:lvl4pPr algn="r">
              <a:defRPr sz="800"/>
            </a:lvl4pPr>
            <a:lvl5pPr algn="r">
              <a:defRPr sz="800"/>
            </a:lvl5pPr>
          </a:lstStyle>
          <a:p>
            <a:pPr lvl="0"/>
            <a:endParaRPr lang="en-US" dirty="0"/>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74695193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8288"/>
            <a:ext cx="9144000" cy="923544"/>
          </a:xfrm>
          <a:prstGeom prst="rect">
            <a:avLst/>
          </a:prstGeom>
        </p:spPr>
        <p:txBody>
          <a:bodyPr anchor="ctr">
            <a:no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762000" y="1306513"/>
            <a:ext cx="5372100" cy="492918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91216" y="1306513"/>
            <a:ext cx="2309883" cy="4935283"/>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CC2C8DD4-1C81-9EF5-C73F-FB049A5822A8}"/>
              </a:ext>
            </a:extLst>
          </p:cNvPr>
          <p:cNvSpPr>
            <a:spLocks noGrp="1"/>
          </p:cNvSpPr>
          <p:nvPr>
            <p:ph type="body" sz="quarter" idx="15"/>
          </p:nvPr>
        </p:nvSpPr>
        <p:spPr>
          <a:xfrm>
            <a:off x="3374136" y="6327648"/>
            <a:ext cx="2404872" cy="192024"/>
          </a:xfrm>
        </p:spPr>
        <p:txBody>
          <a:bodyPr anchor="ctr">
            <a:noAutofit/>
          </a:bodyPr>
          <a:lstStyle>
            <a:lvl1pPr algn="ctr">
              <a:defRPr sz="900"/>
            </a:lvl1pPr>
            <a:lvl2pPr algn="ctr">
              <a:defRPr sz="900"/>
            </a:lvl2pPr>
            <a:lvl3pPr algn="ctr">
              <a:defRPr sz="900"/>
            </a:lvl3pPr>
            <a:lvl4pPr algn="ctr">
              <a:defRPr sz="900"/>
            </a:lvl4pPr>
            <a:lvl5pPr algn="ctr">
              <a:defRPr sz="900"/>
            </a:lvl5pPr>
          </a:lstStyle>
          <a:p>
            <a:pPr lvl="0"/>
            <a:endParaRPr lang="en-US" dirty="0"/>
          </a:p>
        </p:txBody>
      </p:sp>
      <p:sp>
        <p:nvSpPr>
          <p:cNvPr id="9" name="Image Credit">
            <a:extLst>
              <a:ext uri="{FF2B5EF4-FFF2-40B4-BE49-F238E27FC236}">
                <a16:creationId xmlns:a16="http://schemas.microsoft.com/office/drawing/2014/main" id="{470F90C6-D503-AB73-A1AC-E9F8F2B7513A}"/>
              </a:ext>
            </a:extLst>
          </p:cNvPr>
          <p:cNvSpPr>
            <a:spLocks noGrp="1"/>
          </p:cNvSpPr>
          <p:nvPr>
            <p:ph type="body" sz="quarter" idx="16"/>
          </p:nvPr>
        </p:nvSpPr>
        <p:spPr>
          <a:xfrm>
            <a:off x="1563624" y="6675120"/>
            <a:ext cx="6976872" cy="182880"/>
          </a:xfrm>
        </p:spPr>
        <p:txBody>
          <a:bodyPr anchor="ctr">
            <a:noAutofit/>
          </a:bodyPr>
          <a:lstStyle>
            <a:lvl1pPr algn="r">
              <a:defRPr sz="800"/>
            </a:lvl1pPr>
            <a:lvl2pPr algn="r">
              <a:defRPr sz="800"/>
            </a:lvl2pPr>
            <a:lvl3pPr algn="r">
              <a:defRPr sz="800"/>
            </a:lvl3pPr>
            <a:lvl4pPr algn="r">
              <a:defRPr sz="800"/>
            </a:lvl4pPr>
            <a:lvl5pPr algn="r">
              <a:defRPr sz="800"/>
            </a:lvl5pPr>
          </a:lstStyle>
          <a:p>
            <a:pPr lvl="0"/>
            <a:endParaRPr lang="en-US" dirty="0"/>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09615725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8288"/>
            <a:ext cx="9144000" cy="923544"/>
          </a:xfrm>
          <a:prstGeom prst="rect">
            <a:avLst/>
          </a:prstGeom>
        </p:spPr>
        <p:txBody>
          <a:bodyPr anchor="ctr">
            <a:no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762000" y="1306513"/>
            <a:ext cx="8039100" cy="279558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762000" y="4343400"/>
            <a:ext cx="53721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DA8475DF-99E9-4DF0-21EE-DA3DC9E612CD}"/>
              </a:ext>
            </a:extLst>
          </p:cNvPr>
          <p:cNvSpPr>
            <a:spLocks noGrp="1"/>
          </p:cNvSpPr>
          <p:nvPr>
            <p:ph type="body" sz="quarter" idx="16"/>
          </p:nvPr>
        </p:nvSpPr>
        <p:spPr>
          <a:xfrm>
            <a:off x="3374136" y="6327648"/>
            <a:ext cx="2404872" cy="192024"/>
          </a:xfrm>
        </p:spPr>
        <p:txBody>
          <a:bodyPr anchor="ctr">
            <a:noAutofit/>
          </a:bodyPr>
          <a:lstStyle>
            <a:lvl1pPr algn="ctr">
              <a:defRPr sz="900"/>
            </a:lvl1pPr>
            <a:lvl2pPr algn="ctr">
              <a:defRPr sz="900"/>
            </a:lvl2pPr>
            <a:lvl3pPr algn="ctr">
              <a:defRPr sz="900"/>
            </a:lvl3pPr>
            <a:lvl4pPr algn="ctr">
              <a:defRPr sz="900"/>
            </a:lvl4pPr>
            <a:lvl5pPr algn="ctr">
              <a:defRPr sz="900"/>
            </a:lvl5pPr>
          </a:lstStyle>
          <a:p>
            <a:pPr lvl="0"/>
            <a:endParaRPr lang="en-US" dirty="0"/>
          </a:p>
        </p:txBody>
      </p:sp>
      <p:sp>
        <p:nvSpPr>
          <p:cNvPr id="9" name="Image Credit">
            <a:extLst>
              <a:ext uri="{FF2B5EF4-FFF2-40B4-BE49-F238E27FC236}">
                <a16:creationId xmlns:a16="http://schemas.microsoft.com/office/drawing/2014/main" id="{4E2841B1-A0CA-C3E0-4152-91817884E0C3}"/>
              </a:ext>
            </a:extLst>
          </p:cNvPr>
          <p:cNvSpPr>
            <a:spLocks noGrp="1"/>
          </p:cNvSpPr>
          <p:nvPr>
            <p:ph type="body" sz="quarter" idx="17"/>
          </p:nvPr>
        </p:nvSpPr>
        <p:spPr>
          <a:xfrm>
            <a:off x="1563624" y="6675120"/>
            <a:ext cx="6976872" cy="182880"/>
          </a:xfrm>
        </p:spPr>
        <p:txBody>
          <a:bodyPr anchor="ctr">
            <a:noAutofit/>
          </a:bodyPr>
          <a:lstStyle>
            <a:lvl1pPr algn="r">
              <a:defRPr sz="800"/>
            </a:lvl1pPr>
            <a:lvl2pPr algn="r">
              <a:defRPr sz="800"/>
            </a:lvl2pPr>
            <a:lvl3pPr algn="r">
              <a:defRPr sz="800"/>
            </a:lvl3pPr>
            <a:lvl4pPr algn="r">
              <a:defRPr sz="800"/>
            </a:lvl4pPr>
            <a:lvl5pPr algn="r">
              <a:defRPr sz="800"/>
            </a:lvl5pPr>
          </a:lstStyle>
          <a:p>
            <a:pPr lvl="0"/>
            <a:endParaRPr lang="en-US" dirty="0"/>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5298477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8288"/>
            <a:ext cx="9144000" cy="923544"/>
          </a:xfrm>
          <a:prstGeom prst="rect">
            <a:avLst/>
          </a:prstGeom>
        </p:spPr>
        <p:txBody>
          <a:bodyPr anchor="ctr">
            <a:no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762000" y="1306513"/>
            <a:ext cx="8039100" cy="709673"/>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762000" y="2172096"/>
            <a:ext cx="80391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762000" y="2977144"/>
            <a:ext cx="80391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762000" y="3806154"/>
            <a:ext cx="80391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762000" y="4660564"/>
            <a:ext cx="80391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762000" y="5514975"/>
            <a:ext cx="80391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48799C3C-2531-7B94-067C-F9D0FA83E821}"/>
              </a:ext>
            </a:extLst>
          </p:cNvPr>
          <p:cNvSpPr>
            <a:spLocks noGrp="1"/>
          </p:cNvSpPr>
          <p:nvPr>
            <p:ph type="body" sz="quarter" idx="19"/>
          </p:nvPr>
        </p:nvSpPr>
        <p:spPr>
          <a:xfrm>
            <a:off x="3374136" y="6327648"/>
            <a:ext cx="2404872" cy="192024"/>
          </a:xfrm>
        </p:spPr>
        <p:txBody>
          <a:bodyPr anchor="ctr">
            <a:noAutofit/>
          </a:bodyPr>
          <a:lstStyle>
            <a:lvl1pPr algn="ctr">
              <a:defRPr sz="900"/>
            </a:lvl1pPr>
            <a:lvl2pPr algn="ctr">
              <a:defRPr sz="900"/>
            </a:lvl2pPr>
            <a:lvl3pPr algn="ctr">
              <a:defRPr sz="900"/>
            </a:lvl3pPr>
            <a:lvl4pPr algn="ctr">
              <a:defRPr sz="900"/>
            </a:lvl4pPr>
            <a:lvl5pPr algn="ctr">
              <a:defRPr sz="900"/>
            </a:lvl5pPr>
          </a:lstStyle>
          <a:p>
            <a:pPr lvl="0"/>
            <a:endParaRPr lang="en-US" dirty="0"/>
          </a:p>
        </p:txBody>
      </p:sp>
      <p:sp>
        <p:nvSpPr>
          <p:cNvPr id="9" name="Image Credit">
            <a:extLst>
              <a:ext uri="{FF2B5EF4-FFF2-40B4-BE49-F238E27FC236}">
                <a16:creationId xmlns:a16="http://schemas.microsoft.com/office/drawing/2014/main" id="{6FB07903-1497-4C4D-6C02-42CB7D684816}"/>
              </a:ext>
            </a:extLst>
          </p:cNvPr>
          <p:cNvSpPr>
            <a:spLocks noGrp="1"/>
          </p:cNvSpPr>
          <p:nvPr>
            <p:ph type="body" sz="quarter" idx="20"/>
          </p:nvPr>
        </p:nvSpPr>
        <p:spPr>
          <a:xfrm>
            <a:off x="1563624" y="6675120"/>
            <a:ext cx="6976872" cy="182880"/>
          </a:xfrm>
        </p:spPr>
        <p:txBody>
          <a:bodyPr anchor="ctr">
            <a:noAutofit/>
          </a:bodyPr>
          <a:lstStyle>
            <a:lvl1pPr algn="r">
              <a:defRPr sz="800"/>
            </a:lvl1pPr>
            <a:lvl2pPr algn="r">
              <a:defRPr sz="800"/>
            </a:lvl2pPr>
            <a:lvl3pPr algn="r">
              <a:defRPr sz="800"/>
            </a:lvl3pPr>
            <a:lvl4pPr algn="r">
              <a:defRPr sz="800"/>
            </a:lvl4pPr>
            <a:lvl5pPr algn="r">
              <a:defRPr sz="800"/>
            </a:lvl5pPr>
          </a:lstStyle>
          <a:p>
            <a:pPr lvl="0"/>
            <a:endParaRPr lang="en-US" dirty="0"/>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25349043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12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8288"/>
            <a:ext cx="9144000" cy="923544"/>
          </a:xfrm>
          <a:prstGeom prst="rect">
            <a:avLst/>
          </a:prstGeom>
        </p:spPr>
        <p:txBody>
          <a:bodyPr anchor="ctr">
            <a:no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762000" y="1306513"/>
            <a:ext cx="3543298" cy="709673"/>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762000" y="2172096"/>
            <a:ext cx="3543298"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762000" y="2977144"/>
            <a:ext cx="3543298"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762000" y="3806154"/>
            <a:ext cx="3543298"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762000" y="4660564"/>
            <a:ext cx="3543298"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762000" y="5514975"/>
            <a:ext cx="3543298"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4" name="Content Placeholder 7">
            <a:extLst>
              <a:ext uri="{FF2B5EF4-FFF2-40B4-BE49-F238E27FC236}">
                <a16:creationId xmlns:a16="http://schemas.microsoft.com/office/drawing/2014/main" id="{1DC7C261-47A4-BE74-2FC6-01CA3F31B3EA}"/>
              </a:ext>
            </a:extLst>
          </p:cNvPr>
          <p:cNvSpPr>
            <a:spLocks noGrp="1"/>
          </p:cNvSpPr>
          <p:nvPr>
            <p:ph sz="quarter" idx="21" hasCustomPrompt="1"/>
          </p:nvPr>
        </p:nvSpPr>
        <p:spPr>
          <a:xfrm>
            <a:off x="4838704" y="1306513"/>
            <a:ext cx="3962396" cy="709673"/>
          </a:xfrm>
          <a:prstGeom prst="rect">
            <a:avLst/>
          </a:prstGeom>
        </p:spPr>
        <p:txBody>
          <a:bodyPr/>
          <a:lstStyle>
            <a:lvl1pPr>
              <a:defRPr/>
            </a:lvl1pPr>
          </a:lstStyle>
          <a:p>
            <a:pPr lvl="0"/>
            <a:r>
              <a:rPr lang="en-US" dirty="0"/>
              <a:t>Slide Content 7</a:t>
            </a:r>
          </a:p>
          <a:p>
            <a:pPr lvl="1"/>
            <a:r>
              <a:rPr lang="en-US" dirty="0"/>
              <a:t>Second level</a:t>
            </a:r>
          </a:p>
          <a:p>
            <a:pPr lvl="2"/>
            <a:r>
              <a:rPr lang="en-US" dirty="0"/>
              <a:t>Third level</a:t>
            </a:r>
          </a:p>
        </p:txBody>
      </p:sp>
      <p:sp>
        <p:nvSpPr>
          <p:cNvPr id="10" name="Content Placeholder 8">
            <a:extLst>
              <a:ext uri="{FF2B5EF4-FFF2-40B4-BE49-F238E27FC236}">
                <a16:creationId xmlns:a16="http://schemas.microsoft.com/office/drawing/2014/main" id="{C715467C-D6F4-C40A-EAC0-C39D90E455A0}"/>
              </a:ext>
            </a:extLst>
          </p:cNvPr>
          <p:cNvSpPr>
            <a:spLocks noGrp="1"/>
          </p:cNvSpPr>
          <p:nvPr>
            <p:ph sz="quarter" idx="22" hasCustomPrompt="1"/>
          </p:nvPr>
        </p:nvSpPr>
        <p:spPr>
          <a:xfrm>
            <a:off x="4838704" y="2172096"/>
            <a:ext cx="3962396" cy="649138"/>
          </a:xfrm>
        </p:spPr>
        <p:txBody>
          <a:bodyPr/>
          <a:lstStyle>
            <a:lvl1pPr>
              <a:defRPr/>
            </a:lvl1pPr>
          </a:lstStyle>
          <a:p>
            <a:pPr lvl="0"/>
            <a:r>
              <a:rPr lang="en-US" dirty="0"/>
              <a:t>Slide Content 8</a:t>
            </a:r>
          </a:p>
          <a:p>
            <a:pPr lvl="1"/>
            <a:r>
              <a:rPr lang="en-US" dirty="0"/>
              <a:t>Second level</a:t>
            </a:r>
          </a:p>
          <a:p>
            <a:pPr lvl="2"/>
            <a:r>
              <a:rPr lang="en-US" dirty="0"/>
              <a:t>Third level</a:t>
            </a:r>
          </a:p>
        </p:txBody>
      </p:sp>
      <p:sp>
        <p:nvSpPr>
          <p:cNvPr id="12" name="Content Placeholder 9">
            <a:extLst>
              <a:ext uri="{FF2B5EF4-FFF2-40B4-BE49-F238E27FC236}">
                <a16:creationId xmlns:a16="http://schemas.microsoft.com/office/drawing/2014/main" id="{6B8F57F4-BAE0-0B70-CEF8-81F7444389A9}"/>
              </a:ext>
            </a:extLst>
          </p:cNvPr>
          <p:cNvSpPr>
            <a:spLocks noGrp="1"/>
          </p:cNvSpPr>
          <p:nvPr>
            <p:ph sz="quarter" idx="23" hasCustomPrompt="1"/>
          </p:nvPr>
        </p:nvSpPr>
        <p:spPr>
          <a:xfrm>
            <a:off x="4838704" y="2977144"/>
            <a:ext cx="3962396" cy="673100"/>
          </a:xfrm>
        </p:spPr>
        <p:txBody>
          <a:bodyPr/>
          <a:lstStyle>
            <a:lvl1pPr>
              <a:defRPr/>
            </a:lvl1pPr>
          </a:lstStyle>
          <a:p>
            <a:pPr lvl="0"/>
            <a:r>
              <a:rPr lang="en-US" dirty="0"/>
              <a:t>Slide Content 9</a:t>
            </a:r>
          </a:p>
          <a:p>
            <a:pPr lvl="1"/>
            <a:r>
              <a:rPr lang="en-US" dirty="0"/>
              <a:t>Second level</a:t>
            </a:r>
          </a:p>
          <a:p>
            <a:pPr lvl="2"/>
            <a:r>
              <a:rPr lang="en-US" dirty="0"/>
              <a:t>Third level</a:t>
            </a:r>
          </a:p>
        </p:txBody>
      </p:sp>
      <p:sp>
        <p:nvSpPr>
          <p:cNvPr id="14" name="Content Placeholder 10">
            <a:extLst>
              <a:ext uri="{FF2B5EF4-FFF2-40B4-BE49-F238E27FC236}">
                <a16:creationId xmlns:a16="http://schemas.microsoft.com/office/drawing/2014/main" id="{96687E9B-664C-E16F-F070-99CB9258B5D2}"/>
              </a:ext>
            </a:extLst>
          </p:cNvPr>
          <p:cNvSpPr>
            <a:spLocks noGrp="1"/>
          </p:cNvSpPr>
          <p:nvPr>
            <p:ph sz="quarter" idx="24" hasCustomPrompt="1"/>
          </p:nvPr>
        </p:nvSpPr>
        <p:spPr>
          <a:xfrm>
            <a:off x="4838704" y="3806154"/>
            <a:ext cx="3962396" cy="698500"/>
          </a:xfrm>
        </p:spPr>
        <p:txBody>
          <a:bodyPr/>
          <a:lstStyle>
            <a:lvl1pPr>
              <a:defRPr/>
            </a:lvl1pPr>
          </a:lstStyle>
          <a:p>
            <a:pPr lvl="0"/>
            <a:r>
              <a:rPr lang="en-US" dirty="0"/>
              <a:t>Slide Content 10</a:t>
            </a:r>
          </a:p>
          <a:p>
            <a:pPr lvl="1"/>
            <a:r>
              <a:rPr lang="en-US" dirty="0"/>
              <a:t>Second level</a:t>
            </a:r>
          </a:p>
          <a:p>
            <a:pPr lvl="2"/>
            <a:r>
              <a:rPr lang="en-US" dirty="0"/>
              <a:t>Third level</a:t>
            </a:r>
          </a:p>
        </p:txBody>
      </p:sp>
      <p:sp>
        <p:nvSpPr>
          <p:cNvPr id="16" name="Content Placeholder 11">
            <a:extLst>
              <a:ext uri="{FF2B5EF4-FFF2-40B4-BE49-F238E27FC236}">
                <a16:creationId xmlns:a16="http://schemas.microsoft.com/office/drawing/2014/main" id="{04549AF3-3F2B-2AD9-D240-3DCA98A58ABA}"/>
              </a:ext>
            </a:extLst>
          </p:cNvPr>
          <p:cNvSpPr>
            <a:spLocks noGrp="1"/>
          </p:cNvSpPr>
          <p:nvPr>
            <p:ph sz="quarter" idx="25" hasCustomPrompt="1"/>
          </p:nvPr>
        </p:nvSpPr>
        <p:spPr>
          <a:xfrm>
            <a:off x="4838704" y="4660564"/>
            <a:ext cx="3962396" cy="698500"/>
          </a:xfrm>
        </p:spPr>
        <p:txBody>
          <a:bodyPr/>
          <a:lstStyle>
            <a:lvl1pPr>
              <a:defRPr/>
            </a:lvl1pPr>
          </a:lstStyle>
          <a:p>
            <a:pPr lvl="0"/>
            <a:r>
              <a:rPr lang="en-US" dirty="0"/>
              <a:t>Slide Content 11</a:t>
            </a:r>
          </a:p>
          <a:p>
            <a:pPr lvl="1"/>
            <a:r>
              <a:rPr lang="en-US" dirty="0"/>
              <a:t>Second level</a:t>
            </a:r>
          </a:p>
          <a:p>
            <a:pPr lvl="2"/>
            <a:r>
              <a:rPr lang="en-US" dirty="0"/>
              <a:t>Third level</a:t>
            </a:r>
          </a:p>
        </p:txBody>
      </p:sp>
      <p:sp>
        <p:nvSpPr>
          <p:cNvPr id="17" name="Content Placeholder 12">
            <a:extLst>
              <a:ext uri="{FF2B5EF4-FFF2-40B4-BE49-F238E27FC236}">
                <a16:creationId xmlns:a16="http://schemas.microsoft.com/office/drawing/2014/main" id="{A2919685-E20B-1FBE-6C0C-9D2C6EEC9BB5}"/>
              </a:ext>
            </a:extLst>
          </p:cNvPr>
          <p:cNvSpPr>
            <a:spLocks noGrp="1"/>
          </p:cNvSpPr>
          <p:nvPr>
            <p:ph sz="quarter" idx="26" hasCustomPrompt="1"/>
          </p:nvPr>
        </p:nvSpPr>
        <p:spPr>
          <a:xfrm>
            <a:off x="4838704" y="5514975"/>
            <a:ext cx="3962396" cy="733425"/>
          </a:xfrm>
        </p:spPr>
        <p:txBody>
          <a:bodyPr/>
          <a:lstStyle>
            <a:lvl1pPr>
              <a:defRPr/>
            </a:lvl1pPr>
          </a:lstStyle>
          <a:p>
            <a:pPr lvl="0"/>
            <a:r>
              <a:rPr lang="en-US" dirty="0"/>
              <a:t>Slide Content 12</a:t>
            </a:r>
          </a:p>
          <a:p>
            <a:pPr lvl="1"/>
            <a:r>
              <a:rPr lang="en-US" dirty="0"/>
              <a:t>Second level</a:t>
            </a:r>
          </a:p>
          <a:p>
            <a:pPr lvl="2"/>
            <a:r>
              <a:rPr lang="en-US" dirty="0"/>
              <a:t>Third level</a:t>
            </a:r>
          </a:p>
        </p:txBody>
      </p:sp>
      <p:sp>
        <p:nvSpPr>
          <p:cNvPr id="19" name="Text Placeholder 18">
            <a:extLst>
              <a:ext uri="{FF2B5EF4-FFF2-40B4-BE49-F238E27FC236}">
                <a16:creationId xmlns:a16="http://schemas.microsoft.com/office/drawing/2014/main" id="{A52B3BE7-B153-F32C-8515-A9606D0B7E3B}"/>
              </a:ext>
            </a:extLst>
          </p:cNvPr>
          <p:cNvSpPr>
            <a:spLocks noGrp="1"/>
          </p:cNvSpPr>
          <p:nvPr>
            <p:ph type="body" sz="quarter" idx="27"/>
          </p:nvPr>
        </p:nvSpPr>
        <p:spPr>
          <a:xfrm>
            <a:off x="3374136" y="6327648"/>
            <a:ext cx="2404872" cy="192024"/>
          </a:xfrm>
        </p:spPr>
        <p:txBody>
          <a:bodyPr anchor="ctr">
            <a:noAutofit/>
          </a:bodyPr>
          <a:lstStyle>
            <a:lvl1pPr algn="ctr">
              <a:defRPr sz="900"/>
            </a:lvl1pPr>
          </a:lstStyle>
          <a:p>
            <a:pPr lvl="0"/>
            <a:endParaRPr lang="en-US" dirty="0"/>
          </a:p>
        </p:txBody>
      </p:sp>
      <p:sp>
        <p:nvSpPr>
          <p:cNvPr id="21" name="Text Placeholder 20">
            <a:extLst>
              <a:ext uri="{FF2B5EF4-FFF2-40B4-BE49-F238E27FC236}">
                <a16:creationId xmlns:a16="http://schemas.microsoft.com/office/drawing/2014/main" id="{AF43EB24-B07F-63F0-8491-8B8B456A43C2}"/>
              </a:ext>
            </a:extLst>
          </p:cNvPr>
          <p:cNvSpPr>
            <a:spLocks noGrp="1"/>
          </p:cNvSpPr>
          <p:nvPr>
            <p:ph type="body" sz="quarter" idx="28"/>
          </p:nvPr>
        </p:nvSpPr>
        <p:spPr>
          <a:xfrm>
            <a:off x="1563624" y="6673850"/>
            <a:ext cx="6976872" cy="182880"/>
          </a:xfrm>
        </p:spPr>
        <p:txBody>
          <a:bodyPr anchor="ctr">
            <a:noAutofit/>
          </a:bodyPr>
          <a:lstStyle>
            <a:lvl1pPr algn="r">
              <a:defRPr sz="800"/>
            </a:lvl1pPr>
          </a:lstStyle>
          <a:p>
            <a:pPr lvl="0"/>
            <a:endParaRPr lang="en-US" dirty="0"/>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02095656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18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8288"/>
            <a:ext cx="9144000" cy="923544"/>
          </a:xfrm>
          <a:prstGeom prst="rect">
            <a:avLst/>
          </a:prstGeom>
        </p:spPr>
        <p:txBody>
          <a:bodyPr anchor="ctr">
            <a:no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762000" y="1306513"/>
            <a:ext cx="1883664" cy="709673"/>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762000" y="2172096"/>
            <a:ext cx="1883664"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762000" y="2977144"/>
            <a:ext cx="1883664"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762000" y="3806154"/>
            <a:ext cx="1883664"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762000" y="4660564"/>
            <a:ext cx="1883664"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762000" y="5514975"/>
            <a:ext cx="1883664"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4" name="Content Placeholder 7">
            <a:extLst>
              <a:ext uri="{FF2B5EF4-FFF2-40B4-BE49-F238E27FC236}">
                <a16:creationId xmlns:a16="http://schemas.microsoft.com/office/drawing/2014/main" id="{1DC7C261-47A4-BE74-2FC6-01CA3F31B3EA}"/>
              </a:ext>
            </a:extLst>
          </p:cNvPr>
          <p:cNvSpPr>
            <a:spLocks noGrp="1"/>
          </p:cNvSpPr>
          <p:nvPr>
            <p:ph sz="quarter" idx="21" hasCustomPrompt="1"/>
          </p:nvPr>
        </p:nvSpPr>
        <p:spPr>
          <a:xfrm>
            <a:off x="3619504" y="1306513"/>
            <a:ext cx="2110736" cy="709673"/>
          </a:xfrm>
          <a:prstGeom prst="rect">
            <a:avLst/>
          </a:prstGeom>
        </p:spPr>
        <p:txBody>
          <a:bodyPr/>
          <a:lstStyle>
            <a:lvl1pPr>
              <a:defRPr/>
            </a:lvl1pPr>
          </a:lstStyle>
          <a:p>
            <a:pPr lvl="0"/>
            <a:r>
              <a:rPr lang="en-US" dirty="0"/>
              <a:t>Slide Content 7</a:t>
            </a:r>
          </a:p>
          <a:p>
            <a:pPr lvl="1"/>
            <a:r>
              <a:rPr lang="en-US" dirty="0"/>
              <a:t>Second level</a:t>
            </a:r>
          </a:p>
          <a:p>
            <a:pPr lvl="2"/>
            <a:r>
              <a:rPr lang="en-US" dirty="0"/>
              <a:t>Third level</a:t>
            </a:r>
          </a:p>
        </p:txBody>
      </p:sp>
      <p:sp>
        <p:nvSpPr>
          <p:cNvPr id="10" name="Content Placeholder 8">
            <a:extLst>
              <a:ext uri="{FF2B5EF4-FFF2-40B4-BE49-F238E27FC236}">
                <a16:creationId xmlns:a16="http://schemas.microsoft.com/office/drawing/2014/main" id="{C715467C-D6F4-C40A-EAC0-C39D90E455A0}"/>
              </a:ext>
            </a:extLst>
          </p:cNvPr>
          <p:cNvSpPr>
            <a:spLocks noGrp="1"/>
          </p:cNvSpPr>
          <p:nvPr>
            <p:ph sz="quarter" idx="22" hasCustomPrompt="1"/>
          </p:nvPr>
        </p:nvSpPr>
        <p:spPr>
          <a:xfrm>
            <a:off x="3619504" y="2172096"/>
            <a:ext cx="2110736" cy="649138"/>
          </a:xfrm>
        </p:spPr>
        <p:txBody>
          <a:bodyPr/>
          <a:lstStyle>
            <a:lvl1pPr>
              <a:defRPr/>
            </a:lvl1pPr>
          </a:lstStyle>
          <a:p>
            <a:pPr lvl="0"/>
            <a:r>
              <a:rPr lang="en-US" dirty="0"/>
              <a:t>Slide Content 8</a:t>
            </a:r>
          </a:p>
          <a:p>
            <a:pPr lvl="1"/>
            <a:r>
              <a:rPr lang="en-US" dirty="0"/>
              <a:t>Second level</a:t>
            </a:r>
          </a:p>
          <a:p>
            <a:pPr lvl="2"/>
            <a:r>
              <a:rPr lang="en-US" dirty="0"/>
              <a:t>Third level</a:t>
            </a:r>
          </a:p>
        </p:txBody>
      </p:sp>
      <p:sp>
        <p:nvSpPr>
          <p:cNvPr id="12" name="Content Placeholder 9">
            <a:extLst>
              <a:ext uri="{FF2B5EF4-FFF2-40B4-BE49-F238E27FC236}">
                <a16:creationId xmlns:a16="http://schemas.microsoft.com/office/drawing/2014/main" id="{6B8F57F4-BAE0-0B70-CEF8-81F7444389A9}"/>
              </a:ext>
            </a:extLst>
          </p:cNvPr>
          <p:cNvSpPr>
            <a:spLocks noGrp="1"/>
          </p:cNvSpPr>
          <p:nvPr>
            <p:ph sz="quarter" idx="23" hasCustomPrompt="1"/>
          </p:nvPr>
        </p:nvSpPr>
        <p:spPr>
          <a:xfrm>
            <a:off x="3619504" y="2977144"/>
            <a:ext cx="2110736" cy="673100"/>
          </a:xfrm>
        </p:spPr>
        <p:txBody>
          <a:bodyPr/>
          <a:lstStyle>
            <a:lvl1pPr>
              <a:defRPr/>
            </a:lvl1pPr>
          </a:lstStyle>
          <a:p>
            <a:pPr lvl="0"/>
            <a:r>
              <a:rPr lang="en-US" dirty="0"/>
              <a:t>Slide Content 9</a:t>
            </a:r>
          </a:p>
          <a:p>
            <a:pPr lvl="1"/>
            <a:r>
              <a:rPr lang="en-US" dirty="0"/>
              <a:t>Second level</a:t>
            </a:r>
          </a:p>
          <a:p>
            <a:pPr lvl="2"/>
            <a:r>
              <a:rPr lang="en-US" dirty="0"/>
              <a:t>Third level</a:t>
            </a:r>
          </a:p>
        </p:txBody>
      </p:sp>
      <p:sp>
        <p:nvSpPr>
          <p:cNvPr id="14" name="Content Placeholder 10">
            <a:extLst>
              <a:ext uri="{FF2B5EF4-FFF2-40B4-BE49-F238E27FC236}">
                <a16:creationId xmlns:a16="http://schemas.microsoft.com/office/drawing/2014/main" id="{96687E9B-664C-E16F-F070-99CB9258B5D2}"/>
              </a:ext>
            </a:extLst>
          </p:cNvPr>
          <p:cNvSpPr>
            <a:spLocks noGrp="1"/>
          </p:cNvSpPr>
          <p:nvPr>
            <p:ph sz="quarter" idx="24" hasCustomPrompt="1"/>
          </p:nvPr>
        </p:nvSpPr>
        <p:spPr>
          <a:xfrm>
            <a:off x="3619504" y="3806154"/>
            <a:ext cx="2110736" cy="698500"/>
          </a:xfrm>
        </p:spPr>
        <p:txBody>
          <a:bodyPr/>
          <a:lstStyle>
            <a:lvl1pPr>
              <a:defRPr/>
            </a:lvl1pPr>
          </a:lstStyle>
          <a:p>
            <a:pPr lvl="0"/>
            <a:r>
              <a:rPr lang="en-US" dirty="0"/>
              <a:t>Slide Content 10</a:t>
            </a:r>
          </a:p>
          <a:p>
            <a:pPr lvl="1"/>
            <a:r>
              <a:rPr lang="en-US" dirty="0"/>
              <a:t>Second level</a:t>
            </a:r>
          </a:p>
          <a:p>
            <a:pPr lvl="2"/>
            <a:r>
              <a:rPr lang="en-US" dirty="0"/>
              <a:t>Third level</a:t>
            </a:r>
          </a:p>
        </p:txBody>
      </p:sp>
      <p:sp>
        <p:nvSpPr>
          <p:cNvPr id="16" name="Content Placeholder 11">
            <a:extLst>
              <a:ext uri="{FF2B5EF4-FFF2-40B4-BE49-F238E27FC236}">
                <a16:creationId xmlns:a16="http://schemas.microsoft.com/office/drawing/2014/main" id="{04549AF3-3F2B-2AD9-D240-3DCA98A58ABA}"/>
              </a:ext>
            </a:extLst>
          </p:cNvPr>
          <p:cNvSpPr>
            <a:spLocks noGrp="1"/>
          </p:cNvSpPr>
          <p:nvPr>
            <p:ph sz="quarter" idx="25" hasCustomPrompt="1"/>
          </p:nvPr>
        </p:nvSpPr>
        <p:spPr>
          <a:xfrm>
            <a:off x="3619504" y="4660564"/>
            <a:ext cx="2110736" cy="698500"/>
          </a:xfrm>
        </p:spPr>
        <p:txBody>
          <a:bodyPr/>
          <a:lstStyle>
            <a:lvl1pPr>
              <a:defRPr/>
            </a:lvl1pPr>
          </a:lstStyle>
          <a:p>
            <a:pPr lvl="0"/>
            <a:r>
              <a:rPr lang="en-US" dirty="0"/>
              <a:t>Slide Content 11</a:t>
            </a:r>
          </a:p>
          <a:p>
            <a:pPr lvl="1"/>
            <a:r>
              <a:rPr lang="en-US" dirty="0"/>
              <a:t>Second level</a:t>
            </a:r>
          </a:p>
          <a:p>
            <a:pPr lvl="2"/>
            <a:r>
              <a:rPr lang="en-US" dirty="0"/>
              <a:t>Third level</a:t>
            </a:r>
          </a:p>
        </p:txBody>
      </p:sp>
      <p:sp>
        <p:nvSpPr>
          <p:cNvPr id="17" name="Content Placeholder 12">
            <a:extLst>
              <a:ext uri="{FF2B5EF4-FFF2-40B4-BE49-F238E27FC236}">
                <a16:creationId xmlns:a16="http://schemas.microsoft.com/office/drawing/2014/main" id="{A2919685-E20B-1FBE-6C0C-9D2C6EEC9BB5}"/>
              </a:ext>
            </a:extLst>
          </p:cNvPr>
          <p:cNvSpPr>
            <a:spLocks noGrp="1"/>
          </p:cNvSpPr>
          <p:nvPr>
            <p:ph sz="quarter" idx="26" hasCustomPrompt="1"/>
          </p:nvPr>
        </p:nvSpPr>
        <p:spPr>
          <a:xfrm>
            <a:off x="3619504" y="5514975"/>
            <a:ext cx="2110736" cy="733425"/>
          </a:xfrm>
        </p:spPr>
        <p:txBody>
          <a:bodyPr/>
          <a:lstStyle>
            <a:lvl1pPr>
              <a:defRPr/>
            </a:lvl1pPr>
          </a:lstStyle>
          <a:p>
            <a:pPr lvl="0"/>
            <a:r>
              <a:rPr lang="en-US" dirty="0"/>
              <a:t>Slide Content 12</a:t>
            </a:r>
          </a:p>
          <a:p>
            <a:pPr lvl="1"/>
            <a:r>
              <a:rPr lang="en-US" dirty="0"/>
              <a:t>Second level</a:t>
            </a:r>
          </a:p>
          <a:p>
            <a:pPr lvl="2"/>
            <a:r>
              <a:rPr lang="en-US" dirty="0"/>
              <a:t>Third level</a:t>
            </a:r>
          </a:p>
        </p:txBody>
      </p:sp>
      <p:sp>
        <p:nvSpPr>
          <p:cNvPr id="7" name="Content Placeholder 7">
            <a:extLst>
              <a:ext uri="{FF2B5EF4-FFF2-40B4-BE49-F238E27FC236}">
                <a16:creationId xmlns:a16="http://schemas.microsoft.com/office/drawing/2014/main" id="{D9B56F6E-2415-49B0-F05C-B8523AF0C2C3}"/>
              </a:ext>
            </a:extLst>
          </p:cNvPr>
          <p:cNvSpPr>
            <a:spLocks noGrp="1"/>
          </p:cNvSpPr>
          <p:nvPr>
            <p:ph sz="quarter" idx="29" hasCustomPrompt="1"/>
          </p:nvPr>
        </p:nvSpPr>
        <p:spPr>
          <a:xfrm>
            <a:off x="6685792" y="1324801"/>
            <a:ext cx="2110736" cy="709673"/>
          </a:xfrm>
          <a:prstGeom prst="rect">
            <a:avLst/>
          </a:prstGeom>
        </p:spPr>
        <p:txBody>
          <a:bodyPr/>
          <a:lstStyle>
            <a:lvl1pPr>
              <a:defRPr/>
            </a:lvl1pPr>
          </a:lstStyle>
          <a:p>
            <a:pPr lvl="0"/>
            <a:r>
              <a:rPr lang="en-US" dirty="0"/>
              <a:t>Slide Content 7</a:t>
            </a:r>
          </a:p>
          <a:p>
            <a:pPr lvl="1"/>
            <a:r>
              <a:rPr lang="en-US" dirty="0"/>
              <a:t>Second level</a:t>
            </a:r>
          </a:p>
          <a:p>
            <a:pPr lvl="2"/>
            <a:r>
              <a:rPr lang="en-US" dirty="0"/>
              <a:t>Third level</a:t>
            </a:r>
          </a:p>
        </p:txBody>
      </p:sp>
      <p:sp>
        <p:nvSpPr>
          <p:cNvPr id="9" name="Content Placeholder 8">
            <a:extLst>
              <a:ext uri="{FF2B5EF4-FFF2-40B4-BE49-F238E27FC236}">
                <a16:creationId xmlns:a16="http://schemas.microsoft.com/office/drawing/2014/main" id="{BAD393C9-ACB1-0654-A393-EFD3B599BD22}"/>
              </a:ext>
            </a:extLst>
          </p:cNvPr>
          <p:cNvSpPr>
            <a:spLocks noGrp="1"/>
          </p:cNvSpPr>
          <p:nvPr>
            <p:ph sz="quarter" idx="30" hasCustomPrompt="1"/>
          </p:nvPr>
        </p:nvSpPr>
        <p:spPr>
          <a:xfrm>
            <a:off x="6685792" y="2190384"/>
            <a:ext cx="2110736" cy="649138"/>
          </a:xfrm>
        </p:spPr>
        <p:txBody>
          <a:bodyPr/>
          <a:lstStyle>
            <a:lvl1pPr>
              <a:defRPr/>
            </a:lvl1pPr>
          </a:lstStyle>
          <a:p>
            <a:pPr lvl="0"/>
            <a:r>
              <a:rPr lang="en-US" dirty="0"/>
              <a:t>Slide Content 8</a:t>
            </a:r>
          </a:p>
          <a:p>
            <a:pPr lvl="1"/>
            <a:r>
              <a:rPr lang="en-US" dirty="0"/>
              <a:t>Second level</a:t>
            </a:r>
          </a:p>
          <a:p>
            <a:pPr lvl="2"/>
            <a:r>
              <a:rPr lang="en-US" dirty="0"/>
              <a:t>Third level</a:t>
            </a:r>
          </a:p>
        </p:txBody>
      </p:sp>
      <p:sp>
        <p:nvSpPr>
          <p:cNvPr id="18" name="Content Placeholder 9">
            <a:extLst>
              <a:ext uri="{FF2B5EF4-FFF2-40B4-BE49-F238E27FC236}">
                <a16:creationId xmlns:a16="http://schemas.microsoft.com/office/drawing/2014/main" id="{9DF5090E-20DB-29D5-98DA-0E5836BF64C5}"/>
              </a:ext>
            </a:extLst>
          </p:cNvPr>
          <p:cNvSpPr>
            <a:spLocks noGrp="1"/>
          </p:cNvSpPr>
          <p:nvPr>
            <p:ph sz="quarter" idx="31" hasCustomPrompt="1"/>
          </p:nvPr>
        </p:nvSpPr>
        <p:spPr>
          <a:xfrm>
            <a:off x="6685792" y="2995432"/>
            <a:ext cx="2110736" cy="673100"/>
          </a:xfrm>
        </p:spPr>
        <p:txBody>
          <a:bodyPr/>
          <a:lstStyle>
            <a:lvl1pPr>
              <a:defRPr/>
            </a:lvl1pPr>
          </a:lstStyle>
          <a:p>
            <a:pPr lvl="0"/>
            <a:r>
              <a:rPr lang="en-US" dirty="0"/>
              <a:t>Slide Content 9</a:t>
            </a:r>
          </a:p>
          <a:p>
            <a:pPr lvl="1"/>
            <a:r>
              <a:rPr lang="en-US" dirty="0"/>
              <a:t>Second level</a:t>
            </a:r>
          </a:p>
          <a:p>
            <a:pPr lvl="2"/>
            <a:r>
              <a:rPr lang="en-US" dirty="0"/>
              <a:t>Third level</a:t>
            </a:r>
          </a:p>
        </p:txBody>
      </p:sp>
      <p:sp>
        <p:nvSpPr>
          <p:cNvPr id="20" name="Content Placeholder 10">
            <a:extLst>
              <a:ext uri="{FF2B5EF4-FFF2-40B4-BE49-F238E27FC236}">
                <a16:creationId xmlns:a16="http://schemas.microsoft.com/office/drawing/2014/main" id="{791C231B-069C-227B-3AAE-B3525644FEAB}"/>
              </a:ext>
            </a:extLst>
          </p:cNvPr>
          <p:cNvSpPr>
            <a:spLocks noGrp="1"/>
          </p:cNvSpPr>
          <p:nvPr>
            <p:ph sz="quarter" idx="32" hasCustomPrompt="1"/>
          </p:nvPr>
        </p:nvSpPr>
        <p:spPr>
          <a:xfrm>
            <a:off x="6685792" y="3824442"/>
            <a:ext cx="2110736" cy="698500"/>
          </a:xfrm>
        </p:spPr>
        <p:txBody>
          <a:bodyPr/>
          <a:lstStyle>
            <a:lvl1pPr>
              <a:defRPr/>
            </a:lvl1pPr>
          </a:lstStyle>
          <a:p>
            <a:pPr lvl="0"/>
            <a:r>
              <a:rPr lang="en-US" dirty="0"/>
              <a:t>Slide Content 10</a:t>
            </a:r>
          </a:p>
          <a:p>
            <a:pPr lvl="1"/>
            <a:r>
              <a:rPr lang="en-US" dirty="0"/>
              <a:t>Second level</a:t>
            </a:r>
          </a:p>
          <a:p>
            <a:pPr lvl="2"/>
            <a:r>
              <a:rPr lang="en-US" dirty="0"/>
              <a:t>Third level</a:t>
            </a:r>
          </a:p>
        </p:txBody>
      </p:sp>
      <p:sp>
        <p:nvSpPr>
          <p:cNvPr id="22" name="Content Placeholder 11">
            <a:extLst>
              <a:ext uri="{FF2B5EF4-FFF2-40B4-BE49-F238E27FC236}">
                <a16:creationId xmlns:a16="http://schemas.microsoft.com/office/drawing/2014/main" id="{2D87EFC5-86A4-5E20-C2AC-AACD889A38F2}"/>
              </a:ext>
            </a:extLst>
          </p:cNvPr>
          <p:cNvSpPr>
            <a:spLocks noGrp="1"/>
          </p:cNvSpPr>
          <p:nvPr>
            <p:ph sz="quarter" idx="33" hasCustomPrompt="1"/>
          </p:nvPr>
        </p:nvSpPr>
        <p:spPr>
          <a:xfrm>
            <a:off x="6685792" y="4678852"/>
            <a:ext cx="2110736" cy="698500"/>
          </a:xfrm>
        </p:spPr>
        <p:txBody>
          <a:bodyPr/>
          <a:lstStyle>
            <a:lvl1pPr>
              <a:defRPr/>
            </a:lvl1pPr>
          </a:lstStyle>
          <a:p>
            <a:pPr lvl="0"/>
            <a:r>
              <a:rPr lang="en-US" dirty="0"/>
              <a:t>Slide Content 11</a:t>
            </a:r>
          </a:p>
          <a:p>
            <a:pPr lvl="1"/>
            <a:r>
              <a:rPr lang="en-US" dirty="0"/>
              <a:t>Second level</a:t>
            </a:r>
          </a:p>
          <a:p>
            <a:pPr lvl="2"/>
            <a:r>
              <a:rPr lang="en-US" dirty="0"/>
              <a:t>Third level</a:t>
            </a:r>
          </a:p>
        </p:txBody>
      </p:sp>
      <p:sp>
        <p:nvSpPr>
          <p:cNvPr id="23" name="Content Placeholder 12">
            <a:extLst>
              <a:ext uri="{FF2B5EF4-FFF2-40B4-BE49-F238E27FC236}">
                <a16:creationId xmlns:a16="http://schemas.microsoft.com/office/drawing/2014/main" id="{1F5BCBDD-0EC1-A92C-B3B8-442439780EFE}"/>
              </a:ext>
            </a:extLst>
          </p:cNvPr>
          <p:cNvSpPr>
            <a:spLocks noGrp="1"/>
          </p:cNvSpPr>
          <p:nvPr>
            <p:ph sz="quarter" idx="34" hasCustomPrompt="1"/>
          </p:nvPr>
        </p:nvSpPr>
        <p:spPr>
          <a:xfrm>
            <a:off x="6685792" y="5533263"/>
            <a:ext cx="2110736" cy="733425"/>
          </a:xfrm>
        </p:spPr>
        <p:txBody>
          <a:bodyPr/>
          <a:lstStyle>
            <a:lvl1pPr>
              <a:defRPr/>
            </a:lvl1pPr>
          </a:lstStyle>
          <a:p>
            <a:pPr lvl="0"/>
            <a:r>
              <a:rPr lang="en-US" dirty="0"/>
              <a:t>Slide Content 12</a:t>
            </a:r>
          </a:p>
          <a:p>
            <a:pPr lvl="1"/>
            <a:r>
              <a:rPr lang="en-US" dirty="0"/>
              <a:t>Second level</a:t>
            </a:r>
          </a:p>
          <a:p>
            <a:pPr lvl="2"/>
            <a:r>
              <a:rPr lang="en-US" dirty="0"/>
              <a:t>Third level</a:t>
            </a:r>
          </a:p>
        </p:txBody>
      </p:sp>
      <p:sp>
        <p:nvSpPr>
          <p:cNvPr id="25" name="Text Placeholder 24">
            <a:extLst>
              <a:ext uri="{FF2B5EF4-FFF2-40B4-BE49-F238E27FC236}">
                <a16:creationId xmlns:a16="http://schemas.microsoft.com/office/drawing/2014/main" id="{104AB9C2-57AD-EFDB-AF74-1E0FBDE5DB7B}"/>
              </a:ext>
            </a:extLst>
          </p:cNvPr>
          <p:cNvSpPr>
            <a:spLocks noGrp="1"/>
          </p:cNvSpPr>
          <p:nvPr>
            <p:ph type="body" sz="quarter" idx="35"/>
          </p:nvPr>
        </p:nvSpPr>
        <p:spPr>
          <a:xfrm>
            <a:off x="3374136" y="6327648"/>
            <a:ext cx="2404872" cy="192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27">
            <a:extLst>
              <a:ext uri="{FF2B5EF4-FFF2-40B4-BE49-F238E27FC236}">
                <a16:creationId xmlns:a16="http://schemas.microsoft.com/office/drawing/2014/main" id="{866838D7-CBC4-BFFD-6EB6-B9720A82D8B1}"/>
              </a:ext>
            </a:extLst>
          </p:cNvPr>
          <p:cNvSpPr>
            <a:spLocks noGrp="1"/>
          </p:cNvSpPr>
          <p:nvPr>
            <p:ph type="body" sz="quarter" idx="36"/>
          </p:nvPr>
        </p:nvSpPr>
        <p:spPr>
          <a:xfrm>
            <a:off x="1563624" y="6673850"/>
            <a:ext cx="6976872" cy="1841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14542725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McGraw Hill LLC. All rights reserved. No reproduction or distribution without the prior written consent of McGraw Hill LLC.</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33966266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509105"/>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470153"/>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364224"/>
            <a:ext cx="9144000" cy="493776"/>
          </a:xfrm>
        </p:spPr>
        <p:txBody>
          <a:bodyPr/>
          <a:lstStyle>
            <a:lvl1pPr algn="ctr">
              <a:defRPr/>
            </a:lvl1pPr>
          </a:lstStyle>
          <a:p>
            <a:pPr defTabSz="457200">
              <a:spcBef>
                <a:spcPct val="20000"/>
              </a:spcBef>
              <a:defRPr/>
            </a:pPr>
            <a:r>
              <a:rPr lang="en-US" dirty="0"/>
              <a:t>© McGraw Hill LLC. All rights reserved. No reproduction or distribution without the prior written consent of McGraw Hill LLC.</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4261138"/>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22792" y="6675120"/>
            <a:ext cx="356616"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6925710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5CF589-97D1-3D56-850B-DBEE708099EC}"/>
              </a:ext>
            </a:extLst>
          </p:cNvPr>
          <p:cNvSpPr/>
          <p:nvPr userDrawn="1"/>
        </p:nvSpPr>
        <p:spPr bwMode="auto">
          <a:xfrm>
            <a:off x="0" y="2853265"/>
            <a:ext cx="9144000" cy="1151467"/>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246888" y="2889504"/>
            <a:ext cx="8641080" cy="1069848"/>
          </a:xfrm>
          <a:prstGeom prst="rect">
            <a:avLst/>
          </a:prstGeom>
        </p:spPr>
        <p:txBody>
          <a:bodyPr anchor="ctr">
            <a:noAutofit/>
          </a:bodyP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22792" y="6675120"/>
            <a:ext cx="356616"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4078682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p>
        </p:txBody>
      </p:sp>
      <p:sp>
        <p:nvSpPr>
          <p:cNvPr id="8" name="Return to main slide Link 1">
            <a:extLst>
              <a:ext uri="{FF2B5EF4-FFF2-40B4-BE49-F238E27FC236}">
                <a16:creationId xmlns:a16="http://schemas.microsoft.com/office/drawing/2014/main" id="{CA8931B4-D4B5-E0CD-32BB-AC6D28442CF4}"/>
              </a:ext>
            </a:extLst>
          </p:cNvPr>
          <p:cNvSpPr>
            <a:spLocks noGrp="1"/>
          </p:cNvSpPr>
          <p:nvPr>
            <p:ph type="body" sz="quarter" idx="16" hasCustomPrompt="1"/>
          </p:nvPr>
        </p:nvSpPr>
        <p:spPr>
          <a:xfrm>
            <a:off x="3081338" y="1068388"/>
            <a:ext cx="2981325" cy="225425"/>
          </a:xfrm>
        </p:spPr>
        <p:txBody>
          <a:bodyPr anchor="ctr">
            <a:noAutofit/>
          </a:bodyPr>
          <a:lstStyle>
            <a:lvl1pPr algn="ctr">
              <a:defRPr sz="1200"/>
            </a:lvl1pPr>
            <a:lvl2pPr algn="ctr">
              <a:defRPr sz="1200"/>
            </a:lvl2pPr>
            <a:lvl3pPr algn="ctr">
              <a:defRPr sz="1200"/>
            </a:lvl3pPr>
            <a:lvl4pPr algn="ctr">
              <a:defRPr sz="1200"/>
            </a:lvl4pPr>
            <a:lvl5pPr algn="ctr">
              <a:defRPr sz="1200"/>
            </a:lvl5pPr>
          </a:lstStyle>
          <a:p>
            <a:pPr lvl="0" algn="ctr"/>
            <a:r>
              <a:rPr lang="en-US" dirty="0"/>
              <a:t>Return to parent-slide containing images.</a:t>
            </a:r>
          </a:p>
        </p:txBody>
      </p:sp>
      <p:sp>
        <p:nvSpPr>
          <p:cNvPr id="10" name="Content Placeholder 9">
            <a:extLst>
              <a:ext uri="{FF2B5EF4-FFF2-40B4-BE49-F238E27FC236}">
                <a16:creationId xmlns:a16="http://schemas.microsoft.com/office/drawing/2014/main" id="{73626CFD-2963-C1FF-579E-726768F60547}"/>
              </a:ext>
            </a:extLst>
          </p:cNvPr>
          <p:cNvSpPr>
            <a:spLocks noGrp="1"/>
          </p:cNvSpPr>
          <p:nvPr>
            <p:ph sz="quarter" idx="17" hasCustomPrompt="1"/>
          </p:nvPr>
        </p:nvSpPr>
        <p:spPr/>
        <p:txBody>
          <a:bodyPr/>
          <a:lstStyle>
            <a:lvl1pPr>
              <a:defRPr>
                <a:latin typeface="+mn-lt"/>
              </a:defRPr>
            </a:lvl1pPr>
            <a:lvl2pPr>
              <a:defRPr>
                <a:latin typeface="+mn-lt"/>
              </a:defRPr>
            </a:lvl2pPr>
            <a:lvl3pPr>
              <a:defRPr>
                <a:latin typeface="+mn-lt"/>
              </a:defRPr>
            </a:lvl3pPr>
          </a:lstStyle>
          <a:p>
            <a:pPr lvl="0"/>
            <a:r>
              <a:rPr lang="en-US" dirty="0"/>
              <a:t>Slide Content</a:t>
            </a:r>
          </a:p>
          <a:p>
            <a:pPr lvl="1"/>
            <a:r>
              <a:rPr lang="en-US" dirty="0"/>
              <a:t>Second level</a:t>
            </a:r>
          </a:p>
          <a:p>
            <a:pPr lvl="2"/>
            <a:r>
              <a:rPr lang="en-US" dirty="0"/>
              <a:t>Third level</a:t>
            </a: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2" name="Return to main slide Link 2">
            <a:extLst>
              <a:ext uri="{FF2B5EF4-FFF2-40B4-BE49-F238E27FC236}">
                <a16:creationId xmlns:a16="http://schemas.microsoft.com/office/drawing/2014/main" id="{162BB7A2-838E-4F41-55FD-C715383EE3E2}"/>
              </a:ext>
            </a:extLst>
          </p:cNvPr>
          <p:cNvSpPr>
            <a:spLocks noGrp="1"/>
          </p:cNvSpPr>
          <p:nvPr>
            <p:ph type="body" sz="quarter" idx="18" hasCustomPrompt="1"/>
          </p:nvPr>
        </p:nvSpPr>
        <p:spPr>
          <a:xfrm>
            <a:off x="3081528" y="6354763"/>
            <a:ext cx="2980944" cy="228600"/>
          </a:xfrm>
        </p:spPr>
        <p:txBody>
          <a:bodyPr anchor="ctr">
            <a:noAutofit/>
          </a:bodyPr>
          <a:lstStyle>
            <a:lvl1pPr algn="ctr">
              <a:defRPr sz="1200"/>
            </a:lvl1pPr>
            <a:lvl2pPr algn="ctr">
              <a:defRPr sz="1200"/>
            </a:lvl2pPr>
            <a:lvl3pPr algn="ctr">
              <a:defRPr sz="1200"/>
            </a:lvl3pPr>
            <a:lvl4pPr algn="ctr">
              <a:defRPr sz="1200"/>
            </a:lvl4pPr>
            <a:lvl5pPr algn="ctr">
              <a:defRPr sz="1200"/>
            </a:lvl5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6616"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13222756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1752"/>
            <a:ext cx="8458200" cy="676656"/>
          </a:xfrm>
          <a:prstGeom prst="rect">
            <a:avLst/>
          </a:prstGeom>
        </p:spPr>
        <p:txBody>
          <a:bodyPr anchor="ctr">
            <a:normAutofit/>
          </a:bodyPr>
          <a:lstStyle>
            <a:lvl1pPr>
              <a:defRPr sz="2400"/>
            </a:lvl1pPr>
          </a:lstStyle>
          <a:p>
            <a:r>
              <a:rPr lang="en-US" dirty="0"/>
              <a:t>Slide Title</a:t>
            </a:r>
          </a:p>
        </p:txBody>
      </p:sp>
      <p:sp>
        <p:nvSpPr>
          <p:cNvPr id="4" name="Return to main slide Link 1">
            <a:extLst>
              <a:ext uri="{FF2B5EF4-FFF2-40B4-BE49-F238E27FC236}">
                <a16:creationId xmlns:a16="http://schemas.microsoft.com/office/drawing/2014/main" id="{F26EDF14-B2E9-BF97-26C7-B5361587CB5A}"/>
              </a:ext>
            </a:extLst>
          </p:cNvPr>
          <p:cNvSpPr>
            <a:spLocks noGrp="1"/>
          </p:cNvSpPr>
          <p:nvPr>
            <p:ph type="body" sz="quarter" idx="17" hasCustomPrompt="1"/>
          </p:nvPr>
        </p:nvSpPr>
        <p:spPr>
          <a:xfrm>
            <a:off x="3081528" y="1069848"/>
            <a:ext cx="2980944" cy="225425"/>
          </a:xfrm>
        </p:spPr>
        <p:txBody>
          <a:bodyPr anchor="ctr">
            <a:noAutofit/>
          </a:bodyPr>
          <a:lstStyle>
            <a:lvl1pPr algn="ctr">
              <a:defRPr sz="1200"/>
            </a:lvl1pPr>
            <a:lvl2pPr algn="ctr">
              <a:defRPr sz="1200"/>
            </a:lvl2pPr>
            <a:lvl3pPr algn="ctr">
              <a:defRPr sz="1200"/>
            </a:lvl3pPr>
            <a:lvl4pPr algn="ctr">
              <a:defRPr sz="1200"/>
            </a:lvl4pPr>
            <a:lvl5pPr algn="ctr">
              <a:defRPr sz="1200"/>
            </a:lvl5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parent-slide containing images.</a:t>
            </a:r>
          </a:p>
        </p:txBody>
      </p:sp>
      <p:sp>
        <p:nvSpPr>
          <p:cNvPr id="12" name="Image Identifier 1">
            <a:extLst>
              <a:ext uri="{FF2B5EF4-FFF2-40B4-BE49-F238E27FC236}">
                <a16:creationId xmlns:a16="http://schemas.microsoft.com/office/drawing/2014/main" id="{66FC4F3D-1006-001F-E3E1-34E8D98BCCA6}"/>
              </a:ext>
            </a:extLst>
          </p:cNvPr>
          <p:cNvSpPr>
            <a:spLocks noGrp="1"/>
          </p:cNvSpPr>
          <p:nvPr>
            <p:ph type="body" sz="quarter" idx="18" hasCustomPrompt="1"/>
          </p:nvPr>
        </p:nvSpPr>
        <p:spPr>
          <a:xfrm>
            <a:off x="342900" y="1410562"/>
            <a:ext cx="4078224" cy="393700"/>
          </a:xfrm>
        </p:spPr>
        <p:txBody>
          <a:bodyPr/>
          <a:lstStyle/>
          <a:p>
            <a:pPr lvl="0"/>
            <a:r>
              <a:rPr lang="en-US" dirty="0"/>
              <a:t>Image Identifier 1</a:t>
            </a:r>
          </a:p>
        </p:txBody>
      </p:sp>
      <p:sp>
        <p:nvSpPr>
          <p:cNvPr id="14" name="Content Placeholder 1">
            <a:extLst>
              <a:ext uri="{FF2B5EF4-FFF2-40B4-BE49-F238E27FC236}">
                <a16:creationId xmlns:a16="http://schemas.microsoft.com/office/drawing/2014/main" id="{AD34AB29-6F3A-C82E-2112-A29AFE3E8783}"/>
              </a:ext>
            </a:extLst>
          </p:cNvPr>
          <p:cNvSpPr>
            <a:spLocks noGrp="1"/>
          </p:cNvSpPr>
          <p:nvPr>
            <p:ph sz="quarter" idx="19" hasCustomPrompt="1"/>
          </p:nvPr>
        </p:nvSpPr>
        <p:spPr>
          <a:xfrm>
            <a:off x="342900" y="1929384"/>
            <a:ext cx="4076700" cy="4314825"/>
          </a:xfrm>
        </p:spPr>
        <p:txBody>
          <a:bodyPr/>
          <a:lstStyle/>
          <a:p>
            <a:pPr lvl="0"/>
            <a:r>
              <a:rPr lang="en-US" dirty="0"/>
              <a:t>Slide Content</a:t>
            </a:r>
          </a:p>
          <a:p>
            <a:pPr lvl="1"/>
            <a:r>
              <a:rPr lang="en-US" dirty="0"/>
              <a:t>Second level</a:t>
            </a:r>
          </a:p>
          <a:p>
            <a:pPr lvl="2"/>
            <a:r>
              <a:rPr lang="en-US" dirty="0"/>
              <a:t>Third level</a:t>
            </a:r>
          </a:p>
        </p:txBody>
      </p:sp>
      <p:sp>
        <p:nvSpPr>
          <p:cNvPr id="16" name="Image Identifier 2">
            <a:extLst>
              <a:ext uri="{FF2B5EF4-FFF2-40B4-BE49-F238E27FC236}">
                <a16:creationId xmlns:a16="http://schemas.microsoft.com/office/drawing/2014/main" id="{91F14EE4-57B2-80F8-F97F-8F90727CD808}"/>
              </a:ext>
            </a:extLst>
          </p:cNvPr>
          <p:cNvSpPr>
            <a:spLocks noGrp="1"/>
          </p:cNvSpPr>
          <p:nvPr>
            <p:ph type="body" sz="quarter" idx="20" hasCustomPrompt="1"/>
          </p:nvPr>
        </p:nvSpPr>
        <p:spPr>
          <a:xfrm>
            <a:off x="4727448" y="1404938"/>
            <a:ext cx="4078224" cy="393192"/>
          </a:xfrm>
        </p:spPr>
        <p:txBody>
          <a:bodyPr/>
          <a:lstStyle/>
          <a:p>
            <a:pPr lvl="0"/>
            <a:r>
              <a:rPr lang="en-US" dirty="0"/>
              <a:t>Image Identifier 2</a:t>
            </a:r>
          </a:p>
        </p:txBody>
      </p:sp>
      <p:sp>
        <p:nvSpPr>
          <p:cNvPr id="18" name="Content Placeholder 2">
            <a:extLst>
              <a:ext uri="{FF2B5EF4-FFF2-40B4-BE49-F238E27FC236}">
                <a16:creationId xmlns:a16="http://schemas.microsoft.com/office/drawing/2014/main" id="{A10A15B6-CA9D-727F-1B00-62A32964057D}"/>
              </a:ext>
            </a:extLst>
          </p:cNvPr>
          <p:cNvSpPr>
            <a:spLocks noGrp="1"/>
          </p:cNvSpPr>
          <p:nvPr>
            <p:ph sz="quarter" idx="21" hasCustomPrompt="1"/>
          </p:nvPr>
        </p:nvSpPr>
        <p:spPr>
          <a:xfrm>
            <a:off x="4727448" y="1929384"/>
            <a:ext cx="4078224" cy="4314825"/>
          </a:xfrm>
        </p:spPr>
        <p:txBody>
          <a:bodyPr/>
          <a:lstStyle/>
          <a:p>
            <a:pPr lvl="0"/>
            <a:r>
              <a:rPr lang="en-US" dirty="0"/>
              <a:t>Slide Content 2</a:t>
            </a:r>
          </a:p>
          <a:p>
            <a:pPr lvl="1"/>
            <a:r>
              <a:rPr lang="en-US" dirty="0"/>
              <a:t>Second level</a:t>
            </a:r>
          </a:p>
          <a:p>
            <a:pPr lvl="2"/>
            <a:r>
              <a:rPr lang="en-US" dirty="0"/>
              <a:t>Third level</a:t>
            </a:r>
          </a:p>
        </p:txBody>
      </p:sp>
      <p:sp>
        <p:nvSpPr>
          <p:cNvPr id="19" name="Return to main slide Link 2">
            <a:extLst>
              <a:ext uri="{FF2B5EF4-FFF2-40B4-BE49-F238E27FC236}">
                <a16:creationId xmlns:a16="http://schemas.microsoft.com/office/drawing/2014/main" id="{3984A342-B272-A827-160E-66826A20DB1A}"/>
              </a:ext>
            </a:extLst>
          </p:cNvPr>
          <p:cNvSpPr>
            <a:spLocks noGrp="1"/>
          </p:cNvSpPr>
          <p:nvPr>
            <p:ph type="body" sz="quarter" idx="22" hasCustomPrompt="1"/>
          </p:nvPr>
        </p:nvSpPr>
        <p:spPr>
          <a:xfrm>
            <a:off x="3081528" y="6355080"/>
            <a:ext cx="2980944" cy="228600"/>
          </a:xfrm>
        </p:spPr>
        <p:txBody>
          <a:bodyPr anchor="ctr">
            <a:noAutofit/>
          </a:bodyPr>
          <a:lstStyle>
            <a:lvl1pPr algn="ctr">
              <a:defRPr sz="1200"/>
            </a:lvl1pPr>
            <a:lvl2pPr algn="ctr">
              <a:defRPr sz="1200"/>
            </a:lvl2pPr>
            <a:lvl3pPr algn="ctr">
              <a:defRPr sz="1200"/>
            </a:lvl3pPr>
            <a:lvl4pPr algn="ctr">
              <a:defRPr sz="1200"/>
            </a:lvl4pPr>
            <a:lvl5pPr algn="ctr">
              <a:defRPr sz="1200"/>
            </a:lvl5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82880"/>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95396362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lnSpc>
                <a:spcPct val="100000"/>
              </a:lnSpc>
              <a:defRPr sz="2400"/>
            </a:lvl1pPr>
          </a:lstStyle>
          <a:p>
            <a:r>
              <a:rPr lang="en-US" dirty="0"/>
              <a:t>Slide Title</a:t>
            </a:r>
          </a:p>
        </p:txBody>
      </p:sp>
      <p:sp>
        <p:nvSpPr>
          <p:cNvPr id="8" name="Return to main slide Link 1">
            <a:extLst>
              <a:ext uri="{FF2B5EF4-FFF2-40B4-BE49-F238E27FC236}">
                <a16:creationId xmlns:a16="http://schemas.microsoft.com/office/drawing/2014/main" id="{CA8931B4-D4B5-E0CD-32BB-AC6D28442CF4}"/>
              </a:ext>
            </a:extLst>
          </p:cNvPr>
          <p:cNvSpPr>
            <a:spLocks noGrp="1"/>
          </p:cNvSpPr>
          <p:nvPr>
            <p:ph type="body" sz="quarter" idx="16" hasCustomPrompt="1"/>
          </p:nvPr>
        </p:nvSpPr>
        <p:spPr>
          <a:xfrm>
            <a:off x="3081338" y="1068388"/>
            <a:ext cx="2981325" cy="225425"/>
          </a:xfrm>
        </p:spPr>
        <p:txBody>
          <a:bodyPr anchor="ctr">
            <a:noAutofit/>
          </a:bodyPr>
          <a:lstStyle>
            <a:lvl1pPr algn="ctr">
              <a:defRPr sz="1200"/>
            </a:lvl1pPr>
            <a:lvl2pPr algn="ctr">
              <a:defRPr sz="1200"/>
            </a:lvl2pPr>
            <a:lvl3pPr algn="ctr">
              <a:defRPr sz="1200"/>
            </a:lvl3pPr>
            <a:lvl4pPr algn="ctr">
              <a:defRPr sz="1200"/>
            </a:lvl4pPr>
            <a:lvl5pPr algn="ctr">
              <a:defRPr sz="1200"/>
            </a:lvl5pPr>
          </a:lstStyle>
          <a:p>
            <a:pPr lvl="0" algn="ctr"/>
            <a:r>
              <a:rPr lang="en-US" dirty="0"/>
              <a:t>Return to parent-slide containing images.</a:t>
            </a:r>
          </a:p>
        </p:txBody>
      </p:sp>
      <p:sp>
        <p:nvSpPr>
          <p:cNvPr id="10" name="Content Placeholder 9">
            <a:extLst>
              <a:ext uri="{FF2B5EF4-FFF2-40B4-BE49-F238E27FC236}">
                <a16:creationId xmlns:a16="http://schemas.microsoft.com/office/drawing/2014/main" id="{73626CFD-2963-C1FF-579E-726768F60547}"/>
              </a:ext>
            </a:extLst>
          </p:cNvPr>
          <p:cNvSpPr>
            <a:spLocks noGrp="1"/>
          </p:cNvSpPr>
          <p:nvPr>
            <p:ph sz="quarter" idx="17" hasCustomPrompt="1"/>
          </p:nvPr>
        </p:nvSpPr>
        <p:spPr/>
        <p:txBody>
          <a:bodyPr/>
          <a:lstStyle>
            <a:lvl1pPr>
              <a:defRPr>
                <a:latin typeface="+mn-lt"/>
              </a:defRPr>
            </a:lvl1pPr>
            <a:lvl2pPr>
              <a:defRPr>
                <a:latin typeface="+mn-lt"/>
              </a:defRPr>
            </a:lvl2pPr>
            <a:lvl3pPr>
              <a:defRPr>
                <a:latin typeface="+mn-lt"/>
              </a:defRPr>
            </a:lvl3pPr>
          </a:lstStyle>
          <a:p>
            <a:pPr lvl="0"/>
            <a:r>
              <a:rPr lang="en-US" dirty="0"/>
              <a:t>Slide Content</a:t>
            </a:r>
          </a:p>
          <a:p>
            <a:pPr lvl="1"/>
            <a:r>
              <a:rPr lang="en-US" dirty="0"/>
              <a:t>Second level</a:t>
            </a:r>
          </a:p>
          <a:p>
            <a:pPr lvl="2"/>
            <a:r>
              <a:rPr lang="en-US" dirty="0"/>
              <a:t>Third level</a:t>
            </a: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2" name="Return to main slide Link 2">
            <a:extLst>
              <a:ext uri="{FF2B5EF4-FFF2-40B4-BE49-F238E27FC236}">
                <a16:creationId xmlns:a16="http://schemas.microsoft.com/office/drawing/2014/main" id="{162BB7A2-838E-4F41-55FD-C715383EE3E2}"/>
              </a:ext>
            </a:extLst>
          </p:cNvPr>
          <p:cNvSpPr>
            <a:spLocks noGrp="1"/>
          </p:cNvSpPr>
          <p:nvPr>
            <p:ph type="body" sz="quarter" idx="18" hasCustomPrompt="1"/>
          </p:nvPr>
        </p:nvSpPr>
        <p:spPr>
          <a:xfrm>
            <a:off x="3081528" y="6354763"/>
            <a:ext cx="2980944" cy="228600"/>
          </a:xfrm>
        </p:spPr>
        <p:txBody>
          <a:bodyPr anchor="ctr">
            <a:noAutofit/>
          </a:bodyPr>
          <a:lstStyle>
            <a:lvl1pPr algn="ctr">
              <a:defRPr sz="1200"/>
            </a:lvl1pPr>
            <a:lvl2pPr algn="ctr">
              <a:defRPr sz="1200"/>
            </a:lvl2pPr>
            <a:lvl3pPr algn="ctr">
              <a:defRPr sz="1200"/>
            </a:lvl3pPr>
            <a:lvl4pPr algn="ctr">
              <a:defRPr sz="1200"/>
            </a:lvl4pPr>
            <a:lvl5pPr algn="ctr">
              <a:defRPr sz="1200"/>
            </a:lvl5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6616"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92660697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theme" Target="../theme/theme3.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20.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21.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23.xml"/><Relationship Id="rId1" Type="http://schemas.openxmlformats.org/officeDocument/2006/relationships/slideLayout" Target="../slideLayouts/slideLayout22.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24.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slideLayout" Target="../slideLayouts/slideLayout26.xml"/><Relationship Id="rId1" Type="http://schemas.openxmlformats.org/officeDocument/2006/relationships/slideLayout" Target="../slideLayouts/slideLayout25.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id="{BF372B49-B6F5-4826-B4F8-2F8A4FFF8894}"/>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A53693A-7779-0C76-D392-20A3929A861C}"/>
              </a:ext>
            </a:extLst>
          </p:cNvPr>
          <p:cNvSpPr/>
          <p:nvPr userDrawn="1"/>
        </p:nvSpPr>
        <p:spPr bwMode="auto">
          <a:xfrm>
            <a:off x="0" y="-1"/>
            <a:ext cx="9144000" cy="481867"/>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4" name="Rectangle 3">
            <a:extLst>
              <a:ext uri="{FF2B5EF4-FFF2-40B4-BE49-F238E27FC236}">
                <a16:creationId xmlns:a16="http://schemas.microsoft.com/office/drawing/2014/main" id="{FA4BCAE3-EAD6-8908-817D-310A1C5AE854}"/>
              </a:ext>
            </a:extLst>
          </p:cNvPr>
          <p:cNvSpPr/>
          <p:nvPr userDrawn="1"/>
        </p:nvSpPr>
        <p:spPr bwMode="auto">
          <a:xfrm>
            <a:off x="0" y="6369355"/>
            <a:ext cx="9144000" cy="490954"/>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pic>
        <p:nvPicPr>
          <p:cNvPr id="7" name="MGH logo">
            <a:extLst>
              <a:ext uri="{FF2B5EF4-FFF2-40B4-BE49-F238E27FC236}">
                <a16:creationId xmlns:a16="http://schemas.microsoft.com/office/drawing/2014/main" id="{BF372B49-B6F5-4826-B4F8-2F8A4FFF889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614325"/>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364224"/>
            <a:ext cx="9144000" cy="493776"/>
          </a:xfrm>
          <a:prstGeom prst="rect">
            <a:avLst/>
          </a:prstGeom>
        </p:spPr>
        <p:txBody>
          <a:bodyPr vert="horz" lIns="91440" tIns="45720" rIns="91440" bIns="45720" rtlCol="0" anchor="ctr"/>
          <a:lstStyle>
            <a:lvl1pPr algn="ctr">
              <a:defRPr sz="800">
                <a:solidFill>
                  <a:schemeClr val="tx1"/>
                </a:solidFill>
              </a:defRPr>
            </a:lvl1pPr>
          </a:lstStyle>
          <a:p>
            <a:pPr defTabSz="457200">
              <a:spcBef>
                <a:spcPct val="20000"/>
              </a:spcBef>
              <a:defRPr/>
            </a:pPr>
            <a:r>
              <a:rPr lang="en-US" dirty="0"/>
              <a:t>Add long copyright</a:t>
            </a:r>
          </a:p>
        </p:txBody>
      </p:sp>
    </p:spTree>
    <p:extLst>
      <p:ext uri="{BB962C8B-B14F-4D97-AF65-F5344CB8AC3E}">
        <p14:creationId xmlns:p14="http://schemas.microsoft.com/office/powerpoint/2010/main" val="676072783"/>
      </p:ext>
    </p:extLst>
  </p:cSld>
  <p:clrMap bg1="lt1" tx1="dk1" bg2="lt2" tx2="dk2" accent1="accent1" accent2="accent2" accent3="accent3" accent4="accent4" accent5="accent5" accent6="accent6" hlink="hlink" folHlink="folHlink"/>
  <p:sldLayoutIdLst>
    <p:sldLayoutId id="2147483707"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76912"/>
            <a:ext cx="1233578" cy="181088"/>
          </a:xfrm>
          <a:prstGeom prst="rect">
            <a:avLst/>
          </a:prstGeom>
          <a:noFill/>
        </p:spPr>
        <p:txBody>
          <a:bodyPr wrap="square" lIns="45720" rIns="45720" rtlCol="0" anchor="ctr">
            <a:noAutofit/>
          </a:bodyPr>
          <a:lstStyle/>
          <a:p>
            <a:r>
              <a:rPr lang="en-US" sz="800" b="0" dirty="0">
                <a:solidFill>
                  <a:schemeClr val="tx1"/>
                </a:solidFill>
              </a:rPr>
              <a:t>© McGraw Hill LLC</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82880"/>
          </a:xfrm>
          <a:prstGeom prst="rect">
            <a:avLst/>
          </a:prstGeom>
        </p:spPr>
        <p:txBody>
          <a:bodyPr vert="horz" lIns="45720" tIns="45720" rIns="45720" bIns="45720" rtlCol="0" anchor="ctr"/>
          <a:lstStyle>
            <a:lvl1pPr algn="r">
              <a:defRPr sz="800">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9" r:id="rId3"/>
    <p:sldLayoutId id="2147483695" r:id="rId4"/>
    <p:sldLayoutId id="2147483696" r:id="rId5"/>
    <p:sldLayoutId id="2147483697"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0" y="18288"/>
            <a:ext cx="9144000" cy="923544"/>
          </a:xfrm>
          <a:prstGeom prst="rect">
            <a:avLst/>
          </a:prstGeom>
        </p:spPr>
        <p:txBody>
          <a:bodyPr vert="horz" lIns="91440" tIns="45720" rIns="91440" bIns="45720" rtlCol="0" anchor="ctr">
            <a:no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762000" y="1306513"/>
            <a:ext cx="7860792" cy="4941887"/>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76912"/>
            <a:ext cx="1233578" cy="181088"/>
          </a:xfrm>
          <a:prstGeom prst="rect">
            <a:avLst/>
          </a:prstGeom>
          <a:noFill/>
        </p:spPr>
        <p:txBody>
          <a:bodyPr wrap="square" lIns="45720" rIns="45720" rtlCol="0" anchor="ctr">
            <a:noAutofit/>
          </a:bodyPr>
          <a:lstStyle/>
          <a:p>
            <a:r>
              <a:rPr lang="en-US" sz="800" b="0" dirty="0">
                <a:solidFill>
                  <a:schemeClr val="tx1"/>
                </a:solidFill>
              </a:rPr>
              <a:t>© McGraw Hill LLC</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82880"/>
          </a:xfrm>
          <a:prstGeom prst="rect">
            <a:avLst/>
          </a:prstGeom>
        </p:spPr>
        <p:txBody>
          <a:bodyPr vert="horz" lIns="45720" tIns="45720" rIns="45720" bIns="45720" rtlCol="0" anchor="ctr"/>
          <a:lstStyle>
            <a:lvl1pPr algn="r">
              <a:defRPr sz="800">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994783099"/>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25" r:id="rId7"/>
    <p:sldLayoutId id="2147483726" r:id="rId8"/>
  </p:sldLayoutIdLst>
  <p:hf hdr="0" dt="0"/>
  <p:txStyles>
    <p:titleStyle>
      <a:lvl1pPr algn="ctr" defTabSz="914400" rtl="0" eaLnBrk="1" latinLnBrk="0" hangingPunct="1">
        <a:lnSpc>
          <a:spcPct val="100000"/>
        </a:lnSpc>
        <a:spcBef>
          <a:spcPct val="0"/>
        </a:spcBef>
        <a:buNone/>
        <a:defRPr sz="4000" b="1" kern="1200">
          <a:solidFill>
            <a:srgbClr val="081D48"/>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800"/>
        </a:spcAft>
        <a:buClrTx/>
        <a:buSzTx/>
        <a:buFont typeface="Arial" panose="020B0604020202020204" pitchFamily="34" charset="0"/>
        <a:buNone/>
        <a:tabLst/>
        <a:defRPr sz="3000" kern="1200">
          <a:solidFill>
            <a:schemeClr val="tx2"/>
          </a:solidFill>
          <a:latin typeface="+mn-lt"/>
          <a:ea typeface="+mn-ea"/>
          <a:cs typeface="+mn-cs"/>
        </a:defRPr>
      </a:lvl1pPr>
      <a:lvl2pPr marL="344488" indent="-342900" algn="l" defTabSz="914400" rtl="0" eaLnBrk="1" latinLnBrk="0" hangingPunct="1">
        <a:lnSpc>
          <a:spcPct val="100000"/>
        </a:lnSpc>
        <a:spcBef>
          <a:spcPts val="1200"/>
        </a:spcBef>
        <a:spcAft>
          <a:spcPts val="800"/>
        </a:spcAft>
        <a:buClrTx/>
        <a:buFont typeface="Arial" panose="020B0604020202020204" pitchFamily="34" charset="0"/>
        <a:buChar char="•"/>
        <a:defRPr sz="2600" kern="1200">
          <a:solidFill>
            <a:schemeClr val="tx2"/>
          </a:solidFill>
          <a:latin typeface="+mn-lt"/>
          <a:ea typeface="+mn-ea"/>
          <a:cs typeface="+mn-cs"/>
        </a:defRPr>
      </a:lvl2pPr>
      <a:lvl3pPr marL="694944" indent="-347472" algn="l" defTabSz="914400" rtl="0" eaLnBrk="1" latinLnBrk="0" hangingPunct="1">
        <a:lnSpc>
          <a:spcPct val="100000"/>
        </a:lnSpc>
        <a:spcBef>
          <a:spcPts val="1200"/>
        </a:spcBef>
        <a:spcAft>
          <a:spcPts val="800"/>
        </a:spcAft>
        <a:buFont typeface="Arial" panose="020B0604020202020204" pitchFamily="34" charset="0"/>
        <a:buChar char="•"/>
        <a:defRPr sz="22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480" userDrawn="1">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23"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552"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solidFill>
              </a:defRPr>
            </a:lvl1pPr>
          </a:lstStyle>
          <a:p>
            <a:r>
              <a:rPr lang="en-US"/>
              <a:t>Add long copyright line here</a:t>
            </a:r>
            <a:endParaRPr lang="en-US" dirty="0"/>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8178883"/>
      </p:ext>
    </p:extLst>
  </p:cSld>
  <p:clrMap bg1="lt1" tx1="dk1" bg2="lt2" tx2="dk2" accent1="accent1" accent2="accent2" accent3="accent3" accent4="accent4" accent5="accent5" accent6="accent6" hlink="hlink" folHlink="folHlink"/>
  <p:sldLayoutIdLst>
    <p:sldLayoutId id="2147483719"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698ADFA-AE46-0C9E-D1AE-456489486C74}"/>
              </a:ext>
            </a:extLst>
          </p:cNvPr>
          <p:cNvSpPr/>
          <p:nvPr userDrawn="1"/>
        </p:nvSpPr>
        <p:spPr bwMode="auto">
          <a:xfrm>
            <a:off x="0" y="-1"/>
            <a:ext cx="9144000" cy="481867"/>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3" name="Rectangle 2">
            <a:extLst>
              <a:ext uri="{FF2B5EF4-FFF2-40B4-BE49-F238E27FC236}">
                <a16:creationId xmlns:a16="http://schemas.microsoft.com/office/drawing/2014/main" id="{E4327CAC-C646-C1CC-087A-5D3B50F327D1}"/>
              </a:ext>
            </a:extLst>
          </p:cNvPr>
          <p:cNvSpPr/>
          <p:nvPr userDrawn="1"/>
        </p:nvSpPr>
        <p:spPr bwMode="auto">
          <a:xfrm>
            <a:off x="0" y="6369355"/>
            <a:ext cx="9144000" cy="490954"/>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5" name="Footer Placeholder 4"/>
          <p:cNvSpPr>
            <a:spLocks noGrp="1"/>
          </p:cNvSpPr>
          <p:nvPr>
            <p:ph type="ftr" sz="quarter" idx="3"/>
          </p:nvPr>
        </p:nvSpPr>
        <p:spPr>
          <a:xfrm>
            <a:off x="0" y="6364224"/>
            <a:ext cx="9144000" cy="493776"/>
          </a:xfrm>
          <a:prstGeom prst="rect">
            <a:avLst/>
          </a:prstGeom>
        </p:spPr>
        <p:txBody>
          <a:bodyPr vert="horz" lIns="91440" tIns="45720" rIns="91440" bIns="45720" rtlCol="0" anchor="ctr"/>
          <a:lstStyle>
            <a:lvl1pPr algn="ctr">
              <a:defRPr sz="800">
                <a:solidFill>
                  <a:schemeClr val="tx1"/>
                </a:solidFill>
              </a:defRPr>
            </a:lvl1pPr>
          </a:lstStyle>
          <a:p>
            <a:r>
              <a:rPr lang="en-US"/>
              <a:t>Add long copyright line here</a:t>
            </a: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88226B19-7C1D-B85A-CF8F-901F977BD8E0}"/>
              </a:ext>
            </a:extLst>
          </p:cNvPr>
          <p:cNvSpPr txBox="1"/>
          <p:nvPr userDrawn="1"/>
        </p:nvSpPr>
        <p:spPr>
          <a:xfrm>
            <a:off x="215658" y="6676912"/>
            <a:ext cx="1233578" cy="181088"/>
          </a:xfrm>
          <a:prstGeom prst="rect">
            <a:avLst/>
          </a:prstGeom>
          <a:noFill/>
        </p:spPr>
        <p:txBody>
          <a:bodyPr wrap="square" lIns="45720" rIns="45720" rtlCol="0" anchor="ctr">
            <a:noAutofit/>
          </a:bodyPr>
          <a:lstStyle/>
          <a:p>
            <a:r>
              <a:rPr lang="en-US" sz="800" b="0" dirty="0">
                <a:solidFill>
                  <a:schemeClr val="tx1"/>
                </a:solidFill>
              </a:rPr>
              <a:t>© McGraw Hill LLC</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2792" y="6675120"/>
            <a:ext cx="356616" cy="182880"/>
          </a:xfrm>
          <a:prstGeom prst="rect">
            <a:avLst/>
          </a:prstGeom>
        </p:spPr>
        <p:txBody>
          <a:bodyPr vert="horz" lIns="45720" tIns="45720" rIns="45720" bIns="45720" rtlCol="0" anchor="ctr"/>
          <a:lstStyle>
            <a:lvl1pPr algn="r">
              <a:defRPr lang="en-US" sz="800" smtClean="0">
                <a:solidFill>
                  <a:schemeClr val="tx1"/>
                </a:solidFill>
              </a:defRPr>
            </a:lvl1pPr>
          </a:lstStyle>
          <a:p>
            <a:fld id="{68151E55-6873-49E2-B8D5-2F265E6F1973}" type="slidenum">
              <a:rPr lang="en-US" smtClean="0"/>
              <a:pPr/>
              <a:t>‹#›</a:t>
            </a:fld>
            <a:endParaRPr lang="en-US" dirty="0"/>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352EE4-CA17-B40D-F302-387BE3E01903}"/>
              </a:ext>
            </a:extLst>
          </p:cNvPr>
          <p:cNvSpPr/>
          <p:nvPr userDrawn="1"/>
        </p:nvSpPr>
        <p:spPr bwMode="auto">
          <a:xfrm>
            <a:off x="0" y="6367046"/>
            <a:ext cx="9144000" cy="490954"/>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2" name="Short Copyright">
            <a:extLst>
              <a:ext uri="{FF2B5EF4-FFF2-40B4-BE49-F238E27FC236}">
                <a16:creationId xmlns:a16="http://schemas.microsoft.com/office/drawing/2014/main" id="{88226B19-7C1D-B85A-CF8F-901F977BD8E0}"/>
              </a:ext>
            </a:extLst>
          </p:cNvPr>
          <p:cNvSpPr txBox="1"/>
          <p:nvPr userDrawn="1"/>
        </p:nvSpPr>
        <p:spPr>
          <a:xfrm>
            <a:off x="215658" y="6676912"/>
            <a:ext cx="1233578" cy="181088"/>
          </a:xfrm>
          <a:prstGeom prst="rect">
            <a:avLst/>
          </a:prstGeom>
          <a:noFill/>
        </p:spPr>
        <p:txBody>
          <a:bodyPr wrap="square" lIns="45720" rIns="45720" rtlCol="0" anchor="ctr">
            <a:noAutofit/>
          </a:bodyPr>
          <a:lstStyle/>
          <a:p>
            <a:r>
              <a:rPr lang="en-US" sz="800" b="0" dirty="0">
                <a:solidFill>
                  <a:schemeClr val="tx1"/>
                </a:solidFill>
              </a:rPr>
              <a:t>© McGraw Hill LLC</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2792" y="6675120"/>
            <a:ext cx="356616" cy="182880"/>
          </a:xfrm>
          <a:prstGeom prst="rect">
            <a:avLst/>
          </a:prstGeom>
        </p:spPr>
        <p:txBody>
          <a:bodyPr vert="horz" lIns="45720" tIns="45720" rIns="45720" bIns="45720" rtlCol="0" anchor="ctr"/>
          <a:lstStyle>
            <a:lvl1pPr algn="r">
              <a:defRPr lang="en-US" sz="800" smtClean="0">
                <a:solidFill>
                  <a:schemeClr val="tx1"/>
                </a:solidFill>
              </a:defRPr>
            </a:lvl1pPr>
          </a:lstStyle>
          <a:p>
            <a:fld id="{68151E55-6873-49E2-B8D5-2F265E6F1973}" type="slidenum">
              <a:rPr lang="en-US" smtClean="0"/>
              <a:pPr/>
              <a:t>‹#›</a:t>
            </a:fld>
            <a:endParaRPr lang="en-US" dirty="0"/>
          </a:p>
        </p:txBody>
      </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553320416"/>
      </p:ext>
    </p:extLst>
  </p:cSld>
  <p:clrMap bg1="lt1" tx1="dk1" bg2="lt2" tx2="dk2" accent1="accent1" accent2="accent2" accent3="accent3" accent4="accent4" accent5="accent5" accent6="accent6" hlink="hlink" folHlink="folHlink"/>
  <p:sldLayoutIdLst>
    <p:sldLayoutId id="2147483721" r:id="rId1"/>
  </p:sldLayoutIdLst>
  <p:hf hdr="0" dt="0"/>
  <p:txStyles>
    <p:title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C179790D-0AAB-45C4-2B1B-4D9055E9F512}"/>
              </a:ext>
            </a:extLst>
          </p:cNvPr>
          <p:cNvSpPr txBox="1"/>
          <p:nvPr userDrawn="1"/>
        </p:nvSpPr>
        <p:spPr>
          <a:xfrm>
            <a:off x="215658" y="6676912"/>
            <a:ext cx="1233578" cy="181088"/>
          </a:xfrm>
          <a:prstGeom prst="rect">
            <a:avLst/>
          </a:prstGeom>
          <a:noFill/>
        </p:spPr>
        <p:txBody>
          <a:bodyPr wrap="square" lIns="45720" rIns="45720" rtlCol="0" anchor="ctr">
            <a:noAutofit/>
          </a:bodyPr>
          <a:lstStyle/>
          <a:p>
            <a:r>
              <a:rPr lang="en-US" sz="800" b="0" dirty="0">
                <a:solidFill>
                  <a:schemeClr val="tx1"/>
                </a:solidFill>
              </a:rPr>
              <a:t>© McGraw Hill LLC</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6616" cy="182880"/>
          </a:xfrm>
          <a:prstGeom prst="rect">
            <a:avLst/>
          </a:prstGeom>
        </p:spPr>
        <p:txBody>
          <a:bodyPr vert="horz" lIns="45720" tIns="45720" rIns="45720" bIns="45720" rtlCol="0" anchor="ctr"/>
          <a:lstStyle>
            <a:lvl1pPr algn="r">
              <a:defRPr sz="800">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4" r:id="rId1"/>
    <p:sldLayoutId id="2147483705"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C179790D-0AAB-45C4-2B1B-4D9055E9F512}"/>
              </a:ext>
            </a:extLst>
          </p:cNvPr>
          <p:cNvSpPr txBox="1"/>
          <p:nvPr userDrawn="1"/>
        </p:nvSpPr>
        <p:spPr>
          <a:xfrm>
            <a:off x="215658" y="6676912"/>
            <a:ext cx="1233578" cy="181088"/>
          </a:xfrm>
          <a:prstGeom prst="rect">
            <a:avLst/>
          </a:prstGeom>
          <a:noFill/>
        </p:spPr>
        <p:txBody>
          <a:bodyPr wrap="square" lIns="45720" rIns="45720" rtlCol="0" anchor="ctr">
            <a:noAutofit/>
          </a:bodyPr>
          <a:lstStyle/>
          <a:p>
            <a:r>
              <a:rPr lang="en-US" sz="800" b="0" dirty="0">
                <a:solidFill>
                  <a:schemeClr val="tx1"/>
                </a:solidFill>
              </a:rPr>
              <a:t>© McGraw Hill LLC</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6616" cy="182880"/>
          </a:xfrm>
          <a:prstGeom prst="rect">
            <a:avLst/>
          </a:prstGeom>
        </p:spPr>
        <p:txBody>
          <a:bodyPr vert="horz" lIns="45720" tIns="45720" rIns="45720" bIns="45720" rtlCol="0" anchor="ctr"/>
          <a:lstStyle>
            <a:lvl1pPr algn="r">
              <a:defRPr sz="800">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435449353"/>
      </p:ext>
    </p:extLst>
  </p:cSld>
  <p:clrMap bg1="lt1" tx1="dk1" bg2="lt2" tx2="dk2" accent1="accent1" accent2="accent2" accent3="accent3" accent4="accent4" accent5="accent5" accent6="accent6" hlink="hlink" folHlink="folHlink"/>
  <p:sldLayoutIdLst>
    <p:sldLayoutId id="2147483724" r:id="rId1"/>
  </p:sldLayoutIdLst>
  <p:hf hdr="0" dt="0"/>
  <p:txStyles>
    <p:titleStyle>
      <a:lvl1pPr algn="ctr" defTabSz="914400" rtl="0" eaLnBrk="1" latinLnBrk="0" hangingPunct="1">
        <a:lnSpc>
          <a:spcPct val="100000"/>
        </a:lnSpc>
        <a:spcBef>
          <a:spcPct val="0"/>
        </a:spcBef>
        <a:buNone/>
        <a:defRPr sz="3500" b="0" kern="1200">
          <a:solidFill>
            <a:srgbClr val="081D48"/>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slide" Target="slide5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slide" Target="slide52.xml"/><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slide" Target="slide53.xml"/><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slide" Target="slide54.xml"/><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slide" Target="slide55.xml"/><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8.emf"/><Relationship Id="rId7" Type="http://schemas.openxmlformats.org/officeDocument/2006/relationships/image" Target="../media/image10.wmf"/><Relationship Id="rId2" Type="http://schemas.openxmlformats.org/officeDocument/2006/relationships/oleObject" Target="../embeddings/oleObject1.bin"/><Relationship Id="rId1" Type="http://schemas.openxmlformats.org/officeDocument/2006/relationships/slideLayout" Target="../slideLayouts/slideLayout19.xml"/><Relationship Id="rId6" Type="http://schemas.openxmlformats.org/officeDocument/2006/relationships/oleObject" Target="../embeddings/oleObject3.bin"/><Relationship Id="rId11" Type="http://schemas.openxmlformats.org/officeDocument/2006/relationships/image" Target="../media/image12.emf"/><Relationship Id="rId5" Type="http://schemas.openxmlformats.org/officeDocument/2006/relationships/image" Target="../media/image9.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11.wmf"/></Relationships>
</file>

<file path=ppt/slides/_rels/slide2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slide" Target="slide56.xml"/><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slide" Target="slide58.xml"/><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slide" Target="slide59.xml"/><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slide" Target="slide60.xml"/><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slide" Target="slide61.xml"/><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slide" Target="slide62.xml"/><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24.wmf"/><Relationship Id="rId7" Type="http://schemas.openxmlformats.org/officeDocument/2006/relationships/image" Target="../media/image26.wmf"/><Relationship Id="rId2" Type="http://schemas.openxmlformats.org/officeDocument/2006/relationships/oleObject" Target="../embeddings/oleObject6.bin"/><Relationship Id="rId1" Type="http://schemas.openxmlformats.org/officeDocument/2006/relationships/slideLayout" Target="../slideLayouts/slideLayout18.xml"/><Relationship Id="rId6" Type="http://schemas.openxmlformats.org/officeDocument/2006/relationships/oleObject" Target="../embeddings/oleObject8.bin"/><Relationship Id="rId5" Type="http://schemas.openxmlformats.org/officeDocument/2006/relationships/image" Target="../media/image25.wmf"/><Relationship Id="rId4" Type="http://schemas.openxmlformats.org/officeDocument/2006/relationships/oleObject" Target="../embeddings/oleObject7.bin"/></Relationships>
</file>

<file path=ppt/slides/_rels/slide42.xml.rels><?xml version="1.0" encoding="UTF-8" standalone="yes"?>
<Relationships xmlns="http://schemas.openxmlformats.org/package/2006/relationships"><Relationship Id="rId3" Type="http://schemas.openxmlformats.org/officeDocument/2006/relationships/slide" Target="slide63.xml"/><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slide" Target="slide64.xml"/><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slide" Target="slide65.xml"/><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slide" Target="slide6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7.xml"/></Relationships>
</file>

<file path=ppt/slides/_rels/slide52.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7.xml"/></Relationships>
</file>

<file path=ppt/slides/_rels/slide53.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7.xml"/></Relationships>
</file>

<file path=ppt/slides/_rels/slide54.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27.xml"/></Relationships>
</file>

<file path=ppt/slides/_rels/slide55.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7.xml"/></Relationships>
</file>

<file path=ppt/slides/_rels/slide56.xml.rels><?xml version="1.0" encoding="UTF-8" standalone="yes"?>
<Relationships xmlns="http://schemas.openxmlformats.org/package/2006/relationships"><Relationship Id="rId2" Type="http://schemas.openxmlformats.org/officeDocument/2006/relationships/slide" Target="slide23.xml"/><Relationship Id="rId1" Type="http://schemas.openxmlformats.org/officeDocument/2006/relationships/slideLayout" Target="../slideLayouts/slideLayout27.xml"/></Relationships>
</file>

<file path=ppt/slides/_rels/slide57.xml.rels><?xml version="1.0" encoding="UTF-8" standalone="yes"?>
<Relationships xmlns="http://schemas.openxmlformats.org/package/2006/relationships"><Relationship Id="rId2" Type="http://schemas.openxmlformats.org/officeDocument/2006/relationships/slide" Target="slide26.xml"/><Relationship Id="rId1" Type="http://schemas.openxmlformats.org/officeDocument/2006/relationships/slideLayout" Target="../slideLayouts/slideLayout27.xml"/></Relationships>
</file>

<file path=ppt/slides/_rels/slide58.xml.rels><?xml version="1.0" encoding="UTF-8" standalone="yes"?>
<Relationships xmlns="http://schemas.openxmlformats.org/package/2006/relationships"><Relationship Id="rId2" Type="http://schemas.openxmlformats.org/officeDocument/2006/relationships/slide" Target="slide27.xml"/><Relationship Id="rId1" Type="http://schemas.openxmlformats.org/officeDocument/2006/relationships/slideLayout" Target="../slideLayouts/slideLayout27.xml"/></Relationships>
</file>

<file path=ppt/slides/_rels/slide59.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slideLayout" Target="../slideLayouts/slideLayout27.xml"/></Relationships>
</file>

<file path=ppt/slides/_rels/slide60.xml.rels><?xml version="1.0" encoding="UTF-8" standalone="yes"?>
<Relationships xmlns="http://schemas.openxmlformats.org/package/2006/relationships"><Relationship Id="rId2" Type="http://schemas.openxmlformats.org/officeDocument/2006/relationships/slide" Target="slide32.xml"/><Relationship Id="rId1" Type="http://schemas.openxmlformats.org/officeDocument/2006/relationships/slideLayout" Target="../slideLayouts/slideLayout27.xml"/></Relationships>
</file>

<file path=ppt/slides/_rels/slide61.xml.rels><?xml version="1.0" encoding="UTF-8" standalone="yes"?>
<Relationships xmlns="http://schemas.openxmlformats.org/package/2006/relationships"><Relationship Id="rId2" Type="http://schemas.openxmlformats.org/officeDocument/2006/relationships/slide" Target="slide34.xml"/><Relationship Id="rId1" Type="http://schemas.openxmlformats.org/officeDocument/2006/relationships/slideLayout" Target="../slideLayouts/slideLayout27.xml"/></Relationships>
</file>

<file path=ppt/slides/_rels/slide62.xml.rels><?xml version="1.0" encoding="UTF-8" standalone="yes"?>
<Relationships xmlns="http://schemas.openxmlformats.org/package/2006/relationships"><Relationship Id="rId2" Type="http://schemas.openxmlformats.org/officeDocument/2006/relationships/slide" Target="slide38.xml"/><Relationship Id="rId1" Type="http://schemas.openxmlformats.org/officeDocument/2006/relationships/slideLayout" Target="../slideLayouts/slideLayout27.xml"/></Relationships>
</file>

<file path=ppt/slides/_rels/slide63.xml.rels><?xml version="1.0" encoding="UTF-8" standalone="yes"?>
<Relationships xmlns="http://schemas.openxmlformats.org/package/2006/relationships"><Relationship Id="rId2" Type="http://schemas.openxmlformats.org/officeDocument/2006/relationships/slide" Target="slide42.xml"/><Relationship Id="rId1" Type="http://schemas.openxmlformats.org/officeDocument/2006/relationships/slideLayout" Target="../slideLayouts/slideLayout27.xml"/></Relationships>
</file>

<file path=ppt/slides/_rels/slide64.xml.rels><?xml version="1.0" encoding="UTF-8" standalone="yes"?>
<Relationships xmlns="http://schemas.openxmlformats.org/package/2006/relationships"><Relationship Id="rId2" Type="http://schemas.openxmlformats.org/officeDocument/2006/relationships/slide" Target="slide45.xml"/><Relationship Id="rId1" Type="http://schemas.openxmlformats.org/officeDocument/2006/relationships/slideLayout" Target="../slideLayouts/slideLayout27.xml"/></Relationships>
</file>

<file path=ppt/slides/_rels/slide65.xml.rels><?xml version="1.0" encoding="UTF-8" standalone="yes"?>
<Relationships xmlns="http://schemas.openxmlformats.org/package/2006/relationships"><Relationship Id="rId2" Type="http://schemas.openxmlformats.org/officeDocument/2006/relationships/slide" Target="slide47.xml"/><Relationship Id="rId1" Type="http://schemas.openxmlformats.org/officeDocument/2006/relationships/slideLayout" Target="../slideLayouts/slideLayout27.xml"/></Relationships>
</file>

<file path=ppt/slides/_rels/slide66.xml.rels><?xml version="1.0" encoding="UTF-8" standalone="yes"?>
<Relationships xmlns="http://schemas.openxmlformats.org/package/2006/relationships"><Relationship Id="rId2" Type="http://schemas.openxmlformats.org/officeDocument/2006/relationships/slide" Target="slide48.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B08D8-3665-667B-9890-6898FD1FE304}"/>
              </a:ext>
            </a:extLst>
          </p:cNvPr>
          <p:cNvSpPr>
            <a:spLocks noGrp="1"/>
          </p:cNvSpPr>
          <p:nvPr>
            <p:ph type="ctrTitle"/>
          </p:nvPr>
        </p:nvSpPr>
        <p:spPr/>
        <p:txBody>
          <a:bodyPr lIns="960120"/>
          <a:lstStyle/>
          <a:p>
            <a:r>
              <a:rPr lang="en-US" noProof="0" dirty="0"/>
              <a:t>Biology</a:t>
            </a:r>
          </a:p>
        </p:txBody>
      </p:sp>
      <p:sp>
        <p:nvSpPr>
          <p:cNvPr id="4" name="Content Placeholder 2">
            <a:extLst>
              <a:ext uri="{FF2B5EF4-FFF2-40B4-BE49-F238E27FC236}">
                <a16:creationId xmlns:a16="http://schemas.microsoft.com/office/drawing/2014/main" id="{4ADFA3C3-8AC5-9EA5-CBDB-11BE255E51CA}"/>
              </a:ext>
            </a:extLst>
          </p:cNvPr>
          <p:cNvSpPr>
            <a:spLocks noGrp="1"/>
          </p:cNvSpPr>
          <p:nvPr>
            <p:ph sz="quarter" idx="13"/>
          </p:nvPr>
        </p:nvSpPr>
        <p:spPr>
          <a:prstGeom prst="rect">
            <a:avLst/>
          </a:prstGeom>
        </p:spPr>
        <p:txBody>
          <a:bodyPr/>
          <a:lstStyle/>
          <a:p>
            <a:r>
              <a:rPr lang="en-US" noProof="0" dirty="0">
                <a:latin typeface="+mj-lt"/>
              </a:rPr>
              <a:t>Sylvia S. </a:t>
            </a:r>
            <a:r>
              <a:rPr lang="en-US" noProof="0" dirty="0" err="1">
                <a:latin typeface="+mj-lt"/>
              </a:rPr>
              <a:t>Mader</a:t>
            </a:r>
            <a:r>
              <a:rPr lang="en-US" noProof="0" dirty="0">
                <a:latin typeface="+mj-lt"/>
              </a:rPr>
              <a:t> Michael </a:t>
            </a:r>
            <a:r>
              <a:rPr lang="en-US" noProof="0" dirty="0" err="1">
                <a:latin typeface="+mj-lt"/>
              </a:rPr>
              <a:t>Windelspecht</a:t>
            </a:r>
            <a:endParaRPr lang="en-US" noProof="0" dirty="0">
              <a:latin typeface="+mj-lt"/>
            </a:endParaRPr>
          </a:p>
        </p:txBody>
      </p:sp>
      <p:sp>
        <p:nvSpPr>
          <p:cNvPr id="6" name="Subtitle 3">
            <a:extLst>
              <a:ext uri="{FF2B5EF4-FFF2-40B4-BE49-F238E27FC236}">
                <a16:creationId xmlns:a16="http://schemas.microsoft.com/office/drawing/2014/main" id="{B43F5344-CF76-7A65-FAC7-D50CC965B2B0}"/>
              </a:ext>
            </a:extLst>
          </p:cNvPr>
          <p:cNvSpPr>
            <a:spLocks noGrp="1"/>
          </p:cNvSpPr>
          <p:nvPr>
            <p:ph sz="quarter" idx="14"/>
          </p:nvPr>
        </p:nvSpPr>
        <p:spPr>
          <a:xfrm>
            <a:off x="4288536" y="3337560"/>
            <a:ext cx="4855464" cy="1828800"/>
          </a:xfrm>
        </p:spPr>
        <p:txBody>
          <a:bodyPr/>
          <a:lstStyle/>
          <a:p>
            <a:pPr>
              <a:spcBef>
                <a:spcPts val="0"/>
              </a:spcBef>
            </a:pPr>
            <a:r>
              <a:rPr lang="en-US" noProof="0" dirty="0">
                <a:latin typeface="+mj-lt"/>
              </a:rPr>
              <a:t>Chapter 25 Flowering Plants: Nutrition and Transport</a:t>
            </a:r>
          </a:p>
          <a:p>
            <a:pPr>
              <a:spcBef>
                <a:spcPts val="0"/>
              </a:spcBef>
            </a:pPr>
            <a:r>
              <a:rPr lang="en-US" noProof="0" dirty="0">
                <a:latin typeface="+mj-lt"/>
              </a:rPr>
              <a:t>Lecture Outline</a:t>
            </a:r>
          </a:p>
        </p:txBody>
      </p:sp>
      <p:pic>
        <p:nvPicPr>
          <p:cNvPr id="15" name="Picture 1" descr="Front cover of the book titled, Biology, Evergreen Release, authored by Sylvia S. Mader and Michael Windelspecht and published nu McGraw Hill.">
            <a:extLst>
              <a:ext uri="{FF2B5EF4-FFF2-40B4-BE49-F238E27FC236}">
                <a16:creationId xmlns:a16="http://schemas.microsoft.com/office/drawing/2014/main" id="{74F90209-1412-CCDB-DC98-5D6F4F6D94BE}"/>
              </a:ext>
            </a:extLst>
          </p:cNvPr>
          <p:cNvPicPr>
            <a:picLocks noChangeAspect="1"/>
          </p:cNvPicPr>
          <p:nvPr/>
        </p:nvPicPr>
        <p:blipFill rotWithShape="1">
          <a:blip r:embed="rId3">
            <a:extLst>
              <a:ext uri="{28A0092B-C50C-407E-A947-70E740481C1C}">
                <a14:useLocalDpi xmlns:a14="http://schemas.microsoft.com/office/drawing/2010/main" val="0"/>
              </a:ext>
            </a:extLst>
          </a:blip>
          <a:srcRect l="-1" r="-81675"/>
          <a:stretch/>
        </p:blipFill>
        <p:spPr>
          <a:xfrm>
            <a:off x="298925" y="1358525"/>
            <a:ext cx="6782099" cy="4728171"/>
          </a:xfrm>
          <a:prstGeom prst="rect">
            <a:avLst/>
          </a:prstGeom>
        </p:spPr>
      </p:pic>
      <p:sp>
        <p:nvSpPr>
          <p:cNvPr id="3" name="Text Placeholder 4">
            <a:extLst>
              <a:ext uri="{FF2B5EF4-FFF2-40B4-BE49-F238E27FC236}">
                <a16:creationId xmlns:a16="http://schemas.microsoft.com/office/drawing/2014/main" id="{2D59316C-D115-122B-AEB5-BF1297F17DFE}"/>
              </a:ext>
            </a:extLst>
          </p:cNvPr>
          <p:cNvSpPr>
            <a:spLocks noGrp="1"/>
          </p:cNvSpPr>
          <p:nvPr>
            <p:ph type="body" sz="quarter" idx="15"/>
          </p:nvPr>
        </p:nvSpPr>
        <p:spPr>
          <a:prstGeom prst="rect">
            <a:avLst/>
          </a:prstGeom>
        </p:spPr>
        <p:txBody>
          <a:bodyPr/>
          <a:lstStyle/>
          <a:p>
            <a:r>
              <a:rPr lang="en-US" noProof="0" dirty="0">
                <a:latin typeface="+mn-lt"/>
              </a:rPr>
              <a:t>See separate </a:t>
            </a:r>
            <a:r>
              <a:rPr lang="en-US" noProof="0" dirty="0" err="1">
                <a:latin typeface="+mn-lt"/>
              </a:rPr>
              <a:t>FlexArt</a:t>
            </a:r>
            <a:r>
              <a:rPr lang="en-US" noProof="0" dirty="0">
                <a:latin typeface="+mn-lt"/>
              </a:rPr>
              <a:t> PowerPoint slides for all figures and tables pre-inserted into PowerPoint without notes.</a:t>
            </a:r>
          </a:p>
        </p:txBody>
      </p:sp>
      <p:sp>
        <p:nvSpPr>
          <p:cNvPr id="12" name="Text Placeholder 5">
            <a:extLst>
              <a:ext uri="{FF2B5EF4-FFF2-40B4-BE49-F238E27FC236}">
                <a16:creationId xmlns:a16="http://schemas.microsoft.com/office/drawing/2014/main" id="{C93B92BD-BBF0-AFC2-E8FD-C7C93EAA0405}"/>
              </a:ext>
            </a:extLst>
          </p:cNvPr>
          <p:cNvSpPr>
            <a:spLocks noGrp="1"/>
          </p:cNvSpPr>
          <p:nvPr>
            <p:ph type="body" sz="quarter" idx="16"/>
          </p:nvPr>
        </p:nvSpPr>
        <p:spPr/>
        <p:txBody>
          <a:bodyPr/>
          <a:lstStyle/>
          <a:p>
            <a:r>
              <a:rPr lang="en-US" noProof="0" dirty="0">
                <a:latin typeface="+mn-lt"/>
                <a:hlinkClick r:id="rId4" action="ppaction://hlinksldjump"/>
              </a:rPr>
              <a:t>Access the text alternative for slide images.</a:t>
            </a:r>
            <a:endParaRPr lang="en-US" noProof="0" dirty="0">
              <a:latin typeface="+mn-lt"/>
            </a:endParaRPr>
          </a:p>
        </p:txBody>
      </p:sp>
      <p:sp>
        <p:nvSpPr>
          <p:cNvPr id="5" name="Footer Placeholder 6">
            <a:extLst>
              <a:ext uri="{FF2B5EF4-FFF2-40B4-BE49-F238E27FC236}">
                <a16:creationId xmlns:a16="http://schemas.microsoft.com/office/drawing/2014/main" id="{30A8FC61-2FAD-3E17-6B10-D32BB2B4CEE9}"/>
              </a:ext>
            </a:extLst>
          </p:cNvPr>
          <p:cNvSpPr>
            <a:spLocks noGrp="1"/>
          </p:cNvSpPr>
          <p:nvPr>
            <p:ph type="ftr" sz="quarter" idx="12"/>
          </p:nvPr>
        </p:nvSpPr>
        <p:spPr/>
        <p:txBody>
          <a:bodyPr/>
          <a:lstStyle/>
          <a:p>
            <a:pPr defTabSz="457200">
              <a:spcBef>
                <a:spcPct val="20000"/>
              </a:spcBef>
              <a:defRPr/>
            </a:pPr>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1787851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Outline</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590"/>
            <a:ext cx="8039100" cy="5370606"/>
          </a:xfrm>
        </p:spPr>
        <p:txBody>
          <a:bodyPr/>
          <a:lstStyle/>
          <a:p>
            <a:pPr>
              <a:spcBef>
                <a:spcPts val="600"/>
              </a:spcBef>
            </a:pPr>
            <a:r>
              <a:rPr lang="en-US" sz="3200" noProof="0" dirty="0">
                <a:latin typeface="+mn-lt"/>
              </a:rPr>
              <a:t>25.1	Plant Nutrition and Soil</a:t>
            </a:r>
          </a:p>
          <a:p>
            <a:pPr>
              <a:spcBef>
                <a:spcPts val="600"/>
              </a:spcBef>
            </a:pPr>
            <a:r>
              <a:rPr lang="en-US" sz="3200" noProof="0" dirty="0">
                <a:latin typeface="+mn-lt"/>
              </a:rPr>
              <a:t>25.2	Water and Mineral Uptake </a:t>
            </a:r>
          </a:p>
          <a:p>
            <a:pPr>
              <a:spcBef>
                <a:spcPts val="600"/>
              </a:spcBef>
            </a:pPr>
            <a:r>
              <a:rPr lang="en-US" sz="3200" noProof="0" dirty="0">
                <a:latin typeface="+mn-lt"/>
              </a:rPr>
              <a:t>25.3	Transport Mechanisms in Plants</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2</a:t>
            </a:fld>
            <a:endParaRPr lang="en-US" dirty="0"/>
          </a:p>
        </p:txBody>
      </p:sp>
    </p:spTree>
    <p:extLst>
      <p:ext uri="{BB962C8B-B14F-4D97-AF65-F5344CB8AC3E}">
        <p14:creationId xmlns:p14="http://schemas.microsoft.com/office/powerpoint/2010/main" val="3460440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25.1 Plant Nutrition and Soil</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755"/>
            <a:ext cx="7591168" cy="5521797"/>
          </a:xfrm>
        </p:spPr>
        <p:txBody>
          <a:bodyPr/>
          <a:lstStyle/>
          <a:p>
            <a:pPr marL="0" marR="0" lvl="1" indent="0" algn="l" defTabSz="914400" rtl="0" eaLnBrk="1" fontAlgn="auto" latinLnBrk="0" hangingPunct="1">
              <a:spcBef>
                <a:spcPts val="0"/>
              </a:spcBef>
              <a:spcAft>
                <a:spcPts val="80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About 95% of a plant’s dry weight is carbon, hydrogen, and oxygen.</a:t>
            </a:r>
          </a:p>
          <a:p>
            <a:pPr marL="0" marR="0" lvl="1" indent="0" algn="l" defTabSz="914400" rtl="0" eaLnBrk="1" fontAlgn="auto" latinLnBrk="0" hangingPunct="1">
              <a:spcBef>
                <a:spcPts val="800"/>
              </a:spcBef>
              <a:spcAft>
                <a:spcPts val="80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These are the building blocks for organic compounds such as carbohydrates.</a:t>
            </a:r>
          </a:p>
          <a:p>
            <a:pPr marL="0" marR="0" lvl="1" indent="0" algn="l" defTabSz="914400" rtl="0" eaLnBrk="1" fontAlgn="auto" latinLnBrk="0" hangingPunct="1">
              <a:spcBef>
                <a:spcPts val="800"/>
              </a:spcBef>
              <a:spcAft>
                <a:spcPts val="80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Primary nutrients include carbon dioxide (organic compound) and water.</a:t>
            </a:r>
          </a:p>
          <a:p>
            <a:pPr marL="347472" marR="0" lvl="2" algn="l" defTabSz="914400" rtl="0" eaLnBrk="1" fontAlgn="auto" latinLnBrk="0" hangingPunct="1">
              <a:spcBef>
                <a:spcPts val="800"/>
              </a:spcBef>
              <a:spcAft>
                <a:spcPts val="8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Carbon dioxide supplies carbon, and water supplies hydrogen and oxygen.</a:t>
            </a:r>
          </a:p>
          <a:p>
            <a:pPr marL="0" marR="0" lvl="1" indent="0" algn="l" defTabSz="914400" rtl="0" eaLnBrk="1" fontAlgn="auto" latinLnBrk="0" hangingPunct="1">
              <a:spcBef>
                <a:spcPts val="800"/>
              </a:spcBef>
              <a:spcAft>
                <a:spcPts val="800"/>
              </a:spcAft>
              <a:buClr>
                <a:srgbClr val="000000"/>
              </a:buClr>
              <a:buSzTx/>
              <a:buFont typeface="Arial" panose="020B0604020202020204" pitchFamily="34" charset="0"/>
              <a:buNone/>
              <a:tabLst/>
              <a:defRPr/>
            </a:pPr>
            <a:r>
              <a:rPr kumimoji="0" lang="en-US" b="1" i="0" u="none" strike="noStrike" kern="1200" cap="none" spc="0" normalizeH="0" baseline="0" noProof="0" dirty="0">
                <a:ln>
                  <a:noFill/>
                </a:ln>
                <a:solidFill>
                  <a:srgbClr val="DB0F0F"/>
                </a:solidFill>
                <a:effectLst/>
                <a:uLnTx/>
                <a:uFillTx/>
                <a:ea typeface="+mn-ea"/>
                <a:cs typeface="Calibri" panose="020F0502020204030204" pitchFamily="34" charset="0"/>
              </a:rPr>
              <a:t>Mineral</a:t>
            </a:r>
            <a:r>
              <a:rPr kumimoji="0" lang="en-US" b="0" i="0" u="none" strike="noStrike" kern="1200" cap="none" spc="0" normalizeH="0" baseline="0" noProof="0" dirty="0">
                <a:ln>
                  <a:noFill/>
                </a:ln>
                <a:solidFill>
                  <a:srgbClr val="000000"/>
                </a:solidFill>
                <a:effectLst/>
                <a:uLnTx/>
                <a:uFillTx/>
                <a:ea typeface="Times New Roman" panose="02020603050405020304" pitchFamily="18" charset="0"/>
                <a:cs typeface="Calibri" panose="020F0502020204030204" pitchFamily="34" charset="0"/>
              </a:rPr>
              <a:t>—</a:t>
            </a:r>
            <a:r>
              <a:rPr kumimoji="0" lang="en-US" b="0" i="0" u="none" strike="noStrike" kern="1200" cap="none" spc="0" normalizeH="0" baseline="0" noProof="0" dirty="0">
                <a:ln>
                  <a:noFill/>
                </a:ln>
                <a:solidFill>
                  <a:prstClr val="black"/>
                </a:solidFill>
                <a:effectLst/>
                <a:uLnTx/>
                <a:uFillTx/>
                <a:ea typeface="+mn-ea"/>
                <a:cs typeface="Calibri" panose="020F0502020204030204" pitchFamily="34" charset="0"/>
              </a:rPr>
              <a:t>Inorganic substance usually containing two or more elements</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3</a:t>
            </a:fld>
            <a:endParaRPr lang="en-US" dirty="0"/>
          </a:p>
        </p:txBody>
      </p:sp>
    </p:spTree>
    <p:extLst>
      <p:ext uri="{BB962C8B-B14F-4D97-AF65-F5344CB8AC3E}">
        <p14:creationId xmlns:p14="http://schemas.microsoft.com/office/powerpoint/2010/main" val="2073437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Essential Inorganic Nutrients</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755"/>
            <a:ext cx="7772400" cy="5521797"/>
          </a:xfrm>
        </p:spPr>
        <p:txBody>
          <a:bodyPr/>
          <a:lstStyle/>
          <a:p>
            <a:pPr marL="0" marR="0" lvl="0" indent="0" algn="l" defTabSz="914400" rtl="0" eaLnBrk="1" fontAlgn="auto" latinLnBrk="0" hangingPunct="1">
              <a:spcBef>
                <a:spcPts val="0"/>
              </a:spcBef>
              <a:spcAft>
                <a:spcPts val="2000"/>
              </a:spcAft>
              <a:buClrTx/>
              <a:buSzTx/>
              <a:buFont typeface="Arial" panose="020B0604020202020204" pitchFamily="34" charset="0"/>
              <a:buNone/>
              <a:tabLst/>
              <a:defRPr/>
            </a:pPr>
            <a:r>
              <a:rPr kumimoji="0" lang="en-US" sz="3000" b="0" i="0" u="none" strike="noStrike" kern="1200" cap="none" spc="0" normalizeH="0" baseline="0" noProof="0" dirty="0">
                <a:ln>
                  <a:noFill/>
                </a:ln>
                <a:solidFill>
                  <a:srgbClr val="000000"/>
                </a:solidFill>
                <a:effectLst/>
                <a:uLnTx/>
                <a:uFillTx/>
                <a:ea typeface="+mn-ea"/>
                <a:cs typeface="Calibri" panose="020F0502020204030204" pitchFamily="34" charset="0"/>
              </a:rPr>
              <a:t>A nutrient is essential if:</a:t>
            </a:r>
          </a:p>
          <a:p>
            <a:pPr marL="347472" marR="0" lvl="1" indent="-347472" algn="l" defTabSz="914400" rtl="0" eaLnBrk="1" fontAlgn="auto" latinLnBrk="0" hangingPunct="1">
              <a:spcBef>
                <a:spcPts val="0"/>
              </a:spcBef>
              <a:spcAft>
                <a:spcPts val="80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srgbClr val="000000"/>
                </a:solidFill>
                <a:effectLst/>
                <a:uLnTx/>
                <a:uFillTx/>
                <a:ea typeface="+mn-ea"/>
                <a:cs typeface="Calibri" panose="020F0502020204030204" pitchFamily="34" charset="0"/>
              </a:rPr>
              <a:t>it has an identifiable role,</a:t>
            </a:r>
          </a:p>
          <a:p>
            <a:pPr marL="347472" marR="0" lvl="1" indent="-347472" algn="l" defTabSz="914400" rtl="0" eaLnBrk="1" fontAlgn="auto" latinLnBrk="0" hangingPunct="1">
              <a:spcBef>
                <a:spcPts val="800"/>
              </a:spcBef>
              <a:spcAft>
                <a:spcPts val="80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srgbClr val="000000"/>
                </a:solidFill>
                <a:effectLst/>
                <a:uLnTx/>
                <a:uFillTx/>
                <a:ea typeface="+mn-ea"/>
                <a:cs typeface="Calibri" panose="020F0502020204030204" pitchFamily="34" charset="0"/>
              </a:rPr>
              <a:t>another nutrient cannot substitute for it, and </a:t>
            </a:r>
          </a:p>
          <a:p>
            <a:pPr marL="347472" marR="0" lvl="1" indent="-347472" algn="l" defTabSz="914400" rtl="0" eaLnBrk="1" fontAlgn="auto" latinLnBrk="0" hangingPunct="1">
              <a:spcBef>
                <a:spcPts val="800"/>
              </a:spcBef>
              <a:spcAft>
                <a:spcPts val="80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srgbClr val="000000"/>
                </a:solidFill>
                <a:effectLst/>
                <a:uLnTx/>
                <a:uFillTx/>
                <a:ea typeface="+mn-ea"/>
                <a:cs typeface="Calibri" panose="020F0502020204030204" pitchFamily="34" charset="0"/>
              </a:rPr>
              <a:t>a deficiency of the nutrient causes a plant to die.</a:t>
            </a:r>
          </a:p>
          <a:p>
            <a:pPr marL="0" marR="0" lvl="0" indent="0" algn="l" defTabSz="914400" rtl="0" eaLnBrk="1" fontAlgn="auto" latinLnBrk="0" hangingPunct="1">
              <a:spcBef>
                <a:spcPts val="0"/>
              </a:spcBef>
              <a:spcAft>
                <a:spcPts val="2000"/>
              </a:spcAft>
              <a:buClrTx/>
              <a:buSzTx/>
              <a:buFont typeface="Arial" panose="020B0604020202020204" pitchFamily="34" charset="0"/>
              <a:buNone/>
              <a:tabLst/>
              <a:defRPr/>
            </a:pPr>
            <a:r>
              <a:rPr kumimoji="0" lang="en-US" sz="3000" b="1" i="0" u="none" strike="noStrike" kern="1200" cap="none" spc="0" normalizeH="0" baseline="0" noProof="0" dirty="0">
                <a:ln>
                  <a:noFill/>
                </a:ln>
                <a:solidFill>
                  <a:srgbClr val="DB0F0F"/>
                </a:solidFill>
                <a:effectLst/>
                <a:uLnTx/>
                <a:uFillTx/>
                <a:ea typeface="+mn-ea"/>
                <a:cs typeface="Calibri" panose="020F0502020204030204" pitchFamily="34" charset="0"/>
              </a:rPr>
              <a:t>Essential nutrients </a:t>
            </a: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are divided into macro- and micronutrients according to their relative concentrations in plant tissues.</a:t>
            </a:r>
          </a:p>
          <a:p>
            <a:pPr marL="0" marR="0" lvl="0" indent="0" algn="l" defTabSz="914400" rtl="0" eaLnBrk="1" fontAlgn="auto" latinLnBrk="0" hangingPunct="1">
              <a:spcBef>
                <a:spcPts val="0"/>
              </a:spcBef>
              <a:spcAft>
                <a:spcPts val="2000"/>
              </a:spcAft>
              <a:buClrTx/>
              <a:buSzTx/>
              <a:buFont typeface="Arial" panose="020B0604020202020204" pitchFamily="34" charset="0"/>
              <a:buNone/>
              <a:tabLst/>
              <a:defRPr/>
            </a:pPr>
            <a:r>
              <a:rPr kumimoji="0" lang="en-US" sz="3000" b="1" i="0" u="none" strike="noStrike" kern="1200" cap="none" spc="0" normalizeH="0" baseline="0" noProof="0" dirty="0">
                <a:ln>
                  <a:noFill/>
                </a:ln>
                <a:solidFill>
                  <a:srgbClr val="DB0F0F"/>
                </a:solidFill>
                <a:effectLst/>
                <a:uLnTx/>
                <a:uFillTx/>
                <a:ea typeface="+mn-ea"/>
                <a:cs typeface="Calibri" panose="020F0502020204030204" pitchFamily="34" charset="0"/>
              </a:rPr>
              <a:t>Macronutrients</a:t>
            </a: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—C, H, O, P, K, S, C</a:t>
            </a:r>
            <a:r>
              <a:rPr kumimoji="0" lang="en-US" sz="100" b="0" i="0" u="none" strike="noStrike" kern="1200" cap="none" spc="-300" normalizeH="0" baseline="0" noProof="0" dirty="0">
                <a:ln>
                  <a:noFill/>
                </a:ln>
                <a:solidFill>
                  <a:prstClr val="black"/>
                </a:solidFill>
                <a:effectLst/>
                <a:uLnTx/>
                <a:uFillTx/>
                <a:ea typeface="+mn-ea"/>
                <a:cs typeface="Calibri" panose="020F0502020204030204" pitchFamily="34" charset="0"/>
              </a:rPr>
              <a:t> </a:t>
            </a: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a, Mg</a:t>
            </a:r>
          </a:p>
          <a:p>
            <a:pPr marL="0" marR="0" lvl="0" indent="0" algn="l" defTabSz="914400" rtl="0" eaLnBrk="1" fontAlgn="auto" latinLnBrk="0" hangingPunct="1">
              <a:spcBef>
                <a:spcPts val="0"/>
              </a:spcBef>
              <a:spcAft>
                <a:spcPts val="2000"/>
              </a:spcAft>
              <a:buClrTx/>
              <a:buSzTx/>
              <a:buFont typeface="Arial" panose="020B0604020202020204" pitchFamily="34" charset="0"/>
              <a:buNone/>
              <a:tabLst/>
              <a:defRPr/>
            </a:pPr>
            <a:r>
              <a:rPr kumimoji="0" lang="en-US" sz="3000" b="1" i="0" u="none" strike="noStrike" kern="1200" cap="none" spc="0" normalizeH="0" baseline="0" noProof="0" dirty="0">
                <a:ln>
                  <a:noFill/>
                </a:ln>
                <a:solidFill>
                  <a:srgbClr val="DB0F0F"/>
                </a:solidFill>
                <a:effectLst/>
                <a:uLnTx/>
                <a:uFillTx/>
                <a:ea typeface="+mn-ea"/>
                <a:cs typeface="Calibri" panose="020F0502020204030204" pitchFamily="34" charset="0"/>
              </a:rPr>
              <a:t>Micronutrients</a:t>
            </a: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—F</a:t>
            </a:r>
            <a:r>
              <a:rPr kumimoji="0" lang="en-US" sz="100" b="0" i="0" u="none" strike="noStrike" kern="1200" cap="none" spc="-300" normalizeH="0" baseline="0" noProof="0" dirty="0">
                <a:ln>
                  <a:noFill/>
                </a:ln>
                <a:solidFill>
                  <a:prstClr val="black"/>
                </a:solidFill>
                <a:effectLst/>
                <a:uLnTx/>
                <a:uFillTx/>
                <a:ea typeface="+mn-ea"/>
                <a:cs typeface="Calibri" panose="020F0502020204030204" pitchFamily="34" charset="0"/>
              </a:rPr>
              <a:t> </a:t>
            </a: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e, B, M</a:t>
            </a:r>
            <a:r>
              <a:rPr kumimoji="0" lang="en-US" sz="100" b="0" i="0" u="none" strike="noStrike" kern="1200" cap="none" spc="-300" normalizeH="0" baseline="0" noProof="0" dirty="0">
                <a:ln>
                  <a:noFill/>
                </a:ln>
                <a:solidFill>
                  <a:prstClr val="black"/>
                </a:solidFill>
                <a:effectLst/>
                <a:uLnTx/>
                <a:uFillTx/>
                <a:ea typeface="+mn-ea"/>
                <a:cs typeface="Calibri" panose="020F0502020204030204" pitchFamily="34" charset="0"/>
              </a:rPr>
              <a:t> </a:t>
            </a: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n, C</a:t>
            </a:r>
            <a:r>
              <a:rPr kumimoji="0" lang="en-US" sz="100" b="0" i="0" u="none" strike="noStrike" kern="1200" cap="none" spc="-300" normalizeH="0" baseline="0" noProof="0" dirty="0">
                <a:ln>
                  <a:noFill/>
                </a:ln>
                <a:solidFill>
                  <a:prstClr val="black"/>
                </a:solidFill>
                <a:effectLst/>
                <a:uLnTx/>
                <a:uFillTx/>
                <a:ea typeface="+mn-ea"/>
                <a:cs typeface="Calibri" panose="020F0502020204030204" pitchFamily="34" charset="0"/>
              </a:rPr>
              <a:t> </a:t>
            </a: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u, Z</a:t>
            </a:r>
            <a:r>
              <a:rPr kumimoji="0" lang="en-US" sz="100" b="0" i="0" u="none" strike="noStrike" kern="1200" cap="none" spc="-300" normalizeH="0" baseline="0" noProof="0" dirty="0">
                <a:ln>
                  <a:noFill/>
                </a:ln>
                <a:solidFill>
                  <a:prstClr val="black"/>
                </a:solidFill>
                <a:effectLst/>
                <a:uLnTx/>
                <a:uFillTx/>
                <a:ea typeface="+mn-ea"/>
                <a:cs typeface="Calibri" panose="020F0502020204030204" pitchFamily="34" charset="0"/>
              </a:rPr>
              <a:t> </a:t>
            </a: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n, C</a:t>
            </a:r>
            <a:r>
              <a:rPr kumimoji="0" lang="en-US" sz="100" b="0" i="0" u="none" strike="noStrike" kern="1200" cap="none" spc="-300" normalizeH="0" baseline="0" noProof="0" dirty="0">
                <a:ln>
                  <a:noFill/>
                </a:ln>
                <a:solidFill>
                  <a:prstClr val="black"/>
                </a:solidFill>
                <a:effectLst/>
                <a:uLnTx/>
                <a:uFillTx/>
                <a:ea typeface="+mn-ea"/>
                <a:cs typeface="Calibri" panose="020F0502020204030204" pitchFamily="34" charset="0"/>
              </a:rPr>
              <a:t> </a:t>
            </a: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l, M</a:t>
            </a:r>
            <a:r>
              <a:rPr kumimoji="0" lang="en-US" sz="100" b="0" i="0" u="none" strike="noStrike" kern="1200" cap="none" spc="-300" normalizeH="0" baseline="0" noProof="0" dirty="0">
                <a:ln>
                  <a:noFill/>
                </a:ln>
                <a:solidFill>
                  <a:prstClr val="black"/>
                </a:solidFill>
                <a:effectLst/>
                <a:uLnTx/>
                <a:uFillTx/>
                <a:ea typeface="+mn-ea"/>
                <a:cs typeface="Calibri" panose="020F0502020204030204" pitchFamily="34" charset="0"/>
              </a:rPr>
              <a:t> </a:t>
            </a: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o</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4</a:t>
            </a:fld>
            <a:endParaRPr lang="en-US" dirty="0"/>
          </a:p>
        </p:txBody>
      </p:sp>
    </p:spTree>
    <p:extLst>
      <p:ext uri="{BB962C8B-B14F-4D97-AF65-F5344CB8AC3E}">
        <p14:creationId xmlns:p14="http://schemas.microsoft.com/office/powerpoint/2010/main" val="533264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Overview of Plant Nutrition </a:t>
            </a:r>
          </a:p>
        </p:txBody>
      </p:sp>
      <p:pic>
        <p:nvPicPr>
          <p:cNvPr id="11" name="Picture 10" descr="In leaves, carbon dioxide enters and oxygen and water is released. In roots, water, oxygen and minerals enter and carbon dioxide is released.">
            <a:extLst>
              <a:ext uri="{FF2B5EF4-FFF2-40B4-BE49-F238E27FC236}">
                <a16:creationId xmlns:a16="http://schemas.microsoft.com/office/drawing/2014/main" id="{70ED6A66-F22B-A07F-B0EC-7F7D2EEEF7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9511" y="808544"/>
            <a:ext cx="2424978" cy="5498522"/>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4024247" y="6316767"/>
            <a:ext cx="1095506" cy="277581"/>
          </a:xfrm>
        </p:spPr>
        <p:txBody>
          <a:bodyPr/>
          <a:lstStyle/>
          <a:p>
            <a:pPr algn="ctr"/>
            <a:r>
              <a:rPr lang="en-US" sz="1200" noProof="0" dirty="0">
                <a:latin typeface="+mn-lt"/>
              </a:rPr>
              <a:t>Figure 25.1</a:t>
            </a: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5</a:t>
            </a:fld>
            <a:endParaRPr lang="en-US" dirty="0"/>
          </a:p>
        </p:txBody>
      </p:sp>
    </p:spTree>
    <p:extLst>
      <p:ext uri="{BB962C8B-B14F-4D97-AF65-F5344CB8AC3E}">
        <p14:creationId xmlns:p14="http://schemas.microsoft.com/office/powerpoint/2010/main" val="3908530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1618735" y="18287"/>
            <a:ext cx="5906530" cy="1325880"/>
          </a:xfrm>
        </p:spPr>
        <p:txBody>
          <a:bodyPr/>
          <a:lstStyle/>
          <a:p>
            <a:r>
              <a:rPr lang="en-US" noProof="0" dirty="0"/>
              <a:t>Determination of Essential Nutrients</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1408113"/>
            <a:ext cx="8382000" cy="5269006"/>
          </a:xfrm>
        </p:spPr>
        <p:txBody>
          <a:bodyPr/>
          <a:lstStyle/>
          <a:p>
            <a:pPr marL="0" marR="0" lvl="1" indent="0" algn="l" defTabSz="914400" rtl="0" eaLnBrk="1" fontAlgn="auto" latinLnBrk="0" hangingPunct="1">
              <a:spcBef>
                <a:spcPts val="0"/>
              </a:spcBef>
              <a:spcAft>
                <a:spcPts val="600"/>
              </a:spcAft>
              <a:buClr>
                <a:srgbClr val="000000"/>
              </a:buClr>
              <a:buSzTx/>
              <a:buFont typeface="Arial" panose="020B0604020202020204" pitchFamily="34" charset="0"/>
              <a:buNone/>
              <a:tabLst/>
              <a:defRPr/>
            </a:pPr>
            <a:r>
              <a:rPr kumimoji="0" lang="en-US" sz="2500" b="1" i="0" u="none" strike="noStrike" kern="1200" cap="none" spc="0" normalizeH="0" baseline="0" noProof="0" dirty="0">
                <a:ln>
                  <a:noFill/>
                </a:ln>
                <a:solidFill>
                  <a:srgbClr val="DB0F0F"/>
                </a:solidFill>
                <a:effectLst/>
                <a:uLnTx/>
                <a:uFillTx/>
                <a:ea typeface="+mn-ea"/>
                <a:cs typeface="Calibri" panose="020F0502020204030204" pitchFamily="34" charset="0"/>
              </a:rPr>
              <a:t>Hydroponics</a:t>
            </a:r>
            <a:r>
              <a:rPr kumimoji="0" lang="en-US" sz="2500" b="0" i="0" u="none" strike="noStrike" kern="1200" cap="none" spc="0" normalizeH="0" baseline="0" noProof="0" dirty="0">
                <a:ln>
                  <a:noFill/>
                </a:ln>
                <a:solidFill>
                  <a:prstClr val="black"/>
                </a:solidFill>
                <a:effectLst/>
                <a:uLnTx/>
                <a:uFillTx/>
                <a:ea typeface="+mn-ea"/>
                <a:cs typeface="Calibri" panose="020F0502020204030204" pitchFamily="34" charset="0"/>
              </a:rPr>
              <a:t> allows plants to grow if they are supplied with the nutrients they need.</a:t>
            </a:r>
          </a:p>
          <a:p>
            <a:pPr marL="347472" marR="0" lvl="1" indent="-347472" algn="l" defTabSz="914400" rtl="0" eaLnBrk="1" fontAlgn="auto" latinLnBrk="0" hangingPunct="1">
              <a:spcBef>
                <a:spcPts val="100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It proved that plants grow well if supplied with sunlight, water, and minerals.</a:t>
            </a:r>
          </a:p>
          <a:p>
            <a:pPr marL="347472" marR="0" lvl="1" indent="-347472" algn="l" defTabSz="914400" rtl="0" eaLnBrk="1" fontAlgn="auto" latinLnBrk="0" hangingPunct="1">
              <a:spcBef>
                <a:spcPts val="100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Omitting a particular nutrient from liquid medium and observing growth effects allowed scientists to test for nutritional deficiencies.</a:t>
            </a:r>
          </a:p>
          <a:p>
            <a:pPr marL="347472" marR="0" lvl="1" indent="-347472" algn="l" defTabSz="914400" rtl="0" eaLnBrk="1" fontAlgn="auto" latinLnBrk="0" hangingPunct="1">
              <a:spcBef>
                <a:spcPts val="100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Besides stunted growth, other deficiencies were observed.</a:t>
            </a:r>
          </a:p>
          <a:p>
            <a:pPr marL="0" marR="0" lvl="0" indent="0" algn="l" defTabSz="914400" rtl="0" eaLnBrk="1" fontAlgn="auto" latinLnBrk="0" hangingPunct="1">
              <a:spcBef>
                <a:spcPts val="0"/>
              </a:spcBef>
              <a:spcAft>
                <a:spcPts val="600"/>
              </a:spcAft>
              <a:buClrTx/>
              <a:buSzTx/>
              <a:buFont typeface="Arial" panose="020B0604020202020204" pitchFamily="34" charset="0"/>
              <a:buNone/>
              <a:tabLst/>
              <a:defRPr/>
            </a:pPr>
            <a:r>
              <a:rPr kumimoji="0" lang="en-US" sz="2500" b="0" i="0" u="none" strike="noStrike" kern="1200" cap="none" spc="0" normalizeH="0" baseline="0" noProof="0" dirty="0">
                <a:ln>
                  <a:noFill/>
                </a:ln>
                <a:solidFill>
                  <a:prstClr val="black"/>
                </a:solidFill>
                <a:effectLst/>
                <a:uLnTx/>
                <a:uFillTx/>
                <a:ea typeface="+mn-ea"/>
                <a:cs typeface="Calibri" panose="020F0502020204030204" pitchFamily="34" charset="0"/>
              </a:rPr>
              <a:t>Farmers and gardeners use fertilizer to avoid deficiencies.</a:t>
            </a:r>
          </a:p>
          <a:p>
            <a:pPr marL="0" marR="0" lvl="0" indent="0" algn="l" defTabSz="914400" rtl="0" eaLnBrk="1" fontAlgn="auto" latinLnBrk="0" hangingPunct="1">
              <a:spcBef>
                <a:spcPts val="0"/>
              </a:spcBef>
              <a:spcAft>
                <a:spcPts val="1500"/>
              </a:spcAft>
              <a:buClrTx/>
              <a:buSzTx/>
              <a:buFont typeface="Arial" panose="020B0604020202020204" pitchFamily="34" charset="0"/>
              <a:buNone/>
              <a:tabLst/>
              <a:defRPr/>
            </a:pPr>
            <a:r>
              <a:rPr kumimoji="0" lang="en-US" sz="2500" b="1" i="0" u="none" strike="noStrike" kern="1200" cap="none" spc="0" normalizeH="0" baseline="0" noProof="0" dirty="0">
                <a:ln>
                  <a:noFill/>
                </a:ln>
                <a:solidFill>
                  <a:srgbClr val="000000"/>
                </a:solidFill>
                <a:effectLst/>
                <a:uLnTx/>
                <a:uFillTx/>
                <a:ea typeface="+mn-ea"/>
                <a:cs typeface="Calibri" panose="020F0502020204030204" pitchFamily="34" charset="0"/>
              </a:rPr>
              <a:t>NPK ratio </a:t>
            </a:r>
            <a:r>
              <a:rPr kumimoji="0" lang="en-US" sz="2500" b="0" i="0" u="none" strike="noStrike" kern="1200" cap="none" spc="0" normalizeH="0" baseline="0" noProof="0" dirty="0">
                <a:ln>
                  <a:noFill/>
                </a:ln>
                <a:solidFill>
                  <a:prstClr val="black"/>
                </a:solidFill>
                <a:effectLst/>
                <a:uLnTx/>
                <a:uFillTx/>
                <a:ea typeface="+mn-ea"/>
                <a:cs typeface="Calibri" panose="020F0502020204030204" pitchFamily="34" charset="0"/>
              </a:rPr>
              <a:t>describes the percentage by weight of nitrogen, phosphorus, and potassium contained in fertilizer.</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6</a:t>
            </a:fld>
            <a:endParaRPr lang="en-US" dirty="0"/>
          </a:p>
        </p:txBody>
      </p:sp>
    </p:spTree>
    <p:extLst>
      <p:ext uri="{BB962C8B-B14F-4D97-AF65-F5344CB8AC3E}">
        <p14:creationId xmlns:p14="http://schemas.microsoft.com/office/powerpoint/2010/main" val="692841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Hydroponics</a:t>
            </a:r>
          </a:p>
        </p:txBody>
      </p:sp>
      <p:pic>
        <p:nvPicPr>
          <p:cNvPr id="8" name="Picture 7" descr="An illustration shows plants growing in a nutrient solution in the hydroponics system.">
            <a:extLst>
              <a:ext uri="{FF2B5EF4-FFF2-40B4-BE49-F238E27FC236}">
                <a16:creationId xmlns:a16="http://schemas.microsoft.com/office/drawing/2014/main" id="{E6D080AA-58E5-1C8F-4B20-60F68BCFED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588" y="1050212"/>
            <a:ext cx="8108824" cy="4757576"/>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4024247" y="6005045"/>
            <a:ext cx="1095506" cy="277581"/>
          </a:xfrm>
        </p:spPr>
        <p:txBody>
          <a:bodyPr/>
          <a:lstStyle/>
          <a:p>
            <a:pPr algn="ctr"/>
            <a:r>
              <a:rPr lang="en-US" sz="1200" noProof="0" dirty="0">
                <a:latin typeface="+mn-lt"/>
              </a:rPr>
              <a:t>Figure 25.2</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7</a:t>
            </a:fld>
            <a:endParaRPr lang="en-US" dirty="0"/>
          </a:p>
        </p:txBody>
      </p:sp>
    </p:spTree>
    <p:extLst>
      <p:ext uri="{BB962C8B-B14F-4D97-AF65-F5344CB8AC3E}">
        <p14:creationId xmlns:p14="http://schemas.microsoft.com/office/powerpoint/2010/main" val="3296797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1124465" y="18288"/>
            <a:ext cx="6895070" cy="1325880"/>
          </a:xfrm>
        </p:spPr>
        <p:txBody>
          <a:bodyPr/>
          <a:lstStyle/>
          <a:p>
            <a:r>
              <a:rPr lang="en-US" noProof="0" dirty="0"/>
              <a:t>Nutrient Deficiencies and Fertilizer</a:t>
            </a:r>
          </a:p>
        </p:txBody>
      </p:sp>
      <p:pic>
        <p:nvPicPr>
          <p:cNvPr id="7" name="Picture 6" descr="An illustration of a tomato plant shows mineral deficiencies in part (a) and a close-up of a lawn starter fertilizer package in part (b).">
            <a:extLst>
              <a:ext uri="{FF2B5EF4-FFF2-40B4-BE49-F238E27FC236}">
                <a16:creationId xmlns:a16="http://schemas.microsoft.com/office/drawing/2014/main" id="{C639C10F-4589-25B8-E339-474DBFCB97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7968" y="1302741"/>
            <a:ext cx="7068065" cy="5100095"/>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7570646" y="6066830"/>
            <a:ext cx="1095506" cy="277581"/>
          </a:xfrm>
        </p:spPr>
        <p:txBody>
          <a:bodyPr/>
          <a:lstStyle/>
          <a:p>
            <a:pPr algn="ctr"/>
            <a:r>
              <a:rPr lang="en-US" sz="1200" noProof="0" dirty="0">
                <a:latin typeface="+mn-lt"/>
              </a:rPr>
              <a:t>Figure 25.3</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a:xfrm>
            <a:off x="3374136" y="6401790"/>
            <a:ext cx="2404872" cy="192024"/>
          </a:xfrm>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4" name="Text Placeholder 4">
            <a:extLst>
              <a:ext uri="{FF2B5EF4-FFF2-40B4-BE49-F238E27FC236}">
                <a16:creationId xmlns:a16="http://schemas.microsoft.com/office/drawing/2014/main" id="{EF9DDF61-3133-0373-6C0C-0FE083A82E15}"/>
              </a:ext>
            </a:extLst>
          </p:cNvPr>
          <p:cNvSpPr>
            <a:spLocks noGrp="1"/>
          </p:cNvSpPr>
          <p:nvPr>
            <p:ph type="body" sz="quarter" idx="16"/>
          </p:nvPr>
        </p:nvSpPr>
        <p:spPr>
          <a:xfrm>
            <a:off x="1563624" y="6675120"/>
            <a:ext cx="6976872" cy="182880"/>
          </a:xfrm>
        </p:spPr>
        <p:txBody>
          <a:bodyPr anchor="ctr">
            <a:noAutofit/>
          </a:bodyPr>
          <a:lstStyle>
            <a:lvl1pPr algn="r">
              <a:defRPr sz="800"/>
            </a:lvl1pPr>
            <a:lvl2pPr algn="r">
              <a:defRPr sz="800"/>
            </a:lvl2pPr>
            <a:lvl3pPr algn="r">
              <a:defRPr sz="800"/>
            </a:lvl3pPr>
            <a:lvl4pPr algn="r">
              <a:defRPr sz="800"/>
            </a:lvl4pPr>
            <a:lvl5pPr algn="r">
              <a:defRPr sz="800"/>
            </a:lvl5pPr>
          </a:lstStyle>
          <a:p>
            <a:pPr lvl="0"/>
            <a:r>
              <a:rPr lang="en-US" i="1" dirty="0"/>
              <a:t> (b): Leah Moore/Ricochet Creative Productions LLC</a:t>
            </a: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8</a:t>
            </a:fld>
            <a:endParaRPr lang="en-US" dirty="0"/>
          </a:p>
        </p:txBody>
      </p:sp>
    </p:spTree>
    <p:extLst>
      <p:ext uri="{BB962C8B-B14F-4D97-AF65-F5344CB8AC3E}">
        <p14:creationId xmlns:p14="http://schemas.microsoft.com/office/powerpoint/2010/main" val="2191890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Soil</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755"/>
            <a:ext cx="8382000" cy="5679364"/>
          </a:xfrm>
        </p:spPr>
        <p:txBody>
          <a:bodyPr/>
          <a:lstStyle/>
          <a:p>
            <a:pPr marL="0" marR="0" lvl="0"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sz="3000" b="1" i="0" u="none" strike="noStrike" kern="1200" cap="none" spc="0" normalizeH="0" baseline="0" noProof="0" dirty="0">
                <a:ln>
                  <a:noFill/>
                </a:ln>
                <a:solidFill>
                  <a:srgbClr val="DB0F0F"/>
                </a:solidFill>
                <a:effectLst/>
                <a:uLnTx/>
                <a:uFillTx/>
                <a:ea typeface="+mn-ea"/>
                <a:cs typeface="Calibri" panose="020F0502020204030204" pitchFamily="34" charset="0"/>
              </a:rPr>
              <a:t>Soil</a:t>
            </a: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—mixture of mineral particles, decaying organic material, living organisms, air, and water</a:t>
            </a:r>
          </a:p>
          <a:p>
            <a:pPr marL="347472" marR="0" lvl="1" indent="-347472" algn="l" defTabSz="914400" rtl="0" eaLnBrk="1" fontAlgn="auto" latinLnBrk="0" hangingPunct="1">
              <a:spcBef>
                <a:spcPts val="0"/>
              </a:spcBef>
              <a:spcAft>
                <a:spcPts val="80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Supports growth of plants</a:t>
            </a:r>
          </a:p>
          <a:p>
            <a:pPr marL="0" marR="0" lvl="0"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Soil Formation</a:t>
            </a:r>
          </a:p>
          <a:p>
            <a:pPr marL="0" marR="0" lvl="1" indent="0" algn="l" defTabSz="914400" rtl="0" eaLnBrk="1" fontAlgn="auto" latinLnBrk="0" hangingPunct="1">
              <a:spcBef>
                <a:spcPts val="0"/>
              </a:spcBef>
              <a:spcAft>
                <a:spcPts val="60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Begins with weathering of rock</a:t>
            </a:r>
          </a:p>
          <a:p>
            <a:pPr marL="347472" marR="0" lvl="2" algn="l" defTabSz="914400" rtl="0" eaLnBrk="1" fontAlgn="auto" latinLnBrk="0" hangingPunct="1">
              <a:spcBef>
                <a:spcPts val="80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Can be mechanical (wind, rain, ice, grinding of rock on rock) or chemical (acid rain or degradation by lichen or moss)</a:t>
            </a:r>
          </a:p>
          <a:p>
            <a:pPr marL="0" marR="0" lvl="1" indent="0" algn="l" defTabSz="914400" rtl="0" eaLnBrk="1" fontAlgn="auto" latinLnBrk="0" hangingPunct="1">
              <a:spcBef>
                <a:spcPts val="1000"/>
              </a:spcBef>
              <a:spcAft>
                <a:spcPts val="60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Organisms play a key role </a:t>
            </a:r>
          </a:p>
          <a:p>
            <a:pPr marL="0" marR="0" lvl="2" indent="0" algn="l" defTabSz="914400" rtl="0" eaLnBrk="1" fontAlgn="auto" latinLnBrk="0" hangingPunct="1">
              <a:spcBef>
                <a:spcPts val="1000"/>
              </a:spcBef>
              <a:spcAft>
                <a:spcPts val="600"/>
              </a:spcAft>
              <a:buClrTx/>
              <a:buSzTx/>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Lichens </a:t>
            </a:r>
          </a:p>
          <a:p>
            <a:pPr marL="0" marR="0" lvl="2" indent="0" algn="l" defTabSz="914400" rtl="0" eaLnBrk="1" fontAlgn="auto" latinLnBrk="0" hangingPunct="1">
              <a:spcBef>
                <a:spcPts val="1000"/>
              </a:spcBef>
              <a:spcAft>
                <a:spcPts val="600"/>
              </a:spcAft>
              <a:buClrTx/>
              <a:buSzTx/>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Mosses</a:t>
            </a:r>
          </a:p>
          <a:p>
            <a:pPr marL="347472" marR="0" lvl="3" indent="-347472" algn="l" defTabSz="914400" rtl="0" eaLnBrk="1" fontAlgn="auto" latinLnBrk="0" hangingPunct="1">
              <a:spcAft>
                <a:spcPts val="800"/>
              </a:spcAft>
              <a:buClr>
                <a:srgbClr val="000000"/>
              </a:buClr>
              <a:buSzTx/>
              <a:buFont typeface="Arial" panose="020B0604020202020204" pitchFamily="34" charset="0"/>
              <a:buChar char="•"/>
              <a:tabLst/>
              <a:defRPr/>
            </a:pPr>
            <a:r>
              <a:rPr kumimoji="0" lang="en-US" sz="1900" b="1" i="0" u="none" strike="noStrike" kern="1200" cap="none" spc="0" normalizeH="0" baseline="0" noProof="0" dirty="0">
                <a:ln>
                  <a:noFill/>
                </a:ln>
                <a:solidFill>
                  <a:srgbClr val="DB0F0F"/>
                </a:solidFill>
                <a:effectLst/>
                <a:uLnTx/>
                <a:uFillTx/>
                <a:ea typeface="+mn-ea"/>
                <a:cs typeface="+mn-cs"/>
              </a:rPr>
              <a:t>Humus</a:t>
            </a:r>
            <a:r>
              <a:rPr kumimoji="0" lang="en-US" sz="1700" b="0" i="0" u="none" strike="noStrike" kern="1200" cap="none" spc="0" normalizeH="0" baseline="0" noProof="0" dirty="0">
                <a:ln>
                  <a:noFill/>
                </a:ln>
                <a:solidFill>
                  <a:srgbClr val="000000"/>
                </a:solidFill>
                <a:effectLst/>
                <a:uLnTx/>
                <a:uFillTx/>
                <a:ea typeface="Times New Roman" panose="02020603050405020304" pitchFamily="18" charset="0"/>
                <a:cs typeface="+mn-cs"/>
              </a:rPr>
              <a:t>—</a:t>
            </a:r>
            <a:r>
              <a:rPr kumimoji="0" lang="en-US" sz="1900" b="0" i="0" u="none" strike="noStrike" kern="1200" cap="none" spc="0" normalizeH="0" baseline="0" noProof="0" dirty="0">
                <a:ln>
                  <a:noFill/>
                </a:ln>
                <a:solidFill>
                  <a:prstClr val="black"/>
                </a:solidFill>
                <a:effectLst/>
                <a:uLnTx/>
                <a:uFillTx/>
                <a:ea typeface="+mn-ea"/>
                <a:cs typeface="+mn-cs"/>
              </a:rPr>
              <a:t>decaying organic material</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9</a:t>
            </a:fld>
            <a:endParaRPr lang="en-US" dirty="0"/>
          </a:p>
        </p:txBody>
      </p:sp>
    </p:spTree>
    <p:extLst>
      <p:ext uri="{BB962C8B-B14F-4D97-AF65-F5344CB8AC3E}">
        <p14:creationId xmlns:p14="http://schemas.microsoft.com/office/powerpoint/2010/main" val="1204446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Soil Particles</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755"/>
            <a:ext cx="7864412" cy="5679364"/>
          </a:xfrm>
        </p:spPr>
        <p:txBody>
          <a:bodyPr/>
          <a:lstStyle/>
          <a:p>
            <a:pPr marL="0" marR="0" lvl="0"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altLang="en-US" sz="2700" b="0" i="0" u="none" strike="noStrike" kern="1200" cap="none" spc="0" normalizeH="0" baseline="0" noProof="0" dirty="0">
                <a:ln>
                  <a:noFill/>
                </a:ln>
                <a:solidFill>
                  <a:prstClr val="black"/>
                </a:solidFill>
                <a:effectLst/>
                <a:uLnTx/>
                <a:uFillTx/>
                <a:ea typeface="+mn-ea"/>
                <a:cs typeface="Calibri" panose="020F0502020204030204" pitchFamily="34" charset="0"/>
              </a:rPr>
              <a:t>Soils are a mixture of three types of particles.</a:t>
            </a:r>
          </a:p>
          <a:p>
            <a:pPr marL="0" marR="0" lvl="1"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Sand</a:t>
            </a:r>
          </a:p>
          <a:p>
            <a:pPr marL="347472" marR="0" lvl="2" algn="l" defTabSz="914400" rtl="0" eaLnBrk="1" fontAlgn="auto" latinLnBrk="0" hangingPunct="1">
              <a:spcBef>
                <a:spcPts val="0"/>
              </a:spcBef>
              <a:spcAft>
                <a:spcPts val="600"/>
              </a:spcAft>
              <a:buClrTx/>
              <a:buSzTx/>
              <a:buFont typeface="Arial" panose="020B0604020202020204" pitchFamily="34" charset="0"/>
              <a:buChar char="•"/>
              <a:tabLst/>
              <a:defRPr/>
            </a:pPr>
            <a:r>
              <a:rPr kumimoji="0" lang="en-US" altLang="en-US" sz="2000" b="0" i="0" u="none" strike="noStrike" kern="1200" cap="none" spc="0" normalizeH="0" baseline="0" noProof="0" dirty="0">
                <a:ln>
                  <a:noFill/>
                </a:ln>
                <a:solidFill>
                  <a:prstClr val="black"/>
                </a:solidFill>
                <a:effectLst/>
                <a:uLnTx/>
                <a:uFillTx/>
                <a:ea typeface="+mn-ea"/>
                <a:cs typeface="Calibri" panose="020F0502020204030204" pitchFamily="34" charset="0"/>
              </a:rPr>
              <a:t>0.05–2.0 mm in diameter.</a:t>
            </a:r>
          </a:p>
          <a:p>
            <a:pPr marL="347472" marR="0" lvl="2" algn="l" defTabSz="914400" rtl="0" eaLnBrk="1" fontAlgn="auto" latinLnBrk="0" hangingPunct="1">
              <a:spcBef>
                <a:spcPts val="0"/>
              </a:spcBef>
              <a:spcAft>
                <a:spcPts val="600"/>
              </a:spcAft>
              <a:buClrTx/>
              <a:buSzTx/>
              <a:buFont typeface="Arial" panose="020B0604020202020204" pitchFamily="34" charset="0"/>
              <a:buChar char="•"/>
              <a:tabLst/>
              <a:defRPr/>
            </a:pPr>
            <a:r>
              <a:rPr kumimoji="0" lang="en-US" altLang="en-US" sz="2000" b="0" i="0" u="none" strike="noStrike" kern="1200" cap="none" spc="0" normalizeH="0" baseline="0" noProof="0" dirty="0">
                <a:ln>
                  <a:noFill/>
                </a:ln>
                <a:solidFill>
                  <a:prstClr val="black"/>
                </a:solidFill>
                <a:effectLst/>
                <a:uLnTx/>
                <a:uFillTx/>
                <a:ea typeface="+mn-ea"/>
                <a:cs typeface="Calibri" panose="020F0502020204030204" pitchFamily="34" charset="0"/>
              </a:rPr>
              <a:t>Water drains readily between adjacent sand particles.</a:t>
            </a:r>
          </a:p>
          <a:p>
            <a:pPr marL="0" marR="0" lvl="1"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Silt</a:t>
            </a:r>
          </a:p>
          <a:p>
            <a:pPr marL="347472" marR="0" lvl="2" algn="l" defTabSz="914400" rtl="0" eaLnBrk="1" fontAlgn="auto" latinLnBrk="0" hangingPunct="1">
              <a:spcBef>
                <a:spcPts val="0"/>
              </a:spcBef>
              <a:spcAft>
                <a:spcPts val="600"/>
              </a:spcAft>
              <a:buClrTx/>
              <a:buSzTx/>
              <a:buFont typeface="Arial" panose="020B0604020202020204" pitchFamily="34" charset="0"/>
              <a:buChar char="•"/>
              <a:tabLst/>
              <a:defRPr/>
            </a:pPr>
            <a:r>
              <a:rPr kumimoji="0" lang="en-US" altLang="en-US" sz="2000" b="0" i="0" u="none" strike="noStrike" kern="1200" cap="none" spc="0" normalizeH="0" baseline="0" noProof="0" dirty="0">
                <a:ln>
                  <a:noFill/>
                </a:ln>
                <a:solidFill>
                  <a:prstClr val="black"/>
                </a:solidFill>
                <a:effectLst/>
                <a:uLnTx/>
                <a:uFillTx/>
                <a:ea typeface="+mn-ea"/>
                <a:cs typeface="Calibri" panose="020F0502020204030204" pitchFamily="34" charset="0"/>
              </a:rPr>
              <a:t>0.002–0.05 mm in diameter.</a:t>
            </a:r>
          </a:p>
          <a:p>
            <a:pPr marL="0" marR="0" lvl="1"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Clay</a:t>
            </a:r>
          </a:p>
          <a:p>
            <a:pPr marL="347472" marR="0" lvl="2" algn="l" defTabSz="914400" rtl="0" eaLnBrk="1" fontAlgn="auto" latinLnBrk="0" hangingPunct="1">
              <a:spcBef>
                <a:spcPts val="0"/>
              </a:spcBef>
              <a:spcAft>
                <a:spcPts val="600"/>
              </a:spcAft>
              <a:buClrTx/>
              <a:buSzTx/>
              <a:buFont typeface="Arial" panose="020B0604020202020204" pitchFamily="34" charset="0"/>
              <a:buChar char="•"/>
              <a:tabLst/>
              <a:defRPr/>
            </a:pPr>
            <a:r>
              <a:rPr kumimoji="0" lang="en-US" altLang="en-US" sz="2000" b="0" i="0" u="none" strike="noStrike" kern="1200" cap="none" spc="0" normalizeH="0" baseline="0" noProof="0" dirty="0">
                <a:ln>
                  <a:noFill/>
                </a:ln>
                <a:solidFill>
                  <a:prstClr val="black"/>
                </a:solidFill>
                <a:effectLst/>
                <a:uLnTx/>
                <a:uFillTx/>
                <a:ea typeface="+mn-ea"/>
                <a:cs typeface="Calibri" panose="020F0502020204030204" pitchFamily="34" charset="0"/>
              </a:rPr>
              <a:t>Less than 0.002 mm in diameter.</a:t>
            </a:r>
          </a:p>
          <a:p>
            <a:pPr marL="347472" marR="0" lvl="2" algn="l" defTabSz="914400" rtl="0" eaLnBrk="1" fontAlgn="auto" latinLnBrk="0" hangingPunct="1">
              <a:spcBef>
                <a:spcPts val="0"/>
              </a:spcBef>
              <a:spcAft>
                <a:spcPts val="600"/>
              </a:spcAft>
              <a:buClrTx/>
              <a:buSzTx/>
              <a:buFont typeface="Arial" panose="020B0604020202020204" pitchFamily="34" charset="0"/>
              <a:buChar char="•"/>
              <a:tabLst/>
              <a:defRPr/>
            </a:pPr>
            <a:r>
              <a:rPr kumimoji="0" lang="en-US" altLang="en-US" sz="2000" b="0" i="0" u="none" strike="noStrike" kern="1200" cap="none" spc="0" normalizeH="0" baseline="0" noProof="0" dirty="0">
                <a:ln>
                  <a:noFill/>
                </a:ln>
                <a:solidFill>
                  <a:prstClr val="black"/>
                </a:solidFill>
                <a:effectLst/>
                <a:uLnTx/>
                <a:uFillTx/>
                <a:ea typeface="+mn-ea"/>
                <a:cs typeface="Calibri" panose="020F0502020204030204" pitchFamily="34" charset="0"/>
              </a:rPr>
              <a:t>Consists of small spaces that fill with water.</a:t>
            </a:r>
          </a:p>
          <a:p>
            <a:pPr marL="0" marR="0" lvl="1"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altLang="en-US" sz="2400" b="1" i="0" u="none" strike="noStrike" kern="1200" cap="none" spc="0" normalizeH="0" baseline="0" noProof="0" dirty="0">
                <a:ln>
                  <a:noFill/>
                </a:ln>
                <a:solidFill>
                  <a:prstClr val="black"/>
                </a:solidFill>
                <a:effectLst/>
                <a:uLnTx/>
                <a:uFillTx/>
                <a:ea typeface="+mn-ea"/>
                <a:cs typeface="Calibri" panose="020F0502020204030204" pitchFamily="34" charset="0"/>
              </a:rPr>
              <a:t>Loam</a:t>
            </a:r>
            <a:r>
              <a:rPr kumimoji="0" lang="en-US" alt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 soil combines the aeration of sand and mineral retention of silt and clay.</a:t>
            </a:r>
          </a:p>
          <a:p>
            <a:pPr marL="0" marR="0" lvl="1"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Soil needs a healthy balance of clay particles and humus.</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10</a:t>
            </a:fld>
            <a:endParaRPr lang="en-US" dirty="0"/>
          </a:p>
        </p:txBody>
      </p:sp>
    </p:spTree>
    <p:extLst>
      <p:ext uri="{BB962C8B-B14F-4D97-AF65-F5344CB8AC3E}">
        <p14:creationId xmlns:p14="http://schemas.microsoft.com/office/powerpoint/2010/main" val="582364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Humus</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755"/>
            <a:ext cx="7504670" cy="4426861"/>
          </a:xfrm>
        </p:spPr>
        <p:txBody>
          <a:bodyPr/>
          <a:lstStyle/>
          <a:p>
            <a:pPr marL="0" marR="0" lvl="0" indent="0" algn="l" defTabSz="914400" rtl="0" eaLnBrk="1" fontAlgn="auto" latinLnBrk="0" hangingPunct="1">
              <a:spcBef>
                <a:spcPts val="0"/>
              </a:spcBef>
              <a:spcAft>
                <a:spcPts val="150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Humus increases the benefits of soil.</a:t>
            </a:r>
          </a:p>
          <a:p>
            <a:pPr marL="0" marR="0" lvl="1" indent="0" algn="l" defTabSz="914400" rtl="0" eaLnBrk="1" fontAlgn="auto" latinLnBrk="0" hangingPunct="1">
              <a:spcBef>
                <a:spcPts val="600"/>
              </a:spcBef>
              <a:spcAft>
                <a:spcPts val="800"/>
              </a:spcAft>
              <a:buClrTx/>
              <a:buSzTx/>
              <a:buFont typeface="Arial" panose="020B0604020202020204" pitchFamily="34" charset="0"/>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10</a:t>
            </a:r>
            <a:r>
              <a:rPr kumimoji="0" lang="en-US" alt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a:t>
            </a: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20% best humus concentration.</a:t>
            </a:r>
          </a:p>
          <a:p>
            <a:pPr marL="0" marR="0" lvl="1" indent="0" algn="l" defTabSz="914400" rtl="0" eaLnBrk="1" fontAlgn="auto" latinLnBrk="0" hangingPunct="1">
              <a:spcBef>
                <a:spcPts val="600"/>
              </a:spcBef>
              <a:spcAft>
                <a:spcPts val="800"/>
              </a:spcAft>
              <a:buClrTx/>
              <a:buSzTx/>
              <a:buFont typeface="Arial" panose="020B0604020202020204" pitchFamily="34" charset="0"/>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Decreases runoff.</a:t>
            </a:r>
          </a:p>
          <a:p>
            <a:pPr marL="0" marR="0" lvl="1" indent="0" algn="l" defTabSz="914400" rtl="0" eaLnBrk="1" fontAlgn="auto" latinLnBrk="0" hangingPunct="1">
              <a:spcBef>
                <a:spcPts val="600"/>
              </a:spcBef>
              <a:spcAft>
                <a:spcPts val="800"/>
              </a:spcAft>
              <a:buClrTx/>
              <a:buSzTx/>
              <a:buFont typeface="Arial" panose="020B0604020202020204" pitchFamily="34" charset="0"/>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Prevents leaching.</a:t>
            </a:r>
          </a:p>
          <a:p>
            <a:pPr marL="0" marR="0" lvl="1" indent="0" algn="l" defTabSz="914400" rtl="0" eaLnBrk="1" fontAlgn="auto" latinLnBrk="0" hangingPunct="1">
              <a:spcBef>
                <a:spcPts val="600"/>
              </a:spcBef>
              <a:spcAft>
                <a:spcPts val="800"/>
              </a:spcAft>
              <a:buClrTx/>
              <a:buSzTx/>
              <a:buFont typeface="Arial" panose="020B0604020202020204" pitchFamily="34" charset="0"/>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Makes soil more acidic.</a:t>
            </a:r>
          </a:p>
          <a:p>
            <a:pPr marL="347472" marR="0" lvl="2" algn="l" defTabSz="914400" rtl="0" eaLnBrk="1" fontAlgn="auto" latinLnBrk="0" hangingPunct="1">
              <a:spcBef>
                <a:spcPts val="600"/>
              </a:spcBef>
              <a:spcAft>
                <a:spcPts val="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ea typeface="+mn-ea"/>
                <a:cs typeface="Calibri" panose="020F0502020204030204" pitchFamily="34" charset="0"/>
              </a:rPr>
              <a:t>Retains positively charged minerals</a:t>
            </a:r>
          </a:p>
          <a:p>
            <a:pPr marL="0" marR="0" lvl="1" indent="0" algn="l" defTabSz="914400" rtl="0" eaLnBrk="1" fontAlgn="auto" latinLnBrk="0" hangingPunct="1">
              <a:spcBef>
                <a:spcPts val="600"/>
              </a:spcBef>
              <a:spcAft>
                <a:spcPts val="600"/>
              </a:spcAft>
              <a:buClrTx/>
              <a:buSzTx/>
              <a:buFont typeface="Arial" panose="020B0604020202020204" pitchFamily="34" charset="0"/>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Organic matter, broken down by bacteria and fungi, is returned to plants.</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11</a:t>
            </a:fld>
            <a:endParaRPr lang="en-US" dirty="0"/>
          </a:p>
        </p:txBody>
      </p:sp>
    </p:spTree>
    <p:extLst>
      <p:ext uri="{BB962C8B-B14F-4D97-AF65-F5344CB8AC3E}">
        <p14:creationId xmlns:p14="http://schemas.microsoft.com/office/powerpoint/2010/main" val="3010066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Healthy Soil</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755"/>
            <a:ext cx="8220252" cy="5538969"/>
          </a:xfrm>
        </p:spPr>
        <p:txBody>
          <a:bodyPr/>
          <a:lstStyle/>
          <a:p>
            <a:pPr marL="0" marR="0" lvl="0"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sz="2700" b="0" i="0" u="none" strike="noStrike" kern="1200" cap="none" spc="0" normalizeH="0" baseline="0" noProof="0" dirty="0">
                <a:ln>
                  <a:noFill/>
                </a:ln>
                <a:solidFill>
                  <a:prstClr val="black"/>
                </a:solidFill>
                <a:effectLst/>
                <a:uLnTx/>
                <a:uFillTx/>
                <a:ea typeface="+mn-ea"/>
                <a:cs typeface="Calibri" panose="020F0502020204030204" pitchFamily="34" charset="0"/>
              </a:rPr>
              <a:t>Negatively charged clay and humus bind to positively charged minerals, calcium, and potassium.</a:t>
            </a:r>
          </a:p>
          <a:p>
            <a:pPr marL="347472" marR="0" lvl="1" indent="-347472" algn="l" defTabSz="914400" rtl="0" eaLnBrk="1" fontAlgn="auto" latinLnBrk="0" hangingPunct="1">
              <a:spcBef>
                <a:spcPts val="0"/>
              </a:spcBef>
              <a:spcAft>
                <a:spcPts val="10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It prevents leaching.</a:t>
            </a:r>
          </a:p>
          <a:p>
            <a:pPr marL="0" marR="0" lvl="0"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sz="2700" b="1" i="0" u="none" strike="noStrike" kern="1200" cap="none" spc="0" normalizeH="0" baseline="0" noProof="0" dirty="0">
                <a:ln>
                  <a:noFill/>
                </a:ln>
                <a:solidFill>
                  <a:srgbClr val="DB0F0F"/>
                </a:solidFill>
                <a:effectLst/>
                <a:uLnTx/>
                <a:uFillTx/>
                <a:ea typeface="+mn-ea"/>
                <a:cs typeface="Calibri" panose="020F0502020204030204" pitchFamily="34" charset="0"/>
              </a:rPr>
              <a:t>Cation exchange</a:t>
            </a:r>
            <a:r>
              <a:rPr kumimoji="0" lang="en-US" sz="2700" b="0" i="0" u="none" strike="noStrike" kern="1200" cap="none" spc="0" normalizeH="0" baseline="0" noProof="0" dirty="0">
                <a:ln>
                  <a:noFill/>
                </a:ln>
                <a:solidFill>
                  <a:srgbClr val="000000"/>
                </a:solidFill>
                <a:effectLst/>
                <a:uLnTx/>
                <a:uFillTx/>
                <a:ea typeface="+mn-ea"/>
                <a:cs typeface="Calibri" panose="020F0502020204030204" pitchFamily="34" charset="0"/>
              </a:rPr>
              <a:t>—</a:t>
            </a:r>
            <a:r>
              <a:rPr kumimoji="0" lang="en-US" sz="2700" b="0" i="0" u="none" strike="noStrike" kern="1200" cap="none" spc="0" normalizeH="0" baseline="0" noProof="0" dirty="0">
                <a:ln>
                  <a:noFill/>
                </a:ln>
                <a:solidFill>
                  <a:prstClr val="black"/>
                </a:solidFill>
                <a:effectLst/>
                <a:uLnTx/>
                <a:uFillTx/>
                <a:ea typeface="+mn-ea"/>
                <a:cs typeface="Calibri" panose="020F0502020204030204" pitchFamily="34" charset="0"/>
              </a:rPr>
              <a:t>process by which hydrogen and other positive ions exchange places with positively charged minerals.</a:t>
            </a:r>
          </a:p>
          <a:p>
            <a:pPr marL="347472" marR="0" lvl="1" indent="-347472" algn="l" defTabSz="914400" rtl="0" eaLnBrk="1" fontAlgn="auto" latinLnBrk="0" hangingPunct="1">
              <a:spcBef>
                <a:spcPts val="0"/>
              </a:spcBef>
              <a:spcAft>
                <a:spcPts val="10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It allows roots to take up nutrients.</a:t>
            </a:r>
          </a:p>
          <a:p>
            <a:pPr marL="0" marR="0" lvl="0"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sz="2700" b="1" i="0" u="none" strike="noStrike" kern="1200" cap="none" spc="0" normalizeH="0" baseline="0" noProof="0" dirty="0">
                <a:ln>
                  <a:noFill/>
                </a:ln>
                <a:solidFill>
                  <a:srgbClr val="DB0F0F"/>
                </a:solidFill>
                <a:effectLst/>
                <a:uLnTx/>
                <a:uFillTx/>
                <a:ea typeface="+mn-ea"/>
                <a:cs typeface="Calibri" panose="020F0502020204030204" pitchFamily="34" charset="0"/>
              </a:rPr>
              <a:t>Cation exchange capacity (CEC)</a:t>
            </a:r>
            <a:r>
              <a:rPr kumimoji="0" lang="en-US" sz="2700" b="0" i="0" u="none" strike="noStrike" kern="1200" cap="none" spc="0" normalizeH="0" baseline="0" noProof="0" dirty="0">
                <a:ln>
                  <a:noFill/>
                </a:ln>
                <a:solidFill>
                  <a:srgbClr val="000000"/>
                </a:solidFill>
                <a:effectLst/>
                <a:uLnTx/>
                <a:uFillTx/>
                <a:ea typeface="+mn-ea"/>
                <a:cs typeface="Calibri" panose="020F0502020204030204" pitchFamily="34" charset="0"/>
              </a:rPr>
              <a:t>—availability </a:t>
            </a:r>
            <a:r>
              <a:rPr kumimoji="0" lang="en-US" sz="2700" b="0" i="0" u="none" strike="noStrike" kern="1200" cap="none" spc="0" normalizeH="0" baseline="0" noProof="0" dirty="0">
                <a:ln>
                  <a:noFill/>
                </a:ln>
                <a:solidFill>
                  <a:prstClr val="black"/>
                </a:solidFill>
                <a:effectLst/>
                <a:uLnTx/>
                <a:uFillTx/>
                <a:ea typeface="+mn-ea"/>
                <a:cs typeface="Calibri" panose="020F0502020204030204" pitchFamily="34" charset="0"/>
              </a:rPr>
              <a:t>of negative charge sites which can bind positive cations.</a:t>
            </a:r>
          </a:p>
          <a:p>
            <a:pPr marL="347472" marR="0" lvl="1" indent="-347472" algn="l" defTabSz="914400" rtl="0" eaLnBrk="1" fontAlgn="auto" latinLnBrk="0" hangingPunct="1">
              <a:spcBef>
                <a:spcPts val="0"/>
              </a:spcBef>
              <a:spcAft>
                <a:spcPts val="10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CEC of sandy soils is less than those with clay and humus mixed in.</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12</a:t>
            </a:fld>
            <a:endParaRPr lang="en-US" dirty="0"/>
          </a:p>
        </p:txBody>
      </p:sp>
    </p:spTree>
    <p:extLst>
      <p:ext uri="{BB962C8B-B14F-4D97-AF65-F5344CB8AC3E}">
        <p14:creationId xmlns:p14="http://schemas.microsoft.com/office/powerpoint/2010/main" val="42613951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Components of Healthy Soil</a:t>
            </a:r>
          </a:p>
        </p:txBody>
      </p:sp>
      <p:pic>
        <p:nvPicPr>
          <p:cNvPr id="8" name="Picture 7" descr="A large tree with an arrow pointing from the roots to an enlarged view showing cation exchange between root hair and soil.">
            <a:extLst>
              <a:ext uri="{FF2B5EF4-FFF2-40B4-BE49-F238E27FC236}">
                <a16:creationId xmlns:a16="http://schemas.microsoft.com/office/drawing/2014/main" id="{549F8DD6-A898-4D44-F7BF-D93CD3533E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9750" y="903727"/>
            <a:ext cx="7030995" cy="5113451"/>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4024247" y="5998104"/>
            <a:ext cx="1095506" cy="277581"/>
          </a:xfrm>
        </p:spPr>
        <p:txBody>
          <a:bodyPr/>
          <a:lstStyle/>
          <a:p>
            <a:pPr algn="ctr"/>
            <a:r>
              <a:rPr lang="en-US" sz="1200" noProof="0" dirty="0">
                <a:latin typeface="+mn-lt"/>
              </a:rPr>
              <a:t>Figure 25.5</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13</a:t>
            </a:fld>
            <a:endParaRPr lang="en-US" dirty="0"/>
          </a:p>
        </p:txBody>
      </p:sp>
    </p:spTree>
    <p:extLst>
      <p:ext uri="{BB962C8B-B14F-4D97-AF65-F5344CB8AC3E}">
        <p14:creationId xmlns:p14="http://schemas.microsoft.com/office/powerpoint/2010/main" val="285508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Living Organisms</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755"/>
            <a:ext cx="8220252" cy="5538969"/>
          </a:xfrm>
        </p:spPr>
        <p:txBody>
          <a:bodyPr/>
          <a:lstStyle/>
          <a:p>
            <a:pPr marL="0" marR="0" lvl="1" indent="0" algn="l" defTabSz="914400" rtl="0" eaLnBrk="1" fontAlgn="auto" latinLnBrk="0" hangingPunct="1">
              <a:spcBef>
                <a:spcPts val="0"/>
              </a:spcBef>
              <a:spcAft>
                <a:spcPts val="800"/>
              </a:spcAft>
              <a:buClrTx/>
              <a:buSzTx/>
              <a:buFont typeface="Arial" panose="020B0604020202020204" pitchFamily="34" charset="0"/>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Small plants help form soil from rock.</a:t>
            </a:r>
          </a:p>
          <a:p>
            <a:pPr marL="0" marR="0" lvl="1" indent="0" algn="l" defTabSz="914400" rtl="0" eaLnBrk="1" fontAlgn="auto" latinLnBrk="0" hangingPunct="1">
              <a:spcBef>
                <a:spcPts val="600"/>
              </a:spcBef>
              <a:spcAft>
                <a:spcPts val="800"/>
              </a:spcAft>
              <a:buClrTx/>
              <a:buSzTx/>
              <a:buFont typeface="Arial" panose="020B0604020202020204" pitchFamily="34" charset="0"/>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Large plants become dominant in certain ecosystems (succession).</a:t>
            </a:r>
          </a:p>
          <a:p>
            <a:pPr marL="347472" marR="0" lvl="2" algn="l" defTabSz="914400" rtl="0" eaLnBrk="1" fontAlgn="auto" latinLnBrk="0" hangingPunct="1">
              <a:spcBef>
                <a:spcPts val="600"/>
              </a:spcBef>
              <a:spcAft>
                <a:spcPts val="8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ea typeface="+mn-ea"/>
                <a:cs typeface="Calibri" panose="020F0502020204030204" pitchFamily="34" charset="0"/>
              </a:rPr>
              <a:t>Roots penetrate soil to bedrock, opening soil for water, air, and animals.</a:t>
            </a:r>
          </a:p>
          <a:p>
            <a:pPr marL="0" marR="0" lvl="1" indent="0" algn="l" defTabSz="914400" rtl="0" eaLnBrk="1" fontAlgn="auto" latinLnBrk="0" hangingPunct="1">
              <a:spcBef>
                <a:spcPts val="600"/>
              </a:spcBef>
              <a:spcAft>
                <a:spcPts val="800"/>
              </a:spcAft>
              <a:buClrTx/>
              <a:buSzTx/>
              <a:buFont typeface="Arial" panose="020B0604020202020204" pitchFamily="34" charset="0"/>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Soil-dwelling animals mix soil by burrowing.</a:t>
            </a:r>
          </a:p>
          <a:p>
            <a:pPr marL="0" marR="0" lvl="1" indent="0" algn="l" defTabSz="914400" rtl="0" eaLnBrk="1" fontAlgn="auto" latinLnBrk="0" hangingPunct="1">
              <a:spcBef>
                <a:spcPts val="600"/>
              </a:spcBef>
              <a:spcAft>
                <a:spcPts val="800"/>
              </a:spcAft>
              <a:buClrTx/>
              <a:buSzTx/>
              <a:buFont typeface="Arial" panose="020B0604020202020204" pitchFamily="34" charset="0"/>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Earthworms ingest soil particles and deposit them as worm casts.</a:t>
            </a:r>
          </a:p>
          <a:p>
            <a:pPr marL="347472" marR="0" lvl="2" algn="l" defTabSz="914400" rtl="0" eaLnBrk="1" fontAlgn="auto" latinLnBrk="0" hangingPunct="1">
              <a:spcBef>
                <a:spcPts val="600"/>
              </a:spcBef>
              <a:spcAft>
                <a:spcPts val="8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ea typeface="+mn-ea"/>
                <a:cs typeface="Calibri" panose="020F0502020204030204" pitchFamily="34" charset="0"/>
              </a:rPr>
              <a:t>They also aerate soil.</a:t>
            </a:r>
          </a:p>
          <a:p>
            <a:pPr marL="0" marR="0" lvl="1" indent="0" algn="l" defTabSz="914400" rtl="0" eaLnBrk="1" fontAlgn="auto" latinLnBrk="0" hangingPunct="1">
              <a:spcBef>
                <a:spcPts val="600"/>
              </a:spcBef>
              <a:spcAft>
                <a:spcPts val="800"/>
              </a:spcAft>
              <a:buClrTx/>
              <a:buSzTx/>
              <a:buFont typeface="Arial" panose="020B0604020202020204" pitchFamily="34" charset="0"/>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Soil-dwelling ants construct colonies and loosen and aerate soil.</a:t>
            </a:r>
          </a:p>
          <a:p>
            <a:pPr marL="0" marR="0" lvl="1" indent="0" algn="l" defTabSz="914400" rtl="0" eaLnBrk="1" fontAlgn="auto" latinLnBrk="0" hangingPunct="1">
              <a:spcBef>
                <a:spcPts val="600"/>
              </a:spcBef>
              <a:spcAft>
                <a:spcPts val="800"/>
              </a:spcAft>
              <a:buClrTx/>
              <a:buSzTx/>
              <a:buFont typeface="Arial" panose="020B0604020202020204" pitchFamily="34" charset="0"/>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Microorganisms are responsible for decomposition of humus.</a:t>
            </a:r>
          </a:p>
          <a:p>
            <a:pPr marL="347472" marR="0" lvl="2" algn="l" defTabSz="914400" rtl="0" eaLnBrk="1" fontAlgn="auto" latinLnBrk="0" hangingPunct="1">
              <a:spcBef>
                <a:spcPts val="600"/>
              </a:spcBef>
              <a:spcAft>
                <a:spcPts val="8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ea typeface="+mn-ea"/>
                <a:cs typeface="Calibri" panose="020F0502020204030204" pitchFamily="34" charset="0"/>
              </a:rPr>
              <a:t>Soil bacteria also make nitrogen available to plants.</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14</a:t>
            </a:fld>
            <a:endParaRPr lang="en-US" dirty="0"/>
          </a:p>
        </p:txBody>
      </p:sp>
    </p:spTree>
    <p:extLst>
      <p:ext uri="{BB962C8B-B14F-4D97-AF65-F5344CB8AC3E}">
        <p14:creationId xmlns:p14="http://schemas.microsoft.com/office/powerpoint/2010/main" val="3469175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Soil Profiles</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756"/>
            <a:ext cx="7864412" cy="5296308"/>
          </a:xfrm>
        </p:spPr>
        <p:txBody>
          <a:bodyPr/>
          <a:lstStyle/>
          <a:p>
            <a:pPr marL="0" marR="0" lvl="0" indent="0" algn="l" defTabSz="914400" rtl="0" eaLnBrk="1" fontAlgn="auto" latinLnBrk="0" hangingPunct="1">
              <a:lnSpc>
                <a:spcPct val="100000"/>
              </a:lnSpc>
              <a:spcBef>
                <a:spcPts val="0"/>
              </a:spcBef>
              <a:spcAft>
                <a:spcPts val="2000"/>
              </a:spcAft>
              <a:buClrTx/>
              <a:buSzTx/>
              <a:buFont typeface="Arial" panose="020B0604020202020204" pitchFamily="34" charset="0"/>
              <a:buNone/>
              <a:tabLst/>
              <a:defRPr/>
            </a:pPr>
            <a:r>
              <a:rPr kumimoji="0" lang="en-US" sz="3200" b="0" i="0" u="none" strike="noStrike" kern="1200" cap="none" spc="0" normalizeH="0" baseline="0" noProof="0" dirty="0">
                <a:ln>
                  <a:noFill/>
                </a:ln>
                <a:solidFill>
                  <a:prstClr val="black"/>
                </a:solidFill>
                <a:effectLst/>
                <a:uLnTx/>
                <a:uFillTx/>
                <a:ea typeface="+mn-ea"/>
                <a:cs typeface="Calibri" panose="020F0502020204030204" pitchFamily="34" charset="0"/>
              </a:rPr>
              <a:t>A </a:t>
            </a:r>
            <a:r>
              <a:rPr kumimoji="0" lang="en-US" sz="3200" b="1" i="0" u="none" strike="noStrike" kern="1200" cap="none" spc="0" normalizeH="0" baseline="0" noProof="0" dirty="0">
                <a:ln>
                  <a:noFill/>
                </a:ln>
                <a:solidFill>
                  <a:srgbClr val="DB0F0F"/>
                </a:solidFill>
                <a:effectLst/>
                <a:uLnTx/>
                <a:uFillTx/>
                <a:ea typeface="+mn-ea"/>
                <a:cs typeface="Calibri" panose="020F0502020204030204" pitchFamily="34" charset="0"/>
              </a:rPr>
              <a:t>soil profile </a:t>
            </a:r>
            <a:r>
              <a:rPr kumimoji="0" lang="en-US" sz="3200" b="0" i="0" u="none" strike="noStrike" kern="1200" cap="none" spc="0" normalizeH="0" baseline="0" noProof="0" dirty="0">
                <a:ln>
                  <a:noFill/>
                </a:ln>
                <a:solidFill>
                  <a:prstClr val="black"/>
                </a:solidFill>
                <a:effectLst/>
                <a:uLnTx/>
                <a:uFillTx/>
                <a:ea typeface="+mn-ea"/>
                <a:cs typeface="Calibri" panose="020F0502020204030204" pitchFamily="34" charset="0"/>
              </a:rPr>
              <a:t>is a vertical section from ground surface to unaltered rock below.</a:t>
            </a:r>
          </a:p>
          <a:p>
            <a:pPr marL="0" marR="0" lvl="1" indent="0" algn="l" defTabSz="914400" rtl="0" eaLnBrk="1" fontAlgn="auto" latinLnBrk="0" hangingPunct="1">
              <a:lnSpc>
                <a:spcPct val="100000"/>
              </a:lnSpc>
              <a:spcBef>
                <a:spcPts val="0"/>
              </a:spcBef>
              <a:spcAft>
                <a:spcPts val="800"/>
              </a:spcAft>
              <a:buClr>
                <a:srgbClr val="000000"/>
              </a:buClr>
              <a:buSzTx/>
              <a:buFont typeface="Arial" panose="020B0604020202020204" pitchFamily="34" charset="0"/>
              <a:buNone/>
              <a:tabLst/>
              <a:defRPr/>
            </a:pPr>
            <a:r>
              <a:rPr kumimoji="0" lang="en-US" sz="2800" b="1" i="0" u="none" strike="noStrike" kern="1200" cap="none" spc="0" normalizeH="0" baseline="0" noProof="0" dirty="0">
                <a:ln>
                  <a:noFill/>
                </a:ln>
                <a:solidFill>
                  <a:srgbClr val="DB0F0F"/>
                </a:solidFill>
                <a:effectLst/>
                <a:uLnTx/>
                <a:uFillTx/>
                <a:ea typeface="+mn-ea"/>
                <a:cs typeface="Calibri" panose="020F0502020204030204" pitchFamily="34" charset="0"/>
              </a:rPr>
              <a:t>Soil horizons</a:t>
            </a:r>
            <a:r>
              <a:rPr kumimoji="0" lang="en-US" sz="2000" b="0" i="0" u="none" strike="noStrike" kern="1200" cap="none" spc="0" normalizeH="0" baseline="0" noProof="0" dirty="0">
                <a:ln>
                  <a:noFill/>
                </a:ln>
                <a:solidFill>
                  <a:srgbClr val="000000"/>
                </a:solidFill>
                <a:effectLst/>
                <a:uLnTx/>
                <a:uFillTx/>
                <a:ea typeface="+mn-ea"/>
                <a:cs typeface="Calibri" panose="020F0502020204030204" pitchFamily="34" charset="0"/>
              </a:rPr>
              <a:t>—</a:t>
            </a:r>
            <a:r>
              <a:rPr kumimoji="0" lang="en-US" sz="2800" b="0" i="0" u="none" strike="noStrike" kern="1200" cap="none" spc="0" normalizeH="0" baseline="0" noProof="0" dirty="0">
                <a:ln>
                  <a:noFill/>
                </a:ln>
                <a:solidFill>
                  <a:prstClr val="black"/>
                </a:solidFill>
                <a:effectLst/>
                <a:uLnTx/>
                <a:uFillTx/>
                <a:ea typeface="+mn-ea"/>
                <a:cs typeface="Calibri" panose="020F0502020204030204" pitchFamily="34" charset="0"/>
              </a:rPr>
              <a:t>parallel layers </a:t>
            </a:r>
          </a:p>
          <a:p>
            <a:pPr marL="347472" marR="0" lvl="2"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A (topsoil)</a:t>
            </a:r>
            <a:r>
              <a:rPr kumimoji="0" lang="en-US" sz="1800" b="0" i="0" u="none" strike="noStrike" kern="1200" cap="none" spc="0" normalizeH="0" baseline="0" noProof="0" dirty="0">
                <a:ln>
                  <a:noFill/>
                </a:ln>
                <a:solidFill>
                  <a:srgbClr val="000000"/>
                </a:solidFill>
                <a:effectLst/>
                <a:uLnTx/>
                <a:uFillTx/>
                <a:ea typeface="Times New Roman" panose="02020603050405020304" pitchFamily="18" charset="0"/>
                <a:cs typeface="Calibri" panose="020F0502020204030204" pitchFamily="34" charset="0"/>
              </a:rPr>
              <a:t>—</a:t>
            </a: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litter and humus</a:t>
            </a:r>
          </a:p>
          <a:p>
            <a:pPr marL="347472" marR="0" lvl="2"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B (subsoil)</a:t>
            </a:r>
            <a:r>
              <a:rPr kumimoji="0" lang="en-US" sz="1800" b="0" i="0" u="none" strike="noStrike" kern="1200" cap="none" spc="0" normalizeH="0" baseline="0" noProof="0" dirty="0">
                <a:ln>
                  <a:noFill/>
                </a:ln>
                <a:solidFill>
                  <a:srgbClr val="000000"/>
                </a:solidFill>
                <a:effectLst/>
                <a:uLnTx/>
                <a:uFillTx/>
                <a:ea typeface="Times New Roman" panose="02020603050405020304" pitchFamily="18" charset="0"/>
                <a:cs typeface="Calibri" panose="020F0502020204030204" pitchFamily="34" charset="0"/>
              </a:rPr>
              <a:t>—</a:t>
            </a: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inorganic nutrients</a:t>
            </a:r>
          </a:p>
          <a:p>
            <a:pPr marL="347472" marR="0" lvl="2"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C (parent material)</a:t>
            </a:r>
            <a:r>
              <a:rPr kumimoji="0" lang="en-US" sz="1800" b="0" i="0" u="none" strike="noStrike" kern="1200" cap="none" spc="0" normalizeH="0" baseline="0" noProof="0" dirty="0">
                <a:ln>
                  <a:noFill/>
                </a:ln>
                <a:solidFill>
                  <a:srgbClr val="000000"/>
                </a:solidFill>
                <a:effectLst/>
                <a:uLnTx/>
                <a:uFillTx/>
                <a:ea typeface="Times New Roman" panose="02020603050405020304" pitchFamily="18" charset="0"/>
                <a:cs typeface="Calibri" panose="020F0502020204030204" pitchFamily="34" charset="0"/>
              </a:rPr>
              <a:t>—</a:t>
            </a: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weathered rock</a:t>
            </a:r>
          </a:p>
          <a:p>
            <a:pPr marL="0" marR="0" lvl="1" indent="0" algn="l" defTabSz="914400" rtl="0" eaLnBrk="1" fontAlgn="auto" latinLnBrk="0" hangingPunct="1">
              <a:lnSpc>
                <a:spcPct val="100000"/>
              </a:lnSpc>
              <a:spcBef>
                <a:spcPts val="800"/>
              </a:spcBef>
              <a:spcAft>
                <a:spcPts val="80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ea typeface="+mn-ea"/>
                <a:cs typeface="Calibri" panose="020F0502020204030204" pitchFamily="34" charset="0"/>
              </a:rPr>
              <a:t>Because parent material and climate differ, the soil profile varies according to the particular ecosystem.</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15</a:t>
            </a:fld>
            <a:endParaRPr lang="en-US" dirty="0"/>
          </a:p>
        </p:txBody>
      </p:sp>
    </p:spTree>
    <p:extLst>
      <p:ext uri="{BB962C8B-B14F-4D97-AF65-F5344CB8AC3E}">
        <p14:creationId xmlns:p14="http://schemas.microsoft.com/office/powerpoint/2010/main" val="11734131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01DE145-7011-5A18-3C17-20A329DC8359}"/>
              </a:ext>
            </a:extLst>
          </p:cNvPr>
          <p:cNvSpPr>
            <a:spLocks noGrp="1"/>
          </p:cNvSpPr>
          <p:nvPr>
            <p:ph type="title"/>
          </p:nvPr>
        </p:nvSpPr>
        <p:spPr/>
        <p:txBody>
          <a:bodyPr/>
          <a:lstStyle/>
          <a:p>
            <a:r>
              <a:rPr lang="en-US" dirty="0"/>
              <a:t>Simplified Soil Profile</a:t>
            </a:r>
          </a:p>
        </p:txBody>
      </p:sp>
      <p:sp>
        <p:nvSpPr>
          <p:cNvPr id="9" name="Content Placeholder 8">
            <a:extLst>
              <a:ext uri="{FF2B5EF4-FFF2-40B4-BE49-F238E27FC236}">
                <a16:creationId xmlns:a16="http://schemas.microsoft.com/office/drawing/2014/main" id="{63BFE16C-412D-F59E-A34E-7C6E302A7D4D}"/>
              </a:ext>
            </a:extLst>
          </p:cNvPr>
          <p:cNvSpPr>
            <a:spLocks noGrp="1"/>
          </p:cNvSpPr>
          <p:nvPr>
            <p:ph sz="quarter" idx="11"/>
          </p:nvPr>
        </p:nvSpPr>
        <p:spPr>
          <a:xfrm>
            <a:off x="239793" y="1454797"/>
            <a:ext cx="3134343" cy="438863"/>
          </a:xfrm>
        </p:spPr>
        <p:txBody>
          <a:bodyPr/>
          <a:lstStyle/>
          <a:p>
            <a:r>
              <a:rPr lang="en-US" sz="1800" b="1" dirty="0"/>
              <a:t>Soil Profile Layers</a:t>
            </a:r>
          </a:p>
        </p:txBody>
      </p:sp>
      <p:sp>
        <p:nvSpPr>
          <p:cNvPr id="10" name="Table Summary 3" hidden="1">
            <a:extLst>
              <a:ext uri="{FF2B5EF4-FFF2-40B4-BE49-F238E27FC236}">
                <a16:creationId xmlns:a16="http://schemas.microsoft.com/office/drawing/2014/main" id="{1FCD961E-41E6-634A-CB95-E9C1B2301AC4}"/>
              </a:ext>
            </a:extLst>
          </p:cNvPr>
          <p:cNvSpPr>
            <a:spLocks noGrp="1"/>
          </p:cNvSpPr>
          <p:nvPr>
            <p:ph sz="quarter" idx="14"/>
          </p:nvPr>
        </p:nvSpPr>
        <p:spPr>
          <a:xfrm>
            <a:off x="762000" y="2136611"/>
            <a:ext cx="3031524" cy="1207337"/>
          </a:xfrm>
        </p:spPr>
        <p:txBody>
          <a:bodyPr/>
          <a:lstStyle/>
          <a:p>
            <a:r>
              <a:rPr lang="en-US" sz="1200" dirty="0"/>
              <a:t>The following content is arranged like a table. Table divided into 3 columns summarizes Soil Profile Layers. The column headers are marked as: Topsoil (A), Subsoil (B) and Bedrock (C)</a:t>
            </a:r>
          </a:p>
        </p:txBody>
      </p:sp>
      <p:graphicFrame>
        <p:nvGraphicFramePr>
          <p:cNvPr id="20" name="Table 3">
            <a:extLst>
              <a:ext uri="{FF2B5EF4-FFF2-40B4-BE49-F238E27FC236}">
                <a16:creationId xmlns:a16="http://schemas.microsoft.com/office/drawing/2014/main" id="{23271C4B-9FA0-8280-29CB-9E4151F07B28}"/>
              </a:ext>
            </a:extLst>
          </p:cNvPr>
          <p:cNvGraphicFramePr>
            <a:graphicFrameLocks/>
          </p:cNvGraphicFramePr>
          <p:nvPr>
            <p:extLst>
              <p:ext uri="{D42A27DB-BD31-4B8C-83A1-F6EECF244321}">
                <p14:modId xmlns:p14="http://schemas.microsoft.com/office/powerpoint/2010/main" val="3514328214"/>
              </p:ext>
            </p:extLst>
          </p:nvPr>
        </p:nvGraphicFramePr>
        <p:xfrm>
          <a:off x="239793" y="1936736"/>
          <a:ext cx="1404894" cy="1897130"/>
        </p:xfrm>
        <a:graphic>
          <a:graphicData uri="http://schemas.openxmlformats.org/drawingml/2006/table">
            <a:tbl>
              <a:tblPr firstRow="1" bandRow="1">
                <a:tableStyleId>{5940675A-B579-460E-94D1-54222C63F5DA}</a:tableStyleId>
              </a:tblPr>
              <a:tblGrid>
                <a:gridCol w="1404894">
                  <a:extLst>
                    <a:ext uri="{9D8B030D-6E8A-4147-A177-3AD203B41FA5}">
                      <a16:colId xmlns:a16="http://schemas.microsoft.com/office/drawing/2014/main" val="401064333"/>
                    </a:ext>
                  </a:extLst>
                </a:gridCol>
              </a:tblGrid>
              <a:tr h="414573">
                <a:tc>
                  <a:txBody>
                    <a:bodyPr/>
                    <a:lstStyle/>
                    <a:p>
                      <a:r>
                        <a:rPr lang="en-US" dirty="0"/>
                        <a:t>Topsoil (A)</a:t>
                      </a:r>
                    </a:p>
                  </a:txBody>
                  <a:tcPr/>
                </a:tc>
                <a:extLst>
                  <a:ext uri="{0D108BD9-81ED-4DB2-BD59-A6C34878D82A}">
                    <a16:rowId xmlns:a16="http://schemas.microsoft.com/office/drawing/2014/main" val="2881926813"/>
                  </a:ext>
                </a:extLst>
              </a:tr>
              <a:tr h="14825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Top layer, containing the most humus</a:t>
                      </a:r>
                    </a:p>
                  </a:txBody>
                  <a:tcPr/>
                </a:tc>
                <a:extLst>
                  <a:ext uri="{0D108BD9-81ED-4DB2-BD59-A6C34878D82A}">
                    <a16:rowId xmlns:a16="http://schemas.microsoft.com/office/drawing/2014/main" val="473771086"/>
                  </a:ext>
                </a:extLst>
              </a:tr>
            </a:tbl>
          </a:graphicData>
        </a:graphic>
      </p:graphicFrame>
      <p:graphicFrame>
        <p:nvGraphicFramePr>
          <p:cNvPr id="2" name="Table 3">
            <a:extLst>
              <a:ext uri="{FF2B5EF4-FFF2-40B4-BE49-F238E27FC236}">
                <a16:creationId xmlns:a16="http://schemas.microsoft.com/office/drawing/2014/main" id="{E39754D8-B702-526E-696A-6951DB5D0B0A}"/>
              </a:ext>
            </a:extLst>
          </p:cNvPr>
          <p:cNvGraphicFramePr>
            <a:graphicFrameLocks/>
          </p:cNvGraphicFramePr>
          <p:nvPr>
            <p:extLst>
              <p:ext uri="{D42A27DB-BD31-4B8C-83A1-F6EECF244321}">
                <p14:modId xmlns:p14="http://schemas.microsoft.com/office/powerpoint/2010/main" val="2832168675"/>
              </p:ext>
            </p:extLst>
          </p:nvPr>
        </p:nvGraphicFramePr>
        <p:xfrm>
          <a:off x="1644787" y="1936736"/>
          <a:ext cx="1573090" cy="1897130"/>
        </p:xfrm>
        <a:graphic>
          <a:graphicData uri="http://schemas.openxmlformats.org/drawingml/2006/table">
            <a:tbl>
              <a:tblPr firstRow="1" bandRow="1">
                <a:tableStyleId>{5940675A-B579-460E-94D1-54222C63F5DA}</a:tableStyleId>
              </a:tblPr>
              <a:tblGrid>
                <a:gridCol w="1573090">
                  <a:extLst>
                    <a:ext uri="{9D8B030D-6E8A-4147-A177-3AD203B41FA5}">
                      <a16:colId xmlns:a16="http://schemas.microsoft.com/office/drawing/2014/main" val="399883697"/>
                    </a:ext>
                  </a:extLst>
                </a:gridCol>
              </a:tblGrid>
              <a:tr h="414573">
                <a:tc>
                  <a:txBody>
                    <a:bodyPr/>
                    <a:lstStyle/>
                    <a:p>
                      <a:r>
                        <a:rPr lang="en-US" dirty="0"/>
                        <a:t>Subsoil (B)</a:t>
                      </a:r>
                    </a:p>
                  </a:txBody>
                  <a:tcPr/>
                </a:tc>
                <a:extLst>
                  <a:ext uri="{0D108BD9-81ED-4DB2-BD59-A6C34878D82A}">
                    <a16:rowId xmlns:a16="http://schemas.microsoft.com/office/drawing/2014/main" val="2881926813"/>
                  </a:ext>
                </a:extLst>
              </a:tr>
              <a:tr h="14825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Accumulation of leached materials</a:t>
                      </a:r>
                    </a:p>
                  </a:txBody>
                  <a:tcPr/>
                </a:tc>
                <a:extLst>
                  <a:ext uri="{0D108BD9-81ED-4DB2-BD59-A6C34878D82A}">
                    <a16:rowId xmlns:a16="http://schemas.microsoft.com/office/drawing/2014/main" val="473771086"/>
                  </a:ext>
                </a:extLst>
              </a:tr>
            </a:tbl>
          </a:graphicData>
        </a:graphic>
      </p:graphicFrame>
      <p:graphicFrame>
        <p:nvGraphicFramePr>
          <p:cNvPr id="3" name="Table 3">
            <a:extLst>
              <a:ext uri="{FF2B5EF4-FFF2-40B4-BE49-F238E27FC236}">
                <a16:creationId xmlns:a16="http://schemas.microsoft.com/office/drawing/2014/main" id="{DB2C3BBE-4391-6A70-5AF8-B4CCBB21AC8F}"/>
              </a:ext>
            </a:extLst>
          </p:cNvPr>
          <p:cNvGraphicFramePr>
            <a:graphicFrameLocks/>
          </p:cNvGraphicFramePr>
          <p:nvPr>
            <p:extLst>
              <p:ext uri="{D42A27DB-BD31-4B8C-83A1-F6EECF244321}">
                <p14:modId xmlns:p14="http://schemas.microsoft.com/office/powerpoint/2010/main" val="25665856"/>
              </p:ext>
            </p:extLst>
          </p:nvPr>
        </p:nvGraphicFramePr>
        <p:xfrm>
          <a:off x="3218626" y="1936736"/>
          <a:ext cx="1434122" cy="1897130"/>
        </p:xfrm>
        <a:graphic>
          <a:graphicData uri="http://schemas.openxmlformats.org/drawingml/2006/table">
            <a:tbl>
              <a:tblPr firstRow="1" bandRow="1">
                <a:tableStyleId>{5940675A-B579-460E-94D1-54222C63F5DA}</a:tableStyleId>
              </a:tblPr>
              <a:tblGrid>
                <a:gridCol w="1434122">
                  <a:extLst>
                    <a:ext uri="{9D8B030D-6E8A-4147-A177-3AD203B41FA5}">
                      <a16:colId xmlns:a16="http://schemas.microsoft.com/office/drawing/2014/main" val="1499481601"/>
                    </a:ext>
                  </a:extLst>
                </a:gridCol>
              </a:tblGrid>
              <a:tr h="414573">
                <a:tc>
                  <a:txBody>
                    <a:bodyPr/>
                    <a:lstStyle/>
                    <a:p>
                      <a:r>
                        <a:rPr lang="en-US" dirty="0"/>
                        <a:t>Bedrock (C)</a:t>
                      </a:r>
                    </a:p>
                  </a:txBody>
                  <a:tcPr/>
                </a:tc>
                <a:extLst>
                  <a:ext uri="{0D108BD9-81ED-4DB2-BD59-A6C34878D82A}">
                    <a16:rowId xmlns:a16="http://schemas.microsoft.com/office/drawing/2014/main" val="2881926813"/>
                  </a:ext>
                </a:extLst>
              </a:tr>
              <a:tr h="14825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Weathered parent material</a:t>
                      </a:r>
                    </a:p>
                  </a:txBody>
                  <a:tcPr/>
                </a:tc>
                <a:extLst>
                  <a:ext uri="{0D108BD9-81ED-4DB2-BD59-A6C34878D82A}">
                    <a16:rowId xmlns:a16="http://schemas.microsoft.com/office/drawing/2014/main" val="473771086"/>
                  </a:ext>
                </a:extLst>
              </a:tr>
            </a:tbl>
          </a:graphicData>
        </a:graphic>
      </p:graphicFrame>
      <p:pic>
        <p:nvPicPr>
          <p:cNvPr id="18" name="Picture 17" descr="An illustration shows the cross-sectional view of soil depicting its different layers.">
            <a:extLst>
              <a:ext uri="{FF2B5EF4-FFF2-40B4-BE49-F238E27FC236}">
                <a16:creationId xmlns:a16="http://schemas.microsoft.com/office/drawing/2014/main" id="{EB6D1560-9ED3-294F-0C8A-454585367F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9709" y="985186"/>
            <a:ext cx="4204390" cy="4694532"/>
          </a:xfrm>
          <a:prstGeom prst="rect">
            <a:avLst/>
          </a:prstGeom>
        </p:spPr>
      </p:pic>
      <p:sp>
        <p:nvSpPr>
          <p:cNvPr id="11" name="Content Placeholder 10">
            <a:extLst>
              <a:ext uri="{FF2B5EF4-FFF2-40B4-BE49-F238E27FC236}">
                <a16:creationId xmlns:a16="http://schemas.microsoft.com/office/drawing/2014/main" id="{C234D5F4-D619-C551-0588-FD33C197140B}"/>
              </a:ext>
            </a:extLst>
          </p:cNvPr>
          <p:cNvSpPr>
            <a:spLocks noGrp="1"/>
          </p:cNvSpPr>
          <p:nvPr>
            <p:ph sz="quarter" idx="15"/>
          </p:nvPr>
        </p:nvSpPr>
        <p:spPr>
          <a:xfrm>
            <a:off x="3793524" y="5999072"/>
            <a:ext cx="1556952" cy="270810"/>
          </a:xfrm>
        </p:spPr>
        <p:txBody>
          <a:bodyPr/>
          <a:lstStyle/>
          <a:p>
            <a:pPr algn="ctr"/>
            <a:r>
              <a:rPr lang="en-US" sz="1200" dirty="0"/>
              <a:t>Figure 25.6</a:t>
            </a:r>
          </a:p>
        </p:txBody>
      </p:sp>
      <p:sp>
        <p:nvSpPr>
          <p:cNvPr id="15" name="Text Placeholder 14">
            <a:extLst>
              <a:ext uri="{FF2B5EF4-FFF2-40B4-BE49-F238E27FC236}">
                <a16:creationId xmlns:a16="http://schemas.microsoft.com/office/drawing/2014/main" id="{6D206FA9-42F8-A34F-4B89-C893362579BC}"/>
              </a:ext>
            </a:extLst>
          </p:cNvPr>
          <p:cNvSpPr>
            <a:spLocks noGrp="1"/>
          </p:cNvSpPr>
          <p:nvPr>
            <p:ph type="body" sz="quarter" idx="19"/>
          </p:nvPr>
        </p:nvSpPr>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7" name="Slide Number Placeholder 6">
            <a:extLst>
              <a:ext uri="{FF2B5EF4-FFF2-40B4-BE49-F238E27FC236}">
                <a16:creationId xmlns:a16="http://schemas.microsoft.com/office/drawing/2014/main" id="{A2D4868E-87FC-B03F-97E6-D8394E08DDF5}"/>
              </a:ext>
            </a:extLst>
          </p:cNvPr>
          <p:cNvSpPr>
            <a:spLocks noGrp="1"/>
          </p:cNvSpPr>
          <p:nvPr>
            <p:ph type="sldNum" sz="quarter" idx="10"/>
          </p:nvPr>
        </p:nvSpPr>
        <p:spPr/>
        <p:txBody>
          <a:bodyPr/>
          <a:lstStyle/>
          <a:p>
            <a:fld id="{68151E55-6873-49E2-B8D5-2F265E6F1973}" type="slidenum">
              <a:rPr lang="en-US" smtClean="0"/>
              <a:t>16</a:t>
            </a:fld>
            <a:endParaRPr lang="en-US" dirty="0"/>
          </a:p>
        </p:txBody>
      </p:sp>
    </p:spTree>
    <p:extLst>
      <p:ext uri="{BB962C8B-B14F-4D97-AF65-F5344CB8AC3E}">
        <p14:creationId xmlns:p14="http://schemas.microsoft.com/office/powerpoint/2010/main" val="30837753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Soil Erosion</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755"/>
            <a:ext cx="7864412" cy="5679363"/>
          </a:xfrm>
        </p:spPr>
        <p:txBody>
          <a:bodyPr/>
          <a:lstStyle/>
          <a:p>
            <a:pPr marL="0" marR="0" lvl="0" indent="0" algn="l" defTabSz="914400" rtl="0" eaLnBrk="1" fontAlgn="auto" latinLnBrk="0" hangingPunct="1">
              <a:spcBef>
                <a:spcPts val="0"/>
              </a:spcBef>
              <a:spcAft>
                <a:spcPts val="600"/>
              </a:spcAft>
              <a:buClrTx/>
              <a:buSzTx/>
              <a:buFont typeface="Arial" panose="020B0604020202020204" pitchFamily="34" charset="0"/>
              <a:buNone/>
              <a:tabLst/>
              <a:defRPr/>
            </a:pPr>
            <a:r>
              <a:rPr kumimoji="0" lang="en-US" sz="3000" b="1" i="0" u="none" strike="noStrike" kern="1200" cap="none" spc="0" normalizeH="0" baseline="0" noProof="0" dirty="0">
                <a:ln>
                  <a:noFill/>
                </a:ln>
                <a:solidFill>
                  <a:srgbClr val="DB0F0F"/>
                </a:solidFill>
                <a:effectLst/>
                <a:uLnTx/>
                <a:uFillTx/>
                <a:ea typeface="+mn-ea"/>
                <a:cs typeface="Calibri" panose="020F0502020204030204" pitchFamily="34" charset="0"/>
              </a:rPr>
              <a:t>Soil erosion </a:t>
            </a: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occurs when water or wind carries soil away to a new location.</a:t>
            </a:r>
          </a:p>
          <a:p>
            <a:pPr marL="0" marR="0" lvl="0" indent="0" algn="l" defTabSz="914400" rtl="0" eaLnBrk="1" fontAlgn="auto" latinLnBrk="0" hangingPunct="1">
              <a:spcBef>
                <a:spcPts val="0"/>
              </a:spcBef>
              <a:spcAft>
                <a:spcPts val="600"/>
              </a:spcAft>
              <a:buClrTx/>
              <a:buSzTx/>
              <a:buFont typeface="Arial" panose="020B0604020202020204" pitchFamily="34" charset="0"/>
              <a:buNone/>
              <a:tabLst/>
              <a:defRPr/>
            </a:pP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Worldwide, at least 40% of farmland is seriously degraded.</a:t>
            </a:r>
          </a:p>
          <a:p>
            <a:pPr marL="0" marR="0" lvl="0" indent="0" algn="l" defTabSz="914400" rtl="0" eaLnBrk="1" fontAlgn="auto" latinLnBrk="0" hangingPunct="1">
              <a:spcBef>
                <a:spcPts val="0"/>
              </a:spcBef>
              <a:spcAft>
                <a:spcPts val="600"/>
              </a:spcAft>
              <a:buClrTx/>
              <a:buSzTx/>
              <a:buFont typeface="Arial" panose="020B0604020202020204" pitchFamily="34" charset="0"/>
              <a:buNone/>
              <a:tabLst/>
              <a:defRPr/>
            </a:pP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Fertile soil in an area equal to the size of Texas is lost annually.</a:t>
            </a:r>
          </a:p>
          <a:p>
            <a:pPr marL="0" marR="0" lvl="0" indent="0" algn="l" defTabSz="914400" rtl="0" eaLnBrk="1" fontAlgn="auto" latinLnBrk="0" hangingPunct="1">
              <a:spcBef>
                <a:spcPts val="0"/>
              </a:spcBef>
              <a:spcAft>
                <a:spcPts val="600"/>
              </a:spcAft>
              <a:buClrTx/>
              <a:buSzTx/>
              <a:buFont typeface="Arial" panose="020B0604020202020204" pitchFamily="34" charset="0"/>
              <a:buNone/>
              <a:tabLst/>
              <a:defRPr/>
            </a:pP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Poor land management practices contribute to erosion.</a:t>
            </a:r>
          </a:p>
          <a:p>
            <a:pPr marL="347472" marR="0" lvl="1" indent="-347472" algn="l" defTabSz="914400" rtl="0" eaLnBrk="1" fontAlgn="auto" latinLnBrk="0" hangingPunct="1">
              <a:spcBef>
                <a:spcPts val="0"/>
              </a:spcBef>
              <a:spcAft>
                <a:spcPts val="4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Farmland erosion caused by plowing and overgrazing.</a:t>
            </a:r>
          </a:p>
          <a:p>
            <a:pPr marL="347472" marR="0" lvl="1" indent="-347472" algn="l" defTabSz="914400" rtl="0" eaLnBrk="1" fontAlgn="auto" latinLnBrk="0" hangingPunct="1">
              <a:spcBef>
                <a:spcPts val="0"/>
              </a:spcBef>
              <a:spcAft>
                <a:spcPts val="4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Clearing of land for urbanization and roads.</a:t>
            </a:r>
          </a:p>
          <a:p>
            <a:pPr marL="347472" marR="0" lvl="1" indent="-347472" algn="l" defTabSz="914400" rtl="0" eaLnBrk="1" fontAlgn="auto" latinLnBrk="0" hangingPunct="1">
              <a:spcBef>
                <a:spcPts val="0"/>
              </a:spcBef>
              <a:spcAft>
                <a:spcPts val="4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Coastal erosion increased by intensification of storms and rising sea levels.</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17</a:t>
            </a:fld>
            <a:endParaRPr lang="en-US" dirty="0"/>
          </a:p>
        </p:txBody>
      </p:sp>
    </p:spTree>
    <p:extLst>
      <p:ext uri="{BB962C8B-B14F-4D97-AF65-F5344CB8AC3E}">
        <p14:creationId xmlns:p14="http://schemas.microsoft.com/office/powerpoint/2010/main" val="2786179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762000" y="18288"/>
            <a:ext cx="7620000" cy="1325880"/>
          </a:xfrm>
        </p:spPr>
        <p:txBody>
          <a:bodyPr/>
          <a:lstStyle/>
          <a:p>
            <a:r>
              <a:rPr lang="en-US" noProof="0" dirty="0"/>
              <a:t>Mitigation Strategies for Soil Erosion</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1999" y="1454961"/>
            <a:ext cx="7619999" cy="4426855"/>
          </a:xfrm>
        </p:spPr>
        <p:txBody>
          <a:bodyPr/>
          <a:lstStyle/>
          <a:p>
            <a:pPr marL="0" marR="0" lvl="1"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000000"/>
                </a:solidFill>
                <a:effectLst/>
                <a:uLnTx/>
                <a:uFillTx/>
                <a:ea typeface="+mn-ea"/>
                <a:cs typeface="Calibri" panose="020F0502020204030204" pitchFamily="34" charset="0"/>
              </a:rPr>
              <a:t>Effective practices to reduce farmland erosion include crop rotation, reduced tillage, and companion crops.</a:t>
            </a:r>
          </a:p>
          <a:p>
            <a:pPr marL="0" marR="0" lvl="1" indent="0" algn="l" defTabSz="914400" rtl="0" eaLnBrk="1" fontAlgn="auto" latinLnBrk="0" hangingPunct="1">
              <a:lnSpc>
                <a:spcPct val="100000"/>
              </a:lnSpc>
              <a:spcBef>
                <a:spcPts val="800"/>
              </a:spcBef>
              <a:spcAft>
                <a:spcPts val="80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000000"/>
                </a:solidFill>
                <a:effectLst/>
                <a:uLnTx/>
                <a:uFillTx/>
                <a:ea typeface="+mn-ea"/>
                <a:cs typeface="Calibri" panose="020F0502020204030204" pitchFamily="34" charset="0"/>
              </a:rPr>
              <a:t>In California, coastal erosion has reshaped landscapes.</a:t>
            </a:r>
          </a:p>
          <a:p>
            <a:pPr marL="347472" marR="0" lvl="2"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ea typeface="+mn-ea"/>
                <a:cs typeface="Calibri" panose="020F0502020204030204" pitchFamily="34" charset="0"/>
              </a:rPr>
              <a:t>Trees are critical for the prevention of coastal erosion.</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18</a:t>
            </a:fld>
            <a:endParaRPr lang="en-US" dirty="0"/>
          </a:p>
        </p:txBody>
      </p:sp>
    </p:spTree>
    <p:extLst>
      <p:ext uri="{BB962C8B-B14F-4D97-AF65-F5344CB8AC3E}">
        <p14:creationId xmlns:p14="http://schemas.microsoft.com/office/powerpoint/2010/main" val="222515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284205" y="18288"/>
            <a:ext cx="8575590" cy="923544"/>
          </a:xfrm>
        </p:spPr>
        <p:txBody>
          <a:bodyPr/>
          <a:lstStyle/>
          <a:p>
            <a:r>
              <a:rPr lang="en-US" noProof="0" dirty="0"/>
              <a:t>25.2 Water and Mineral Uptake</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1999" y="997753"/>
            <a:ext cx="7619999" cy="5452474"/>
          </a:xfrm>
        </p:spPr>
        <p:txBody>
          <a:bodyPr/>
          <a:lstStyle/>
          <a:p>
            <a:pPr marL="0" marR="0" lvl="0" indent="0" algn="l" defTabSz="914400" rtl="0" eaLnBrk="1" fontAlgn="auto" latinLnBrk="0" hangingPunct="1">
              <a:spcBef>
                <a:spcPts val="0"/>
              </a:spcBef>
              <a:spcAft>
                <a:spcPts val="2000"/>
              </a:spcAft>
              <a:buClrTx/>
              <a:buSzTx/>
              <a:buFont typeface="Arial" panose="020B0604020202020204" pitchFamily="34" charset="0"/>
              <a:buNone/>
              <a:tabLst/>
              <a:defRPr/>
            </a:pPr>
            <a:r>
              <a:rPr kumimoji="0" lang="en-US" altLang="en-US" sz="2700" b="0" i="0" u="none" strike="noStrike" kern="1200" cap="none" spc="0" normalizeH="0" baseline="0" noProof="0" dirty="0">
                <a:ln>
                  <a:noFill/>
                </a:ln>
                <a:solidFill>
                  <a:prstClr val="black"/>
                </a:solidFill>
                <a:effectLst/>
                <a:uLnTx/>
                <a:uFillTx/>
                <a:ea typeface="+mn-ea"/>
                <a:cs typeface="Calibri" panose="020F0502020204030204" pitchFamily="34" charset="0"/>
              </a:rPr>
              <a:t>Water and minerals enter the roots of flowering plants through the same pathways.</a:t>
            </a:r>
          </a:p>
          <a:p>
            <a:pPr marL="347472" marR="0" lvl="1" indent="-347472" algn="l" defTabSz="914400" rtl="0" eaLnBrk="1" fontAlgn="auto" latinLnBrk="0" hangingPunct="1">
              <a:spcBef>
                <a:spcPts val="0"/>
              </a:spcBef>
              <a:spcAft>
                <a:spcPts val="800"/>
              </a:spcAft>
              <a:buClrTx/>
              <a:buSzTx/>
              <a:buFont typeface="Arial" panose="020B0604020202020204" pitchFamily="34" charset="0"/>
              <a:buChar char="•"/>
              <a:tabLst>
                <a:tab pos="168275" algn="l"/>
              </a:tabLst>
              <a:defRPr/>
            </a:pPr>
            <a:r>
              <a:rPr kumimoji="0" lang="en-US" alt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Between porous cell walls, then forced into endodermal cells by the </a:t>
            </a:r>
            <a:r>
              <a:rPr kumimoji="0" lang="en-US" altLang="en-US" sz="2400" b="1" i="0" u="none" strike="noStrike" kern="1200" cap="none" spc="0" normalizeH="0" baseline="0" noProof="0" dirty="0" err="1">
                <a:ln>
                  <a:noFill/>
                </a:ln>
                <a:solidFill>
                  <a:prstClr val="black"/>
                </a:solidFill>
                <a:effectLst/>
                <a:uLnTx/>
                <a:uFillTx/>
                <a:ea typeface="+mn-ea"/>
                <a:cs typeface="Calibri" panose="020F0502020204030204" pitchFamily="34" charset="0"/>
              </a:rPr>
              <a:t>Casparian</a:t>
            </a:r>
            <a:r>
              <a:rPr kumimoji="0" lang="en-US" altLang="en-US" sz="2400" b="1" i="0" u="none" strike="noStrike" kern="1200" cap="none" spc="0" normalizeH="0" baseline="0" noProof="0" dirty="0">
                <a:ln>
                  <a:noFill/>
                </a:ln>
                <a:solidFill>
                  <a:prstClr val="black"/>
                </a:solidFill>
                <a:effectLst/>
                <a:uLnTx/>
                <a:uFillTx/>
                <a:ea typeface="+mn-ea"/>
                <a:cs typeface="Calibri" panose="020F0502020204030204" pitchFamily="34" charset="0"/>
              </a:rPr>
              <a:t> strip.</a:t>
            </a:r>
          </a:p>
          <a:p>
            <a:pPr marL="347472" marR="0" lvl="1" indent="-347472" algn="l" defTabSz="914400" rtl="0" eaLnBrk="1" fontAlgn="auto" latinLnBrk="0" hangingPunct="1">
              <a:spcBef>
                <a:spcPts val="800"/>
              </a:spcBef>
              <a:spcAft>
                <a:spcPts val="1500"/>
              </a:spcAft>
              <a:buClrTx/>
              <a:buSzTx/>
              <a:buFont typeface="Arial" panose="020B0604020202020204" pitchFamily="34" charset="0"/>
              <a:buChar char="•"/>
              <a:tabLst>
                <a:tab pos="168275" algn="l"/>
              </a:tabLst>
              <a:defRPr/>
            </a:pPr>
            <a:r>
              <a:rPr kumimoji="0" lang="en-US" alt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Through root hairs, through cells across the cortex and endodermis via cytoplasmic strands within plasmodesmata.</a:t>
            </a:r>
          </a:p>
          <a:p>
            <a:pPr marL="0" marR="0" lvl="0" indent="0" algn="l" defTabSz="914400" rtl="0" eaLnBrk="1" fontAlgn="auto" latinLnBrk="0" hangingPunct="1">
              <a:spcBef>
                <a:spcPts val="0"/>
              </a:spcBef>
              <a:spcAft>
                <a:spcPts val="2000"/>
              </a:spcAft>
              <a:buClrTx/>
              <a:buSzTx/>
              <a:buFont typeface="Arial" panose="020B0604020202020204" pitchFamily="34" charset="0"/>
              <a:buNone/>
              <a:tabLst/>
              <a:defRPr/>
            </a:pPr>
            <a:r>
              <a:rPr kumimoji="0" lang="en-US" altLang="en-US" sz="2700" b="0" i="0" u="none" strike="noStrike" kern="1200" cap="none" spc="0" normalizeH="0" baseline="0" noProof="0" dirty="0">
                <a:ln>
                  <a:noFill/>
                </a:ln>
                <a:solidFill>
                  <a:prstClr val="black"/>
                </a:solidFill>
                <a:effectLst/>
                <a:uLnTx/>
                <a:uFillTx/>
                <a:ea typeface="+mn-ea"/>
                <a:cs typeface="Calibri" panose="020F0502020204030204" pitchFamily="34" charset="0"/>
              </a:rPr>
              <a:t>Water enters root cells when their </a:t>
            </a:r>
            <a:r>
              <a:rPr kumimoji="0" lang="en-US" altLang="en-US" sz="2700" b="1" i="0" u="none" strike="noStrike" kern="1200" cap="none" spc="0" normalizeH="0" baseline="0" noProof="0" dirty="0">
                <a:ln>
                  <a:noFill/>
                </a:ln>
                <a:solidFill>
                  <a:prstClr val="black"/>
                </a:solidFill>
                <a:effectLst/>
                <a:uLnTx/>
                <a:uFillTx/>
                <a:ea typeface="+mn-ea"/>
                <a:cs typeface="Calibri" panose="020F0502020204030204" pitchFamily="34" charset="0"/>
              </a:rPr>
              <a:t>osmotic pressure</a:t>
            </a:r>
            <a:r>
              <a:rPr kumimoji="0" lang="en-US" altLang="en-US" sz="2700" b="0" i="0" u="none" strike="noStrike" kern="1200" cap="none" spc="0" normalizeH="0" baseline="0" noProof="0" dirty="0">
                <a:ln>
                  <a:noFill/>
                </a:ln>
                <a:solidFill>
                  <a:prstClr val="black"/>
                </a:solidFill>
                <a:effectLst/>
                <a:uLnTx/>
                <a:uFillTx/>
                <a:ea typeface="+mn-ea"/>
                <a:cs typeface="Calibri" panose="020F0502020204030204" pitchFamily="34" charset="0"/>
              </a:rPr>
              <a:t> is lower than that of the soil.</a:t>
            </a:r>
          </a:p>
          <a:p>
            <a:pPr marL="0" marR="0" lvl="0" indent="0" algn="l" defTabSz="914400" rtl="0" eaLnBrk="1" fontAlgn="auto" latinLnBrk="0" hangingPunct="1">
              <a:spcBef>
                <a:spcPts val="0"/>
              </a:spcBef>
              <a:spcAft>
                <a:spcPts val="2000"/>
              </a:spcAft>
              <a:buClrTx/>
              <a:buSzTx/>
              <a:buFont typeface="Arial" panose="020B0604020202020204" pitchFamily="34" charset="0"/>
              <a:buNone/>
              <a:tabLst/>
              <a:defRPr/>
            </a:pPr>
            <a:r>
              <a:rPr kumimoji="0" lang="en-US" altLang="en-US" sz="2700" b="0" i="0" u="none" strike="noStrike" kern="1200" cap="none" spc="0" normalizeH="0" baseline="0" noProof="0" dirty="0">
                <a:ln>
                  <a:noFill/>
                </a:ln>
                <a:solidFill>
                  <a:prstClr val="black"/>
                </a:solidFill>
                <a:effectLst/>
                <a:uLnTx/>
                <a:uFillTx/>
                <a:ea typeface="+mn-ea"/>
                <a:cs typeface="Calibri" panose="020F0502020204030204" pitchFamily="34" charset="0"/>
              </a:rPr>
              <a:t>Minerals are actively taken up by plant cells and are transported in the xylem along with water.</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19</a:t>
            </a:fld>
            <a:endParaRPr lang="en-US" dirty="0"/>
          </a:p>
        </p:txBody>
      </p:sp>
    </p:spTree>
    <p:extLst>
      <p:ext uri="{BB962C8B-B14F-4D97-AF65-F5344CB8AC3E}">
        <p14:creationId xmlns:p14="http://schemas.microsoft.com/office/powerpoint/2010/main" val="28137093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284205" y="18288"/>
            <a:ext cx="8575590" cy="923544"/>
          </a:xfrm>
        </p:spPr>
        <p:txBody>
          <a:bodyPr/>
          <a:lstStyle/>
          <a:p>
            <a:r>
              <a:rPr lang="en-US" noProof="0" dirty="0"/>
              <a:t>Mineral Uptake</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1999" y="997753"/>
            <a:ext cx="7986585" cy="5452474"/>
          </a:xfrm>
        </p:spPr>
        <p:txBody>
          <a:bodyPr/>
          <a:lstStyle/>
          <a:p>
            <a:pPr marL="0" marR="0" lvl="0" indent="0" algn="l" defTabSz="914400" rtl="0" eaLnBrk="1" fontAlgn="auto" latinLnBrk="0" hangingPunct="1">
              <a:lnSpc>
                <a:spcPct val="100000"/>
              </a:lnSpc>
              <a:spcBef>
                <a:spcPts val="0"/>
              </a:spcBef>
              <a:spcAft>
                <a:spcPts val="2000"/>
              </a:spcAft>
              <a:buClrTx/>
              <a:buSzTx/>
              <a:buFont typeface="Arial" panose="020B0604020202020204" pitchFamily="34" charset="0"/>
              <a:buNone/>
              <a:tabLst/>
              <a:defRPr/>
            </a:pPr>
            <a:r>
              <a:rPr kumimoji="0" lang="en-US" sz="3200" b="0" i="0" u="none" strike="noStrike" kern="1200" cap="none" spc="0" normalizeH="0" baseline="0" noProof="0" dirty="0">
                <a:ln>
                  <a:noFill/>
                </a:ln>
                <a:solidFill>
                  <a:srgbClr val="000000"/>
                </a:solidFill>
                <a:effectLst/>
                <a:uLnTx/>
                <a:uFillTx/>
                <a:ea typeface="+mn-ea"/>
                <a:cs typeface="Calibri" panose="020F0502020204030204" pitchFamily="34" charset="0"/>
              </a:rPr>
              <a:t>Plants acquire minerals through passive or active transport.</a:t>
            </a:r>
          </a:p>
          <a:p>
            <a:pPr marL="0" marR="0" lvl="0" indent="0" algn="l" defTabSz="914400" rtl="0" eaLnBrk="1" fontAlgn="auto" latinLnBrk="0" hangingPunct="1">
              <a:lnSpc>
                <a:spcPct val="100000"/>
              </a:lnSpc>
              <a:spcBef>
                <a:spcPts val="0"/>
              </a:spcBef>
              <a:spcAft>
                <a:spcPts val="2000"/>
              </a:spcAft>
              <a:buClrTx/>
              <a:buSzTx/>
              <a:buFont typeface="Arial" panose="020B0604020202020204" pitchFamily="34" charset="0"/>
              <a:buNone/>
              <a:tabLst/>
              <a:defRPr/>
            </a:pPr>
            <a:r>
              <a:rPr kumimoji="0" lang="en-US" sz="3200" b="0" i="0" u="none" strike="noStrike" kern="1200" cap="none" spc="0" normalizeH="0" baseline="0" noProof="0" dirty="0">
                <a:ln>
                  <a:noFill/>
                </a:ln>
                <a:solidFill>
                  <a:srgbClr val="000000"/>
                </a:solidFill>
                <a:effectLst/>
                <a:uLnTx/>
                <a:uFillTx/>
                <a:ea typeface="+mn-ea"/>
                <a:cs typeface="Calibri" panose="020F0502020204030204" pitchFamily="34" charset="0"/>
              </a:rPr>
              <a:t>Plant cells expend energy to actively take up and concentrate mineral ions.</a:t>
            </a:r>
          </a:p>
          <a:p>
            <a:pPr marL="0" marR="0" lvl="0" indent="0" algn="l" defTabSz="914400" rtl="0" eaLnBrk="1" fontAlgn="auto" latinLnBrk="0" hangingPunct="1">
              <a:lnSpc>
                <a:spcPct val="100000"/>
              </a:lnSpc>
              <a:spcBef>
                <a:spcPts val="0"/>
              </a:spcBef>
              <a:spcAft>
                <a:spcPts val="2000"/>
              </a:spcAft>
              <a:buClrTx/>
              <a:buSzTx/>
              <a:buFont typeface="Arial" panose="020B0604020202020204" pitchFamily="34" charset="0"/>
              <a:buNone/>
              <a:tabLst/>
              <a:defRPr/>
            </a:pPr>
            <a:r>
              <a:rPr kumimoji="0" lang="en-US" sz="3200" b="0" i="0" u="none" strike="noStrike" kern="1200" cap="none" spc="0" normalizeH="0" baseline="0" noProof="0" dirty="0">
                <a:ln>
                  <a:noFill/>
                </a:ln>
                <a:solidFill>
                  <a:srgbClr val="000000"/>
                </a:solidFill>
                <a:effectLst/>
                <a:uLnTx/>
                <a:uFillTx/>
                <a:ea typeface="+mn-ea"/>
                <a:cs typeface="Calibri" panose="020F0502020204030204" pitchFamily="34" charset="0"/>
              </a:rPr>
              <a:t>The </a:t>
            </a:r>
            <a:r>
              <a:rPr kumimoji="0" lang="en-US" sz="3200" b="0" i="0" u="none" strike="noStrike" kern="1200" cap="none" spc="0" normalizeH="0" baseline="0" noProof="0" dirty="0" err="1">
                <a:ln>
                  <a:noFill/>
                </a:ln>
                <a:solidFill>
                  <a:srgbClr val="000000"/>
                </a:solidFill>
                <a:effectLst/>
                <a:uLnTx/>
                <a:uFillTx/>
                <a:ea typeface="+mn-ea"/>
                <a:cs typeface="Calibri" panose="020F0502020204030204" pitchFamily="34" charset="0"/>
              </a:rPr>
              <a:t>Casparian</a:t>
            </a:r>
            <a:r>
              <a:rPr kumimoji="0" lang="en-US" sz="3200" b="0" i="0" u="none" strike="noStrike" kern="1200" cap="none" spc="0" normalizeH="0" baseline="0" noProof="0" dirty="0">
                <a:ln>
                  <a:noFill/>
                </a:ln>
                <a:solidFill>
                  <a:srgbClr val="000000"/>
                </a:solidFill>
                <a:effectLst/>
                <a:uLnTx/>
                <a:uFillTx/>
                <a:ea typeface="+mn-ea"/>
                <a:cs typeface="Calibri" panose="020F0502020204030204" pitchFamily="34" charset="0"/>
              </a:rPr>
              <a:t> strip prevents backflow of minerals and allows root xylem to have a higher mineral concentration than soil.</a:t>
            </a:r>
          </a:p>
          <a:p>
            <a:pPr marL="347472" marR="0" lvl="1" indent="-347472"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0000"/>
                </a:solidFill>
                <a:effectLst/>
                <a:uLnTx/>
                <a:uFillTx/>
                <a:ea typeface="+mn-ea"/>
                <a:cs typeface="Calibri" panose="020F0502020204030204" pitchFamily="34" charset="0"/>
              </a:rPr>
              <a:t>Roots can concentrate minerals 10,000 times greater than surrounding soil.</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20</a:t>
            </a:fld>
            <a:endParaRPr lang="en-US" dirty="0"/>
          </a:p>
        </p:txBody>
      </p:sp>
    </p:spTree>
    <p:extLst>
      <p:ext uri="{BB962C8B-B14F-4D97-AF65-F5344CB8AC3E}">
        <p14:creationId xmlns:p14="http://schemas.microsoft.com/office/powerpoint/2010/main" val="1546216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7ED52FC-4EF4-E491-8D51-CA64C66EFAA9}"/>
              </a:ext>
            </a:extLst>
          </p:cNvPr>
          <p:cNvSpPr>
            <a:spLocks noGrp="1"/>
          </p:cNvSpPr>
          <p:nvPr>
            <p:ph type="title"/>
          </p:nvPr>
        </p:nvSpPr>
        <p:spPr/>
        <p:txBody>
          <a:bodyPr/>
          <a:lstStyle/>
          <a:p>
            <a:r>
              <a:rPr lang="en-US" dirty="0"/>
              <a:t>Proton Pump</a:t>
            </a:r>
          </a:p>
        </p:txBody>
      </p:sp>
      <p:sp>
        <p:nvSpPr>
          <p:cNvPr id="9" name="Content Placeholder 8">
            <a:extLst>
              <a:ext uri="{FF2B5EF4-FFF2-40B4-BE49-F238E27FC236}">
                <a16:creationId xmlns:a16="http://schemas.microsoft.com/office/drawing/2014/main" id="{7F43B77E-62C1-E89D-2173-BBF07CEFEBC6}"/>
              </a:ext>
            </a:extLst>
          </p:cNvPr>
          <p:cNvSpPr>
            <a:spLocks noGrp="1"/>
          </p:cNvSpPr>
          <p:nvPr>
            <p:ph sz="quarter" idx="11"/>
          </p:nvPr>
        </p:nvSpPr>
        <p:spPr>
          <a:xfrm>
            <a:off x="761999" y="1001713"/>
            <a:ext cx="8135257" cy="709673"/>
          </a:xfrm>
        </p:spPr>
        <p:txBody>
          <a:bodyPr/>
          <a:lstStyle/>
          <a:p>
            <a:r>
              <a:rPr lang="en-US" sz="2700" dirty="0"/>
              <a:t>A plasma-membrane proton pump can transport </a:t>
            </a:r>
          </a:p>
        </p:txBody>
      </p:sp>
      <p:sp>
        <p:nvSpPr>
          <p:cNvPr id="10" name="Content Placeholder 9">
            <a:extLst>
              <a:ext uri="{FF2B5EF4-FFF2-40B4-BE49-F238E27FC236}">
                <a16:creationId xmlns:a16="http://schemas.microsoft.com/office/drawing/2014/main" id="{84142FEC-469D-FD13-15AE-6C18D591300C}"/>
              </a:ext>
            </a:extLst>
          </p:cNvPr>
          <p:cNvSpPr>
            <a:spLocks noGrp="1"/>
          </p:cNvSpPr>
          <p:nvPr>
            <p:ph sz="quarter" idx="14"/>
          </p:nvPr>
        </p:nvSpPr>
        <p:spPr>
          <a:xfrm>
            <a:off x="762000" y="1371996"/>
            <a:ext cx="2578100" cy="496862"/>
          </a:xfrm>
        </p:spPr>
        <p:txBody>
          <a:bodyPr/>
          <a:lstStyle/>
          <a:p>
            <a:r>
              <a:rPr lang="en-US" sz="2700" dirty="0"/>
              <a:t>hydrogen ions </a:t>
            </a:r>
          </a:p>
        </p:txBody>
      </p:sp>
      <p:graphicFrame>
        <p:nvGraphicFramePr>
          <p:cNvPr id="23" name="Object 22">
            <a:extLst>
              <a:ext uri="{FF2B5EF4-FFF2-40B4-BE49-F238E27FC236}">
                <a16:creationId xmlns:a16="http://schemas.microsoft.com/office/drawing/2014/main" id="{9D2E6109-9692-1BF3-D83C-9F9C739E3E75}"/>
              </a:ext>
            </a:extLst>
          </p:cNvPr>
          <p:cNvGraphicFramePr>
            <a:graphicFrameLocks noChangeAspect="1"/>
          </p:cNvGraphicFramePr>
          <p:nvPr>
            <p:extLst>
              <p:ext uri="{D42A27DB-BD31-4B8C-83A1-F6EECF244321}">
                <p14:modId xmlns:p14="http://schemas.microsoft.com/office/powerpoint/2010/main" val="3820726829"/>
              </p:ext>
            </p:extLst>
          </p:nvPr>
        </p:nvGraphicFramePr>
        <p:xfrm>
          <a:off x="3105924" y="1430708"/>
          <a:ext cx="638175" cy="438150"/>
        </p:xfrm>
        <a:graphic>
          <a:graphicData uri="http://schemas.openxmlformats.org/presentationml/2006/ole">
            <mc:AlternateContent xmlns:mc="http://schemas.openxmlformats.org/markup-compatibility/2006">
              <mc:Choice xmlns:v="urn:schemas-microsoft-com:vml" Requires="v">
                <p:oleObj name="Equation" r:id="rId2" imgW="638399" imgH="438374" progId="Equation.DSMT4">
                  <p:embed/>
                </p:oleObj>
              </mc:Choice>
              <mc:Fallback>
                <p:oleObj name="Equation" r:id="rId2" imgW="638399" imgH="438374" progId="Equation.DSMT4">
                  <p:embed/>
                  <p:pic>
                    <p:nvPicPr>
                      <p:cNvPr id="23" name="Object 22">
                        <a:extLst>
                          <a:ext uri="{FF2B5EF4-FFF2-40B4-BE49-F238E27FC236}">
                            <a16:creationId xmlns:a16="http://schemas.microsoft.com/office/drawing/2014/main" id="{9D2E6109-9692-1BF3-D83C-9F9C739E3E75}"/>
                          </a:ext>
                        </a:extLst>
                      </p:cNvPr>
                      <p:cNvPicPr/>
                      <p:nvPr/>
                    </p:nvPicPr>
                    <p:blipFill>
                      <a:blip r:embed="rId3"/>
                      <a:stretch>
                        <a:fillRect/>
                      </a:stretch>
                    </p:blipFill>
                    <p:spPr>
                      <a:xfrm>
                        <a:off x="3105924" y="1430708"/>
                        <a:ext cx="638175" cy="438150"/>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0C3DBEF7-BAAB-4DFF-CE85-CA665EF16B59}"/>
              </a:ext>
            </a:extLst>
          </p:cNvPr>
          <p:cNvSpPr>
            <a:spLocks noGrp="1"/>
          </p:cNvSpPr>
          <p:nvPr>
            <p:ph sz="quarter" idx="15"/>
          </p:nvPr>
        </p:nvSpPr>
        <p:spPr>
          <a:xfrm>
            <a:off x="3759200" y="1371996"/>
            <a:ext cx="2451100" cy="447524"/>
          </a:xfrm>
        </p:spPr>
        <p:txBody>
          <a:bodyPr/>
          <a:lstStyle/>
          <a:p>
            <a:r>
              <a:rPr lang="en-US" sz="2700" dirty="0"/>
              <a:t>out of the cell.</a:t>
            </a:r>
          </a:p>
        </p:txBody>
      </p:sp>
      <p:sp>
        <p:nvSpPr>
          <p:cNvPr id="12" name="Content Placeholder 11">
            <a:extLst>
              <a:ext uri="{FF2B5EF4-FFF2-40B4-BE49-F238E27FC236}">
                <a16:creationId xmlns:a16="http://schemas.microsoft.com/office/drawing/2014/main" id="{00C44EDD-EF73-AEFB-C1F6-7D094EFA86CA}"/>
              </a:ext>
            </a:extLst>
          </p:cNvPr>
          <p:cNvSpPr>
            <a:spLocks noGrp="1"/>
          </p:cNvSpPr>
          <p:nvPr>
            <p:ph sz="quarter" idx="16"/>
          </p:nvPr>
        </p:nvSpPr>
        <p:spPr>
          <a:xfrm>
            <a:off x="762000" y="1964654"/>
            <a:ext cx="8135256" cy="503913"/>
          </a:xfrm>
        </p:spPr>
        <p:txBody>
          <a:bodyPr/>
          <a:lstStyle/>
          <a:p>
            <a:pPr marL="342900" indent="-342900">
              <a:buFont typeface="Arial" panose="020B0604020202020204" pitchFamily="34" charset="0"/>
              <a:buChar char="•"/>
            </a:pPr>
            <a:r>
              <a:rPr lang="en-US" sz="2400" dirty="0"/>
              <a:t>An electrochemical gradient drives positively charged </a:t>
            </a:r>
          </a:p>
        </p:txBody>
      </p:sp>
      <p:sp>
        <p:nvSpPr>
          <p:cNvPr id="13" name="Content Placeholder 12">
            <a:extLst>
              <a:ext uri="{FF2B5EF4-FFF2-40B4-BE49-F238E27FC236}">
                <a16:creationId xmlns:a16="http://schemas.microsoft.com/office/drawing/2014/main" id="{A8423429-D205-6F73-5C7C-13C3DB29368A}"/>
              </a:ext>
            </a:extLst>
          </p:cNvPr>
          <p:cNvSpPr>
            <a:spLocks noGrp="1"/>
          </p:cNvSpPr>
          <p:nvPr>
            <p:ph sz="quarter" idx="17"/>
          </p:nvPr>
        </p:nvSpPr>
        <p:spPr>
          <a:xfrm>
            <a:off x="1092200" y="2298364"/>
            <a:ext cx="800316" cy="476909"/>
          </a:xfrm>
        </p:spPr>
        <p:txBody>
          <a:bodyPr/>
          <a:lstStyle/>
          <a:p>
            <a:r>
              <a:rPr lang="en-US" sz="2400" dirty="0"/>
              <a:t>ions</a:t>
            </a:r>
          </a:p>
        </p:txBody>
      </p:sp>
      <p:graphicFrame>
        <p:nvGraphicFramePr>
          <p:cNvPr id="44" name="Object 43">
            <a:extLst>
              <a:ext uri="{FF2B5EF4-FFF2-40B4-BE49-F238E27FC236}">
                <a16:creationId xmlns:a16="http://schemas.microsoft.com/office/drawing/2014/main" id="{0DCF721E-0E35-5661-A864-A9A6E2D69BF8}"/>
              </a:ext>
            </a:extLst>
          </p:cNvPr>
          <p:cNvGraphicFramePr>
            <a:graphicFrameLocks noChangeAspect="1"/>
          </p:cNvGraphicFramePr>
          <p:nvPr>
            <p:extLst>
              <p:ext uri="{D42A27DB-BD31-4B8C-83A1-F6EECF244321}">
                <p14:modId xmlns:p14="http://schemas.microsoft.com/office/powerpoint/2010/main" val="142647778"/>
              </p:ext>
            </p:extLst>
          </p:nvPr>
        </p:nvGraphicFramePr>
        <p:xfrm>
          <a:off x="1830777" y="2342652"/>
          <a:ext cx="584200" cy="393700"/>
        </p:xfrm>
        <a:graphic>
          <a:graphicData uri="http://schemas.openxmlformats.org/presentationml/2006/ole">
            <mc:AlternateContent xmlns:mc="http://schemas.openxmlformats.org/markup-compatibility/2006">
              <mc:Choice xmlns:v="urn:schemas-microsoft-com:vml" Requires="v">
                <p:oleObj name="Equation" r:id="rId4" imgW="583920" imgH="393480" progId="Equation.DSMT4">
                  <p:embed/>
                </p:oleObj>
              </mc:Choice>
              <mc:Fallback>
                <p:oleObj name="Equation" r:id="rId4" imgW="583920" imgH="393480" progId="Equation.DSMT4">
                  <p:embed/>
                  <p:pic>
                    <p:nvPicPr>
                      <p:cNvPr id="0" name=""/>
                      <p:cNvPicPr/>
                      <p:nvPr/>
                    </p:nvPicPr>
                    <p:blipFill>
                      <a:blip r:embed="rId5"/>
                      <a:stretch>
                        <a:fillRect/>
                      </a:stretch>
                    </p:blipFill>
                    <p:spPr>
                      <a:xfrm>
                        <a:off x="1830777" y="2342652"/>
                        <a:ext cx="584200" cy="393700"/>
                      </a:xfrm>
                      <a:prstGeom prst="rect">
                        <a:avLst/>
                      </a:prstGeom>
                    </p:spPr>
                  </p:pic>
                </p:oleObj>
              </mc:Fallback>
            </mc:AlternateContent>
          </a:graphicData>
        </a:graphic>
      </p:graphicFrame>
      <p:sp>
        <p:nvSpPr>
          <p:cNvPr id="14" name="Content Placeholder 13">
            <a:extLst>
              <a:ext uri="{FF2B5EF4-FFF2-40B4-BE49-F238E27FC236}">
                <a16:creationId xmlns:a16="http://schemas.microsoft.com/office/drawing/2014/main" id="{1A7D0C71-BD12-BD85-A04C-5A7BD9DE16F3}"/>
              </a:ext>
            </a:extLst>
          </p:cNvPr>
          <p:cNvSpPr>
            <a:spLocks noGrp="1"/>
          </p:cNvSpPr>
          <p:nvPr>
            <p:ph sz="quarter" idx="18"/>
          </p:nvPr>
        </p:nvSpPr>
        <p:spPr>
          <a:xfrm>
            <a:off x="2453160" y="2301867"/>
            <a:ext cx="2006600" cy="484559"/>
          </a:xfrm>
        </p:spPr>
        <p:txBody>
          <a:bodyPr vert="horz" lIns="91440" tIns="45720" rIns="91440" bIns="45720" rtlCol="0">
            <a:noAutofit/>
          </a:bodyPr>
          <a:lstStyle/>
          <a:p>
            <a:r>
              <a:rPr lang="en-US" sz="2400" dirty="0"/>
              <a:t>into the cell.</a:t>
            </a:r>
          </a:p>
        </p:txBody>
      </p:sp>
      <p:sp>
        <p:nvSpPr>
          <p:cNvPr id="15" name="Content Placeholder 14">
            <a:extLst>
              <a:ext uri="{FF2B5EF4-FFF2-40B4-BE49-F238E27FC236}">
                <a16:creationId xmlns:a16="http://schemas.microsoft.com/office/drawing/2014/main" id="{6907BC4C-3FD9-FAB6-36B4-4D5960CB1735}"/>
              </a:ext>
            </a:extLst>
          </p:cNvPr>
          <p:cNvSpPr>
            <a:spLocks noGrp="1"/>
          </p:cNvSpPr>
          <p:nvPr>
            <p:ph sz="quarter" idx="21"/>
          </p:nvPr>
        </p:nvSpPr>
        <p:spPr>
          <a:xfrm>
            <a:off x="761762" y="2817857"/>
            <a:ext cx="5016738" cy="462042"/>
          </a:xfrm>
        </p:spPr>
        <p:txBody>
          <a:bodyPr vert="horz" lIns="91440" tIns="45720" rIns="91440" bIns="45720" rtlCol="0">
            <a:noAutofit/>
          </a:bodyPr>
          <a:lstStyle/>
          <a:p>
            <a:pPr marL="342900" indent="-342900">
              <a:buChar char="•"/>
            </a:pPr>
            <a:r>
              <a:rPr lang="en-US" sz="2400" dirty="0"/>
              <a:t>Negatively charged mineral ions </a:t>
            </a:r>
          </a:p>
        </p:txBody>
      </p:sp>
      <p:graphicFrame>
        <p:nvGraphicFramePr>
          <p:cNvPr id="45" name="Object 44">
            <a:extLst>
              <a:ext uri="{FF2B5EF4-FFF2-40B4-BE49-F238E27FC236}">
                <a16:creationId xmlns:a16="http://schemas.microsoft.com/office/drawing/2014/main" id="{01D16448-972D-2EFA-AFDD-57EE487AD3EB}"/>
              </a:ext>
            </a:extLst>
          </p:cNvPr>
          <p:cNvGraphicFramePr>
            <a:graphicFrameLocks noChangeAspect="1"/>
          </p:cNvGraphicFramePr>
          <p:nvPr>
            <p:extLst>
              <p:ext uri="{D42A27DB-BD31-4B8C-83A1-F6EECF244321}">
                <p14:modId xmlns:p14="http://schemas.microsoft.com/office/powerpoint/2010/main" val="2473699085"/>
              </p:ext>
            </p:extLst>
          </p:nvPr>
        </p:nvGraphicFramePr>
        <p:xfrm>
          <a:off x="5608595" y="2839328"/>
          <a:ext cx="2641600" cy="419100"/>
        </p:xfrm>
        <a:graphic>
          <a:graphicData uri="http://schemas.openxmlformats.org/presentationml/2006/ole">
            <mc:AlternateContent xmlns:mc="http://schemas.openxmlformats.org/markup-compatibility/2006">
              <mc:Choice xmlns:v="urn:schemas-microsoft-com:vml" Requires="v">
                <p:oleObj name="Equation" r:id="rId6" imgW="2641320" imgH="419040" progId="Equation.DSMT4">
                  <p:embed/>
                </p:oleObj>
              </mc:Choice>
              <mc:Fallback>
                <p:oleObj name="Equation" r:id="rId6" imgW="2641320" imgH="419040" progId="Equation.DSMT4">
                  <p:embed/>
                  <p:pic>
                    <p:nvPicPr>
                      <p:cNvPr id="0" name=""/>
                      <p:cNvPicPr/>
                      <p:nvPr/>
                    </p:nvPicPr>
                    <p:blipFill>
                      <a:blip r:embed="rId7"/>
                      <a:stretch>
                        <a:fillRect/>
                      </a:stretch>
                    </p:blipFill>
                    <p:spPr>
                      <a:xfrm>
                        <a:off x="5608595" y="2839328"/>
                        <a:ext cx="2641600" cy="419100"/>
                      </a:xfrm>
                      <a:prstGeom prst="rect">
                        <a:avLst/>
                      </a:prstGeom>
                    </p:spPr>
                  </p:pic>
                </p:oleObj>
              </mc:Fallback>
            </mc:AlternateContent>
          </a:graphicData>
        </a:graphic>
      </p:graphicFrame>
      <p:sp>
        <p:nvSpPr>
          <p:cNvPr id="16" name="Content Placeholder 15">
            <a:extLst>
              <a:ext uri="{FF2B5EF4-FFF2-40B4-BE49-F238E27FC236}">
                <a16:creationId xmlns:a16="http://schemas.microsoft.com/office/drawing/2014/main" id="{0FD53106-CAEA-A6EA-6346-37D2BF908804}"/>
              </a:ext>
            </a:extLst>
          </p:cNvPr>
          <p:cNvSpPr>
            <a:spLocks noGrp="1"/>
          </p:cNvSpPr>
          <p:nvPr>
            <p:ph sz="quarter" idx="22"/>
          </p:nvPr>
        </p:nvSpPr>
        <p:spPr>
          <a:xfrm>
            <a:off x="8250195" y="2808288"/>
            <a:ext cx="840256" cy="426659"/>
          </a:xfrm>
        </p:spPr>
        <p:txBody>
          <a:bodyPr/>
          <a:lstStyle/>
          <a:p>
            <a:r>
              <a:rPr lang="en-US" sz="2400" dirty="0"/>
              <a:t>are</a:t>
            </a:r>
          </a:p>
        </p:txBody>
      </p:sp>
      <p:sp>
        <p:nvSpPr>
          <p:cNvPr id="17" name="Content Placeholder 16">
            <a:extLst>
              <a:ext uri="{FF2B5EF4-FFF2-40B4-BE49-F238E27FC236}">
                <a16:creationId xmlns:a16="http://schemas.microsoft.com/office/drawing/2014/main" id="{10C3B203-7705-58C0-8F83-B48AF3463CE9}"/>
              </a:ext>
            </a:extLst>
          </p:cNvPr>
          <p:cNvSpPr>
            <a:spLocks noGrp="1"/>
          </p:cNvSpPr>
          <p:nvPr>
            <p:ph sz="quarter" idx="23"/>
          </p:nvPr>
        </p:nvSpPr>
        <p:spPr>
          <a:xfrm>
            <a:off x="1107264" y="3142990"/>
            <a:ext cx="2577451" cy="481680"/>
          </a:xfrm>
        </p:spPr>
        <p:txBody>
          <a:bodyPr/>
          <a:lstStyle/>
          <a:p>
            <a:r>
              <a:rPr lang="en-US" sz="2400" dirty="0"/>
              <a:t>transported with </a:t>
            </a:r>
          </a:p>
        </p:txBody>
      </p:sp>
      <p:graphicFrame>
        <p:nvGraphicFramePr>
          <p:cNvPr id="26" name="Object 25">
            <a:extLst>
              <a:ext uri="{FF2B5EF4-FFF2-40B4-BE49-F238E27FC236}">
                <a16:creationId xmlns:a16="http://schemas.microsoft.com/office/drawing/2014/main" id="{CB886B73-5C75-5D4C-F5ED-49E398428418}"/>
              </a:ext>
            </a:extLst>
          </p:cNvPr>
          <p:cNvGraphicFramePr>
            <a:graphicFrameLocks noChangeAspect="1"/>
          </p:cNvGraphicFramePr>
          <p:nvPr>
            <p:extLst>
              <p:ext uri="{D42A27DB-BD31-4B8C-83A1-F6EECF244321}">
                <p14:modId xmlns:p14="http://schemas.microsoft.com/office/powerpoint/2010/main" val="784852846"/>
              </p:ext>
            </p:extLst>
          </p:nvPr>
        </p:nvGraphicFramePr>
        <p:xfrm>
          <a:off x="3463630" y="3174740"/>
          <a:ext cx="342900" cy="330200"/>
        </p:xfrm>
        <a:graphic>
          <a:graphicData uri="http://schemas.openxmlformats.org/presentationml/2006/ole">
            <mc:AlternateContent xmlns:mc="http://schemas.openxmlformats.org/markup-compatibility/2006">
              <mc:Choice xmlns:v="urn:schemas-microsoft-com:vml" Requires="v">
                <p:oleObj name="Equation" r:id="rId8" imgW="342720" imgH="330120" progId="Equation.DSMT4">
                  <p:embed/>
                </p:oleObj>
              </mc:Choice>
              <mc:Fallback>
                <p:oleObj name="Equation" r:id="rId8" imgW="342720" imgH="330120" progId="Equation.DSMT4">
                  <p:embed/>
                  <p:pic>
                    <p:nvPicPr>
                      <p:cNvPr id="26" name="Object 25">
                        <a:extLst>
                          <a:ext uri="{FF2B5EF4-FFF2-40B4-BE49-F238E27FC236}">
                            <a16:creationId xmlns:a16="http://schemas.microsoft.com/office/drawing/2014/main" id="{CB886B73-5C75-5D4C-F5ED-49E398428418}"/>
                          </a:ext>
                        </a:extLst>
                      </p:cNvPr>
                      <p:cNvPicPr/>
                      <p:nvPr/>
                    </p:nvPicPr>
                    <p:blipFill>
                      <a:blip r:embed="rId9"/>
                      <a:stretch>
                        <a:fillRect/>
                      </a:stretch>
                    </p:blipFill>
                    <p:spPr>
                      <a:xfrm>
                        <a:off x="3463630" y="3174740"/>
                        <a:ext cx="342900" cy="330200"/>
                      </a:xfrm>
                      <a:prstGeom prst="rect">
                        <a:avLst/>
                      </a:prstGeom>
                    </p:spPr>
                  </p:pic>
                </p:oleObj>
              </mc:Fallback>
            </mc:AlternateContent>
          </a:graphicData>
        </a:graphic>
      </p:graphicFrame>
      <p:sp>
        <p:nvSpPr>
          <p:cNvPr id="18" name="Content Placeholder 17">
            <a:extLst>
              <a:ext uri="{FF2B5EF4-FFF2-40B4-BE49-F238E27FC236}">
                <a16:creationId xmlns:a16="http://schemas.microsoft.com/office/drawing/2014/main" id="{B6E3B795-E461-1103-B116-508F050390ED}"/>
              </a:ext>
            </a:extLst>
          </p:cNvPr>
          <p:cNvSpPr>
            <a:spLocks noGrp="1"/>
          </p:cNvSpPr>
          <p:nvPr>
            <p:ph sz="quarter" idx="24"/>
          </p:nvPr>
        </p:nvSpPr>
        <p:spPr>
          <a:xfrm>
            <a:off x="3822704" y="3145754"/>
            <a:ext cx="3555996" cy="488876"/>
          </a:xfrm>
        </p:spPr>
        <p:txBody>
          <a:bodyPr/>
          <a:lstStyle/>
          <a:p>
            <a:r>
              <a:rPr lang="en-US" sz="2400" dirty="0"/>
              <a:t>by carrier proteins.</a:t>
            </a:r>
          </a:p>
        </p:txBody>
      </p:sp>
      <p:sp>
        <p:nvSpPr>
          <p:cNvPr id="19" name="Content Placeholder 18">
            <a:extLst>
              <a:ext uri="{FF2B5EF4-FFF2-40B4-BE49-F238E27FC236}">
                <a16:creationId xmlns:a16="http://schemas.microsoft.com/office/drawing/2014/main" id="{157E5510-64BF-5F4F-0193-5DC9D0CA9998}"/>
              </a:ext>
            </a:extLst>
          </p:cNvPr>
          <p:cNvSpPr>
            <a:spLocks noGrp="1"/>
          </p:cNvSpPr>
          <p:nvPr>
            <p:ph sz="quarter" idx="25"/>
          </p:nvPr>
        </p:nvSpPr>
        <p:spPr>
          <a:xfrm>
            <a:off x="764852" y="3656101"/>
            <a:ext cx="4318238" cy="525111"/>
          </a:xfrm>
        </p:spPr>
        <p:txBody>
          <a:bodyPr/>
          <a:lstStyle/>
          <a:p>
            <a:pPr marL="342900" indent="-342900">
              <a:buFont typeface="Arial" panose="020B0604020202020204" pitchFamily="34" charset="0"/>
              <a:buChar char="•"/>
            </a:pPr>
            <a:r>
              <a:rPr lang="en-US" sz="2400" dirty="0"/>
              <a:t>No energy is required when </a:t>
            </a:r>
          </a:p>
        </p:txBody>
      </p:sp>
      <p:graphicFrame>
        <p:nvGraphicFramePr>
          <p:cNvPr id="27" name="Object 26">
            <a:extLst>
              <a:ext uri="{FF2B5EF4-FFF2-40B4-BE49-F238E27FC236}">
                <a16:creationId xmlns:a16="http://schemas.microsoft.com/office/drawing/2014/main" id="{BB3E5AC0-CD8D-0967-0359-3A970F8B4F90}"/>
              </a:ext>
            </a:extLst>
          </p:cNvPr>
          <p:cNvGraphicFramePr>
            <a:graphicFrameLocks noChangeAspect="1"/>
          </p:cNvGraphicFramePr>
          <p:nvPr>
            <p:extLst>
              <p:ext uri="{D42A27DB-BD31-4B8C-83A1-F6EECF244321}">
                <p14:modId xmlns:p14="http://schemas.microsoft.com/office/powerpoint/2010/main" val="1166565588"/>
              </p:ext>
            </p:extLst>
          </p:nvPr>
        </p:nvGraphicFramePr>
        <p:xfrm>
          <a:off x="5047223" y="3695314"/>
          <a:ext cx="342900" cy="333375"/>
        </p:xfrm>
        <a:graphic>
          <a:graphicData uri="http://schemas.openxmlformats.org/presentationml/2006/ole">
            <mc:AlternateContent xmlns:mc="http://schemas.openxmlformats.org/markup-compatibility/2006">
              <mc:Choice xmlns:v="urn:schemas-microsoft-com:vml" Requires="v">
                <p:oleObj name="Equation" r:id="rId10" imgW="342900" imgH="333487" progId="Equation.DSMT4">
                  <p:embed/>
                </p:oleObj>
              </mc:Choice>
              <mc:Fallback>
                <p:oleObj name="Equation" r:id="rId10" imgW="342900" imgH="333487" progId="Equation.DSMT4">
                  <p:embed/>
                  <p:pic>
                    <p:nvPicPr>
                      <p:cNvPr id="27" name="Object 26">
                        <a:extLst>
                          <a:ext uri="{FF2B5EF4-FFF2-40B4-BE49-F238E27FC236}">
                            <a16:creationId xmlns:a16="http://schemas.microsoft.com/office/drawing/2014/main" id="{BB3E5AC0-CD8D-0967-0359-3A970F8B4F90}"/>
                          </a:ext>
                        </a:extLst>
                      </p:cNvPr>
                      <p:cNvPicPr/>
                      <p:nvPr/>
                    </p:nvPicPr>
                    <p:blipFill>
                      <a:blip r:embed="rId11"/>
                      <a:stretch>
                        <a:fillRect/>
                      </a:stretch>
                    </p:blipFill>
                    <p:spPr>
                      <a:xfrm>
                        <a:off x="5047223" y="3695314"/>
                        <a:ext cx="342900" cy="333375"/>
                      </a:xfrm>
                      <a:prstGeom prst="rect">
                        <a:avLst/>
                      </a:prstGeom>
                    </p:spPr>
                  </p:pic>
                </p:oleObj>
              </mc:Fallback>
            </mc:AlternateContent>
          </a:graphicData>
        </a:graphic>
      </p:graphicFrame>
      <p:sp>
        <p:nvSpPr>
          <p:cNvPr id="2" name="Content Placeholder 1">
            <a:extLst>
              <a:ext uri="{FF2B5EF4-FFF2-40B4-BE49-F238E27FC236}">
                <a16:creationId xmlns:a16="http://schemas.microsoft.com/office/drawing/2014/main" id="{6DE6181B-7BCF-8339-1C16-2CDFFE9C84F8}"/>
              </a:ext>
            </a:extLst>
          </p:cNvPr>
          <p:cNvSpPr>
            <a:spLocks noGrp="1"/>
          </p:cNvSpPr>
          <p:nvPr>
            <p:ph sz="quarter" idx="26"/>
          </p:nvPr>
        </p:nvSpPr>
        <p:spPr>
          <a:xfrm>
            <a:off x="5377422" y="3644119"/>
            <a:ext cx="2989025" cy="432504"/>
          </a:xfrm>
        </p:spPr>
        <p:txBody>
          <a:bodyPr/>
          <a:lstStyle/>
          <a:p>
            <a:r>
              <a:rPr lang="en-US" sz="2400" dirty="0"/>
              <a:t>is moving down its </a:t>
            </a:r>
          </a:p>
        </p:txBody>
      </p:sp>
      <p:sp>
        <p:nvSpPr>
          <p:cNvPr id="3" name="Content Placeholder 2">
            <a:extLst>
              <a:ext uri="{FF2B5EF4-FFF2-40B4-BE49-F238E27FC236}">
                <a16:creationId xmlns:a16="http://schemas.microsoft.com/office/drawing/2014/main" id="{744CCC40-E5BC-DC31-36D9-F68C258E20CC}"/>
              </a:ext>
            </a:extLst>
          </p:cNvPr>
          <p:cNvSpPr>
            <a:spLocks noGrp="1"/>
          </p:cNvSpPr>
          <p:nvPr>
            <p:ph sz="quarter" idx="29"/>
          </p:nvPr>
        </p:nvSpPr>
        <p:spPr>
          <a:xfrm>
            <a:off x="761999" y="4004501"/>
            <a:ext cx="8328452" cy="2637599"/>
          </a:xfrm>
        </p:spPr>
        <p:txBody>
          <a:bodyPr/>
          <a:lstStyle/>
          <a:p>
            <a:pPr marL="347472"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000000"/>
                </a:solidFill>
                <a:effectLst/>
                <a:uLnTx/>
                <a:uFillTx/>
                <a:ea typeface="+mn-ea"/>
                <a:cs typeface="+mn-cs"/>
              </a:rPr>
              <a:t>concentration gradient.</a:t>
            </a:r>
          </a:p>
          <a:p>
            <a:pPr marL="342900" marR="0" lvl="0" indent="-34290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ea typeface="+mn-ea"/>
                <a:cs typeface="+mn-cs"/>
              </a:rPr>
              <a:t>This model of mineral ion transport is called </a:t>
            </a:r>
            <a:r>
              <a:rPr kumimoji="0" lang="en-US" sz="2400" b="1" i="0" u="none" strike="noStrike" kern="1200" cap="none" spc="0" normalizeH="0" baseline="0" noProof="0" dirty="0">
                <a:ln>
                  <a:noFill/>
                </a:ln>
                <a:solidFill>
                  <a:srgbClr val="000000"/>
                </a:solidFill>
                <a:effectLst/>
                <a:uLnTx/>
                <a:uFillTx/>
                <a:ea typeface="+mn-ea"/>
                <a:cs typeface="+mn-cs"/>
              </a:rPr>
              <a:t>chemiosmosis,</a:t>
            </a:r>
            <a:r>
              <a:rPr kumimoji="0" lang="en-US" sz="2400" b="0" i="0" u="none" strike="noStrike" kern="1200" cap="none" spc="0" normalizeH="0" baseline="0" noProof="0" dirty="0">
                <a:ln>
                  <a:noFill/>
                </a:ln>
                <a:solidFill>
                  <a:srgbClr val="000000"/>
                </a:solidFill>
                <a:effectLst/>
                <a:uLnTx/>
                <a:uFillTx/>
                <a:ea typeface="+mn-ea"/>
                <a:cs typeface="+mn-cs"/>
              </a:rPr>
              <a:t> which occurs when an electrochemical gradient is used by a cell to do work.</a:t>
            </a:r>
          </a:p>
          <a:p>
            <a:pPr marL="342900" marR="0" lvl="0" indent="-34290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ea typeface="+mn-ea"/>
                <a:cs typeface="+mn-cs"/>
              </a:rPr>
              <a:t>Minerals move into xylem and then are transported into leaves.</a:t>
            </a:r>
          </a:p>
        </p:txBody>
      </p:sp>
      <p:sp>
        <p:nvSpPr>
          <p:cNvPr id="7" name="Slide Number Placeholder 6">
            <a:extLst>
              <a:ext uri="{FF2B5EF4-FFF2-40B4-BE49-F238E27FC236}">
                <a16:creationId xmlns:a16="http://schemas.microsoft.com/office/drawing/2014/main" id="{E39E87B8-7B9D-DEAC-38E1-293C84AB0DA7}"/>
              </a:ext>
            </a:extLst>
          </p:cNvPr>
          <p:cNvSpPr>
            <a:spLocks noGrp="1"/>
          </p:cNvSpPr>
          <p:nvPr>
            <p:ph type="sldNum" sz="quarter" idx="10"/>
          </p:nvPr>
        </p:nvSpPr>
        <p:spPr/>
        <p:txBody>
          <a:bodyPr/>
          <a:lstStyle/>
          <a:p>
            <a:fld id="{68151E55-6873-49E2-B8D5-2F265E6F1973}" type="slidenum">
              <a:rPr lang="en-US" smtClean="0"/>
              <a:t>21</a:t>
            </a:fld>
            <a:endParaRPr lang="en-US" dirty="0"/>
          </a:p>
        </p:txBody>
      </p:sp>
    </p:spTree>
    <p:extLst>
      <p:ext uri="{BB962C8B-B14F-4D97-AF65-F5344CB8AC3E}">
        <p14:creationId xmlns:p14="http://schemas.microsoft.com/office/powerpoint/2010/main" val="42181121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Water and Mineral Uptake </a:t>
            </a:r>
            <a:r>
              <a:rPr lang="en-US" sz="1400" noProof="0" dirty="0"/>
              <a:t>1</a:t>
            </a:r>
          </a:p>
        </p:txBody>
      </p:sp>
      <p:pic>
        <p:nvPicPr>
          <p:cNvPr id="7" name="Picture 6" descr="The micrograph at 300 times magnification shows plus-shaped xylem is surrounded by phloem which is encircled by pericycle and then endodermis.">
            <a:extLst>
              <a:ext uri="{FF2B5EF4-FFF2-40B4-BE49-F238E27FC236}">
                <a16:creationId xmlns:a16="http://schemas.microsoft.com/office/drawing/2014/main" id="{607A666A-914D-28AC-1E96-BA54CC38DD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3956" y="1035404"/>
            <a:ext cx="7092256" cy="4712968"/>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3842436" y="6054820"/>
            <a:ext cx="1459128" cy="313852"/>
          </a:xfrm>
        </p:spPr>
        <p:txBody>
          <a:bodyPr/>
          <a:lstStyle/>
          <a:p>
            <a:pPr algn="ctr"/>
            <a:r>
              <a:rPr lang="en-US" sz="1200" noProof="0" dirty="0">
                <a:latin typeface="+mn-lt"/>
              </a:rPr>
              <a:t>Figure 25.7</a:t>
            </a:r>
          </a:p>
        </p:txBody>
      </p:sp>
      <p:sp>
        <p:nvSpPr>
          <p:cNvPr id="4" name="Text Placeholder 3">
            <a:extLst>
              <a:ext uri="{FF2B5EF4-FFF2-40B4-BE49-F238E27FC236}">
                <a16:creationId xmlns:a16="http://schemas.microsoft.com/office/drawing/2014/main" id="{050867F9-AED6-C603-AEFE-3D04EAA72F2E}"/>
              </a:ext>
            </a:extLst>
          </p:cNvPr>
          <p:cNvSpPr>
            <a:spLocks noGrp="1"/>
          </p:cNvSpPr>
          <p:nvPr>
            <p:ph type="body" sz="quarter" idx="16"/>
          </p:nvPr>
        </p:nvSpPr>
        <p:spPr/>
        <p:txBody>
          <a:bodyPr/>
          <a:lstStyle/>
          <a:p>
            <a:r>
              <a:rPr lang="en-US" i="1" dirty="0"/>
              <a:t>Ed Reschke/Stone/Getty Images</a:t>
            </a: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22</a:t>
            </a:fld>
            <a:endParaRPr lang="en-US" dirty="0"/>
          </a:p>
        </p:txBody>
      </p:sp>
    </p:spTree>
    <p:extLst>
      <p:ext uri="{BB962C8B-B14F-4D97-AF65-F5344CB8AC3E}">
        <p14:creationId xmlns:p14="http://schemas.microsoft.com/office/powerpoint/2010/main" val="34182112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Water and Mineral Uptake </a:t>
            </a:r>
            <a:r>
              <a:rPr lang="en-US" sz="1400" noProof="0" dirty="0"/>
              <a:t>2</a:t>
            </a:r>
          </a:p>
        </p:txBody>
      </p:sp>
      <p:pic>
        <p:nvPicPr>
          <p:cNvPr id="8" name="Picture 7" descr="A micrograph and an illustration in part (a) show cross-section of root and an illustration in part (b) shows mineral transport in 3 steps.">
            <a:extLst>
              <a:ext uri="{FF2B5EF4-FFF2-40B4-BE49-F238E27FC236}">
                <a16:creationId xmlns:a16="http://schemas.microsoft.com/office/drawing/2014/main" id="{CDDD05A4-5EB1-36EC-8457-AA4FA851C9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029" y="742516"/>
            <a:ext cx="8173943" cy="5254471"/>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3842436" y="6054820"/>
            <a:ext cx="1459128" cy="313852"/>
          </a:xfrm>
        </p:spPr>
        <p:txBody>
          <a:bodyPr/>
          <a:lstStyle/>
          <a:p>
            <a:pPr algn="ctr"/>
            <a:r>
              <a:rPr lang="en-US" sz="1200" noProof="0" dirty="0">
                <a:latin typeface="+mn-lt"/>
              </a:rPr>
              <a:t>Figure 25.7</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a:xfrm>
            <a:off x="3374136" y="6389433"/>
            <a:ext cx="2404872" cy="192024"/>
          </a:xfrm>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4" name="Text Placeholder 3">
            <a:extLst>
              <a:ext uri="{FF2B5EF4-FFF2-40B4-BE49-F238E27FC236}">
                <a16:creationId xmlns:a16="http://schemas.microsoft.com/office/drawing/2014/main" id="{050867F9-AED6-C603-AEFE-3D04EAA72F2E}"/>
              </a:ext>
            </a:extLst>
          </p:cNvPr>
          <p:cNvSpPr>
            <a:spLocks noGrp="1"/>
          </p:cNvSpPr>
          <p:nvPr>
            <p:ph type="body" sz="quarter" idx="16"/>
          </p:nvPr>
        </p:nvSpPr>
        <p:spPr/>
        <p:txBody>
          <a:bodyPr/>
          <a:lstStyle/>
          <a:p>
            <a:r>
              <a:rPr lang="en-US" i="1" dirty="0"/>
              <a:t>(photo): Ed Reschke/Stone/Getty Images</a:t>
            </a: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23</a:t>
            </a:fld>
            <a:endParaRPr lang="en-US" dirty="0"/>
          </a:p>
        </p:txBody>
      </p:sp>
    </p:spTree>
    <p:extLst>
      <p:ext uri="{BB962C8B-B14F-4D97-AF65-F5344CB8AC3E}">
        <p14:creationId xmlns:p14="http://schemas.microsoft.com/office/powerpoint/2010/main" val="2129328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1000897" y="18288"/>
            <a:ext cx="7142206" cy="1325880"/>
          </a:xfrm>
        </p:spPr>
        <p:txBody>
          <a:bodyPr/>
          <a:lstStyle/>
          <a:p>
            <a:r>
              <a:rPr lang="en-US" noProof="0" dirty="0"/>
              <a:t>Adaptations of Roots for Mineral Uptake</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1454958"/>
            <a:ext cx="7381104" cy="5060142"/>
          </a:xfrm>
        </p:spPr>
        <p:txBody>
          <a:bodyPr/>
          <a:lstStyle/>
          <a:p>
            <a:pPr marL="0" marR="0" lvl="1" indent="0" algn="l" defTabSz="914400" rtl="0" eaLnBrk="1" fontAlgn="auto" latinLnBrk="0" hangingPunct="1">
              <a:spcBef>
                <a:spcPts val="0"/>
              </a:spcBef>
              <a:spcAft>
                <a:spcPts val="80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Important mutualistic relationships:</a:t>
            </a:r>
          </a:p>
          <a:p>
            <a:pPr marL="0" marR="0" lvl="2" indent="0" algn="l" defTabSz="914400" rtl="0" eaLnBrk="1" fontAlgn="auto" latinLnBrk="0" hangingPunct="1">
              <a:spcBef>
                <a:spcPts val="800"/>
              </a:spcBef>
              <a:spcAft>
                <a:spcPts val="800"/>
              </a:spcAft>
              <a:buClrTx/>
              <a:buSzTx/>
              <a:buNone/>
              <a:tabLst/>
              <a:defRPr/>
            </a:pPr>
            <a:r>
              <a:rPr kumimoji="0" lang="en-US" sz="2000" b="1" i="0" u="none" strike="noStrike" kern="1200" cap="none" spc="0" normalizeH="0" baseline="0" noProof="0" dirty="0">
                <a:ln>
                  <a:noFill/>
                </a:ln>
                <a:solidFill>
                  <a:srgbClr val="DB0F0F"/>
                </a:solidFill>
                <a:effectLst/>
                <a:uLnTx/>
                <a:uFillTx/>
                <a:ea typeface="+mn-ea"/>
                <a:cs typeface="Calibri" panose="020F0502020204030204" pitchFamily="34" charset="0"/>
              </a:rPr>
              <a:t>Rhizobium</a:t>
            </a:r>
            <a:r>
              <a:rPr kumimoji="0" lang="en-US" sz="2000" b="0" i="0" u="none" strike="noStrike" kern="1200" cap="none" spc="0" normalizeH="0" baseline="0" noProof="0" dirty="0">
                <a:ln>
                  <a:noFill/>
                </a:ln>
                <a:solidFill>
                  <a:prstClr val="black"/>
                </a:solidFill>
                <a:effectLst/>
                <a:uLnTx/>
                <a:uFillTx/>
                <a:ea typeface="+mn-ea"/>
                <a:cs typeface="Calibri" panose="020F0502020204030204" pitchFamily="34" charset="0"/>
              </a:rPr>
              <a:t> bacteria live in </a:t>
            </a:r>
            <a:r>
              <a:rPr kumimoji="0" lang="en-US" sz="2000" b="1" i="0" u="none" strike="noStrike" kern="1200" cap="none" spc="0" normalizeH="0" baseline="0" noProof="0" dirty="0">
                <a:ln>
                  <a:noFill/>
                </a:ln>
                <a:solidFill>
                  <a:srgbClr val="DB0F0F"/>
                </a:solidFill>
                <a:effectLst/>
                <a:uLnTx/>
                <a:uFillTx/>
                <a:ea typeface="+mn-ea"/>
                <a:cs typeface="Calibri" panose="020F0502020204030204" pitchFamily="34" charset="0"/>
              </a:rPr>
              <a:t>root nodules.</a:t>
            </a:r>
            <a:endParaRPr kumimoji="0" lang="en-US" sz="2000" b="0" i="0" u="none" strike="noStrike" kern="1200" cap="none" spc="0" normalizeH="0" baseline="0" noProof="0" dirty="0">
              <a:ln>
                <a:noFill/>
              </a:ln>
              <a:solidFill>
                <a:srgbClr val="DB0F0F"/>
              </a:solidFill>
              <a:effectLst/>
              <a:uLnTx/>
              <a:uFillTx/>
              <a:ea typeface="+mn-ea"/>
              <a:cs typeface="Calibri" panose="020F0502020204030204" pitchFamily="34" charset="0"/>
            </a:endParaRPr>
          </a:p>
          <a:p>
            <a:pPr marL="347472" marR="0" lvl="3" indent="-347472" algn="l" defTabSz="914400" rtl="0" eaLnBrk="1" fontAlgn="auto" latinLnBrk="0" hangingPunct="1">
              <a:spcBef>
                <a:spcPts val="800"/>
              </a:spcBef>
              <a:spcAft>
                <a:spcPts val="80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prstClr val="black"/>
                </a:solidFill>
                <a:effectLst/>
                <a:uLnTx/>
                <a:uFillTx/>
                <a:ea typeface="+mn-ea"/>
                <a:cs typeface="+mn-cs"/>
              </a:rPr>
              <a:t>Bacteria fix atmospheric nitrogen.</a:t>
            </a:r>
          </a:p>
          <a:p>
            <a:pPr marL="347472" marR="0" lvl="3" indent="-347472" algn="l" defTabSz="914400" rtl="0" eaLnBrk="1" fontAlgn="auto" latinLnBrk="0" hangingPunct="1">
              <a:spcBef>
                <a:spcPts val="800"/>
              </a:spcBef>
              <a:spcAft>
                <a:spcPts val="80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prstClr val="black"/>
                </a:solidFill>
                <a:effectLst/>
                <a:uLnTx/>
                <a:uFillTx/>
                <a:ea typeface="+mn-ea"/>
                <a:cs typeface="+mn-cs"/>
              </a:rPr>
              <a:t>Host plant provides the bacteria with carbohydrates.</a:t>
            </a:r>
          </a:p>
          <a:p>
            <a:pPr marL="0" marR="0" lvl="2" indent="0" algn="l" defTabSz="914400" rtl="0" eaLnBrk="1" fontAlgn="auto" latinLnBrk="0" hangingPunct="1">
              <a:spcBef>
                <a:spcPts val="800"/>
              </a:spcBef>
              <a:spcAft>
                <a:spcPts val="800"/>
              </a:spcAft>
              <a:buClrTx/>
              <a:buSzTx/>
              <a:buNone/>
              <a:tabLst/>
              <a:defRPr/>
            </a:pPr>
            <a:r>
              <a:rPr kumimoji="0" lang="en-US" sz="2000" b="1" i="0" u="none" strike="noStrike" kern="1200" cap="none" spc="0" normalizeH="0" baseline="0" noProof="0" dirty="0">
                <a:ln>
                  <a:noFill/>
                </a:ln>
                <a:solidFill>
                  <a:srgbClr val="DB0F0F"/>
                </a:solidFill>
                <a:effectLst/>
                <a:uLnTx/>
                <a:uFillTx/>
                <a:ea typeface="+mn-ea"/>
                <a:cs typeface="Calibri" panose="020F0502020204030204" pitchFamily="34" charset="0"/>
              </a:rPr>
              <a:t>Mycorrhizal</a:t>
            </a:r>
            <a:r>
              <a:rPr kumimoji="0" lang="en-US" sz="2000" b="0" i="0" u="none" strike="noStrike" kern="1200" cap="none" spc="0" normalizeH="0" baseline="0" noProof="0" dirty="0">
                <a:ln>
                  <a:noFill/>
                </a:ln>
                <a:solidFill>
                  <a:prstClr val="black"/>
                </a:solidFill>
                <a:effectLst/>
                <a:uLnTx/>
                <a:uFillTx/>
                <a:ea typeface="+mn-ea"/>
                <a:cs typeface="Calibri" panose="020F0502020204030204" pitchFamily="34" charset="0"/>
              </a:rPr>
              <a:t> association between fungi and plant roots</a:t>
            </a:r>
          </a:p>
          <a:p>
            <a:pPr marL="347472" marR="0" lvl="3" indent="-347472" algn="l" defTabSz="914400" rtl="0" eaLnBrk="1" fontAlgn="auto" latinLnBrk="0" hangingPunct="1">
              <a:spcBef>
                <a:spcPts val="800"/>
              </a:spcBef>
              <a:spcAft>
                <a:spcPts val="80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prstClr val="black"/>
                </a:solidFill>
                <a:effectLst/>
                <a:uLnTx/>
                <a:uFillTx/>
                <a:ea typeface="+mn-ea"/>
                <a:cs typeface="+mn-cs"/>
              </a:rPr>
              <a:t>Fungus increases the surface area for water and mineral uptake and breaks down organic matter.</a:t>
            </a:r>
          </a:p>
          <a:p>
            <a:pPr marL="347472" marR="0" lvl="3" indent="-347472" algn="l" defTabSz="914400" rtl="0" eaLnBrk="1" fontAlgn="auto" latinLnBrk="0" hangingPunct="1">
              <a:spcBef>
                <a:spcPts val="800"/>
              </a:spcBef>
              <a:spcAft>
                <a:spcPts val="80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prstClr val="black"/>
                </a:solidFill>
                <a:effectLst/>
                <a:uLnTx/>
                <a:uFillTx/>
                <a:ea typeface="+mn-ea"/>
                <a:cs typeface="+mn-cs"/>
              </a:rPr>
              <a:t>The root provides the fungus with sugars and amino acids.</a:t>
            </a:r>
          </a:p>
          <a:p>
            <a:pPr marL="0" marR="0" lvl="1" indent="0" algn="l" defTabSz="914400" rtl="0" eaLnBrk="1" fontAlgn="auto" latinLnBrk="0" hangingPunct="1">
              <a:spcBef>
                <a:spcPts val="800"/>
              </a:spcBef>
              <a:spcAft>
                <a:spcPts val="80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Parasitic plants </a:t>
            </a:r>
          </a:p>
          <a:p>
            <a:pPr marL="0" marR="0" lvl="1" indent="0" algn="l" defTabSz="914400" rtl="0" eaLnBrk="1" fontAlgn="auto" latinLnBrk="0" hangingPunct="1">
              <a:spcBef>
                <a:spcPts val="800"/>
              </a:spcBef>
              <a:spcAft>
                <a:spcPts val="80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Carnivorous plants</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24</a:t>
            </a:fld>
            <a:endParaRPr lang="en-US" dirty="0"/>
          </a:p>
        </p:txBody>
      </p:sp>
    </p:spTree>
    <p:extLst>
      <p:ext uri="{BB962C8B-B14F-4D97-AF65-F5344CB8AC3E}">
        <p14:creationId xmlns:p14="http://schemas.microsoft.com/office/powerpoint/2010/main" val="27219593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Root Nodules</a:t>
            </a:r>
            <a:endParaRPr lang="en-US" sz="1400" noProof="0" dirty="0"/>
          </a:p>
        </p:txBody>
      </p:sp>
      <p:pic>
        <p:nvPicPr>
          <p:cNvPr id="9" name="Picture 8" descr="A close-up of a branched root with clusters of white spherical nodules attached to it and a micrograph shows a large nodule containing bacteria.">
            <a:extLst>
              <a:ext uri="{FF2B5EF4-FFF2-40B4-BE49-F238E27FC236}">
                <a16:creationId xmlns:a16="http://schemas.microsoft.com/office/drawing/2014/main" id="{51113DC8-0AC0-E112-BC98-27C719CDD7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276" y="1409309"/>
            <a:ext cx="8501448" cy="4039382"/>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3842436" y="5889720"/>
            <a:ext cx="1459128" cy="313852"/>
          </a:xfrm>
        </p:spPr>
        <p:txBody>
          <a:bodyPr/>
          <a:lstStyle/>
          <a:p>
            <a:pPr algn="ctr"/>
            <a:r>
              <a:rPr lang="en-US" sz="1200" noProof="0" dirty="0">
                <a:latin typeface="+mn-lt"/>
              </a:rPr>
              <a:t>Figure 25.8</a:t>
            </a:r>
          </a:p>
        </p:txBody>
      </p:sp>
      <p:sp>
        <p:nvSpPr>
          <p:cNvPr id="4" name="Text Placeholder 3">
            <a:extLst>
              <a:ext uri="{FF2B5EF4-FFF2-40B4-BE49-F238E27FC236}">
                <a16:creationId xmlns:a16="http://schemas.microsoft.com/office/drawing/2014/main" id="{050867F9-AED6-C603-AEFE-3D04EAA72F2E}"/>
              </a:ext>
            </a:extLst>
          </p:cNvPr>
          <p:cNvSpPr>
            <a:spLocks noGrp="1"/>
          </p:cNvSpPr>
          <p:nvPr>
            <p:ph type="body" sz="quarter" idx="16"/>
          </p:nvPr>
        </p:nvSpPr>
        <p:spPr/>
        <p:txBody>
          <a:bodyPr/>
          <a:lstStyle/>
          <a:p>
            <a:r>
              <a:rPr lang="en-US" i="1" dirty="0"/>
              <a:t>(root nodules): Dr. Jeremy Burgess/Science Source; (nodule micrograph): Garry DeLong/Science Source</a:t>
            </a: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25</a:t>
            </a:fld>
            <a:endParaRPr lang="en-US" dirty="0"/>
          </a:p>
        </p:txBody>
      </p:sp>
    </p:spTree>
    <p:extLst>
      <p:ext uri="{BB962C8B-B14F-4D97-AF65-F5344CB8AC3E}">
        <p14:creationId xmlns:p14="http://schemas.microsoft.com/office/powerpoint/2010/main" val="11244290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Mycorrhizae</a:t>
            </a:r>
            <a:endParaRPr lang="en-US" sz="1400" noProof="0" dirty="0"/>
          </a:p>
        </p:txBody>
      </p:sp>
      <p:pic>
        <p:nvPicPr>
          <p:cNvPr id="8" name="Picture 7" descr="An illustration compares plants with and without mycorrhizae and a micrograph shows mycorrhizae in roots.">
            <a:extLst>
              <a:ext uri="{FF2B5EF4-FFF2-40B4-BE49-F238E27FC236}">
                <a16:creationId xmlns:a16="http://schemas.microsoft.com/office/drawing/2014/main" id="{6E6C08EB-97AC-5221-68E5-12AFFEA26F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7389" y="793303"/>
            <a:ext cx="3269222" cy="5527770"/>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5893662" y="6067177"/>
            <a:ext cx="1459128" cy="313852"/>
          </a:xfrm>
        </p:spPr>
        <p:txBody>
          <a:bodyPr/>
          <a:lstStyle/>
          <a:p>
            <a:pPr algn="ctr"/>
            <a:r>
              <a:rPr lang="en-US" sz="1200" noProof="0" dirty="0">
                <a:latin typeface="+mn-lt"/>
              </a:rPr>
              <a:t>Figure 25.9</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a:xfrm>
            <a:off x="3374136" y="6389433"/>
            <a:ext cx="2404872" cy="192024"/>
          </a:xfrm>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4" name="Text Placeholder 3">
            <a:extLst>
              <a:ext uri="{FF2B5EF4-FFF2-40B4-BE49-F238E27FC236}">
                <a16:creationId xmlns:a16="http://schemas.microsoft.com/office/drawing/2014/main" id="{050867F9-AED6-C603-AEFE-3D04EAA72F2E}"/>
              </a:ext>
            </a:extLst>
          </p:cNvPr>
          <p:cNvSpPr>
            <a:spLocks noGrp="1"/>
          </p:cNvSpPr>
          <p:nvPr>
            <p:ph type="body" sz="quarter" idx="16"/>
          </p:nvPr>
        </p:nvSpPr>
        <p:spPr/>
        <p:txBody>
          <a:bodyPr/>
          <a:lstStyle/>
          <a:p>
            <a:r>
              <a:rPr lang="en-US" i="1" dirty="0"/>
              <a:t>(photo): Dr. Keith Wheeler/Science Source</a:t>
            </a: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26</a:t>
            </a:fld>
            <a:endParaRPr lang="en-US" dirty="0"/>
          </a:p>
        </p:txBody>
      </p:sp>
    </p:spTree>
    <p:extLst>
      <p:ext uri="{BB962C8B-B14F-4D97-AF65-F5344CB8AC3E}">
        <p14:creationId xmlns:p14="http://schemas.microsoft.com/office/powerpoint/2010/main" val="39326065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Other Ways Plants Acquire Nutrients</a:t>
            </a:r>
            <a:endParaRPr lang="en-US" sz="1400" noProof="0" dirty="0"/>
          </a:p>
        </p:txBody>
      </p:sp>
      <p:pic>
        <p:nvPicPr>
          <p:cNvPr id="9" name="Picture 8" descr="Two close-ups show (a) dodder plant and (b) cape sundew plant.">
            <a:extLst>
              <a:ext uri="{FF2B5EF4-FFF2-40B4-BE49-F238E27FC236}">
                <a16:creationId xmlns:a16="http://schemas.microsoft.com/office/drawing/2014/main" id="{43827C6A-BAF1-406B-B679-F3DD3AF938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0468" y="806731"/>
            <a:ext cx="3423065" cy="5552455"/>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6499147" y="6067177"/>
            <a:ext cx="1459128" cy="313852"/>
          </a:xfrm>
        </p:spPr>
        <p:txBody>
          <a:bodyPr/>
          <a:lstStyle/>
          <a:p>
            <a:pPr algn="ctr"/>
            <a:r>
              <a:rPr lang="en-US" sz="1200" noProof="0" dirty="0">
                <a:latin typeface="+mn-lt"/>
              </a:rPr>
              <a:t>Figure 25.10</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a:xfrm>
            <a:off x="3374136" y="6389433"/>
            <a:ext cx="2404872" cy="192024"/>
          </a:xfrm>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4" name="Text Placeholder 3">
            <a:extLst>
              <a:ext uri="{FF2B5EF4-FFF2-40B4-BE49-F238E27FC236}">
                <a16:creationId xmlns:a16="http://schemas.microsoft.com/office/drawing/2014/main" id="{050867F9-AED6-C603-AEFE-3D04EAA72F2E}"/>
              </a:ext>
            </a:extLst>
          </p:cNvPr>
          <p:cNvSpPr>
            <a:spLocks noGrp="1"/>
          </p:cNvSpPr>
          <p:nvPr>
            <p:ph type="body" sz="quarter" idx="16"/>
          </p:nvPr>
        </p:nvSpPr>
        <p:spPr/>
        <p:txBody>
          <a:bodyPr/>
          <a:lstStyle/>
          <a:p>
            <a:r>
              <a:rPr lang="en-US" i="1" dirty="0"/>
              <a:t>(a): Kevin Schafer/The Image Bank/Getty Images; (b): (plant): </a:t>
            </a:r>
            <a:r>
              <a:rPr lang="en-US" i="1" dirty="0" err="1"/>
              <a:t>blickwinkel</a:t>
            </a:r>
            <a:r>
              <a:rPr lang="en-US" i="1" dirty="0"/>
              <a:t>/</a:t>
            </a:r>
            <a:r>
              <a:rPr lang="en-US" i="1" dirty="0" err="1"/>
              <a:t>Alamy</a:t>
            </a:r>
            <a:r>
              <a:rPr lang="en-US" i="1" dirty="0"/>
              <a:t> Stock Photo; (leaf inset): Dr. Jeremy Burgess/Science Source</a:t>
            </a: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27</a:t>
            </a:fld>
            <a:endParaRPr lang="en-US" dirty="0"/>
          </a:p>
        </p:txBody>
      </p:sp>
    </p:spTree>
    <p:extLst>
      <p:ext uri="{BB962C8B-B14F-4D97-AF65-F5344CB8AC3E}">
        <p14:creationId xmlns:p14="http://schemas.microsoft.com/office/powerpoint/2010/main" val="14600620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517588" y="18288"/>
            <a:ext cx="8108824" cy="1325880"/>
          </a:xfrm>
        </p:spPr>
        <p:txBody>
          <a:bodyPr/>
          <a:lstStyle/>
          <a:p>
            <a:r>
              <a:rPr lang="en-US" noProof="0" dirty="0"/>
              <a:t>25.3 Transport Mechanisms in Plants</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1999" y="1454957"/>
            <a:ext cx="7986585" cy="5222161"/>
          </a:xfrm>
        </p:spPr>
        <p:txBody>
          <a:bodyPr/>
          <a:lstStyle/>
          <a:p>
            <a:pPr marL="0" marR="0" lvl="0"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Vascular tissues transport water and nutrients.</a:t>
            </a:r>
          </a:p>
          <a:p>
            <a:pPr marL="0" marR="0" lvl="1" indent="0" algn="l" defTabSz="914400" rtl="0" eaLnBrk="1" fontAlgn="auto" latinLnBrk="0" hangingPunct="1">
              <a:spcBef>
                <a:spcPts val="0"/>
              </a:spcBef>
              <a:buClrTx/>
              <a:buSzTx/>
              <a:buFont typeface="Arial" panose="020B0604020202020204" pitchFamily="34" charset="0"/>
              <a:buNone/>
              <a:tabLst/>
              <a:defRPr/>
            </a:pPr>
            <a:r>
              <a:rPr kumimoji="0" lang="en-US" sz="2600" b="1" i="0" u="none" strike="noStrike" kern="1200" cap="none" spc="0" normalizeH="0" baseline="0" noProof="0" dirty="0">
                <a:ln>
                  <a:noFill/>
                </a:ln>
                <a:solidFill>
                  <a:prstClr val="black"/>
                </a:solidFill>
                <a:effectLst/>
                <a:uLnTx/>
                <a:uFillTx/>
                <a:ea typeface="+mn-ea"/>
                <a:cs typeface="Calibri" panose="020F0502020204030204" pitchFamily="34" charset="0"/>
              </a:rPr>
              <a:t>Xylem</a:t>
            </a: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 transports water and minerals.</a:t>
            </a:r>
          </a:p>
          <a:p>
            <a:pPr marL="0" marR="0" lvl="2" indent="0" algn="l" defTabSz="914400" rtl="0" eaLnBrk="1" fontAlgn="auto" latinLnBrk="0" hangingPunct="1">
              <a:spcBef>
                <a:spcPts val="0"/>
              </a:spcBef>
              <a:buClrTx/>
              <a:buSzTx/>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Two types of conducting cells</a:t>
            </a:r>
          </a:p>
          <a:p>
            <a:pPr marL="347472" marR="0" lvl="3" indent="-347472" algn="l" defTabSz="914400" rtl="0" eaLnBrk="1" fontAlgn="auto" latinLnBrk="0" hangingPunct="1">
              <a:spcBef>
                <a:spcPts val="0"/>
              </a:spcBef>
              <a:spcAft>
                <a:spcPts val="600"/>
              </a:spcAft>
              <a:buClrTx/>
              <a:buSzTx/>
              <a:buFont typeface="Arial" panose="020B0604020202020204" pitchFamily="34" charset="0"/>
              <a:buChar char="•"/>
              <a:tabLst>
                <a:tab pos="539750" algn="l"/>
              </a:tabLst>
              <a:defRPr/>
            </a:pPr>
            <a:r>
              <a:rPr kumimoji="0" lang="en-US" sz="1900" b="1" i="0" u="none" strike="noStrike" kern="1200" cap="none" spc="0" normalizeH="0" baseline="0" noProof="0" dirty="0" err="1">
                <a:ln>
                  <a:noFill/>
                </a:ln>
                <a:solidFill>
                  <a:prstClr val="black"/>
                </a:solidFill>
                <a:effectLst/>
                <a:uLnTx/>
                <a:uFillTx/>
                <a:ea typeface="+mn-ea"/>
                <a:cs typeface="+mn-cs"/>
              </a:rPr>
              <a:t>Tracheids</a:t>
            </a:r>
            <a:endParaRPr kumimoji="0" lang="en-US" sz="1900" b="1" i="0" u="none" strike="noStrike" kern="1200" cap="none" spc="0" normalizeH="0" baseline="0" noProof="0" dirty="0">
              <a:ln>
                <a:noFill/>
              </a:ln>
              <a:solidFill>
                <a:prstClr val="black"/>
              </a:solidFill>
              <a:effectLst/>
              <a:uLnTx/>
              <a:uFillTx/>
              <a:ea typeface="+mn-ea"/>
              <a:cs typeface="+mn-cs"/>
            </a:endParaRPr>
          </a:p>
          <a:p>
            <a:pPr marL="347472" marR="0" lvl="3" indent="-347472" algn="l" defTabSz="914400" rtl="0" eaLnBrk="1" fontAlgn="auto" latinLnBrk="0" hangingPunct="1">
              <a:spcBef>
                <a:spcPts val="0"/>
              </a:spcBef>
              <a:spcAft>
                <a:spcPts val="600"/>
              </a:spcAft>
              <a:buClrTx/>
              <a:buSzTx/>
              <a:buFont typeface="Arial" panose="020B0604020202020204" pitchFamily="34" charset="0"/>
              <a:buChar char="•"/>
              <a:tabLst>
                <a:tab pos="539750" algn="l"/>
              </a:tabLst>
              <a:defRPr/>
            </a:pPr>
            <a:r>
              <a:rPr kumimoji="0" lang="en-US" sz="1900" b="1" i="0" u="none" strike="noStrike" kern="1200" cap="none" spc="0" normalizeH="0" baseline="0" noProof="0" dirty="0">
                <a:ln>
                  <a:noFill/>
                </a:ln>
                <a:solidFill>
                  <a:prstClr val="black"/>
                </a:solidFill>
                <a:effectLst/>
                <a:uLnTx/>
                <a:uFillTx/>
                <a:ea typeface="+mn-ea"/>
                <a:cs typeface="+mn-cs"/>
              </a:rPr>
              <a:t>Vessel elements</a:t>
            </a:r>
          </a:p>
          <a:p>
            <a:pPr marL="0" marR="0" lvl="2" indent="0" algn="l" defTabSz="914400" rtl="0" eaLnBrk="1" fontAlgn="auto" latinLnBrk="0" hangingPunct="1">
              <a:spcBef>
                <a:spcPts val="0"/>
              </a:spcBef>
              <a:buClrTx/>
              <a:buSzTx/>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Water flows passively from an area of higher water potential to an area of lower water potential.</a:t>
            </a:r>
          </a:p>
          <a:p>
            <a:pPr marL="0" marR="0" lvl="1"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sz="2600" b="1" i="0" u="none" strike="noStrike" kern="1200" cap="none" spc="0" normalizeH="0" baseline="0" noProof="0" dirty="0">
                <a:ln>
                  <a:noFill/>
                </a:ln>
                <a:solidFill>
                  <a:prstClr val="black"/>
                </a:solidFill>
                <a:effectLst/>
                <a:uLnTx/>
                <a:uFillTx/>
                <a:ea typeface="+mn-ea"/>
                <a:cs typeface="Calibri" panose="020F0502020204030204" pitchFamily="34" charset="0"/>
              </a:rPr>
              <a:t>Phloem</a:t>
            </a: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 transports organic materials.</a:t>
            </a:r>
          </a:p>
          <a:p>
            <a:pPr marL="0" marR="0" lvl="2" indent="0" algn="l" defTabSz="914400" rtl="0" eaLnBrk="1" fontAlgn="auto" latinLnBrk="0" hangingPunct="1">
              <a:spcBef>
                <a:spcPts val="0"/>
              </a:spcBef>
              <a:buClrTx/>
              <a:buSzTx/>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Conducting cells are </a:t>
            </a:r>
            <a:r>
              <a:rPr kumimoji="0" lang="en-US" sz="2200" b="1" i="0" u="none" strike="noStrike" kern="1200" cap="none" spc="0" normalizeH="0" baseline="0" noProof="0" dirty="0">
                <a:ln>
                  <a:noFill/>
                </a:ln>
                <a:solidFill>
                  <a:prstClr val="black"/>
                </a:solidFill>
                <a:effectLst/>
                <a:uLnTx/>
                <a:uFillTx/>
                <a:ea typeface="+mn-ea"/>
                <a:cs typeface="Calibri" panose="020F0502020204030204" pitchFamily="34" charset="0"/>
              </a:rPr>
              <a:t>sieve-tube members.</a:t>
            </a:r>
          </a:p>
          <a:p>
            <a:pPr marL="347472" marR="0" lvl="3" indent="-347472" algn="l" defTabSz="914400" rtl="0" eaLnBrk="1" fontAlgn="auto" latinLnBrk="0" hangingPunct="1">
              <a:spcBef>
                <a:spcPts val="0"/>
              </a:spcBef>
              <a:spcAft>
                <a:spcPts val="600"/>
              </a:spcAft>
              <a:buClrTx/>
              <a:buSzTx/>
              <a:buFont typeface="Arial" panose="020B0604020202020204" pitchFamily="34" charset="0"/>
              <a:buChar char="•"/>
              <a:tabLst>
                <a:tab pos="539750" algn="l"/>
              </a:tabLst>
              <a:defRPr/>
            </a:pPr>
            <a:r>
              <a:rPr kumimoji="0" lang="en-US" sz="1900" b="0" i="0" u="none" strike="noStrike" kern="1200" cap="none" spc="0" normalizeH="0" baseline="0" noProof="0" dirty="0">
                <a:ln>
                  <a:noFill/>
                </a:ln>
                <a:solidFill>
                  <a:prstClr val="black"/>
                </a:solidFill>
                <a:effectLst/>
                <a:uLnTx/>
                <a:uFillTx/>
                <a:ea typeface="+mn-ea"/>
                <a:cs typeface="+mn-cs"/>
              </a:rPr>
              <a:t>They have </a:t>
            </a:r>
            <a:r>
              <a:rPr kumimoji="0" lang="en-US" sz="1900" b="1" i="0" u="none" strike="noStrike" kern="1200" cap="none" spc="0" normalizeH="0" baseline="0" noProof="0" dirty="0">
                <a:ln>
                  <a:noFill/>
                </a:ln>
                <a:solidFill>
                  <a:prstClr val="black"/>
                </a:solidFill>
                <a:effectLst/>
                <a:uLnTx/>
                <a:uFillTx/>
                <a:ea typeface="+mn-ea"/>
                <a:cs typeface="+mn-cs"/>
              </a:rPr>
              <a:t>companion cells </a:t>
            </a:r>
            <a:r>
              <a:rPr kumimoji="0" lang="en-US" sz="1900" b="0" i="0" u="none" strike="noStrike" kern="1200" cap="none" spc="0" normalizeH="0" baseline="0" noProof="0" dirty="0">
                <a:ln>
                  <a:noFill/>
                </a:ln>
                <a:solidFill>
                  <a:prstClr val="black"/>
                </a:solidFill>
                <a:effectLst/>
                <a:uLnTx/>
                <a:uFillTx/>
                <a:ea typeface="+mn-ea"/>
                <a:cs typeface="+mn-cs"/>
              </a:rPr>
              <a:t>to provide proteins.</a:t>
            </a:r>
          </a:p>
          <a:p>
            <a:pPr marL="347472" marR="0" lvl="3" indent="-347472" algn="l" defTabSz="914400" rtl="0" eaLnBrk="1" fontAlgn="auto" latinLnBrk="0" hangingPunct="1">
              <a:spcBef>
                <a:spcPts val="0"/>
              </a:spcBef>
              <a:spcAft>
                <a:spcPts val="600"/>
              </a:spcAft>
              <a:buClrTx/>
              <a:buSzTx/>
              <a:buFont typeface="Arial" panose="020B0604020202020204" pitchFamily="34" charset="0"/>
              <a:buChar char="•"/>
              <a:tabLst>
                <a:tab pos="539750" algn="l"/>
              </a:tabLst>
              <a:defRPr/>
            </a:pPr>
            <a:r>
              <a:rPr kumimoji="0" lang="en-US" sz="1900" b="0" i="0" u="none" strike="noStrike" kern="1200" cap="none" spc="0" normalizeH="0" baseline="0" noProof="0" dirty="0">
                <a:ln>
                  <a:noFill/>
                </a:ln>
                <a:solidFill>
                  <a:prstClr val="black"/>
                </a:solidFill>
                <a:effectLst/>
                <a:uLnTx/>
                <a:uFillTx/>
                <a:ea typeface="+mn-ea"/>
                <a:cs typeface="+mn-cs"/>
              </a:rPr>
              <a:t>End walls are sieve plates.</a:t>
            </a:r>
          </a:p>
          <a:p>
            <a:pPr marL="347472" marR="0" lvl="3" indent="-347472" algn="l" defTabSz="914400" rtl="0" eaLnBrk="1" fontAlgn="auto" latinLnBrk="0" hangingPunct="1">
              <a:spcBef>
                <a:spcPts val="0"/>
              </a:spcBef>
              <a:spcAft>
                <a:spcPts val="600"/>
              </a:spcAft>
              <a:buClrTx/>
              <a:buSzTx/>
              <a:buFont typeface="Arial" panose="020B0604020202020204" pitchFamily="34" charset="0"/>
              <a:buChar char="•"/>
              <a:tabLst>
                <a:tab pos="539750" algn="l"/>
              </a:tabLst>
              <a:defRPr/>
            </a:pPr>
            <a:r>
              <a:rPr kumimoji="0" lang="en-US" sz="1900" b="0" i="0" u="none" strike="noStrike" kern="1200" cap="none" spc="0" normalizeH="0" baseline="0" noProof="0" dirty="0">
                <a:ln>
                  <a:noFill/>
                </a:ln>
                <a:solidFill>
                  <a:prstClr val="black"/>
                </a:solidFill>
                <a:effectLst/>
                <a:uLnTx/>
                <a:uFillTx/>
                <a:ea typeface="+mn-ea"/>
                <a:cs typeface="+mn-cs"/>
              </a:rPr>
              <a:t>Plasmodesmata extend through sieve plates.</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28</a:t>
            </a:fld>
            <a:endParaRPr lang="en-US" dirty="0"/>
          </a:p>
        </p:txBody>
      </p:sp>
    </p:spTree>
    <p:extLst>
      <p:ext uri="{BB962C8B-B14F-4D97-AF65-F5344CB8AC3E}">
        <p14:creationId xmlns:p14="http://schemas.microsoft.com/office/powerpoint/2010/main" val="36886775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517588" y="18288"/>
            <a:ext cx="8108824" cy="1325880"/>
          </a:xfrm>
        </p:spPr>
        <p:txBody>
          <a:bodyPr/>
          <a:lstStyle/>
          <a:p>
            <a:r>
              <a:rPr lang="en-US" noProof="0" dirty="0"/>
              <a:t>Reviewing Xylem and Phloem Structure</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1454957"/>
            <a:ext cx="7640596" cy="4822275"/>
          </a:xfrm>
        </p:spPr>
        <p:txBody>
          <a:bodyPr/>
          <a:lstStyle/>
          <a:p>
            <a:pPr marL="347472" marR="0" lvl="1" indent="-347472" algn="l" defTabSz="914400" rtl="0" eaLnBrk="1" fontAlgn="auto" latinLnBrk="0" hangingPunct="1">
              <a:spcBef>
                <a:spcPts val="0"/>
              </a:spcBef>
              <a:spcAft>
                <a:spcPts val="800"/>
              </a:spcAft>
              <a:buClr>
                <a:srgbClr val="000000"/>
              </a:buClr>
              <a:buSzTx/>
              <a:buFont typeface="Arial" panose="020B0604020202020204" pitchFamily="34" charset="0"/>
              <a:buChar char="•"/>
              <a:tabLst/>
              <a:defRPr/>
            </a:pPr>
            <a:r>
              <a:rPr kumimoji="0" lang="en-US" sz="2400" b="1" i="0" u="none" strike="noStrike" kern="1200" cap="none" spc="0" normalizeH="0" baseline="0" noProof="0" dirty="0">
                <a:ln>
                  <a:noFill/>
                </a:ln>
                <a:solidFill>
                  <a:srgbClr val="DB0F0F"/>
                </a:solidFill>
                <a:effectLst/>
                <a:uLnTx/>
                <a:uFillTx/>
                <a:ea typeface="+mn-ea"/>
                <a:cs typeface="Calibri" panose="020F0502020204030204" pitchFamily="34" charset="0"/>
              </a:rPr>
              <a:t>Xylem</a:t>
            </a:r>
            <a:r>
              <a:rPr kumimoji="0" lang="en-US" sz="2400" b="0" i="0" u="none" strike="noStrike" kern="1200" cap="none" spc="0" normalizeH="0" baseline="0" noProof="0" dirty="0">
                <a:ln>
                  <a:noFill/>
                </a:ln>
                <a:solidFill>
                  <a:srgbClr val="000000"/>
                </a:solidFill>
                <a:effectLst/>
                <a:uLnTx/>
                <a:uFillTx/>
                <a:ea typeface="+mn-ea"/>
                <a:cs typeface="Calibri" panose="020F0502020204030204" pitchFamily="34" charset="0"/>
              </a:rPr>
              <a:t> and </a:t>
            </a:r>
            <a:r>
              <a:rPr kumimoji="0" lang="en-US" sz="2400" b="1" i="0" u="none" strike="noStrike" kern="1200" cap="none" spc="0" normalizeH="0" baseline="0" noProof="0" dirty="0">
                <a:ln>
                  <a:noFill/>
                </a:ln>
                <a:solidFill>
                  <a:srgbClr val="DB0F0F"/>
                </a:solidFill>
                <a:effectLst/>
                <a:uLnTx/>
                <a:uFillTx/>
                <a:ea typeface="+mn-ea"/>
                <a:cs typeface="Calibri" panose="020F0502020204030204" pitchFamily="34" charset="0"/>
              </a:rPr>
              <a:t>phloem</a:t>
            </a:r>
            <a:r>
              <a:rPr kumimoji="0" lang="en-US" sz="2400" b="0" i="0" u="none" strike="noStrike" kern="1200" cap="none" spc="0" normalizeH="0" baseline="0" noProof="0" dirty="0">
                <a:ln>
                  <a:noFill/>
                </a:ln>
                <a:solidFill>
                  <a:srgbClr val="000000"/>
                </a:solidFill>
                <a:effectLst/>
                <a:uLnTx/>
                <a:uFillTx/>
                <a:ea typeface="+mn-ea"/>
                <a:cs typeface="Calibri" panose="020F0502020204030204" pitchFamily="34" charset="0"/>
              </a:rPr>
              <a:t> form a series of interconnected and parallel cells for movement of water and carbohydrates in a plant. </a:t>
            </a:r>
          </a:p>
          <a:p>
            <a:pPr marL="347472" marR="0" lvl="1" indent="-347472" algn="l" defTabSz="914400" rtl="0" eaLnBrk="1" fontAlgn="auto" latinLnBrk="0" hangingPunct="1">
              <a:spcBef>
                <a:spcPts val="300"/>
              </a:spcBef>
              <a:spcAft>
                <a:spcPts val="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ea typeface="+mn-ea"/>
                <a:cs typeface="Calibri" panose="020F0502020204030204" pitchFamily="34" charset="0"/>
              </a:rPr>
              <a:t>Water is moved in xylem from the bottom to the top of the plant.</a:t>
            </a:r>
          </a:p>
          <a:p>
            <a:pPr marL="347472" marR="0" lvl="1" indent="-347472" algn="l" defTabSz="914400" rtl="0" eaLnBrk="1" fontAlgn="auto" latinLnBrk="0" hangingPunct="1">
              <a:spcBef>
                <a:spcPts val="300"/>
              </a:spcBef>
              <a:spcAft>
                <a:spcPts val="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ea typeface="+mn-ea"/>
                <a:cs typeface="Calibri" panose="020F0502020204030204" pitchFamily="34" charset="0"/>
              </a:rPr>
              <a:t>Sucrose and other materials can move in any direction through phloem.</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29</a:t>
            </a:fld>
            <a:endParaRPr lang="en-US" dirty="0"/>
          </a:p>
        </p:txBody>
      </p:sp>
    </p:spTree>
    <p:extLst>
      <p:ext uri="{BB962C8B-B14F-4D97-AF65-F5344CB8AC3E}">
        <p14:creationId xmlns:p14="http://schemas.microsoft.com/office/powerpoint/2010/main" val="26930811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0" y="18288"/>
            <a:ext cx="9144000" cy="1325880"/>
          </a:xfrm>
        </p:spPr>
        <p:txBody>
          <a:bodyPr/>
          <a:lstStyle/>
          <a:p>
            <a:r>
              <a:rPr lang="en-US" noProof="0" dirty="0"/>
              <a:t>Organization of Conducting Cells in Xylem and Phloem</a:t>
            </a:r>
            <a:endParaRPr lang="en-US" sz="1400" noProof="0" dirty="0"/>
          </a:p>
        </p:txBody>
      </p:sp>
      <p:pic>
        <p:nvPicPr>
          <p:cNvPr id="8" name="Picture 7" descr="An illustration shows the structure of tracheid and vessel element in part (a) and phloem in part (b) along with movement of water and carbohydrates.">
            <a:extLst>
              <a:ext uri="{FF2B5EF4-FFF2-40B4-BE49-F238E27FC236}">
                <a16:creationId xmlns:a16="http://schemas.microsoft.com/office/drawing/2014/main" id="{6BD3F0AC-8FFA-6A01-56C8-AD25926D0D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6371" y="1363577"/>
            <a:ext cx="3351259" cy="4686664"/>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3842436" y="6067177"/>
            <a:ext cx="1459128" cy="313852"/>
          </a:xfrm>
        </p:spPr>
        <p:txBody>
          <a:bodyPr/>
          <a:lstStyle/>
          <a:p>
            <a:pPr algn="ctr"/>
            <a:r>
              <a:rPr lang="en-US" sz="1200" noProof="0" dirty="0">
                <a:latin typeface="+mn-lt"/>
              </a:rPr>
              <a:t>Figure 25.11</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a:xfrm>
            <a:off x="3374136" y="6389433"/>
            <a:ext cx="2404872" cy="192024"/>
          </a:xfrm>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30</a:t>
            </a:fld>
            <a:endParaRPr lang="en-US" dirty="0"/>
          </a:p>
        </p:txBody>
      </p:sp>
    </p:spTree>
    <p:extLst>
      <p:ext uri="{BB962C8B-B14F-4D97-AF65-F5344CB8AC3E}">
        <p14:creationId xmlns:p14="http://schemas.microsoft.com/office/powerpoint/2010/main" val="27043342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517588" y="18288"/>
            <a:ext cx="8108824" cy="923544"/>
          </a:xfrm>
        </p:spPr>
        <p:txBody>
          <a:bodyPr/>
          <a:lstStyle/>
          <a:p>
            <a:r>
              <a:rPr lang="en-US" noProof="0" dirty="0"/>
              <a:t>The Role of Water Potential</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751"/>
            <a:ext cx="7702378" cy="5403049"/>
          </a:xfrm>
        </p:spPr>
        <p:txBody>
          <a:bodyPr/>
          <a:lstStyle/>
          <a:p>
            <a:pPr marL="0" marR="0" lvl="0" indent="0" algn="l" defTabSz="914400" rtl="0" eaLnBrk="1" fontAlgn="auto" latinLnBrk="0" hangingPunct="1">
              <a:lnSpc>
                <a:spcPct val="100000"/>
              </a:lnSpc>
              <a:spcBef>
                <a:spcPts val="0"/>
              </a:spcBef>
              <a:spcAft>
                <a:spcPts val="2000"/>
              </a:spcAft>
              <a:buClrTx/>
              <a:buSzTx/>
              <a:buFont typeface="Arial" panose="020B0604020202020204" pitchFamily="34" charset="0"/>
              <a:buNone/>
              <a:tabLst/>
              <a:defRPr/>
            </a:pPr>
            <a:r>
              <a:rPr kumimoji="0" lang="en-US" sz="3200" b="0" i="0" u="none" strike="noStrike" kern="1200" cap="none" spc="0" normalizeH="0" baseline="0" noProof="0" dirty="0">
                <a:ln>
                  <a:noFill/>
                </a:ln>
                <a:solidFill>
                  <a:prstClr val="black"/>
                </a:solidFill>
                <a:effectLst/>
                <a:uLnTx/>
                <a:uFillTx/>
                <a:ea typeface="+mn-ea"/>
                <a:cs typeface="Calibri" panose="020F0502020204030204" pitchFamily="34" charset="0"/>
              </a:rPr>
              <a:t>Potential energy is stored energy. </a:t>
            </a:r>
          </a:p>
          <a:p>
            <a:pPr marL="0" marR="0" lvl="0" indent="0" algn="l" defTabSz="914400" rtl="0" eaLnBrk="1" fontAlgn="auto" latinLnBrk="0" hangingPunct="1">
              <a:lnSpc>
                <a:spcPct val="100000"/>
              </a:lnSpc>
              <a:spcBef>
                <a:spcPts val="0"/>
              </a:spcBef>
              <a:spcAft>
                <a:spcPts val="2000"/>
              </a:spcAft>
              <a:buClrTx/>
              <a:buSzTx/>
              <a:buFont typeface="Arial" panose="020B0604020202020204" pitchFamily="34" charset="0"/>
              <a:buNone/>
              <a:tabLst/>
              <a:defRPr/>
            </a:pPr>
            <a:r>
              <a:rPr kumimoji="0" lang="en-US" sz="3200" b="1" i="0" u="none" strike="noStrike" kern="1200" cap="none" spc="0" normalizeH="0" baseline="0" noProof="0" dirty="0">
                <a:ln>
                  <a:noFill/>
                </a:ln>
                <a:solidFill>
                  <a:srgbClr val="DB0F0F"/>
                </a:solidFill>
                <a:effectLst/>
                <a:uLnTx/>
                <a:uFillTx/>
                <a:ea typeface="+mn-ea"/>
                <a:cs typeface="Calibri" panose="020F0502020204030204" pitchFamily="34" charset="0"/>
              </a:rPr>
              <a:t>Water potential </a:t>
            </a:r>
            <a:r>
              <a:rPr kumimoji="0" lang="en-US" sz="3200" b="0" i="0" u="none" strike="noStrike" kern="1200" cap="none" spc="0" normalizeH="0" baseline="0" noProof="0" dirty="0">
                <a:ln>
                  <a:noFill/>
                </a:ln>
                <a:solidFill>
                  <a:prstClr val="black"/>
                </a:solidFill>
                <a:effectLst/>
                <a:uLnTx/>
                <a:uFillTx/>
                <a:ea typeface="+mn-ea"/>
                <a:cs typeface="Calibri" panose="020F0502020204030204" pitchFamily="34" charset="0"/>
              </a:rPr>
              <a:t>is the energy of water. </a:t>
            </a:r>
          </a:p>
          <a:p>
            <a:pPr marL="347472" marR="0" lvl="1" indent="-347472" algn="l" defTabSz="914400" rtl="0" eaLnBrk="1" fontAlgn="auto" latinLnBrk="0" hangingPunct="1">
              <a:lnSpc>
                <a:spcPct val="100000"/>
              </a:lnSpc>
              <a:spcBef>
                <a:spcPts val="0"/>
              </a:spcBef>
              <a:spcAft>
                <a:spcPts val="200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ea typeface="+mn-ea"/>
                <a:cs typeface="Calibri" panose="020F0502020204030204" pitchFamily="34" charset="0"/>
              </a:rPr>
              <a:t>Water moves passively from a region of higher potential to a region of lower potential.</a:t>
            </a:r>
          </a:p>
          <a:p>
            <a:pPr marL="0" marR="0" lvl="0" indent="0" algn="l" defTabSz="914400" rtl="0" eaLnBrk="1" fontAlgn="auto" latinLnBrk="0" hangingPunct="1">
              <a:lnSpc>
                <a:spcPct val="100000"/>
              </a:lnSpc>
              <a:spcBef>
                <a:spcPts val="0"/>
              </a:spcBef>
              <a:spcAft>
                <a:spcPts val="2000"/>
              </a:spcAft>
              <a:buClrTx/>
              <a:buSzTx/>
              <a:buFont typeface="Arial" panose="020B0604020202020204" pitchFamily="34" charset="0"/>
              <a:buNone/>
              <a:tabLst/>
              <a:defRPr/>
            </a:pPr>
            <a:r>
              <a:rPr kumimoji="0" lang="en-US" sz="3200" b="0" i="0" u="none" strike="noStrike" kern="1200" cap="none" spc="0" normalizeH="0" baseline="0" noProof="0" dirty="0">
                <a:ln>
                  <a:noFill/>
                </a:ln>
                <a:solidFill>
                  <a:prstClr val="black"/>
                </a:solidFill>
                <a:effectLst/>
                <a:uLnTx/>
                <a:uFillTx/>
                <a:ea typeface="+mn-ea"/>
                <a:cs typeface="Calibri" panose="020F0502020204030204" pitchFamily="34" charset="0"/>
              </a:rPr>
              <a:t>In terms of cells, two factors usually determine water potential:</a:t>
            </a:r>
          </a:p>
          <a:p>
            <a:pPr marL="347472" marR="0" lvl="1" indent="-347472"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ea typeface="+mn-ea"/>
                <a:cs typeface="Calibri" panose="020F0502020204030204" pitchFamily="34" charset="0"/>
              </a:rPr>
              <a:t>Water pressure across a membrane. </a:t>
            </a:r>
          </a:p>
          <a:p>
            <a:pPr marL="347472" marR="0" lvl="1" indent="-347472"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ea typeface="+mn-ea"/>
                <a:cs typeface="Calibri" panose="020F0502020204030204" pitchFamily="34" charset="0"/>
              </a:rPr>
              <a:t>Solute concentration across a membrane.</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31</a:t>
            </a:fld>
            <a:endParaRPr lang="en-US" dirty="0"/>
          </a:p>
        </p:txBody>
      </p:sp>
    </p:spTree>
    <p:extLst>
      <p:ext uri="{BB962C8B-B14F-4D97-AF65-F5344CB8AC3E}">
        <p14:creationId xmlns:p14="http://schemas.microsoft.com/office/powerpoint/2010/main" val="32242681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0" y="18288"/>
            <a:ext cx="9144000" cy="923544"/>
          </a:xfrm>
        </p:spPr>
        <p:txBody>
          <a:bodyPr/>
          <a:lstStyle/>
          <a:p>
            <a:r>
              <a:rPr lang="en-US" noProof="0" dirty="0"/>
              <a:t>Plant Transport and Water Potential</a:t>
            </a:r>
            <a:endParaRPr lang="en-US" sz="1400" noProof="0" dirty="0"/>
          </a:p>
        </p:txBody>
      </p:sp>
      <p:pic>
        <p:nvPicPr>
          <p:cNvPr id="9" name="Picture 8" descr="An illustration of a rooted plant shows arrows pointing to the flow of water from roots to stem to leaves.">
            <a:extLst>
              <a:ext uri="{FF2B5EF4-FFF2-40B4-BE49-F238E27FC236}">
                <a16:creationId xmlns:a16="http://schemas.microsoft.com/office/drawing/2014/main" id="{B8D15DA3-D74A-B259-A3AD-1EBEFE366F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0496" y="788350"/>
            <a:ext cx="3503009" cy="5569359"/>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6647427" y="6067177"/>
            <a:ext cx="1459128" cy="313852"/>
          </a:xfrm>
        </p:spPr>
        <p:txBody>
          <a:bodyPr/>
          <a:lstStyle/>
          <a:p>
            <a:pPr algn="ctr"/>
            <a:r>
              <a:rPr lang="en-US" sz="1200" noProof="0" dirty="0">
                <a:latin typeface="+mn-lt"/>
              </a:rPr>
              <a:t>Figure 25.12</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a:xfrm>
            <a:off x="3374136" y="6389433"/>
            <a:ext cx="2404872" cy="192024"/>
          </a:xfrm>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32</a:t>
            </a:fld>
            <a:endParaRPr lang="en-US" dirty="0"/>
          </a:p>
        </p:txBody>
      </p:sp>
    </p:spTree>
    <p:extLst>
      <p:ext uri="{BB962C8B-B14F-4D97-AF65-F5344CB8AC3E}">
        <p14:creationId xmlns:p14="http://schemas.microsoft.com/office/powerpoint/2010/main" val="8578194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517588" y="18288"/>
            <a:ext cx="8108824" cy="923544"/>
          </a:xfrm>
        </p:spPr>
        <p:txBody>
          <a:bodyPr/>
          <a:lstStyle/>
          <a:p>
            <a:r>
              <a:rPr lang="en-US" noProof="0" dirty="0"/>
              <a:t>The Concept of Water Potential</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751"/>
            <a:ext cx="7702378" cy="5679368"/>
          </a:xfrm>
        </p:spPr>
        <p:txBody>
          <a:bodyPr/>
          <a:lstStyle/>
          <a:p>
            <a:pPr marL="0" marR="0" lvl="0"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sz="2500" b="1" i="0" u="none" strike="noStrike" kern="1200" cap="none" spc="0" normalizeH="0" baseline="0" noProof="0" dirty="0">
                <a:ln>
                  <a:noFill/>
                </a:ln>
                <a:solidFill>
                  <a:srgbClr val="000000"/>
                </a:solidFill>
                <a:effectLst/>
                <a:uLnTx/>
                <a:uFillTx/>
                <a:ea typeface="+mn-ea"/>
                <a:cs typeface="Calibri" panose="020F0502020204030204" pitchFamily="34" charset="0"/>
              </a:rPr>
              <a:t>Pressure potential </a:t>
            </a:r>
            <a:r>
              <a:rPr kumimoji="0" lang="en-US" sz="2500" b="0" i="0" u="none" strike="noStrike" kern="1200" cap="none" spc="0" normalizeH="0" baseline="0" noProof="0" dirty="0">
                <a:ln>
                  <a:noFill/>
                </a:ln>
                <a:solidFill>
                  <a:prstClr val="black"/>
                </a:solidFill>
                <a:effectLst/>
                <a:uLnTx/>
                <a:uFillTx/>
                <a:ea typeface="+mn-ea"/>
                <a:cs typeface="Calibri" panose="020F0502020204030204" pitchFamily="34" charset="0"/>
              </a:rPr>
              <a:t>is the effect that pressure has on water potential. </a:t>
            </a:r>
          </a:p>
          <a:p>
            <a:pPr marL="347472" marR="0" lvl="1" indent="-347472" algn="l" defTabSz="914400" rtl="0" eaLnBrk="1" fontAlgn="auto" latinLnBrk="0" hangingPunct="1">
              <a:spcBef>
                <a:spcPts val="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Water moves across a membrane from the area of higher pressure to the area of lower pressure. </a:t>
            </a:r>
          </a:p>
          <a:p>
            <a:pPr marL="347472" marR="0" lvl="1" indent="-347472" algn="l" defTabSz="914400" rtl="0" eaLnBrk="1" fontAlgn="auto" latinLnBrk="0" hangingPunct="1">
              <a:spcBef>
                <a:spcPts val="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The higher the water pressure, the higher the water potential.</a:t>
            </a:r>
          </a:p>
          <a:p>
            <a:pPr marL="347472" marR="0" lvl="1" indent="-347472" algn="l" defTabSz="914400" rtl="0" eaLnBrk="1" fontAlgn="auto" latinLnBrk="0" hangingPunct="1">
              <a:spcBef>
                <a:spcPts val="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Pressure potential that increases due to osmosis is called turgor pressure.</a:t>
            </a:r>
          </a:p>
          <a:p>
            <a:pPr marL="0" marR="0" lvl="0" indent="0" algn="l" defTabSz="914400" rtl="0" eaLnBrk="1" fontAlgn="auto" latinLnBrk="0" hangingPunct="1">
              <a:spcBef>
                <a:spcPts val="400"/>
              </a:spcBef>
              <a:spcAft>
                <a:spcPts val="1000"/>
              </a:spcAft>
              <a:buClrTx/>
              <a:buSzTx/>
              <a:buFont typeface="Arial" panose="020B0604020202020204" pitchFamily="34" charset="0"/>
              <a:buNone/>
              <a:tabLst/>
              <a:defRPr/>
            </a:pPr>
            <a:r>
              <a:rPr kumimoji="0" lang="en-US" sz="2500" b="1" i="0" u="none" strike="noStrike" kern="1200" cap="none" spc="0" normalizeH="0" baseline="0" noProof="0" dirty="0">
                <a:ln>
                  <a:noFill/>
                </a:ln>
                <a:solidFill>
                  <a:srgbClr val="000000"/>
                </a:solidFill>
                <a:effectLst/>
                <a:uLnTx/>
                <a:uFillTx/>
                <a:ea typeface="+mn-ea"/>
                <a:cs typeface="Calibri" panose="020F0502020204030204" pitchFamily="34" charset="0"/>
              </a:rPr>
              <a:t>Osmotic potential </a:t>
            </a:r>
            <a:r>
              <a:rPr kumimoji="0" lang="en-US" sz="2500" b="0" i="0" u="none" strike="noStrike" kern="1200" cap="none" spc="0" normalizeH="0" baseline="0" noProof="0" dirty="0">
                <a:ln>
                  <a:noFill/>
                </a:ln>
                <a:solidFill>
                  <a:prstClr val="black"/>
                </a:solidFill>
                <a:effectLst/>
                <a:uLnTx/>
                <a:uFillTx/>
                <a:ea typeface="+mn-ea"/>
                <a:cs typeface="Calibri" panose="020F0502020204030204" pitchFamily="34" charset="0"/>
              </a:rPr>
              <a:t>takes into account the presence of solutes.</a:t>
            </a:r>
          </a:p>
          <a:p>
            <a:pPr marL="347472" marR="0" lvl="1" indent="-347472" algn="l" defTabSz="914400" rtl="0" eaLnBrk="1" fontAlgn="auto" latinLnBrk="0" hangingPunct="1">
              <a:spcBef>
                <a:spcPts val="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Water tends to move from the area of lower solute concentration to the area of higher solute concentration.</a:t>
            </a:r>
          </a:p>
          <a:p>
            <a:pPr marL="347472" marR="0" lvl="1" indent="-347472" algn="l" defTabSz="914400" rtl="0" eaLnBrk="1" fontAlgn="auto" latinLnBrk="0" hangingPunct="1">
              <a:spcBef>
                <a:spcPts val="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The lower the concentration of solutes (osmotic potential), the higher the water potential.</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33</a:t>
            </a:fld>
            <a:endParaRPr lang="en-US" dirty="0"/>
          </a:p>
        </p:txBody>
      </p:sp>
    </p:spTree>
    <p:extLst>
      <p:ext uri="{BB962C8B-B14F-4D97-AF65-F5344CB8AC3E}">
        <p14:creationId xmlns:p14="http://schemas.microsoft.com/office/powerpoint/2010/main" val="19288219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0" y="18288"/>
            <a:ext cx="9144000" cy="923544"/>
          </a:xfrm>
        </p:spPr>
        <p:txBody>
          <a:bodyPr/>
          <a:lstStyle/>
          <a:p>
            <a:r>
              <a:rPr lang="en-US" noProof="0" dirty="0"/>
              <a:t>Water Potential and Turgor Pressure</a:t>
            </a:r>
            <a:endParaRPr lang="en-US" sz="1400" noProof="0" dirty="0"/>
          </a:p>
        </p:txBody>
      </p:sp>
      <p:pic>
        <p:nvPicPr>
          <p:cNvPr id="8" name="Picture 7" descr="A two-part illustration compares characteristics of (a) a wilted potted plant in no water and (b) a turgid potted plant in water.">
            <a:extLst>
              <a:ext uri="{FF2B5EF4-FFF2-40B4-BE49-F238E27FC236}">
                <a16:creationId xmlns:a16="http://schemas.microsoft.com/office/drawing/2014/main" id="{9306378F-1769-DE33-A94D-1B33238FF1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4676" y="865680"/>
            <a:ext cx="3194648" cy="5469197"/>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6135694" y="6092574"/>
            <a:ext cx="1459128" cy="313852"/>
          </a:xfrm>
        </p:spPr>
        <p:txBody>
          <a:bodyPr/>
          <a:lstStyle/>
          <a:p>
            <a:pPr algn="ctr"/>
            <a:r>
              <a:rPr lang="en-US" sz="1200" noProof="0" dirty="0">
                <a:latin typeface="+mn-lt"/>
              </a:rPr>
              <a:t>Figure 25B</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a:xfrm>
            <a:off x="3374136" y="6389433"/>
            <a:ext cx="2404872" cy="192024"/>
          </a:xfrm>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4" name="Text Placeholder 3">
            <a:extLst>
              <a:ext uri="{FF2B5EF4-FFF2-40B4-BE49-F238E27FC236}">
                <a16:creationId xmlns:a16="http://schemas.microsoft.com/office/drawing/2014/main" id="{050867F9-AED6-C603-AEFE-3D04EAA72F2E}"/>
              </a:ext>
            </a:extLst>
          </p:cNvPr>
          <p:cNvSpPr>
            <a:spLocks noGrp="1"/>
          </p:cNvSpPr>
          <p:nvPr>
            <p:ph type="body" sz="quarter" idx="16"/>
          </p:nvPr>
        </p:nvSpPr>
        <p:spPr/>
        <p:txBody>
          <a:bodyPr/>
          <a:lstStyle/>
          <a:p>
            <a:r>
              <a:rPr lang="en-US" i="1" dirty="0"/>
              <a:t>(both photos): Ken Cavanagh/McGraw Hill</a:t>
            </a: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34</a:t>
            </a:fld>
            <a:endParaRPr lang="en-US" dirty="0"/>
          </a:p>
        </p:txBody>
      </p:sp>
    </p:spTree>
    <p:extLst>
      <p:ext uri="{BB962C8B-B14F-4D97-AF65-F5344CB8AC3E}">
        <p14:creationId xmlns:p14="http://schemas.microsoft.com/office/powerpoint/2010/main" val="15655498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517588" y="18288"/>
            <a:ext cx="8108824" cy="923544"/>
          </a:xfrm>
        </p:spPr>
        <p:txBody>
          <a:bodyPr/>
          <a:lstStyle/>
          <a:p>
            <a:r>
              <a:rPr lang="en-US" noProof="0" dirty="0"/>
              <a:t>Water Transport</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751"/>
            <a:ext cx="7702378" cy="5679368"/>
          </a:xfrm>
        </p:spPr>
        <p:txBody>
          <a:bodyPr/>
          <a:lstStyle/>
          <a:p>
            <a:pPr marL="0" marR="0" lvl="1"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ea typeface="+mn-ea"/>
                <a:cs typeface="Calibri" panose="020F0502020204030204" pitchFamily="34" charset="0"/>
              </a:rPr>
              <a:t>Xylem vessels form an open pipeline.</a:t>
            </a:r>
          </a:p>
          <a:p>
            <a:pPr marL="269875" marR="0" lvl="2" indent="-269875" algn="l" defTabSz="914400" rtl="0" eaLnBrk="1" fontAlgn="auto" latinLnBrk="0" hangingPunct="1">
              <a:lnSpc>
                <a:spcPct val="100000"/>
              </a:lnSpc>
              <a:spcBef>
                <a:spcPts val="1200"/>
              </a:spcBef>
              <a:spcAft>
                <a:spcPts val="800"/>
              </a:spcAft>
              <a:buClrTx/>
              <a:buSzTx/>
              <a:buFont typeface="Arial" panose="020B0604020202020204" pitchFamily="34" charset="0"/>
              <a:buChar char="•"/>
              <a:tabLst>
                <a:tab pos="280988" algn="l"/>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The vessel elements are separated by perforated plates.</a:t>
            </a:r>
          </a:p>
          <a:p>
            <a:pPr marL="269875" marR="0" lvl="2" indent="-269875" algn="l" defTabSz="914400" rtl="0" eaLnBrk="1" fontAlgn="auto" latinLnBrk="0" hangingPunct="1">
              <a:lnSpc>
                <a:spcPct val="100000"/>
              </a:lnSpc>
              <a:spcBef>
                <a:spcPts val="1200"/>
              </a:spcBef>
              <a:spcAft>
                <a:spcPts val="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Water moves into and out of </a:t>
            </a:r>
            <a:r>
              <a:rPr kumimoji="0" lang="en-US" sz="2400" b="0" i="0" u="none" strike="noStrike" kern="1200" cap="none" spc="0" normalizeH="0" baseline="0" noProof="0" dirty="0" err="1">
                <a:ln>
                  <a:noFill/>
                </a:ln>
                <a:solidFill>
                  <a:prstClr val="black"/>
                </a:solidFill>
                <a:effectLst/>
                <a:uLnTx/>
                <a:uFillTx/>
                <a:ea typeface="+mn-ea"/>
                <a:cs typeface="Calibri" panose="020F0502020204030204" pitchFamily="34" charset="0"/>
              </a:rPr>
              <a:t>tracheids</a:t>
            </a: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 through pits.</a:t>
            </a:r>
          </a:p>
          <a:p>
            <a:pPr marL="0" marR="0" lvl="1" indent="0" algn="l" defTabSz="914400" rtl="0" eaLnBrk="1" fontAlgn="auto" latinLnBrk="0" hangingPunct="1">
              <a:lnSpc>
                <a:spcPct val="100000"/>
              </a:lnSpc>
              <a:spcBef>
                <a:spcPts val="1200"/>
              </a:spcBef>
              <a:spcAft>
                <a:spcPts val="80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ea typeface="+mn-ea"/>
                <a:cs typeface="Calibri" panose="020F0502020204030204" pitchFamily="34" charset="0"/>
              </a:rPr>
              <a:t>Water entering roots creates a positive pressure (</a:t>
            </a:r>
            <a:r>
              <a:rPr kumimoji="0" lang="en-US" sz="2800" b="1" i="0" u="none" strike="noStrike" kern="1200" cap="none" spc="0" normalizeH="0" baseline="0" noProof="0" dirty="0">
                <a:ln>
                  <a:noFill/>
                </a:ln>
                <a:solidFill>
                  <a:srgbClr val="DB0F0F"/>
                </a:solidFill>
                <a:effectLst/>
                <a:uLnTx/>
                <a:uFillTx/>
                <a:ea typeface="+mn-ea"/>
                <a:cs typeface="Calibri" panose="020F0502020204030204" pitchFamily="34" charset="0"/>
              </a:rPr>
              <a:t>root pressure</a:t>
            </a:r>
            <a:r>
              <a:rPr kumimoji="0" lang="en-US" sz="2800" b="0" i="0" u="none" strike="noStrike" kern="1200" cap="none" spc="0" normalizeH="0" baseline="0" noProof="0" dirty="0">
                <a:ln>
                  <a:noFill/>
                </a:ln>
                <a:solidFill>
                  <a:prstClr val="black"/>
                </a:solidFill>
                <a:effectLst/>
                <a:uLnTx/>
                <a:uFillTx/>
                <a:ea typeface="+mn-ea"/>
                <a:cs typeface="Calibri" panose="020F0502020204030204" pitchFamily="34" charset="0"/>
              </a:rPr>
              <a:t>).</a:t>
            </a:r>
          </a:p>
          <a:p>
            <a:pPr marL="0" marR="0" lvl="2" indent="0" algn="l" defTabSz="914400" rtl="0" eaLnBrk="1" fontAlgn="auto" latinLnBrk="0" hangingPunct="1">
              <a:lnSpc>
                <a:spcPct val="100000"/>
              </a:lnSpc>
              <a:spcBef>
                <a:spcPts val="1200"/>
              </a:spcBef>
              <a:spcAft>
                <a:spcPts val="800"/>
              </a:spcAft>
              <a:buClrTx/>
              <a:buSzTx/>
              <a:buNone/>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It pushes xylem sap upward.</a:t>
            </a:r>
          </a:p>
          <a:p>
            <a:pPr marL="347472" marR="0" lvl="3" indent="-347472" algn="l" defTabSz="914400" rtl="0" eaLnBrk="1" fontAlgn="auto" latinLnBrk="0" hangingPunct="1">
              <a:lnSpc>
                <a:spcPct val="100000"/>
              </a:lnSpc>
              <a:spcBef>
                <a:spcPts val="1200"/>
              </a:spcBef>
              <a:spcAft>
                <a:spcPts val="8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ea typeface="+mn-ea"/>
                <a:cs typeface="+mn-cs"/>
              </a:rPr>
              <a:t>May be responsible for </a:t>
            </a:r>
            <a:r>
              <a:rPr kumimoji="0" lang="en-US" sz="2000" b="1" i="0" u="none" strike="noStrike" kern="1200" cap="none" spc="0" normalizeH="0" baseline="0" noProof="0" dirty="0">
                <a:ln>
                  <a:noFill/>
                </a:ln>
                <a:solidFill>
                  <a:srgbClr val="DB0F0F"/>
                </a:solidFill>
                <a:effectLst/>
                <a:uLnTx/>
                <a:uFillTx/>
                <a:ea typeface="+mn-ea"/>
                <a:cs typeface="+mn-cs"/>
              </a:rPr>
              <a:t>guttation</a:t>
            </a:r>
          </a:p>
          <a:p>
            <a:pPr marL="694944" marR="0" lvl="4" indent="-347472"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ea typeface="+mn-ea"/>
                <a:cs typeface="+mn-cs"/>
              </a:rPr>
              <a:t>Water forced out vein endings along edges of leaves</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35</a:t>
            </a:fld>
            <a:endParaRPr lang="en-US" dirty="0"/>
          </a:p>
        </p:txBody>
      </p:sp>
    </p:spTree>
    <p:extLst>
      <p:ext uri="{BB962C8B-B14F-4D97-AF65-F5344CB8AC3E}">
        <p14:creationId xmlns:p14="http://schemas.microsoft.com/office/powerpoint/2010/main" val="21533269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0" y="18288"/>
            <a:ext cx="9144000" cy="923544"/>
          </a:xfrm>
        </p:spPr>
        <p:txBody>
          <a:bodyPr/>
          <a:lstStyle/>
          <a:p>
            <a:r>
              <a:rPr lang="en-US" noProof="0" dirty="0"/>
              <a:t> Root Pressure and Guttation</a:t>
            </a:r>
            <a:endParaRPr lang="en-US" sz="1400" noProof="0" dirty="0"/>
          </a:p>
        </p:txBody>
      </p:sp>
      <p:pic>
        <p:nvPicPr>
          <p:cNvPr id="7" name="Picture 6" descr="(a) A glass tube sealed above a cut stem of a rooted plant shows xylem sap in the tube and (b) a close-up of a leaf with water droplets on its edges.">
            <a:extLst>
              <a:ext uri="{FF2B5EF4-FFF2-40B4-BE49-F238E27FC236}">
                <a16:creationId xmlns:a16="http://schemas.microsoft.com/office/drawing/2014/main" id="{18EC15CE-A25A-C3E3-105A-15ECBC695A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4997" y="807337"/>
            <a:ext cx="3674007" cy="5800477"/>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6542092" y="6250420"/>
            <a:ext cx="1459128" cy="313852"/>
          </a:xfrm>
        </p:spPr>
        <p:txBody>
          <a:bodyPr/>
          <a:lstStyle/>
          <a:p>
            <a:pPr algn="ctr"/>
            <a:r>
              <a:rPr lang="en-US" sz="1200" noProof="0" dirty="0">
                <a:latin typeface="+mn-lt"/>
              </a:rPr>
              <a:t>Figure 25.13</a:t>
            </a:r>
          </a:p>
        </p:txBody>
      </p:sp>
      <p:sp>
        <p:nvSpPr>
          <p:cNvPr id="4" name="Text Placeholder 3">
            <a:extLst>
              <a:ext uri="{FF2B5EF4-FFF2-40B4-BE49-F238E27FC236}">
                <a16:creationId xmlns:a16="http://schemas.microsoft.com/office/drawing/2014/main" id="{050867F9-AED6-C603-AEFE-3D04EAA72F2E}"/>
              </a:ext>
            </a:extLst>
          </p:cNvPr>
          <p:cNvSpPr>
            <a:spLocks noGrp="1"/>
          </p:cNvSpPr>
          <p:nvPr>
            <p:ph type="body" sz="quarter" idx="16"/>
          </p:nvPr>
        </p:nvSpPr>
        <p:spPr/>
        <p:txBody>
          <a:bodyPr/>
          <a:lstStyle/>
          <a:p>
            <a:r>
              <a:rPr lang="en-US" i="1" dirty="0"/>
              <a:t>(a): Martyn F. </a:t>
            </a:r>
            <a:r>
              <a:rPr lang="en-US" i="1" dirty="0" err="1"/>
              <a:t>Chillmaid</a:t>
            </a:r>
            <a:r>
              <a:rPr lang="en-US" i="1" dirty="0"/>
              <a:t>/Science Source; (b): H. </a:t>
            </a:r>
            <a:r>
              <a:rPr lang="en-US" i="1" dirty="0" err="1"/>
              <a:t>Schmidbauer</a:t>
            </a:r>
            <a:r>
              <a:rPr lang="en-US" i="1" dirty="0"/>
              <a:t>/</a:t>
            </a:r>
            <a:r>
              <a:rPr lang="en-US" i="1" dirty="0" err="1"/>
              <a:t>blickwinkel</a:t>
            </a:r>
            <a:r>
              <a:rPr lang="en-US" i="1" dirty="0"/>
              <a:t>/age </a:t>
            </a:r>
            <a:r>
              <a:rPr lang="en-US" i="1" dirty="0" err="1"/>
              <a:t>fotostock</a:t>
            </a:r>
            <a:endParaRPr lang="en-US" i="1" dirty="0"/>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36</a:t>
            </a:fld>
            <a:endParaRPr lang="en-US" dirty="0"/>
          </a:p>
        </p:txBody>
      </p:sp>
    </p:spTree>
    <p:extLst>
      <p:ext uri="{BB962C8B-B14F-4D97-AF65-F5344CB8AC3E}">
        <p14:creationId xmlns:p14="http://schemas.microsoft.com/office/powerpoint/2010/main" val="41330422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0" y="18288"/>
            <a:ext cx="9144000" cy="1325880"/>
          </a:xfrm>
        </p:spPr>
        <p:txBody>
          <a:bodyPr/>
          <a:lstStyle/>
          <a:p>
            <a:r>
              <a:rPr lang="en-US" noProof="0" dirty="0"/>
              <a:t>Xylem Transport Cohesion-Tension Model</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1302551"/>
            <a:ext cx="7864412" cy="5374568"/>
          </a:xfrm>
        </p:spPr>
        <p:txBody>
          <a:bodyPr/>
          <a:lstStyle/>
          <a:p>
            <a:pPr marL="0" marR="0" lvl="0" indent="0" algn="l" defTabSz="914400" rtl="0" eaLnBrk="1" fontAlgn="auto" latinLnBrk="0" hangingPunct="1">
              <a:spcBef>
                <a:spcPts val="0"/>
              </a:spcBef>
              <a:spcAft>
                <a:spcPts val="2000"/>
              </a:spcAft>
              <a:buClrTx/>
              <a:buSzTx/>
              <a:buFont typeface="Arial" panose="020B0604020202020204" pitchFamily="34" charset="0"/>
              <a:buNone/>
              <a:tabLst/>
              <a:defRPr/>
            </a:pPr>
            <a:r>
              <a:rPr kumimoji="0" lang="en-US" sz="3200" b="1" i="0" u="none" strike="noStrike" kern="1200" cap="none" spc="0" normalizeH="0" baseline="0" noProof="0" dirty="0">
                <a:ln>
                  <a:noFill/>
                </a:ln>
                <a:solidFill>
                  <a:srgbClr val="DB0F0F"/>
                </a:solidFill>
                <a:effectLst/>
                <a:uLnTx/>
                <a:uFillTx/>
                <a:ea typeface="+mn-ea"/>
                <a:cs typeface="Calibri" panose="020F0502020204030204" pitchFamily="34" charset="0"/>
              </a:rPr>
              <a:t>Cohesion-tension model </a:t>
            </a:r>
            <a:r>
              <a:rPr kumimoji="0" lang="en-US" sz="3200" b="0" i="0" u="none" strike="noStrike" kern="1200" cap="none" spc="0" normalizeH="0" baseline="0" noProof="0" dirty="0">
                <a:ln>
                  <a:noFill/>
                </a:ln>
                <a:solidFill>
                  <a:prstClr val="black"/>
                </a:solidFill>
                <a:effectLst/>
                <a:uLnTx/>
                <a:uFillTx/>
                <a:ea typeface="+mn-ea"/>
                <a:cs typeface="Calibri" panose="020F0502020204030204" pitchFamily="34" charset="0"/>
              </a:rPr>
              <a:t>of xylem transport suggests a passive xylem transport.</a:t>
            </a:r>
          </a:p>
          <a:p>
            <a:pPr marL="347472" marR="0" lvl="1" indent="-347472" algn="l" defTabSz="914400" rtl="0" eaLnBrk="1" fontAlgn="auto" latinLnBrk="0" hangingPunct="1">
              <a:spcBef>
                <a:spcPts val="0"/>
              </a:spcBef>
              <a:spcAft>
                <a:spcPts val="800"/>
              </a:spcAft>
              <a:buClr>
                <a:schemeClr val="tx1"/>
              </a:buClr>
              <a:buSzTx/>
              <a:buFont typeface="Arial" panose="020B0604020202020204" pitchFamily="34" charset="0"/>
              <a:buChar char="•"/>
              <a:tabLst/>
              <a:defRPr/>
            </a:pPr>
            <a:r>
              <a:rPr kumimoji="0" lang="en-US" sz="2800" b="1" i="0" u="none" strike="noStrike" kern="1200" cap="none" spc="0" normalizeH="0" baseline="0" noProof="0" dirty="0">
                <a:ln>
                  <a:noFill/>
                </a:ln>
                <a:solidFill>
                  <a:srgbClr val="DB0F0F"/>
                </a:solidFill>
                <a:effectLst/>
                <a:uLnTx/>
                <a:uFillTx/>
                <a:ea typeface="+mn-ea"/>
                <a:cs typeface="Calibri" panose="020F0502020204030204" pitchFamily="34" charset="0"/>
              </a:rPr>
              <a:t>Cohesion</a:t>
            </a:r>
            <a:r>
              <a:rPr kumimoji="0" lang="en-US" sz="2800" b="0" i="0" u="none" strike="noStrike" kern="1200" cap="none" spc="0" normalizeH="0" baseline="0" noProof="0" dirty="0">
                <a:ln>
                  <a:noFill/>
                </a:ln>
                <a:solidFill>
                  <a:prstClr val="black"/>
                </a:solidFill>
                <a:effectLst/>
                <a:uLnTx/>
                <a:uFillTx/>
                <a:ea typeface="+mn-ea"/>
                <a:cs typeface="Calibri" panose="020F0502020204030204" pitchFamily="34" charset="0"/>
              </a:rPr>
              <a:t> is the tendency of water molecules to cling together.</a:t>
            </a:r>
          </a:p>
          <a:p>
            <a:pPr marL="347472" marR="0" lvl="1" indent="-347472" algn="l" defTabSz="914400" rtl="0" eaLnBrk="1" fontAlgn="auto" latinLnBrk="0" hangingPunct="1">
              <a:spcBef>
                <a:spcPts val="800"/>
              </a:spcBef>
              <a:spcAft>
                <a:spcPts val="800"/>
              </a:spcAft>
              <a:buClr>
                <a:schemeClr val="tx1"/>
              </a:buClr>
              <a:buSzTx/>
              <a:buFont typeface="Arial" panose="020B0604020202020204" pitchFamily="34" charset="0"/>
              <a:buChar char="•"/>
              <a:tabLst/>
              <a:defRPr/>
            </a:pPr>
            <a:r>
              <a:rPr kumimoji="0" lang="en-US" sz="2800" b="1" i="0" u="none" strike="noStrike" kern="1200" cap="none" spc="0" normalizeH="0" baseline="0" noProof="0" dirty="0">
                <a:ln>
                  <a:noFill/>
                </a:ln>
                <a:solidFill>
                  <a:srgbClr val="DB0F0F"/>
                </a:solidFill>
                <a:effectLst/>
                <a:uLnTx/>
                <a:uFillTx/>
                <a:ea typeface="+mn-ea"/>
                <a:cs typeface="Calibri" panose="020F0502020204030204" pitchFamily="34" charset="0"/>
              </a:rPr>
              <a:t>Adhesion</a:t>
            </a:r>
            <a:r>
              <a:rPr kumimoji="0" lang="en-US" sz="2800" b="0" i="0" u="none" strike="noStrike" kern="1200" cap="none" spc="0" normalizeH="0" baseline="0" noProof="0" dirty="0">
                <a:ln>
                  <a:noFill/>
                </a:ln>
                <a:solidFill>
                  <a:prstClr val="black"/>
                </a:solidFill>
                <a:effectLst/>
                <a:uLnTx/>
                <a:uFillTx/>
                <a:ea typeface="+mn-ea"/>
                <a:cs typeface="Calibri" panose="020F0502020204030204" pitchFamily="34" charset="0"/>
              </a:rPr>
              <a:t> is the ability of the polar water molecules to interact with molecules of vessel walls.</a:t>
            </a:r>
          </a:p>
          <a:p>
            <a:pPr marL="347472" marR="0" lvl="1" indent="-347472" algn="l" defTabSz="914400" rtl="0" eaLnBrk="1" fontAlgn="auto" latinLnBrk="0" hangingPunct="1">
              <a:spcBef>
                <a:spcPts val="800"/>
              </a:spcBef>
              <a:spcAft>
                <a:spcPts val="80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ea typeface="+mn-ea"/>
                <a:cs typeface="Calibri" panose="020F0502020204030204" pitchFamily="34" charset="0"/>
              </a:rPr>
              <a:t>A continuous </a:t>
            </a:r>
            <a:r>
              <a:rPr kumimoji="0" lang="en-US" sz="2800" b="1" i="0" u="none" strike="noStrike" kern="1200" cap="none" spc="0" normalizeH="0" baseline="0" noProof="0" dirty="0">
                <a:ln>
                  <a:noFill/>
                </a:ln>
                <a:solidFill>
                  <a:srgbClr val="DB0F0F"/>
                </a:solidFill>
                <a:effectLst/>
                <a:uLnTx/>
                <a:uFillTx/>
                <a:ea typeface="+mn-ea"/>
                <a:cs typeface="Calibri" panose="020F0502020204030204" pitchFamily="34" charset="0"/>
              </a:rPr>
              <a:t>water column </a:t>
            </a:r>
            <a:r>
              <a:rPr kumimoji="0" lang="en-US" sz="2800" b="0" i="0" u="none" strike="noStrike" kern="1200" cap="none" spc="0" normalizeH="0" baseline="0" noProof="0" dirty="0">
                <a:ln>
                  <a:noFill/>
                </a:ln>
                <a:solidFill>
                  <a:prstClr val="black"/>
                </a:solidFill>
                <a:effectLst/>
                <a:uLnTx/>
                <a:uFillTx/>
                <a:ea typeface="+mn-ea"/>
                <a:cs typeface="Calibri" panose="020F0502020204030204" pitchFamily="34" charset="0"/>
              </a:rPr>
              <a:t>moves passively upward due to </a:t>
            </a:r>
            <a:r>
              <a:rPr kumimoji="0" lang="en-US" sz="2800" b="1" i="0" u="none" strike="noStrike" kern="1200" cap="none" spc="0" normalizeH="0" baseline="0" noProof="0" dirty="0">
                <a:ln>
                  <a:noFill/>
                </a:ln>
                <a:solidFill>
                  <a:srgbClr val="DB0F0F"/>
                </a:solidFill>
                <a:effectLst/>
                <a:uLnTx/>
                <a:uFillTx/>
                <a:ea typeface="+mn-ea"/>
                <a:cs typeface="Calibri" panose="020F0502020204030204" pitchFamily="34" charset="0"/>
              </a:rPr>
              <a:t>transpiration</a:t>
            </a:r>
            <a:r>
              <a:rPr kumimoji="0" lang="en-US" sz="2800" b="1" i="0" u="none" strike="noStrike" kern="1200" cap="none" spc="0" normalizeH="0" baseline="0" noProof="0" dirty="0">
                <a:ln>
                  <a:noFill/>
                </a:ln>
                <a:solidFill>
                  <a:prstClr val="black"/>
                </a:solidFill>
                <a:effectLst/>
                <a:uLnTx/>
                <a:uFillTx/>
                <a:ea typeface="+mn-ea"/>
                <a:cs typeface="Calibri" panose="020F0502020204030204" pitchFamily="34" charset="0"/>
              </a:rPr>
              <a:t>.</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37</a:t>
            </a:fld>
            <a:endParaRPr lang="en-US" dirty="0"/>
          </a:p>
        </p:txBody>
      </p:sp>
    </p:spTree>
    <p:extLst>
      <p:ext uri="{BB962C8B-B14F-4D97-AF65-F5344CB8AC3E}">
        <p14:creationId xmlns:p14="http://schemas.microsoft.com/office/powerpoint/2010/main" val="33076099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0" y="18288"/>
            <a:ext cx="5394960" cy="1920240"/>
          </a:xfrm>
        </p:spPr>
        <p:txBody>
          <a:bodyPr/>
          <a:lstStyle/>
          <a:p>
            <a:r>
              <a:rPr lang="en-US" noProof="0" dirty="0"/>
              <a:t> Cohesion-Tension Model of Xylem Transport</a:t>
            </a:r>
            <a:endParaRPr lang="en-US" sz="1400" noProof="0" dirty="0"/>
          </a:p>
        </p:txBody>
      </p:sp>
      <p:pic>
        <p:nvPicPr>
          <p:cNvPr id="9" name="Picture 8" descr="An illustration of a big rooted tree shows arrows pointing to the cross-section of root, stem, and leaf to describe cohesion-tension model in xylem.">
            <a:extLst>
              <a:ext uri="{FF2B5EF4-FFF2-40B4-BE49-F238E27FC236}">
                <a16:creationId xmlns:a16="http://schemas.microsoft.com/office/drawing/2014/main" id="{030A5D2F-6E44-C483-8834-D5D248AFAA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0900" y="18288"/>
            <a:ext cx="4321352" cy="6261296"/>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3613836" y="6079877"/>
            <a:ext cx="5012576" cy="313852"/>
          </a:xfrm>
        </p:spPr>
        <p:txBody>
          <a:bodyPr/>
          <a:lstStyle/>
          <a:p>
            <a:r>
              <a:rPr lang="en-US" sz="1200" noProof="0" dirty="0">
                <a:latin typeface="+mn-lt"/>
              </a:rPr>
              <a:t>Figure 25.14</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a:xfrm>
            <a:off x="3374136" y="6389433"/>
            <a:ext cx="2404872" cy="192024"/>
          </a:xfrm>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38</a:t>
            </a:fld>
            <a:endParaRPr lang="en-US" dirty="0"/>
          </a:p>
        </p:txBody>
      </p:sp>
    </p:spTree>
    <p:extLst>
      <p:ext uri="{BB962C8B-B14F-4D97-AF65-F5344CB8AC3E}">
        <p14:creationId xmlns:p14="http://schemas.microsoft.com/office/powerpoint/2010/main" val="18345232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517588" y="18288"/>
            <a:ext cx="8108824" cy="1325880"/>
          </a:xfrm>
        </p:spPr>
        <p:txBody>
          <a:bodyPr/>
          <a:lstStyle/>
          <a:p>
            <a:r>
              <a:rPr lang="en-US" noProof="0" dirty="0"/>
              <a:t>Tension in Leaves, Stems, and Roots</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1302551"/>
            <a:ext cx="7864412" cy="5374568"/>
          </a:xfrm>
        </p:spPr>
        <p:txBody>
          <a:bodyPr/>
          <a:lstStyle/>
          <a:p>
            <a:pPr marL="0" marR="0" lvl="0" indent="0" algn="l" defTabSz="914400" rtl="0" eaLnBrk="1" fontAlgn="auto" latinLnBrk="0" hangingPunct="1">
              <a:spcBef>
                <a:spcPts val="0"/>
              </a:spcBef>
              <a:spcAft>
                <a:spcPts val="700"/>
              </a:spcAft>
              <a:buClrTx/>
              <a:buSzTx/>
              <a:buFont typeface="Arial" panose="020B0604020202020204" pitchFamily="34" charset="0"/>
              <a:buNone/>
              <a:tabLst/>
              <a:defRPr/>
            </a:pPr>
            <a:r>
              <a:rPr kumimoji="0" lang="en-US" sz="2500" b="0" i="0" u="none" strike="noStrike" kern="1200" cap="none" spc="0" normalizeH="0" baseline="0" noProof="0" dirty="0">
                <a:ln>
                  <a:noFill/>
                </a:ln>
                <a:solidFill>
                  <a:prstClr val="black"/>
                </a:solidFill>
                <a:effectLst/>
                <a:uLnTx/>
                <a:uFillTx/>
                <a:ea typeface="+mn-ea"/>
                <a:cs typeface="Calibri" panose="020F0502020204030204" pitchFamily="34" charset="0"/>
              </a:rPr>
              <a:t>Leaves</a:t>
            </a:r>
          </a:p>
          <a:p>
            <a:pPr marL="347472" marR="0" lvl="1" indent="-347472" algn="l" defTabSz="914400" rtl="0" eaLnBrk="1" fontAlgn="auto" latinLnBrk="0" hangingPunct="1">
              <a:spcBef>
                <a:spcPts val="0"/>
              </a:spcBef>
              <a:spcAft>
                <a:spcPts val="7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Transpiration causes water loss through stomata.</a:t>
            </a:r>
          </a:p>
          <a:p>
            <a:pPr marL="347472" marR="0" lvl="1" indent="-347472" algn="l" defTabSz="914400" rtl="0" eaLnBrk="1" fontAlgn="auto" latinLnBrk="0" hangingPunct="1">
              <a:spcBef>
                <a:spcPts val="0"/>
              </a:spcBef>
              <a:spcAft>
                <a:spcPts val="7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Water molecules that evaporate are replaced by water molecules from leaf veins.</a:t>
            </a:r>
          </a:p>
          <a:p>
            <a:pPr marL="347472" marR="0" lvl="1" indent="-347472" algn="l" defTabSz="914400" rtl="0" eaLnBrk="1" fontAlgn="auto" latinLnBrk="0" hangingPunct="1">
              <a:spcBef>
                <a:spcPts val="0"/>
              </a:spcBef>
              <a:spcAft>
                <a:spcPts val="7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Due to cohesion, </a:t>
            </a:r>
            <a:r>
              <a:rPr kumimoji="0" lang="en-US" sz="2200" b="0" i="0" u="none" strike="noStrike" kern="1200" cap="none" spc="0" normalizeH="0" baseline="0" noProof="0" dirty="0">
                <a:ln>
                  <a:noFill/>
                </a:ln>
                <a:solidFill>
                  <a:srgbClr val="000000"/>
                </a:solidFill>
                <a:effectLst/>
                <a:uLnTx/>
                <a:uFillTx/>
                <a:ea typeface="+mn-ea"/>
                <a:cs typeface="Calibri" panose="020F0502020204030204" pitchFamily="34" charset="0"/>
              </a:rPr>
              <a:t>transpiration</a:t>
            </a: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 exerts a pulling force (</a:t>
            </a:r>
            <a:r>
              <a:rPr kumimoji="0" lang="en-US" sz="2200" b="1" i="0" u="none" strike="noStrike" kern="1200" cap="none" spc="0" normalizeH="0" baseline="0" noProof="0" dirty="0">
                <a:ln>
                  <a:noFill/>
                </a:ln>
                <a:solidFill>
                  <a:prstClr val="black"/>
                </a:solidFill>
                <a:effectLst/>
                <a:uLnTx/>
                <a:uFillTx/>
                <a:ea typeface="+mn-ea"/>
                <a:cs typeface="Calibri" panose="020F0502020204030204" pitchFamily="34" charset="0"/>
              </a:rPr>
              <a:t>tension</a:t>
            </a: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 drawing water through the xylem to the leaf cells.</a:t>
            </a:r>
          </a:p>
          <a:p>
            <a:pPr marL="347472" marR="0" lvl="1" indent="-347472" algn="l" defTabSz="914400" rtl="0" eaLnBrk="1" fontAlgn="auto" latinLnBrk="0" hangingPunct="1">
              <a:spcBef>
                <a:spcPts val="0"/>
              </a:spcBef>
              <a:spcAft>
                <a:spcPts val="7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The waxy cuticle prevents water loss when stomata are closed.</a:t>
            </a:r>
          </a:p>
          <a:p>
            <a:pPr marL="0" marR="0" lvl="0" indent="0" algn="l" defTabSz="914400" rtl="0" eaLnBrk="1" fontAlgn="auto" latinLnBrk="0" hangingPunct="1">
              <a:spcBef>
                <a:spcPts val="0"/>
              </a:spcBef>
              <a:spcAft>
                <a:spcPts val="700"/>
              </a:spcAft>
              <a:buClrTx/>
              <a:buSzTx/>
              <a:buFont typeface="Arial" panose="020B0604020202020204" pitchFamily="34" charset="0"/>
              <a:buNone/>
              <a:tabLst/>
              <a:defRPr/>
            </a:pPr>
            <a:r>
              <a:rPr kumimoji="0" lang="en-US" sz="2500" b="0" i="0" u="none" strike="noStrike" kern="1200" cap="none" spc="0" normalizeH="0" baseline="0" noProof="0" dirty="0">
                <a:ln>
                  <a:noFill/>
                </a:ln>
                <a:solidFill>
                  <a:prstClr val="black"/>
                </a:solidFill>
                <a:effectLst/>
                <a:uLnTx/>
                <a:uFillTx/>
                <a:ea typeface="+mn-ea"/>
                <a:cs typeface="Calibri" panose="020F0502020204030204" pitchFamily="34" charset="0"/>
              </a:rPr>
              <a:t>Stem</a:t>
            </a:r>
          </a:p>
          <a:p>
            <a:pPr marL="347472" marR="0" lvl="1" indent="-347472" algn="l" defTabSz="914400" rtl="0" eaLnBrk="1" fontAlgn="auto" latinLnBrk="0" hangingPunct="1">
              <a:spcBef>
                <a:spcPts val="0"/>
              </a:spcBef>
              <a:spcAft>
                <a:spcPts val="7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Tension in xylem pulls the water column upward.</a:t>
            </a:r>
          </a:p>
          <a:p>
            <a:pPr marL="0" marR="0" lvl="0" indent="0" algn="l" defTabSz="914400" rtl="0" eaLnBrk="1" fontAlgn="auto" latinLnBrk="0" hangingPunct="1">
              <a:spcBef>
                <a:spcPts val="0"/>
              </a:spcBef>
              <a:spcAft>
                <a:spcPts val="700"/>
              </a:spcAft>
              <a:buClrTx/>
              <a:buSzTx/>
              <a:buFont typeface="Arial" panose="020B0604020202020204" pitchFamily="34" charset="0"/>
              <a:buNone/>
              <a:tabLst/>
              <a:defRPr/>
            </a:pPr>
            <a:r>
              <a:rPr kumimoji="0" lang="en-US" sz="2500" b="0" i="0" u="none" strike="noStrike" kern="1200" cap="none" spc="0" normalizeH="0" baseline="0" noProof="0" dirty="0">
                <a:ln>
                  <a:noFill/>
                </a:ln>
                <a:solidFill>
                  <a:prstClr val="black"/>
                </a:solidFill>
                <a:effectLst/>
                <a:uLnTx/>
                <a:uFillTx/>
                <a:ea typeface="+mn-ea"/>
                <a:cs typeface="Calibri" panose="020F0502020204030204" pitchFamily="34" charset="0"/>
              </a:rPr>
              <a:t>Roots</a:t>
            </a:r>
          </a:p>
          <a:p>
            <a:pPr marL="347472" marR="0" lvl="1" indent="-347472" algn="l" defTabSz="914400" rtl="0" eaLnBrk="1" fontAlgn="auto" latinLnBrk="0" hangingPunct="1">
              <a:spcBef>
                <a:spcPts val="0"/>
              </a:spcBef>
              <a:spcAft>
                <a:spcPts val="7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Water enters xylem passively by osmosis and is pulled upward due to tension in xylem.</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39</a:t>
            </a:fld>
            <a:endParaRPr lang="en-US" dirty="0"/>
          </a:p>
        </p:txBody>
      </p:sp>
    </p:spTree>
    <p:extLst>
      <p:ext uri="{BB962C8B-B14F-4D97-AF65-F5344CB8AC3E}">
        <p14:creationId xmlns:p14="http://schemas.microsoft.com/office/powerpoint/2010/main" val="9421602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0" y="18288"/>
            <a:ext cx="9144000" cy="1325880"/>
          </a:xfrm>
        </p:spPr>
        <p:txBody>
          <a:bodyPr/>
          <a:lstStyle/>
          <a:p>
            <a:r>
              <a:rPr lang="en-US" noProof="0" dirty="0"/>
              <a:t>Plant-Transpired Mist Rising from a Tropical Forest</a:t>
            </a:r>
            <a:endParaRPr lang="en-US" sz="1400" noProof="0" dirty="0"/>
          </a:p>
        </p:txBody>
      </p:sp>
      <p:pic>
        <p:nvPicPr>
          <p:cNvPr id="9" name="Picture 8" descr="Foggy, misty clouds moving above trees in the woods.">
            <a:extLst>
              <a:ext uri="{FF2B5EF4-FFF2-40B4-BE49-F238E27FC236}">
                <a16:creationId xmlns:a16="http://schemas.microsoft.com/office/drawing/2014/main" id="{3409F66B-09B5-BA50-617B-0D2D15E08A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800" y="1435918"/>
            <a:ext cx="6248400" cy="4570364"/>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3842436" y="6079877"/>
            <a:ext cx="1459128" cy="313852"/>
          </a:xfrm>
        </p:spPr>
        <p:txBody>
          <a:bodyPr/>
          <a:lstStyle/>
          <a:p>
            <a:pPr algn="ctr"/>
            <a:r>
              <a:rPr lang="en-US" sz="1200" noProof="0" dirty="0">
                <a:latin typeface="+mn-lt"/>
              </a:rPr>
              <a:t>Figure 25.15</a:t>
            </a:r>
          </a:p>
        </p:txBody>
      </p:sp>
      <p:sp>
        <p:nvSpPr>
          <p:cNvPr id="4" name="Text Placeholder 3">
            <a:extLst>
              <a:ext uri="{FF2B5EF4-FFF2-40B4-BE49-F238E27FC236}">
                <a16:creationId xmlns:a16="http://schemas.microsoft.com/office/drawing/2014/main" id="{050867F9-AED6-C603-AEFE-3D04EAA72F2E}"/>
              </a:ext>
            </a:extLst>
          </p:cNvPr>
          <p:cNvSpPr>
            <a:spLocks noGrp="1"/>
          </p:cNvSpPr>
          <p:nvPr>
            <p:ph type="body" sz="quarter" idx="16"/>
          </p:nvPr>
        </p:nvSpPr>
        <p:spPr/>
        <p:txBody>
          <a:bodyPr/>
          <a:lstStyle/>
          <a:p>
            <a:r>
              <a:rPr lang="en-US" i="1" dirty="0"/>
              <a:t>Adalberto Rios </a:t>
            </a:r>
            <a:r>
              <a:rPr lang="en-US" i="1" dirty="0" err="1"/>
              <a:t>Szalay</a:t>
            </a:r>
            <a:r>
              <a:rPr lang="en-US" i="1" dirty="0"/>
              <a:t>/Sexto Sol/</a:t>
            </a:r>
            <a:r>
              <a:rPr lang="en-US" i="1" dirty="0" err="1"/>
              <a:t>Stockbyte</a:t>
            </a:r>
            <a:r>
              <a:rPr lang="en-US" i="1" dirty="0"/>
              <a:t>/Getty Images</a:t>
            </a: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40</a:t>
            </a:fld>
            <a:endParaRPr lang="en-US" dirty="0"/>
          </a:p>
        </p:txBody>
      </p:sp>
    </p:spTree>
    <p:extLst>
      <p:ext uri="{BB962C8B-B14F-4D97-AF65-F5344CB8AC3E}">
        <p14:creationId xmlns:p14="http://schemas.microsoft.com/office/powerpoint/2010/main" val="21364728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CCF6C8D8-C9A9-CFA0-AB40-5D236265B58D}"/>
              </a:ext>
            </a:extLst>
          </p:cNvPr>
          <p:cNvSpPr>
            <a:spLocks noGrp="1"/>
          </p:cNvSpPr>
          <p:nvPr>
            <p:ph type="title"/>
          </p:nvPr>
        </p:nvSpPr>
        <p:spPr/>
        <p:txBody>
          <a:bodyPr/>
          <a:lstStyle/>
          <a:p>
            <a:r>
              <a:rPr lang="en-US" dirty="0"/>
              <a:t>Stomata Opening and Closing</a:t>
            </a:r>
          </a:p>
        </p:txBody>
      </p:sp>
      <p:sp>
        <p:nvSpPr>
          <p:cNvPr id="18" name="Content Placeholder 17">
            <a:extLst>
              <a:ext uri="{FF2B5EF4-FFF2-40B4-BE49-F238E27FC236}">
                <a16:creationId xmlns:a16="http://schemas.microsoft.com/office/drawing/2014/main" id="{595CFBBC-86F2-ADCE-2C65-5A178541CEFA}"/>
              </a:ext>
            </a:extLst>
          </p:cNvPr>
          <p:cNvSpPr>
            <a:spLocks noGrp="1"/>
          </p:cNvSpPr>
          <p:nvPr>
            <p:ph sz="quarter" idx="11"/>
          </p:nvPr>
        </p:nvSpPr>
        <p:spPr>
          <a:xfrm>
            <a:off x="762000" y="1001713"/>
            <a:ext cx="7607300" cy="1728787"/>
          </a:xfrm>
        </p:spPr>
        <p:txBody>
          <a:bodyPr/>
          <a:lstStyle/>
          <a:p>
            <a:pPr marL="0" marR="0" lvl="1"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Each </a:t>
            </a:r>
            <a:r>
              <a:rPr kumimoji="0" lang="en-US" sz="2600" b="1" i="0" u="none" strike="noStrike" kern="1200" cap="none" spc="0" normalizeH="0" baseline="0" noProof="0" dirty="0">
                <a:ln>
                  <a:noFill/>
                </a:ln>
                <a:solidFill>
                  <a:prstClr val="black"/>
                </a:solidFill>
                <a:effectLst/>
                <a:uLnTx/>
                <a:uFillTx/>
                <a:ea typeface="+mn-ea"/>
                <a:cs typeface="Calibri" panose="020F0502020204030204" pitchFamily="34" charset="0"/>
              </a:rPr>
              <a:t>stoma</a:t>
            </a: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 in a leaf epidermis is bordered by </a:t>
            </a:r>
            <a:r>
              <a:rPr kumimoji="0" lang="en-US" sz="2600" b="1" i="0" u="none" strike="noStrike" kern="1200" cap="none" spc="0" normalizeH="0" baseline="0" noProof="0" dirty="0">
                <a:ln>
                  <a:noFill/>
                </a:ln>
                <a:solidFill>
                  <a:srgbClr val="DB0F0F"/>
                </a:solidFill>
                <a:effectLst/>
                <a:uLnTx/>
                <a:uFillTx/>
                <a:ea typeface="+mn-ea"/>
                <a:cs typeface="Calibri" panose="020F0502020204030204" pitchFamily="34" charset="0"/>
              </a:rPr>
              <a:t>guard cells.</a:t>
            </a:r>
            <a:endParaRPr kumimoji="0" lang="en-US" sz="2600" b="0" i="0" u="none" strike="noStrike" kern="1200" cap="none" spc="0" normalizeH="0" baseline="0" noProof="0" dirty="0">
              <a:ln>
                <a:noFill/>
              </a:ln>
              <a:solidFill>
                <a:srgbClr val="DB0F0F"/>
              </a:solidFill>
              <a:effectLst/>
              <a:uLnTx/>
              <a:uFillTx/>
              <a:ea typeface="+mn-ea"/>
              <a:cs typeface="Calibri" panose="020F0502020204030204" pitchFamily="34" charset="0"/>
            </a:endParaRPr>
          </a:p>
          <a:p>
            <a:pPr marL="347472" marR="0" lvl="2" algn="l" defTabSz="914400" rtl="0" eaLnBrk="1" fontAlgn="auto" latinLnBrk="0" hangingPunct="1">
              <a:lnSpc>
                <a:spcPct val="100000"/>
              </a:lnSpc>
              <a:spcBef>
                <a:spcPts val="1200"/>
              </a:spcBef>
              <a:spcAft>
                <a:spcPts val="800"/>
              </a:spcAft>
              <a:buClrTx/>
              <a:buSzTx/>
              <a:buFont typeface="Arial" panose="020B0604020202020204" pitchFamily="34" charset="0"/>
              <a:buChar char="•"/>
              <a:tabLst>
                <a:tab pos="2333625" algn="l"/>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Increased turgor pressure in guard cells opens stoma.</a:t>
            </a:r>
          </a:p>
        </p:txBody>
      </p:sp>
      <p:sp>
        <p:nvSpPr>
          <p:cNvPr id="19" name="Content Placeholder 18">
            <a:extLst>
              <a:ext uri="{FF2B5EF4-FFF2-40B4-BE49-F238E27FC236}">
                <a16:creationId xmlns:a16="http://schemas.microsoft.com/office/drawing/2014/main" id="{564B372E-8866-4550-F1E8-5ACD6AA62027}"/>
              </a:ext>
            </a:extLst>
          </p:cNvPr>
          <p:cNvSpPr>
            <a:spLocks noGrp="1"/>
          </p:cNvSpPr>
          <p:nvPr>
            <p:ph sz="quarter" idx="14"/>
          </p:nvPr>
        </p:nvSpPr>
        <p:spPr>
          <a:xfrm>
            <a:off x="762000" y="2667396"/>
            <a:ext cx="2933700" cy="558404"/>
          </a:xfrm>
        </p:spPr>
        <p:txBody>
          <a:bodyPr/>
          <a:lstStyle/>
          <a:p>
            <a:pPr marL="347472" lvl="2">
              <a:tabLst>
                <a:tab pos="2333625" algn="l"/>
              </a:tabLst>
              <a:defRPr/>
            </a:pPr>
            <a:r>
              <a:rPr lang="en-US" dirty="0">
                <a:solidFill>
                  <a:prstClr val="black"/>
                </a:solidFill>
                <a:cs typeface="Calibri" panose="020F0502020204030204" pitchFamily="34" charset="0"/>
              </a:rPr>
              <a:t>Active transport of </a:t>
            </a:r>
          </a:p>
        </p:txBody>
      </p:sp>
      <p:graphicFrame>
        <p:nvGraphicFramePr>
          <p:cNvPr id="32" name="Object 31">
            <a:extLst>
              <a:ext uri="{FF2B5EF4-FFF2-40B4-BE49-F238E27FC236}">
                <a16:creationId xmlns:a16="http://schemas.microsoft.com/office/drawing/2014/main" id="{461A7C75-FFE5-7F27-2474-E46013167516}"/>
              </a:ext>
            </a:extLst>
          </p:cNvPr>
          <p:cNvGraphicFramePr>
            <a:graphicFrameLocks noChangeAspect="1"/>
          </p:cNvGraphicFramePr>
          <p:nvPr>
            <p:extLst>
              <p:ext uri="{D42A27DB-BD31-4B8C-83A1-F6EECF244321}">
                <p14:modId xmlns:p14="http://schemas.microsoft.com/office/powerpoint/2010/main" val="3432586138"/>
              </p:ext>
            </p:extLst>
          </p:nvPr>
        </p:nvGraphicFramePr>
        <p:xfrm>
          <a:off x="3556000" y="2705100"/>
          <a:ext cx="330200" cy="304800"/>
        </p:xfrm>
        <a:graphic>
          <a:graphicData uri="http://schemas.openxmlformats.org/presentationml/2006/ole">
            <mc:AlternateContent xmlns:mc="http://schemas.openxmlformats.org/markup-compatibility/2006">
              <mc:Choice xmlns:v="urn:schemas-microsoft-com:vml" Requires="v">
                <p:oleObj name="Equation" r:id="rId2" imgW="330120" imgH="304560" progId="Equation.DSMT4">
                  <p:embed/>
                </p:oleObj>
              </mc:Choice>
              <mc:Fallback>
                <p:oleObj name="Equation" r:id="rId2" imgW="330120" imgH="304560" progId="Equation.DSMT4">
                  <p:embed/>
                  <p:pic>
                    <p:nvPicPr>
                      <p:cNvPr id="0" name=""/>
                      <p:cNvPicPr/>
                      <p:nvPr/>
                    </p:nvPicPr>
                    <p:blipFill>
                      <a:blip r:embed="rId3"/>
                      <a:stretch>
                        <a:fillRect/>
                      </a:stretch>
                    </p:blipFill>
                    <p:spPr>
                      <a:xfrm>
                        <a:off x="3556000" y="2705100"/>
                        <a:ext cx="330200" cy="304800"/>
                      </a:xfrm>
                      <a:prstGeom prst="rect">
                        <a:avLst/>
                      </a:prstGeom>
                    </p:spPr>
                  </p:pic>
                </p:oleObj>
              </mc:Fallback>
            </mc:AlternateContent>
          </a:graphicData>
        </a:graphic>
      </p:graphicFrame>
      <p:sp>
        <p:nvSpPr>
          <p:cNvPr id="20" name="Content Placeholder 19">
            <a:extLst>
              <a:ext uri="{FF2B5EF4-FFF2-40B4-BE49-F238E27FC236}">
                <a16:creationId xmlns:a16="http://schemas.microsoft.com/office/drawing/2014/main" id="{4C0638A6-F73B-29B1-DFB3-54E9FB7100E2}"/>
              </a:ext>
            </a:extLst>
          </p:cNvPr>
          <p:cNvSpPr>
            <a:spLocks noGrp="1"/>
          </p:cNvSpPr>
          <p:nvPr>
            <p:ph sz="quarter" idx="15"/>
          </p:nvPr>
        </p:nvSpPr>
        <p:spPr>
          <a:xfrm>
            <a:off x="3873500" y="2667396"/>
            <a:ext cx="4394200" cy="495637"/>
          </a:xfrm>
        </p:spPr>
        <p:txBody>
          <a:bodyPr/>
          <a:lstStyle/>
          <a:p>
            <a:pPr marL="0" lvl="2" indent="0">
              <a:buNone/>
              <a:tabLst>
                <a:tab pos="2333625" algn="l"/>
              </a:tabLst>
              <a:defRPr/>
            </a:pPr>
            <a:r>
              <a:rPr lang="en-US" dirty="0">
                <a:solidFill>
                  <a:prstClr val="black"/>
                </a:solidFill>
                <a:cs typeface="Calibri" panose="020F0502020204030204" pitchFamily="34" charset="0"/>
              </a:rPr>
              <a:t>into guard cells causes water to </a:t>
            </a:r>
          </a:p>
        </p:txBody>
      </p:sp>
      <p:sp>
        <p:nvSpPr>
          <p:cNvPr id="21" name="Content Placeholder 20">
            <a:extLst>
              <a:ext uri="{FF2B5EF4-FFF2-40B4-BE49-F238E27FC236}">
                <a16:creationId xmlns:a16="http://schemas.microsoft.com/office/drawing/2014/main" id="{9E4C1815-53BD-CFF2-BEDE-640804708CDB}"/>
              </a:ext>
            </a:extLst>
          </p:cNvPr>
          <p:cNvSpPr>
            <a:spLocks noGrp="1"/>
          </p:cNvSpPr>
          <p:nvPr>
            <p:ph sz="quarter" idx="16"/>
          </p:nvPr>
        </p:nvSpPr>
        <p:spPr>
          <a:xfrm>
            <a:off x="1104900" y="2980654"/>
            <a:ext cx="5461000" cy="499146"/>
          </a:xfrm>
        </p:spPr>
        <p:txBody>
          <a:bodyPr/>
          <a:lstStyle/>
          <a:p>
            <a:pPr marL="0" lvl="2" indent="0">
              <a:buNone/>
              <a:tabLst>
                <a:tab pos="2333625" algn="l"/>
              </a:tabLst>
              <a:defRPr/>
            </a:pPr>
            <a:r>
              <a:rPr lang="en-US" dirty="0">
                <a:solidFill>
                  <a:prstClr val="black"/>
                </a:solidFill>
                <a:cs typeface="Calibri" panose="020F0502020204030204" pitchFamily="34" charset="0"/>
              </a:rPr>
              <a:t>enter by osmosis and stomata to open.</a:t>
            </a:r>
          </a:p>
        </p:txBody>
      </p:sp>
      <p:sp>
        <p:nvSpPr>
          <p:cNvPr id="22" name="Content Placeholder 21">
            <a:extLst>
              <a:ext uri="{FF2B5EF4-FFF2-40B4-BE49-F238E27FC236}">
                <a16:creationId xmlns:a16="http://schemas.microsoft.com/office/drawing/2014/main" id="{B527D7AE-D140-694B-0206-522E37DD7DDC}"/>
              </a:ext>
            </a:extLst>
          </p:cNvPr>
          <p:cNvSpPr>
            <a:spLocks noGrp="1"/>
          </p:cNvSpPr>
          <p:nvPr>
            <p:ph sz="quarter" idx="17"/>
          </p:nvPr>
        </p:nvSpPr>
        <p:spPr>
          <a:xfrm>
            <a:off x="762000" y="3542964"/>
            <a:ext cx="673100" cy="499146"/>
          </a:xfrm>
        </p:spPr>
        <p:txBody>
          <a:bodyPr/>
          <a:lstStyle/>
          <a:p>
            <a:pPr marL="347472" lvl="2">
              <a:tabLst>
                <a:tab pos="2333625" algn="l"/>
              </a:tabLst>
              <a:defRPr/>
            </a:pPr>
            <a:r>
              <a:rPr lang="en-US" dirty="0">
                <a:solidFill>
                  <a:prstClr val="black"/>
                </a:solidFill>
                <a:cs typeface="Calibri" panose="020F0502020204030204" pitchFamily="34" charset="0"/>
              </a:rPr>
              <a:t>  </a:t>
            </a:r>
          </a:p>
        </p:txBody>
      </p:sp>
      <p:graphicFrame>
        <p:nvGraphicFramePr>
          <p:cNvPr id="33" name="Object 32">
            <a:extLst>
              <a:ext uri="{FF2B5EF4-FFF2-40B4-BE49-F238E27FC236}">
                <a16:creationId xmlns:a16="http://schemas.microsoft.com/office/drawing/2014/main" id="{8A0C57CB-3E0A-F00A-9A7A-A7F04DEA83CE}"/>
              </a:ext>
            </a:extLst>
          </p:cNvPr>
          <p:cNvGraphicFramePr>
            <a:graphicFrameLocks noChangeAspect="1"/>
          </p:cNvGraphicFramePr>
          <p:nvPr>
            <p:extLst>
              <p:ext uri="{D42A27DB-BD31-4B8C-83A1-F6EECF244321}">
                <p14:modId xmlns:p14="http://schemas.microsoft.com/office/powerpoint/2010/main" val="1131187898"/>
              </p:ext>
            </p:extLst>
          </p:nvPr>
        </p:nvGraphicFramePr>
        <p:xfrm>
          <a:off x="1193800" y="3581400"/>
          <a:ext cx="317500" cy="304800"/>
        </p:xfrm>
        <a:graphic>
          <a:graphicData uri="http://schemas.openxmlformats.org/presentationml/2006/ole">
            <mc:AlternateContent xmlns:mc="http://schemas.openxmlformats.org/markup-compatibility/2006">
              <mc:Choice xmlns:v="urn:schemas-microsoft-com:vml" Requires="v">
                <p:oleObj name="Equation" r:id="rId4" imgW="317160" imgH="304560" progId="Equation.DSMT4">
                  <p:embed/>
                </p:oleObj>
              </mc:Choice>
              <mc:Fallback>
                <p:oleObj name="Equation" r:id="rId4" imgW="317160" imgH="304560" progId="Equation.DSMT4">
                  <p:embed/>
                  <p:pic>
                    <p:nvPicPr>
                      <p:cNvPr id="0" name=""/>
                      <p:cNvPicPr/>
                      <p:nvPr/>
                    </p:nvPicPr>
                    <p:blipFill>
                      <a:blip r:embed="rId5"/>
                      <a:stretch>
                        <a:fillRect/>
                      </a:stretch>
                    </p:blipFill>
                    <p:spPr>
                      <a:xfrm>
                        <a:off x="1193800" y="3581400"/>
                        <a:ext cx="317500" cy="304800"/>
                      </a:xfrm>
                      <a:prstGeom prst="rect">
                        <a:avLst/>
                      </a:prstGeom>
                    </p:spPr>
                  </p:pic>
                </p:oleObj>
              </mc:Fallback>
            </mc:AlternateContent>
          </a:graphicData>
        </a:graphic>
      </p:graphicFrame>
      <p:sp>
        <p:nvSpPr>
          <p:cNvPr id="23" name="Content Placeholder 22">
            <a:extLst>
              <a:ext uri="{FF2B5EF4-FFF2-40B4-BE49-F238E27FC236}">
                <a16:creationId xmlns:a16="http://schemas.microsoft.com/office/drawing/2014/main" id="{DC6E5060-2911-959A-6AB9-1FF9FF21D282}"/>
              </a:ext>
            </a:extLst>
          </p:cNvPr>
          <p:cNvSpPr>
            <a:spLocks noGrp="1"/>
          </p:cNvSpPr>
          <p:nvPr>
            <p:ph sz="quarter" idx="18"/>
          </p:nvPr>
        </p:nvSpPr>
        <p:spPr>
          <a:xfrm>
            <a:off x="1511300" y="3542964"/>
            <a:ext cx="5207000" cy="495637"/>
          </a:xfrm>
        </p:spPr>
        <p:txBody>
          <a:bodyPr/>
          <a:lstStyle/>
          <a:p>
            <a:pPr marL="0" lvl="2" indent="0">
              <a:buNone/>
              <a:tabLst>
                <a:tab pos="2333625" algn="l"/>
              </a:tabLst>
              <a:defRPr/>
            </a:pPr>
            <a:r>
              <a:rPr lang="en-US" dirty="0">
                <a:solidFill>
                  <a:prstClr val="black"/>
                </a:solidFill>
                <a:cs typeface="Calibri" panose="020F0502020204030204" pitchFamily="34" charset="0"/>
              </a:rPr>
              <a:t>ions accumulate outside guard cells as </a:t>
            </a:r>
          </a:p>
        </p:txBody>
      </p:sp>
      <p:graphicFrame>
        <p:nvGraphicFramePr>
          <p:cNvPr id="34" name="Object 33">
            <a:extLst>
              <a:ext uri="{FF2B5EF4-FFF2-40B4-BE49-F238E27FC236}">
                <a16:creationId xmlns:a16="http://schemas.microsoft.com/office/drawing/2014/main" id="{D5214647-BE4E-CEBF-3D9D-A25AFFFD3D62}"/>
              </a:ext>
            </a:extLst>
          </p:cNvPr>
          <p:cNvGraphicFramePr>
            <a:graphicFrameLocks noChangeAspect="1"/>
          </p:cNvGraphicFramePr>
          <p:nvPr>
            <p:extLst>
              <p:ext uri="{D42A27DB-BD31-4B8C-83A1-F6EECF244321}">
                <p14:modId xmlns:p14="http://schemas.microsoft.com/office/powerpoint/2010/main" val="4075096367"/>
              </p:ext>
            </p:extLst>
          </p:nvPr>
        </p:nvGraphicFramePr>
        <p:xfrm>
          <a:off x="6500813" y="3594100"/>
          <a:ext cx="330200" cy="304800"/>
        </p:xfrm>
        <a:graphic>
          <a:graphicData uri="http://schemas.openxmlformats.org/presentationml/2006/ole">
            <mc:AlternateContent xmlns:mc="http://schemas.openxmlformats.org/markup-compatibility/2006">
              <mc:Choice xmlns:v="urn:schemas-microsoft-com:vml" Requires="v">
                <p:oleObj name="Equation" r:id="rId6" imgW="330120" imgH="304560" progId="Equation.DSMT4">
                  <p:embed/>
                </p:oleObj>
              </mc:Choice>
              <mc:Fallback>
                <p:oleObj name="Equation" r:id="rId6" imgW="330120" imgH="304560" progId="Equation.DSMT4">
                  <p:embed/>
                  <p:pic>
                    <p:nvPicPr>
                      <p:cNvPr id="0" name=""/>
                      <p:cNvPicPr/>
                      <p:nvPr/>
                    </p:nvPicPr>
                    <p:blipFill>
                      <a:blip r:embed="rId7"/>
                      <a:stretch>
                        <a:fillRect/>
                      </a:stretch>
                    </p:blipFill>
                    <p:spPr>
                      <a:xfrm>
                        <a:off x="6500813" y="3594100"/>
                        <a:ext cx="330200" cy="304800"/>
                      </a:xfrm>
                      <a:prstGeom prst="rect">
                        <a:avLst/>
                      </a:prstGeom>
                    </p:spPr>
                  </p:pic>
                </p:oleObj>
              </mc:Fallback>
            </mc:AlternateContent>
          </a:graphicData>
        </a:graphic>
      </p:graphicFrame>
      <p:sp>
        <p:nvSpPr>
          <p:cNvPr id="24" name="Content Placeholder 23">
            <a:extLst>
              <a:ext uri="{FF2B5EF4-FFF2-40B4-BE49-F238E27FC236}">
                <a16:creationId xmlns:a16="http://schemas.microsoft.com/office/drawing/2014/main" id="{3A5B1AE1-6107-E770-ACA3-78B2CFDAB279}"/>
              </a:ext>
            </a:extLst>
          </p:cNvPr>
          <p:cNvSpPr>
            <a:spLocks noGrp="1"/>
          </p:cNvSpPr>
          <p:nvPr>
            <p:ph sz="quarter" idx="21"/>
          </p:nvPr>
        </p:nvSpPr>
        <p:spPr>
          <a:xfrm>
            <a:off x="6781800" y="3542964"/>
            <a:ext cx="1600200" cy="495637"/>
          </a:xfrm>
        </p:spPr>
        <p:txBody>
          <a:bodyPr/>
          <a:lstStyle/>
          <a:p>
            <a:pPr marL="0" lvl="2" indent="0">
              <a:buNone/>
              <a:tabLst>
                <a:tab pos="2333625" algn="l"/>
              </a:tabLst>
              <a:defRPr/>
            </a:pPr>
            <a:r>
              <a:rPr lang="en-US" dirty="0">
                <a:solidFill>
                  <a:prstClr val="black"/>
                </a:solidFill>
                <a:cs typeface="Calibri" panose="020F0502020204030204" pitchFamily="34" charset="0"/>
              </a:rPr>
              <a:t>moves in.</a:t>
            </a:r>
          </a:p>
        </p:txBody>
      </p:sp>
      <p:sp>
        <p:nvSpPr>
          <p:cNvPr id="25" name="Content Placeholder 24">
            <a:extLst>
              <a:ext uri="{FF2B5EF4-FFF2-40B4-BE49-F238E27FC236}">
                <a16:creationId xmlns:a16="http://schemas.microsoft.com/office/drawing/2014/main" id="{A9A2F4D5-51D7-9F6D-258B-BC66E25EE8F4}"/>
              </a:ext>
            </a:extLst>
          </p:cNvPr>
          <p:cNvSpPr>
            <a:spLocks noGrp="1"/>
          </p:cNvSpPr>
          <p:nvPr>
            <p:ph sz="quarter" idx="22"/>
          </p:nvPr>
        </p:nvSpPr>
        <p:spPr>
          <a:xfrm>
            <a:off x="762000" y="4177965"/>
            <a:ext cx="7620000" cy="1293367"/>
          </a:xfrm>
        </p:spPr>
        <p:txBody>
          <a:bodyPr/>
          <a:lstStyle/>
          <a:p>
            <a:pPr marL="347472" lvl="2">
              <a:tabLst>
                <a:tab pos="2333625" algn="l"/>
              </a:tabLst>
              <a:defRPr/>
            </a:pPr>
            <a:r>
              <a:rPr lang="en-US" dirty="0">
                <a:solidFill>
                  <a:prstClr val="black"/>
                </a:solidFill>
                <a:cs typeface="Calibri" panose="020F0502020204030204" pitchFamily="34" charset="0"/>
              </a:rPr>
              <a:t>Opening and closing of stomata are regulated by light.</a:t>
            </a:r>
          </a:p>
          <a:p>
            <a:pPr marL="347472" lvl="2">
              <a:tabLst>
                <a:tab pos="2333625" algn="l"/>
              </a:tabLst>
              <a:defRPr/>
            </a:pPr>
            <a:r>
              <a:rPr lang="en-US" dirty="0">
                <a:solidFill>
                  <a:prstClr val="black"/>
                </a:solidFill>
                <a:cs typeface="Calibri" panose="020F0502020204030204" pitchFamily="34" charset="0"/>
              </a:rPr>
              <a:t>A</a:t>
            </a:r>
            <a:r>
              <a:rPr lang="en-US" sz="100" dirty="0">
                <a:solidFill>
                  <a:prstClr val="black"/>
                </a:solidFill>
                <a:cs typeface="Calibri" panose="020F0502020204030204" pitchFamily="34" charset="0"/>
              </a:rPr>
              <a:t> </a:t>
            </a:r>
            <a:r>
              <a:rPr lang="en-US" dirty="0">
                <a:solidFill>
                  <a:prstClr val="black"/>
                </a:solidFill>
                <a:cs typeface="Calibri" panose="020F0502020204030204" pitchFamily="34" charset="0"/>
              </a:rPr>
              <a:t>B</a:t>
            </a:r>
            <a:r>
              <a:rPr lang="en-US" sz="100" dirty="0">
                <a:solidFill>
                  <a:prstClr val="black"/>
                </a:solidFill>
                <a:cs typeface="Calibri" panose="020F0502020204030204" pitchFamily="34" charset="0"/>
              </a:rPr>
              <a:t> </a:t>
            </a:r>
            <a:r>
              <a:rPr lang="en-US" dirty="0">
                <a:solidFill>
                  <a:prstClr val="black"/>
                </a:solidFill>
                <a:cs typeface="Calibri" panose="020F0502020204030204" pitchFamily="34" charset="0"/>
              </a:rPr>
              <a:t>A (abscisic acid) can also cause stomata to close.</a:t>
            </a:r>
          </a:p>
        </p:txBody>
      </p:sp>
      <p:sp>
        <p:nvSpPr>
          <p:cNvPr id="7" name="Slide Number Placeholder 6">
            <a:extLst>
              <a:ext uri="{FF2B5EF4-FFF2-40B4-BE49-F238E27FC236}">
                <a16:creationId xmlns:a16="http://schemas.microsoft.com/office/drawing/2014/main" id="{4D29AC04-2869-5306-E06D-13C62D412454}"/>
              </a:ext>
            </a:extLst>
          </p:cNvPr>
          <p:cNvSpPr>
            <a:spLocks noGrp="1"/>
          </p:cNvSpPr>
          <p:nvPr>
            <p:ph type="sldNum" sz="quarter" idx="10"/>
          </p:nvPr>
        </p:nvSpPr>
        <p:spPr/>
        <p:txBody>
          <a:bodyPr/>
          <a:lstStyle/>
          <a:p>
            <a:fld id="{68151E55-6873-49E2-B8D5-2F265E6F1973}" type="slidenum">
              <a:rPr lang="en-US" smtClean="0"/>
              <a:t>41</a:t>
            </a:fld>
            <a:endParaRPr lang="en-US" dirty="0"/>
          </a:p>
        </p:txBody>
      </p:sp>
    </p:spTree>
    <p:extLst>
      <p:ext uri="{BB962C8B-B14F-4D97-AF65-F5344CB8AC3E}">
        <p14:creationId xmlns:p14="http://schemas.microsoft.com/office/powerpoint/2010/main" val="26098250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0" y="18288"/>
            <a:ext cx="9144000" cy="923544"/>
          </a:xfrm>
        </p:spPr>
        <p:txBody>
          <a:bodyPr/>
          <a:lstStyle/>
          <a:p>
            <a:r>
              <a:rPr lang="en-US" noProof="0" dirty="0"/>
              <a:t>Opening and Closing of Stomata</a:t>
            </a:r>
            <a:endParaRPr lang="en-US" sz="1400" noProof="0" dirty="0"/>
          </a:p>
        </p:txBody>
      </p:sp>
      <p:pic>
        <p:nvPicPr>
          <p:cNvPr id="8" name="Picture 7" descr="Two sets of illustrations and micrographs in part (a) and (b) show open and closed stoma.">
            <a:extLst>
              <a:ext uri="{FF2B5EF4-FFF2-40B4-BE49-F238E27FC236}">
                <a16:creationId xmlns:a16="http://schemas.microsoft.com/office/drawing/2014/main" id="{C0CD6F9D-BCAB-F74F-30F6-390EAB0AA8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46" y="894834"/>
            <a:ext cx="6095909" cy="5142180"/>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3842436" y="6079877"/>
            <a:ext cx="1459128" cy="313852"/>
          </a:xfrm>
        </p:spPr>
        <p:txBody>
          <a:bodyPr/>
          <a:lstStyle/>
          <a:p>
            <a:pPr algn="ctr"/>
            <a:r>
              <a:rPr lang="en-US" sz="1200" noProof="0" dirty="0">
                <a:latin typeface="+mn-lt"/>
              </a:rPr>
              <a:t>Figure 25.16</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a:xfrm>
            <a:off x="3374136" y="6389433"/>
            <a:ext cx="2404872" cy="192024"/>
          </a:xfrm>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4" name="Text Placeholder 3">
            <a:extLst>
              <a:ext uri="{FF2B5EF4-FFF2-40B4-BE49-F238E27FC236}">
                <a16:creationId xmlns:a16="http://schemas.microsoft.com/office/drawing/2014/main" id="{050867F9-AED6-C603-AEFE-3D04EAA72F2E}"/>
              </a:ext>
            </a:extLst>
          </p:cNvPr>
          <p:cNvSpPr>
            <a:spLocks noGrp="1"/>
          </p:cNvSpPr>
          <p:nvPr>
            <p:ph type="body" sz="quarter" idx="16"/>
          </p:nvPr>
        </p:nvSpPr>
        <p:spPr/>
        <p:txBody>
          <a:bodyPr/>
          <a:lstStyle/>
          <a:p>
            <a:r>
              <a:rPr lang="en-US" i="1" dirty="0"/>
              <a:t>(both photos): Dr. Jeremy Burgess/Science Source</a:t>
            </a: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42</a:t>
            </a:fld>
            <a:endParaRPr lang="en-US" dirty="0"/>
          </a:p>
        </p:txBody>
      </p:sp>
    </p:spTree>
    <p:extLst>
      <p:ext uri="{BB962C8B-B14F-4D97-AF65-F5344CB8AC3E}">
        <p14:creationId xmlns:p14="http://schemas.microsoft.com/office/powerpoint/2010/main" val="4074186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517588" y="18288"/>
            <a:ext cx="8108824" cy="923544"/>
          </a:xfrm>
        </p:spPr>
        <p:txBody>
          <a:bodyPr/>
          <a:lstStyle/>
          <a:p>
            <a:r>
              <a:rPr lang="en-US" noProof="0" dirty="0"/>
              <a:t>Role of Phloem</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750"/>
            <a:ext cx="7480300" cy="5491949"/>
          </a:xfrm>
        </p:spPr>
        <p:txBody>
          <a:bodyPr/>
          <a:lstStyle/>
          <a:p>
            <a:pPr marL="0" marR="0" lvl="1" indent="0" algn="l" defTabSz="914400" rtl="0" eaLnBrk="1" fontAlgn="auto" latinLnBrk="0" hangingPunct="1">
              <a:spcBef>
                <a:spcPts val="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Phloem transports sugar.</a:t>
            </a:r>
          </a:p>
          <a:p>
            <a:pPr marL="0" marR="0" lvl="1" indent="0" algn="l" defTabSz="914400" rtl="0" eaLnBrk="1" fontAlgn="auto" latinLnBrk="0" hangingPunct="1">
              <a:spcBef>
                <a:spcPts val="12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Phloem sap doesn’t only move upward or downward as xylem does.</a:t>
            </a:r>
          </a:p>
          <a:p>
            <a:pPr marL="0" marR="0" lvl="1" indent="0" algn="l" defTabSz="914400" rtl="0" eaLnBrk="1" fontAlgn="auto" latinLnBrk="0" hangingPunct="1">
              <a:spcBef>
                <a:spcPts val="1200"/>
              </a:spcBef>
              <a:spcAft>
                <a:spcPts val="0"/>
              </a:spcAft>
              <a:buClr>
                <a:srgbClr val="000000"/>
              </a:buClr>
              <a:buSzTx/>
              <a:buFont typeface="Arial" panose="020B0604020202020204" pitchFamily="34" charset="0"/>
              <a:buNone/>
              <a:tabLst/>
              <a:defRPr/>
            </a:pPr>
            <a:r>
              <a:rPr kumimoji="0" lang="en-US" sz="2600" b="1" i="0" u="none" strike="noStrike" kern="1200" cap="none" spc="0" normalizeH="0" baseline="0" noProof="0" dirty="0">
                <a:ln>
                  <a:noFill/>
                </a:ln>
                <a:solidFill>
                  <a:srgbClr val="DB0F0F"/>
                </a:solidFill>
                <a:effectLst/>
                <a:uLnTx/>
                <a:uFillTx/>
                <a:ea typeface="+mn-ea"/>
                <a:cs typeface="Calibri" panose="020F0502020204030204" pitchFamily="34" charset="0"/>
              </a:rPr>
              <a:t>Girdling</a:t>
            </a: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 of tree below the level of leaves causes bark to swell just above the cut.</a:t>
            </a:r>
          </a:p>
          <a:p>
            <a:pPr marL="347472" marR="0" lvl="2" algn="l" defTabSz="914400" rtl="0" eaLnBrk="1" fontAlgn="auto" latinLnBrk="0" hangingPunct="1">
              <a:spcBef>
                <a:spcPts val="1200"/>
              </a:spcBef>
              <a:spcAft>
                <a:spcPts val="800"/>
              </a:spcAft>
              <a:buClrTx/>
              <a:buSzTx/>
              <a:buFont typeface="Arial" panose="020B0604020202020204" pitchFamily="34" charset="0"/>
              <a:buChar char="•"/>
              <a:tabLst>
                <a:tab pos="2508250" algn="l"/>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Sugar accumulates in the swollen tissue.</a:t>
            </a:r>
          </a:p>
          <a:p>
            <a:pPr marL="0" marR="0" lvl="1" indent="0" algn="l" defTabSz="914400" rtl="0" eaLnBrk="1" fontAlgn="auto" latinLnBrk="0" hangingPunct="1">
              <a:spcBef>
                <a:spcPts val="12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Travels from </a:t>
            </a:r>
            <a:r>
              <a:rPr kumimoji="0" lang="en-US" sz="2600" b="1" i="0" u="none" strike="noStrike" kern="1200" cap="none" spc="0" normalizeH="0" baseline="0" noProof="0" dirty="0">
                <a:ln>
                  <a:noFill/>
                </a:ln>
                <a:solidFill>
                  <a:srgbClr val="DB0F0F"/>
                </a:solidFill>
                <a:effectLst/>
                <a:uLnTx/>
                <a:uFillTx/>
                <a:ea typeface="+mn-ea"/>
                <a:cs typeface="Calibri" panose="020F0502020204030204" pitchFamily="34" charset="0"/>
              </a:rPr>
              <a:t>source</a:t>
            </a: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 (sugar’s origin) to </a:t>
            </a:r>
            <a:r>
              <a:rPr kumimoji="0" lang="en-US" sz="2600" b="1" i="0" u="none" strike="noStrike" kern="1200" cap="none" spc="0" normalizeH="0" baseline="0" noProof="0" dirty="0">
                <a:ln>
                  <a:noFill/>
                </a:ln>
                <a:solidFill>
                  <a:srgbClr val="DB0F0F"/>
                </a:solidFill>
                <a:effectLst/>
                <a:uLnTx/>
                <a:uFillTx/>
                <a:ea typeface="+mn-ea"/>
                <a:cs typeface="Calibri" panose="020F0502020204030204" pitchFamily="34" charset="0"/>
              </a:rPr>
              <a:t>sink</a:t>
            </a: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 (sugars are unloaded).</a:t>
            </a:r>
          </a:p>
          <a:p>
            <a:pPr marL="0" marR="0" lvl="1" indent="0" algn="l" defTabSz="914400" rtl="0" eaLnBrk="1" fontAlgn="auto" latinLnBrk="0" hangingPunct="1">
              <a:spcBef>
                <a:spcPts val="12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Radioactive tracer studies confirm that phloem transports organic nutrients.</a:t>
            </a:r>
          </a:p>
          <a:p>
            <a:pPr marL="347472" marR="0" lvl="2" algn="l" defTabSz="914400" rtl="0" eaLnBrk="1" fontAlgn="auto" latinLnBrk="0" hangingPunct="1">
              <a:spcBef>
                <a:spcPts val="1200"/>
              </a:spcBef>
              <a:spcAft>
                <a:spcPts val="800"/>
              </a:spcAft>
              <a:buClrTx/>
              <a:buSzTx/>
              <a:buFont typeface="Arial" panose="020B0604020202020204" pitchFamily="34" charset="0"/>
              <a:buChar char="•"/>
              <a:tabLst>
                <a:tab pos="2508250" algn="l"/>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Phloem sap can be collected using aphids.</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43</a:t>
            </a:fld>
            <a:endParaRPr lang="en-US" dirty="0"/>
          </a:p>
        </p:txBody>
      </p:sp>
    </p:spTree>
    <p:extLst>
      <p:ext uri="{BB962C8B-B14F-4D97-AF65-F5344CB8AC3E}">
        <p14:creationId xmlns:p14="http://schemas.microsoft.com/office/powerpoint/2010/main" val="41000436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0" y="18288"/>
            <a:ext cx="9144000" cy="1325880"/>
          </a:xfrm>
        </p:spPr>
        <p:txBody>
          <a:bodyPr/>
          <a:lstStyle/>
          <a:p>
            <a:r>
              <a:rPr lang="en-US" sz="3800" noProof="0" dirty="0"/>
              <a:t>The Movement of Phloem from Source to Sink</a:t>
            </a:r>
          </a:p>
        </p:txBody>
      </p:sp>
      <p:pic>
        <p:nvPicPr>
          <p:cNvPr id="9" name="Picture 8" descr="A plant shows young leaves on top and roots labeled sink and the older leaves labeled source. Sap in phloem moves to sink up and down from the source.">
            <a:extLst>
              <a:ext uri="{FF2B5EF4-FFF2-40B4-BE49-F238E27FC236}">
                <a16:creationId xmlns:a16="http://schemas.microsoft.com/office/drawing/2014/main" id="{BF602C80-441C-547D-01B4-9E388DF703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3943" y="1255267"/>
            <a:ext cx="3156115" cy="5283958"/>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6204636" y="6302301"/>
            <a:ext cx="1459128" cy="313852"/>
          </a:xfrm>
        </p:spPr>
        <p:txBody>
          <a:bodyPr/>
          <a:lstStyle/>
          <a:p>
            <a:pPr algn="ctr"/>
            <a:r>
              <a:rPr lang="en-US" sz="1200" noProof="0" dirty="0">
                <a:latin typeface="+mn-lt"/>
              </a:rPr>
              <a:t>Figure 25.17</a:t>
            </a: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44</a:t>
            </a:fld>
            <a:endParaRPr lang="en-US" dirty="0"/>
          </a:p>
        </p:txBody>
      </p:sp>
    </p:spTree>
    <p:extLst>
      <p:ext uri="{BB962C8B-B14F-4D97-AF65-F5344CB8AC3E}">
        <p14:creationId xmlns:p14="http://schemas.microsoft.com/office/powerpoint/2010/main" val="10114552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0" y="18288"/>
            <a:ext cx="9144000" cy="1325880"/>
          </a:xfrm>
        </p:spPr>
        <p:txBody>
          <a:bodyPr/>
          <a:lstStyle/>
          <a:p>
            <a:r>
              <a:rPr lang="en-US" sz="3600" dirty="0"/>
              <a:t>Sucrose Loading Is Dependent on a H</a:t>
            </a:r>
            <a:r>
              <a:rPr lang="en-US" sz="3600" baseline="30000" dirty="0"/>
              <a:t>+</a:t>
            </a:r>
            <a:r>
              <a:rPr lang="en-US" sz="3600" dirty="0"/>
              <a:t> Ion Gradient</a:t>
            </a:r>
          </a:p>
        </p:txBody>
      </p:sp>
      <p:pic>
        <p:nvPicPr>
          <p:cNvPr id="8" name="Picture 7" descr="An illustration shows a bilayer plasma membrane separating low H plus concentration sieve-tube cell from high H plus concentration mesophyll cell.">
            <a:extLst>
              <a:ext uri="{FF2B5EF4-FFF2-40B4-BE49-F238E27FC236}">
                <a16:creationId xmlns:a16="http://schemas.microsoft.com/office/drawing/2014/main" id="{26533D69-553F-CDDA-75CF-A85D7BFD2F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9550" y="1311569"/>
            <a:ext cx="5804900" cy="4707580"/>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3842436" y="6079877"/>
            <a:ext cx="1459128" cy="313852"/>
          </a:xfrm>
        </p:spPr>
        <p:txBody>
          <a:bodyPr/>
          <a:lstStyle/>
          <a:p>
            <a:pPr algn="ctr"/>
            <a:r>
              <a:rPr lang="en-US" sz="1200" noProof="0" dirty="0">
                <a:latin typeface="+mn-lt"/>
              </a:rPr>
              <a:t>Figure 25.18</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a:xfrm>
            <a:off x="3374136" y="6389433"/>
            <a:ext cx="2404872" cy="192024"/>
          </a:xfrm>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45</a:t>
            </a:fld>
            <a:endParaRPr lang="en-US" dirty="0"/>
          </a:p>
        </p:txBody>
      </p:sp>
    </p:spTree>
    <p:extLst>
      <p:ext uri="{BB962C8B-B14F-4D97-AF65-F5344CB8AC3E}">
        <p14:creationId xmlns:p14="http://schemas.microsoft.com/office/powerpoint/2010/main" val="29104099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0" y="18288"/>
            <a:ext cx="9144000" cy="1325880"/>
          </a:xfrm>
        </p:spPr>
        <p:txBody>
          <a:bodyPr/>
          <a:lstStyle/>
          <a:p>
            <a:r>
              <a:rPr lang="en-US" sz="3800" noProof="0" dirty="0"/>
              <a:t>Phloem Transport and Pressure-Flow Model</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1315250"/>
            <a:ext cx="7493000" cy="5361869"/>
          </a:xfrm>
        </p:spPr>
        <p:txBody>
          <a:bodyPr/>
          <a:lstStyle/>
          <a:p>
            <a:pPr marL="0" marR="0" lvl="1" indent="0" algn="l" defTabSz="914400" rtl="0" eaLnBrk="1" fontAlgn="auto" latinLnBrk="0" hangingPunct="1">
              <a:spcBef>
                <a:spcPts val="0"/>
              </a:spcBef>
              <a:spcAft>
                <a:spcPts val="150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Sieve tubes form a continuous pathway for organic nutrient transport.</a:t>
            </a:r>
          </a:p>
          <a:p>
            <a:pPr marL="347472" marR="0" lvl="2" algn="l" defTabSz="914400" rtl="0" eaLnBrk="1" fontAlgn="auto" latinLnBrk="0" hangingPunct="1">
              <a:spcBef>
                <a:spcPts val="0"/>
              </a:spcBef>
              <a:spcAft>
                <a:spcPts val="10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Sieve-tube members are aligned end to end.</a:t>
            </a:r>
          </a:p>
          <a:p>
            <a:pPr marL="347472" marR="0" lvl="2" algn="l" defTabSz="914400" rtl="0" eaLnBrk="1" fontAlgn="auto" latinLnBrk="0" hangingPunct="1">
              <a:spcBef>
                <a:spcPts val="0"/>
              </a:spcBef>
              <a:spcAft>
                <a:spcPts val="10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Strands of plasmodesmata extend through sieve plates between sieve-tube members.</a:t>
            </a:r>
          </a:p>
          <a:p>
            <a:pPr marL="0" marR="0" lvl="1" indent="0" algn="l" defTabSz="914400" rtl="0" eaLnBrk="1" fontAlgn="auto" latinLnBrk="0" hangingPunct="1">
              <a:spcBef>
                <a:spcPts val="0"/>
              </a:spcBef>
              <a:spcAft>
                <a:spcPts val="150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Positive pressure drives the movement of sap in sieve tubes.</a:t>
            </a:r>
          </a:p>
          <a:p>
            <a:pPr marL="347472" marR="0" lvl="2" algn="l" defTabSz="914400" rtl="0" eaLnBrk="1" fontAlgn="auto" latinLnBrk="0" hangingPunct="1">
              <a:spcBef>
                <a:spcPts val="0"/>
              </a:spcBef>
              <a:spcAft>
                <a:spcPts val="10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Sucrose is actively transported into phloem at the leaves.</a:t>
            </a:r>
          </a:p>
          <a:p>
            <a:pPr marL="347472" marR="0" lvl="2" algn="l" defTabSz="914400" rtl="0" eaLnBrk="1" fontAlgn="auto" latinLnBrk="0" hangingPunct="1">
              <a:spcBef>
                <a:spcPts val="0"/>
              </a:spcBef>
              <a:spcAft>
                <a:spcPts val="10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Water follows by osmosis, creating positive </a:t>
            </a:r>
            <a:r>
              <a:rPr kumimoji="0" lang="en-US" sz="2200" b="1" i="0" u="none" strike="noStrike" kern="1200" cap="none" spc="0" normalizeH="0" baseline="0" noProof="0" dirty="0">
                <a:ln>
                  <a:noFill/>
                </a:ln>
                <a:solidFill>
                  <a:prstClr val="black"/>
                </a:solidFill>
                <a:effectLst/>
                <a:uLnTx/>
                <a:uFillTx/>
                <a:ea typeface="+mn-ea"/>
                <a:cs typeface="Calibri" panose="020F0502020204030204" pitchFamily="34" charset="0"/>
              </a:rPr>
              <a:t>pressure.</a:t>
            </a:r>
            <a:endPar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endParaRPr>
          </a:p>
          <a:p>
            <a:pPr marL="347472" marR="0" lvl="2" algn="l" defTabSz="914400" rtl="0" eaLnBrk="1" fontAlgn="auto" latinLnBrk="0" hangingPunct="1">
              <a:spcBef>
                <a:spcPts val="0"/>
              </a:spcBef>
              <a:spcAft>
                <a:spcPts val="10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The increase in pressure causes flow that moves water and sucrose from the </a:t>
            </a:r>
            <a:r>
              <a:rPr kumimoji="0" lang="en-US" sz="2200" b="0" i="0" u="none" strike="noStrike" kern="1200" cap="none" spc="0" normalizeH="0" baseline="0" noProof="0" dirty="0">
                <a:ln>
                  <a:noFill/>
                </a:ln>
                <a:solidFill>
                  <a:srgbClr val="000000"/>
                </a:solidFill>
                <a:effectLst/>
                <a:uLnTx/>
                <a:uFillTx/>
                <a:ea typeface="+mn-ea"/>
                <a:cs typeface="Calibri" panose="020F0502020204030204" pitchFamily="34" charset="0"/>
              </a:rPr>
              <a:t>source</a:t>
            </a: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 to the </a:t>
            </a:r>
            <a:r>
              <a:rPr kumimoji="0" lang="en-US" sz="2200" b="0" i="0" u="none" strike="noStrike" kern="1200" cap="none" spc="0" normalizeH="0" baseline="0" noProof="0" dirty="0">
                <a:ln>
                  <a:noFill/>
                </a:ln>
                <a:solidFill>
                  <a:srgbClr val="000000"/>
                </a:solidFill>
                <a:effectLst/>
                <a:uLnTx/>
                <a:uFillTx/>
                <a:ea typeface="+mn-ea"/>
                <a:cs typeface="Calibri" panose="020F0502020204030204" pitchFamily="34" charset="0"/>
              </a:rPr>
              <a:t>sink</a:t>
            </a: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46</a:t>
            </a:fld>
            <a:endParaRPr lang="en-US" dirty="0"/>
          </a:p>
        </p:txBody>
      </p:sp>
    </p:spTree>
    <p:extLst>
      <p:ext uri="{BB962C8B-B14F-4D97-AF65-F5344CB8AC3E}">
        <p14:creationId xmlns:p14="http://schemas.microsoft.com/office/powerpoint/2010/main" val="30146032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0" y="18288"/>
            <a:ext cx="4780864" cy="1920240"/>
          </a:xfrm>
        </p:spPr>
        <p:txBody>
          <a:bodyPr/>
          <a:lstStyle/>
          <a:p>
            <a:r>
              <a:rPr lang="en-US" noProof="0" dirty="0"/>
              <a:t>Pressure-Flow Model of Phloem Transport</a:t>
            </a:r>
            <a:endParaRPr lang="en-US" sz="1400" noProof="0" dirty="0"/>
          </a:p>
        </p:txBody>
      </p:sp>
      <p:pic>
        <p:nvPicPr>
          <p:cNvPr id="8" name="Picture 7" descr="An illustration shows the cross-section of a root, a leaf, and xylem and phloem to describe pressure-flow model in phloem.">
            <a:extLst>
              <a:ext uri="{FF2B5EF4-FFF2-40B4-BE49-F238E27FC236}">
                <a16:creationId xmlns:a16="http://schemas.microsoft.com/office/drawing/2014/main" id="{DA9D06F5-56AD-0A76-DFF3-68641FA45D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9518" y="18288"/>
            <a:ext cx="3092733" cy="6371145"/>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3969436" y="6079877"/>
            <a:ext cx="4082364" cy="313852"/>
          </a:xfrm>
        </p:spPr>
        <p:txBody>
          <a:bodyPr/>
          <a:lstStyle/>
          <a:p>
            <a:r>
              <a:rPr lang="en-US" sz="1200" noProof="0" dirty="0">
                <a:latin typeface="+mn-lt"/>
              </a:rPr>
              <a:t>Figure 25.19</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a:xfrm>
            <a:off x="3374136" y="6389433"/>
            <a:ext cx="2404872" cy="192024"/>
          </a:xfrm>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47</a:t>
            </a:fld>
            <a:endParaRPr lang="en-US" dirty="0"/>
          </a:p>
        </p:txBody>
      </p:sp>
    </p:spTree>
    <p:extLst>
      <p:ext uri="{BB962C8B-B14F-4D97-AF65-F5344CB8AC3E}">
        <p14:creationId xmlns:p14="http://schemas.microsoft.com/office/powerpoint/2010/main" val="16411093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0" y="18288"/>
            <a:ext cx="9144000" cy="923544"/>
          </a:xfrm>
        </p:spPr>
        <p:txBody>
          <a:bodyPr/>
          <a:lstStyle/>
          <a:p>
            <a:r>
              <a:rPr lang="en-US" sz="3800" noProof="0" dirty="0"/>
              <a:t>Acquiring Phloem Sap</a:t>
            </a:r>
          </a:p>
        </p:txBody>
      </p:sp>
      <p:pic>
        <p:nvPicPr>
          <p:cNvPr id="9" name="Picture 8" descr="A close-up and a micrograph shows an aphid feeding on a plant in part (a) and (b).">
            <a:extLst>
              <a:ext uri="{FF2B5EF4-FFF2-40B4-BE49-F238E27FC236}">
                <a16:creationId xmlns:a16="http://schemas.microsoft.com/office/drawing/2014/main" id="{0FC56086-22C0-8829-3266-798D25940B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0011" y="883775"/>
            <a:ext cx="3583979" cy="5422195"/>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6353407" y="6081691"/>
            <a:ext cx="1459128" cy="313852"/>
          </a:xfrm>
        </p:spPr>
        <p:txBody>
          <a:bodyPr/>
          <a:lstStyle/>
          <a:p>
            <a:pPr algn="ctr"/>
            <a:r>
              <a:rPr lang="en-US" sz="1200" noProof="0" dirty="0">
                <a:latin typeface="+mn-lt"/>
              </a:rPr>
              <a:t>Figure 25.20</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a:xfrm>
            <a:off x="3374136" y="6389433"/>
            <a:ext cx="2404872" cy="192024"/>
          </a:xfrm>
        </p:spPr>
        <p:txBody>
          <a:bodyPr/>
          <a:lstStyle/>
          <a:p>
            <a:r>
              <a:rPr lang="en-US" noProof="0" dirty="0">
                <a:latin typeface="+mn-lt"/>
                <a:hlinkClick r:id="rId4" action="ppaction://hlinksldjump"/>
              </a:rPr>
              <a:t>Access the text alternative for slide images.</a:t>
            </a:r>
            <a:endParaRPr lang="en-US" noProof="0" dirty="0">
              <a:latin typeface="+mn-lt"/>
            </a:endParaRPr>
          </a:p>
        </p:txBody>
      </p:sp>
      <p:sp>
        <p:nvSpPr>
          <p:cNvPr id="4" name="Text Placeholder 3">
            <a:extLst>
              <a:ext uri="{FF2B5EF4-FFF2-40B4-BE49-F238E27FC236}">
                <a16:creationId xmlns:a16="http://schemas.microsoft.com/office/drawing/2014/main" id="{050867F9-AED6-C603-AEFE-3D04EAA72F2E}"/>
              </a:ext>
            </a:extLst>
          </p:cNvPr>
          <p:cNvSpPr>
            <a:spLocks noGrp="1"/>
          </p:cNvSpPr>
          <p:nvPr>
            <p:ph type="body" sz="quarter" idx="16"/>
          </p:nvPr>
        </p:nvSpPr>
        <p:spPr/>
        <p:txBody>
          <a:bodyPr/>
          <a:lstStyle/>
          <a:p>
            <a:r>
              <a:rPr lang="en-US" i="1" dirty="0"/>
              <a:t>(a): ©M. H. Zimmermann/Harvard Forest, Harvard University; (b): Steven P. Lynch</a:t>
            </a: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48</a:t>
            </a:fld>
            <a:endParaRPr lang="en-US" dirty="0"/>
          </a:p>
        </p:txBody>
      </p:sp>
    </p:spTree>
    <p:extLst>
      <p:ext uri="{BB962C8B-B14F-4D97-AF65-F5344CB8AC3E}">
        <p14:creationId xmlns:p14="http://schemas.microsoft.com/office/powerpoint/2010/main" val="18200781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t>End of Main Content</a:t>
            </a:r>
          </a:p>
        </p:txBody>
      </p:sp>
      <p:sp>
        <p:nvSpPr>
          <p:cNvPr id="4" name="Footer Placeholder 2">
            <a:extLst>
              <a:ext uri="{FF2B5EF4-FFF2-40B4-BE49-F238E27FC236}">
                <a16:creationId xmlns:a16="http://schemas.microsoft.com/office/drawing/2014/main" id="{7EE9FF56-2D9A-3988-0BD6-DAFC5FA62F05}"/>
              </a:ext>
            </a:extLst>
          </p:cNvPr>
          <p:cNvSpPr txBox="1">
            <a:spLocks/>
          </p:cNvSpPr>
          <p:nvPr/>
        </p:nvSpPr>
        <p:spPr>
          <a:xfrm>
            <a:off x="0" y="6364224"/>
            <a:ext cx="9144000" cy="493776"/>
          </a:xfrm>
          <a:prstGeom prst="rect">
            <a:avLst/>
          </a:prstGeom>
        </p:spPr>
        <p:txBody>
          <a:bodyPr anchor="ctr"/>
          <a:lstStyle>
            <a:lvl1pPr marL="0" indent="0" algn="ctr" defTabSz="457200" rtl="0" eaLnBrk="1" latinLnBrk="0" hangingPunct="1">
              <a:spcBef>
                <a:spcPct val="20000"/>
              </a:spcBef>
              <a:buFont typeface="Arial"/>
              <a:buNone/>
              <a:defRPr sz="800" kern="1200">
                <a:solidFill>
                  <a:schemeClr val="bg1"/>
                </a:solidFill>
                <a:latin typeface="+mn-lt"/>
                <a:ea typeface="+mn-ea"/>
                <a:cs typeface="+mn-cs"/>
              </a:defRPr>
            </a:lvl1pPr>
            <a:lvl2pPr marL="742950" indent="-285750" algn="ctr" defTabSz="457200" rtl="0" eaLnBrk="1" latinLnBrk="0" hangingPunct="1">
              <a:spcBef>
                <a:spcPct val="20000"/>
              </a:spcBef>
              <a:buFont typeface="Arial"/>
              <a:buChar char="–"/>
              <a:defRPr sz="800" kern="1200">
                <a:solidFill>
                  <a:schemeClr val="bg1"/>
                </a:solidFill>
                <a:latin typeface="+mn-lt"/>
                <a:ea typeface="+mn-ea"/>
                <a:cs typeface="+mn-cs"/>
              </a:defRPr>
            </a:lvl2pPr>
            <a:lvl3pPr marL="1143000" indent="-228600" algn="ctr" defTabSz="457200" rtl="0" eaLnBrk="1" latinLnBrk="0" hangingPunct="1">
              <a:spcBef>
                <a:spcPct val="20000"/>
              </a:spcBef>
              <a:buFont typeface="Arial"/>
              <a:buChar char="•"/>
              <a:defRPr sz="800" kern="1200">
                <a:solidFill>
                  <a:schemeClr val="bg1"/>
                </a:solidFill>
                <a:latin typeface="+mn-lt"/>
                <a:ea typeface="+mn-ea"/>
                <a:cs typeface="+mn-cs"/>
              </a:defRPr>
            </a:lvl3pPr>
            <a:lvl4pPr marL="1600200" indent="-228600" algn="ctr" defTabSz="457200" rtl="0" eaLnBrk="1" latinLnBrk="0" hangingPunct="1">
              <a:spcBef>
                <a:spcPct val="20000"/>
              </a:spcBef>
              <a:buFont typeface="Arial"/>
              <a:buChar char="–"/>
              <a:defRPr sz="800" kern="1200">
                <a:solidFill>
                  <a:schemeClr val="bg1"/>
                </a:solidFill>
                <a:latin typeface="+mn-lt"/>
                <a:ea typeface="+mn-ea"/>
                <a:cs typeface="+mn-cs"/>
              </a:defRPr>
            </a:lvl4pPr>
            <a:lvl5pPr marL="2057400" indent="-228600" algn="ctr" defTabSz="457200" rtl="0" eaLnBrk="1" latinLnBrk="0" hangingPunct="1">
              <a:spcBef>
                <a:spcPct val="20000"/>
              </a:spcBef>
              <a:buFont typeface="Arial"/>
              <a:buChar char="»"/>
              <a:defRPr sz="800" kern="1200">
                <a:solidFill>
                  <a:schemeClr val="bg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r>
              <a:rPr lang="en-US" dirty="0">
                <a:solidFill>
                  <a:schemeClr val="tx1"/>
                </a:solidFill>
              </a:rPr>
              <a:t>© McGraw Hill LLC. All rights reserved. No reproduction or distribution without the prior written consent of McGraw Hill LLC.</a:t>
            </a:r>
          </a:p>
        </p:txBody>
      </p:sp>
    </p:spTree>
    <p:extLst>
      <p:ext uri="{BB962C8B-B14F-4D97-AF65-F5344CB8AC3E}">
        <p14:creationId xmlns:p14="http://schemas.microsoft.com/office/powerpoint/2010/main" val="10804844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D5E42-B1C2-DE35-6A38-97EEA35936C6}"/>
              </a:ext>
            </a:extLst>
          </p:cNvPr>
          <p:cNvSpPr>
            <a:spLocks noGrp="1"/>
          </p:cNvSpPr>
          <p:nvPr>
            <p:ph type="title"/>
          </p:nvPr>
        </p:nvSpPr>
        <p:spPr/>
        <p:txBody>
          <a:bodyPr/>
          <a:lstStyle/>
          <a:p>
            <a:r>
              <a:rPr lang="en-US" noProof="0" dirty="0"/>
              <a:t>Accessibility Content: Text Alternatives for Images</a:t>
            </a:r>
          </a:p>
        </p:txBody>
      </p:sp>
      <p:sp>
        <p:nvSpPr>
          <p:cNvPr id="3" name="Slide Number Placeholder 2">
            <a:extLst>
              <a:ext uri="{FF2B5EF4-FFF2-40B4-BE49-F238E27FC236}">
                <a16:creationId xmlns:a16="http://schemas.microsoft.com/office/drawing/2014/main" id="{2FEADB16-8769-3936-9CE4-8349100CA1D9}"/>
              </a:ext>
            </a:extLst>
          </p:cNvPr>
          <p:cNvSpPr>
            <a:spLocks noGrp="1"/>
          </p:cNvSpPr>
          <p:nvPr>
            <p:ph type="sldNum" sz="quarter" idx="10"/>
          </p:nvPr>
        </p:nvSpPr>
        <p:spPr/>
        <p:txBody>
          <a:bodyPr/>
          <a:lstStyle/>
          <a:p>
            <a:fld id="{68151E55-6873-49E2-B8D5-2F265E6F1973}" type="slidenum">
              <a:rPr lang="en-US" smtClean="0"/>
              <a:t>50</a:t>
            </a:fld>
            <a:endParaRPr lang="en-US" dirty="0"/>
          </a:p>
        </p:txBody>
      </p:sp>
    </p:spTree>
    <p:extLst>
      <p:ext uri="{BB962C8B-B14F-4D97-AF65-F5344CB8AC3E}">
        <p14:creationId xmlns:p14="http://schemas.microsoft.com/office/powerpoint/2010/main" val="41178050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Chapter 25 Flowering Plants: Nutrition and Transport</a:t>
            </a:r>
            <a:r>
              <a:rPr lang="en-US" dirty="0"/>
              <a:t> </a:t>
            </a:r>
            <a:r>
              <a:rPr lang="en-US" noProof="0" dirty="0"/>
              <a:t>-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noProof="0" dirty="0">
                <a:latin typeface="+mn-lt"/>
              </a:rPr>
              <a:t>The cover image shows the close-up of a Jaguar’s face who is lying on his abdomen surrounded by greenery.</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51</a:t>
            </a:fld>
            <a:endParaRPr lang="en-US" dirty="0"/>
          </a:p>
        </p:txBody>
      </p:sp>
    </p:spTree>
    <p:extLst>
      <p:ext uri="{BB962C8B-B14F-4D97-AF65-F5344CB8AC3E}">
        <p14:creationId xmlns:p14="http://schemas.microsoft.com/office/powerpoint/2010/main" val="15130231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Hydroponics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noProof="0" dirty="0">
                <a:latin typeface="+mn-lt"/>
              </a:rPr>
              <a:t>The illustration shows a large open container filled with nutrient solution. Three floating planters placed on a Styrofoam (floats) are rooted in a cage-like structure containing growing medium. An air pump placed outside the container pumps air into the solution through a pipe connecting three air stones kept in the container below each planter.</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52</a:t>
            </a:fld>
            <a:endParaRPr lang="en-US" dirty="0"/>
          </a:p>
        </p:txBody>
      </p:sp>
    </p:spTree>
    <p:extLst>
      <p:ext uri="{BB962C8B-B14F-4D97-AF65-F5344CB8AC3E}">
        <p14:creationId xmlns:p14="http://schemas.microsoft.com/office/powerpoint/2010/main" val="37876247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Nutrient Deficiencies and Fertilizer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noProof="0" dirty="0">
                <a:latin typeface="+mn-lt"/>
              </a:rPr>
              <a:t>(a) The tomato plant shows the following mineral deficiencies with their impact on leaves: Zinc (Z n) deficiency produces brown spots between the veins; nitrogen (N) deficiency produces light yellow leaves; magnesium deficiency produces yellowing between the veins and leaves are raised and bumpy; potassium (K) deficiency produces brown spots at the tip; and copper (C u) deficiency produces curled leaves. A normal green leaf is also labeled for reference.</a:t>
            </a:r>
          </a:p>
          <a:p>
            <a:r>
              <a:rPr lang="en-US" noProof="0" dirty="0">
                <a:latin typeface="+mn-lt"/>
              </a:rPr>
              <a:t>(b) The close-up shows a pack of lawn starter fertilizer which is applied when seeding, sodding, or reseeding. An enlarged view shows the back label with NPK (nitrogen phosphorus potassium) value as 18 24 6. Nitrogen is for lush, green plant growth; phosphorus is for strong root development; and potassium is for overall plant vigor. The ingredients are also listed in the label.</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53</a:t>
            </a:fld>
            <a:endParaRPr lang="en-US" dirty="0"/>
          </a:p>
        </p:txBody>
      </p:sp>
    </p:spTree>
    <p:extLst>
      <p:ext uri="{BB962C8B-B14F-4D97-AF65-F5344CB8AC3E}">
        <p14:creationId xmlns:p14="http://schemas.microsoft.com/office/powerpoint/2010/main" val="1992438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Components of Healthy Soil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noProof="0" dirty="0">
                <a:latin typeface="+mn-lt"/>
              </a:rPr>
              <a:t>The enlarged view shows a root hair extending into the soil from the epidermis of the primary root. The soil contains different sized soil particles with air space in between enclosed in a film of water. Potassium (K plus) and calcium (C a 2 plus) ions are bound to negatively charged soil particles. Cation exchange shows the root hair absorbing K plus and C a 2 plus from soil particles while releasing H plus in the soil.</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54</a:t>
            </a:fld>
            <a:endParaRPr lang="en-US" dirty="0"/>
          </a:p>
        </p:txBody>
      </p:sp>
    </p:spTree>
    <p:extLst>
      <p:ext uri="{BB962C8B-B14F-4D97-AF65-F5344CB8AC3E}">
        <p14:creationId xmlns:p14="http://schemas.microsoft.com/office/powerpoint/2010/main" val="42643263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Simplified Soil Profile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noProof="0" dirty="0">
                <a:latin typeface="+mn-lt"/>
              </a:rPr>
              <a:t>The layers from top to bottom with increasing thickness are as follows: Leaf litter and plant life; Topsoil (A) containing partially decomposed organic matter above and well decomposed organic matter below; Subsoil (b) containing mineral leached from rocks and accumulating from above; and Bedrock (c) containing weathered bedrock material.</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55</a:t>
            </a:fld>
            <a:endParaRPr lang="en-US" dirty="0"/>
          </a:p>
        </p:txBody>
      </p:sp>
    </p:spTree>
    <p:extLst>
      <p:ext uri="{BB962C8B-B14F-4D97-AF65-F5344CB8AC3E}">
        <p14:creationId xmlns:p14="http://schemas.microsoft.com/office/powerpoint/2010/main" val="6105707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Water and Mineral Uptake </a:t>
            </a:r>
            <a:r>
              <a:rPr lang="en-US" sz="1200" noProof="0" dirty="0"/>
              <a:t>2</a:t>
            </a:r>
            <a:r>
              <a:rPr lang="en-US" noProof="0" dirty="0"/>
              <a:t>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sz="1700" noProof="0" dirty="0">
                <a:latin typeface="+mn-lt"/>
              </a:rPr>
              <a:t>(a) The micrograph at 300 times magnification shows plus-shaped xylem is surrounded by phloem which is encircled by pericycle and then endodermis. A thick layer of cortex surrounds the vascular cylinder. An enlarged view shows following layers from inside out: vascular cylinder, pericycle, endodermis and </a:t>
            </a:r>
            <a:r>
              <a:rPr lang="en-US" sz="1700" noProof="0" dirty="0" err="1">
                <a:latin typeface="+mn-lt"/>
              </a:rPr>
              <a:t>Casparian</a:t>
            </a:r>
            <a:r>
              <a:rPr lang="en-US" sz="1700" noProof="0" dirty="0">
                <a:latin typeface="+mn-lt"/>
              </a:rPr>
              <a:t> strip, and cortex. Root hair arise from the outermost epidermis. Pathway A shows water and minerals passing between the cell walls of epidermis and cortex to enter the endodermis and </a:t>
            </a:r>
            <a:r>
              <a:rPr lang="en-US" sz="1700" noProof="0" dirty="0" err="1">
                <a:latin typeface="+mn-lt"/>
              </a:rPr>
              <a:t>Casparian</a:t>
            </a:r>
            <a:r>
              <a:rPr lang="en-US" sz="1700" noProof="0" dirty="0">
                <a:latin typeface="+mn-lt"/>
              </a:rPr>
              <a:t> strip. Pathway B shows water and minerals passing through the root hair into the cells of epidermis and cortex to enter the endodermis and </a:t>
            </a:r>
            <a:r>
              <a:rPr lang="en-US" sz="1700" noProof="0" dirty="0" err="1">
                <a:latin typeface="+mn-lt"/>
              </a:rPr>
              <a:t>Casparian</a:t>
            </a:r>
            <a:r>
              <a:rPr lang="en-US" sz="1700" noProof="0" dirty="0">
                <a:latin typeface="+mn-lt"/>
              </a:rPr>
              <a:t> strip.</a:t>
            </a:r>
          </a:p>
          <a:p>
            <a:r>
              <a:rPr lang="en-US" sz="1700" noProof="0" dirty="0">
                <a:latin typeface="+mn-lt"/>
              </a:rPr>
              <a:t>(b) An enlarged view from the endodermis shows a bilayer plasma membrane with three channel proteins. Water is present outside the endodermal cell.</a:t>
            </a:r>
          </a:p>
          <a:p>
            <a:r>
              <a:rPr lang="en-US" sz="1700" noProof="0" dirty="0">
                <a:latin typeface="+mn-lt"/>
              </a:rPr>
              <a:t>Step 1. An ATP-driven pump transports H plus out of the endodermal cell while breaking own ATP into ADP plus P inside the cell.</a:t>
            </a:r>
          </a:p>
          <a:p>
            <a:r>
              <a:rPr lang="en-US" sz="1700" noProof="0" dirty="0">
                <a:latin typeface="+mn-lt"/>
              </a:rPr>
              <a:t>Step 2. The electrochemical gradient causes K plus to enter the endodermal cell by way of a channel protein.</a:t>
            </a:r>
          </a:p>
          <a:p>
            <a:r>
              <a:rPr lang="en-US" sz="1700" noProof="0" dirty="0">
                <a:latin typeface="+mn-lt"/>
              </a:rPr>
              <a:t>Step 3. Negatively charged ions (N O3 minus) are transported along with H plus into cell.</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56</a:t>
            </a:fld>
            <a:endParaRPr lang="en-US" dirty="0"/>
          </a:p>
        </p:txBody>
      </p:sp>
    </p:spTree>
    <p:extLst>
      <p:ext uri="{BB962C8B-B14F-4D97-AF65-F5344CB8AC3E}">
        <p14:creationId xmlns:p14="http://schemas.microsoft.com/office/powerpoint/2010/main" val="13984610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Mycorrhizae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noProof="0" dirty="0">
                <a:latin typeface="+mn-lt"/>
              </a:rPr>
              <a:t>The illustration shows a small plant with two leaves and multiple small roots on the left and a tall plant with several leaves and a mass of long branched roots (mycorrhizae) on the right. The micrograph at 100 times magnification shows a cross-section through the roots of the tall plant. Several irregular-shaped root cells contain large blue mycorrhizae.</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57</a:t>
            </a:fld>
            <a:endParaRPr lang="en-US" dirty="0"/>
          </a:p>
        </p:txBody>
      </p:sp>
    </p:spTree>
    <p:extLst>
      <p:ext uri="{BB962C8B-B14F-4D97-AF65-F5344CB8AC3E}">
        <p14:creationId xmlns:p14="http://schemas.microsoft.com/office/powerpoint/2010/main" val="21542120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Other Ways Plants Acquire Nutrients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noProof="0" dirty="0">
                <a:latin typeface="+mn-lt"/>
              </a:rPr>
              <a:t>The close-up in part (a) shows a green host plant with long, slender, brown vines of dodder (</a:t>
            </a:r>
            <a:r>
              <a:rPr lang="en-US" noProof="0" dirty="0" err="1">
                <a:latin typeface="+mn-lt"/>
              </a:rPr>
              <a:t>Cuscuta</a:t>
            </a:r>
            <a:r>
              <a:rPr lang="en-US" noProof="0" dirty="0">
                <a:latin typeface="+mn-lt"/>
              </a:rPr>
              <a:t>) wrapped around it. The close-up in part (b) shows cape sundew (</a:t>
            </a:r>
            <a:r>
              <a:rPr lang="en-US" noProof="0" dirty="0" err="1">
                <a:latin typeface="+mn-lt"/>
              </a:rPr>
              <a:t>Drosera</a:t>
            </a:r>
            <a:r>
              <a:rPr lang="en-US" noProof="0" dirty="0">
                <a:latin typeface="+mn-lt"/>
              </a:rPr>
              <a:t> capensis) with green strap-like leaves having narrow form and covered in bright red sticky hairs with white rounded tips. An enlarged view shows an enfolded sundew leaf enclosing a prey. The white bulbs on sticky hairs release digestive enzymes.</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58</a:t>
            </a:fld>
            <a:endParaRPr lang="en-US" dirty="0"/>
          </a:p>
        </p:txBody>
      </p:sp>
    </p:spTree>
    <p:extLst>
      <p:ext uri="{BB962C8B-B14F-4D97-AF65-F5344CB8AC3E}">
        <p14:creationId xmlns:p14="http://schemas.microsoft.com/office/powerpoint/2010/main" val="15226603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Organization of Conducting Cells in Xylem and Phloem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noProof="0" dirty="0">
                <a:latin typeface="+mn-lt"/>
              </a:rPr>
              <a:t>(a) The structure of both a tracheid and a vessel element show a hollow cylindrical tube with a series of interconnected vertical cells separated by diagonal perforation plates. The plate is more diagonally long in tracheid than in vessel element. Water molecules move from bottom to top in both by passing through the perforation plates.</a:t>
            </a:r>
          </a:p>
          <a:p>
            <a:r>
              <a:rPr lang="en-US" noProof="0" dirty="0">
                <a:latin typeface="+mn-lt"/>
              </a:rPr>
              <a:t>(b) The structure of phloem also shows a hollow cylindrical tube with a series of interconnected sieve-tube members separated by diagonal sieve plates in different directions. An elongated nucleated companion cell lie on either side. Sugar molecules move in both directions (toward the top and bottom) by passing through the sieve plate.</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59</a:t>
            </a:fld>
            <a:endParaRPr lang="en-US" dirty="0"/>
          </a:p>
        </p:txBody>
      </p:sp>
    </p:spTree>
    <p:extLst>
      <p:ext uri="{BB962C8B-B14F-4D97-AF65-F5344CB8AC3E}">
        <p14:creationId xmlns:p14="http://schemas.microsoft.com/office/powerpoint/2010/main" val="38356219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Plant Transport and Water Potential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noProof="0" dirty="0">
                <a:latin typeface="+mn-lt"/>
              </a:rPr>
              <a:t>An arrow from the plant’s root points to the cross-section of a root. The water potential is higher in the soil as compared to the roots, so water moves in and passes through the cells to reach the xylem. In the roots, water flows up through the xylem and sugar moves down through the phloem.</a:t>
            </a:r>
          </a:p>
          <a:p>
            <a:r>
              <a:rPr lang="en-US" noProof="0" dirty="0">
                <a:latin typeface="+mn-lt"/>
              </a:rPr>
              <a:t>An arrow from the plant’s stem points to the cross-section of a stem. The water potential is lower in the stem as compared to the roots. Water flows up through the xylem and sugar moves down through the phloem.</a:t>
            </a:r>
          </a:p>
          <a:p>
            <a:r>
              <a:rPr lang="en-US" noProof="0" dirty="0">
                <a:latin typeface="+mn-lt"/>
              </a:rPr>
              <a:t>An arrow from the plant’s leaf points to the cross-section of a leaf. The water potential is lower in the leaves as compared to the stem. The leaf cross-section shows spongy mesophyll layer with spherical cells and intercellular spaces in between, xylem, and phloem. Stoma openings are present in the lower epidermis. Water molecules are depicted in the intercellular spaces. C O2 enters and water and oxygen exits the leaf through the stoma.</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60</a:t>
            </a:fld>
            <a:endParaRPr lang="en-US" dirty="0"/>
          </a:p>
        </p:txBody>
      </p:sp>
    </p:spTree>
    <p:extLst>
      <p:ext uri="{BB962C8B-B14F-4D97-AF65-F5344CB8AC3E}">
        <p14:creationId xmlns:p14="http://schemas.microsoft.com/office/powerpoint/2010/main" val="14186589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Water Potential and Turgor Pressure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noProof="0" dirty="0">
                <a:latin typeface="+mn-lt"/>
              </a:rPr>
              <a:t>(a) Plant cells need water and are wilted. A cross-section shows a shrivel plant cell with shrunken central vacuole. The extracellular fluid has higher water potential, higher pressure potential, and higher osmotic potential. Inside the cell there is lower water potential, higher pressure potential, and higher osmotic potential. As a result, the plant wilts in absences of water.</a:t>
            </a:r>
          </a:p>
          <a:p>
            <a:r>
              <a:rPr lang="en-US" noProof="0" dirty="0">
                <a:latin typeface="+mn-lt"/>
              </a:rPr>
              <a:t>(b) Plant cells have water and are turgid. A cross-section shows an enlarged plant cell with swollen central vacuole due to intake of water from outside. There is equal water potential inside and outside the cell. Pressure potential increases until the cell is turgid. As a result, the plant becomes turgid in presences of water.</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61</a:t>
            </a:fld>
            <a:endParaRPr lang="en-US" dirty="0"/>
          </a:p>
        </p:txBody>
      </p:sp>
    </p:spTree>
    <p:extLst>
      <p:ext uri="{BB962C8B-B14F-4D97-AF65-F5344CB8AC3E}">
        <p14:creationId xmlns:p14="http://schemas.microsoft.com/office/powerpoint/2010/main" val="7033228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a:xfrm>
            <a:off x="0" y="304800"/>
            <a:ext cx="9144000" cy="678611"/>
          </a:xfrm>
        </p:spPr>
        <p:txBody>
          <a:bodyPr/>
          <a:lstStyle/>
          <a:p>
            <a:r>
              <a:rPr lang="en-US" noProof="0" dirty="0"/>
              <a:t> Cohesion-Tension Model of Xylem Transport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sz="1800" noProof="0" dirty="0">
                <a:latin typeface="+mn-lt"/>
              </a:rPr>
              <a:t>An arrow from the tree’s crown points to the cross-section of a leaf. The mesophyll cells have intercellular spaces between spherical cells and a xylem in the leaf vein. Stoma openings are present in the lower epidermis. Water molecules are depicted in the intercellular spaces. Water (H2O) exits the leaf through the stoma. In the leaves. Transpiration creates tension and tension pulls the water column upward from the roots to the leaves.</a:t>
            </a:r>
          </a:p>
          <a:p>
            <a:r>
              <a:rPr lang="en-US" sz="1800" noProof="0" dirty="0">
                <a:latin typeface="+mn-lt"/>
              </a:rPr>
              <a:t>An arrow from the tree’s stem points to the cross-section of xylem made of several adjacent hollow cylindrical tubes separated by cell walls. Each xylem tube is made of interconnected vertical cells with water molecules moving upward. An enlarged view of a cell shows water molecules interconnected by dashed lines labeled, cohesion by hydrogen bonding between water molecules. The inside of the cell is labeled, adhesion due to polarity of water molecules. Cohesion makes water continuous and adhesion keeps water column in place.</a:t>
            </a:r>
          </a:p>
          <a:p>
            <a:r>
              <a:rPr lang="en-US" sz="1800" noProof="0" dirty="0">
                <a:latin typeface="+mn-lt"/>
              </a:rPr>
              <a:t>An arrow from the tree’s root points to the cross-section of a root showing water molecules moving from soil to the root hair, root cell, and then the xylem. Water molecules moving upward in the xylem. Water column extends from leaves to the root.</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62</a:t>
            </a:fld>
            <a:endParaRPr lang="en-US" dirty="0"/>
          </a:p>
        </p:txBody>
      </p:sp>
    </p:spTree>
    <p:extLst>
      <p:ext uri="{BB962C8B-B14F-4D97-AF65-F5344CB8AC3E}">
        <p14:creationId xmlns:p14="http://schemas.microsoft.com/office/powerpoint/2010/main" val="17577695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Opening and Closing of Stomata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noProof="0" dirty="0">
                <a:latin typeface="+mn-lt"/>
              </a:rPr>
              <a:t>(a) The micrograph at 343 times magnification shows an open stoma. The illustration shows two bean-shaped guard cells containing a nucleus, chloroplasts, and vacuoles. The guard cells are attached near the top and bottom forming an open small lip-mouth, labeled stoma. The guard cells swell as water (H2O) and K plus ions enter the vacuoles and H plus ions move out of the guard cells. </a:t>
            </a:r>
          </a:p>
          <a:p>
            <a:r>
              <a:rPr lang="en-US" noProof="0" dirty="0">
                <a:latin typeface="+mn-lt"/>
              </a:rPr>
              <a:t>(b) The micrograph at 370 times magnification shows a closed stoma. The illustration shows the guard cells are thinner due to shrunk vacuoles as water and K plus leave the cells. Several K plus ions are present outside.</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63</a:t>
            </a:fld>
            <a:endParaRPr lang="en-US" dirty="0"/>
          </a:p>
        </p:txBody>
      </p:sp>
    </p:spTree>
    <p:extLst>
      <p:ext uri="{BB962C8B-B14F-4D97-AF65-F5344CB8AC3E}">
        <p14:creationId xmlns:p14="http://schemas.microsoft.com/office/powerpoint/2010/main" val="2647507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dirty="0"/>
              <a:t>Sucrose Loading Is Dependent on a H</a:t>
            </a:r>
            <a:r>
              <a:rPr lang="en-US" baseline="30000" dirty="0"/>
              <a:t>+</a:t>
            </a:r>
            <a:r>
              <a:rPr lang="en-US" dirty="0"/>
              <a:t> Ion Gradient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noProof="0" dirty="0">
                <a:latin typeface="+mn-lt"/>
              </a:rPr>
              <a:t>The bilayer plasma membrane shows two embedded transport proteins. An ATP-driven pump on the left transports H plus from the sieve-tube cell to the mesophyll cell while breaking down ATP into ADP plus P inside the sieve-tube cell. The sucrose-Hydrogen co-transport protein transports H plus and sucrose molecules together from the mesophyll cell to the sieve-tube cell.</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64</a:t>
            </a:fld>
            <a:endParaRPr lang="en-US" dirty="0"/>
          </a:p>
        </p:txBody>
      </p:sp>
    </p:spTree>
    <p:extLst>
      <p:ext uri="{BB962C8B-B14F-4D97-AF65-F5344CB8AC3E}">
        <p14:creationId xmlns:p14="http://schemas.microsoft.com/office/powerpoint/2010/main" val="28150269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Pressure-Flow Model of Phloem Transport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sz="1800" noProof="0" dirty="0">
                <a:latin typeface="+mn-lt"/>
              </a:rPr>
              <a:t>The cross-section of a leaf on the top shows mesophyll cells, xylem and phloem in the leaf vein, and stoma in the lower epidermis. The cross-section of a root at the bottom shows the following layers from inside out: xylem, phloem, pericycle, endodermis, and cortex. Root hair arise from the outermost epidermis. An enlarged view in the middle shows two long cylindrical tubes of xylem and phloem is connected from rod-shaped green mesophyll cells of leaves on top to rod-shaped yellow cortex cells of roots below. Water molecules from cortex cells enter xylem, move upward, and leave into the mesophyll cells. Sugar molecules from mesophyll cells enter phloem, move downward, and leave into the cortex cells. Text reads as follows:</a:t>
            </a:r>
          </a:p>
          <a:p>
            <a:r>
              <a:rPr lang="en-US" sz="1800" noProof="0" dirty="0">
                <a:latin typeface="+mn-lt"/>
              </a:rPr>
              <a:t>Leaves: They are main source of sugar production. Sugar is actively loaded into sieve tubes. Water follows by osmosis, and high pressure results.</a:t>
            </a:r>
          </a:p>
          <a:p>
            <a:r>
              <a:rPr lang="en-US" sz="1800" noProof="0" dirty="0">
                <a:latin typeface="+mn-lt"/>
              </a:rPr>
              <a:t>Stems: Mass flow of phloem sap from source to sink occurs. Xylem flows from roots to leaves.</a:t>
            </a:r>
          </a:p>
          <a:p>
            <a:r>
              <a:rPr lang="en-US" sz="1800" noProof="0" dirty="0">
                <a:latin typeface="+mn-lt"/>
              </a:rPr>
              <a:t>Roots: Sugar is unloaded at the sink. Water exits by osmosis and returns to the xylem. Cells use sugar for cellular respiration or storage.</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65</a:t>
            </a:fld>
            <a:endParaRPr lang="en-US" dirty="0"/>
          </a:p>
        </p:txBody>
      </p:sp>
    </p:spTree>
    <p:extLst>
      <p:ext uri="{BB962C8B-B14F-4D97-AF65-F5344CB8AC3E}">
        <p14:creationId xmlns:p14="http://schemas.microsoft.com/office/powerpoint/2010/main" val="23048097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Acquiring Phloem Sap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noProof="0" dirty="0">
                <a:latin typeface="+mn-lt"/>
              </a:rPr>
              <a:t>(a) The close-up shows a green aphid feeding on a plant stem. A small droplet of translucent liquid is present on the posterior tip of the aphid. (b) The micrograph shows the aphid with its needle-like stylet inserted into the stem. The aphid has dark and light-colored ovals inside the body.</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66</a:t>
            </a:fld>
            <a:endParaRPr lang="en-US" dirty="0"/>
          </a:p>
        </p:txBody>
      </p:sp>
    </p:spTree>
    <p:extLst>
      <p:ext uri="{BB962C8B-B14F-4D97-AF65-F5344CB8AC3E}">
        <p14:creationId xmlns:p14="http://schemas.microsoft.com/office/powerpoint/2010/main" val="3831919501"/>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E7BC6287-1E57-46F8-B46D-CC0ECE7CEE8E}"/>
    </a:ext>
  </a:extLst>
</a:theme>
</file>

<file path=ppt/theme/theme2.xml><?xml version="1.0" encoding="utf-8"?>
<a:theme xmlns:a="http://schemas.openxmlformats.org/drawingml/2006/main" name="1_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E7BC6287-1E57-46F8-B46D-CC0ECE7CEE8E}"/>
    </a:ext>
  </a:extLst>
</a:theme>
</file>

<file path=ppt/theme/theme3.xml><?xml version="1.0" encoding="utf-8"?>
<a:theme xmlns:a="http://schemas.openxmlformats.org/drawingml/2006/main" name="MainContent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4.xml><?xml version="1.0" encoding="utf-8"?>
<a:theme xmlns:a="http://schemas.openxmlformats.org/drawingml/2006/main" name="1_MainContent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5.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AD8FA8EE-38E3-45B4-B8A8-91E7376F22D2}"/>
    </a:ext>
  </a:extLst>
</a:theme>
</file>

<file path=ppt/theme/theme6.xml><?xml version="1.0" encoding="utf-8"?>
<a:theme xmlns:a="http://schemas.openxmlformats.org/drawingml/2006/main" name="1_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AD8FA8EE-38E3-45B4-B8A8-91E7376F22D2}"/>
    </a:ext>
  </a:extLst>
</a:theme>
</file>

<file path=ppt/theme/theme7.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59A53402-BF8D-4356-9B02-35501F8B049D}"/>
    </a:ext>
  </a:extLst>
</a:theme>
</file>

<file path=ppt/theme/theme8.xml><?xml version="1.0" encoding="utf-8"?>
<a:theme xmlns:a="http://schemas.openxmlformats.org/drawingml/2006/main" name="1_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59A53402-BF8D-4356-9B02-35501F8B049D}"/>
    </a:ext>
  </a:extLst>
</a:theme>
</file>

<file path=ppt/theme/theme9.xml><?xml version="1.0" encoding="utf-8"?>
<a:theme xmlns:a="http://schemas.openxmlformats.org/drawingml/2006/main" name="ImageDescriptionAppendix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002D0E3A-676D-4160-97AC-45FBF1A959AE}"/>
    </a:ext>
  </a:extLst>
</a:theme>
</file>

<file path=ppt/theme/theme10.xml><?xml version="1.0" encoding="utf-8"?>
<a:theme xmlns:a="http://schemas.openxmlformats.org/drawingml/2006/main" name="1_ImageDescriptionAppendix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002D0E3A-676D-4160-97AC-45FBF1A959AE}"/>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Template_Editorial_v11_2020 (2)</Template>
  <TotalTime>2143</TotalTime>
  <Words>4656</Words>
  <Application>Microsoft Office PowerPoint</Application>
  <PresentationFormat>On-screen Show (4:3)</PresentationFormat>
  <Paragraphs>441</Paragraphs>
  <Slides>66</Slides>
  <Notes>2</Notes>
  <HiddenSlides>17</HiddenSlides>
  <MMClips>0</MMClips>
  <ScaleCrop>false</ScaleCrop>
  <HeadingPairs>
    <vt:vector size="8" baseType="variant">
      <vt:variant>
        <vt:lpstr>Fonts Used</vt:lpstr>
      </vt:variant>
      <vt:variant>
        <vt:i4>5</vt:i4>
      </vt:variant>
      <vt:variant>
        <vt:lpstr>Theme</vt:lpstr>
      </vt:variant>
      <vt:variant>
        <vt:i4>10</vt:i4>
      </vt:variant>
      <vt:variant>
        <vt:lpstr>Embedded OLE Servers</vt:lpstr>
      </vt:variant>
      <vt:variant>
        <vt:i4>2</vt:i4>
      </vt:variant>
      <vt:variant>
        <vt:lpstr>Slide Titles</vt:lpstr>
      </vt:variant>
      <vt:variant>
        <vt:i4>66</vt:i4>
      </vt:variant>
    </vt:vector>
  </HeadingPairs>
  <TitlesOfParts>
    <vt:vector size="83" baseType="lpstr">
      <vt:lpstr>Aptos</vt:lpstr>
      <vt:lpstr>Arial</vt:lpstr>
      <vt:lpstr>Calibri</vt:lpstr>
      <vt:lpstr>Symbol</vt:lpstr>
      <vt:lpstr>Times New Roman</vt:lpstr>
      <vt:lpstr>Title Slides Master</vt:lpstr>
      <vt:lpstr>1_Title Slides Master</vt:lpstr>
      <vt:lpstr>MainContentSlideMaster</vt:lpstr>
      <vt:lpstr>1_MainContentSlideMaster</vt:lpstr>
      <vt:lpstr>ClosingMaster</vt:lpstr>
      <vt:lpstr>1_ClosingMaster</vt:lpstr>
      <vt:lpstr>DividerSlideMaster</vt:lpstr>
      <vt:lpstr>1_DividerSlideMaster</vt:lpstr>
      <vt:lpstr>ImageDescriptionAppendixSlideMaster</vt:lpstr>
      <vt:lpstr>1_ImageDescriptionAppendixSlideMaster</vt:lpstr>
      <vt:lpstr>Equation</vt:lpstr>
      <vt:lpstr>MathType 7.0 Equation</vt:lpstr>
      <vt:lpstr>Biology</vt:lpstr>
      <vt:lpstr>Outline</vt:lpstr>
      <vt:lpstr>25.1 Plant Nutrition and Soil</vt:lpstr>
      <vt:lpstr>Essential Inorganic Nutrients</vt:lpstr>
      <vt:lpstr>Overview of Plant Nutrition </vt:lpstr>
      <vt:lpstr>Determination of Essential Nutrients</vt:lpstr>
      <vt:lpstr>Hydroponics</vt:lpstr>
      <vt:lpstr>Nutrient Deficiencies and Fertilizer</vt:lpstr>
      <vt:lpstr>Soil</vt:lpstr>
      <vt:lpstr>Soil Particles</vt:lpstr>
      <vt:lpstr>Humus</vt:lpstr>
      <vt:lpstr>Healthy Soil</vt:lpstr>
      <vt:lpstr>Components of Healthy Soil</vt:lpstr>
      <vt:lpstr>Living Organisms</vt:lpstr>
      <vt:lpstr>Soil Profiles</vt:lpstr>
      <vt:lpstr>Simplified Soil Profile</vt:lpstr>
      <vt:lpstr>Soil Erosion</vt:lpstr>
      <vt:lpstr>Mitigation Strategies for Soil Erosion</vt:lpstr>
      <vt:lpstr>25.2 Water and Mineral Uptake</vt:lpstr>
      <vt:lpstr>Mineral Uptake</vt:lpstr>
      <vt:lpstr>Proton Pump</vt:lpstr>
      <vt:lpstr>Water and Mineral Uptake 1</vt:lpstr>
      <vt:lpstr>Water and Mineral Uptake 2</vt:lpstr>
      <vt:lpstr>Adaptations of Roots for Mineral Uptake</vt:lpstr>
      <vt:lpstr>Root Nodules</vt:lpstr>
      <vt:lpstr>Mycorrhizae</vt:lpstr>
      <vt:lpstr>Other Ways Plants Acquire Nutrients</vt:lpstr>
      <vt:lpstr>25.3 Transport Mechanisms in Plants</vt:lpstr>
      <vt:lpstr>Reviewing Xylem and Phloem Structure</vt:lpstr>
      <vt:lpstr>Organization of Conducting Cells in Xylem and Phloem</vt:lpstr>
      <vt:lpstr>The Role of Water Potential</vt:lpstr>
      <vt:lpstr>Plant Transport and Water Potential</vt:lpstr>
      <vt:lpstr>The Concept of Water Potential</vt:lpstr>
      <vt:lpstr>Water Potential and Turgor Pressure</vt:lpstr>
      <vt:lpstr>Water Transport</vt:lpstr>
      <vt:lpstr> Root Pressure and Guttation</vt:lpstr>
      <vt:lpstr>Xylem Transport Cohesion-Tension Model</vt:lpstr>
      <vt:lpstr> Cohesion-Tension Model of Xylem Transport</vt:lpstr>
      <vt:lpstr>Tension in Leaves, Stems, and Roots</vt:lpstr>
      <vt:lpstr>Plant-Transpired Mist Rising from a Tropical Forest</vt:lpstr>
      <vt:lpstr>Stomata Opening and Closing</vt:lpstr>
      <vt:lpstr>Opening and Closing of Stomata</vt:lpstr>
      <vt:lpstr>Role of Phloem</vt:lpstr>
      <vt:lpstr>The Movement of Phloem from Source to Sink</vt:lpstr>
      <vt:lpstr>Sucrose Loading Is Dependent on a H+ Ion Gradient</vt:lpstr>
      <vt:lpstr>Phloem Transport and Pressure-Flow Model</vt:lpstr>
      <vt:lpstr>Pressure-Flow Model of Phloem Transport</vt:lpstr>
      <vt:lpstr>Acquiring Phloem Sap</vt:lpstr>
      <vt:lpstr>End of Main Content</vt:lpstr>
      <vt:lpstr>Accessibility Content: Text Alternatives for Images</vt:lpstr>
      <vt:lpstr>Chapter 25 Flowering Plants: Nutrition and Transport - Text Alternative</vt:lpstr>
      <vt:lpstr>Hydroponics - Text Alternative</vt:lpstr>
      <vt:lpstr>Nutrient Deficiencies and Fertilizer - Text Alternative</vt:lpstr>
      <vt:lpstr>Components of Healthy Soil - Text Alternative</vt:lpstr>
      <vt:lpstr>Simplified Soil Profile - Text Alternative</vt:lpstr>
      <vt:lpstr>Water and Mineral Uptake 2 - Text Alternative</vt:lpstr>
      <vt:lpstr>Mycorrhizae - Text Alternative</vt:lpstr>
      <vt:lpstr>Other Ways Plants Acquire Nutrients - Text Alternative</vt:lpstr>
      <vt:lpstr>Organization of Conducting Cells in Xylem and Phloem - Text Alternative</vt:lpstr>
      <vt:lpstr>Plant Transport and Water Potential - Text Alternative</vt:lpstr>
      <vt:lpstr>Water Potential and Turgor Pressure - Text Alternative</vt:lpstr>
      <vt:lpstr> Cohesion-Tension Model of Xylem Transport - Text Alternative</vt:lpstr>
      <vt:lpstr>Opening and Closing of Stomata - Text Alternative</vt:lpstr>
      <vt:lpstr>Sucrose Loading Is Dependent on a H+ Ion Gradient - Text Alternative</vt:lpstr>
      <vt:lpstr>Pressure-Flow Model of Phloem Transport - Text Alternative</vt:lpstr>
      <vt:lpstr>Acquiring Phloem Sap - Text Alternative</vt:lpstr>
    </vt:vector>
  </TitlesOfParts>
  <Company>McGraw Hill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25: Flowering Plants: Nutrition and Transport</dc:title>
  <dc:subject>Biology</dc:subject>
  <dc:creator>Sylvia S. Mader</dc:creator>
  <cp:keywords>PPT</cp:keywords>
  <cp:lastModifiedBy>AJAY SINGH</cp:lastModifiedBy>
  <cp:revision>1743</cp:revision>
  <dcterms:created xsi:type="dcterms:W3CDTF">2023-04-04T06:35:07Z</dcterms:created>
  <dcterms:modified xsi:type="dcterms:W3CDTF">2024-06-17T09:57:15Z</dcterms:modified>
</cp:coreProperties>
</file>
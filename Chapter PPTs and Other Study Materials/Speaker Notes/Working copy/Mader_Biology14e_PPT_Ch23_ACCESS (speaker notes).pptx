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75" r:id="rId2"/>
    <p:sldMasterId id="2147483678" r:id="rId3"/>
    <p:sldMasterId id="2147483680" r:id="rId4"/>
    <p:sldMasterId id="2147483682" r:id="rId5"/>
    <p:sldMasterId id="2147483684" r:id="rId6"/>
    <p:sldMasterId id="2147483686" r:id="rId7"/>
    <p:sldMasterId id="2147483688" r:id="rId8"/>
  </p:sldMasterIdLst>
  <p:notesMasterIdLst>
    <p:notesMasterId r:id="rId123"/>
  </p:notesMasterIdLst>
  <p:sldIdLst>
    <p:sldId id="256" r:id="rId9"/>
    <p:sldId id="862" r:id="rId10"/>
    <p:sldId id="934" r:id="rId11"/>
    <p:sldId id="992" r:id="rId12"/>
    <p:sldId id="947" r:id="rId13"/>
    <p:sldId id="909" r:id="rId14"/>
    <p:sldId id="991" r:id="rId15"/>
    <p:sldId id="936" r:id="rId16"/>
    <p:sldId id="935" r:id="rId17"/>
    <p:sldId id="1030" r:id="rId18"/>
    <p:sldId id="1031" r:id="rId19"/>
    <p:sldId id="866" r:id="rId20"/>
    <p:sldId id="910" r:id="rId21"/>
    <p:sldId id="995" r:id="rId22"/>
    <p:sldId id="911" r:id="rId23"/>
    <p:sldId id="875" r:id="rId24"/>
    <p:sldId id="876" r:id="rId25"/>
    <p:sldId id="915" r:id="rId26"/>
    <p:sldId id="953" r:id="rId27"/>
    <p:sldId id="914" r:id="rId28"/>
    <p:sldId id="952" r:id="rId29"/>
    <p:sldId id="1032" r:id="rId30"/>
    <p:sldId id="959" r:id="rId31"/>
    <p:sldId id="1084" r:id="rId32"/>
    <p:sldId id="1085" r:id="rId33"/>
    <p:sldId id="1103" r:id="rId34"/>
    <p:sldId id="1105" r:id="rId35"/>
    <p:sldId id="1088" r:id="rId36"/>
    <p:sldId id="1089" r:id="rId37"/>
    <p:sldId id="1004" r:id="rId38"/>
    <p:sldId id="880" r:id="rId39"/>
    <p:sldId id="1033" r:id="rId40"/>
    <p:sldId id="917" r:id="rId41"/>
    <p:sldId id="883" r:id="rId42"/>
    <p:sldId id="938" r:id="rId43"/>
    <p:sldId id="885" r:id="rId44"/>
    <p:sldId id="940" r:id="rId45"/>
    <p:sldId id="949" r:id="rId46"/>
    <p:sldId id="920" r:id="rId47"/>
    <p:sldId id="887" r:id="rId48"/>
    <p:sldId id="921" r:id="rId49"/>
    <p:sldId id="950" r:id="rId50"/>
    <p:sldId id="1000" r:id="rId51"/>
    <p:sldId id="922" r:id="rId52"/>
    <p:sldId id="923" r:id="rId53"/>
    <p:sldId id="1090" r:id="rId54"/>
    <p:sldId id="1091" r:id="rId55"/>
    <p:sldId id="1092" r:id="rId56"/>
    <p:sldId id="1093" r:id="rId57"/>
    <p:sldId id="1107" r:id="rId58"/>
    <p:sldId id="1109" r:id="rId59"/>
    <p:sldId id="978" r:id="rId60"/>
    <p:sldId id="941" r:id="rId61"/>
    <p:sldId id="891" r:id="rId62"/>
    <p:sldId id="1034" r:id="rId63"/>
    <p:sldId id="1035" r:id="rId64"/>
    <p:sldId id="892" r:id="rId65"/>
    <p:sldId id="893" r:id="rId66"/>
    <p:sldId id="924" r:id="rId67"/>
    <p:sldId id="925" r:id="rId68"/>
    <p:sldId id="1096" r:id="rId69"/>
    <p:sldId id="1111" r:id="rId70"/>
    <p:sldId id="1098" r:id="rId71"/>
    <p:sldId id="1099" r:id="rId72"/>
    <p:sldId id="1113" r:id="rId73"/>
    <p:sldId id="1115" r:id="rId74"/>
    <p:sldId id="1117" r:id="rId75"/>
    <p:sldId id="989" r:id="rId76"/>
    <p:sldId id="942" r:id="rId77"/>
    <p:sldId id="954" r:id="rId78"/>
    <p:sldId id="1002" r:id="rId79"/>
    <p:sldId id="898" r:id="rId80"/>
    <p:sldId id="927" r:id="rId81"/>
    <p:sldId id="955" r:id="rId82"/>
    <p:sldId id="928" r:id="rId83"/>
    <p:sldId id="929" r:id="rId84"/>
    <p:sldId id="900" r:id="rId85"/>
    <p:sldId id="1036" r:id="rId86"/>
    <p:sldId id="930" r:id="rId87"/>
    <p:sldId id="901" r:id="rId88"/>
    <p:sldId id="1037" r:id="rId89"/>
    <p:sldId id="931" r:id="rId90"/>
    <p:sldId id="956" r:id="rId91"/>
    <p:sldId id="1038" r:id="rId92"/>
    <p:sldId id="933" r:id="rId93"/>
    <p:sldId id="1039" r:id="rId94"/>
    <p:sldId id="1040" r:id="rId95"/>
    <p:sldId id="1041" r:id="rId96"/>
    <p:sldId id="932" r:id="rId97"/>
    <p:sldId id="907" r:id="rId98"/>
    <p:sldId id="1003" r:id="rId99"/>
    <p:sldId id="264" r:id="rId100"/>
    <p:sldId id="259" r:id="rId101"/>
    <p:sldId id="260" r:id="rId102"/>
    <p:sldId id="1042" r:id="rId103"/>
    <p:sldId id="1064" r:id="rId104"/>
    <p:sldId id="1065" r:id="rId105"/>
    <p:sldId id="1066" r:id="rId106"/>
    <p:sldId id="1067" r:id="rId107"/>
    <p:sldId id="1104" r:id="rId108"/>
    <p:sldId id="1106" r:id="rId109"/>
    <p:sldId id="1069" r:id="rId110"/>
    <p:sldId id="1071" r:id="rId111"/>
    <p:sldId id="1072" r:id="rId112"/>
    <p:sldId id="1108" r:id="rId113"/>
    <p:sldId id="1110" r:id="rId114"/>
    <p:sldId id="1073" r:id="rId115"/>
    <p:sldId id="1112" r:id="rId116"/>
    <p:sldId id="1114" r:id="rId117"/>
    <p:sldId id="1116" r:id="rId118"/>
    <p:sldId id="1118" r:id="rId119"/>
    <p:sldId id="1075" r:id="rId120"/>
    <p:sldId id="1077" r:id="rId121"/>
    <p:sldId id="1079" r:id="rId12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content" id="{89EE48B6-907B-46A8-B9CB-C0A5F4E9B501}">
          <p14:sldIdLst>
            <p14:sldId id="256"/>
            <p14:sldId id="862"/>
            <p14:sldId id="934"/>
            <p14:sldId id="992"/>
            <p14:sldId id="947"/>
            <p14:sldId id="909"/>
            <p14:sldId id="991"/>
            <p14:sldId id="936"/>
            <p14:sldId id="935"/>
            <p14:sldId id="1030"/>
            <p14:sldId id="1031"/>
            <p14:sldId id="866"/>
            <p14:sldId id="910"/>
            <p14:sldId id="995"/>
            <p14:sldId id="911"/>
            <p14:sldId id="875"/>
            <p14:sldId id="876"/>
            <p14:sldId id="915"/>
            <p14:sldId id="953"/>
            <p14:sldId id="914"/>
            <p14:sldId id="952"/>
            <p14:sldId id="1032"/>
            <p14:sldId id="959"/>
            <p14:sldId id="1084"/>
            <p14:sldId id="1085"/>
            <p14:sldId id="1103"/>
            <p14:sldId id="1105"/>
            <p14:sldId id="1088"/>
            <p14:sldId id="1089"/>
            <p14:sldId id="1004"/>
            <p14:sldId id="880"/>
            <p14:sldId id="1033"/>
            <p14:sldId id="917"/>
            <p14:sldId id="883"/>
            <p14:sldId id="938"/>
            <p14:sldId id="885"/>
            <p14:sldId id="940"/>
            <p14:sldId id="949"/>
            <p14:sldId id="920"/>
            <p14:sldId id="887"/>
            <p14:sldId id="921"/>
            <p14:sldId id="950"/>
            <p14:sldId id="1000"/>
            <p14:sldId id="922"/>
            <p14:sldId id="923"/>
            <p14:sldId id="1090"/>
            <p14:sldId id="1091"/>
            <p14:sldId id="1092"/>
            <p14:sldId id="1093"/>
            <p14:sldId id="1107"/>
            <p14:sldId id="1109"/>
            <p14:sldId id="978"/>
            <p14:sldId id="941"/>
            <p14:sldId id="891"/>
            <p14:sldId id="1034"/>
            <p14:sldId id="1035"/>
            <p14:sldId id="892"/>
            <p14:sldId id="893"/>
            <p14:sldId id="924"/>
            <p14:sldId id="925"/>
            <p14:sldId id="1096"/>
            <p14:sldId id="1111"/>
            <p14:sldId id="1098"/>
            <p14:sldId id="1099"/>
            <p14:sldId id="1113"/>
            <p14:sldId id="1115"/>
            <p14:sldId id="1117"/>
            <p14:sldId id="989"/>
            <p14:sldId id="942"/>
            <p14:sldId id="954"/>
            <p14:sldId id="1002"/>
            <p14:sldId id="898"/>
            <p14:sldId id="927"/>
            <p14:sldId id="955"/>
            <p14:sldId id="928"/>
            <p14:sldId id="929"/>
            <p14:sldId id="900"/>
            <p14:sldId id="1036"/>
            <p14:sldId id="930"/>
            <p14:sldId id="901"/>
            <p14:sldId id="1037"/>
            <p14:sldId id="931"/>
            <p14:sldId id="956"/>
            <p14:sldId id="1038"/>
            <p14:sldId id="933"/>
            <p14:sldId id="1039"/>
            <p14:sldId id="1040"/>
            <p14:sldId id="1041"/>
            <p14:sldId id="932"/>
            <p14:sldId id="907"/>
            <p14:sldId id="1003"/>
            <p14:sldId id="264"/>
          </p14:sldIdLst>
        </p14:section>
        <p14:section name="Appendix: Image Descriptions for Unsighted Students" id="{190CAB3E-E7E3-4FE1-933B-0DC940C329C4}">
          <p14:sldIdLst>
            <p14:sldId id="259"/>
            <p14:sldId id="260"/>
            <p14:sldId id="1042"/>
            <p14:sldId id="1064"/>
            <p14:sldId id="1065"/>
            <p14:sldId id="1066"/>
            <p14:sldId id="1067"/>
            <p14:sldId id="1104"/>
            <p14:sldId id="1106"/>
            <p14:sldId id="1069"/>
            <p14:sldId id="1071"/>
            <p14:sldId id="1072"/>
            <p14:sldId id="1108"/>
            <p14:sldId id="1110"/>
            <p14:sldId id="1073"/>
            <p14:sldId id="1112"/>
            <p14:sldId id="1114"/>
            <p14:sldId id="1116"/>
            <p14:sldId id="1118"/>
            <p14:sldId id="1075"/>
            <p14:sldId id="1077"/>
            <p14:sldId id="10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70C0"/>
    <a:srgbClr val="001848"/>
    <a:srgbClr val="002F8E"/>
    <a:srgbClr val="081D48"/>
    <a:srgbClr val="3E485E"/>
    <a:srgbClr val="52516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325" autoAdjust="0"/>
    <p:restoredTop sz="86391" autoAdjust="0"/>
  </p:normalViewPr>
  <p:slideViewPr>
    <p:cSldViewPr snapToGrid="0">
      <p:cViewPr varScale="1">
        <p:scale>
          <a:sx n="95" d="100"/>
          <a:sy n="95" d="100"/>
        </p:scale>
        <p:origin x="954" y="84"/>
      </p:cViewPr>
      <p:guideLst/>
    </p:cSldViewPr>
  </p:slideViewPr>
  <p:outlineViewPr>
    <p:cViewPr>
      <p:scale>
        <a:sx n="33" d="100"/>
        <a:sy n="33" d="100"/>
      </p:scale>
      <p:origin x="0" y="-1845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slideMaster" Target="slideMasters/slideMaster5.xml"/><Relationship Id="rId6" Type="http://schemas.openxmlformats.org/officeDocument/2006/relationships/slideMaster" Target="slideMasters/slideMaster6.xml"/><Relationship Id="rId7" Type="http://schemas.openxmlformats.org/officeDocument/2006/relationships/slideMaster" Target="slideMasters/slideMaster7.xml"/><Relationship Id="rId8" Type="http://schemas.openxmlformats.org/officeDocument/2006/relationships/slideMaster" Target="slideMasters/slideMaster8.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 Id="rId44" Type="http://schemas.openxmlformats.org/officeDocument/2006/relationships/slide" Target="slides/slide36.xml"/><Relationship Id="rId45" Type="http://schemas.openxmlformats.org/officeDocument/2006/relationships/slide" Target="slides/slide37.xml"/><Relationship Id="rId46" Type="http://schemas.openxmlformats.org/officeDocument/2006/relationships/slide" Target="slides/slide38.xml"/><Relationship Id="rId47" Type="http://schemas.openxmlformats.org/officeDocument/2006/relationships/slide" Target="slides/slide39.xml"/><Relationship Id="rId48" Type="http://schemas.openxmlformats.org/officeDocument/2006/relationships/slide" Target="slides/slide40.xml"/><Relationship Id="rId49" Type="http://schemas.openxmlformats.org/officeDocument/2006/relationships/slide" Target="slides/slide41.xml"/><Relationship Id="rId50" Type="http://schemas.openxmlformats.org/officeDocument/2006/relationships/slide" Target="slides/slide42.xml"/><Relationship Id="rId51" Type="http://schemas.openxmlformats.org/officeDocument/2006/relationships/slide" Target="slides/slide43.xml"/><Relationship Id="rId52" Type="http://schemas.openxmlformats.org/officeDocument/2006/relationships/slide" Target="slides/slide44.xml"/><Relationship Id="rId53" Type="http://schemas.openxmlformats.org/officeDocument/2006/relationships/slide" Target="slides/slide45.xml"/><Relationship Id="rId54" Type="http://schemas.openxmlformats.org/officeDocument/2006/relationships/slide" Target="slides/slide46.xml"/><Relationship Id="rId55" Type="http://schemas.openxmlformats.org/officeDocument/2006/relationships/slide" Target="slides/slide47.xml"/><Relationship Id="rId56" Type="http://schemas.openxmlformats.org/officeDocument/2006/relationships/slide" Target="slides/slide48.xml"/><Relationship Id="rId57" Type="http://schemas.openxmlformats.org/officeDocument/2006/relationships/slide" Target="slides/slide49.xml"/><Relationship Id="rId58" Type="http://schemas.openxmlformats.org/officeDocument/2006/relationships/slide" Target="slides/slide50.xml"/><Relationship Id="rId59" Type="http://schemas.openxmlformats.org/officeDocument/2006/relationships/slide" Target="slides/slide51.xml"/><Relationship Id="rId60" Type="http://schemas.openxmlformats.org/officeDocument/2006/relationships/slide" Target="slides/slide52.xml"/><Relationship Id="rId61" Type="http://schemas.openxmlformats.org/officeDocument/2006/relationships/slide" Target="slides/slide53.xml"/><Relationship Id="rId62" Type="http://schemas.openxmlformats.org/officeDocument/2006/relationships/slide" Target="slides/slide54.xml"/><Relationship Id="rId63" Type="http://schemas.openxmlformats.org/officeDocument/2006/relationships/slide" Target="slides/slide55.xml"/><Relationship Id="rId64" Type="http://schemas.openxmlformats.org/officeDocument/2006/relationships/slide" Target="slides/slide56.xml"/><Relationship Id="rId65" Type="http://schemas.openxmlformats.org/officeDocument/2006/relationships/slide" Target="slides/slide57.xml"/><Relationship Id="rId66" Type="http://schemas.openxmlformats.org/officeDocument/2006/relationships/slide" Target="slides/slide58.xml"/><Relationship Id="rId67" Type="http://schemas.openxmlformats.org/officeDocument/2006/relationships/slide" Target="slides/slide59.xml"/><Relationship Id="rId68" Type="http://schemas.openxmlformats.org/officeDocument/2006/relationships/slide" Target="slides/slide60.xml"/><Relationship Id="rId69" Type="http://schemas.openxmlformats.org/officeDocument/2006/relationships/slide" Target="slides/slide61.xml"/><Relationship Id="rId70" Type="http://schemas.openxmlformats.org/officeDocument/2006/relationships/slide" Target="slides/slide62.xml"/><Relationship Id="rId71" Type="http://schemas.openxmlformats.org/officeDocument/2006/relationships/slide" Target="slides/slide63.xml"/><Relationship Id="rId72" Type="http://schemas.openxmlformats.org/officeDocument/2006/relationships/slide" Target="slides/slide64.xml"/><Relationship Id="rId73" Type="http://schemas.openxmlformats.org/officeDocument/2006/relationships/slide" Target="slides/slide65.xml"/><Relationship Id="rId74" Type="http://schemas.openxmlformats.org/officeDocument/2006/relationships/slide" Target="slides/slide66.xml"/><Relationship Id="rId75" Type="http://schemas.openxmlformats.org/officeDocument/2006/relationships/slide" Target="slides/slide67.xml"/><Relationship Id="rId76" Type="http://schemas.openxmlformats.org/officeDocument/2006/relationships/slide" Target="slides/slide68.xml"/><Relationship Id="rId77" Type="http://schemas.openxmlformats.org/officeDocument/2006/relationships/slide" Target="slides/slide69.xml"/><Relationship Id="rId78" Type="http://schemas.openxmlformats.org/officeDocument/2006/relationships/slide" Target="slides/slide70.xml"/><Relationship Id="rId79" Type="http://schemas.openxmlformats.org/officeDocument/2006/relationships/slide" Target="slides/slide71.xml"/><Relationship Id="rId80" Type="http://schemas.openxmlformats.org/officeDocument/2006/relationships/slide" Target="slides/slide72.xml"/><Relationship Id="rId81" Type="http://schemas.openxmlformats.org/officeDocument/2006/relationships/slide" Target="slides/slide73.xml"/><Relationship Id="rId82" Type="http://schemas.openxmlformats.org/officeDocument/2006/relationships/slide" Target="slides/slide74.xml"/><Relationship Id="rId83" Type="http://schemas.openxmlformats.org/officeDocument/2006/relationships/slide" Target="slides/slide75.xml"/><Relationship Id="rId84" Type="http://schemas.openxmlformats.org/officeDocument/2006/relationships/slide" Target="slides/slide76.xml"/><Relationship Id="rId85" Type="http://schemas.openxmlformats.org/officeDocument/2006/relationships/slide" Target="slides/slide77.xml"/><Relationship Id="rId86" Type="http://schemas.openxmlformats.org/officeDocument/2006/relationships/slide" Target="slides/slide78.xml"/><Relationship Id="rId87" Type="http://schemas.openxmlformats.org/officeDocument/2006/relationships/slide" Target="slides/slide79.xml"/><Relationship Id="rId88" Type="http://schemas.openxmlformats.org/officeDocument/2006/relationships/slide" Target="slides/slide80.xml"/><Relationship Id="rId89" Type="http://schemas.openxmlformats.org/officeDocument/2006/relationships/slide" Target="slides/slide81.xml"/><Relationship Id="rId90" Type="http://schemas.openxmlformats.org/officeDocument/2006/relationships/slide" Target="slides/slide82.xml"/><Relationship Id="rId91" Type="http://schemas.openxmlformats.org/officeDocument/2006/relationships/slide" Target="slides/slide83.xml"/><Relationship Id="rId92" Type="http://schemas.openxmlformats.org/officeDocument/2006/relationships/slide" Target="slides/slide84.xml"/><Relationship Id="rId93" Type="http://schemas.openxmlformats.org/officeDocument/2006/relationships/slide" Target="slides/slide85.xml"/><Relationship Id="rId94" Type="http://schemas.openxmlformats.org/officeDocument/2006/relationships/slide" Target="slides/slide86.xml"/><Relationship Id="rId95" Type="http://schemas.openxmlformats.org/officeDocument/2006/relationships/slide" Target="slides/slide87.xml"/><Relationship Id="rId96" Type="http://schemas.openxmlformats.org/officeDocument/2006/relationships/slide" Target="slides/slide88.xml"/><Relationship Id="rId97" Type="http://schemas.openxmlformats.org/officeDocument/2006/relationships/slide" Target="slides/slide89.xml"/><Relationship Id="rId98" Type="http://schemas.openxmlformats.org/officeDocument/2006/relationships/slide" Target="slides/slide90.xml"/><Relationship Id="rId99" Type="http://schemas.openxmlformats.org/officeDocument/2006/relationships/slide" Target="slides/slide91.xml"/><Relationship Id="rId100" Type="http://schemas.openxmlformats.org/officeDocument/2006/relationships/slide" Target="slides/slide92.xml"/><Relationship Id="rId101" Type="http://schemas.openxmlformats.org/officeDocument/2006/relationships/slide" Target="slides/slide93.xml"/><Relationship Id="rId102" Type="http://schemas.openxmlformats.org/officeDocument/2006/relationships/slide" Target="slides/slide94.xml"/><Relationship Id="rId103" Type="http://schemas.openxmlformats.org/officeDocument/2006/relationships/slide" Target="slides/slide95.xml"/><Relationship Id="rId104" Type="http://schemas.openxmlformats.org/officeDocument/2006/relationships/slide" Target="slides/slide96.xml"/><Relationship Id="rId105" Type="http://schemas.openxmlformats.org/officeDocument/2006/relationships/slide" Target="slides/slide97.xml"/><Relationship Id="rId106" Type="http://schemas.openxmlformats.org/officeDocument/2006/relationships/slide" Target="slides/slide98.xml"/><Relationship Id="rId107" Type="http://schemas.openxmlformats.org/officeDocument/2006/relationships/slide" Target="slides/slide99.xml"/><Relationship Id="rId108" Type="http://schemas.openxmlformats.org/officeDocument/2006/relationships/slide" Target="slides/slide100.xml"/><Relationship Id="rId109" Type="http://schemas.openxmlformats.org/officeDocument/2006/relationships/slide" Target="slides/slide101.xml"/><Relationship Id="rId110" Type="http://schemas.openxmlformats.org/officeDocument/2006/relationships/slide" Target="slides/slide102.xml"/><Relationship Id="rId111" Type="http://schemas.openxmlformats.org/officeDocument/2006/relationships/slide" Target="slides/slide103.xml"/><Relationship Id="rId112" Type="http://schemas.openxmlformats.org/officeDocument/2006/relationships/slide" Target="slides/slide104.xml"/><Relationship Id="rId113" Type="http://schemas.openxmlformats.org/officeDocument/2006/relationships/slide" Target="slides/slide105.xml"/><Relationship Id="rId114" Type="http://schemas.openxmlformats.org/officeDocument/2006/relationships/slide" Target="slides/slide106.xml"/><Relationship Id="rId115" Type="http://schemas.openxmlformats.org/officeDocument/2006/relationships/slide" Target="slides/slide107.xml"/><Relationship Id="rId116" Type="http://schemas.openxmlformats.org/officeDocument/2006/relationships/slide" Target="slides/slide108.xml"/><Relationship Id="rId117" Type="http://schemas.openxmlformats.org/officeDocument/2006/relationships/slide" Target="slides/slide109.xml"/><Relationship Id="rId118" Type="http://schemas.openxmlformats.org/officeDocument/2006/relationships/slide" Target="slides/slide110.xml"/><Relationship Id="rId119" Type="http://schemas.openxmlformats.org/officeDocument/2006/relationships/slide" Target="slides/slide111.xml"/><Relationship Id="rId120" Type="http://schemas.openxmlformats.org/officeDocument/2006/relationships/slide" Target="slides/slide112.xml"/><Relationship Id="rId121" Type="http://schemas.openxmlformats.org/officeDocument/2006/relationships/slide" Target="slides/slide113.xml"/><Relationship Id="rId122" Type="http://schemas.openxmlformats.org/officeDocument/2006/relationships/slide" Target="slides/slide114.xml"/><Relationship Id="rId123" Type="http://schemas.openxmlformats.org/officeDocument/2006/relationships/notesMaster" Target="notesMasters/notesMaster1.xml"/><Relationship Id="rId124" Type="http://schemas.openxmlformats.org/officeDocument/2006/relationships/presProps" Target="presProps.xml"/><Relationship Id="rId125" Type="http://schemas.openxmlformats.org/officeDocument/2006/relationships/viewProps" Target="viewProps.xml"/><Relationship Id="rId126" Type="http://schemas.openxmlformats.org/officeDocument/2006/relationships/theme" Target="theme/theme1.xml"/><Relationship Id="rId1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2F66B9-2679-4EF6-A964-F4F0D597BE08}" type="datetimeFigureOut">
              <a:rPr lang="en-IN" smtClean="0"/>
              <a:t>30-03-2021</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8AFE5E-CB4E-44AD-ADD3-4E74438CEC4D}" type="slidenum">
              <a:rPr lang="en-IN" smtClean="0"/>
              <a:t>‹#›</a:t>
            </a:fld>
            <a:endParaRPr lang="en-IN"/>
          </a:p>
        </p:txBody>
      </p:sp>
    </p:spTree>
    <p:extLst>
      <p:ext uri="{BB962C8B-B14F-4D97-AF65-F5344CB8AC3E}">
        <p14:creationId xmlns:p14="http://schemas.microsoft.com/office/powerpoint/2010/main" val="32519524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Slide Image Placeholder 1"/>
          <p:cNvSpPr>
            <a:spLocks noGrp="1" noRot="1" noChangeAspect="1" noTextEdit="1"/>
          </p:cNvSpPr>
          <p:nvPr>
            <p:ph type="sldImg"/>
          </p:nvPr>
        </p:nvSpPr>
        <p:spPr>
          <a:ln/>
        </p:spPr>
      </p:sp>
      <p:sp>
        <p:nvSpPr>
          <p:cNvPr id="10445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EXAM FOCUS (Low)</a:t>
            </a:r>
            <a:endParaRPr lang="en-US" altLang="en-US" dirty="0"/>
          </a:p>
          <a:p>
            <a:r>
              <a:rPr sz="1200" b="0"/>
              <a:t>Questions follow these five sections in order; expect about 10-14 from Ch 23, most from 23.1 and 23.5. Use the section titles as headings in your notes. Traps on Unit 1: the look-alike term from the same slide; absolute words (only, always, all, must, every), which were never in a correct answer; and terms borrowed from other chapters (e.g. peptidoglycan, hyphae, zoospores). Her Oct 22 email: for numbers and dates, know the major patterns and the sequence of evolutionary events, not exact counts or MYA; for uses, know the main examples and why they matter biologically; when a slide and the textbook disagree, follow the textbook.</a:t>
            </a:r>
          </a:p>
        </p:txBody>
      </p:sp>
      <p:sp>
        <p:nvSpPr>
          <p:cNvPr id="4" name="Slide Number Placeholder 3">
            <a:extLst>
              <a:ext uri="{FF2B5EF4-FFF2-40B4-BE49-F238E27FC236}">
                <a16:creationId xmlns:a16="http://schemas.microsoft.com/office/drawing/2014/main" id="{351C6B99-2DC6-4A14-8FA2-DBA68083E674}"/>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2</a:t>
            </a:fld>
            <a:endParaRPr lang="en-US" altLang="en-US" dirty="0"/>
          </a:p>
        </p:txBody>
      </p:sp>
    </p:spTree>
    <p:extLst>
      <p:ext uri="{BB962C8B-B14F-4D97-AF65-F5344CB8AC3E}">
        <p14:creationId xmlns:p14="http://schemas.microsoft.com/office/powerpoint/2010/main" val="2101238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Slide Image Placeholder 1"/>
          <p:cNvSpPr>
            <a:spLocks noGrp="1" noRot="1" noChangeAspect="1" noTextEdit="1"/>
          </p:cNvSpPr>
          <p:nvPr>
            <p:ph type="sldImg"/>
          </p:nvPr>
        </p:nvSpPr>
        <p:spPr>
          <a:ln/>
        </p:spPr>
      </p:sp>
      <p:sp>
        <p:nvSpPr>
          <p:cNvPr id="10547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NOT EXPLAINED ON ANY SLIDE</a:t>
            </a:r>
            <a:endParaRPr lang="en-US" altLang="en-US" dirty="0"/>
          </a:p>
          <a:p>
            <a:r>
              <a:rPr sz="1200" b="0"/>
              <a:t>• Plant systematists: scientists who classify plants based on how they are related.</a:t>
            </a:r>
          </a:p>
          <a:p/>
          <a:p>
            <a:r>
              <a:rPr sz="1200" b="1"/>
              <a:t>HOME NOTE</a:t>
            </a:r>
          </a:p>
          <a:p>
            <a:r>
              <a:rPr sz="1200" b="0"/>
              <a:t>• Plants: what they are and how they differ from green algae</a:t>
            </a:r>
          </a:p>
          <a:p>
            <a:r>
              <a:rPr sz="1200" b="0"/>
              <a:t>   Also write here:</a:t>
            </a:r>
          </a:p>
          <a:p>
            <a:r>
              <a:rPr sz="1200" b="0"/>
              <a:t>   – Embryo Difference in Green Algae and Land Plants (23.1.7): Example: Oedogonium, a green alga, leaves its embryo unprotected; Capsella (shepherd's purse), a flowering plant, keeps its embryo protected and fed inside a seed.</a:t>
            </a:r>
          </a:p>
          <a:p/>
          <a:p>
            <a:r>
              <a:rPr sz="1200" b="1"/>
              <a:t>EXAM FOCUS (High)</a:t>
            </a:r>
          </a:p>
          <a:p>
            <a:r>
              <a:rPr sz="1200" b="0"/>
              <a:t>Likely:</a:t>
            </a:r>
          </a:p>
          <a:p>
            <a:r>
              <a:rPr sz="1200" b="0"/>
              <a:t>   • Plants evolved from freshwater green algae.</a:t>
            </a:r>
          </a:p>
          <a:p>
            <a:r>
              <a:rPr sz="1200" b="0"/>
              <a:t>   • Shared with green algae: chlorophylls and accessory pigments, starch storage, cellulose cell walls.</a:t>
            </a:r>
          </a:p>
          <a:p>
            <a:r>
              <a:rPr sz="1200" b="0"/>
              <a:t>   • The difference: plants protect AND nourish the embryo (charophytes only protect the zygote, 23.1.5).</a:t>
            </a:r>
          </a:p>
          <a:p>
            <a:r>
              <a:rPr sz="1200" b="0"/>
              <a:t>Unlikely: The exact 590 MYA date (know only that plants came from green algae); "plant systematists".</a:t>
            </a:r>
          </a:p>
          <a:p>
            <a:r>
              <a:rPr sz="1200" b="0"/>
              <a:t>How:</a:t>
            </a:r>
          </a:p>
          <a:p>
            <a:r>
              <a:rPr sz="1200" b="0"/>
              <a:t>   • 'Which feature distinguishes land plants from green algae?' -&gt; protecting and nourishing the embryo. Trap: cellulose walls, starch, chlorophyll (both have them).</a:t>
            </a:r>
          </a:p>
          <a:p>
            <a:r>
              <a:rPr sz="1200" b="0"/>
              <a:t>   • 'Which feature do plants share with green algae?' -&gt; cellulose cell walls (or starch storage, chlorophylls). Trap: a protected, nourished embryo (plants only).</a:t>
            </a:r>
          </a:p>
          <a:p>
            <a:r>
              <a:rPr sz="1200" b="0"/>
              <a:t>Write: Two columns:</a:t>
            </a:r>
          </a:p>
          <a:p>
            <a:r>
              <a:rPr sz="1200" b="0"/>
              <a:t>   • Shared with green algae: chlorophylls + accessory pigments, starch, cellulose walls</a:t>
            </a:r>
          </a:p>
          <a:p>
            <a:r>
              <a:rPr sz="1200" b="0"/>
              <a:t>   • Only plants: embryo protected AND nourished (e.g. Capsella seed vs Oedogonium, 23.1.7)</a:t>
            </a:r>
          </a:p>
        </p:txBody>
      </p:sp>
      <p:sp>
        <p:nvSpPr>
          <p:cNvPr id="4" name="Slide Number Placeholder 3">
            <a:extLst>
              <a:ext uri="{FF2B5EF4-FFF2-40B4-BE49-F238E27FC236}">
                <a16:creationId xmlns:a16="http://schemas.microsoft.com/office/drawing/2014/main" id="{B2083AA4-0D4E-4F38-872B-5F0A2F274386}"/>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3</a:t>
            </a:fld>
            <a:endParaRPr lang="en-US" altLang="en-US" dirty="0"/>
          </a:p>
        </p:txBody>
      </p:sp>
    </p:spTree>
    <p:extLst>
      <p:ext uri="{BB962C8B-B14F-4D97-AF65-F5344CB8AC3E}">
        <p14:creationId xmlns:p14="http://schemas.microsoft.com/office/powerpoint/2010/main" val="33820539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b="1"/>
              <a:t>NOT EXPLAINED YET</a:t>
            </a:r>
            <a:endParaRPr lang="en-US" dirty="0"/>
          </a:p>
          <a:p>
            <a:r>
              <a:rPr sz="1200" b="0"/>
              <a:t>• Apical tissue: a patch of cells at the tips of roots and shoots that keeps dividing; it makes the plant grow longer and produces its other tissues. (24.1.6)</a:t>
            </a:r>
          </a:p>
          <a:p>
            <a:r>
              <a:rPr sz="1200" b="0"/>
              <a:t>• Alternation of generations: a plant's life switches between two different many-celled forms: a haploid gametophyte, which makes eggs and sperm, and a diploid sporophyte, which makes spores. (23.1.12)</a:t>
            </a:r>
          </a:p>
          <a:p>
            <a:r>
              <a:rPr sz="1200" b="0"/>
              <a:t>• Gametangia: the small organs where eggs and sperm are made. (23.1.12)</a:t>
            </a:r>
          </a:p>
          <a:p>
            <a:r>
              <a:rPr sz="1200" b="0"/>
              <a:t>• Waxy cuticle: a waxy, waterproof coating on the plant's surface that keeps it from drying out. (23.1.9)</a:t>
            </a:r>
          </a:p>
          <a:p>
            <a:r>
              <a:rPr sz="1200" b="0"/>
              <a:t>• Dominant generation: the form of the plant you actually see, the bigger, longer-lived one. (23.1.14)</a:t>
            </a:r>
          </a:p>
          <a:p>
            <a:r>
              <a:rPr sz="1200" b="0"/>
              <a:t>• Liverworts: small bryophytes with a flat, ribbon-like body or tiny leaves. (23.2.17)</a:t>
            </a:r>
          </a:p>
          <a:p>
            <a:r>
              <a:rPr sz="1200" b="0"/>
              <a:t>• Hornworts: small bryophytes whose spore-making stalks stick up like horns. (23.2.19)</a:t>
            </a:r>
          </a:p>
          <a:p>
            <a:r>
              <a:rPr sz="1200" b="0"/>
              <a:t>• Xylem and phloem: the plant's transport tissues. Xylem carries water up from the roots (its cells are lignified: stiffened with a tough substance called lignin); phloem carries sugars and other nutrients. (25.3.28)</a:t>
            </a:r>
          </a:p>
          <a:p>
            <a:r>
              <a:rPr sz="1200" b="0"/>
              <a:t>• Lycophytes: small seedless vascular plants such as club mosses; their leaves are microphylls. (23.3.34)</a:t>
            </a:r>
          </a:p>
          <a:p>
            <a:r>
              <a:rPr sz="1200" b="0"/>
              <a:t>• Microphylls and megaphylls: microphylls are small leaves with a single, unbranched vein; megaphylls are broad leaves with a branching network of veins. (23.4.37)</a:t>
            </a:r>
          </a:p>
          <a:p>
            <a:r>
              <a:rPr sz="1200" b="0"/>
              <a:t>• Pteridophytes: ferns and their relatives (horsetails and whisk ferns); seedless vascular plants whose leaves are megaphylls. (23.4.36)</a:t>
            </a:r>
          </a:p>
          <a:p>
            <a:r>
              <a:rPr sz="1200" b="0"/>
              <a:t>• Heterospores: two kinds of spores: microspores, which grow into male gametophytes, and megaspores, which grow into female gametophytes. (23.3.34)</a:t>
            </a:r>
          </a:p>
          <a:p>
            <a:r>
              <a:rPr sz="1200" b="0"/>
              <a:t>• Pollen grain: the tiny male gametophyte of a seed plant; it carries the sperm to the egg. (27.1.12)</a:t>
            </a:r>
          </a:p>
          <a:p>
            <a:r>
              <a:rPr sz="1200" b="0"/>
              <a:t>• Ovule: a small structure where the female gametophyte (with its egg) develops; after fertilization it becomes the seed. (27.1.14)</a:t>
            </a:r>
          </a:p>
          <a:p>
            <a:r>
              <a:rPr sz="1200" b="0"/>
              <a:t>• Pollen cones and seed cones: a conifer's male cones (small; make pollen) and female cones (larger; make seeds). (23.5.68)</a:t>
            </a:r>
          </a:p>
          <a:p>
            <a:r>
              <a:rPr sz="1200" b="0"/>
              <a:t>• Ovary: the swollen base of a flower's female part; it holds the ovules and later becomes the fruit. (23.5.84)</a:t>
            </a:r>
          </a:p>
          <a:p>
            <a:r>
              <a:rPr sz="1200" b="0"/>
              <a:t>• Double fertilization: in flowering plants, one sperm fertilizes the egg (forming the zygote, which grows into the embryo) and a second sperm fuses with two other nuclei to make endosperm, the seed's food supply. (23.5.89)</a:t>
            </a:r>
          </a:p>
          <a:p/>
          <a:p>
            <a:r>
              <a:rPr sz="1200" b="1"/>
              <a:t>COVERED ELSEWHERE</a:t>
            </a:r>
          </a:p>
          <a:p>
            <a:r>
              <a:rPr sz="1200" b="0"/>
              <a:t>Bryophytes (23.2.16) · Seedless vascular plants (23.3.32) · Gymnosperms vs angiosperms (23.5.56)</a:t>
            </a:r>
          </a:p>
          <a:p/>
          <a:p>
            <a:r>
              <a:rPr sz="1200" b="1"/>
              <a:t>EXAM FOCUS (Medium)</a:t>
            </a:r>
          </a:p>
          <a:p>
            <a:r>
              <a:rPr sz="1200" b="0"/>
              <a:t>Likely: Nothing of its own: it summarizes the chapter, so questions come from the slides that explain each row.</a:t>
            </a:r>
          </a:p>
          <a:p>
            <a:r>
              <a:rPr sz="1200" b="0"/>
              <a:t>Unlikely: The table's exact wording.</a:t>
            </a:r>
          </a:p>
          <a:p>
            <a:r>
              <a:rPr sz="1200" b="0"/>
              <a:t>How: The same facts as the later slides, e.g. 'Which group has a dominant gametophyte?' -&gt; bryophytes. Trap: ferns (the fern itself is the sporophyte).</a:t>
            </a:r>
          </a:p>
          <a:p>
            <a:r>
              <a:rPr sz="1200" b="0"/>
              <a:t>Write: Group comparison table, rows in evolutionary order (only here; it answers "which group..." questions fast):</a:t>
            </a:r>
          </a:p>
          <a:p>
            <a:r>
              <a:rPr sz="1200" b="0"/>
              <a:t>   • Bryophytes: new = life on land, protected embryo · gametophyte dominant · no vascular tissue · spores · sperm swim in water</a:t>
            </a:r>
          </a:p>
          <a:p>
            <a:r>
              <a:rPr sz="1200" b="0"/>
              <a:t>   • Lycophytes and pteridophytes: new = vascular tissue (lycophytes), megaphylls (pteridophytes) · sporophyte dominant · windblown spores · sperm swim in water</a:t>
            </a:r>
          </a:p>
          <a:p>
            <a:r>
              <a:rPr sz="1200" b="0"/>
              <a:t>   • Gymnosperms: new = seeds and pollen · sporophyte dominant · "naked" seeds, usually on cones · pollen tube, no water needed</a:t>
            </a:r>
          </a:p>
          <a:p>
            <a:r>
              <a:rPr sz="1200" b="0"/>
              <a:t>   • Angiosperms: new = flowers and fruit · sporophyte dominant · seeds inside a fruit · pollen tube; double fertilization</a:t>
            </a:r>
          </a:p>
        </p:txBody>
      </p:sp>
      <p:sp>
        <p:nvSpPr>
          <p:cNvPr id="5" name="Slide Number Placeholder 4">
            <a:extLst>
              <a:ext uri="{FF2B5EF4-FFF2-40B4-BE49-F238E27FC236}">
                <a16:creationId xmlns:a16="http://schemas.microsoft.com/office/drawing/2014/main" id="{27F1F64A-82E6-4362-97F3-2086F3B0DFD7}"/>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4</a:t>
            </a:fld>
            <a:endParaRPr lang="en-US" altLang="en-US" dirty="0"/>
          </a:p>
        </p:txBody>
      </p:sp>
    </p:spTree>
    <p:extLst>
      <p:ext uri="{BB962C8B-B14F-4D97-AF65-F5344CB8AC3E}">
        <p14:creationId xmlns:p14="http://schemas.microsoft.com/office/powerpoint/2010/main" val="36808554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Slide Image Placeholder 1"/>
          <p:cNvSpPr>
            <a:spLocks noGrp="1" noRot="1" noChangeAspect="1" noTextEdit="1"/>
          </p:cNvSpPr>
          <p:nvPr>
            <p:ph type="sldImg"/>
          </p:nvPr>
        </p:nvSpPr>
        <p:spPr>
          <a:ln/>
        </p:spPr>
      </p:sp>
      <p:sp>
        <p:nvSpPr>
          <p:cNvPr id="10649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NOT EXPLAINED ON ANY SLIDE</a:t>
            </a:r>
            <a:endParaRPr lang="en-US" altLang="en-US" dirty="0"/>
          </a:p>
          <a:p>
            <a:r>
              <a:rPr sz="1200" b="0"/>
              <a:t>• Clade: a group made of one common ancestor and all of its descendants.</a:t>
            </a:r>
          </a:p>
          <a:p>
            <a:r>
              <a:rPr sz="1200" b="0"/>
              <a:t>• Coleochaete: another charophyte; it grows as a flat disc of cells (pictured on 23.1.8).</a:t>
            </a:r>
          </a:p>
          <a:p/>
          <a:p>
            <a:r>
              <a:rPr sz="1200" b="1"/>
              <a:t>HOME NOTE</a:t>
            </a:r>
          </a:p>
          <a:p>
            <a:r>
              <a:rPr sz="1200" b="0"/>
              <a:t>• Charophytes (closest relatives of land plants)</a:t>
            </a:r>
          </a:p>
          <a:p>
            <a:r>
              <a:rPr sz="1200" b="0"/>
              <a:t>   Also write here:</a:t>
            </a:r>
          </a:p>
          <a:p>
            <a:r>
              <a:rPr sz="1200" b="0"/>
              <a:t>   – Charophytes (23.1.8): Pictures: Chara looks like a small plant with stem-like and leaf-like parts; Coleochaete grows as a flat disc of cells, each with one nucleus.</a:t>
            </a:r>
          </a:p>
          <a:p/>
          <a:p>
            <a:r>
              <a:rPr sz="1200" b="1"/>
              <a:t>COVERED ELSEWHERE</a:t>
            </a:r>
          </a:p>
          <a:p>
            <a:r>
              <a:rPr sz="1200" b="0"/>
              <a:t>Evolutionary tree of plants (23.1.6)</a:t>
            </a:r>
          </a:p>
          <a:p/>
          <a:p>
            <a:r>
              <a:rPr sz="1200" b="1"/>
              <a:t>EXAM FOCUS (High)</a:t>
            </a:r>
          </a:p>
          <a:p>
            <a:r>
              <a:rPr sz="1200" b="0"/>
              <a:t>Likely: Land plants' closest relatives are the charophytes (Chara, Coleochaete); charophytes protect the zygote.</a:t>
            </a:r>
          </a:p>
          <a:p>
            <a:r>
              <a:rPr sz="1200" b="0"/>
              <a:t>Unlikely: Clade terminology.</a:t>
            </a:r>
          </a:p>
          <a:p>
            <a:r>
              <a:rPr sz="1200" b="0"/>
              <a:t>How: 'Which green algae are most closely related to land plants?' -&gt; charophytes (Unit 1 asked this from Ch 21). Trap: chlorophytes, red or brown algae.</a:t>
            </a:r>
          </a:p>
          <a:p>
            <a:r>
              <a:rPr sz="1200" b="0"/>
              <a:t>Write: One line: charophytes (Chara, Coleochaete) = closest living relatives; they protect the zygote, plants also nourish the embryo.</a:t>
            </a:r>
          </a:p>
        </p:txBody>
      </p:sp>
      <p:sp>
        <p:nvSpPr>
          <p:cNvPr id="4" name="Slide Number Placeholder 3">
            <a:extLst>
              <a:ext uri="{FF2B5EF4-FFF2-40B4-BE49-F238E27FC236}">
                <a16:creationId xmlns:a16="http://schemas.microsoft.com/office/drawing/2014/main" id="{3F2420AB-177C-4705-BB3E-0E17449DF742}"/>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5</a:t>
            </a:fld>
            <a:endParaRPr lang="en-US" altLang="en-US" dirty="0"/>
          </a:p>
        </p:txBody>
      </p:sp>
    </p:spTree>
    <p:extLst>
      <p:ext uri="{BB962C8B-B14F-4D97-AF65-F5344CB8AC3E}">
        <p14:creationId xmlns:p14="http://schemas.microsoft.com/office/powerpoint/2010/main" val="36473435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Slide Image Placeholder 1"/>
          <p:cNvSpPr>
            <a:spLocks noGrp="1" noRot="1" noChangeAspect="1" noTextEdit="1"/>
          </p:cNvSpPr>
          <p:nvPr>
            <p:ph type="sldImg"/>
          </p:nvPr>
        </p:nvSpPr>
        <p:spPr>
          <a:ln/>
        </p:spPr>
      </p:sp>
      <p:sp>
        <p:nvSpPr>
          <p:cNvPr id="10957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IMAGE DESCRIPTION</a:t>
            </a:r>
            <a:endParaRPr lang="en-US" altLang="en-US" dirty="0"/>
          </a:p>
          <a:p>
            <a:r>
              <a:rPr sz="1200" b="0"/>
              <a:t>Common green algal ancestor leads to vascular (seed) through flowering plants and gymnosperms.</a:t>
            </a:r>
          </a:p>
          <a:p>
            <a:r>
              <a:rPr sz="1200" b="0"/>
              <a:t>Common green algal ancestor leads to vascular (seedless) through ferns and allies and lycophytes.</a:t>
            </a:r>
          </a:p>
          <a:p>
            <a:r>
              <a:rPr sz="1200" b="0"/>
              <a:t>Common green algal ancestor leads to nonvascular (bryophytes) through hornworts, mosses and liverworts.</a:t>
            </a:r>
          </a:p>
          <a:p>
            <a:r>
              <a:rPr sz="1200" b="0"/>
              <a:t>Common green algal ancestor leads to charophytes.</a:t>
            </a:r>
          </a:p>
          <a:p/>
          <a:p>
            <a:r>
              <a:rPr sz="1200" b="1"/>
              <a:t>NOT EXPLAINED ON ANY SLIDE</a:t>
            </a:r>
          </a:p>
          <a:p>
            <a:r>
              <a:rPr sz="1200" b="0"/>
              <a:t>• Cladogram: a branching diagram showing how groups are related; each fork is a common ancestor.</a:t>
            </a:r>
          </a:p>
          <a:p/>
          <a:p>
            <a:r>
              <a:rPr sz="1200" b="1"/>
              <a:t>NOT EXPLAINED YET</a:t>
            </a:r>
          </a:p>
          <a:p>
            <a:r>
              <a:rPr sz="1200" b="0"/>
              <a:t>• Bryophytes (nonvascular plants): liverworts, hornworts and mosses: small, low-growing land plants with no vascular tissue. (23.2.16)</a:t>
            </a:r>
          </a:p>
          <a:p>
            <a:r>
              <a:rPr sz="1200" b="0"/>
              <a:t>• Liverworts: small bryophytes with a flat, ribbon-like body or tiny leaves. (23.2.17)</a:t>
            </a:r>
          </a:p>
          <a:p>
            <a:r>
              <a:rPr sz="1200" b="0"/>
              <a:t>• Hornworts: small bryophytes whose spore-making stalks stick up like horns. (23.2.19)</a:t>
            </a:r>
          </a:p>
          <a:p>
            <a:r>
              <a:rPr sz="1200" b="0"/>
              <a:t>• Vascular: having vascular tissue, tubes that carry water (xylem) and food (phloem) through the plant. (25.3.28)</a:t>
            </a:r>
          </a:p>
          <a:p>
            <a:r>
              <a:rPr sz="1200" b="0"/>
              <a:t>• Seedless vascular plants: vascular plants that spread by spores instead of seeds (lycophytes, ferns and their allies). (23.3.32)</a:t>
            </a:r>
          </a:p>
          <a:p>
            <a:r>
              <a:rPr sz="1200" b="0"/>
              <a:t>• Lycophytes: small seedless vascular plants such as club mosses. (23.3.34)</a:t>
            </a:r>
          </a:p>
          <a:p>
            <a:r>
              <a:rPr sz="1200" b="0"/>
              <a:t>• Ferns and allies: ferns plus their relatives, the horsetails and whisk ferns. (23.4.36)</a:t>
            </a:r>
          </a:p>
          <a:p>
            <a:r>
              <a:rPr sz="1200" b="0"/>
              <a:t>• Gymnosperms and angiosperms: the two groups of seed plants. Gymnosperms (e.g., pines) have "naked" seeds, usually on cones; angiosperms are the flowering plants, whose seeds develop inside a fruit. (23.5.56)</a:t>
            </a:r>
          </a:p>
          <a:p/>
          <a:p>
            <a:r>
              <a:rPr sz="1200" b="1"/>
              <a:t>HOME NOTE</a:t>
            </a:r>
          </a:p>
          <a:p>
            <a:r>
              <a:rPr sz="1200" b="0"/>
              <a:t>• Evolutionary tree of plants</a:t>
            </a:r>
          </a:p>
          <a:p/>
          <a:p>
            <a:r>
              <a:rPr sz="1200" b="1"/>
              <a:t>EXAM FOCUS (Medium)</a:t>
            </a:r>
          </a:p>
          <a:p>
            <a:r>
              <a:rPr sz="1200" b="0"/>
              <a:t>Likely:</a:t>
            </a:r>
          </a:p>
          <a:p>
            <a:r>
              <a:rPr sz="1200" b="0"/>
              <a:t>   • The sequence of plant evolution (her Oct 22 email: focus on the sequence of evolutionary events): charophytes -&gt; bryophytes (nonvascular) -&gt; lycophytes and ferns (seedless vascular) -&gt; gymnosperms and flowering plants (seed plants).</a:t>
            </a:r>
          </a:p>
          <a:p>
            <a:r>
              <a:rPr sz="1200" b="0"/>
              <a:t>   • What each step added: life on land with a protected embryo (bryophytes), vascular tissue (lycophytes), megaphylls (ferns), seeds and pollen (gymnosperms), flowers and fruit (angiosperms).</a:t>
            </a:r>
          </a:p>
          <a:p>
            <a:r>
              <a:rPr sz="1200" b="0"/>
              <a:t>Unlikely: Exact dates; the tree's branching details (Unit 1 asked nothing from phylogeny trees).</a:t>
            </a:r>
          </a:p>
          <a:p>
            <a:r>
              <a:rPr sz="1200" b="0"/>
              <a:t>How:</a:t>
            </a:r>
          </a:p>
          <a:p>
            <a:r>
              <a:rPr sz="1200" b="0"/>
              <a:t>   • 'Which plants were the first to colonize land?' -&gt; bryophytes. Trap: ferns, lycophytes.</a:t>
            </a:r>
          </a:p>
          <a:p>
            <a:r>
              <a:rPr sz="1200" b="0"/>
              <a:t>   • 'Which feature do ferns have that mosses lack?' -&gt; vascular tissue. Trap: seeds (ferns don't have them either).</a:t>
            </a:r>
          </a:p>
          <a:p>
            <a:r>
              <a:rPr sz="1200" b="0"/>
              <a:t>   • 'Which group was the first to produce seeds?' -&gt; gymnosperms. Trap: ferns (spores only).</a:t>
            </a:r>
          </a:p>
          <a:p>
            <a:r>
              <a:rPr sz="1200" b="0"/>
              <a:t>Write: Nothing here; the 23.1.4 table's rows are already in this order, with what was new at each step (charophytes, the algal relatives, come before them).</a:t>
            </a:r>
          </a:p>
        </p:txBody>
      </p:sp>
      <p:sp>
        <p:nvSpPr>
          <p:cNvPr id="4" name="Slide Number Placeholder 3">
            <a:extLst>
              <a:ext uri="{FF2B5EF4-FFF2-40B4-BE49-F238E27FC236}">
                <a16:creationId xmlns:a16="http://schemas.microsoft.com/office/drawing/2014/main" id="{21BE5714-A0D4-4280-96D3-57CC25A97BE1}"/>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6</a:t>
            </a:fld>
            <a:endParaRPr lang="en-US" altLang="en-US" dirty="0"/>
          </a:p>
        </p:txBody>
      </p:sp>
    </p:spTree>
    <p:extLst>
      <p:ext uri="{BB962C8B-B14F-4D97-AF65-F5344CB8AC3E}">
        <p14:creationId xmlns:p14="http://schemas.microsoft.com/office/powerpoint/2010/main" val="40023133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b="1"/>
              <a:t>IMAGE DESCRIPTION</a:t>
            </a:r>
            <a:endParaRPr lang="en-US" dirty="0"/>
          </a:p>
          <a:p>
            <a:r>
              <a:rPr sz="1200" b="0"/>
              <a:t>A) Microscopic view of embryo of Oedogonium is depicted a tube-like alga with unprotected embryo. B) Microscopic view shows a nourished and protected embryo of Capsella encapsulated in seed.</a:t>
            </a:r>
          </a:p>
          <a:p/>
          <a:p>
            <a:r>
              <a:rPr sz="1200" b="1"/>
              <a:t>NOT EXPLAINED ON ANY SLIDE</a:t>
            </a:r>
          </a:p>
          <a:p>
            <a:r>
              <a:rPr sz="1200" b="0"/>
              <a:t>• Oedogonium: a green alga made of threads of cells.</a:t>
            </a:r>
          </a:p>
          <a:p>
            <a:r>
              <a:rPr sz="1200" b="0"/>
              <a:t>• Capsella (shepherd's purse): a small flowering plant.</a:t>
            </a:r>
          </a:p>
          <a:p/>
          <a:p>
            <a:r>
              <a:rPr sz="1200" b="1"/>
              <a:t>ADDS TO</a:t>
            </a:r>
          </a:p>
          <a:p>
            <a:r>
              <a:rPr sz="1200" b="0"/>
              <a:t>Plants: what they are and how they differ from green algae (23.1.3)</a:t>
            </a:r>
          </a:p>
          <a:p/>
          <a:p>
            <a:r>
              <a:rPr sz="1200" b="1"/>
              <a:t>EXAM FOCUS (Low)</a:t>
            </a:r>
          </a:p>
          <a:p>
            <a:r>
              <a:rPr sz="1200" b="0"/>
              <a:t>Picture for 23.1.3 (embryo unprotected in a green alga, protected and fed in a plant seed); see its exam note.</a:t>
            </a:r>
          </a:p>
        </p:txBody>
      </p:sp>
      <p:sp>
        <p:nvSpPr>
          <p:cNvPr id="5" name="Slide Number Placeholder 4">
            <a:extLst>
              <a:ext uri="{FF2B5EF4-FFF2-40B4-BE49-F238E27FC236}">
                <a16:creationId xmlns:a16="http://schemas.microsoft.com/office/drawing/2014/main" id="{1DC17E69-799B-49D8-9D45-8F936C719F41}"/>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7</a:t>
            </a:fld>
            <a:endParaRPr lang="en-US" altLang="en-US" dirty="0"/>
          </a:p>
        </p:txBody>
      </p:sp>
    </p:spTree>
    <p:extLst>
      <p:ext uri="{BB962C8B-B14F-4D97-AF65-F5344CB8AC3E}">
        <p14:creationId xmlns:p14="http://schemas.microsoft.com/office/powerpoint/2010/main" val="29868184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Slide Image Placeholder 1"/>
          <p:cNvSpPr>
            <a:spLocks noGrp="1" noRot="1" noChangeAspect="1" noTextEdit="1"/>
          </p:cNvSpPr>
          <p:nvPr>
            <p:ph type="sldImg"/>
          </p:nvPr>
        </p:nvSpPr>
        <p:spPr>
          <a:ln/>
        </p:spPr>
      </p:sp>
      <p:sp>
        <p:nvSpPr>
          <p:cNvPr id="10752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IMAGE DESCRIPTION</a:t>
            </a:r>
            <a:endParaRPr lang="en-US" altLang="en-US" dirty="0"/>
          </a:p>
          <a:p>
            <a:r>
              <a:rPr sz="1200" b="0"/>
              <a:t>A) Chara is depicted as stem-like and leaf-like structures.
B) Micrograph shows concentric rings of green, uninucleated cells.</a:t>
            </a:r>
          </a:p>
          <a:p/>
          <a:p>
            <a:r>
              <a:rPr sz="1200" b="1"/>
              <a:t>NOT EXPLAINED ON ANY SLIDE</a:t>
            </a:r>
          </a:p>
          <a:p>
            <a:r>
              <a:rPr sz="1200" b="0"/>
              <a:t>• Uninucleated: each cell has one nucleus.</a:t>
            </a:r>
          </a:p>
          <a:p/>
          <a:p>
            <a:r>
              <a:rPr sz="1200" b="1"/>
              <a:t>ADDS TO</a:t>
            </a:r>
          </a:p>
          <a:p>
            <a:r>
              <a:rPr sz="1200" b="0"/>
              <a:t>Charophytes (closest relatives of land plants) (23.1.5)</a:t>
            </a:r>
          </a:p>
          <a:p/>
          <a:p>
            <a:r>
              <a:rPr sz="1200" b="1"/>
              <a:t>EXAM FOCUS (Low)</a:t>
            </a:r>
          </a:p>
          <a:p>
            <a:r>
              <a:rPr sz="1200" b="0"/>
              <a:t>Pictures of the charophytes Chara and Coleochaete; see 23.1.5.</a:t>
            </a:r>
          </a:p>
        </p:txBody>
      </p:sp>
      <p:sp>
        <p:nvSpPr>
          <p:cNvPr id="4" name="Slide Number Placeholder 3">
            <a:extLst>
              <a:ext uri="{FF2B5EF4-FFF2-40B4-BE49-F238E27FC236}">
                <a16:creationId xmlns:a16="http://schemas.microsoft.com/office/drawing/2014/main" id="{B555678E-3094-44FD-9EC5-8ABE416DBF60}"/>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8</a:t>
            </a:fld>
            <a:endParaRPr lang="en-US" altLang="en-US" dirty="0"/>
          </a:p>
        </p:txBody>
      </p:sp>
    </p:spTree>
    <p:extLst>
      <p:ext uri="{BB962C8B-B14F-4D97-AF65-F5344CB8AC3E}">
        <p14:creationId xmlns:p14="http://schemas.microsoft.com/office/powerpoint/2010/main" val="29365584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Slide Image Placeholder 1"/>
          <p:cNvSpPr>
            <a:spLocks noGrp="1" noRot="1" noChangeAspect="1" noTextEdit="1"/>
          </p:cNvSpPr>
          <p:nvPr>
            <p:ph type="sldImg"/>
          </p:nvPr>
        </p:nvSpPr>
        <p:spPr>
          <a:ln/>
        </p:spPr>
      </p:sp>
      <p:sp>
        <p:nvSpPr>
          <p:cNvPr id="10854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NOT EXPLAINED ON ANY SLIDE</a:t>
            </a:r>
            <a:endParaRPr lang="en-US" altLang="en-US" dirty="0"/>
          </a:p>
          <a:p>
            <a:r>
              <a:rPr sz="1200" b="0"/>
              <a:t>• Desiccation: drying out.</a:t>
            </a:r>
          </a:p>
          <a:p/>
          <a:p>
            <a:r>
              <a:rPr sz="1200" b="1"/>
              <a:t>HOME NOTE</a:t>
            </a:r>
          </a:p>
          <a:p>
            <a:r>
              <a:rPr sz="1200" b="0"/>
              <a:t>• Adaptations to land</a:t>
            </a:r>
          </a:p>
          <a:p>
            <a:r>
              <a:rPr sz="1200" b="0"/>
              <a:t>   Also write here:</a:t>
            </a:r>
          </a:p>
          <a:p>
            <a:r>
              <a:rPr sz="1200" b="0"/>
              <a:t>   – Land Plants (23.1.11): Plant bodies are made of tissues (solid layers of cells) instead of thin, branching threads like many algae. A solid body has less surface for its size (a lower surface-area-to-volume ratio), so it loses less water. Plants also have both a haploid and a diploid generation (explained on 23.1.12), which helps against UV: land plants get more UV than algae in water, and UV causes mutations. A diploid cell has two copies of every gene, so a working copy can hide a harmful one. A shift toward a bigger, longer-lasting diploid generation also gives more genetic variety.</a:t>
            </a:r>
          </a:p>
          <a:p>
            <a:r>
              <a:rPr sz="1200" b="0"/>
              <a:t>   – Dominant Generation (23.1.14): The shift to a bigger, dominant sporophyte is itself an adaptation to land: only the sporophyte has vascular tissue, so it can grow large and carry water up from the ground.</a:t>
            </a:r>
          </a:p>
          <a:p>
            <a:r>
              <a:rPr sz="1200" b="0"/>
              <a:t>   – Conifers (23.5.58): Pine needles have an extra-thick cuticle, which saves water.</a:t>
            </a:r>
          </a:p>
          <a:p/>
          <a:p>
            <a:r>
              <a:rPr sz="1200" b="1"/>
              <a:t>ADDS TO</a:t>
            </a:r>
          </a:p>
          <a:p>
            <a:r>
              <a:rPr sz="1200" b="0"/>
              <a:t>Stomata (25.3.41) · Tracheids (24.1.15)</a:t>
            </a:r>
          </a:p>
          <a:p/>
          <a:p>
            <a:r>
              <a:rPr sz="1200" b="1"/>
              <a:t>EXAM FOCUS (High)</a:t>
            </a:r>
          </a:p>
          <a:p>
            <a:r>
              <a:rPr sz="1200" b="0"/>
              <a:t>Likely:</a:t>
            </a:r>
          </a:p>
          <a:p>
            <a:r>
              <a:rPr sz="1200" b="0"/>
              <a:t>   • Land problems: drying out, moving water up against gravity, UV damage.</a:t>
            </a:r>
          </a:p>
          <a:p>
            <a:r>
              <a:rPr sz="1200" b="0"/>
              <a:t>   • Cuticle: waxy, relatively impermeable covering on exposed surfaces; prevents drying out.</a:t>
            </a:r>
          </a:p>
          <a:p>
            <a:r>
              <a:rPr sz="1200" b="0"/>
              <a:t>   • Stomata: small openings, mostly on the leaf underside, for gas exchange.</a:t>
            </a:r>
          </a:p>
          <a:p>
            <a:r>
              <a:rPr sz="1200" b="0"/>
              <a:t>   • Tracheids: specialized cells that move water and minerals upward against gravity.</a:t>
            </a:r>
          </a:p>
          <a:p>
            <a:r>
              <a:rPr sz="1200" b="0"/>
              <a:t>Unlikely: Microscope details of the leaf surface.</a:t>
            </a:r>
          </a:p>
          <a:p>
            <a:r>
              <a:rPr sz="1200" b="0"/>
              <a:t>How:</a:t>
            </a:r>
          </a:p>
          <a:p>
            <a:r>
              <a:rPr sz="1200" b="0"/>
              <a:t>   • 'Which structures let gases pass between a leaf and the air?' -&gt; stomata. Trap: cuticle.</a:t>
            </a:r>
          </a:p>
          <a:p>
            <a:r>
              <a:rPr sz="1200" b="0"/>
              <a:t>   • 'A waxy covering on leaves mainly prevents...' -&gt; water loss (desiccation). Trap: gas exchange, UV damage.</a:t>
            </a:r>
          </a:p>
          <a:p>
            <a:r>
              <a:rPr sz="1200" b="0"/>
              <a:t>   • 'Which cells help land plants move water upward against gravity?' -&gt; tracheids. Trap: stomata, rhizoids.</a:t>
            </a:r>
          </a:p>
          <a:p>
            <a:r>
              <a:rPr sz="1200" b="0"/>
              <a:t>Write: Problem -&gt; solution table:</a:t>
            </a:r>
          </a:p>
          <a:p>
            <a:r>
              <a:rPr sz="1200" b="0"/>
              <a:t>   • Drying out -&gt; cuticle (pines: extra-thick cuticle)</a:t>
            </a:r>
          </a:p>
          <a:p>
            <a:r>
              <a:rPr sz="1200" b="0"/>
              <a:t>   • Gas exchange -&gt; stomata (details at 25.3.41)</a:t>
            </a:r>
          </a:p>
          <a:p>
            <a:r>
              <a:rPr sz="1200" b="0"/>
              <a:t>   • Water upward -&gt; tracheids / vascular tissue</a:t>
            </a:r>
          </a:p>
          <a:p>
            <a:r>
              <a:rPr sz="1200" b="0"/>
              <a:t>   • Water loss -&gt; body made of tissues (lower surface-area-to-volume ratio)</a:t>
            </a:r>
          </a:p>
          <a:p>
            <a:r>
              <a:rPr sz="1200" b="0"/>
              <a:t>   • UV damage -&gt; a diploid generation (a second gene copy hides a harmful allele)</a:t>
            </a:r>
          </a:p>
          <a:p>
            <a:r>
              <a:rPr sz="1200" b="0"/>
              <a:t>   • Sporophyte dominance is itself a land adaptation (only the sporophyte has vascular tissue)</a:t>
            </a:r>
          </a:p>
        </p:txBody>
      </p:sp>
      <p:sp>
        <p:nvSpPr>
          <p:cNvPr id="4" name="Slide Number Placeholder 3">
            <a:extLst>
              <a:ext uri="{FF2B5EF4-FFF2-40B4-BE49-F238E27FC236}">
                <a16:creationId xmlns:a16="http://schemas.microsoft.com/office/drawing/2014/main" id="{B85C43DA-6D0D-4B27-B091-0A6699D5C021}"/>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9</a:t>
            </a:fld>
            <a:endParaRPr lang="en-US" altLang="en-US" dirty="0"/>
          </a:p>
        </p:txBody>
      </p:sp>
    </p:spTree>
    <p:extLst>
      <p:ext uri="{BB962C8B-B14F-4D97-AF65-F5344CB8AC3E}">
        <p14:creationId xmlns:p14="http://schemas.microsoft.com/office/powerpoint/2010/main" val="23435989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Slide Image Placeholder 1"/>
          <p:cNvSpPr>
            <a:spLocks noGrp="1" noRot="1" noChangeAspect="1" noTextEdit="1"/>
          </p:cNvSpPr>
          <p:nvPr>
            <p:ph type="sldImg"/>
          </p:nvPr>
        </p:nvSpPr>
        <p:spPr>
          <a:ln/>
        </p:spPr>
      </p:sp>
      <p:sp>
        <p:nvSpPr>
          <p:cNvPr id="11161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IMAGE DESCRIPTION</a:t>
            </a:r>
            <a:endParaRPr lang="en-US" altLang="en-US" dirty="0"/>
          </a:p>
          <a:p>
            <a:r>
              <a:rPr sz="1200" b="0"/>
              <a:t>A) Leaves have a waterproof cuticle:</a:t>
            </a:r>
          </a:p>
          <a:p>
            <a:r>
              <a:rPr sz="1200" b="0"/>
              <a:t>Enlarged diagram shows the presence of white cuticle.</a:t>
            </a:r>
          </a:p>
          <a:p>
            <a:r>
              <a:rPr sz="1200" b="0"/>
              <a:t>B) Falsely colored scanning electron micrograph of leaf surface:</a:t>
            </a:r>
          </a:p>
          <a:p>
            <a:r>
              <a:rPr sz="1200" b="0"/>
              <a:t>Micrograph (enlarged 214 times) shows presence of eye shaped stomata across the surface of leaf.</a:t>
            </a:r>
          </a:p>
          <a:p/>
          <a:p>
            <a:r>
              <a:rPr sz="1200" b="1"/>
              <a:t>NOT EXPLAINED ON ANY SLIDE</a:t>
            </a:r>
          </a:p>
          <a:p>
            <a:r>
              <a:rPr sz="1200" b="0"/>
              <a:t>• Scanning electron micrograph: a highly magnified picture of a surface taken with an electron microscope; "falsely colored" means the color was added afterward.</a:t>
            </a:r>
          </a:p>
          <a:p/>
          <a:p>
            <a:r>
              <a:rPr sz="1200" b="1"/>
              <a:t>COVERED ELSEWHERE</a:t>
            </a:r>
          </a:p>
          <a:p>
            <a:r>
              <a:rPr sz="1200" b="0"/>
              <a:t>Adaptations to land (23.1.9) · Stomata (25.3.41)</a:t>
            </a:r>
          </a:p>
          <a:p/>
          <a:p>
            <a:r>
              <a:rPr sz="1200" b="1"/>
              <a:t>EXAM FOCUS (Low)</a:t>
            </a:r>
          </a:p>
          <a:p>
            <a:r>
              <a:rPr sz="1200" b="0"/>
              <a:t>Picture of the cuticle and stomata; see 23.1.9.</a:t>
            </a:r>
          </a:p>
        </p:txBody>
      </p:sp>
      <p:sp>
        <p:nvSpPr>
          <p:cNvPr id="4" name="Slide Number Placeholder 3">
            <a:extLst>
              <a:ext uri="{FF2B5EF4-FFF2-40B4-BE49-F238E27FC236}">
                <a16:creationId xmlns:a16="http://schemas.microsoft.com/office/drawing/2014/main" id="{C013668A-DAE8-4B87-94EA-7EC6275134E0}"/>
              </a:ext>
            </a:extLst>
          </p:cNvPr>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srgbClr val="000000"/>
                </a:solidFill>
                <a:effectLst/>
                <a:uLnTx/>
                <a:uFillTx/>
                <a:ea typeface="+mn-ea"/>
                <a:cs typeface="Arial" panose="020B0604020202020204" pitchFamily="34" charset="0"/>
              </a:rPr>
              <a:t>Slide </a:t>
            </a:r>
            <a:fld id="{D7F3AFFE-B8AD-4D09-9186-44CA76B356ED}" type="slidenum">
              <a:rPr kumimoji="0" lang="en-US" altLang="en-US" sz="1200" b="0" i="0" u="none" strike="noStrike" kern="1200" cap="none" spc="0" normalizeH="0" baseline="0" noProof="0" smtClean="0">
                <a:ln>
                  <a:noFill/>
                </a:ln>
                <a:solidFill>
                  <a:srgbClr val="000000"/>
                </a:solidFill>
                <a:effectLst/>
                <a:uLnTx/>
                <a:uFillTx/>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en-US" sz="1200" b="0" i="0" u="none" strike="noStrike" kern="1200" cap="none" spc="0" normalizeH="0" baseline="0" noProof="0" dirty="0">
              <a:ln>
                <a:noFill/>
              </a:ln>
              <a:solidFill>
                <a:srgbClr val="000000"/>
              </a:solidFill>
              <a:effectLst/>
              <a:uLnTx/>
              <a:uFillTx/>
              <a:ea typeface="+mn-ea"/>
              <a:cs typeface="Arial" panose="020B0604020202020204" pitchFamily="34" charset="0"/>
            </a:endParaRPr>
          </a:p>
        </p:txBody>
      </p:sp>
    </p:spTree>
    <p:extLst>
      <p:ext uri="{BB962C8B-B14F-4D97-AF65-F5344CB8AC3E}">
        <p14:creationId xmlns:p14="http://schemas.microsoft.com/office/powerpoint/2010/main" val="9426754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Slide Image Placeholder 1"/>
          <p:cNvSpPr>
            <a:spLocks noGrp="1" noRot="1" noChangeAspect="1" noTextEdit="1"/>
          </p:cNvSpPr>
          <p:nvPr>
            <p:ph type="sldImg"/>
          </p:nvPr>
        </p:nvSpPr>
        <p:spPr>
          <a:ln/>
        </p:spPr>
      </p:sp>
      <p:sp>
        <p:nvSpPr>
          <p:cNvPr id="10854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NOT EXPLAINED ON ANY SLIDE</a:t>
            </a:r>
            <a:endParaRPr lang="en-US" altLang="en-US" dirty="0"/>
          </a:p>
          <a:p>
            <a:r>
              <a:rPr sz="1200" b="0"/>
              <a:t>• Surface-area-to-volume ratio: how much outside surface something has compared with its size. Thin, branching shapes have a lot of surface, so they lose water fast.</a:t>
            </a:r>
          </a:p>
          <a:p>
            <a:r>
              <a:rPr sz="1200" b="0"/>
              <a:t>• Deleterious allele: a harmful version of a gene.</a:t>
            </a:r>
          </a:p>
          <a:p/>
          <a:p>
            <a:r>
              <a:rPr sz="1200" b="1"/>
              <a:t>NOT EXPLAINED YET</a:t>
            </a:r>
          </a:p>
          <a:p>
            <a:r>
              <a:rPr sz="1200" b="0"/>
              <a:t>• Haploid and diploid generation: a plant's life switches between two forms: a haploid one (the gametophyte, which makes eggs and sperm) and a diploid one (the sporophyte, which makes spores). (23.1.12)</a:t>
            </a:r>
          </a:p>
          <a:p>
            <a:r>
              <a:rPr sz="1200" b="0"/>
              <a:t>• Dominant generation: the form of the plant you actually see, the bigger, longer-lived one. (23.1.14)</a:t>
            </a:r>
          </a:p>
          <a:p/>
          <a:p>
            <a:r>
              <a:rPr sz="1200" b="1"/>
              <a:t>ADDS TO</a:t>
            </a:r>
          </a:p>
          <a:p>
            <a:r>
              <a:rPr sz="1200" b="0"/>
              <a:t>Adaptations to land (23.1.9)</a:t>
            </a:r>
          </a:p>
          <a:p/>
          <a:p>
            <a:r>
              <a:rPr sz="1200" b="1"/>
              <a:t>EXAM FOCUS (High)</a:t>
            </a:r>
          </a:p>
          <a:p>
            <a:r>
              <a:rPr sz="1200" b="0"/>
              <a:t>Likely:</a:t>
            </a:r>
          </a:p>
          <a:p>
            <a:r>
              <a:rPr sz="1200" b="0"/>
              <a:t>   • Bodies made of tissues have a lower surface-area-to-volume ratio than branched filaments -&gt; less water loss.</a:t>
            </a:r>
          </a:p>
          <a:p>
            <a:r>
              <a:rPr sz="1200" b="0"/>
              <a:t>   • Land plants have a haploid and a diploid generation: UV raises the chance of mutations, and a diploid can hide a single harmful allele.</a:t>
            </a:r>
          </a:p>
          <a:p>
            <a:r>
              <a:rPr sz="1200" b="0"/>
              <a:t>   • A shift toward a more dominant diploid generation gives more genetic variability.</a:t>
            </a:r>
          </a:p>
          <a:p>
            <a:r>
              <a:rPr sz="1200" b="0"/>
              <a:t>Unlikely: Calculating surface-area-to-volume ratios.</a:t>
            </a:r>
          </a:p>
          <a:p>
            <a:r>
              <a:rPr sz="1200" b="0"/>
              <a:t>How:</a:t>
            </a:r>
          </a:p>
          <a:p>
            <a:r>
              <a:rPr sz="1200" b="0"/>
              <a:t>   • 'How does a diploid generation help land plants cope with UV radiation?' -&gt; it can hide the effect of a single harmful allele. Trap: 'makes plants immune to mutations' (absolute).</a:t>
            </a:r>
          </a:p>
          <a:p>
            <a:r>
              <a:rPr sz="1200" b="0"/>
              <a:t>   • 'Why do plant bodies made of tissues lose less water than algal filaments?' -&gt; a lower surface-area-to-volume ratio. Trap: 'tissues have no surface'.</a:t>
            </a:r>
          </a:p>
          <a:p>
            <a:r>
              <a:rPr sz="1200" b="0"/>
              <a:t>Write: Nothing here; these go in the 23.1.9 table.</a:t>
            </a:r>
          </a:p>
        </p:txBody>
      </p:sp>
      <p:sp>
        <p:nvSpPr>
          <p:cNvPr id="4" name="Slide Number Placeholder 3">
            <a:extLst>
              <a:ext uri="{FF2B5EF4-FFF2-40B4-BE49-F238E27FC236}">
                <a16:creationId xmlns:a16="http://schemas.microsoft.com/office/drawing/2014/main" id="{B85C43DA-6D0D-4B27-B091-0A6699D5C021}"/>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11</a:t>
            </a:fld>
            <a:endParaRPr lang="en-US" altLang="en-US" dirty="0"/>
          </a:p>
        </p:txBody>
      </p:sp>
    </p:spTree>
    <p:extLst>
      <p:ext uri="{BB962C8B-B14F-4D97-AF65-F5344CB8AC3E}">
        <p14:creationId xmlns:p14="http://schemas.microsoft.com/office/powerpoint/2010/main" val="26888614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p:cNvSpPr>
            <a:spLocks noGrp="1" noRot="1" noChangeAspect="1" noTextEdit="1"/>
          </p:cNvSpPr>
          <p:nvPr>
            <p:ph type="sldImg"/>
          </p:nvPr>
        </p:nvSpPr>
        <p:spPr>
          <a:ln/>
        </p:spPr>
      </p:sp>
      <p:sp>
        <p:nvSpPr>
          <p:cNvPr id="11264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NOT EXPLAINED ON ANY SLIDE</a:t>
            </a:r>
            <a:endParaRPr lang="en-US" altLang="en-US" dirty="0"/>
          </a:p>
          <a:p>
            <a:r>
              <a:rPr sz="1200" b="0"/>
              <a:t>• Substrate: the surface something grows on, like soil or rock.</a:t>
            </a:r>
          </a:p>
          <a:p/>
          <a:p>
            <a:r>
              <a:rPr sz="1200" b="1"/>
              <a:t>HOME NOTE</a:t>
            </a:r>
          </a:p>
          <a:p>
            <a:r>
              <a:rPr sz="1200" b="0"/>
              <a:t>• Alternation of generations</a:t>
            </a:r>
          </a:p>
          <a:p/>
          <a:p>
            <a:r>
              <a:rPr sz="1200" b="1"/>
              <a:t>EXAM FOCUS (High)</a:t>
            </a:r>
          </a:p>
          <a:p>
            <a:r>
              <a:rPr sz="1200" b="0"/>
              <a:t>Likely:</a:t>
            </a:r>
          </a:p>
          <a:p>
            <a:r>
              <a:rPr sz="1200" b="0"/>
              <a:t>   • Alternation of generations: a multicellular haploid (n) gametophyte alternates with a multicellular diploid (2n) sporophyte.</a:t>
            </a:r>
          </a:p>
          <a:p>
            <a:r>
              <a:rPr sz="1200" b="0"/>
              <a:t>   • The gametophyte makes gametes by MITOSIS in gametangia: antheridia (male, sperm) and archegonia (female, eggs).</a:t>
            </a:r>
          </a:p>
          <a:p>
            <a:r>
              <a:rPr sz="1200" b="0"/>
              <a:t>   • Egg + sperm -&gt; diploid zygote -&gt; sporophyte.</a:t>
            </a:r>
          </a:p>
          <a:p>
            <a:r>
              <a:rPr sz="1200" b="0"/>
              <a:t>   • The sporophyte makes spores by MEIOSIS in a sporangium; spores grow into gametophytes.</a:t>
            </a:r>
          </a:p>
          <a:p>
            <a:r>
              <a:rPr sz="1200" b="0"/>
              <a:t>Unlikely: Nothing to skip; every point here is testable.</a:t>
            </a:r>
          </a:p>
          <a:p>
            <a:r>
              <a:rPr sz="1200" b="0"/>
              <a:t>How:</a:t>
            </a:r>
          </a:p>
          <a:p>
            <a:r>
              <a:rPr sz="1200" b="0"/>
              <a:t>   • 'Which process makes spores from the sporophyte?' -&gt; meiosis (like Unit 1's Ulva question). Trap: mitosis (that makes the gametes).</a:t>
            </a:r>
          </a:p>
          <a:p>
            <a:r>
              <a:rPr sz="1200" b="0"/>
              <a:t>   • 'Gametophytes produce gametes by...' -&gt; mitosis. Trap: meiosis.</a:t>
            </a:r>
          </a:p>
          <a:p>
            <a:r>
              <a:rPr sz="1200" b="0"/>
              <a:t>   • 'The female gametangia that produce eggs are...' -&gt; archegonia. Trap: antheridia.</a:t>
            </a:r>
          </a:p>
          <a:p>
            <a:r>
              <a:rPr sz="1200" b="0"/>
              <a:t>Write: Alternation box:</a:t>
            </a:r>
          </a:p>
          <a:p>
            <a:r>
              <a:rPr sz="1200" b="0"/>
              <a:t>   • Gametophyte (n) -&gt; gametes by mitosis, in gametangia: antheridia = sperm, archegonia = eggs</a:t>
            </a:r>
          </a:p>
          <a:p>
            <a:r>
              <a:rPr sz="1200" b="0"/>
              <a:t>   • Sperm + egg -&gt; zygote (2n) -&gt; sporophyte (2n)</a:t>
            </a:r>
          </a:p>
          <a:p>
            <a:r>
              <a:rPr sz="1200" b="0"/>
              <a:t>   • Sporophyte (2n) -&gt; spores by meiosis, in a sporangium -&gt; spores grow into gametophytes (n)</a:t>
            </a:r>
          </a:p>
        </p:txBody>
      </p:sp>
      <p:sp>
        <p:nvSpPr>
          <p:cNvPr id="4" name="Slide Number Placeholder 3">
            <a:extLst>
              <a:ext uri="{FF2B5EF4-FFF2-40B4-BE49-F238E27FC236}">
                <a16:creationId xmlns:a16="http://schemas.microsoft.com/office/drawing/2014/main" id="{D4FA277D-6B19-4E51-AC8C-6F872DD6266F}"/>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12</a:t>
            </a:fld>
            <a:endParaRPr lang="en-US" altLang="en-US" dirty="0"/>
          </a:p>
        </p:txBody>
      </p:sp>
    </p:spTree>
    <p:extLst>
      <p:ext uri="{BB962C8B-B14F-4D97-AF65-F5344CB8AC3E}">
        <p14:creationId xmlns:p14="http://schemas.microsoft.com/office/powerpoint/2010/main" val="20055255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Slide Image Placeholder 1"/>
          <p:cNvSpPr>
            <a:spLocks noGrp="1" noRot="1" noChangeAspect="1" noTextEdit="1"/>
          </p:cNvSpPr>
          <p:nvPr>
            <p:ph type="sldImg"/>
          </p:nvPr>
        </p:nvSpPr>
        <p:spPr>
          <a:ln/>
        </p:spPr>
      </p:sp>
      <p:sp>
        <p:nvSpPr>
          <p:cNvPr id="11366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IMAGE DESCRIPTION</a:t>
            </a:r>
            <a:endParaRPr lang="en-US" altLang="en-US" dirty="0"/>
          </a:p>
          <a:p>
            <a:r>
              <a:rPr sz="1200" b="0"/>
              <a:t>In diploid phase, zygote(2n) on mitosis leads to sporophyte (2n), which further leads to sporangium (2).</a:t>
            </a:r>
          </a:p>
          <a:p>
            <a:r>
              <a:rPr sz="1200" b="0"/>
              <a:t>In haploid phase (n), meiosis leads to spores (n), which on mitosis leads to gametophyte (n). Further, on mitosis, gametes (n) are formed which on fertilization leads to formation of zygote in diploid phase.</a:t>
            </a:r>
          </a:p>
          <a:p/>
          <a:p>
            <a:r>
              <a:rPr sz="1200" b="1"/>
              <a:t>COVERED ELSEWHERE</a:t>
            </a:r>
          </a:p>
          <a:p>
            <a:r>
              <a:rPr sz="1200" b="0"/>
              <a:t>Alternation of generations (23.1.12)</a:t>
            </a:r>
          </a:p>
          <a:p/>
          <a:p>
            <a:r>
              <a:rPr sz="1200" b="1"/>
              <a:t>EXAM FOCUS (Medium)</a:t>
            </a:r>
          </a:p>
          <a:p>
            <a:r>
              <a:rPr sz="1200" b="0"/>
              <a:t>Diagram of 23.1.12: know which step is meiosis (sporophyte -&gt; spores) and which is fertilization (gametes -&gt; zygote); see 23.1.12.</a:t>
            </a:r>
          </a:p>
        </p:txBody>
      </p:sp>
      <p:sp>
        <p:nvSpPr>
          <p:cNvPr id="4" name="Slide Number Placeholder 3">
            <a:extLst>
              <a:ext uri="{FF2B5EF4-FFF2-40B4-BE49-F238E27FC236}">
                <a16:creationId xmlns:a16="http://schemas.microsoft.com/office/drawing/2014/main" id="{C27EBC78-6856-44FD-BA2D-C3F283A76680}"/>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13</a:t>
            </a:fld>
            <a:endParaRPr lang="en-US" altLang="en-US" dirty="0"/>
          </a:p>
        </p:txBody>
      </p:sp>
    </p:spTree>
    <p:extLst>
      <p:ext uri="{BB962C8B-B14F-4D97-AF65-F5344CB8AC3E}">
        <p14:creationId xmlns:p14="http://schemas.microsoft.com/office/powerpoint/2010/main" val="15237146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b="1"/>
              <a:t>NOT EXPLAINED YET</a:t>
            </a:r>
            <a:endParaRPr lang="en-US" dirty="0"/>
          </a:p>
          <a:p>
            <a:r>
              <a:rPr sz="1200" b="0"/>
              <a:t>• Vascular system (vascular tissue): tubes that carry water (xylem) and food (phloem) through the plant. (25.3.28)</a:t>
            </a:r>
          </a:p>
          <a:p/>
          <a:p>
            <a:r>
              <a:rPr sz="1200" b="1"/>
              <a:t>HOME NOTE</a:t>
            </a:r>
          </a:p>
          <a:p>
            <a:r>
              <a:rPr sz="1200" b="0"/>
              <a:t>• Dominant generation</a:t>
            </a:r>
          </a:p>
          <a:p>
            <a:r>
              <a:rPr sz="1200" b="0"/>
              <a:t>   Also write here:</a:t>
            </a:r>
          </a:p>
          <a:p>
            <a:r>
              <a:rPr sz="1200" b="0"/>
              <a:t>   – Reduction in the Size of the Gametophyte (23.1.15): Going from mosses to ferns to gymnosperms (e.g., pines) to flowering plants, the gametophyte gets smaller and the sporophyte gets bigger. Moss and fern gametophytes are separate plants anchored by root-like hairs (rhizoids); in gymnosperms and flowering plants the gametophyte is microscopic and depends on the sporophyte.</a:t>
            </a:r>
          </a:p>
          <a:p/>
          <a:p>
            <a:r>
              <a:rPr sz="1200" b="1"/>
              <a:t>ADDS TO</a:t>
            </a:r>
          </a:p>
          <a:p>
            <a:r>
              <a:rPr sz="1200" b="0"/>
              <a:t>Adaptations to land (23.1.9)</a:t>
            </a:r>
          </a:p>
          <a:p/>
          <a:p>
            <a:r>
              <a:rPr sz="1200" b="1"/>
              <a:t>EXAM FOCUS (High)</a:t>
            </a:r>
          </a:p>
          <a:p>
            <a:r>
              <a:rPr sz="1200" b="0"/>
              <a:t>Likely:</a:t>
            </a:r>
          </a:p>
          <a:p>
            <a:r>
              <a:rPr sz="1200" b="0"/>
              <a:t>   • Dominant = the conspicuous generation.</a:t>
            </a:r>
          </a:p>
          <a:p>
            <a:r>
              <a:rPr sz="1200" b="0"/>
              <a:t>   • Mosses (and the other bryophytes): gametophyte dominant; all other plants (ferns, pines, flowering plants): sporophyte dominant.</a:t>
            </a:r>
          </a:p>
          <a:p>
            <a:r>
              <a:rPr sz="1200" b="0"/>
              <a:t>   • The shift to sporophyte dominance is a land adaptation: only sporophytes have vascular systems.</a:t>
            </a:r>
          </a:p>
          <a:p>
            <a:r>
              <a:rPr sz="1200" b="0"/>
              <a:t>   • As the sporophyte becomes dominant, the gametophyte gets smaller and dependent on it.</a:t>
            </a:r>
          </a:p>
          <a:p>
            <a:r>
              <a:rPr sz="1200" b="0"/>
              <a:t>Unlikely: Nothing to skip; every point here is testable.</a:t>
            </a:r>
          </a:p>
          <a:p>
            <a:r>
              <a:rPr sz="1200" b="0"/>
              <a:t>How:</a:t>
            </a:r>
          </a:p>
          <a:p>
            <a:r>
              <a:rPr sz="1200" b="0"/>
              <a:t>   • 'In which plants is the gametophyte the dominant generation?' -&gt; mosses (bryophytes). Trap: ferns, pines, flowering plants.</a:t>
            </a:r>
          </a:p>
          <a:p>
            <a:r>
              <a:rPr sz="1200" b="0"/>
              <a:t>   • 'Why is sporophyte dominance considered an adaptation to land?' -&gt; only the sporophyte has a vascular system. Trap: 'gametophytes cannot photosynthesize'.</a:t>
            </a:r>
          </a:p>
          <a:p>
            <a:r>
              <a:rPr sz="1200" b="0"/>
              <a:t>Write: One line: dominant generation per group (it's a column of the 23.1.4 table) + the reason; trend from 23.1.15: the gametophyte shrinks from moss -&gt; fern -&gt; gymnosperm -&gt; flowering plant.</a:t>
            </a:r>
          </a:p>
        </p:txBody>
      </p:sp>
      <p:sp>
        <p:nvSpPr>
          <p:cNvPr id="10" name="Slide Number Placeholder 9">
            <a:extLst>
              <a:ext uri="{FF2B5EF4-FFF2-40B4-BE49-F238E27FC236}">
                <a16:creationId xmlns:a16="http://schemas.microsoft.com/office/drawing/2014/main" id="{8ED39ED2-31C8-4C53-8FA2-CD00632FAA52}"/>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14</a:t>
            </a:fld>
            <a:endParaRPr lang="en-US" altLang="en-US" dirty="0"/>
          </a:p>
        </p:txBody>
      </p:sp>
    </p:spTree>
    <p:extLst>
      <p:ext uri="{BB962C8B-B14F-4D97-AF65-F5344CB8AC3E}">
        <p14:creationId xmlns:p14="http://schemas.microsoft.com/office/powerpoint/2010/main" val="13411325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Slide Image Placeholder 1"/>
          <p:cNvSpPr>
            <a:spLocks noGrp="1" noRot="1" noChangeAspect="1" noTextEdit="1"/>
          </p:cNvSpPr>
          <p:nvPr>
            <p:ph type="sldImg"/>
          </p:nvPr>
        </p:nvSpPr>
        <p:spPr>
          <a:ln/>
        </p:spPr>
      </p:sp>
      <p:sp>
        <p:nvSpPr>
          <p:cNvPr id="11469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IMAGE DESCRIPTION</a:t>
            </a:r>
            <a:endParaRPr lang="en-US" altLang="en-US" dirty="0"/>
          </a:p>
          <a:p>
            <a:r>
              <a:rPr sz="1200" b="0"/>
              <a:t>Illustration shows reduction in the size of the gametophyte and increase in sporophytes from moss to angiosperm.</a:t>
            </a:r>
          </a:p>
          <a:p>
            <a:r>
              <a:rPr sz="1200" b="0"/>
              <a:t>The data is as follows:</a:t>
            </a:r>
          </a:p>
          <a:p>
            <a:r>
              <a:rPr sz="1200" b="0"/>
              <a:t>Gametophyte (n):</a:t>
            </a:r>
          </a:p>
          <a:p>
            <a:r>
              <a:rPr sz="1200" b="0"/>
              <a:t>Moss: rhizoids.</a:t>
            </a:r>
          </a:p>
          <a:p>
            <a:r>
              <a:rPr sz="1200" b="0"/>
              <a:t>Fern: rhizoids</a:t>
            </a:r>
          </a:p>
          <a:p>
            <a:r>
              <a:rPr sz="1200" b="0"/>
              <a:t>Gymnosperm: blank</a:t>
            </a:r>
          </a:p>
          <a:p>
            <a:r>
              <a:rPr sz="1200" b="0"/>
              <a:t>Angiosperm: blank</a:t>
            </a:r>
          </a:p>
          <a:p>
            <a:r>
              <a:rPr sz="1200" b="0"/>
              <a:t>Sporophytes (2n):</a:t>
            </a:r>
          </a:p>
          <a:p>
            <a:r>
              <a:rPr sz="1200" b="0"/>
              <a:t>Moss: spores</a:t>
            </a:r>
          </a:p>
          <a:p>
            <a:r>
              <a:rPr sz="1200" b="0"/>
              <a:t>Fern: spores and roots</a:t>
            </a:r>
          </a:p>
          <a:p>
            <a:r>
              <a:rPr sz="1200" b="0"/>
              <a:t>Gymnosperm: seed and roots</a:t>
            </a:r>
          </a:p>
          <a:p>
            <a:r>
              <a:rPr sz="1200" b="0"/>
              <a:t>Angiosperm: seed and roots.</a:t>
            </a:r>
          </a:p>
          <a:p/>
          <a:p>
            <a:r>
              <a:rPr sz="1200" b="1"/>
              <a:t>NOT EXPLAINED YET</a:t>
            </a:r>
          </a:p>
          <a:p>
            <a:r>
              <a:rPr sz="1200" b="0"/>
              <a:t>• Rhizoids: root-like hairs that anchor the plant and help absorb water. (23.2.17)</a:t>
            </a:r>
          </a:p>
          <a:p>
            <a:r>
              <a:rPr sz="1200" b="0"/>
              <a:t>• Gymnosperms and angiosperms: the two groups of seed plants. Gymnosperms (e.g., pines) have "naked" seeds, usually on cones; angiosperms are the flowering plants, whose seeds develop inside a fruit. (23.5.56)</a:t>
            </a:r>
          </a:p>
          <a:p/>
          <a:p>
            <a:r>
              <a:rPr sz="1200" b="1"/>
              <a:t>ADDS TO</a:t>
            </a:r>
          </a:p>
          <a:p>
            <a:r>
              <a:rPr sz="1200" b="0"/>
              <a:t>Dominant generation (23.1.14)</a:t>
            </a:r>
          </a:p>
          <a:p/>
          <a:p>
            <a:r>
              <a:rPr sz="1200" b="1"/>
              <a:t>EXAM FOCUS (Medium)</a:t>
            </a:r>
          </a:p>
          <a:p>
            <a:r>
              <a:rPr sz="1200" b="0"/>
              <a:t>Figure for 23.1.14: from moss to fern to gymnosperm to flowering plant, the gametophyte shrinks and the sporophyte grows; see 23.1.14.</a:t>
            </a:r>
          </a:p>
        </p:txBody>
      </p:sp>
      <p:sp>
        <p:nvSpPr>
          <p:cNvPr id="4" name="Slide Number Placeholder 3">
            <a:extLst>
              <a:ext uri="{FF2B5EF4-FFF2-40B4-BE49-F238E27FC236}">
                <a16:creationId xmlns:a16="http://schemas.microsoft.com/office/drawing/2014/main" id="{F8B6DCC9-8854-45C4-9038-851C356D69AE}"/>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15</a:t>
            </a:fld>
            <a:endParaRPr lang="en-US" altLang="en-US" dirty="0"/>
          </a:p>
        </p:txBody>
      </p:sp>
    </p:spTree>
    <p:extLst>
      <p:ext uri="{BB962C8B-B14F-4D97-AF65-F5344CB8AC3E}">
        <p14:creationId xmlns:p14="http://schemas.microsoft.com/office/powerpoint/2010/main" val="42156489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Slide Image Placeholder 1"/>
          <p:cNvSpPr>
            <a:spLocks noGrp="1" noRot="1" noChangeAspect="1" noTextEdit="1"/>
          </p:cNvSpPr>
          <p:nvPr>
            <p:ph type="sldImg"/>
          </p:nvPr>
        </p:nvSpPr>
        <p:spPr>
          <a:ln/>
        </p:spPr>
      </p:sp>
      <p:sp>
        <p:nvSpPr>
          <p:cNvPr id="11571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NOT EXPLAINED YET</a:t>
            </a:r>
            <a:endParaRPr lang="en-US" altLang="en-US" dirty="0"/>
          </a:p>
          <a:p>
            <a:r>
              <a:rPr sz="1200" b="0"/>
              <a:t>• True roots, stems and leaves: ones with vascular tissue (xylem and phloem) inside. Bryophytes only have look-alike parts without it. (24.2.18)</a:t>
            </a:r>
          </a:p>
          <a:p>
            <a:r>
              <a:rPr sz="1200" b="0"/>
              <a:t>• Vascular tissue: tubes that carry water (xylem) and food (phloem) through the plant. (25.3.28)</a:t>
            </a:r>
          </a:p>
          <a:p/>
          <a:p>
            <a:r>
              <a:rPr sz="1200" b="1"/>
              <a:t>HOME NOTE</a:t>
            </a:r>
          </a:p>
          <a:p>
            <a:r>
              <a:rPr sz="1200" b="0"/>
              <a:t>• Bryophytes</a:t>
            </a:r>
          </a:p>
          <a:p/>
          <a:p>
            <a:r>
              <a:rPr sz="1200" b="1"/>
              <a:t>EXAM FOCUS (High)</a:t>
            </a:r>
          </a:p>
          <a:p>
            <a:r>
              <a:rPr sz="1200" b="0"/>
              <a:t>Likely:</a:t>
            </a:r>
          </a:p>
          <a:p>
            <a:r>
              <a:rPr sz="1200" b="0"/>
              <a:t>   • Bryophytes = nonvascular plants, the first to colonize land.</a:t>
            </a:r>
          </a:p>
          <a:p>
            <a:r>
              <a:rPr sz="1200" b="0"/>
              <a:t>   • No vascular tissue -&gt; low-lying, no specialized transport of water and nutrients, no true roots, stems or leaves.</a:t>
            </a:r>
          </a:p>
          <a:p>
            <a:r>
              <a:rPr sz="1200" b="0"/>
              <a:t>   • The gametophyte is the dominant generation.</a:t>
            </a:r>
          </a:p>
          <a:p>
            <a:r>
              <a:rPr sz="1200" b="0"/>
              <a:t>   • Eggs in archegonia; flagellated sperm in antheridia; sperm swim to the egg in a film of water.</a:t>
            </a:r>
          </a:p>
          <a:p>
            <a:r>
              <a:rPr sz="1200" b="0"/>
              <a:t>Unlikely: Nothing to skip; every point here is testable.</a:t>
            </a:r>
          </a:p>
          <a:p>
            <a:r>
              <a:rPr sz="1200" b="0"/>
              <a:t>How:</a:t>
            </a:r>
          </a:p>
          <a:p>
            <a:r>
              <a:rPr sz="1200" b="0"/>
              <a:t>   • 'A small plant lacks vascular tissue, has a dominant gametophyte and sperm that swim through water. Which group?' -&gt; bryophytes. Trap: ferns (swimming sperm, but vascular).</a:t>
            </a:r>
          </a:p>
          <a:p>
            <a:r>
              <a:rPr sz="1200" b="0"/>
              <a:t>   • 'Why are bryophytes low-growing?' -&gt; no vascular tissue to move water and nutrients. Trap: 'they lack chlorophyll'.</a:t>
            </a:r>
          </a:p>
          <a:p>
            <a:r>
              <a:rPr sz="1200" b="0"/>
              <a:t>Write: Bryophyte traits (the four points above); the three bryophyte groups go in the table at 23.2.17.</a:t>
            </a:r>
          </a:p>
        </p:txBody>
      </p:sp>
      <p:sp>
        <p:nvSpPr>
          <p:cNvPr id="4" name="Slide Number Placeholder 3">
            <a:extLst>
              <a:ext uri="{FF2B5EF4-FFF2-40B4-BE49-F238E27FC236}">
                <a16:creationId xmlns:a16="http://schemas.microsoft.com/office/drawing/2014/main" id="{D99E7E50-CBA7-45E7-A718-38F4A32B9A4F}"/>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16</a:t>
            </a:fld>
            <a:endParaRPr lang="en-US" altLang="en-US" dirty="0"/>
          </a:p>
        </p:txBody>
      </p:sp>
    </p:spTree>
    <p:extLst>
      <p:ext uri="{BB962C8B-B14F-4D97-AF65-F5344CB8AC3E}">
        <p14:creationId xmlns:p14="http://schemas.microsoft.com/office/powerpoint/2010/main" val="9538970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Slide Image Placeholder 1"/>
          <p:cNvSpPr>
            <a:spLocks noGrp="1" noRot="1" noChangeAspect="1" noTextEdit="1"/>
          </p:cNvSpPr>
          <p:nvPr>
            <p:ph type="sldImg"/>
          </p:nvPr>
        </p:nvSpPr>
        <p:spPr>
          <a:ln/>
        </p:spPr>
      </p:sp>
      <p:sp>
        <p:nvSpPr>
          <p:cNvPr id="11673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NOT EXPLAINED YET</a:t>
            </a:r>
            <a:endParaRPr lang="en-US" altLang="en-US" dirty="0"/>
          </a:p>
          <a:p>
            <a:r>
              <a:rPr sz="1200" b="0"/>
              <a:t>• Capsule: the top part of the sporophyte, where spores are made. (23.2.30)</a:t>
            </a:r>
          </a:p>
          <a:p/>
          <a:p>
            <a:r>
              <a:rPr sz="1200" b="1"/>
              <a:t>HOME NOTE</a:t>
            </a:r>
          </a:p>
          <a:p>
            <a:r>
              <a:rPr sz="1200" b="0"/>
              <a:t>• Liverworts</a:t>
            </a:r>
          </a:p>
          <a:p>
            <a:r>
              <a:rPr sz="1200" b="0"/>
              <a:t>   Also write here:</a:t>
            </a:r>
          </a:p>
          <a:p>
            <a:r>
              <a:rPr sz="1200" b="0"/>
              <a:t>   – Liverwort, Marchantia (23.2.18): Pictures of Marchantia: gemmae form in small cups on the flat body (thallus); antheridia are carried on stalks of the male plant, and archegonia on umbrella-shaped stalks of the female plant.</a:t>
            </a:r>
          </a:p>
          <a:p/>
          <a:p>
            <a:r>
              <a:rPr sz="1200" b="1"/>
              <a:t>EXAM FOCUS (Medium)</a:t>
            </a:r>
          </a:p>
          <a:p>
            <a:r>
              <a:rPr sz="1200" b="0"/>
              <a:t>Likely:</a:t>
            </a:r>
          </a:p>
          <a:p>
            <a:r>
              <a:rPr sz="1200" b="0"/>
              <a:t>   • Liverworts: thallose (flat thallus) or leafy (look like mosses).</a:t>
            </a:r>
          </a:p>
          <a:p>
            <a:r>
              <a:rPr sz="1200" b="0"/>
              <a:t>   • Marchantia has rhizoids: hairy extensions that anchor the plant and help absorb.</a:t>
            </a:r>
          </a:p>
          <a:p>
            <a:r>
              <a:rPr sz="1200" b="0"/>
              <a:t>   • Asexual reproduction: gemmae, cell clumps that detach and grow into new plants.</a:t>
            </a:r>
          </a:p>
          <a:p>
            <a:r>
              <a:rPr sz="1200" b="0"/>
              <a:t>   • Sexual: stalks bear antheridia or archegonia; the sporophyte grows from the fertilized egg and releases spores from a capsule.</a:t>
            </a:r>
          </a:p>
          <a:p>
            <a:r>
              <a:rPr sz="1200" b="0"/>
              <a:t>Unlikely: Which stalk shape carries antheridia or archegonia.</a:t>
            </a:r>
          </a:p>
          <a:p>
            <a:r>
              <a:rPr sz="1200" b="0"/>
              <a:t>How:</a:t>
            </a:r>
          </a:p>
          <a:p>
            <a:r>
              <a:rPr sz="1200" b="0"/>
              <a:t>   • 'Small clumps of cells detach from a liverwort and grow into new plants. What are they?' -&gt; gemmae. Trap: spores, rhizoids, protonema.</a:t>
            </a:r>
          </a:p>
          <a:p>
            <a:r>
              <a:rPr sz="1200" b="0"/>
              <a:t>   • 'Which structures anchor a liverwort and help it absorb water?' -&gt; rhizoids (Unit 1 asked about rhizoids in fungi). Trap: roots (bryophytes have no true roots).</a:t>
            </a:r>
          </a:p>
          <a:p>
            <a:r>
              <a:rPr sz="1200" b="0"/>
              <a:t>Write: Bryophyte table (write all three rows here):</a:t>
            </a:r>
          </a:p>
          <a:p>
            <a:r>
              <a:rPr sz="1200" b="0"/>
              <a:t>   • Liverworts: flat thallus or leafy; rhizoids; gemmae (asexual); e.g. Marchantia</a:t>
            </a:r>
          </a:p>
          <a:p>
            <a:r>
              <a:rPr sz="1200" b="0"/>
              <a:t>   • Hornworts (23.2.19): horn-like sporophytes from a thin gametophyte; 1 chloroplast per sporophyte cell; cyanobacteria fix nitrogen; fragmentation</a:t>
            </a:r>
          </a:p>
          <a:p>
            <a:r>
              <a:rPr sz="1200" b="0"/>
              <a:t>   • Mosses (23.2.21): largest group; revive after drying out; protonema; peat moss -&gt; soil water capacity</a:t>
            </a:r>
          </a:p>
        </p:txBody>
      </p:sp>
      <p:sp>
        <p:nvSpPr>
          <p:cNvPr id="4" name="Slide Number Placeholder 3">
            <a:extLst>
              <a:ext uri="{FF2B5EF4-FFF2-40B4-BE49-F238E27FC236}">
                <a16:creationId xmlns:a16="http://schemas.microsoft.com/office/drawing/2014/main" id="{B1E66129-F9F2-4BFC-A964-DE9F86B39224}"/>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17</a:t>
            </a:fld>
            <a:endParaRPr lang="en-US" altLang="en-US" dirty="0"/>
          </a:p>
        </p:txBody>
      </p:sp>
    </p:spTree>
    <p:extLst>
      <p:ext uri="{BB962C8B-B14F-4D97-AF65-F5344CB8AC3E}">
        <p14:creationId xmlns:p14="http://schemas.microsoft.com/office/powerpoint/2010/main" val="19427073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Slide Image Placeholder 1"/>
          <p:cNvSpPr>
            <a:spLocks noGrp="1" noRot="1" noChangeAspect="1" noTextEdit="1"/>
          </p:cNvSpPr>
          <p:nvPr>
            <p:ph type="sldImg"/>
          </p:nvPr>
        </p:nvSpPr>
        <p:spPr>
          <a:ln/>
        </p:spPr>
      </p:sp>
      <p:sp>
        <p:nvSpPr>
          <p:cNvPr id="11981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IMAGE DESCRIPTION</a:t>
            </a:r>
            <a:endParaRPr lang="en-US" altLang="en-US" dirty="0"/>
          </a:p>
          <a:p>
            <a:r>
              <a:rPr sz="1200" b="0"/>
              <a:t>a) Microscopic view shows thallus present between gemma cup and rhizoids.</a:t>
            </a:r>
          </a:p>
          <a:p>
            <a:r>
              <a:rPr sz="1200" b="0"/>
              <a:t>b) Male gametophytes bearing antheridia is depicted as sac-like structure of sterile cells.</a:t>
            </a:r>
          </a:p>
          <a:p>
            <a:r>
              <a:rPr sz="1200" b="0"/>
              <a:t>c) Female gametophyte bearing archegonia is depicted as umbrella shaped  structure on top of a stalk.</a:t>
            </a:r>
          </a:p>
          <a:p/>
          <a:p>
            <a:r>
              <a:rPr sz="1200" b="1"/>
              <a:t>NOT EXPLAINED ON ANY SLIDE</a:t>
            </a:r>
          </a:p>
          <a:p>
            <a:r>
              <a:rPr sz="1200" b="0"/>
              <a:t>• Gemma cup: a small cup on the liverwort's surface that holds gemmae until rain splashes them out.</a:t>
            </a:r>
          </a:p>
          <a:p>
            <a:r>
              <a:rPr sz="1200" b="0"/>
              <a:t>• Sterile cells: cells that don't make eggs, sperm or spores.</a:t>
            </a:r>
          </a:p>
          <a:p/>
          <a:p>
            <a:r>
              <a:rPr sz="1200" b="1"/>
              <a:t>ADDS TO</a:t>
            </a:r>
          </a:p>
          <a:p>
            <a:r>
              <a:rPr sz="1200" b="0"/>
              <a:t>Liverworts (23.2.17)</a:t>
            </a:r>
          </a:p>
          <a:p/>
          <a:p>
            <a:r>
              <a:rPr sz="1200" b="1"/>
              <a:t>EXAM FOCUS (Low)</a:t>
            </a:r>
          </a:p>
          <a:p>
            <a:r>
              <a:rPr sz="1200" b="0"/>
              <a:t>Pictures of Marchantia (gemma cups, male and female stalks); see 23.2.17.</a:t>
            </a:r>
          </a:p>
        </p:txBody>
      </p:sp>
      <p:sp>
        <p:nvSpPr>
          <p:cNvPr id="4" name="Slide Number Placeholder 3">
            <a:extLst>
              <a:ext uri="{FF2B5EF4-FFF2-40B4-BE49-F238E27FC236}">
                <a16:creationId xmlns:a16="http://schemas.microsoft.com/office/drawing/2014/main" id="{27C4C775-3942-4251-AEB0-7833725B5B8F}"/>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18</a:t>
            </a:fld>
            <a:endParaRPr lang="en-US" altLang="en-US" dirty="0"/>
          </a:p>
        </p:txBody>
      </p:sp>
    </p:spTree>
    <p:extLst>
      <p:ext uri="{BB962C8B-B14F-4D97-AF65-F5344CB8AC3E}">
        <p14:creationId xmlns:p14="http://schemas.microsoft.com/office/powerpoint/2010/main" val="38500658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Slide Image Placeholder 1"/>
          <p:cNvSpPr>
            <a:spLocks noGrp="1" noRot="1" noChangeAspect="1" noTextEdit="1"/>
          </p:cNvSpPr>
          <p:nvPr>
            <p:ph type="sldImg"/>
          </p:nvPr>
        </p:nvSpPr>
        <p:spPr>
          <a:ln/>
        </p:spPr>
      </p:sp>
      <p:sp>
        <p:nvSpPr>
          <p:cNvPr id="11776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NOT EXPLAINED ON ANY SLIDE</a:t>
            </a:r>
            <a:endParaRPr lang="en-US" altLang="en-US" dirty="0"/>
          </a:p>
          <a:p>
            <a:r>
              <a:rPr sz="1200" b="0"/>
              <a:t>• Fragmentation: a piece of the plant breaks off and grows into a new plant.</a:t>
            </a:r>
          </a:p>
          <a:p/>
          <a:p>
            <a:r>
              <a:rPr sz="1200" b="1"/>
              <a:t>NOT EXPLAINED YET</a:t>
            </a:r>
          </a:p>
          <a:p>
            <a:r>
              <a:rPr sz="1200" b="0"/>
              <a:t>• Nitrogen fixation: turning nitrogen gas from the air into a form living things can use. Plants can't do it themselves; some bacteria, like the cyanobacteria living in hornworts, can. (24.3.34)</a:t>
            </a:r>
          </a:p>
          <a:p/>
          <a:p>
            <a:r>
              <a:rPr sz="1200" b="1"/>
              <a:t>HOME NOTE</a:t>
            </a:r>
          </a:p>
          <a:p>
            <a:r>
              <a:rPr sz="1200" b="0"/>
              <a:t>• Hornworts</a:t>
            </a:r>
          </a:p>
          <a:p>
            <a:r>
              <a:rPr sz="1200" b="0"/>
              <a:t>   Also write here:</a:t>
            </a:r>
          </a:p>
          <a:p>
            <a:r>
              <a:rPr sz="1200" b="0"/>
              <a:t>   – Hornwort, Anthoceros sp. (23.2.20): The "horns" are sporophytes; they keep growing from a base anchored in the gametophyte.</a:t>
            </a:r>
          </a:p>
          <a:p>
            <a:r>
              <a:rPr sz="1200" b="0"/>
              <a:t>   – Why fragmentation skips alternation of generations: a broken-off piece just grows into a new gametophyte, with no spores or gametes involved.</a:t>
            </a:r>
          </a:p>
          <a:p/>
          <a:p>
            <a:r>
              <a:rPr sz="1200" b="1"/>
              <a:t>EXAM FOCUS (Medium)</a:t>
            </a:r>
          </a:p>
          <a:p>
            <a:r>
              <a:rPr sz="1200" b="0"/>
              <a:t>Likely:</a:t>
            </a:r>
          </a:p>
          <a:p>
            <a:r>
              <a:rPr sz="1200" b="0"/>
              <a:t>   • Hornworts: small sporophytes rising from thin, photosynthetic gametophytes.</a:t>
            </a:r>
          </a:p>
          <a:p>
            <a:r>
              <a:rPr sz="1200" b="0"/>
              <a:t>   • One chloroplast per sporophyte cell.</a:t>
            </a:r>
          </a:p>
          <a:p>
            <a:r>
              <a:rPr sz="1200" b="0"/>
              <a:t>   • Symbiotic cyanobacteria -&gt; nitrogen fixation.</a:t>
            </a:r>
          </a:p>
          <a:p>
            <a:r>
              <a:rPr sz="1200" b="0"/>
              <a:t>   • Can reproduce asexually by fragmentation.</a:t>
            </a:r>
          </a:p>
          <a:p>
            <a:r>
              <a:rPr sz="1200" b="0"/>
              <a:t>Unlikely: "Moist, well-shaded areas".</a:t>
            </a:r>
          </a:p>
          <a:p>
            <a:r>
              <a:rPr sz="1200" b="0"/>
              <a:t>How:</a:t>
            </a:r>
          </a:p>
          <a:p>
            <a:r>
              <a:rPr sz="1200" b="0"/>
              <a:t>   • 'Which bryophyte partners with cyanobacteria that fix nitrogen?' -&gt; hornworts. Trap: liverworts, mosses.</a:t>
            </a:r>
          </a:p>
          <a:p>
            <a:r>
              <a:rPr sz="1200" b="0"/>
              <a:t>   • 'A piece breaks off a hornwort and grows into a new plant. This is...' -&gt; fragmentation (asexual). Trap: gemmae (liverworts).</a:t>
            </a:r>
          </a:p>
          <a:p>
            <a:r>
              <a:rPr sz="1200" b="0"/>
              <a:t>Write: Nothing here; it's the hornwort row of the table at 23.2.17.</a:t>
            </a:r>
          </a:p>
        </p:txBody>
      </p:sp>
      <p:sp>
        <p:nvSpPr>
          <p:cNvPr id="4" name="Slide Number Placeholder 3">
            <a:extLst>
              <a:ext uri="{FF2B5EF4-FFF2-40B4-BE49-F238E27FC236}">
                <a16:creationId xmlns:a16="http://schemas.microsoft.com/office/drawing/2014/main" id="{4DC7CE96-0761-4205-8B7D-66C89213E3C9}"/>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19</a:t>
            </a:fld>
            <a:endParaRPr lang="en-US" altLang="en-US" dirty="0"/>
          </a:p>
        </p:txBody>
      </p:sp>
    </p:spTree>
    <p:extLst>
      <p:ext uri="{BB962C8B-B14F-4D97-AF65-F5344CB8AC3E}">
        <p14:creationId xmlns:p14="http://schemas.microsoft.com/office/powerpoint/2010/main" val="4692450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Slide Image Placeholder 1"/>
          <p:cNvSpPr>
            <a:spLocks noGrp="1" noRot="1" noChangeAspect="1" noTextEdit="1"/>
          </p:cNvSpPr>
          <p:nvPr>
            <p:ph type="sldImg"/>
          </p:nvPr>
        </p:nvSpPr>
        <p:spPr>
          <a:ln/>
        </p:spPr>
      </p:sp>
      <p:sp>
        <p:nvSpPr>
          <p:cNvPr id="12083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IMAGE DESCRIPTION</a:t>
            </a:r>
            <a:endParaRPr lang="en-US" altLang="en-US" dirty="0"/>
          </a:p>
          <a:p>
            <a:r>
              <a:rPr sz="1200" b="0"/>
              <a:t>The “horns” of a hornwort are sporophytes that grow continuously from a base anchored in gametophyte tissue.</a:t>
            </a:r>
          </a:p>
          <a:p/>
          <a:p>
            <a:r>
              <a:rPr sz="1200" b="1"/>
              <a:t>ADDS TO</a:t>
            </a:r>
          </a:p>
          <a:p>
            <a:r>
              <a:rPr sz="1200" b="0"/>
              <a:t>Hornworts (23.2.19)</a:t>
            </a:r>
          </a:p>
          <a:p/>
          <a:p>
            <a:r>
              <a:rPr sz="1200" b="1"/>
              <a:t>EXAM FOCUS (Low)</a:t>
            </a:r>
          </a:p>
          <a:p>
            <a:r>
              <a:rPr sz="1200" b="0"/>
              <a:t>Photo: a hornwort's "horns" are its sporophytes; see 23.2.19.</a:t>
            </a:r>
          </a:p>
        </p:txBody>
      </p:sp>
      <p:sp>
        <p:nvSpPr>
          <p:cNvPr id="4" name="Slide Number Placeholder 3">
            <a:extLst>
              <a:ext uri="{FF2B5EF4-FFF2-40B4-BE49-F238E27FC236}">
                <a16:creationId xmlns:a16="http://schemas.microsoft.com/office/drawing/2014/main" id="{0E756A34-901C-4924-B075-11F4DCFE1264}"/>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20</a:t>
            </a:fld>
            <a:endParaRPr lang="en-US" altLang="en-US" dirty="0"/>
          </a:p>
        </p:txBody>
      </p:sp>
    </p:spTree>
    <p:extLst>
      <p:ext uri="{BB962C8B-B14F-4D97-AF65-F5344CB8AC3E}">
        <p14:creationId xmlns:p14="http://schemas.microsoft.com/office/powerpoint/2010/main" val="16856248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Slide Image Placeholder 1"/>
          <p:cNvSpPr>
            <a:spLocks noGrp="1" noRot="1" noChangeAspect="1" noTextEdit="1"/>
          </p:cNvSpPr>
          <p:nvPr>
            <p:ph type="sldImg"/>
          </p:nvPr>
        </p:nvSpPr>
        <p:spPr>
          <a:ln/>
        </p:spPr>
      </p:sp>
      <p:sp>
        <p:nvSpPr>
          <p:cNvPr id="11878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NOT EXPLAINED ON ANY SLIDE</a:t>
            </a:r>
            <a:endParaRPr lang="en-US" altLang="en-US" dirty="0"/>
          </a:p>
          <a:p>
            <a:r>
              <a:rPr sz="1200" b="0"/>
              <a:t>• Phylum (plural phyla): a large group of related organisms, one level below kingdom.</a:t>
            </a:r>
          </a:p>
          <a:p/>
          <a:p>
            <a:r>
              <a:rPr sz="1200" b="1"/>
              <a:t>EXAM FOCUS (Medium)</a:t>
            </a:r>
          </a:p>
          <a:p>
            <a:r>
              <a:rPr sz="1200" b="0"/>
              <a:t>Likely:</a:t>
            </a:r>
          </a:p>
          <a:p>
            <a:r>
              <a:rPr sz="1200" b="0"/>
              <a:t>   • Mosses: the largest group of nonvascular plants; mostly in moist places.</a:t>
            </a:r>
          </a:p>
          <a:p>
            <a:r>
              <a:rPr sz="1200" b="0"/>
              <a:t>   • In dry conditions they shrivel and look dead, then revive when it rains.</a:t>
            </a:r>
          </a:p>
          <a:p>
            <a:r>
              <a:rPr sz="1200" b="0"/>
              <a:t>   • Peat moss holds a lot of water: it improves the water-holding capacity of soil and was used as a wound dressing on battlefields.</a:t>
            </a:r>
          </a:p>
          <a:p>
            <a:r>
              <a:rPr sz="1200" b="0"/>
              <a:t>Unlikely: The three groupings (peat, granite, true mosses).</a:t>
            </a:r>
          </a:p>
          <a:p>
            <a:r>
              <a:rPr sz="1200" b="0"/>
              <a:t>How: 'Which plant is used to improve the water-holding capacity of soil?' -&gt; peat moss (uses are asked as "which group gives X", like Unit 1's agar question). Trap: ferns, liverworts.</a:t>
            </a:r>
          </a:p>
          <a:p>
            <a:r>
              <a:rPr sz="1200" b="0"/>
              <a:t>Write: Nothing here; it's the moss row of the table at 23.2.17 (with the peat moss use).</a:t>
            </a:r>
          </a:p>
        </p:txBody>
      </p:sp>
      <p:sp>
        <p:nvSpPr>
          <p:cNvPr id="4" name="Slide Number Placeholder 3">
            <a:extLst>
              <a:ext uri="{FF2B5EF4-FFF2-40B4-BE49-F238E27FC236}">
                <a16:creationId xmlns:a16="http://schemas.microsoft.com/office/drawing/2014/main" id="{87C4B9F2-613A-4C13-95BF-BE872C6051D5}"/>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21</a:t>
            </a:fld>
            <a:endParaRPr lang="en-US" altLang="en-US" dirty="0"/>
          </a:p>
        </p:txBody>
      </p:sp>
    </p:spTree>
    <p:extLst>
      <p:ext uri="{BB962C8B-B14F-4D97-AF65-F5344CB8AC3E}">
        <p14:creationId xmlns:p14="http://schemas.microsoft.com/office/powerpoint/2010/main" val="67798825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Slide Image Placeholder 1"/>
          <p:cNvSpPr>
            <a:spLocks noGrp="1" noRot="1" noChangeAspect="1" noTextEdit="1"/>
          </p:cNvSpPr>
          <p:nvPr>
            <p:ph type="sldImg"/>
          </p:nvPr>
        </p:nvSpPr>
        <p:spPr>
          <a:ln/>
        </p:spPr>
      </p:sp>
      <p:sp>
        <p:nvSpPr>
          <p:cNvPr id="12493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IMAGE DESCRIPTION</a:t>
            </a:r>
            <a:endParaRPr lang="en-US" altLang="en-US" dirty="0"/>
          </a:p>
          <a:p>
            <a:r>
              <a:rPr sz="1200" b="0"/>
              <a:t>Mature gametophytes are leafy shoots that bear either antheridia or archegonia, where gametes are produced by mitosis.</a:t>
            </a:r>
          </a:p>
          <a:p/>
          <a:p>
            <a:r>
              <a:rPr sz="1200" b="1"/>
              <a:t>COVERED ELSEWHERE</a:t>
            </a:r>
          </a:p>
          <a:p>
            <a:r>
              <a:rPr sz="1200" b="0"/>
              <a:t>Moss life cycle (23.2.30)</a:t>
            </a:r>
          </a:p>
          <a:p/>
          <a:p>
            <a:r>
              <a:rPr sz="1200" b="1"/>
              <a:t>EXAM FOCUS (Low)</a:t>
            </a:r>
          </a:p>
          <a:p>
            <a:r>
              <a:rPr sz="1200" b="0"/>
              <a:t>Step 1 of the moss cycle (gametes made by mitosis in antheridia and archegonia); see 23.2.30.</a:t>
            </a:r>
          </a:p>
        </p:txBody>
      </p:sp>
      <p:sp>
        <p:nvSpPr>
          <p:cNvPr id="4" name="Slide Number Placeholder 3">
            <a:extLst>
              <a:ext uri="{FF2B5EF4-FFF2-40B4-BE49-F238E27FC236}">
                <a16:creationId xmlns:a16="http://schemas.microsoft.com/office/drawing/2014/main" id="{EFC65832-5B94-4909-8E64-BB5B4714A8BD}"/>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23</a:t>
            </a:fld>
            <a:endParaRPr lang="en-US" altLang="en-US" dirty="0"/>
          </a:p>
        </p:txBody>
      </p:sp>
    </p:spTree>
    <p:extLst>
      <p:ext uri="{BB962C8B-B14F-4D97-AF65-F5344CB8AC3E}">
        <p14:creationId xmlns:p14="http://schemas.microsoft.com/office/powerpoint/2010/main" val="413337914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Slide Image Placeholder 1"/>
          <p:cNvSpPr>
            <a:spLocks noGrp="1" noRot="1" noChangeAspect="1" noTextEdit="1"/>
          </p:cNvSpPr>
          <p:nvPr>
            <p:ph type="sldImg"/>
          </p:nvPr>
        </p:nvSpPr>
        <p:spPr>
          <a:ln/>
        </p:spPr>
      </p:sp>
      <p:sp>
        <p:nvSpPr>
          <p:cNvPr id="12493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IMAGE DESCRIPTION</a:t>
            </a:r>
            <a:endParaRPr lang="en-US" altLang="en-US" dirty="0"/>
          </a:p>
          <a:p>
            <a:r>
              <a:rPr sz="1200" b="0"/>
              <a:t>Step 2, Fertilization: Flagellate sperm produced in antheridia swim in external water to archegonia, each bearing a single egg.</a:t>
            </a:r>
          </a:p>
          <a:p/>
          <a:p>
            <a:r>
              <a:rPr sz="1200" b="1"/>
              <a:t>COVERED ELSEWHERE</a:t>
            </a:r>
          </a:p>
          <a:p>
            <a:r>
              <a:rPr sz="1200" b="0"/>
              <a:t>Moss life cycle (23.2.30)</a:t>
            </a:r>
          </a:p>
          <a:p/>
          <a:p>
            <a:r>
              <a:rPr sz="1200" b="1"/>
              <a:t>EXAM FOCUS (Low)</a:t>
            </a:r>
          </a:p>
          <a:p>
            <a:r>
              <a:rPr sz="1200" b="0"/>
              <a:t>Step 2 of the moss cycle (sperm swim through water to the egg); see 23.2.30.</a:t>
            </a:r>
          </a:p>
        </p:txBody>
      </p:sp>
      <p:sp>
        <p:nvSpPr>
          <p:cNvPr id="4" name="Slide Number Placeholder 3">
            <a:extLst>
              <a:ext uri="{FF2B5EF4-FFF2-40B4-BE49-F238E27FC236}">
                <a16:creationId xmlns:a16="http://schemas.microsoft.com/office/drawing/2014/main" id="{EFC65832-5B94-4909-8E64-BB5B4714A8BD}"/>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24</a:t>
            </a:fld>
            <a:endParaRPr lang="en-US" altLang="en-US" dirty="0"/>
          </a:p>
        </p:txBody>
      </p:sp>
    </p:spTree>
    <p:extLst>
      <p:ext uri="{BB962C8B-B14F-4D97-AF65-F5344CB8AC3E}">
        <p14:creationId xmlns:p14="http://schemas.microsoft.com/office/powerpoint/2010/main" val="41644817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Slide Image Placeholder 1"/>
          <p:cNvSpPr>
            <a:spLocks noGrp="1" noRot="1" noChangeAspect="1" noTextEdit="1"/>
          </p:cNvSpPr>
          <p:nvPr>
            <p:ph type="sldImg"/>
          </p:nvPr>
        </p:nvSpPr>
        <p:spPr>
          <a:ln/>
        </p:spPr>
      </p:sp>
      <p:sp>
        <p:nvSpPr>
          <p:cNvPr id="12493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IMAGE DESCRIPTION</a:t>
            </a:r>
            <a:endParaRPr lang="en-US" altLang="en-US" dirty="0"/>
          </a:p>
          <a:p>
            <a:r>
              <a:rPr sz="1200" b="0"/>
              <a:t>Step 3, the zygote and developing sporophyte are retained within the archegonium.</a:t>
            </a:r>
          </a:p>
          <a:p/>
          <a:p>
            <a:r>
              <a:rPr sz="1200" b="1"/>
              <a:t>COVERED ELSEWHERE</a:t>
            </a:r>
          </a:p>
          <a:p>
            <a:r>
              <a:rPr sz="1200" b="0"/>
              <a:t>Moss life cycle (23.2.30)</a:t>
            </a:r>
          </a:p>
          <a:p/>
          <a:p>
            <a:r>
              <a:rPr sz="1200" b="1"/>
              <a:t>EXAM FOCUS (Low)</a:t>
            </a:r>
          </a:p>
          <a:p>
            <a:r>
              <a:rPr sz="1200" b="0"/>
              <a:t>Step 3 of the moss cycle (zygote and young sporophyte stay inside the archegonium); see 23.2.30.</a:t>
            </a:r>
          </a:p>
        </p:txBody>
      </p:sp>
      <p:sp>
        <p:nvSpPr>
          <p:cNvPr id="4" name="Slide Number Placeholder 3">
            <a:extLst>
              <a:ext uri="{FF2B5EF4-FFF2-40B4-BE49-F238E27FC236}">
                <a16:creationId xmlns:a16="http://schemas.microsoft.com/office/drawing/2014/main" id="{EFC65832-5B94-4909-8E64-BB5B4714A8BD}"/>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25</a:t>
            </a:fld>
            <a:endParaRPr lang="en-US" altLang="en-US" dirty="0"/>
          </a:p>
        </p:txBody>
      </p:sp>
    </p:spTree>
    <p:extLst>
      <p:ext uri="{BB962C8B-B14F-4D97-AF65-F5344CB8AC3E}">
        <p14:creationId xmlns:p14="http://schemas.microsoft.com/office/powerpoint/2010/main" val="28998567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Slide Image Placeholder 1"/>
          <p:cNvSpPr>
            <a:spLocks noGrp="1" noRot="1" noChangeAspect="1" noTextEdit="1"/>
          </p:cNvSpPr>
          <p:nvPr>
            <p:ph type="sldImg"/>
          </p:nvPr>
        </p:nvSpPr>
        <p:spPr>
          <a:ln/>
        </p:spPr>
      </p:sp>
      <p:sp>
        <p:nvSpPr>
          <p:cNvPr id="13209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IMAGE DESCRIPTION</a:t>
            </a:r>
            <a:endParaRPr lang="en-US" altLang="en-US" dirty="0"/>
          </a:p>
          <a:p>
            <a:r>
              <a:rPr sz="1200" b="0"/>
              <a:t>The mature sporophyte has a foot buried in female gametophyte tissue, a stalk, and an upper capsule (the sporangium), where meiosis occurs and spores are produced.</a:t>
            </a:r>
          </a:p>
          <a:p/>
          <a:p>
            <a:r>
              <a:rPr sz="1200" b="1"/>
              <a:t>COVERED ELSEWHERE</a:t>
            </a:r>
          </a:p>
          <a:p>
            <a:r>
              <a:rPr sz="1200" b="0"/>
              <a:t>Moss life cycle (23.2.30)</a:t>
            </a:r>
          </a:p>
          <a:p/>
          <a:p>
            <a:r>
              <a:rPr sz="1200" b="1"/>
              <a:t>EXAM FOCUS (Low)</a:t>
            </a:r>
          </a:p>
          <a:p>
            <a:r>
              <a:rPr sz="1200" b="0"/>
              <a:t>Step 4 of the moss cycle (meiosis in the capsule makes spores); see 23.2.30.</a:t>
            </a:r>
          </a:p>
        </p:txBody>
      </p:sp>
      <p:sp>
        <p:nvSpPr>
          <p:cNvPr id="4" name="Slide Number Placeholder 3">
            <a:extLst>
              <a:ext uri="{FF2B5EF4-FFF2-40B4-BE49-F238E27FC236}">
                <a16:creationId xmlns:a16="http://schemas.microsoft.com/office/drawing/2014/main" id="{A11193D3-37F4-490E-9FCD-5C8A7560D8B0}"/>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26</a:t>
            </a:fld>
            <a:endParaRPr lang="en-US" altLang="en-US" dirty="0"/>
          </a:p>
        </p:txBody>
      </p:sp>
    </p:spTree>
    <p:extLst>
      <p:ext uri="{BB962C8B-B14F-4D97-AF65-F5344CB8AC3E}">
        <p14:creationId xmlns:p14="http://schemas.microsoft.com/office/powerpoint/2010/main" val="90633397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Slide Image Placeholder 1"/>
          <p:cNvSpPr>
            <a:spLocks noGrp="1" noRot="1" noChangeAspect="1" noTextEdit="1"/>
          </p:cNvSpPr>
          <p:nvPr>
            <p:ph type="sldImg"/>
          </p:nvPr>
        </p:nvSpPr>
        <p:spPr>
          <a:ln/>
        </p:spPr>
      </p:sp>
      <p:sp>
        <p:nvSpPr>
          <p:cNvPr id="13209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IMAGE DESCRIPTION</a:t>
            </a:r>
            <a:endParaRPr lang="en-US" altLang="en-US" dirty="0"/>
          </a:p>
          <a:p>
            <a:r>
              <a:rPr sz="1200" b="0"/>
              <a:t>When the lid (operculum) of a capsule falls of, the spores are mature. One or two rings of teeth project inward from the margin of the capsule. The teeth close the opening, except when the weather is dry.</a:t>
            </a:r>
          </a:p>
          <a:p/>
          <a:p>
            <a:r>
              <a:rPr sz="1200" b="1"/>
              <a:t>COVERED ELSEWHERE</a:t>
            </a:r>
          </a:p>
          <a:p>
            <a:r>
              <a:rPr sz="1200" b="0"/>
              <a:t>Moss life cycle (23.2.30)</a:t>
            </a:r>
          </a:p>
          <a:p/>
          <a:p>
            <a:r>
              <a:rPr sz="1200" b="1"/>
              <a:t>EXAM FOCUS (Low)</a:t>
            </a:r>
          </a:p>
          <a:p>
            <a:r>
              <a:rPr sz="1200" b="0"/>
              <a:t>Step 5 of the moss cycle (spores mature in the capsule); see 23.2.30.</a:t>
            </a:r>
          </a:p>
        </p:txBody>
      </p:sp>
      <p:sp>
        <p:nvSpPr>
          <p:cNvPr id="4" name="Slide Number Placeholder 3">
            <a:extLst>
              <a:ext uri="{FF2B5EF4-FFF2-40B4-BE49-F238E27FC236}">
                <a16:creationId xmlns:a16="http://schemas.microsoft.com/office/drawing/2014/main" id="{A11193D3-37F4-490E-9FCD-5C8A7560D8B0}"/>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27</a:t>
            </a:fld>
            <a:endParaRPr lang="en-US" altLang="en-US" dirty="0"/>
          </a:p>
        </p:txBody>
      </p:sp>
    </p:spTree>
    <p:extLst>
      <p:ext uri="{BB962C8B-B14F-4D97-AF65-F5344CB8AC3E}">
        <p14:creationId xmlns:p14="http://schemas.microsoft.com/office/powerpoint/2010/main" val="125784137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Slide Image Placeholder 1"/>
          <p:cNvSpPr>
            <a:spLocks noGrp="1" noRot="1" noChangeAspect="1" noTextEdit="1"/>
          </p:cNvSpPr>
          <p:nvPr>
            <p:ph type="sldImg"/>
          </p:nvPr>
        </p:nvSpPr>
        <p:spPr>
          <a:ln/>
        </p:spPr>
      </p:sp>
      <p:sp>
        <p:nvSpPr>
          <p:cNvPr id="12493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IMAGE DESCRIPTION</a:t>
            </a:r>
            <a:endParaRPr lang="en-US" altLang="en-US" dirty="0"/>
          </a:p>
          <a:p>
            <a:r>
              <a:rPr sz="1200" b="0"/>
              <a:t>Step 6, spores are released when they are most likely to be dispersed by air currents.</a:t>
            </a:r>
          </a:p>
          <a:p/>
          <a:p>
            <a:r>
              <a:rPr sz="1200" b="1"/>
              <a:t>COVERED ELSEWHERE</a:t>
            </a:r>
          </a:p>
          <a:p>
            <a:r>
              <a:rPr sz="1200" b="0"/>
              <a:t>Moss life cycle (23.2.30)</a:t>
            </a:r>
          </a:p>
          <a:p/>
          <a:p>
            <a:r>
              <a:rPr sz="1200" b="1"/>
              <a:t>EXAM FOCUS (Low)</a:t>
            </a:r>
          </a:p>
          <a:p>
            <a:r>
              <a:rPr sz="1200" b="0"/>
              <a:t>Step 6 of the moss cycle (spores dispersed by air); see 23.2.30.</a:t>
            </a:r>
          </a:p>
        </p:txBody>
      </p:sp>
      <p:sp>
        <p:nvSpPr>
          <p:cNvPr id="4" name="Slide Number Placeholder 3">
            <a:extLst>
              <a:ext uri="{FF2B5EF4-FFF2-40B4-BE49-F238E27FC236}">
                <a16:creationId xmlns:a16="http://schemas.microsoft.com/office/drawing/2014/main" id="{EFC65832-5B94-4909-8E64-BB5B4714A8BD}"/>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28</a:t>
            </a:fld>
            <a:endParaRPr lang="en-US" altLang="en-US" dirty="0"/>
          </a:p>
        </p:txBody>
      </p:sp>
    </p:spTree>
    <p:extLst>
      <p:ext uri="{BB962C8B-B14F-4D97-AF65-F5344CB8AC3E}">
        <p14:creationId xmlns:p14="http://schemas.microsoft.com/office/powerpoint/2010/main" val="246271619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Slide Image Placeholder 1"/>
          <p:cNvSpPr>
            <a:spLocks noGrp="1" noRot="1" noChangeAspect="1" noTextEdit="1"/>
          </p:cNvSpPr>
          <p:nvPr>
            <p:ph type="sldImg"/>
          </p:nvPr>
        </p:nvSpPr>
        <p:spPr>
          <a:ln/>
        </p:spPr>
      </p:sp>
      <p:sp>
        <p:nvSpPr>
          <p:cNvPr id="12493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IMAGE DESCRIPTION</a:t>
            </a:r>
            <a:endParaRPr lang="en-US" altLang="en-US" dirty="0"/>
          </a:p>
          <a:p>
            <a:r>
              <a:rPr sz="1200" b="0"/>
              <a:t>Step 7, the immature gametophyte reads:  spore germinates into male or a female protonema, the first stage of the male and the female gametophytes.</a:t>
            </a:r>
          </a:p>
          <a:p/>
          <a:p>
            <a:r>
              <a:rPr sz="1200" b="1"/>
              <a:t>COVERED ELSEWHERE</a:t>
            </a:r>
          </a:p>
          <a:p>
            <a:r>
              <a:rPr sz="1200" b="0"/>
              <a:t>Moss life cycle (23.2.30)</a:t>
            </a:r>
          </a:p>
          <a:p/>
          <a:p>
            <a:r>
              <a:rPr sz="1200" b="1"/>
              <a:t>EXAM FOCUS (Low)</a:t>
            </a:r>
          </a:p>
          <a:p>
            <a:r>
              <a:rPr sz="1200" b="0"/>
              <a:t>Step 7 of the moss cycle (spore -&gt; protonema); see 23.2.30.</a:t>
            </a:r>
          </a:p>
        </p:txBody>
      </p:sp>
      <p:sp>
        <p:nvSpPr>
          <p:cNvPr id="4" name="Slide Number Placeholder 3">
            <a:extLst>
              <a:ext uri="{FF2B5EF4-FFF2-40B4-BE49-F238E27FC236}">
                <a16:creationId xmlns:a16="http://schemas.microsoft.com/office/drawing/2014/main" id="{EFC65832-5B94-4909-8E64-BB5B4714A8BD}"/>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29</a:t>
            </a:fld>
            <a:endParaRPr lang="en-US" altLang="en-US" dirty="0"/>
          </a:p>
        </p:txBody>
      </p:sp>
    </p:spTree>
    <p:extLst>
      <p:ext uri="{BB962C8B-B14F-4D97-AF65-F5344CB8AC3E}">
        <p14:creationId xmlns:p14="http://schemas.microsoft.com/office/powerpoint/2010/main" val="138784798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Slide Image Placeholder 1"/>
          <p:cNvSpPr>
            <a:spLocks noGrp="1" noRot="1" noChangeAspect="1" noTextEdit="1"/>
          </p:cNvSpPr>
          <p:nvPr>
            <p:ph type="sldImg"/>
          </p:nvPr>
        </p:nvSpPr>
        <p:spPr>
          <a:ln/>
        </p:spPr>
      </p:sp>
      <p:sp>
        <p:nvSpPr>
          <p:cNvPr id="13209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IMAGE DESCRIPTION</a:t>
            </a:r>
            <a:endParaRPr lang="en-US" altLang="en-US" dirty="0"/>
          </a:p>
          <a:p>
            <a:r>
              <a:rPr sz="1200" b="0"/>
              <a:t>The details of the moss life cycle between fertilization and meiosis are as follows:</a:t>
            </a:r>
          </a:p>
          <a:p>
            <a:r>
              <a:rPr sz="1200" b="0"/>
              <a:t>1. The mature gametophytes:</a:t>
            </a:r>
          </a:p>
          <a:p>
            <a:r>
              <a:rPr sz="1200" b="0"/>
              <a:t>In mosses, the leafy gametophyte shoots bear either antheridia or archegonia, where gametes are produced by mitosis.</a:t>
            </a:r>
          </a:p>
          <a:p>
            <a:r>
              <a:rPr sz="1200" b="0"/>
              <a:t>2. Fertilization:</a:t>
            </a:r>
          </a:p>
          <a:p>
            <a:r>
              <a:rPr sz="1200" b="0"/>
              <a:t>Flagellate sperm produced in antheridia swim in external water to archegonia, each bearing a single egg.</a:t>
            </a:r>
          </a:p>
          <a:p>
            <a:r>
              <a:rPr sz="1200" b="0"/>
              <a:t>3. The zygote:</a:t>
            </a:r>
          </a:p>
          <a:p>
            <a:r>
              <a:rPr sz="1200" b="0"/>
              <a:t>The zygote and developing sporophyte are retained within the archegonium.</a:t>
            </a:r>
          </a:p>
          <a:p>
            <a:r>
              <a:rPr sz="1200" b="0"/>
              <a:t>4. The sporophyte:</a:t>
            </a:r>
          </a:p>
          <a:p>
            <a:r>
              <a:rPr sz="1200" b="0"/>
              <a:t>The mature sporophyte has a foot buried in female gametophyte tissue, a stalk, and an upper capsule (the sporangium), where meiosis occurs and spores are produced.</a:t>
            </a:r>
          </a:p>
          <a:p>
            <a:r>
              <a:rPr sz="1200" b="0"/>
              <a:t>5. The spores:</a:t>
            </a:r>
          </a:p>
          <a:p>
            <a:r>
              <a:rPr sz="1200" b="0"/>
              <a:t>When the lid (operculum) of a capsule falls of, the spores are mature. One or two rings of teeth project inward from the margin of the capsule. The teeth close the opening, except when the weather is dry.</a:t>
            </a:r>
          </a:p>
          <a:p>
            <a:r>
              <a:rPr sz="1200" b="0"/>
              <a:t>6. Spore dispersal:</a:t>
            </a:r>
          </a:p>
          <a:p>
            <a:r>
              <a:rPr sz="1200" b="0"/>
              <a:t>Spores are released when they are most likely to be dispersed by air currents.</a:t>
            </a:r>
          </a:p>
          <a:p>
            <a:r>
              <a:rPr sz="1200" b="0"/>
              <a:t>7. The immature gametophyte:</a:t>
            </a:r>
          </a:p>
          <a:p>
            <a:r>
              <a:rPr sz="1200" b="0"/>
              <a:t>A spore germinates into a male or female protonema, the first stage of the male and the female gametophytes.</a:t>
            </a:r>
          </a:p>
          <a:p/>
          <a:p>
            <a:r>
              <a:rPr sz="1200" b="1"/>
              <a:t>HOME NOTE</a:t>
            </a:r>
          </a:p>
          <a:p>
            <a:r>
              <a:rPr sz="1200" b="0"/>
              <a:t>• Moss life cycle</a:t>
            </a:r>
          </a:p>
          <a:p>
            <a:r>
              <a:rPr sz="1200" b="0"/>
              <a:t>   Also write here:</a:t>
            </a:r>
          </a:p>
          <a:p>
            <a:r>
              <a:rPr sz="1200" b="0"/>
              <a:t>   – Life Cycle of Moss (23.2.22): The sporophyte stays attached to the female gametophyte for its whole life, and the upright leafy shoots grow rhizoids (root-like hairs).</a:t>
            </a:r>
          </a:p>
          <a:p/>
          <a:p>
            <a:r>
              <a:rPr sz="1200" b="1"/>
              <a:t>EXAM FOCUS (High)</a:t>
            </a:r>
          </a:p>
          <a:p>
            <a:r>
              <a:rPr sz="1200" b="0"/>
              <a:t>Likely:</a:t>
            </a:r>
          </a:p>
          <a:p>
            <a:r>
              <a:rPr sz="1200" b="0"/>
              <a:t>   • The gametophyte (n) is dominant: leafy shoots bear antheridia or archegonia; gametes are made by mitosis.</a:t>
            </a:r>
          </a:p>
          <a:p>
            <a:r>
              <a:rPr sz="1200" b="0"/>
              <a:t>   • Sperm swim through external water to the egg in the archegonium.</a:t>
            </a:r>
          </a:p>
          <a:p>
            <a:r>
              <a:rPr sz="1200" b="0"/>
              <a:t>   • The zygote and young sporophyte stay in the archegonium; the sporophyte (foot, stalk, capsule) stays attached to the gametophyte.</a:t>
            </a:r>
          </a:p>
          <a:p>
            <a:r>
              <a:rPr sz="1200" b="0"/>
              <a:t>   • Meiosis in the capsule (sporangium) makes spores; spores spread by air.</a:t>
            </a:r>
          </a:p>
          <a:p>
            <a:r>
              <a:rPr sz="1200" b="0"/>
              <a:t>   • Spore -&gt; protonema -&gt; leafy gametophyte.</a:t>
            </a:r>
          </a:p>
          <a:p>
            <a:r>
              <a:rPr sz="1200" b="0"/>
              <a:t>Unlikely: Operculum and capsule-teeth labels.</a:t>
            </a:r>
          </a:p>
          <a:p>
            <a:r>
              <a:rPr sz="1200" b="0"/>
              <a:t>How:</a:t>
            </a:r>
          </a:p>
          <a:p>
            <a:r>
              <a:rPr sz="1200" b="0"/>
              <a:t>   • 'Where does meiosis occur in the moss life cycle?' -&gt; in the capsule (sporangium) of the sporophyte. Trap: antheridia, archegonia (they make gametes by mitosis).</a:t>
            </a:r>
          </a:p>
          <a:p>
            <a:r>
              <a:rPr sz="1200" b="0"/>
              <a:t>   • 'Which part of a moss is diploid?' -&gt; the sporophyte (foot, stalk, capsule). Trap: protonema, leafy shoot.</a:t>
            </a:r>
          </a:p>
          <a:p>
            <a:r>
              <a:rPr sz="1200" b="0"/>
              <a:t>   • 'Why do mosses need water to reproduce?' -&gt; their sperm swim to the egg. Trap: 'their spores need water to form'.</a:t>
            </a:r>
          </a:p>
          <a:p>
            <a:r>
              <a:rPr sz="1200" b="0"/>
              <a:t>Write: Moss life-cycle box (use the same rows for fern, pine and flowering plant):</a:t>
            </a:r>
          </a:p>
          <a:p>
            <a:r>
              <a:rPr sz="1200" b="0"/>
              <a:t>   • Dominant: gametophyte (the leafy green moss, n)</a:t>
            </a:r>
          </a:p>
          <a:p>
            <a:r>
              <a:rPr sz="1200" b="0"/>
              <a:t>   • Meiosis: in the capsule on top of the sporophyte -&gt; spores (n)</a:t>
            </a:r>
          </a:p>
          <a:p>
            <a:r>
              <a:rPr sz="1200" b="0"/>
              <a:t>   • Gametophyte: spore -&gt; protonema -&gt; leafy shoots with antheridia or archegonia</a:t>
            </a:r>
          </a:p>
          <a:p>
            <a:r>
              <a:rPr sz="1200" b="0"/>
              <a:t>   • Fertilization: sperm swim through water to the egg; water needed</a:t>
            </a:r>
          </a:p>
          <a:p>
            <a:r>
              <a:rPr sz="1200" b="0"/>
              <a:t>   • Sporophyte (2n): foot + stalk + capsule; always attached to the gametophyte</a:t>
            </a:r>
          </a:p>
        </p:txBody>
      </p:sp>
      <p:sp>
        <p:nvSpPr>
          <p:cNvPr id="4" name="Slide Number Placeholder 3">
            <a:extLst>
              <a:ext uri="{FF2B5EF4-FFF2-40B4-BE49-F238E27FC236}">
                <a16:creationId xmlns:a16="http://schemas.microsoft.com/office/drawing/2014/main" id="{A11193D3-37F4-490E-9FCD-5C8A7560D8B0}"/>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30</a:t>
            </a:fld>
            <a:endParaRPr lang="en-US" altLang="en-US" dirty="0"/>
          </a:p>
        </p:txBody>
      </p:sp>
    </p:spTree>
    <p:extLst>
      <p:ext uri="{BB962C8B-B14F-4D97-AF65-F5344CB8AC3E}">
        <p14:creationId xmlns:p14="http://schemas.microsoft.com/office/powerpoint/2010/main" val="99503253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Slide Image Placeholder 1"/>
          <p:cNvSpPr>
            <a:spLocks noGrp="1" noRot="1" noChangeAspect="1" noTextEdit="1"/>
          </p:cNvSpPr>
          <p:nvPr>
            <p:ph type="sldImg"/>
          </p:nvPr>
        </p:nvSpPr>
        <p:spPr>
          <a:ln/>
        </p:spPr>
      </p:sp>
      <p:sp>
        <p:nvSpPr>
          <p:cNvPr id="13414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NOT EXPLAINED ON ANY SLIDE</a:t>
            </a:r>
            <a:endParaRPr lang="en-US" altLang="en-US" dirty="0"/>
          </a:p>
          <a:p>
            <a:r>
              <a:rPr sz="1200" b="0"/>
              <a:t>• Sucrose: table sugar; the form in which plants move sugar around.</a:t>
            </a:r>
          </a:p>
          <a:p/>
          <a:p>
            <a:r>
              <a:rPr sz="1200" b="1"/>
              <a:t>ADDS TO</a:t>
            </a:r>
          </a:p>
          <a:p>
            <a:r>
              <a:rPr sz="1200" b="0"/>
              <a:t>Xylem and phloem (25.3.28)</a:t>
            </a:r>
          </a:p>
          <a:p/>
          <a:p>
            <a:r>
              <a:rPr sz="1200" b="1"/>
              <a:t>EXAM FOCUS (High)</a:t>
            </a:r>
          </a:p>
          <a:p>
            <a:r>
              <a:rPr sz="1200" b="0"/>
              <a:t>Likely:</a:t>
            </a:r>
          </a:p>
          <a:p>
            <a:r>
              <a:rPr sz="1200" b="0"/>
              <a:t>   • Vascular plants (tracheophytes) can grow tall thanks to roots and vascular tissue.</a:t>
            </a:r>
          </a:p>
          <a:p>
            <a:r>
              <a:rPr sz="1200" b="0"/>
              <a:t>   • Xylem: water and dissolved minerals up from the roots; lignin strengthens the walls of its conducting cells.</a:t>
            </a:r>
          </a:p>
          <a:p>
            <a:r>
              <a:rPr sz="1200" b="0"/>
              <a:t>   • Phloem: sucrose and other organic compounds throughout the plant.</a:t>
            </a:r>
          </a:p>
          <a:p>
            <a:r>
              <a:rPr sz="1200" b="0"/>
              <a:t>Unlikely: The word "tracheophytes" beyond "vascular plants".</a:t>
            </a:r>
          </a:p>
          <a:p>
            <a:r>
              <a:rPr sz="1200" b="0"/>
              <a:t>How:</a:t>
            </a:r>
          </a:p>
          <a:p>
            <a:r>
              <a:rPr sz="1200" b="0"/>
              <a:t>   • 'Which tissue carries sugars throughout the plant?' -&gt; phloem. Trap: xylem.</a:t>
            </a:r>
          </a:p>
          <a:p>
            <a:r>
              <a:rPr sz="1200" b="0"/>
              <a:t>   • 'What does lignin do in xylem?' -&gt; strengthens the walls of the conducting cells. Trap: 'carries sugar'; 'waterproofs leaves' (that's the cuticle).</a:t>
            </a:r>
          </a:p>
          <a:p>
            <a:r>
              <a:rPr sz="1200" b="0"/>
              <a:t>Write: Nothing here; it goes in the xylem vs phloem table at 25.3.28 (this slide's lignin and height points are already listed there).</a:t>
            </a:r>
          </a:p>
        </p:txBody>
      </p:sp>
      <p:sp>
        <p:nvSpPr>
          <p:cNvPr id="4" name="Slide Number Placeholder 3">
            <a:extLst>
              <a:ext uri="{FF2B5EF4-FFF2-40B4-BE49-F238E27FC236}">
                <a16:creationId xmlns:a16="http://schemas.microsoft.com/office/drawing/2014/main" id="{0D6C554D-AE82-435B-809C-61BBAC96F35A}"/>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31</a:t>
            </a:fld>
            <a:endParaRPr lang="en-US" altLang="en-US" dirty="0"/>
          </a:p>
        </p:txBody>
      </p:sp>
    </p:spTree>
    <p:extLst>
      <p:ext uri="{BB962C8B-B14F-4D97-AF65-F5344CB8AC3E}">
        <p14:creationId xmlns:p14="http://schemas.microsoft.com/office/powerpoint/2010/main" val="168666300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Slide Image Placeholder 1"/>
          <p:cNvSpPr>
            <a:spLocks noGrp="1" noRot="1" noChangeAspect="1" noTextEdit="1"/>
          </p:cNvSpPr>
          <p:nvPr>
            <p:ph type="sldImg"/>
          </p:nvPr>
        </p:nvSpPr>
        <p:spPr>
          <a:ln/>
        </p:spPr>
      </p:sp>
      <p:sp>
        <p:nvSpPr>
          <p:cNvPr id="13414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NOT EXPLAINED YET</a:t>
            </a:r>
            <a:endParaRPr lang="en-US" altLang="en-US" dirty="0"/>
          </a:p>
          <a:p>
            <a:r>
              <a:rPr sz="1200" b="0"/>
              <a:t>• Vascular tissue: tubes that carry water (xylem) and food (phloem) through the plant. (25.3.28)</a:t>
            </a:r>
          </a:p>
          <a:p>
            <a:r>
              <a:rPr sz="1200" b="0"/>
              <a:t>• Lycophytes: small seedless vascular plants such as club mosses. (23.3.34)</a:t>
            </a:r>
          </a:p>
          <a:p>
            <a:r>
              <a:rPr sz="1200" b="0"/>
              <a:t>• Pteridophytes: ferns and their relatives, the horsetails and whisk ferns. (23.4.36)</a:t>
            </a:r>
          </a:p>
          <a:p/>
          <a:p>
            <a:r>
              <a:rPr sz="1200" b="1"/>
              <a:t>HOME NOTE</a:t>
            </a:r>
          </a:p>
          <a:p>
            <a:r>
              <a:rPr sz="1200" b="0"/>
              <a:t>• Seedless vascular plants</a:t>
            </a:r>
          </a:p>
          <a:p>
            <a:r>
              <a:rPr sz="1200" b="0"/>
              <a:t>• Cooksonia (early vascular plant)</a:t>
            </a:r>
          </a:p>
          <a:p>
            <a:r>
              <a:rPr sz="1200" b="0"/>
              <a:t>   Also write here:</a:t>
            </a:r>
          </a:p>
          <a:p>
            <a:r>
              <a:rPr sz="1200" b="0"/>
              <a:t>   – A Cooksonia Fossil (23.3.33): The fossil is only a few centimeters tall, and its branches end in sporangia.</a:t>
            </a:r>
          </a:p>
          <a:p/>
          <a:p>
            <a:r>
              <a:rPr sz="1200" b="1"/>
              <a:t>EXAM FOCUS (Medium)</a:t>
            </a:r>
          </a:p>
          <a:p>
            <a:r>
              <a:rPr sz="1200" b="0"/>
              <a:t>Likely:</a:t>
            </a:r>
          </a:p>
          <a:p>
            <a:r>
              <a:rPr sz="1200" b="0"/>
              <a:t>   • Cooksonia: one of the first vascular plants; small and bushy.</a:t>
            </a:r>
          </a:p>
          <a:p>
            <a:r>
              <a:rPr sz="1200" b="0"/>
              <a:t>   • Its branching mattered: more sporangia -&gt; many more spores, and a sign of vascular tissue.</a:t>
            </a:r>
          </a:p>
          <a:p>
            <a:r>
              <a:rPr sz="1200" b="0"/>
              <a:t>   • Windblown spores -&gt; a seedless vascular plant (like lycophytes and pteridophytes).</a:t>
            </a:r>
          </a:p>
          <a:p>
            <a:r>
              <a:rPr sz="1200" b="0"/>
              <a:t>   • Lycophytes and all other vascular plants have a dominant sporophyte.</a:t>
            </a:r>
          </a:p>
          <a:p>
            <a:r>
              <a:rPr sz="1200" b="0"/>
              <a:t>Unlikely: Fossil size; bushes vs trees.</a:t>
            </a:r>
          </a:p>
          <a:p>
            <a:r>
              <a:rPr sz="1200" b="0"/>
              <a:t>How: 'Why was branching in Cooksonia significant?' -&gt; more sporangia (so more spores) and evidence of vascular tissue. Trap: 'it produced seeds'.</a:t>
            </a:r>
          </a:p>
          <a:p>
            <a:r>
              <a:rPr sz="1200" b="0"/>
              <a:t>Write: One line: Cooksonia branching -&gt; more spores + evidence of vascular tissue; windblown spores = seedless vascular plant.</a:t>
            </a:r>
          </a:p>
        </p:txBody>
      </p:sp>
      <p:sp>
        <p:nvSpPr>
          <p:cNvPr id="4" name="Slide Number Placeholder 3">
            <a:extLst>
              <a:ext uri="{FF2B5EF4-FFF2-40B4-BE49-F238E27FC236}">
                <a16:creationId xmlns:a16="http://schemas.microsoft.com/office/drawing/2014/main" id="{0D6C554D-AE82-435B-809C-61BBAC96F35A}"/>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32</a:t>
            </a:fld>
            <a:endParaRPr lang="en-US" altLang="en-US" dirty="0"/>
          </a:p>
        </p:txBody>
      </p:sp>
    </p:spTree>
    <p:extLst>
      <p:ext uri="{BB962C8B-B14F-4D97-AF65-F5344CB8AC3E}">
        <p14:creationId xmlns:p14="http://schemas.microsoft.com/office/powerpoint/2010/main" val="161426851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Slide Image Placeholder 1"/>
          <p:cNvSpPr>
            <a:spLocks noGrp="1" noRot="1" noChangeAspect="1" noTextEdit="1"/>
          </p:cNvSpPr>
          <p:nvPr>
            <p:ph type="sldImg"/>
          </p:nvPr>
        </p:nvSpPr>
        <p:spPr>
          <a:ln/>
        </p:spPr>
      </p:sp>
      <p:sp>
        <p:nvSpPr>
          <p:cNvPr id="13517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IMAGE DESCRIPTION</a:t>
            </a:r>
            <a:endParaRPr lang="en-US" altLang="en-US" dirty="0"/>
          </a:p>
          <a:p>
            <a:r>
              <a:rPr sz="1200" b="0"/>
              <a:t>The fossil, which is no more than a few centimeters tall and terminated in sporangia is evidence of vascular plant evolution.</a:t>
            </a:r>
          </a:p>
          <a:p/>
          <a:p>
            <a:r>
              <a:rPr sz="1200" b="1"/>
              <a:t>ADDS TO</a:t>
            </a:r>
          </a:p>
          <a:p>
            <a:r>
              <a:rPr sz="1200" b="0"/>
              <a:t>Cooksonia (early vascular plant) (23.3.32)</a:t>
            </a:r>
          </a:p>
          <a:p/>
          <a:p>
            <a:r>
              <a:rPr sz="1200" b="1"/>
              <a:t>EXAM FOCUS (Low)</a:t>
            </a:r>
          </a:p>
          <a:p>
            <a:r>
              <a:rPr sz="1200" b="0"/>
              <a:t>Photo of the Cooksonia fossil; see 23.3.32.</a:t>
            </a:r>
          </a:p>
        </p:txBody>
      </p:sp>
      <p:sp>
        <p:nvSpPr>
          <p:cNvPr id="4" name="Slide Number Placeholder 3">
            <a:extLst>
              <a:ext uri="{FF2B5EF4-FFF2-40B4-BE49-F238E27FC236}">
                <a16:creationId xmlns:a16="http://schemas.microsoft.com/office/drawing/2014/main" id="{AF67DC6B-7FEF-4660-A73C-F9121EA7B85A}"/>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33</a:t>
            </a:fld>
            <a:endParaRPr lang="en-US" altLang="en-US" dirty="0"/>
          </a:p>
        </p:txBody>
      </p:sp>
    </p:spTree>
    <p:extLst>
      <p:ext uri="{BB962C8B-B14F-4D97-AF65-F5344CB8AC3E}">
        <p14:creationId xmlns:p14="http://schemas.microsoft.com/office/powerpoint/2010/main" val="235307388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Slide Image Placeholder 1"/>
          <p:cNvSpPr>
            <a:spLocks noGrp="1" noRot="1" noChangeAspect="1" noTextEdit="1"/>
          </p:cNvSpPr>
          <p:nvPr>
            <p:ph type="sldImg"/>
          </p:nvPr>
        </p:nvSpPr>
        <p:spPr>
          <a:ln/>
        </p:spPr>
      </p:sp>
      <p:sp>
        <p:nvSpPr>
          <p:cNvPr id="13619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CLARIFICATION</a:t>
            </a:r>
            <a:endParaRPr lang="en-US" altLang="en-US" dirty="0"/>
          </a:p>
          <a:p>
            <a:r>
              <a:rPr sz="1200" b="0"/>
              <a:t>Homosporous means making only one type of spore (which grows into a gametophyte that makes both eggs and sperm). The slide's "one type of gamete" should read "one type of spore."</a:t>
            </a:r>
          </a:p>
          <a:p/>
          <a:p>
            <a:r>
              <a:rPr sz="1200" b="1"/>
              <a:t>NOT EXPLAINED YET</a:t>
            </a:r>
          </a:p>
          <a:p>
            <a:r>
              <a:rPr sz="1200" b="0"/>
              <a:t>• Vascular tissue: tubes that carry water (xylem) and food (phloem) through the plant. (25.3.28)</a:t>
            </a:r>
          </a:p>
          <a:p/>
          <a:p>
            <a:r>
              <a:rPr sz="1200" b="1"/>
              <a:t>HOME NOTE</a:t>
            </a:r>
          </a:p>
          <a:p>
            <a:r>
              <a:rPr sz="1200" b="0"/>
              <a:t>• Lycophytes</a:t>
            </a:r>
          </a:p>
          <a:p>
            <a:r>
              <a:rPr sz="1200" b="0"/>
              <a:t>   Also write here:</a:t>
            </a:r>
          </a:p>
          <a:p>
            <a:r>
              <a:rPr sz="1200" b="0"/>
              <a:t>   – Lycophytes Example (23.3.35): Pictures: a spike moss (Selaginella) and a club moss. The club moss has strobili (cones of sporangia) at the top, small microphyll leaves, branches, an above-ground stem, a stem that runs sideways underground (rhizome), and roots.</a:t>
            </a:r>
          </a:p>
          <a:p>
            <a:r>
              <a:rPr sz="1200" b="0"/>
              <a:t>• Homospory and heterospory</a:t>
            </a:r>
          </a:p>
          <a:p/>
          <a:p>
            <a:r>
              <a:rPr sz="1200" b="1"/>
              <a:t>ADDS TO</a:t>
            </a:r>
          </a:p>
          <a:p>
            <a:r>
              <a:rPr sz="1200" b="0"/>
              <a:t>Microphylls and megaphylls (23.4.37)</a:t>
            </a:r>
          </a:p>
          <a:p/>
          <a:p>
            <a:r>
              <a:rPr sz="1200" b="1"/>
              <a:t>EXAM FOCUS (High)</a:t>
            </a:r>
          </a:p>
          <a:p>
            <a:r>
              <a:rPr sz="1200" b="0"/>
              <a:t>Likely:</a:t>
            </a:r>
          </a:p>
          <a:p>
            <a:r>
              <a:rPr sz="1200" b="0"/>
              <a:t>   • Lycophytes: roots (lower extensions of the stem); leaves are microphylls (one strand of vascular tissue).</a:t>
            </a:r>
          </a:p>
          <a:p>
            <a:r>
              <a:rPr sz="1200" b="0"/>
              <a:t>   • Spores are made by meiosis in cone-shaped strobili.</a:t>
            </a:r>
          </a:p>
          <a:p>
            <a:r>
              <a:rPr sz="1200" b="0"/>
              <a:t>   • Homosporous = one type of spore; heterosporous = two types: microspores (-&gt; male gametophyte) and megaspores (-&gt; female gametophyte).</a:t>
            </a:r>
          </a:p>
          <a:p>
            <a:r>
              <a:rPr sz="1200" b="0"/>
              <a:t>   • Groups: ground pines (club mosses), spike mosses, quillworts.</a:t>
            </a:r>
          </a:p>
          <a:p>
            <a:r>
              <a:rPr sz="1200" b="0"/>
              <a:t>Unlikely: The genus names Lycopodium, Selaginella, Isoetes.</a:t>
            </a:r>
          </a:p>
          <a:p>
            <a:r>
              <a:rPr sz="1200" b="0"/>
              <a:t>How:</a:t>
            </a:r>
          </a:p>
          <a:p>
            <a:r>
              <a:rPr sz="1200" b="0"/>
              <a:t>   • 'A plant makes two kinds of spores that grow into male and female gametophytes. It is...' -&gt; heterosporous. Trap: homosporous.</a:t>
            </a:r>
          </a:p>
          <a:p>
            <a:r>
              <a:rPr sz="1200" b="0"/>
              <a:t>   • 'Leaves with a single strand of vascular tissue are...' -&gt; microphylls. Trap: megaphylls.</a:t>
            </a:r>
          </a:p>
          <a:p>
            <a:r>
              <a:rPr sz="1200" b="0"/>
              <a:t>   • 'Lycophytes produce their spores in...' -&gt; strobili. Trap: sori (ferns).</a:t>
            </a:r>
          </a:p>
          <a:p>
            <a:r>
              <a:rPr sz="1200" b="0"/>
              <a:t>Write: Seedless vascular table (write all four rows here) + look-alikes:</a:t>
            </a:r>
          </a:p>
          <a:p>
            <a:r>
              <a:rPr sz="1200" b="0"/>
              <a:t>   • Lycophytes: microphylls; spores in strobili; club mosses, spike mosses, quillworts; some heterosporous</a:t>
            </a:r>
          </a:p>
          <a:p>
            <a:r>
              <a:rPr sz="1200" b="0"/>
              <a:t>   • Horsetails (23.4.38): Equisetum; small leaves in whorls at the nodes; strobili; silica-stiffened stems; spring-loaded spores</a:t>
            </a:r>
          </a:p>
          <a:p>
            <a:r>
              <a:rPr sz="1200" b="0"/>
              <a:t>   • Whisk ferns (23.4.40): Psilotum; no leaves; stems fork again and again from a rhizome; sporangia on short side branches</a:t>
            </a:r>
          </a:p>
          <a:p>
            <a:r>
              <a:rPr sz="1200" b="0"/>
              <a:t>   • Ferns (23.4.42): fronds (megaphylls) divided into leaflets; sori under the fronds; dominant sporophyte; both generations independent</a:t>
            </a:r>
          </a:p>
          <a:p>
            <a:r>
              <a:rPr sz="1200" b="0"/>
              <a:t>   • Look-alikes: homosporous (1 spore type) vs heterosporous (micro + mega); microspore -&gt; male vs megaspore -&gt; female gametophyte; strobili (cones; lycophytes, horsetails) vs sori (under fern fronds)</a:t>
            </a:r>
          </a:p>
        </p:txBody>
      </p:sp>
      <p:sp>
        <p:nvSpPr>
          <p:cNvPr id="4" name="Slide Number Placeholder 3">
            <a:extLst>
              <a:ext uri="{FF2B5EF4-FFF2-40B4-BE49-F238E27FC236}">
                <a16:creationId xmlns:a16="http://schemas.microsoft.com/office/drawing/2014/main" id="{6368E164-9D7D-4CDD-8899-25A73F1E172A}"/>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34</a:t>
            </a:fld>
            <a:endParaRPr lang="en-US" altLang="en-US" dirty="0"/>
          </a:p>
        </p:txBody>
      </p:sp>
    </p:spTree>
    <p:extLst>
      <p:ext uri="{BB962C8B-B14F-4D97-AF65-F5344CB8AC3E}">
        <p14:creationId xmlns:p14="http://schemas.microsoft.com/office/powerpoint/2010/main" val="252412341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Slide Image Placeholder 1"/>
          <p:cNvSpPr>
            <a:spLocks noGrp="1" noRot="1" noChangeAspect="1" noTextEdit="1"/>
          </p:cNvSpPr>
          <p:nvPr>
            <p:ph type="sldImg"/>
          </p:nvPr>
        </p:nvSpPr>
        <p:spPr>
          <a:ln/>
        </p:spPr>
      </p:sp>
      <p:sp>
        <p:nvSpPr>
          <p:cNvPr id="13721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IMAGE DESCRIPTION</a:t>
            </a:r>
            <a:endParaRPr lang="en-US" altLang="en-US" dirty="0"/>
          </a:p>
          <a:p>
            <a:r>
              <a:rPr sz="1200" b="0"/>
              <a:t>A) A spike moss, Selaginella.</a:t>
            </a:r>
          </a:p>
          <a:p>
            <a:r>
              <a:rPr sz="1200" b="0"/>
              <a:t>B) The upper part of club moss consists of strobili (which further consists of sporangia units) and leaves (microphylls), the middle parts consists of branches and the lower part consists of aerial stem, lateral rhizome and root.</a:t>
            </a:r>
          </a:p>
          <a:p/>
          <a:p>
            <a:r>
              <a:rPr sz="1200" b="1"/>
              <a:t>NOT EXPLAINED ON ANY SLIDE</a:t>
            </a:r>
          </a:p>
          <a:p>
            <a:r>
              <a:rPr sz="1200" b="0"/>
              <a:t>• Aerial stem: a stem that grows above ground.</a:t>
            </a:r>
          </a:p>
          <a:p/>
          <a:p>
            <a:r>
              <a:rPr sz="1200" b="1"/>
              <a:t>NOT EXPLAINED YET</a:t>
            </a:r>
          </a:p>
          <a:p>
            <a:r>
              <a:rPr sz="1200" b="0"/>
              <a:t>• Rhizome: a stem that grows sideways underground. (24.4.48)</a:t>
            </a:r>
          </a:p>
          <a:p>
            <a:r>
              <a:rPr sz="1200" b="0"/>
              <a:t>• Microphylls: small leaves with a single, unbranched vein. (23.4.37)</a:t>
            </a:r>
          </a:p>
          <a:p/>
          <a:p>
            <a:r>
              <a:rPr sz="1200" b="1"/>
              <a:t>ADDS TO</a:t>
            </a:r>
          </a:p>
          <a:p>
            <a:r>
              <a:rPr sz="1200" b="0"/>
              <a:t>Lycophytes (23.3.34)</a:t>
            </a:r>
          </a:p>
          <a:p/>
          <a:p>
            <a:r>
              <a:rPr sz="1200" b="1"/>
              <a:t>EXAM FOCUS (Low)</a:t>
            </a:r>
          </a:p>
          <a:p>
            <a:r>
              <a:rPr sz="1200" b="0"/>
              <a:t>Pictures of a spike moss and a club moss (strobili, microphylls); see 23.3.34.</a:t>
            </a:r>
          </a:p>
        </p:txBody>
      </p:sp>
      <p:sp>
        <p:nvSpPr>
          <p:cNvPr id="4" name="Slide Number Placeholder 3">
            <a:extLst>
              <a:ext uri="{FF2B5EF4-FFF2-40B4-BE49-F238E27FC236}">
                <a16:creationId xmlns:a16="http://schemas.microsoft.com/office/drawing/2014/main" id="{4406BF48-3B0D-4879-B016-4DBA16C99B83}"/>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35</a:t>
            </a:fld>
            <a:endParaRPr lang="en-US" altLang="en-US" dirty="0"/>
          </a:p>
        </p:txBody>
      </p:sp>
    </p:spTree>
    <p:extLst>
      <p:ext uri="{BB962C8B-B14F-4D97-AF65-F5344CB8AC3E}">
        <p14:creationId xmlns:p14="http://schemas.microsoft.com/office/powerpoint/2010/main" val="336704433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Slide Image Placeholder 1"/>
          <p:cNvSpPr>
            <a:spLocks noGrp="1" noRot="1" noChangeAspect="1" noTextEdit="1"/>
          </p:cNvSpPr>
          <p:nvPr>
            <p:ph type="sldImg"/>
          </p:nvPr>
        </p:nvSpPr>
        <p:spPr>
          <a:ln/>
        </p:spPr>
      </p:sp>
      <p:sp>
        <p:nvSpPr>
          <p:cNvPr id="13824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NOT EXPLAINED ON ANY SLIDE</a:t>
            </a:r>
            <a:endParaRPr lang="en-US" altLang="en-US" dirty="0"/>
          </a:p>
          <a:p>
            <a:r>
              <a:rPr sz="1200" b="0"/>
              <a:t>• Devonian and Carboniferous: periods in Earth's history, about 419-359 and 359-299 million years ago; the Carboniferous had huge swamp forests that later became coal.</a:t>
            </a:r>
          </a:p>
          <a:p>
            <a:r>
              <a:rPr sz="1200" b="0"/>
              <a:t>• Fitness: how many offspring an organism leaves; higher fitness means more offspring.</a:t>
            </a:r>
          </a:p>
          <a:p/>
          <a:p>
            <a:r>
              <a:rPr sz="1200" b="1"/>
              <a:t>NOT EXPLAINED YET</a:t>
            </a:r>
          </a:p>
          <a:p>
            <a:r>
              <a:rPr sz="1200" b="0"/>
              <a:t>• Vascular tissue: tubes that carry water (xylem) and food (phloem) through the plant. (25.3.28)</a:t>
            </a:r>
          </a:p>
          <a:p>
            <a:r>
              <a:rPr sz="1200" b="0"/>
              <a:t>• Horsetails (Equisetum): fern relatives with jointed stems and small leaves in rings at the joints. (23.4.38)</a:t>
            </a:r>
          </a:p>
          <a:p>
            <a:r>
              <a:rPr sz="1200" b="0"/>
              <a:t>• Whisk ferns: leafless fern relatives whose stems fork again and again. (23.4.40)</a:t>
            </a:r>
          </a:p>
          <a:p/>
          <a:p>
            <a:r>
              <a:rPr sz="1200" b="1"/>
              <a:t>HOME NOTE</a:t>
            </a:r>
          </a:p>
          <a:p>
            <a:r>
              <a:rPr sz="1200" b="0"/>
              <a:t>• Pteridophytes (ferns and allies)</a:t>
            </a:r>
          </a:p>
          <a:p/>
          <a:p>
            <a:r>
              <a:rPr sz="1200" b="1"/>
              <a:t>ADDS TO</a:t>
            </a:r>
          </a:p>
          <a:p>
            <a:r>
              <a:rPr sz="1200" b="0"/>
              <a:t>Microphylls and megaphylls (23.4.37)</a:t>
            </a:r>
          </a:p>
          <a:p/>
          <a:p>
            <a:r>
              <a:rPr sz="1200" b="1"/>
              <a:t>EXAM FOCUS (High)</a:t>
            </a:r>
          </a:p>
          <a:p>
            <a:r>
              <a:rPr sz="1200" b="0"/>
              <a:t>Likely:</a:t>
            </a:r>
          </a:p>
          <a:p>
            <a:r>
              <a:rPr sz="1200" b="0"/>
              <a:t>   • Pteridophytes = seedless vascular plants with megaphylls: ferns and their allies (horsetails, whisk ferns).</a:t>
            </a:r>
          </a:p>
          <a:p>
            <a:r>
              <a:rPr sz="1200" b="0"/>
              <a:t>   • They were the dominant plants from the late Devonian through the Carboniferous, before seed plants took over.</a:t>
            </a:r>
          </a:p>
          <a:p>
            <a:r>
              <a:rPr sz="1200" b="0"/>
              <a:t>   • Megaphylls (broad, several vascular strands) collect solar energy efficiently -&gt; more food -&gt; possibly more offspring -&gt; higher fitness.</a:t>
            </a:r>
          </a:p>
          <a:p>
            <a:r>
              <a:rPr sz="1200" b="0"/>
              <a:t>Unlikely: Exact dates of the Devonian and Carboniferous; know only the sequence (ferns and allies dominated before seed plants).</a:t>
            </a:r>
          </a:p>
          <a:p>
            <a:r>
              <a:rPr sz="1200" b="0"/>
              <a:t>How: 'What advantage did megaphylls give plants?' -&gt; more efficient sunlight collection, so more food and possibly more offspring. Trap: 'they prevent all water loss' (absolute).</a:t>
            </a:r>
          </a:p>
          <a:p>
            <a:r>
              <a:rPr sz="1200" b="0"/>
              <a:t>Write: Nothing here; the benefit goes in the microphyll vs megaphyll entry (23.4.37).</a:t>
            </a:r>
          </a:p>
        </p:txBody>
      </p:sp>
      <p:sp>
        <p:nvSpPr>
          <p:cNvPr id="4" name="Slide Number Placeholder 3">
            <a:extLst>
              <a:ext uri="{FF2B5EF4-FFF2-40B4-BE49-F238E27FC236}">
                <a16:creationId xmlns:a16="http://schemas.microsoft.com/office/drawing/2014/main" id="{8FC0DB97-D9FF-4D1B-AE17-E743E617DA27}"/>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36</a:t>
            </a:fld>
            <a:endParaRPr lang="en-US" altLang="en-US" dirty="0"/>
          </a:p>
        </p:txBody>
      </p:sp>
    </p:spTree>
    <p:extLst>
      <p:ext uri="{BB962C8B-B14F-4D97-AF65-F5344CB8AC3E}">
        <p14:creationId xmlns:p14="http://schemas.microsoft.com/office/powerpoint/2010/main" val="56507804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Slide Image Placeholder 1"/>
          <p:cNvSpPr>
            <a:spLocks noGrp="1" noRot="1" noChangeAspect="1" noTextEdit="1"/>
          </p:cNvSpPr>
          <p:nvPr>
            <p:ph type="sldImg"/>
          </p:nvPr>
        </p:nvSpPr>
        <p:spPr>
          <a:ln/>
        </p:spPr>
      </p:sp>
      <p:sp>
        <p:nvSpPr>
          <p:cNvPr id="13926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IMAGE DESCRIPTION</a:t>
            </a:r>
            <a:endParaRPr lang="en-US" altLang="en-US" dirty="0"/>
          </a:p>
          <a:p>
            <a:r>
              <a:rPr sz="1200" b="0"/>
              <a:t>A) Microphyll:</a:t>
            </a:r>
          </a:p>
          <a:p>
            <a:r>
              <a:rPr sz="1200" b="0"/>
              <a:t>It consists of a single strand of vascular tissue.</a:t>
            </a:r>
          </a:p>
          <a:p>
            <a:r>
              <a:rPr sz="1200" b="0"/>
              <a:t>Megaphyll:</a:t>
            </a:r>
          </a:p>
          <a:p>
            <a:r>
              <a:rPr sz="1200" b="0"/>
              <a:t>It consists of branched vascular tissue.</a:t>
            </a:r>
          </a:p>
          <a:p>
            <a:r>
              <a:rPr sz="1200" b="0"/>
              <a:t>B) Megaphyll evolution process:</a:t>
            </a:r>
          </a:p>
          <a:p>
            <a:r>
              <a:rPr sz="1200" b="0"/>
              <a:t>The branched stem system leads to one branch began to dominate the stem system, leading to the side branches flattened into a single plane which further leads to tissue filled in the spaces between the side branches and megaphyll leaf.</a:t>
            </a:r>
          </a:p>
          <a:p/>
          <a:p>
            <a:r>
              <a:rPr sz="1200" b="1"/>
              <a:t>NOT EXPLAINED YET</a:t>
            </a:r>
          </a:p>
          <a:p>
            <a:r>
              <a:rPr sz="1200" b="0"/>
              <a:t>• Vascular tissue: tubes that carry water (xylem) and food (phloem) through the plant. (25.3.28)</a:t>
            </a:r>
          </a:p>
          <a:p/>
          <a:p>
            <a:r>
              <a:rPr sz="1200" b="1"/>
              <a:t>HOME NOTE</a:t>
            </a:r>
          </a:p>
          <a:p>
            <a:r>
              <a:rPr sz="1200" b="0"/>
              <a:t>• Microphylls and megaphylls</a:t>
            </a:r>
          </a:p>
          <a:p>
            <a:r>
              <a:rPr sz="1200" b="0"/>
              <a:t>   Also write here:</a:t>
            </a:r>
          </a:p>
          <a:p>
            <a:r>
              <a:rPr sz="1200" b="0"/>
              <a:t>   – Lycophytes (23.3.34): Microphylls most likely evolved as simple side-flaps growing out of the stem.</a:t>
            </a:r>
          </a:p>
          <a:p>
            <a:r>
              <a:rPr sz="1200" b="0"/>
              <a:t>   – Evolution of Pteridophytes: Megaphylls (23.4.36): A megaphyll's broad surface collects sunlight efficiently, so the plant makes more food and possibly more offspring; this raised plants' fitness.</a:t>
            </a:r>
          </a:p>
          <a:p/>
          <a:p>
            <a:r>
              <a:rPr sz="1200" b="1"/>
              <a:t>EXAM FOCUS (Medium)</a:t>
            </a:r>
          </a:p>
          <a:p>
            <a:r>
              <a:rPr sz="1200" b="0"/>
              <a:t>Likely:</a:t>
            </a:r>
          </a:p>
          <a:p>
            <a:r>
              <a:rPr sz="1200" b="0"/>
              <a:t>   • Microphyll: a single, unbranched strand of vascular tissue; megaphyll: branched vascular tissue.</a:t>
            </a:r>
          </a:p>
          <a:p>
            <a:r>
              <a:rPr sz="1200" b="0"/>
              <a:t>   • Megaphylls evolved from a branched stem: one branch took over, side branches flattened into one plane, and tissue filled the spaces between them.</a:t>
            </a:r>
          </a:p>
          <a:p>
            <a:r>
              <a:rPr sz="1200" b="0"/>
              <a:t>Unlikely: Reciting the evolution steps in order.</a:t>
            </a:r>
          </a:p>
          <a:p>
            <a:r>
              <a:rPr sz="1200" b="0"/>
              <a:t>How: 'Which describes a megaphyll?' -&gt; a broad leaf with branched veins. Trap: a single unbranched vein (microphyll).</a:t>
            </a:r>
          </a:p>
          <a:p>
            <a:r>
              <a:rPr sz="1200" b="0"/>
              <a:t>Write: Microphyll vs megaphyll:</a:t>
            </a:r>
          </a:p>
          <a:p>
            <a:r>
              <a:rPr sz="1200" b="0"/>
              <a:t>   • Microphyll: 1 unbranched vein · lycophytes · evolved as side flaps of the stem</a:t>
            </a:r>
          </a:p>
          <a:p>
            <a:r>
              <a:rPr sz="1200" b="0"/>
              <a:t>   • Megaphyll: broad, branched veins · ferns and seed plants · evolved from flattened, filled-in branches · more sunlight -&gt; more food -&gt; higher fitness</a:t>
            </a:r>
          </a:p>
        </p:txBody>
      </p:sp>
      <p:sp>
        <p:nvSpPr>
          <p:cNvPr id="4" name="Slide Number Placeholder 3">
            <a:extLst>
              <a:ext uri="{FF2B5EF4-FFF2-40B4-BE49-F238E27FC236}">
                <a16:creationId xmlns:a16="http://schemas.microsoft.com/office/drawing/2014/main" id="{8C83A9CA-AE46-4767-BA8F-2A27B16E45D6}"/>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37</a:t>
            </a:fld>
            <a:endParaRPr lang="en-US" altLang="en-US" dirty="0"/>
          </a:p>
        </p:txBody>
      </p:sp>
    </p:spTree>
    <p:extLst>
      <p:ext uri="{BB962C8B-B14F-4D97-AF65-F5344CB8AC3E}">
        <p14:creationId xmlns:p14="http://schemas.microsoft.com/office/powerpoint/2010/main" val="288376950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Slide Image Placeholder 1"/>
          <p:cNvSpPr>
            <a:spLocks noGrp="1" noRot="1" noChangeAspect="1" noTextEdit="1"/>
          </p:cNvSpPr>
          <p:nvPr>
            <p:ph type="sldImg"/>
          </p:nvPr>
        </p:nvSpPr>
        <p:spPr>
          <a:ln/>
        </p:spPr>
      </p:sp>
      <p:sp>
        <p:nvSpPr>
          <p:cNvPr id="14029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NOT EXPLAINED ON ANY SLIDE</a:t>
            </a:r>
            <a:endParaRPr lang="en-US" altLang="en-US" dirty="0"/>
          </a:p>
          <a:p>
            <a:r>
              <a:rPr sz="1200" b="0"/>
              <a:t>• Whorl: three or more leaves or branches growing in a ring around the stem at the same point.</a:t>
            </a:r>
          </a:p>
          <a:p>
            <a:r>
              <a:rPr sz="1200" b="0"/>
              <a:t>• Silica: the hard mineral that sand and glass are made of.</a:t>
            </a:r>
          </a:p>
          <a:p/>
          <a:p>
            <a:r>
              <a:rPr sz="1200" b="1"/>
              <a:t>NOT EXPLAINED YET</a:t>
            </a:r>
          </a:p>
          <a:p>
            <a:r>
              <a:rPr sz="1200" b="0"/>
              <a:t>• Node: the point on a stem where leaves or branches attach. (24.2.20)</a:t>
            </a:r>
          </a:p>
          <a:p/>
          <a:p>
            <a:r>
              <a:rPr sz="1200" b="1"/>
              <a:t>HOME NOTE</a:t>
            </a:r>
          </a:p>
          <a:p>
            <a:r>
              <a:rPr sz="1200" b="0"/>
              <a:t>• Horsetails</a:t>
            </a:r>
          </a:p>
          <a:p/>
          <a:p>
            <a:r>
              <a:rPr sz="1200" b="1"/>
              <a:t>EXAM FOCUS (Medium)</a:t>
            </a:r>
          </a:p>
          <a:p>
            <a:r>
              <a:rPr sz="1200" b="0"/>
              <a:t>Likely:</a:t>
            </a:r>
          </a:p>
          <a:p>
            <a:r>
              <a:rPr sz="1200" b="0"/>
              <a:t>   • Horsetails: one genus, Equisetum; mostly wet, marshy places.</a:t>
            </a:r>
          </a:p>
          <a:p>
            <a:r>
              <a:rPr sz="1200" b="0"/>
              <a:t>   • Small (reduced) leaves in whorls at the nodes; branches look like a horse's tail.</a:t>
            </a:r>
          </a:p>
          <a:p>
            <a:r>
              <a:rPr sz="1200" b="0"/>
              <a:t>   • Strobili at the stem tips; spores grow into small, independent gametophytes and are "spring-loaded".</a:t>
            </a:r>
          </a:p>
          <a:p>
            <a:r>
              <a:rPr sz="1200" b="0"/>
              <a:t>   • Silica in the cell walls makes the stems tough and rigid.</a:t>
            </a:r>
          </a:p>
          <a:p>
            <a:r>
              <a:rPr sz="1200" b="0"/>
              <a:t>Unlikely: 15 species; spore speed (2 mph).</a:t>
            </a:r>
          </a:p>
          <a:p>
            <a:r>
              <a:rPr sz="1200" b="0"/>
              <a:t>How: 'A plant has jointed stems with rings of small leaves at the nodes and gritty, silica-stiffened stems. Which group?' -&gt; horsetails. Trap: whisk ferns (no leaves), club mosses.</a:t>
            </a:r>
          </a:p>
          <a:p>
            <a:r>
              <a:rPr sz="1200" b="0"/>
              <a:t>Write: Nothing here; it's the horsetail row of the table at 23.3.34.</a:t>
            </a:r>
          </a:p>
        </p:txBody>
      </p:sp>
      <p:sp>
        <p:nvSpPr>
          <p:cNvPr id="4" name="Slide Number Placeholder 3">
            <a:extLst>
              <a:ext uri="{FF2B5EF4-FFF2-40B4-BE49-F238E27FC236}">
                <a16:creationId xmlns:a16="http://schemas.microsoft.com/office/drawing/2014/main" id="{7A986C44-5532-4ED8-9E76-F3F69F9ED4F1}"/>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38</a:t>
            </a:fld>
            <a:endParaRPr lang="en-US" altLang="en-US" dirty="0"/>
          </a:p>
        </p:txBody>
      </p:sp>
    </p:spTree>
    <p:extLst>
      <p:ext uri="{BB962C8B-B14F-4D97-AF65-F5344CB8AC3E}">
        <p14:creationId xmlns:p14="http://schemas.microsoft.com/office/powerpoint/2010/main" val="61894184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Slide Image Placeholder 1"/>
          <p:cNvSpPr>
            <a:spLocks noGrp="1" noRot="1" noChangeAspect="1" noTextEdit="1"/>
          </p:cNvSpPr>
          <p:nvPr>
            <p:ph type="sldImg"/>
          </p:nvPr>
        </p:nvSpPr>
        <p:spPr>
          <a:ln/>
        </p:spPr>
      </p:sp>
      <p:sp>
        <p:nvSpPr>
          <p:cNvPr id="14131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IMAGE DESCRIPTION</a:t>
            </a:r>
            <a:endParaRPr lang="en-US" altLang="en-US" dirty="0"/>
          </a:p>
          <a:p>
            <a:r>
              <a:rPr sz="1200" b="0"/>
              <a:t>Diagram of horsetail plant shows labels for root, rhizome, leaves, node, branches, and strobilus.</a:t>
            </a:r>
          </a:p>
          <a:p/>
          <a:p>
            <a:r>
              <a:rPr sz="1200" b="1"/>
              <a:t>NOT EXPLAINED YET</a:t>
            </a:r>
          </a:p>
          <a:p>
            <a:r>
              <a:rPr sz="1200" b="0"/>
              <a:t>• Rhizome: a stem that grows sideways underground. (24.4.48)</a:t>
            </a:r>
          </a:p>
          <a:p>
            <a:r>
              <a:rPr sz="1200" b="0"/>
              <a:t>• Node: the point on a stem where leaves or branches attach. (24.2.20)</a:t>
            </a:r>
          </a:p>
          <a:p/>
          <a:p>
            <a:r>
              <a:rPr sz="1200" b="1"/>
              <a:t>COVERED ELSEWHERE</a:t>
            </a:r>
          </a:p>
          <a:p>
            <a:r>
              <a:rPr sz="1200" b="0"/>
              <a:t>Horsetails (23.4.38)</a:t>
            </a:r>
          </a:p>
          <a:p/>
          <a:p>
            <a:r>
              <a:rPr sz="1200" b="1"/>
              <a:t>EXAM FOCUS (Low)</a:t>
            </a:r>
          </a:p>
          <a:p>
            <a:r>
              <a:rPr sz="1200" b="0"/>
              <a:t>Labeled horsetail diagram; see 23.4.38.</a:t>
            </a:r>
          </a:p>
        </p:txBody>
      </p:sp>
      <p:sp>
        <p:nvSpPr>
          <p:cNvPr id="4" name="Slide Number Placeholder 3">
            <a:extLst>
              <a:ext uri="{FF2B5EF4-FFF2-40B4-BE49-F238E27FC236}">
                <a16:creationId xmlns:a16="http://schemas.microsoft.com/office/drawing/2014/main" id="{67CAC7FE-14F7-4339-9DEC-7A40879C422E}"/>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39</a:t>
            </a:fld>
            <a:endParaRPr lang="en-US" altLang="en-US" dirty="0"/>
          </a:p>
        </p:txBody>
      </p:sp>
    </p:spTree>
    <p:extLst>
      <p:ext uri="{BB962C8B-B14F-4D97-AF65-F5344CB8AC3E}">
        <p14:creationId xmlns:p14="http://schemas.microsoft.com/office/powerpoint/2010/main" val="197375561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Slide Image Placeholder 1"/>
          <p:cNvSpPr>
            <a:spLocks noGrp="1" noRot="1" noChangeAspect="1" noTextEdit="1"/>
          </p:cNvSpPr>
          <p:nvPr>
            <p:ph type="sldImg"/>
          </p:nvPr>
        </p:nvSpPr>
        <p:spPr>
          <a:ln/>
        </p:spPr>
      </p:sp>
      <p:sp>
        <p:nvSpPr>
          <p:cNvPr id="14233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NOT EXPLAINED YET</a:t>
            </a:r>
            <a:endParaRPr lang="en-US" altLang="en-US" dirty="0"/>
          </a:p>
          <a:p>
            <a:r>
              <a:rPr sz="1200" b="0"/>
              <a:t>• Rhizome: a stem that grows sideways underground. (24.4.48)</a:t>
            </a:r>
          </a:p>
          <a:p/>
          <a:p>
            <a:r>
              <a:rPr sz="1200" b="1"/>
              <a:t>HOME NOTE</a:t>
            </a:r>
          </a:p>
          <a:p>
            <a:r>
              <a:rPr sz="1200" b="0"/>
              <a:t>• Whisk ferns</a:t>
            </a:r>
          </a:p>
          <a:p/>
          <a:p>
            <a:r>
              <a:rPr sz="1200" b="1"/>
              <a:t>EXAM FOCUS (Medium)</a:t>
            </a:r>
          </a:p>
          <a:p>
            <a:r>
              <a:rPr sz="1200" b="0"/>
              <a:t>Likely:</a:t>
            </a:r>
          </a:p>
          <a:p>
            <a:r>
              <a:rPr sz="1200" b="0"/>
              <a:t>   • Whisk ferns: Psilotum and Tmesipteris.</a:t>
            </a:r>
          </a:p>
          <a:p>
            <a:r>
              <a:rPr sz="1200" b="0"/>
              <a:t>   • No leaves (they look like whisk brooms); stems fork again and again from a horizontal rhizome.</a:t>
            </a:r>
          </a:p>
          <a:p>
            <a:r>
              <a:rPr sz="1200" b="0"/>
              <a:t>   • Pumpkin-shaped sporangia on short side branches.</a:t>
            </a:r>
          </a:p>
          <a:p>
            <a:r>
              <a:rPr sz="1200" b="0"/>
              <a:t>Unlikely: Tmesipteris's appendages.</a:t>
            </a:r>
          </a:p>
          <a:p>
            <a:r>
              <a:rPr sz="1200" b="0"/>
              <a:t>How: 'Which seedless vascular plant has no leaves and repeatedly forking stems?' -&gt; whisk ferns. Trap: horsetails (small whorled leaves).</a:t>
            </a:r>
          </a:p>
          <a:p>
            <a:r>
              <a:rPr sz="1200" b="0"/>
              <a:t>Write: Nothing here; it's the whisk-fern row of the table at 23.3.34.</a:t>
            </a:r>
          </a:p>
        </p:txBody>
      </p:sp>
      <p:sp>
        <p:nvSpPr>
          <p:cNvPr id="4" name="Slide Number Placeholder 3">
            <a:extLst>
              <a:ext uri="{FF2B5EF4-FFF2-40B4-BE49-F238E27FC236}">
                <a16:creationId xmlns:a16="http://schemas.microsoft.com/office/drawing/2014/main" id="{0F696A26-6756-49DB-A33F-FEC4F8F05A81}"/>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40</a:t>
            </a:fld>
            <a:endParaRPr lang="en-US" altLang="en-US" dirty="0"/>
          </a:p>
        </p:txBody>
      </p:sp>
    </p:spTree>
    <p:extLst>
      <p:ext uri="{BB962C8B-B14F-4D97-AF65-F5344CB8AC3E}">
        <p14:creationId xmlns:p14="http://schemas.microsoft.com/office/powerpoint/2010/main" val="19168844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Slide Image Placeholder 1"/>
          <p:cNvSpPr>
            <a:spLocks noGrp="1" noRot="1" noChangeAspect="1" noTextEdit="1"/>
          </p:cNvSpPr>
          <p:nvPr>
            <p:ph type="sldImg"/>
          </p:nvPr>
        </p:nvSpPr>
        <p:spPr>
          <a:ln/>
        </p:spPr>
      </p:sp>
      <p:sp>
        <p:nvSpPr>
          <p:cNvPr id="14336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(sporangia): Steven P. Lynch; (plant): </a:t>
            </a:r>
            <a:r>
              <a:rPr lang="en-US" sz="1200" dirty="0" err="1"/>
              <a:t>Biophoto</a:t>
            </a:r>
            <a:r>
              <a:rPr lang="en-US" sz="1200" dirty="0"/>
              <a:t> Associates/Science Source</a:t>
            </a:r>
            <a:endParaRPr lang="en-GB" sz="1200" dirty="0"/>
          </a:p>
          <a:p>
            <a:endParaRPr lang="en-US" altLang="en-US" dirty="0"/>
          </a:p>
          <a:p/>
          <a:p>
            <a:r>
              <a:rPr sz="1200" b="1"/>
              <a:t>IMAGE DESCRIPTION</a:t>
            </a:r>
          </a:p>
          <a:p>
            <a:r>
              <a:rPr sz="1200" b="0"/>
              <a:t>Close-up of sporangium (left). Diagram of whisk fernroot plant (right) shows labels for rhizome, root, aerial stem, scale and sporangium.</a:t>
            </a:r>
          </a:p>
          <a:p/>
          <a:p>
            <a:r>
              <a:rPr sz="1200" b="1"/>
              <a:t>NOT EXPLAINED YET</a:t>
            </a:r>
          </a:p>
          <a:p>
            <a:r>
              <a:rPr sz="1200" b="0"/>
              <a:t>• Rhizome: a stem that grows sideways underground. (24.4.48)</a:t>
            </a:r>
          </a:p>
          <a:p/>
          <a:p>
            <a:r>
              <a:rPr sz="1200" b="1"/>
              <a:t>COVERED ELSEWHERE</a:t>
            </a:r>
          </a:p>
          <a:p>
            <a:r>
              <a:rPr sz="1200" b="0"/>
              <a:t>Whisk ferns (23.4.40)</a:t>
            </a:r>
          </a:p>
          <a:p/>
          <a:p>
            <a:r>
              <a:rPr sz="1200" b="1"/>
              <a:t>EXAM FOCUS (Low)</a:t>
            </a:r>
          </a:p>
          <a:p>
            <a:r>
              <a:rPr sz="1200" b="0"/>
              <a:t>Psilotum pictures; see 23.4.40.</a:t>
            </a:r>
          </a:p>
        </p:txBody>
      </p:sp>
      <p:sp>
        <p:nvSpPr>
          <p:cNvPr id="4" name="Slide Number Placeholder 3">
            <a:extLst>
              <a:ext uri="{FF2B5EF4-FFF2-40B4-BE49-F238E27FC236}">
                <a16:creationId xmlns:a16="http://schemas.microsoft.com/office/drawing/2014/main" id="{1863C8AE-83DB-4CBD-8959-EDD0E4561C52}"/>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41</a:t>
            </a:fld>
            <a:endParaRPr lang="en-US" altLang="en-US" dirty="0"/>
          </a:p>
        </p:txBody>
      </p:sp>
    </p:spTree>
    <p:extLst>
      <p:ext uri="{BB962C8B-B14F-4D97-AF65-F5344CB8AC3E}">
        <p14:creationId xmlns:p14="http://schemas.microsoft.com/office/powerpoint/2010/main" val="130763269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Slide Image Placeholder 1"/>
          <p:cNvSpPr>
            <a:spLocks noGrp="1" noRot="1" noChangeAspect="1" noTextEdit="1"/>
          </p:cNvSpPr>
          <p:nvPr>
            <p:ph type="sldImg"/>
          </p:nvPr>
        </p:nvSpPr>
        <p:spPr>
          <a:ln/>
        </p:spPr>
      </p:sp>
      <p:sp>
        <p:nvSpPr>
          <p:cNvPr id="14438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NOT EXPLAINED YET</a:t>
            </a:r>
            <a:endParaRPr lang="en-US" altLang="en-US" dirty="0"/>
          </a:p>
          <a:p>
            <a:r>
              <a:rPr sz="1200" b="0"/>
              <a:t>• Leaflets: the small separate blades that make up a divided (compound) leaf, like the many small segments of a fern frond. (24.5.54)</a:t>
            </a:r>
          </a:p>
          <a:p/>
          <a:p>
            <a:r>
              <a:rPr sz="1200" b="1"/>
              <a:t>HOME NOTE</a:t>
            </a:r>
          </a:p>
          <a:p>
            <a:r>
              <a:rPr sz="1200" b="0"/>
              <a:t>• Ferns</a:t>
            </a:r>
          </a:p>
          <a:p>
            <a:r>
              <a:rPr sz="1200" b="0"/>
              <a:t>   Also write here:</a:t>
            </a:r>
          </a:p>
          <a:p>
            <a:r>
              <a:rPr sz="1200" b="0"/>
              <a:t>   – Diversity of Ferns (23.4.44): Examples: tree fern, leatherleaf fern and hart's tongue fern.</a:t>
            </a:r>
          </a:p>
          <a:p/>
          <a:p>
            <a:r>
              <a:rPr sz="1200" b="1"/>
              <a:t>EXAM FOCUS (High)</a:t>
            </a:r>
          </a:p>
          <a:p>
            <a:r>
              <a:rPr sz="1200" b="0"/>
              <a:t>Likely:</a:t>
            </a:r>
          </a:p>
          <a:p>
            <a:r>
              <a:rPr sz="1200" b="0"/>
              <a:t>   • Ferns: large, conspicuous megaphylls called fronds, divided into leaflets.</a:t>
            </a:r>
          </a:p>
          <a:p>
            <a:r>
              <a:rPr sz="1200" b="0"/>
              <a:t>   • Sori = clusters of sporangia on the undersides of the fronds.</a:t>
            </a:r>
          </a:p>
          <a:p>
            <a:r>
              <a:rPr sz="1200" b="0"/>
              <a:t>   • The dominant sporophyte makes windblown spores by meiosis in the sporangia.</a:t>
            </a:r>
          </a:p>
          <a:p>
            <a:r>
              <a:rPr sz="1200" b="0"/>
              <a:t>Unlikely: About 11,000 species; size range; tropical distribution.</a:t>
            </a:r>
          </a:p>
          <a:p>
            <a:r>
              <a:rPr sz="1200" b="0"/>
              <a:t>How:</a:t>
            </a:r>
          </a:p>
          <a:p>
            <a:r>
              <a:rPr sz="1200" b="0"/>
              <a:t>   • 'Clusters of sporangia on the underside of a fern frond are called...' -&gt; sori. Trap: strobili, gemmae.</a:t>
            </a:r>
          </a:p>
          <a:p>
            <a:r>
              <a:rPr sz="1200" b="0"/>
              <a:t>   • 'A fern's large leaves are called...' -&gt; fronds. Trap: microphylls.</a:t>
            </a:r>
          </a:p>
          <a:p>
            <a:r>
              <a:rPr sz="1200" b="0"/>
              <a:t>Write: Nothing here; it's the fern row of the table at 23.3.34.</a:t>
            </a:r>
          </a:p>
        </p:txBody>
      </p:sp>
      <p:sp>
        <p:nvSpPr>
          <p:cNvPr id="4" name="Slide Number Placeholder 3">
            <a:extLst>
              <a:ext uri="{FF2B5EF4-FFF2-40B4-BE49-F238E27FC236}">
                <a16:creationId xmlns:a16="http://schemas.microsoft.com/office/drawing/2014/main" id="{BF7C65F6-8624-415F-AFD0-BE7592F623B1}"/>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42</a:t>
            </a:fld>
            <a:endParaRPr lang="en-US" altLang="en-US" dirty="0"/>
          </a:p>
        </p:txBody>
      </p:sp>
    </p:spTree>
    <p:extLst>
      <p:ext uri="{BB962C8B-B14F-4D97-AF65-F5344CB8AC3E}">
        <p14:creationId xmlns:p14="http://schemas.microsoft.com/office/powerpoint/2010/main" val="182231254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Slide Image Placeholder 1"/>
          <p:cNvSpPr>
            <a:spLocks noGrp="1" noRot="1" noChangeAspect="1" noTextEdit="1"/>
          </p:cNvSpPr>
          <p:nvPr>
            <p:ph type="sldImg"/>
          </p:nvPr>
        </p:nvSpPr>
        <p:spPr>
          <a:ln/>
        </p:spPr>
      </p:sp>
      <p:sp>
        <p:nvSpPr>
          <p:cNvPr id="14541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ADDS TO</a:t>
            </a:r>
            <a:endParaRPr lang="en-US" altLang="en-US" dirty="0"/>
          </a:p>
          <a:p>
            <a:r>
              <a:rPr sz="1200" b="0"/>
              <a:t>Fern life cycle (23.4.52)</a:t>
            </a:r>
          </a:p>
          <a:p/>
          <a:p>
            <a:r>
              <a:rPr sz="1200" b="1"/>
              <a:t>EXAM FOCUS (Medium)</a:t>
            </a:r>
          </a:p>
          <a:p>
            <a:r>
              <a:rPr sz="1200" b="0"/>
              <a:t>Likely: The fern gametophyte makes sperm that swim from the antheridium to the archegonium; both fern generations are independent.</a:t>
            </a:r>
          </a:p>
          <a:p>
            <a:r>
              <a:rPr sz="1200" b="0"/>
              <a:t>Unlikely: Nothing to skip; every point here is testable.</a:t>
            </a:r>
          </a:p>
          <a:p>
            <a:r>
              <a:rPr sz="1200" b="0"/>
              <a:t>How: 'Unlike in mosses, in ferns both generations...' -&gt; live independently (the moss sporophyte stays attached). Trap: 'the sporophyte depends on the gametophyte for life'.</a:t>
            </a:r>
          </a:p>
          <a:p>
            <a:r>
              <a:rPr sz="1200" b="0"/>
              <a:t>Write: Nothing here; it goes in the fern life-cycle box (23.4.52).</a:t>
            </a:r>
          </a:p>
        </p:txBody>
      </p:sp>
      <p:sp>
        <p:nvSpPr>
          <p:cNvPr id="4" name="Slide Number Placeholder 3">
            <a:extLst>
              <a:ext uri="{FF2B5EF4-FFF2-40B4-BE49-F238E27FC236}">
                <a16:creationId xmlns:a16="http://schemas.microsoft.com/office/drawing/2014/main" id="{C205ED39-1169-4289-9DD1-5F3826309B56}"/>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43</a:t>
            </a:fld>
            <a:endParaRPr lang="en-US" altLang="en-US" dirty="0"/>
          </a:p>
        </p:txBody>
      </p:sp>
    </p:spTree>
    <p:extLst>
      <p:ext uri="{BB962C8B-B14F-4D97-AF65-F5344CB8AC3E}">
        <p14:creationId xmlns:p14="http://schemas.microsoft.com/office/powerpoint/2010/main" val="368131388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Slide Image Placeholder 1"/>
          <p:cNvSpPr>
            <a:spLocks noGrp="1" noRot="1" noChangeAspect="1" noTextEdit="1"/>
          </p:cNvSpPr>
          <p:nvPr>
            <p:ph type="sldImg"/>
          </p:nvPr>
        </p:nvSpPr>
        <p:spPr>
          <a:ln/>
        </p:spPr>
      </p:sp>
      <p:sp>
        <p:nvSpPr>
          <p:cNvPr id="14643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IMAGE DESCRIPTION</a:t>
            </a:r>
            <a:endParaRPr lang="en-US" altLang="en-US" dirty="0"/>
          </a:p>
          <a:p>
            <a:r>
              <a:rPr sz="1200" b="0"/>
              <a:t>Photos of a tree fern, a feather leaf fern, and a hart’s tongue fern.</a:t>
            </a:r>
          </a:p>
          <a:p/>
          <a:p>
            <a:r>
              <a:rPr sz="1200" b="1"/>
              <a:t>ADDS TO</a:t>
            </a:r>
          </a:p>
          <a:p>
            <a:r>
              <a:rPr sz="1200" b="0"/>
              <a:t>Ferns (23.4.42)</a:t>
            </a:r>
          </a:p>
          <a:p/>
          <a:p>
            <a:r>
              <a:rPr sz="1200" b="1"/>
              <a:t>EXAM FOCUS (Low)</a:t>
            </a:r>
          </a:p>
          <a:p>
            <a:r>
              <a:rPr sz="1200" b="0"/>
              <a:t>Photos of fern diversity (tree fern, leatherleaf, hart's tongue); see 23.4.42.</a:t>
            </a:r>
          </a:p>
        </p:txBody>
      </p:sp>
      <p:sp>
        <p:nvSpPr>
          <p:cNvPr id="4" name="Slide Number Placeholder 3">
            <a:extLst>
              <a:ext uri="{FF2B5EF4-FFF2-40B4-BE49-F238E27FC236}">
                <a16:creationId xmlns:a16="http://schemas.microsoft.com/office/drawing/2014/main" id="{CDF670A7-275E-4B88-A204-41FC8AAC4A3E}"/>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44</a:t>
            </a:fld>
            <a:endParaRPr lang="en-US" altLang="en-US" dirty="0"/>
          </a:p>
        </p:txBody>
      </p:sp>
    </p:spTree>
    <p:extLst>
      <p:ext uri="{BB962C8B-B14F-4D97-AF65-F5344CB8AC3E}">
        <p14:creationId xmlns:p14="http://schemas.microsoft.com/office/powerpoint/2010/main" val="265206310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Slide Image Placeholder 1"/>
          <p:cNvSpPr>
            <a:spLocks noGrp="1" noRot="1" noChangeAspect="1" noTextEdit="1"/>
          </p:cNvSpPr>
          <p:nvPr>
            <p:ph type="sldImg"/>
          </p:nvPr>
        </p:nvSpPr>
        <p:spPr>
          <a:ln/>
        </p:spPr>
      </p:sp>
      <p:sp>
        <p:nvSpPr>
          <p:cNvPr id="14745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IMAGE DESCRIPTION</a:t>
            </a:r>
            <a:endParaRPr lang="en-US" altLang="en-US" dirty="0"/>
          </a:p>
          <a:p>
            <a:r>
              <a:rPr sz="1200" b="0"/>
              <a:t>The sporophyte portion of the life cycle is dominant in ferns.</a:t>
            </a:r>
          </a:p>
          <a:p/>
          <a:p>
            <a:r>
              <a:rPr sz="1200" b="1"/>
              <a:t>COVERED ELSEWHERE</a:t>
            </a:r>
          </a:p>
          <a:p>
            <a:r>
              <a:rPr sz="1200" b="0"/>
              <a:t>Fern life cycle (23.4.52)</a:t>
            </a:r>
          </a:p>
          <a:p/>
          <a:p>
            <a:r>
              <a:rPr sz="1200" b="1"/>
              <a:t>EXAM FOCUS (Low)</a:t>
            </a:r>
          </a:p>
          <a:p>
            <a:r>
              <a:rPr sz="1200" b="0"/>
              <a:t>Fern cycle: the sporophyte is dominant; see 23.4.52.</a:t>
            </a:r>
          </a:p>
        </p:txBody>
      </p:sp>
      <p:sp>
        <p:nvSpPr>
          <p:cNvPr id="4" name="Slide Number Placeholder 3">
            <a:extLst>
              <a:ext uri="{FF2B5EF4-FFF2-40B4-BE49-F238E27FC236}">
                <a16:creationId xmlns:a16="http://schemas.microsoft.com/office/drawing/2014/main" id="{AADF3650-1719-4B0D-B10D-E3BEFD73312A}"/>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45</a:t>
            </a:fld>
            <a:endParaRPr lang="en-US" altLang="en-US" dirty="0"/>
          </a:p>
        </p:txBody>
      </p:sp>
    </p:spTree>
    <p:extLst>
      <p:ext uri="{BB962C8B-B14F-4D97-AF65-F5344CB8AC3E}">
        <p14:creationId xmlns:p14="http://schemas.microsoft.com/office/powerpoint/2010/main" val="135783842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Slide Image Placeholder 1"/>
          <p:cNvSpPr>
            <a:spLocks noGrp="1" noRot="1" noChangeAspect="1" noTextEdit="1"/>
          </p:cNvSpPr>
          <p:nvPr>
            <p:ph type="sldImg"/>
          </p:nvPr>
        </p:nvSpPr>
        <p:spPr>
          <a:ln/>
        </p:spPr>
      </p:sp>
      <p:sp>
        <p:nvSpPr>
          <p:cNvPr id="14745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CLARIFICATION</a:t>
            </a:r>
            <a:endParaRPr lang="en-US" altLang="en-US" dirty="0"/>
          </a:p>
          <a:p>
            <a:r>
              <a:rPr sz="1200" b="0"/>
              <a:t>The picture on this slide is actually the moss life cycle (the same picture as 23.2.30), but the slide title and the image description are about the fern life cycle (23.4.52).</a:t>
            </a:r>
          </a:p>
          <a:p/>
          <a:p>
            <a:r>
              <a:rPr sz="1200" b="1"/>
              <a:t>IMAGE DESCRIPTION</a:t>
            </a:r>
          </a:p>
          <a:p>
            <a:r>
              <a:rPr sz="1200" b="0"/>
              <a:t>Step 1,  the sporophyte portion of the life cycle is dominant in ferns.</a:t>
            </a:r>
          </a:p>
          <a:p/>
          <a:p>
            <a:r>
              <a:rPr sz="1200" b="1"/>
              <a:t>COVERED ELSEWHERE</a:t>
            </a:r>
          </a:p>
          <a:p>
            <a:r>
              <a:rPr sz="1200" b="0"/>
              <a:t>Fern life cycle (23.4.52)</a:t>
            </a:r>
          </a:p>
          <a:p/>
          <a:p>
            <a:r>
              <a:rPr sz="1200" b="1"/>
              <a:t>EXAM FOCUS (Low)</a:t>
            </a:r>
          </a:p>
          <a:p>
            <a:r>
              <a:rPr sz="1200" b="0"/>
              <a:t>Fern cycle step 1 (dominant sporophyte); see 23.4.52.</a:t>
            </a:r>
          </a:p>
        </p:txBody>
      </p:sp>
      <p:sp>
        <p:nvSpPr>
          <p:cNvPr id="4" name="Slide Number Placeholder 3">
            <a:extLst>
              <a:ext uri="{FF2B5EF4-FFF2-40B4-BE49-F238E27FC236}">
                <a16:creationId xmlns:a16="http://schemas.microsoft.com/office/drawing/2014/main" id="{AADF3650-1719-4B0D-B10D-E3BEFD73312A}"/>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46</a:t>
            </a:fld>
            <a:endParaRPr lang="en-US" altLang="en-US" dirty="0"/>
          </a:p>
        </p:txBody>
      </p:sp>
    </p:spTree>
    <p:extLst>
      <p:ext uri="{BB962C8B-B14F-4D97-AF65-F5344CB8AC3E}">
        <p14:creationId xmlns:p14="http://schemas.microsoft.com/office/powerpoint/2010/main" val="355689881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Slide Image Placeholder 1"/>
          <p:cNvSpPr>
            <a:spLocks noGrp="1" noRot="1" noChangeAspect="1" noTextEdit="1"/>
          </p:cNvSpPr>
          <p:nvPr>
            <p:ph type="sldImg"/>
          </p:nvPr>
        </p:nvSpPr>
        <p:spPr>
          <a:ln/>
        </p:spPr>
      </p:sp>
      <p:sp>
        <p:nvSpPr>
          <p:cNvPr id="14745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CLARIFICATION</a:t>
            </a:r>
            <a:endParaRPr lang="en-US" altLang="en-US" dirty="0"/>
          </a:p>
          <a:p>
            <a:r>
              <a:rPr sz="1200" b="0"/>
              <a:t>The picture on this slide is actually the moss life cycle (the same picture as 23.2.30), but the slide title and the image description are about the fern life cycle (23.4.52).</a:t>
            </a:r>
          </a:p>
          <a:p/>
          <a:p>
            <a:r>
              <a:rPr sz="1200" b="1"/>
              <a:t>IMAGE DESCRIPTION</a:t>
            </a:r>
          </a:p>
          <a:p>
            <a:r>
              <a:rPr sz="1200" b="0"/>
              <a:t>Step 2, in this fern, the sporangia are located within sori, on the underside of the leaflets, and protected by the indusium.</a:t>
            </a:r>
          </a:p>
          <a:p/>
          <a:p>
            <a:r>
              <a:rPr sz="1200" b="1"/>
              <a:t>NOT EXPLAINED ON ANY SLIDE</a:t>
            </a:r>
          </a:p>
          <a:p>
            <a:r>
              <a:rPr sz="1200" b="0"/>
              <a:t>• Indusium: a thin flap of tissue covering a sorus (cluster of sporangia).</a:t>
            </a:r>
          </a:p>
          <a:p/>
          <a:p>
            <a:r>
              <a:rPr sz="1200" b="1"/>
              <a:t>NOT EXPLAINED YET</a:t>
            </a:r>
          </a:p>
          <a:p>
            <a:r>
              <a:rPr sz="1200" b="0"/>
              <a:t>• Leaflets: the small separate blades that make up a divided (compound) leaf, like the many small segments of a fern frond. (24.5.54)</a:t>
            </a:r>
          </a:p>
          <a:p/>
          <a:p>
            <a:r>
              <a:rPr sz="1200" b="1"/>
              <a:t>COVERED ELSEWHERE</a:t>
            </a:r>
          </a:p>
          <a:p>
            <a:r>
              <a:rPr sz="1200" b="0"/>
              <a:t>Fern life cycle (23.4.52)</a:t>
            </a:r>
          </a:p>
          <a:p/>
          <a:p>
            <a:r>
              <a:rPr sz="1200" b="1"/>
              <a:t>EXAM FOCUS (Low)</a:t>
            </a:r>
          </a:p>
          <a:p>
            <a:r>
              <a:rPr sz="1200" b="0"/>
              <a:t>Fern cycle step 2 (sporangia in sori under the leaflets); see 23.4.52.</a:t>
            </a:r>
          </a:p>
        </p:txBody>
      </p:sp>
      <p:sp>
        <p:nvSpPr>
          <p:cNvPr id="4" name="Slide Number Placeholder 3">
            <a:extLst>
              <a:ext uri="{FF2B5EF4-FFF2-40B4-BE49-F238E27FC236}">
                <a16:creationId xmlns:a16="http://schemas.microsoft.com/office/drawing/2014/main" id="{AADF3650-1719-4B0D-B10D-E3BEFD73312A}"/>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47</a:t>
            </a:fld>
            <a:endParaRPr lang="en-US" altLang="en-US" dirty="0"/>
          </a:p>
        </p:txBody>
      </p:sp>
    </p:spTree>
    <p:extLst>
      <p:ext uri="{BB962C8B-B14F-4D97-AF65-F5344CB8AC3E}">
        <p14:creationId xmlns:p14="http://schemas.microsoft.com/office/powerpoint/2010/main" val="372499024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Slide Image Placeholder 1"/>
          <p:cNvSpPr>
            <a:spLocks noGrp="1" noRot="1" noChangeAspect="1" noTextEdit="1"/>
          </p:cNvSpPr>
          <p:nvPr>
            <p:ph type="sldImg"/>
          </p:nvPr>
        </p:nvSpPr>
        <p:spPr>
          <a:ln/>
        </p:spPr>
      </p:sp>
      <p:sp>
        <p:nvSpPr>
          <p:cNvPr id="14745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CLARIFICATION</a:t>
            </a:r>
            <a:endParaRPr lang="en-US" altLang="en-US" dirty="0"/>
          </a:p>
          <a:p>
            <a:r>
              <a:rPr sz="1200" b="0"/>
              <a:t>The picture on this slide is actually the moss life cycle (the same picture as 23.2.30), but the slide title and the image description are about the fern life cycle (23.4.52).</a:t>
            </a:r>
          </a:p>
          <a:p/>
          <a:p>
            <a:r>
              <a:rPr sz="1200" b="1"/>
              <a:t>IMAGE DESCRIPTION</a:t>
            </a:r>
          </a:p>
          <a:p>
            <a:r>
              <a:rPr sz="1200" b="0"/>
              <a:t>Step 3, within a sporangium, meiosis occurs and spores are produced. When a sporangium opens, the spores are released.</a:t>
            </a:r>
          </a:p>
          <a:p/>
          <a:p>
            <a:r>
              <a:rPr sz="1200" b="1"/>
              <a:t>COVERED ELSEWHERE</a:t>
            </a:r>
          </a:p>
          <a:p>
            <a:r>
              <a:rPr sz="1200" b="0"/>
              <a:t>Fern life cycle (23.4.52)</a:t>
            </a:r>
          </a:p>
          <a:p/>
          <a:p>
            <a:r>
              <a:rPr sz="1200" b="1"/>
              <a:t>EXAM FOCUS (Low)</a:t>
            </a:r>
          </a:p>
          <a:p>
            <a:r>
              <a:rPr sz="1200" b="0"/>
              <a:t>Fern cycle step 3 (meiosis in sporangia makes spores); see 23.4.52.</a:t>
            </a:r>
          </a:p>
        </p:txBody>
      </p:sp>
      <p:sp>
        <p:nvSpPr>
          <p:cNvPr id="4" name="Slide Number Placeholder 3">
            <a:extLst>
              <a:ext uri="{FF2B5EF4-FFF2-40B4-BE49-F238E27FC236}">
                <a16:creationId xmlns:a16="http://schemas.microsoft.com/office/drawing/2014/main" id="{AADF3650-1719-4B0D-B10D-E3BEFD73312A}"/>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48</a:t>
            </a:fld>
            <a:endParaRPr lang="en-US" altLang="en-US" dirty="0"/>
          </a:p>
        </p:txBody>
      </p:sp>
    </p:spTree>
    <p:extLst>
      <p:ext uri="{BB962C8B-B14F-4D97-AF65-F5344CB8AC3E}">
        <p14:creationId xmlns:p14="http://schemas.microsoft.com/office/powerpoint/2010/main" val="62597868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Slide Image Placeholder 1"/>
          <p:cNvSpPr>
            <a:spLocks noGrp="1" noRot="1" noChangeAspect="1" noTextEdit="1"/>
          </p:cNvSpPr>
          <p:nvPr>
            <p:ph type="sldImg"/>
          </p:nvPr>
        </p:nvSpPr>
        <p:spPr>
          <a:ln/>
        </p:spPr>
      </p:sp>
      <p:sp>
        <p:nvSpPr>
          <p:cNvPr id="14745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CLARIFICATION</a:t>
            </a:r>
            <a:endParaRPr lang="en-US" altLang="en-US" dirty="0"/>
          </a:p>
          <a:p>
            <a:r>
              <a:rPr sz="1200" b="0"/>
              <a:t>The picture on this slide is actually the moss life cycle (the same picture as 23.2.30), but the slide title and the image description are about the fern life cycle (23.4.52).</a:t>
            </a:r>
          </a:p>
          <a:p/>
          <a:p>
            <a:r>
              <a:rPr sz="1200" b="1"/>
              <a:t>IMAGE DESCRIPTION</a:t>
            </a:r>
          </a:p>
          <a:p>
            <a:r>
              <a:rPr sz="1200" b="0"/>
              <a:t>Step 4, a spore germinates into a prothallus (the gametophyte), which typically bears archegonia at the notch and antheridia at the tip between the rhizoids.</a:t>
            </a:r>
          </a:p>
          <a:p/>
          <a:p>
            <a:r>
              <a:rPr sz="1200" b="1"/>
              <a:t>COVERED ELSEWHERE</a:t>
            </a:r>
          </a:p>
          <a:p>
            <a:r>
              <a:rPr sz="1200" b="0"/>
              <a:t>Fern life cycle (23.4.52)</a:t>
            </a:r>
          </a:p>
          <a:p/>
          <a:p>
            <a:r>
              <a:rPr sz="1200" b="1"/>
              <a:t>EXAM FOCUS (Low)</a:t>
            </a:r>
          </a:p>
          <a:p>
            <a:r>
              <a:rPr sz="1200" b="0"/>
              <a:t>Fern cycle step 4 (spore -&gt; prothallus with archegonia and antheridia); see 23.4.52.</a:t>
            </a:r>
          </a:p>
        </p:txBody>
      </p:sp>
      <p:sp>
        <p:nvSpPr>
          <p:cNvPr id="4" name="Slide Number Placeholder 3">
            <a:extLst>
              <a:ext uri="{FF2B5EF4-FFF2-40B4-BE49-F238E27FC236}">
                <a16:creationId xmlns:a16="http://schemas.microsoft.com/office/drawing/2014/main" id="{AADF3650-1719-4B0D-B10D-E3BEFD73312A}"/>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49</a:t>
            </a:fld>
            <a:endParaRPr lang="en-US" altLang="en-US" dirty="0"/>
          </a:p>
        </p:txBody>
      </p:sp>
    </p:spTree>
    <p:extLst>
      <p:ext uri="{BB962C8B-B14F-4D97-AF65-F5344CB8AC3E}">
        <p14:creationId xmlns:p14="http://schemas.microsoft.com/office/powerpoint/2010/main" val="384295849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Slide Image Placeholder 1"/>
          <p:cNvSpPr>
            <a:spLocks noGrp="1" noRot="1" noChangeAspect="1" noTextEdit="1"/>
          </p:cNvSpPr>
          <p:nvPr>
            <p:ph type="sldImg"/>
          </p:nvPr>
        </p:nvSpPr>
        <p:spPr>
          <a:ln/>
        </p:spPr>
      </p:sp>
      <p:sp>
        <p:nvSpPr>
          <p:cNvPr id="15769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CLARIFICATION</a:t>
            </a:r>
            <a:endParaRPr lang="en-US" altLang="en-US" dirty="0"/>
          </a:p>
          <a:p>
            <a:r>
              <a:rPr sz="1200" b="0"/>
              <a:t>The picture on this slide is actually the moss life cycle (the same picture as 23.2.30), but the slide title and the image description are about the fern life cycle (23.4.52).</a:t>
            </a:r>
          </a:p>
          <a:p/>
          <a:p>
            <a:r>
              <a:rPr sz="1200" b="1"/>
              <a:t>IMAGE DESCRIPTION</a:t>
            </a:r>
          </a:p>
          <a:p>
            <a:r>
              <a:rPr sz="1200" b="0"/>
              <a:t>Fertilization takes place when moisture is present, because the flagellated sperm must swim in a film of water from the antheridia to the egg within the archegonium.</a:t>
            </a:r>
          </a:p>
          <a:p/>
          <a:p>
            <a:r>
              <a:rPr sz="1200" b="1"/>
              <a:t>COVERED ELSEWHERE</a:t>
            </a:r>
          </a:p>
          <a:p>
            <a:r>
              <a:rPr sz="1200" b="0"/>
              <a:t>Fern life cycle (23.4.52)</a:t>
            </a:r>
          </a:p>
          <a:p/>
          <a:p>
            <a:r>
              <a:rPr sz="1200" b="1"/>
              <a:t>EXAM FOCUS (Low)</a:t>
            </a:r>
          </a:p>
          <a:p>
            <a:r>
              <a:rPr sz="1200" b="0"/>
              <a:t>Fern cycle step 5 (sperm swim in water to the egg); see 23.4.52.</a:t>
            </a:r>
          </a:p>
        </p:txBody>
      </p:sp>
      <p:sp>
        <p:nvSpPr>
          <p:cNvPr id="4" name="Slide Number Placeholder 3">
            <a:extLst>
              <a:ext uri="{FF2B5EF4-FFF2-40B4-BE49-F238E27FC236}">
                <a16:creationId xmlns:a16="http://schemas.microsoft.com/office/drawing/2014/main" id="{C1D64B70-30AB-4A7D-A91E-AF0A1AD1B101}"/>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50</a:t>
            </a:fld>
            <a:endParaRPr lang="en-US" altLang="en-US" dirty="0"/>
          </a:p>
        </p:txBody>
      </p:sp>
    </p:spTree>
    <p:extLst>
      <p:ext uri="{BB962C8B-B14F-4D97-AF65-F5344CB8AC3E}">
        <p14:creationId xmlns:p14="http://schemas.microsoft.com/office/powerpoint/2010/main" val="162480483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Slide Image Placeholder 1"/>
          <p:cNvSpPr>
            <a:spLocks noGrp="1" noRot="1" noChangeAspect="1" noTextEdit="1"/>
          </p:cNvSpPr>
          <p:nvPr>
            <p:ph type="sldImg"/>
          </p:nvPr>
        </p:nvSpPr>
        <p:spPr>
          <a:ln/>
        </p:spPr>
      </p:sp>
      <p:sp>
        <p:nvSpPr>
          <p:cNvPr id="15769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CLARIFICATION</a:t>
            </a:r>
            <a:endParaRPr lang="en-US" altLang="en-US" dirty="0"/>
          </a:p>
          <a:p>
            <a:r>
              <a:rPr sz="1200" b="0"/>
              <a:t>The picture on this slide is actually the moss life cycle (the same picture as 23.2.30), but the slide title and the image description are about the fern life cycle (23.4.52). The short image description is the moss step (protonema); the full one is the fern step.</a:t>
            </a:r>
          </a:p>
          <a:p/>
          <a:p>
            <a:r>
              <a:rPr sz="1200" b="1"/>
              <a:t>IMAGE DESCRIPTION</a:t>
            </a:r>
          </a:p>
          <a:p>
            <a:r>
              <a:rPr sz="1200" b="0"/>
              <a:t>Step 6, spores germinate into male or female immature gametophytes (protonema).</a:t>
            </a:r>
          </a:p>
          <a:p>
            <a:r>
              <a:rPr sz="1200" b="0"/>
              <a:t>The resulting sporophyte zygote begins its development inside an archegonium. As the distinctive first leaf appears above the prothallus, and the roots develop below it, the sporophyte becomes visible.</a:t>
            </a:r>
          </a:p>
          <a:p/>
          <a:p>
            <a:r>
              <a:rPr sz="1200" b="1"/>
              <a:t>COVERED ELSEWHERE</a:t>
            </a:r>
          </a:p>
          <a:p>
            <a:r>
              <a:rPr sz="1200" b="0"/>
              <a:t>Fern life cycle (23.4.52)</a:t>
            </a:r>
          </a:p>
          <a:p/>
          <a:p>
            <a:r>
              <a:rPr sz="1200" b="1"/>
              <a:t>EXAM FOCUS (Low)</a:t>
            </a:r>
          </a:p>
          <a:p>
            <a:r>
              <a:rPr sz="1200" b="0"/>
              <a:t>Fern cycle step 6 (zygote grows into a new sporophyte on the prothallus); see 23.4.52.</a:t>
            </a:r>
          </a:p>
        </p:txBody>
      </p:sp>
      <p:sp>
        <p:nvSpPr>
          <p:cNvPr id="4" name="Slide Number Placeholder 3">
            <a:extLst>
              <a:ext uri="{FF2B5EF4-FFF2-40B4-BE49-F238E27FC236}">
                <a16:creationId xmlns:a16="http://schemas.microsoft.com/office/drawing/2014/main" id="{C1D64B70-30AB-4A7D-A91E-AF0A1AD1B101}"/>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51</a:t>
            </a:fld>
            <a:endParaRPr lang="en-US" altLang="en-US" dirty="0"/>
          </a:p>
        </p:txBody>
      </p:sp>
    </p:spTree>
    <p:extLst>
      <p:ext uri="{BB962C8B-B14F-4D97-AF65-F5344CB8AC3E}">
        <p14:creationId xmlns:p14="http://schemas.microsoft.com/office/powerpoint/2010/main" val="413047277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Slide Image Placeholder 1"/>
          <p:cNvSpPr>
            <a:spLocks noGrp="1" noRot="1" noChangeAspect="1" noTextEdit="1"/>
          </p:cNvSpPr>
          <p:nvPr>
            <p:ph type="sldImg"/>
          </p:nvPr>
        </p:nvSpPr>
        <p:spPr>
          <a:ln/>
        </p:spPr>
      </p:sp>
      <p:sp>
        <p:nvSpPr>
          <p:cNvPr id="15769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IMAGE DESCRIPTION</a:t>
            </a:r>
            <a:endParaRPr lang="en-US" altLang="en-US" dirty="0"/>
          </a:p>
          <a:p>
            <a:r>
              <a:rPr sz="1200" b="0"/>
              <a:t>Details of the fern life cycle are shown. 1. The sporophyte: The sporophyte portion of the life cycle is dominant in ferns. 2. The sporangia: In this fern, the sporangia are located within sori, on the underside of the leaflets, and protected by the indusium. 3. The spores: Within a sporangium, meiosis occurs and spores are produced. When a sporangium opens, the spores are released. 4. The gametophyte: A spore germinates into a prothallus (the gametophyte), which typically bears archegonia at the notch and antheridia at the tip between the rhizoids. 5. Fertilization: Fertilization takes place when moisture is present, because the flagellated sperm must swim in a film of water from the antheridia to the egg within the archegonium. 6. The zygote: The resulting sporophyte zygote begins its development inside an archegonium. As the distinctive first leaf appears above the prothallus, and the roots develop below it, the sporophyte becomes visible. 7. The fronds: The sporophyte develops a root-bearing rhizome from which the aerial fronds project.</a:t>
            </a:r>
          </a:p>
          <a:p/>
          <a:p>
            <a:r>
              <a:rPr sz="1200" b="1"/>
              <a:t>NOT EXPLAINED YET</a:t>
            </a:r>
          </a:p>
          <a:p>
            <a:r>
              <a:rPr sz="1200" b="0"/>
              <a:t>• Rhizome: a stem that grows sideways underground. (24.4.48)</a:t>
            </a:r>
          </a:p>
          <a:p>
            <a:r>
              <a:rPr sz="1200" b="0"/>
              <a:t>• Leaflets: the small separate blades that make up a divided (compound) leaf, like the many small segments of a fern frond. (24.5.54)</a:t>
            </a:r>
          </a:p>
          <a:p/>
          <a:p>
            <a:r>
              <a:rPr sz="1200" b="1"/>
              <a:t>HOME NOTE</a:t>
            </a:r>
          </a:p>
          <a:p>
            <a:r>
              <a:rPr sz="1200" b="0"/>
              <a:t>• Fern life cycle</a:t>
            </a:r>
          </a:p>
          <a:p>
            <a:r>
              <a:rPr sz="1200" b="0"/>
              <a:t>   Also write here:</a:t>
            </a:r>
          </a:p>
          <a:p>
            <a:r>
              <a:rPr sz="1200" b="0"/>
              <a:t>   – Fern Life Cycle (23.4.43): In ferns both generations live on their own: the gametophyte is a separate little plant, and once it dies the sporophyte is fully independent.</a:t>
            </a:r>
          </a:p>
          <a:p/>
          <a:p>
            <a:r>
              <a:rPr sz="1200" b="1"/>
              <a:t>EXAM FOCUS (High)</a:t>
            </a:r>
          </a:p>
          <a:p>
            <a:r>
              <a:rPr sz="1200" b="0"/>
              <a:t>Likely:</a:t>
            </a:r>
          </a:p>
          <a:p>
            <a:r>
              <a:rPr sz="1200" b="0"/>
              <a:t>   • The sporophyte (the fern) is dominant.</a:t>
            </a:r>
          </a:p>
          <a:p>
            <a:r>
              <a:rPr sz="1200" b="0"/>
              <a:t>   • Meiosis in sporangia (in sori under the fronds) makes spores.</a:t>
            </a:r>
          </a:p>
          <a:p>
            <a:r>
              <a:rPr sz="1200" b="0"/>
              <a:t>   • Spore -&gt; prothallus (the gametophyte, n) with archegonia and antheridia.</a:t>
            </a:r>
          </a:p>
          <a:p>
            <a:r>
              <a:rPr sz="1200" b="0"/>
              <a:t>   • Flagellated sperm swim in a film of water to the egg, so fertilization needs moisture.</a:t>
            </a:r>
          </a:p>
          <a:p>
            <a:r>
              <a:rPr sz="1200" b="0"/>
              <a:t>   • The zygote grows into a new sporophyte on the prothallus; fronds rise from a rhizome.</a:t>
            </a:r>
          </a:p>
          <a:p>
            <a:r>
              <a:rPr sz="1200" b="0"/>
              <a:t>Unlikely: The indusium and "notch" labels.</a:t>
            </a:r>
          </a:p>
          <a:p>
            <a:r>
              <a:rPr sz="1200" b="0"/>
              <a:t>How:</a:t>
            </a:r>
          </a:p>
          <a:p>
            <a:r>
              <a:rPr sz="1200" b="0"/>
              <a:t>   • 'In ferns, which structure is the gametophyte?' -&gt; the prothallus. Trap: protonema (moss), sorus, frond.</a:t>
            </a:r>
          </a:p>
          <a:p>
            <a:r>
              <a:rPr sz="1200" b="0"/>
              <a:t>   • 'Why do ferns need moisture to reproduce?' -&gt; the sperm must swim to the egg. Trap: 'the fronds absorb water for the spores'.</a:t>
            </a:r>
          </a:p>
          <a:p>
            <a:r>
              <a:rPr sz="1200" b="0"/>
              <a:t>   • 'Where does meiosis occur in a fern?' -&gt; in sporangia, in the sori. Trap: the prothallus.</a:t>
            </a:r>
          </a:p>
          <a:p>
            <a:r>
              <a:rPr sz="1200" b="0"/>
              <a:t>Write: Fern life-cycle box (same rows as the moss box):</a:t>
            </a:r>
          </a:p>
          <a:p>
            <a:r>
              <a:rPr sz="1200" b="0"/>
              <a:t>   • Dominant: sporophyte (the fern)</a:t>
            </a:r>
          </a:p>
          <a:p>
            <a:r>
              <a:rPr sz="1200" b="0"/>
              <a:t>   • Meiosis: in sporangia, in sori under the fronds -&gt; spores</a:t>
            </a:r>
          </a:p>
          <a:p>
            <a:r>
              <a:rPr sz="1200" b="0"/>
              <a:t>   • Gametophyte: spore -&gt; prothallus (small, separate plant) with archegonia + antheridia</a:t>
            </a:r>
          </a:p>
          <a:p>
            <a:r>
              <a:rPr sz="1200" b="0"/>
              <a:t>   • Fertilization: sperm swim through water to the egg; moisture needed</a:t>
            </a:r>
          </a:p>
          <a:p>
            <a:r>
              <a:rPr sz="1200" b="0"/>
              <a:t>   • Sporophyte: grows out of the prothallus, which then dies; both generations independent</a:t>
            </a:r>
          </a:p>
        </p:txBody>
      </p:sp>
      <p:sp>
        <p:nvSpPr>
          <p:cNvPr id="4" name="Slide Number Placeholder 3">
            <a:extLst>
              <a:ext uri="{FF2B5EF4-FFF2-40B4-BE49-F238E27FC236}">
                <a16:creationId xmlns:a16="http://schemas.microsoft.com/office/drawing/2014/main" id="{C1D64B70-30AB-4A7D-A91E-AF0A1AD1B101}"/>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52</a:t>
            </a:fld>
            <a:endParaRPr lang="en-US" altLang="en-US" dirty="0"/>
          </a:p>
        </p:txBody>
      </p:sp>
    </p:spTree>
    <p:extLst>
      <p:ext uri="{BB962C8B-B14F-4D97-AF65-F5344CB8AC3E}">
        <p14:creationId xmlns:p14="http://schemas.microsoft.com/office/powerpoint/2010/main" val="395736419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Slide Image Placeholder 1"/>
          <p:cNvSpPr>
            <a:spLocks noGrp="1" noRot="1" noChangeAspect="1" noTextEdit="1"/>
          </p:cNvSpPr>
          <p:nvPr>
            <p:ph type="sldImg"/>
          </p:nvPr>
        </p:nvSpPr>
        <p:spPr>
          <a:ln/>
        </p:spPr>
      </p:sp>
      <p:sp>
        <p:nvSpPr>
          <p:cNvPr id="15872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NOT EXPLAINED ON ANY SLIDE</a:t>
            </a:r>
            <a:endParaRPr lang="en-US" altLang="en-US" dirty="0"/>
          </a:p>
          <a:p>
            <a:r>
              <a:rPr sz="1200" b="0"/>
              <a:t>• Astringent: something that makes body tissues tighten, which helps stop bleeding.</a:t>
            </a:r>
          </a:p>
          <a:p/>
          <a:p>
            <a:r>
              <a:rPr sz="1200" b="1"/>
              <a:t>EXAM FOCUS (Low)</a:t>
            </a:r>
          </a:p>
          <a:p>
            <a:r>
              <a:rPr sz="1200" b="0"/>
              <a:t>Uses (asked rarely; her Oct 22 email: know the main examples and why they matter): ferns as food; maidenhair fern -&gt; cold medicine; tree-fern wood resists decay and termites, so it's used for building; ferns in bouquets and gardens. One line each.</a:t>
            </a:r>
          </a:p>
        </p:txBody>
      </p:sp>
      <p:sp>
        <p:nvSpPr>
          <p:cNvPr id="4" name="Slide Number Placeholder 3">
            <a:extLst>
              <a:ext uri="{FF2B5EF4-FFF2-40B4-BE49-F238E27FC236}">
                <a16:creationId xmlns:a16="http://schemas.microsoft.com/office/drawing/2014/main" id="{2AA6B7C5-06A5-467B-8BF1-DF06023D3034}"/>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53</a:t>
            </a:fld>
            <a:endParaRPr lang="en-US" altLang="en-US" dirty="0"/>
          </a:p>
        </p:txBody>
      </p:sp>
    </p:spTree>
    <p:extLst>
      <p:ext uri="{BB962C8B-B14F-4D97-AF65-F5344CB8AC3E}">
        <p14:creationId xmlns:p14="http://schemas.microsoft.com/office/powerpoint/2010/main" val="239929163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Slide Image Placeholder 1"/>
          <p:cNvSpPr>
            <a:spLocks noGrp="1" noRot="1" noChangeAspect="1" noTextEdit="1"/>
          </p:cNvSpPr>
          <p:nvPr>
            <p:ph type="sldImg"/>
          </p:nvPr>
        </p:nvSpPr>
        <p:spPr>
          <a:ln/>
        </p:spPr>
      </p:sp>
      <p:sp>
        <p:nvSpPr>
          <p:cNvPr id="15974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ADDS TO</a:t>
            </a:r>
            <a:endParaRPr lang="en-US" altLang="en-US" dirty="0"/>
          </a:p>
          <a:p>
            <a:r>
              <a:rPr sz="1200" b="0"/>
              <a:t>Dormancy (27.3.33)</a:t>
            </a:r>
          </a:p>
          <a:p/>
          <a:p>
            <a:r>
              <a:rPr sz="1200" b="1"/>
              <a:t>EXAM FOCUS (High)</a:t>
            </a:r>
          </a:p>
          <a:p>
            <a:r>
              <a:rPr sz="1200" b="0"/>
              <a:t>Likely:</a:t>
            </a:r>
          </a:p>
          <a:p>
            <a:r>
              <a:rPr sz="1200" b="0"/>
              <a:t>   • Seed plants: vascular plants that use seeds to disperse.</a:t>
            </a:r>
          </a:p>
          <a:p>
            <a:r>
              <a:rPr sz="1200" b="0"/>
              <a:t>   • Seed = sporophyte embryo + stored food + protective seed coat.</a:t>
            </a:r>
          </a:p>
          <a:p>
            <a:r>
              <a:rPr sz="1200" b="0"/>
              <a:t>   • Coat + food let the embryo survive harsh conditions through dormancy; the stored food feeds the seedling.</a:t>
            </a:r>
          </a:p>
          <a:p>
            <a:r>
              <a:rPr sz="1200" b="0"/>
              <a:t>   • Seed survival largely explains why seed plants dominate today.</a:t>
            </a:r>
          </a:p>
          <a:p>
            <a:r>
              <a:rPr sz="1200" b="0"/>
              <a:t>Unlikely: Nothing to skip; every point here is testable.</a:t>
            </a:r>
          </a:p>
          <a:p>
            <a:r>
              <a:rPr sz="1200" b="0"/>
              <a:t>How:</a:t>
            </a:r>
          </a:p>
          <a:p>
            <a:r>
              <a:rPr sz="1200" b="0"/>
              <a:t>   • 'What lets a seed's embryo survive long periods of harsh conditions?' -&gt; the seed coat and stored food. Trap: 'the embryo photosynthesizes inside the seed'.</a:t>
            </a:r>
          </a:p>
          <a:p>
            <a:r>
              <a:rPr sz="1200" b="0"/>
              <a:t>   • 'A seed contains...' -&gt; an embryo, stored food and a seed coat. Trap: 'a gametophyte and spores'.</a:t>
            </a:r>
          </a:p>
          <a:p>
            <a:r>
              <a:rPr sz="1200" b="0"/>
              <a:t>Write: Seed = embryo + stored food + seed coat; why seeds matter: survive dormancy, feed the seedling, explain seed plants' dominance.</a:t>
            </a:r>
          </a:p>
        </p:txBody>
      </p:sp>
      <p:sp>
        <p:nvSpPr>
          <p:cNvPr id="4" name="Slide Number Placeholder 3">
            <a:extLst>
              <a:ext uri="{FF2B5EF4-FFF2-40B4-BE49-F238E27FC236}">
                <a16:creationId xmlns:a16="http://schemas.microsoft.com/office/drawing/2014/main" id="{68003393-48FB-42D7-AC5B-1CFE082BB8A8}"/>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54</a:t>
            </a:fld>
            <a:endParaRPr lang="en-US" altLang="en-US" dirty="0"/>
          </a:p>
        </p:txBody>
      </p:sp>
    </p:spTree>
    <p:extLst>
      <p:ext uri="{BB962C8B-B14F-4D97-AF65-F5344CB8AC3E}">
        <p14:creationId xmlns:p14="http://schemas.microsoft.com/office/powerpoint/2010/main" val="333279530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Slide Image Placeholder 1"/>
          <p:cNvSpPr>
            <a:spLocks noGrp="1" noRot="1" noChangeAspect="1" noTextEdit="1"/>
          </p:cNvSpPr>
          <p:nvPr>
            <p:ph type="sldImg"/>
          </p:nvPr>
        </p:nvSpPr>
        <p:spPr>
          <a:ln/>
        </p:spPr>
      </p:sp>
      <p:sp>
        <p:nvSpPr>
          <p:cNvPr id="15974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NOT EXPLAINED YET</a:t>
            </a:r>
            <a:endParaRPr lang="en-US" altLang="en-US" dirty="0"/>
          </a:p>
          <a:p>
            <a:r>
              <a:rPr sz="1200" b="0"/>
              <a:t>• Pollen grain: the tiny male gametophyte of a seed plant; it carries the sperm to the egg. (27.1.12)</a:t>
            </a:r>
          </a:p>
          <a:p>
            <a:r>
              <a:rPr sz="1200" b="0"/>
              <a:t>• Ovule: a small structure where the female gametophyte (with its egg) develops; after fertilization it becomes the seed. (27.1.14)</a:t>
            </a:r>
          </a:p>
          <a:p/>
          <a:p>
            <a:r>
              <a:rPr sz="1200" b="1"/>
              <a:t>ADDS TO</a:t>
            </a:r>
          </a:p>
          <a:p>
            <a:r>
              <a:rPr sz="1200" b="0"/>
              <a:t>Pollination (27.1.15) · Pollen tube (27.1.17)</a:t>
            </a:r>
          </a:p>
          <a:p/>
          <a:p>
            <a:r>
              <a:rPr sz="1200" b="1"/>
              <a:t>EXAM FOCUS (High)</a:t>
            </a:r>
          </a:p>
          <a:p>
            <a:r>
              <a:rPr sz="1200" b="0"/>
              <a:t>Likely:</a:t>
            </a:r>
          </a:p>
          <a:p>
            <a:r>
              <a:rPr sz="1200" b="0"/>
              <a:t>   • Seed plants are heterosporous and RETAIN their spores instead of releasing them.</a:t>
            </a:r>
          </a:p>
          <a:p>
            <a:r>
              <a:rPr sz="1200" b="0"/>
              <a:t>   • Microspores -&gt; pollen grains (male gametophytes).</a:t>
            </a:r>
          </a:p>
          <a:p>
            <a:r>
              <a:rPr sz="1200" b="0"/>
              <a:t>   • Pollination: wind or a pollinator carries pollen to the female gametophyte.</a:t>
            </a:r>
          </a:p>
          <a:p>
            <a:r>
              <a:rPr sz="1200" b="0"/>
              <a:t>   • Sperm reach the egg through a pollen tube, so no external water is needed.</a:t>
            </a:r>
          </a:p>
          <a:p>
            <a:r>
              <a:rPr sz="1200" b="0"/>
              <a:t>   • The megaspore -&gt; female gametophyte inside an ovule; the ovule becomes the seed.</a:t>
            </a:r>
          </a:p>
          <a:p>
            <a:r>
              <a:rPr sz="1200" b="0"/>
              <a:t>Unlikely: Nothing to skip; every point here is testable.</a:t>
            </a:r>
          </a:p>
          <a:p>
            <a:r>
              <a:rPr sz="1200" b="0"/>
              <a:t>How:</a:t>
            </a:r>
          </a:p>
          <a:p>
            <a:r>
              <a:rPr sz="1200" b="0"/>
              <a:t>   • 'Why don't seed plants need water for fertilization?' -&gt; a pollen tube delivers the sperm. Trap: 'sperm swim in a film of water' (bryophytes, ferns).</a:t>
            </a:r>
          </a:p>
          <a:p>
            <a:r>
              <a:rPr sz="1200" b="0"/>
              <a:t>   • 'In seed plants, the ovule becomes the...' -&gt; seed. Trap: fruit (the ovary becomes the fruit).</a:t>
            </a:r>
          </a:p>
          <a:p>
            <a:r>
              <a:rPr sz="1200" b="0"/>
              <a:t>   • 'Unlike other plants, what do seed plants do with their spores?' -&gt; keep (retain) them. Trap: release them into the wind.</a:t>
            </a:r>
          </a:p>
          <a:p>
            <a:r>
              <a:rPr sz="1200" b="0"/>
              <a:t>Write: Non-seed vs seed plants:</a:t>
            </a:r>
          </a:p>
          <a:p>
            <a:r>
              <a:rPr sz="1200" b="0"/>
              <a:t>   • Non-seed (mosses, ferns): spores released; sperm swim through water</a:t>
            </a:r>
          </a:p>
          <a:p>
            <a:r>
              <a:rPr sz="1200" b="0"/>
              <a:t>   • Seed plants: spores kept; microspore -&gt; pollen grain; megaspore -&gt; female gametophyte in an ovule -&gt; seed; pollen tube delivers the sperm, no water needed</a:t>
            </a:r>
          </a:p>
        </p:txBody>
      </p:sp>
      <p:sp>
        <p:nvSpPr>
          <p:cNvPr id="4" name="Slide Number Placeholder 3">
            <a:extLst>
              <a:ext uri="{FF2B5EF4-FFF2-40B4-BE49-F238E27FC236}">
                <a16:creationId xmlns:a16="http://schemas.microsoft.com/office/drawing/2014/main" id="{68003393-48FB-42D7-AC5B-1CFE082BB8A8}"/>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55</a:t>
            </a:fld>
            <a:endParaRPr lang="en-US" altLang="en-US" dirty="0"/>
          </a:p>
        </p:txBody>
      </p:sp>
    </p:spTree>
    <p:extLst>
      <p:ext uri="{BB962C8B-B14F-4D97-AF65-F5344CB8AC3E}">
        <p14:creationId xmlns:p14="http://schemas.microsoft.com/office/powerpoint/2010/main" val="183079002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Slide Image Placeholder 1"/>
          <p:cNvSpPr>
            <a:spLocks noGrp="1" noRot="1" noChangeAspect="1" noTextEdit="1"/>
          </p:cNvSpPr>
          <p:nvPr>
            <p:ph type="sldImg"/>
          </p:nvPr>
        </p:nvSpPr>
        <p:spPr>
          <a:ln/>
        </p:spPr>
      </p:sp>
      <p:sp>
        <p:nvSpPr>
          <p:cNvPr id="15974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NOT EXPLAINED YET</a:t>
            </a:r>
            <a:endParaRPr lang="en-US" altLang="en-US" dirty="0"/>
          </a:p>
          <a:p>
            <a:r>
              <a:rPr sz="1200" b="0"/>
              <a:t>• Ovule: a small structure where the female gametophyte (with its egg) develops; after fertilization it becomes the seed. (27.1.14)</a:t>
            </a:r>
          </a:p>
          <a:p>
            <a:r>
              <a:rPr sz="1200" b="0"/>
              <a:t>• Ovary: the swollen base of a flower's female part; it holds the ovules and later becomes the fruit. (23.5.84)</a:t>
            </a:r>
          </a:p>
          <a:p/>
          <a:p>
            <a:r>
              <a:rPr sz="1200" b="1"/>
              <a:t>HOME NOTE</a:t>
            </a:r>
          </a:p>
          <a:p>
            <a:r>
              <a:rPr sz="1200" b="0"/>
              <a:t>• Gymnosperms vs angiosperms</a:t>
            </a:r>
          </a:p>
          <a:p/>
          <a:p>
            <a:r>
              <a:rPr sz="1200" b="1"/>
              <a:t>EXAM FOCUS (High)</a:t>
            </a:r>
          </a:p>
          <a:p>
            <a:r>
              <a:rPr sz="1200" b="0"/>
              <a:t>Likely:</a:t>
            </a:r>
          </a:p>
          <a:p>
            <a:r>
              <a:rPr sz="1200" b="0"/>
              <a:t>   • Gymnosperms (mostly cone-bearing): ovules not completely enclosed by sporophyte tissue at pollination ("naked" seeds).</a:t>
            </a:r>
          </a:p>
          <a:p>
            <a:r>
              <a:rPr sz="1200" b="0"/>
              <a:t>   • Angiosperms (flowering plants): ovules completely enclosed in diploid tissue, the ovary, which becomes a fruit.</a:t>
            </a:r>
          </a:p>
          <a:p>
            <a:r>
              <a:rPr sz="1200" b="0"/>
              <a:t>Unlikely: Nothing to skip; every point here is testable.</a:t>
            </a:r>
          </a:p>
          <a:p>
            <a:r>
              <a:rPr sz="1200" b="0"/>
              <a:t>How:</a:t>
            </a:r>
          </a:p>
          <a:p>
            <a:r>
              <a:rPr sz="1200" b="0"/>
              <a:t>   • 'Which feature distinguishes angiosperms from gymnosperms?' -&gt; ovules enclosed in an ovary that becomes a fruit. Trap: seeds, vascular tissue, pollen (both groups have them).</a:t>
            </a:r>
          </a:p>
          <a:p>
            <a:r>
              <a:rPr sz="1200" b="0"/>
              <a:t>   • 'Why are gymnosperm seeds called naked?' -&gt; they aren't enclosed in an ovary or fruit. Trap: 'they have no seed coat'.</a:t>
            </a:r>
          </a:p>
          <a:p>
            <a:r>
              <a:rPr sz="1200" b="0"/>
              <a:t>Write: Gymnosperm vs angiosperm:</a:t>
            </a:r>
          </a:p>
          <a:p>
            <a:r>
              <a:rPr sz="1200" b="0"/>
              <a:t>   • Gymnosperm: "naked" seeds, usually on cones; no flowers or fruit; e.g. pines</a:t>
            </a:r>
          </a:p>
          <a:p>
            <a:r>
              <a:rPr sz="1200" b="0"/>
              <a:t>   • Angiosperm: flowers; ovules inside an ovary, which becomes a fruit around the seeds</a:t>
            </a:r>
          </a:p>
        </p:txBody>
      </p:sp>
      <p:sp>
        <p:nvSpPr>
          <p:cNvPr id="4" name="Slide Number Placeholder 3">
            <a:extLst>
              <a:ext uri="{FF2B5EF4-FFF2-40B4-BE49-F238E27FC236}">
                <a16:creationId xmlns:a16="http://schemas.microsoft.com/office/drawing/2014/main" id="{68003393-48FB-42D7-AC5B-1CFE082BB8A8}"/>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56</a:t>
            </a:fld>
            <a:endParaRPr lang="en-US" altLang="en-US" dirty="0"/>
          </a:p>
        </p:txBody>
      </p:sp>
    </p:spTree>
    <p:extLst>
      <p:ext uri="{BB962C8B-B14F-4D97-AF65-F5344CB8AC3E}">
        <p14:creationId xmlns:p14="http://schemas.microsoft.com/office/powerpoint/2010/main" val="398977786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Slide Image Placeholder 1"/>
          <p:cNvSpPr>
            <a:spLocks noGrp="1" noRot="1" noChangeAspect="1" noTextEdit="1"/>
          </p:cNvSpPr>
          <p:nvPr>
            <p:ph type="sldImg"/>
          </p:nvPr>
        </p:nvSpPr>
        <p:spPr>
          <a:ln/>
        </p:spPr>
      </p:sp>
      <p:sp>
        <p:nvSpPr>
          <p:cNvPr id="16179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NOT EXPLAINED ON ANY SLIDE</a:t>
            </a:r>
            <a:endParaRPr lang="en-US" altLang="en-US" dirty="0"/>
          </a:p>
          <a:p>
            <a:r>
              <a:rPr sz="1200" b="0"/>
              <a:t>• Extant: still living today (not extinct).</a:t>
            </a:r>
          </a:p>
          <a:p/>
          <a:p>
            <a:r>
              <a:rPr sz="1200" b="1"/>
              <a:t>NOT EXPLAINED YET</a:t>
            </a:r>
          </a:p>
          <a:p>
            <a:r>
              <a:rPr sz="1200" b="0"/>
              <a:t>• Conifers: cone-bearing trees and shrubs with needle- or scale-like leaves, like pines. (23.5.58)</a:t>
            </a:r>
          </a:p>
          <a:p>
            <a:r>
              <a:rPr sz="1200" b="0"/>
              <a:t>• Cycads: gymnosperms with large, finely divided leaves at the top of the stem and big cones. (23.5.70)</a:t>
            </a:r>
          </a:p>
          <a:p>
            <a:r>
              <a:rPr sz="1200" b="0"/>
              <a:t>• Ginkgoes: a group with one surviving species, the ginkgo tree (Ginkgo biloba). (23.5.72)</a:t>
            </a:r>
          </a:p>
          <a:p>
            <a:r>
              <a:rPr sz="1200" b="0"/>
              <a:t>• Gnetophytes: a small group of three genera (Gnetum, Ephedra, Welwitschia). (23.5.74)</a:t>
            </a:r>
          </a:p>
          <a:p/>
          <a:p>
            <a:r>
              <a:rPr sz="1200" b="1"/>
              <a:t>COVERED ELSEWHERE</a:t>
            </a:r>
          </a:p>
          <a:p>
            <a:r>
              <a:rPr sz="1200" b="0"/>
              <a:t>Gymnosperms vs angiosperms (23.5.56)</a:t>
            </a:r>
          </a:p>
          <a:p/>
          <a:p>
            <a:r>
              <a:rPr sz="1200" b="1"/>
              <a:t>EXAM FOCUS (Medium)</a:t>
            </a:r>
          </a:p>
          <a:p>
            <a:r>
              <a:rPr sz="1200" b="0"/>
              <a:t>Likely: Gymnosperm seeds aren't enclosed by fruit ("naked"); the four living groups: conifers (most plentiful), cycads, ginkgoes, gnetophytes.</a:t>
            </a:r>
          </a:p>
          <a:p>
            <a:r>
              <a:rPr sz="1200" b="0"/>
              <a:t>Unlikely: About 1,000 species.</a:t>
            </a:r>
          </a:p>
          <a:p>
            <a:r>
              <a:rPr sz="1200" b="0"/>
              <a:t>How: 'Which gymnosperm group is the most plentiful?' -&gt; conifers. Trap: cycads, ginkgoes. (Or a "which is a gymnosperm" list with a fern or flowering plant as the trap.)</a:t>
            </a:r>
          </a:p>
          <a:p>
            <a:r>
              <a:rPr sz="1200" b="0"/>
              <a:t>Write: Gymnosperm table (write all four rows here):</a:t>
            </a:r>
          </a:p>
          <a:p>
            <a:r>
              <a:rPr sz="1200" b="0"/>
              <a:t>   • Conifers (23.5.58): needles with a thick cuticle + recessed stomata; windblown pollen; monoecious; e.g. pine, spruce, juniper</a:t>
            </a:r>
          </a:p>
          <a:p>
            <a:r>
              <a:rPr sz="1200" b="0"/>
              <a:t>   • Cycads (23.5.70): big divided leaves at the stem top; huge cones on separate plants; insect-pollinated; swimming sperm</a:t>
            </a:r>
          </a:p>
          <a:p>
            <a:r>
              <a:rPr sz="1200" b="0"/>
              <a:t>   • Ginkgoes (23.5.72): one species; dioecious; pollution-tolerant; swimming sperm; extracts for blood circulation</a:t>
            </a:r>
          </a:p>
          <a:p>
            <a:r>
              <a:rPr sz="1200" b="0"/>
              <a:t>   • Gnetophytes (23.5.74): no archegonia; Ephedra (ephedrine), Welwitschia (2 strap leaves), Gnetum (trees or vines, broad leaves)</a:t>
            </a:r>
          </a:p>
        </p:txBody>
      </p:sp>
      <p:sp>
        <p:nvSpPr>
          <p:cNvPr id="4" name="Slide Number Placeholder 3">
            <a:extLst>
              <a:ext uri="{FF2B5EF4-FFF2-40B4-BE49-F238E27FC236}">
                <a16:creationId xmlns:a16="http://schemas.microsoft.com/office/drawing/2014/main" id="{9158E7F6-13AF-4255-B5AE-D37CFC51CDC8}"/>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57</a:t>
            </a:fld>
            <a:endParaRPr lang="en-US" altLang="en-US" dirty="0"/>
          </a:p>
        </p:txBody>
      </p:sp>
    </p:spTree>
    <p:extLst>
      <p:ext uri="{BB962C8B-B14F-4D97-AF65-F5344CB8AC3E}">
        <p14:creationId xmlns:p14="http://schemas.microsoft.com/office/powerpoint/2010/main" val="421889327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Slide Image Placeholder 1"/>
          <p:cNvSpPr>
            <a:spLocks noGrp="1" noRot="1" noChangeAspect="1" noTextEdit="1"/>
          </p:cNvSpPr>
          <p:nvPr>
            <p:ph type="sldImg"/>
          </p:nvPr>
        </p:nvSpPr>
        <p:spPr>
          <a:ln/>
        </p:spPr>
      </p:sp>
      <p:sp>
        <p:nvSpPr>
          <p:cNvPr id="16281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NOT EXPLAINED YET</a:t>
            </a:r>
            <a:endParaRPr lang="en-US" altLang="en-US" dirty="0"/>
          </a:p>
          <a:p>
            <a:r>
              <a:rPr sz="1200" b="0"/>
              <a:t>• Pollen cones and seed cones: male cones (small; make pollen) and female cones (larger; make seeds). (23.5.68)</a:t>
            </a:r>
          </a:p>
          <a:p/>
          <a:p>
            <a:r>
              <a:rPr sz="1200" b="1"/>
              <a:t>HOME NOTE</a:t>
            </a:r>
          </a:p>
          <a:p>
            <a:r>
              <a:rPr sz="1200" b="0"/>
              <a:t>• Conifers</a:t>
            </a:r>
          </a:p>
          <a:p>
            <a:r>
              <a:rPr sz="1200" b="0"/>
              <a:t>   Also write here:</a:t>
            </a:r>
          </a:p>
          <a:p>
            <a:r>
              <a:rPr sz="1200" b="0"/>
              <a:t>   – Conifer Examples (23.5.59): Examples: pine (with pollen cones and seed cones), spruce (needle leaves) and juniper (a tall shrub with scale-like leaves).</a:t>
            </a:r>
          </a:p>
          <a:p/>
          <a:p>
            <a:r>
              <a:rPr sz="1200" b="1"/>
              <a:t>ADDS TO</a:t>
            </a:r>
          </a:p>
          <a:p>
            <a:r>
              <a:rPr sz="1200" b="0"/>
              <a:t>Stomata (25.3.41) · Adaptations to land (23.1.9) · Monoecious vs dioecious (27.1.10)</a:t>
            </a:r>
          </a:p>
          <a:p/>
          <a:p>
            <a:r>
              <a:rPr sz="1200" b="1"/>
              <a:t>EXAM FOCUS (Medium)</a:t>
            </a:r>
          </a:p>
          <a:p>
            <a:r>
              <a:rPr sz="1200" b="0"/>
              <a:t>Likely:</a:t>
            </a:r>
          </a:p>
          <a:p>
            <a:r>
              <a:rPr sz="1200" b="0"/>
              <a:t>   • Conifers produce cones; they are the most plentiful gymnosperms.</a:t>
            </a:r>
          </a:p>
          <a:p>
            <a:r>
              <a:rPr sz="1200" b="0"/>
              <a:t>   • Tough needles with a thick cuticle and recessed stomata -&gt; conserve water.</a:t>
            </a:r>
          </a:p>
          <a:p>
            <a:r>
              <a:rPr sz="1200" b="0"/>
              <a:t>   • Sporophyte dominant; windblown pollen; the seed is the dispersal stage.</a:t>
            </a:r>
          </a:p>
          <a:p>
            <a:r>
              <a:rPr sz="1200" b="0"/>
              <a:t>   • Monoecious: one plant has both pollen cones (male) and seed cones (female).</a:t>
            </a:r>
          </a:p>
          <a:p>
            <a:r>
              <a:rPr sz="1200" b="0"/>
              <a:t>Unlikely: About 630 species.</a:t>
            </a:r>
          </a:p>
          <a:p>
            <a:r>
              <a:rPr sz="1200" b="0"/>
              <a:t>How:</a:t>
            </a:r>
          </a:p>
          <a:p>
            <a:r>
              <a:rPr sz="1200" b="0"/>
              <a:t>   • 'One pine tree bears both pollen cones and seed cones. This is...' -&gt; monoecious. Trap: dioecious.</a:t>
            </a:r>
          </a:p>
          <a:p>
            <a:r>
              <a:rPr sz="1200" b="0"/>
              <a:t>   • 'Which features help pine needles conserve water?' -&gt; a thick cuticle and recessed stomata. Trap: broad megaphylls.</a:t>
            </a:r>
          </a:p>
          <a:p>
            <a:r>
              <a:rPr sz="1200" b="0"/>
              <a:t>Write: Nothing here; it's the conifer row of the table at 23.5.57 (monoecious vs dioecious goes at 27.1.10).</a:t>
            </a:r>
          </a:p>
        </p:txBody>
      </p:sp>
      <p:sp>
        <p:nvSpPr>
          <p:cNvPr id="4" name="Slide Number Placeholder 3">
            <a:extLst>
              <a:ext uri="{FF2B5EF4-FFF2-40B4-BE49-F238E27FC236}">
                <a16:creationId xmlns:a16="http://schemas.microsoft.com/office/drawing/2014/main" id="{68EDEBD1-FF32-49C9-AF9C-729F16375291}"/>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58</a:t>
            </a:fld>
            <a:endParaRPr lang="en-US" altLang="en-US" dirty="0"/>
          </a:p>
        </p:txBody>
      </p:sp>
    </p:spTree>
    <p:extLst>
      <p:ext uri="{BB962C8B-B14F-4D97-AF65-F5344CB8AC3E}">
        <p14:creationId xmlns:p14="http://schemas.microsoft.com/office/powerpoint/2010/main" val="322624813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Slide Image Placeholder 1"/>
          <p:cNvSpPr>
            <a:spLocks noGrp="1" noRot="1" noChangeAspect="1" noTextEdit="1"/>
          </p:cNvSpPr>
          <p:nvPr>
            <p:ph type="sldImg"/>
          </p:nvPr>
        </p:nvSpPr>
        <p:spPr>
          <a:ln/>
        </p:spPr>
      </p:sp>
      <p:sp>
        <p:nvSpPr>
          <p:cNvPr id="16077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IMAGE DESCRIPTION</a:t>
            </a:r>
            <a:endParaRPr lang="en-US" altLang="en-US" dirty="0"/>
          </a:p>
          <a:p>
            <a:r>
              <a:rPr sz="1200" b="0"/>
              <a:t>Examples of conifer include pine having pollen and seed cones (a), spruce (needless leaves), and Juniper (tall shrub, scale-like leaves.</a:t>
            </a:r>
          </a:p>
          <a:p/>
          <a:p>
            <a:r>
              <a:rPr sz="1200" b="1"/>
              <a:t>NOT EXPLAINED YET</a:t>
            </a:r>
          </a:p>
          <a:p>
            <a:r>
              <a:rPr sz="1200" b="0"/>
              <a:t>• Pollen cones and seed cones: male cones (small; make pollen) and female cones (larger; make seeds). (23.5.68)</a:t>
            </a:r>
          </a:p>
          <a:p/>
          <a:p>
            <a:r>
              <a:rPr sz="1200" b="1"/>
              <a:t>ADDS TO</a:t>
            </a:r>
          </a:p>
          <a:p>
            <a:r>
              <a:rPr sz="1200" b="0"/>
              <a:t>Conifers (23.5.58)</a:t>
            </a:r>
          </a:p>
          <a:p/>
          <a:p>
            <a:r>
              <a:rPr sz="1200" b="1"/>
              <a:t>EXAM FOCUS (Low)</a:t>
            </a:r>
          </a:p>
          <a:p>
            <a:r>
              <a:rPr sz="1200" b="0"/>
              <a:t>Conifer examples (pine, spruce, juniper); see 23.5.58.</a:t>
            </a:r>
          </a:p>
        </p:txBody>
      </p:sp>
      <p:sp>
        <p:nvSpPr>
          <p:cNvPr id="4" name="Slide Number Placeholder 3">
            <a:extLst>
              <a:ext uri="{FF2B5EF4-FFF2-40B4-BE49-F238E27FC236}">
                <a16:creationId xmlns:a16="http://schemas.microsoft.com/office/drawing/2014/main" id="{71B8A2A9-1DC9-4E1A-92F3-409B71A4604E}"/>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59</a:t>
            </a:fld>
            <a:endParaRPr lang="en-US" altLang="en-US" dirty="0"/>
          </a:p>
        </p:txBody>
      </p:sp>
    </p:spTree>
    <p:extLst>
      <p:ext uri="{BB962C8B-B14F-4D97-AF65-F5344CB8AC3E}">
        <p14:creationId xmlns:p14="http://schemas.microsoft.com/office/powerpoint/2010/main" val="265892145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Slide Image Placeholder 1"/>
          <p:cNvSpPr>
            <a:spLocks noGrp="1" noRot="1" noChangeAspect="1" noTextEdit="1"/>
          </p:cNvSpPr>
          <p:nvPr>
            <p:ph type="sldImg"/>
          </p:nvPr>
        </p:nvSpPr>
        <p:spPr>
          <a:ln/>
        </p:spPr>
      </p:sp>
      <p:sp>
        <p:nvSpPr>
          <p:cNvPr id="16384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IMAGE DESCRIPTION</a:t>
            </a:r>
            <a:endParaRPr lang="en-US" altLang="en-US" dirty="0"/>
          </a:p>
          <a:p>
            <a:r>
              <a:rPr sz="1200" b="0"/>
              <a:t>The tree is the most prominent structure in the pine life cycle. It is diploid (2N) and a sporophyte. It has both pollen cones and pine cones.</a:t>
            </a:r>
          </a:p>
          <a:p/>
          <a:p>
            <a:r>
              <a:rPr sz="1200" b="1"/>
              <a:t>ADDS TO</a:t>
            </a:r>
          </a:p>
          <a:p>
            <a:r>
              <a:rPr sz="1200" b="0"/>
              <a:t>Pine life cycle (pollen and seed cones) (23.5.68)</a:t>
            </a:r>
          </a:p>
          <a:p/>
          <a:p>
            <a:r>
              <a:rPr sz="1200" b="1"/>
              <a:t>EXAM FOCUS (Low)</a:t>
            </a:r>
          </a:p>
          <a:p>
            <a:r>
              <a:rPr sz="1200" b="0"/>
              <a:t>Pine cycle: the tree is the diploid sporophyte with pollen and seed cones; see 23.5.68.</a:t>
            </a:r>
          </a:p>
        </p:txBody>
      </p:sp>
      <p:sp>
        <p:nvSpPr>
          <p:cNvPr id="4" name="Slide Number Placeholder 3">
            <a:extLst>
              <a:ext uri="{FF2B5EF4-FFF2-40B4-BE49-F238E27FC236}">
                <a16:creationId xmlns:a16="http://schemas.microsoft.com/office/drawing/2014/main" id="{68E0231C-1BE1-4C47-9FEF-886A9A60F4AA}"/>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60</a:t>
            </a:fld>
            <a:endParaRPr lang="en-US" altLang="en-US" dirty="0"/>
          </a:p>
        </p:txBody>
      </p:sp>
    </p:spTree>
    <p:extLst>
      <p:ext uri="{BB962C8B-B14F-4D97-AF65-F5344CB8AC3E}">
        <p14:creationId xmlns:p14="http://schemas.microsoft.com/office/powerpoint/2010/main" val="362029239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Slide Image Placeholder 1"/>
          <p:cNvSpPr>
            <a:spLocks noGrp="1" noRot="1" noChangeAspect="1" noTextEdit="1"/>
          </p:cNvSpPr>
          <p:nvPr>
            <p:ph type="sldImg"/>
          </p:nvPr>
        </p:nvSpPr>
        <p:spPr>
          <a:ln/>
        </p:spPr>
      </p:sp>
      <p:sp>
        <p:nvSpPr>
          <p:cNvPr id="16384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IMAGE DESCRIPTION</a:t>
            </a:r>
            <a:endParaRPr lang="en-US" altLang="en-US" dirty="0"/>
          </a:p>
          <a:p>
            <a:r>
              <a:rPr sz="1200" b="0"/>
              <a:t>Pollen cones are typically quite small and develop near the tips of lower branches whereas seed cones are larger and located at higher branches.</a:t>
            </a:r>
          </a:p>
          <a:p/>
          <a:p>
            <a:r>
              <a:rPr sz="1200" b="1"/>
              <a:t>COVERED ELSEWHERE</a:t>
            </a:r>
          </a:p>
          <a:p>
            <a:r>
              <a:rPr sz="1200" b="0"/>
              <a:t>Pine life cycle (pollen and seed cones) (23.5.68)</a:t>
            </a:r>
          </a:p>
          <a:p/>
          <a:p>
            <a:r>
              <a:rPr sz="1200" b="1"/>
              <a:t>EXAM FOCUS (Low)</a:t>
            </a:r>
          </a:p>
          <a:p>
            <a:r>
              <a:rPr sz="1200" b="0"/>
              <a:t>Pine cycle: small pollen cones low on the tree, larger seed cones higher up; see 23.5.68.</a:t>
            </a:r>
          </a:p>
        </p:txBody>
      </p:sp>
      <p:sp>
        <p:nvSpPr>
          <p:cNvPr id="4" name="Slide Number Placeholder 3">
            <a:extLst>
              <a:ext uri="{FF2B5EF4-FFF2-40B4-BE49-F238E27FC236}">
                <a16:creationId xmlns:a16="http://schemas.microsoft.com/office/drawing/2014/main" id="{68E0231C-1BE1-4C47-9FEF-886A9A60F4AA}"/>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61</a:t>
            </a:fld>
            <a:endParaRPr lang="en-US" altLang="en-US" dirty="0"/>
          </a:p>
        </p:txBody>
      </p:sp>
    </p:spTree>
    <p:extLst>
      <p:ext uri="{BB962C8B-B14F-4D97-AF65-F5344CB8AC3E}">
        <p14:creationId xmlns:p14="http://schemas.microsoft.com/office/powerpoint/2010/main" val="395345301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Slide Image Placeholder 1"/>
          <p:cNvSpPr>
            <a:spLocks noGrp="1" noRot="1" noChangeAspect="1" noTextEdit="1"/>
          </p:cNvSpPr>
          <p:nvPr>
            <p:ph type="sldImg"/>
          </p:nvPr>
        </p:nvSpPr>
        <p:spPr>
          <a:ln/>
        </p:spPr>
      </p:sp>
      <p:sp>
        <p:nvSpPr>
          <p:cNvPr id="17510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IMAGE DESCRIPTION</a:t>
            </a:r>
            <a:endParaRPr lang="en-US" altLang="en-US" dirty="0"/>
          </a:p>
          <a:p>
            <a:r>
              <a:rPr sz="1200" b="0"/>
              <a:t>The pollen sac: A pollen cone has two pollen sacs (microsporangia) that lie on the underside of each scale. The ovules: The seed cone has two ovules (megasporangia) that lie on the upper surface of each scale.</a:t>
            </a:r>
          </a:p>
          <a:p/>
          <a:p>
            <a:r>
              <a:rPr sz="1200" b="1"/>
              <a:t>NOT EXPLAINED ON ANY SLIDE</a:t>
            </a:r>
          </a:p>
          <a:p>
            <a:r>
              <a:rPr sz="1200" b="0"/>
              <a:t>• Megasporangium (plural megasporangia): a sporangium that makes megaspores; in seed plants it is part of the ovule.</a:t>
            </a:r>
          </a:p>
          <a:p>
            <a:r>
              <a:rPr sz="1200" b="0"/>
              <a:t>• Scale (of a cone): one of the flaps that make up a cone (woody in seed cones).</a:t>
            </a:r>
          </a:p>
          <a:p/>
          <a:p>
            <a:r>
              <a:rPr sz="1200" b="1"/>
              <a:t>NOT EXPLAINED YET</a:t>
            </a:r>
          </a:p>
          <a:p>
            <a:r>
              <a:rPr sz="1200" b="0"/>
              <a:t>• Ovule: the small structure on a seed-cone scale where the female gametophyte and its egg develop; it becomes the seed. (27.1.14)</a:t>
            </a:r>
          </a:p>
          <a:p>
            <a:r>
              <a:rPr sz="1200" b="0"/>
              <a:t>• Pollen sacs (microsporangia): the sacs where pollen is made. (27.1.12)</a:t>
            </a:r>
          </a:p>
          <a:p/>
          <a:p>
            <a:r>
              <a:rPr sz="1200" b="1"/>
              <a:t>COVERED ELSEWHERE</a:t>
            </a:r>
          </a:p>
          <a:p>
            <a:r>
              <a:rPr sz="1200" b="0"/>
              <a:t>Pine life cycle (pollen and seed cones) (23.5.68)</a:t>
            </a:r>
          </a:p>
          <a:p/>
          <a:p>
            <a:r>
              <a:rPr sz="1200" b="1"/>
              <a:t>EXAM FOCUS (Low)</a:t>
            </a:r>
          </a:p>
          <a:p>
            <a:r>
              <a:rPr sz="1200" b="0"/>
              <a:t>Pine cycle: pollen sacs under the pollen-cone scales, ovules on top of the seed-cone scales; see 23.5.68.</a:t>
            </a:r>
          </a:p>
        </p:txBody>
      </p:sp>
      <p:sp>
        <p:nvSpPr>
          <p:cNvPr id="4" name="Slide Number Placeholder 3">
            <a:extLst>
              <a:ext uri="{FF2B5EF4-FFF2-40B4-BE49-F238E27FC236}">
                <a16:creationId xmlns:a16="http://schemas.microsoft.com/office/drawing/2014/main" id="{88D06D68-9E18-48A4-A8B6-6EFF0B7168F8}"/>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62</a:t>
            </a:fld>
            <a:endParaRPr lang="en-US" altLang="en-US" dirty="0"/>
          </a:p>
        </p:txBody>
      </p:sp>
    </p:spTree>
    <p:extLst>
      <p:ext uri="{BB962C8B-B14F-4D97-AF65-F5344CB8AC3E}">
        <p14:creationId xmlns:p14="http://schemas.microsoft.com/office/powerpoint/2010/main" val="281258214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Slide Image Placeholder 1"/>
          <p:cNvSpPr>
            <a:spLocks noGrp="1" noRot="1" noChangeAspect="1" noTextEdit="1"/>
          </p:cNvSpPr>
          <p:nvPr>
            <p:ph type="sldImg"/>
          </p:nvPr>
        </p:nvSpPr>
        <p:spPr>
          <a:ln/>
        </p:spPr>
      </p:sp>
      <p:sp>
        <p:nvSpPr>
          <p:cNvPr id="16384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IMAGE DESCRIPTION</a:t>
            </a:r>
            <a:endParaRPr lang="en-US" altLang="en-US" dirty="0"/>
          </a:p>
          <a:p>
            <a:r>
              <a:rPr sz="1200" b="0"/>
              <a:t>Microspores: Within the pollen sacs, meiosis produces four microspores. Megaspore: Within an ovule, meiosis produces 4 megaspores; only 1 survives.</a:t>
            </a:r>
          </a:p>
          <a:p/>
          <a:p>
            <a:r>
              <a:rPr sz="1200" b="1"/>
              <a:t>NOT EXPLAINED YET</a:t>
            </a:r>
          </a:p>
          <a:p>
            <a:r>
              <a:rPr sz="1200" b="0"/>
              <a:t>• Pollen sacs: the sacs where pollen is made. (27.1.12)</a:t>
            </a:r>
          </a:p>
          <a:p>
            <a:r>
              <a:rPr sz="1200" b="0"/>
              <a:t>• Ovule: a small structure where the female gametophyte (with its egg) develops; after fertilization it becomes the seed. (27.1.14)</a:t>
            </a:r>
          </a:p>
          <a:p/>
          <a:p>
            <a:r>
              <a:rPr sz="1200" b="1"/>
              <a:t>COVERED ELSEWHERE</a:t>
            </a:r>
          </a:p>
          <a:p>
            <a:r>
              <a:rPr sz="1200" b="0"/>
              <a:t>Pine life cycle (pollen and seed cones) (23.5.68)</a:t>
            </a:r>
          </a:p>
          <a:p/>
          <a:p>
            <a:r>
              <a:rPr sz="1200" b="1"/>
              <a:t>EXAM FOCUS (Low)</a:t>
            </a:r>
          </a:p>
          <a:p>
            <a:r>
              <a:rPr sz="1200" b="0"/>
              <a:t>Pine cycle: meiosis makes microspores in pollen sacs and 4 megaspores (1 survives) in each ovule; see 23.5.68.</a:t>
            </a:r>
          </a:p>
        </p:txBody>
      </p:sp>
      <p:sp>
        <p:nvSpPr>
          <p:cNvPr id="4" name="Slide Number Placeholder 3">
            <a:extLst>
              <a:ext uri="{FF2B5EF4-FFF2-40B4-BE49-F238E27FC236}">
                <a16:creationId xmlns:a16="http://schemas.microsoft.com/office/drawing/2014/main" id="{68E0231C-1BE1-4C47-9FEF-886A9A60F4AA}"/>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63</a:t>
            </a:fld>
            <a:endParaRPr lang="en-US" altLang="en-US" dirty="0"/>
          </a:p>
        </p:txBody>
      </p:sp>
    </p:spTree>
    <p:extLst>
      <p:ext uri="{BB962C8B-B14F-4D97-AF65-F5344CB8AC3E}">
        <p14:creationId xmlns:p14="http://schemas.microsoft.com/office/powerpoint/2010/main" val="395847552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Slide Image Placeholder 1"/>
          <p:cNvSpPr>
            <a:spLocks noGrp="1" noRot="1" noChangeAspect="1" noTextEdit="1"/>
          </p:cNvSpPr>
          <p:nvPr>
            <p:ph type="sldImg"/>
          </p:nvPr>
        </p:nvSpPr>
        <p:spPr>
          <a:ln/>
        </p:spPr>
      </p:sp>
      <p:sp>
        <p:nvSpPr>
          <p:cNvPr id="16384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IMAGE DESCRIPTION</a:t>
            </a:r>
            <a:endParaRPr lang="en-US" altLang="en-US" dirty="0"/>
          </a:p>
          <a:p>
            <a:r>
              <a:rPr sz="1200" b="0"/>
              <a:t>The pollen grains: Each microspore becomes a pollen grain, which has two wings and is carried by the wind to the seed cone during pollination.</a:t>
            </a:r>
          </a:p>
          <a:p/>
          <a:p>
            <a:r>
              <a:rPr sz="1200" b="1"/>
              <a:t>COVERED ELSEWHERE</a:t>
            </a:r>
          </a:p>
          <a:p>
            <a:r>
              <a:rPr sz="1200" b="0"/>
              <a:t>Pine life cycle (pollen and seed cones) (23.5.68)</a:t>
            </a:r>
          </a:p>
          <a:p/>
          <a:p>
            <a:r>
              <a:rPr sz="1200" b="1"/>
              <a:t>EXAM FOCUS (Low)</a:t>
            </a:r>
          </a:p>
          <a:p>
            <a:r>
              <a:rPr sz="1200" b="0"/>
              <a:t>Pine cycle: winged pollen carried by wind (pollination); see 23.5.68.</a:t>
            </a:r>
          </a:p>
        </p:txBody>
      </p:sp>
      <p:sp>
        <p:nvSpPr>
          <p:cNvPr id="4" name="Slide Number Placeholder 3">
            <a:extLst>
              <a:ext uri="{FF2B5EF4-FFF2-40B4-BE49-F238E27FC236}">
                <a16:creationId xmlns:a16="http://schemas.microsoft.com/office/drawing/2014/main" id="{68E0231C-1BE1-4C47-9FEF-886A9A60F4AA}"/>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64</a:t>
            </a:fld>
            <a:endParaRPr lang="en-US" altLang="en-US" dirty="0"/>
          </a:p>
        </p:txBody>
      </p:sp>
    </p:spTree>
    <p:extLst>
      <p:ext uri="{BB962C8B-B14F-4D97-AF65-F5344CB8AC3E}">
        <p14:creationId xmlns:p14="http://schemas.microsoft.com/office/powerpoint/2010/main" val="162641977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Slide Image Placeholder 1"/>
          <p:cNvSpPr>
            <a:spLocks noGrp="1" noRot="1" noChangeAspect="1" noTextEdit="1"/>
          </p:cNvSpPr>
          <p:nvPr>
            <p:ph type="sldImg"/>
          </p:nvPr>
        </p:nvSpPr>
        <p:spPr>
          <a:ln/>
        </p:spPr>
      </p:sp>
      <p:sp>
        <p:nvSpPr>
          <p:cNvPr id="17510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IMAGE DESCRIPTION</a:t>
            </a:r>
            <a:endParaRPr lang="en-US" altLang="en-US" dirty="0"/>
          </a:p>
          <a:p>
            <a:r>
              <a:rPr sz="1200" b="0"/>
              <a:t>The mature female gametophyte: Only one of the megaspores undergoes mitosis and develops into a mature female gametophyte, having 2 to 6 archegonia. Each archegonium contains a single large egg lying near the ovule.</a:t>
            </a:r>
          </a:p>
          <a:p/>
          <a:p>
            <a:r>
              <a:rPr sz="1200" b="1"/>
              <a:t>NOT EXPLAINED YET</a:t>
            </a:r>
          </a:p>
          <a:p>
            <a:r>
              <a:rPr sz="1200" b="0"/>
              <a:t>• Ovule: a small structure where the female gametophyte (with its egg) develops; after fertilization it becomes the seed. (27.1.14)</a:t>
            </a:r>
          </a:p>
          <a:p/>
          <a:p>
            <a:r>
              <a:rPr sz="1200" b="1"/>
              <a:t>COVERED ELSEWHERE</a:t>
            </a:r>
          </a:p>
          <a:p>
            <a:r>
              <a:rPr sz="1200" b="0"/>
              <a:t>Pine life cycle (pollen and seed cones) (23.5.68)</a:t>
            </a:r>
          </a:p>
          <a:p/>
          <a:p>
            <a:r>
              <a:rPr sz="1200" b="1"/>
              <a:t>EXAM FOCUS (Low)</a:t>
            </a:r>
          </a:p>
          <a:p>
            <a:r>
              <a:rPr sz="1200" b="0"/>
              <a:t>Pine cycle: female gametophyte with archegonia and eggs; see 23.5.68.</a:t>
            </a:r>
          </a:p>
        </p:txBody>
      </p:sp>
      <p:sp>
        <p:nvSpPr>
          <p:cNvPr id="4" name="Slide Number Placeholder 3">
            <a:extLst>
              <a:ext uri="{FF2B5EF4-FFF2-40B4-BE49-F238E27FC236}">
                <a16:creationId xmlns:a16="http://schemas.microsoft.com/office/drawing/2014/main" id="{88D06D68-9E18-48A4-A8B6-6EFF0B7168F8}"/>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65</a:t>
            </a:fld>
            <a:endParaRPr lang="en-US" altLang="en-US" dirty="0"/>
          </a:p>
        </p:txBody>
      </p:sp>
    </p:spTree>
    <p:extLst>
      <p:ext uri="{BB962C8B-B14F-4D97-AF65-F5344CB8AC3E}">
        <p14:creationId xmlns:p14="http://schemas.microsoft.com/office/powerpoint/2010/main" val="295452433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Slide Image Placeholder 1"/>
          <p:cNvSpPr>
            <a:spLocks noGrp="1" noRot="1" noChangeAspect="1" noTextEdit="1"/>
          </p:cNvSpPr>
          <p:nvPr>
            <p:ph type="sldImg"/>
          </p:nvPr>
        </p:nvSpPr>
        <p:spPr>
          <a:ln/>
        </p:spPr>
      </p:sp>
      <p:sp>
        <p:nvSpPr>
          <p:cNvPr id="17510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IMAGE DESCRIPTION</a:t>
            </a:r>
            <a:endParaRPr lang="en-US" altLang="en-US" dirty="0"/>
          </a:p>
          <a:p>
            <a:r>
              <a:rPr sz="1200" b="0"/>
              <a:t>The zygote: Once a pollen grain reaches a seed cone, it becomes a mature male gametophyte. A pollen tube digests its way slowly toward a female gametophyte and discharges two nonflagellated sperm. One of these fertilizes an egg in an archegonium, and a zygote results.</a:t>
            </a:r>
          </a:p>
          <a:p/>
          <a:p>
            <a:r>
              <a:rPr sz="1200" b="1"/>
              <a:t>COVERED ELSEWHERE</a:t>
            </a:r>
          </a:p>
          <a:p>
            <a:r>
              <a:rPr sz="1200" b="0"/>
              <a:t>Pine life cycle (pollen and seed cones) (23.5.68)</a:t>
            </a:r>
          </a:p>
          <a:p/>
          <a:p>
            <a:r>
              <a:rPr sz="1200" b="1"/>
              <a:t>EXAM FOCUS (Low)</a:t>
            </a:r>
          </a:p>
          <a:p>
            <a:r>
              <a:rPr sz="1200" b="0"/>
              <a:t>Pine cycle: the pollen tube delivers non-swimming sperm; fertilization -&gt; zygote; see 23.5.68.</a:t>
            </a:r>
          </a:p>
        </p:txBody>
      </p:sp>
      <p:sp>
        <p:nvSpPr>
          <p:cNvPr id="4" name="Slide Number Placeholder 3">
            <a:extLst>
              <a:ext uri="{FF2B5EF4-FFF2-40B4-BE49-F238E27FC236}">
                <a16:creationId xmlns:a16="http://schemas.microsoft.com/office/drawing/2014/main" id="{88D06D68-9E18-48A4-A8B6-6EFF0B7168F8}"/>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66</a:t>
            </a:fld>
            <a:endParaRPr lang="en-US" altLang="en-US" dirty="0"/>
          </a:p>
        </p:txBody>
      </p:sp>
    </p:spTree>
    <p:extLst>
      <p:ext uri="{BB962C8B-B14F-4D97-AF65-F5344CB8AC3E}">
        <p14:creationId xmlns:p14="http://schemas.microsoft.com/office/powerpoint/2010/main" val="212204770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Slide Image Placeholder 1"/>
          <p:cNvSpPr>
            <a:spLocks noGrp="1" noRot="1" noChangeAspect="1" noTextEdit="1"/>
          </p:cNvSpPr>
          <p:nvPr>
            <p:ph type="sldImg"/>
          </p:nvPr>
        </p:nvSpPr>
        <p:spPr>
          <a:ln/>
        </p:spPr>
      </p:sp>
      <p:sp>
        <p:nvSpPr>
          <p:cNvPr id="17510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IMAGE DESCRIPTION</a:t>
            </a:r>
            <a:endParaRPr lang="en-US" altLang="en-US" dirty="0"/>
          </a:p>
          <a:p>
            <a:r>
              <a:rPr sz="1200" b="0"/>
              <a:t>The sporophyte: After fertilization, the ovule matures and becomes the seed composed of the embryo, reserve food, and a seed coat. Finally, in the fall of the second season, the seed cone, by now woody and hard, opens to release winged seeds. When a seed germinates, the sporophyte embryo develops into a new pine tree, and the cycle is complete.</a:t>
            </a:r>
          </a:p>
          <a:p/>
          <a:p>
            <a:r>
              <a:rPr sz="1200" b="1"/>
              <a:t>NOT EXPLAINED YET</a:t>
            </a:r>
          </a:p>
          <a:p>
            <a:r>
              <a:rPr sz="1200" b="0"/>
              <a:t>• Ovule: a small structure where the female gametophyte (with its egg) develops; after fertilization it becomes the seed. (27.1.14)</a:t>
            </a:r>
          </a:p>
          <a:p/>
          <a:p>
            <a:r>
              <a:rPr sz="1200" b="1"/>
              <a:t>COVERED ELSEWHERE</a:t>
            </a:r>
          </a:p>
          <a:p>
            <a:r>
              <a:rPr sz="1200" b="0"/>
              <a:t>Pine life cycle (pollen and seed cones) (23.5.68)</a:t>
            </a:r>
          </a:p>
          <a:p/>
          <a:p>
            <a:r>
              <a:rPr sz="1200" b="1"/>
              <a:t>EXAM FOCUS (Low)</a:t>
            </a:r>
          </a:p>
          <a:p>
            <a:r>
              <a:rPr sz="1200" b="0"/>
              <a:t>Pine cycle: ovule -&gt; seed (embryo + food + coat), released from the woody cone; see 23.5.68.</a:t>
            </a:r>
          </a:p>
        </p:txBody>
      </p:sp>
      <p:sp>
        <p:nvSpPr>
          <p:cNvPr id="4" name="Slide Number Placeholder 3">
            <a:extLst>
              <a:ext uri="{FF2B5EF4-FFF2-40B4-BE49-F238E27FC236}">
                <a16:creationId xmlns:a16="http://schemas.microsoft.com/office/drawing/2014/main" id="{88D06D68-9E18-48A4-A8B6-6EFF0B7168F8}"/>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67</a:t>
            </a:fld>
            <a:endParaRPr lang="en-US" altLang="en-US" dirty="0"/>
          </a:p>
        </p:txBody>
      </p:sp>
    </p:spTree>
    <p:extLst>
      <p:ext uri="{BB962C8B-B14F-4D97-AF65-F5344CB8AC3E}">
        <p14:creationId xmlns:p14="http://schemas.microsoft.com/office/powerpoint/2010/main" val="287976155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Slide Image Placeholder 1"/>
          <p:cNvSpPr>
            <a:spLocks noGrp="1" noRot="1" noChangeAspect="1" noTextEdit="1"/>
          </p:cNvSpPr>
          <p:nvPr>
            <p:ph type="sldImg"/>
          </p:nvPr>
        </p:nvSpPr>
        <p:spPr>
          <a:ln/>
        </p:spPr>
      </p:sp>
      <p:sp>
        <p:nvSpPr>
          <p:cNvPr id="17510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IMAGE DESCRIPTION</a:t>
            </a:r>
            <a:endParaRPr lang="en-US" altLang="en-US" dirty="0"/>
          </a:p>
          <a:p>
            <a:r>
              <a:rPr sz="1200" b="0"/>
              <a:t>Details of a typical conifer life cycle are shown. 1. The pollen cones: Typically, the pollen cones are quite small and develop near the tips of lower branches. The seed cones: The seed cones are larger than the pollen cones and are located near the tips of higher branches. 2. The pollen sac: A pollen cone has two pollen sacs (microsporangia) that lie on the underside of each scale. The ovules: The seed cone has two ovules (megasporangia) that lie on the upper surface of each scale. 3. The microspores: Within the pollen sacs, meiosis produces four microspores. The megaspore: Within an ovule, meiosis produces four megaspores; only one survives. 4. The pollen grains: Each microspore becomes a pollen grain, which has two wings and is carried by the wind to the seed cone during pollination. 5. The mature female gametophyte: Only one of the megaspores undergoes mitosis and develops into a mature female gametophyte, having two to six archegonia. Each archegonium contains a single large egg lying near the ovule. 6. The zygote: Once a pollen grain reaches a seed cone, it becomes a mature male gametophyte. A pollen tube digests its way slowly toward a female gametophyte and discharges two nonflagellated sperm. One of these fertilizes an egg in an archegonium, and a zygote results. 7. The sporophyte: After fertilization, the ovule matures and becomes the seed composed of the embryo, reserve food, and a seed coat. Finally, in the fall of the second season, the seed cone, by now woody and hard, opens to release winged seeds. When a seed germinates, the sporophyte embryo develops into a new pine tree, and the cycle is complete.</a:t>
            </a:r>
          </a:p>
          <a:p/>
          <a:p>
            <a:r>
              <a:rPr sz="1200" b="1"/>
              <a:t>HOME NOTE</a:t>
            </a:r>
          </a:p>
          <a:p>
            <a:r>
              <a:rPr sz="1200" b="0"/>
              <a:t>• Pine life cycle (pollen and seed cones)</a:t>
            </a:r>
          </a:p>
          <a:p>
            <a:r>
              <a:rPr sz="1200" b="0"/>
              <a:t>   Also write here:</a:t>
            </a:r>
          </a:p>
          <a:p>
            <a:r>
              <a:rPr sz="1200" b="0"/>
              <a:t>   – Pine Life Cycle 1 (23.5.60): The pine tree itself is the diploid (2n) sporophyte.</a:t>
            </a:r>
          </a:p>
          <a:p/>
          <a:p>
            <a:r>
              <a:rPr sz="1200" b="1"/>
              <a:t>COVERED ELSEWHERE</a:t>
            </a:r>
          </a:p>
          <a:p>
            <a:r>
              <a:rPr sz="1200" b="0"/>
              <a:t>Pollen grain (27.1.12) · Ovule and embryo sac (27.1.14) · Pollen tube (27.1.17)</a:t>
            </a:r>
          </a:p>
          <a:p/>
          <a:p>
            <a:r>
              <a:rPr sz="1200" b="1"/>
              <a:t>EXAM FOCUS (High)</a:t>
            </a:r>
          </a:p>
          <a:p>
            <a:r>
              <a:rPr sz="1200" b="0"/>
              <a:t>Likely:</a:t>
            </a:r>
          </a:p>
          <a:p>
            <a:r>
              <a:rPr sz="1200" b="0"/>
              <a:t>   • The pine tree = the sporophyte (2n), with small pollen cones (lower branches) and larger seed cones (higher).</a:t>
            </a:r>
          </a:p>
          <a:p>
            <a:r>
              <a:rPr sz="1200" b="0"/>
              <a:t>   • Pollen cones: pollen sacs under each scale; meiosis -&gt; microspores -&gt; winged pollen grains.</a:t>
            </a:r>
          </a:p>
          <a:p>
            <a:r>
              <a:rPr sz="1200" b="0"/>
              <a:t>   • Seed cones: 2 ovules on each scale; meiosis -&gt; 4 megaspores, only 1 survives -&gt; female gametophyte with archegonia (eggs).</a:t>
            </a:r>
          </a:p>
          <a:p>
            <a:r>
              <a:rPr sz="1200" b="0"/>
              <a:t>   • Wind pollination; the pollen tube grows slowly and releases 2 non-swimming sperm; one fertilizes an egg.</a:t>
            </a:r>
          </a:p>
          <a:p>
            <a:r>
              <a:rPr sz="1200" b="0"/>
              <a:t>   • Ovule -&gt; seed (embryo + food + coat), released when the woody cone opens.</a:t>
            </a:r>
          </a:p>
          <a:p>
            <a:r>
              <a:rPr sz="1200" b="0"/>
              <a:t>Unlikely: "Fall of the second season"; the number of archegonia.</a:t>
            </a:r>
          </a:p>
          <a:p>
            <a:r>
              <a:rPr sz="1200" b="0"/>
              <a:t>How:</a:t>
            </a:r>
          </a:p>
          <a:p>
            <a:r>
              <a:rPr sz="1200" b="0"/>
              <a:t>   • 'In pines, what carries the sperm to the egg?' -&gt; the pollen tube. Trap: swimming through water; wind.</a:t>
            </a:r>
          </a:p>
          <a:p>
            <a:r>
              <a:rPr sz="1200" b="0"/>
              <a:t>   • 'Which generation is the pine tree?' -&gt; the sporophyte. Trap: the gametophyte.</a:t>
            </a:r>
          </a:p>
          <a:p>
            <a:r>
              <a:rPr sz="1200" b="0"/>
              <a:t>   • 'In a pine ovule, how many of the megaspores made by meiosis survive?' -&gt; one. Trap: all four.</a:t>
            </a:r>
          </a:p>
          <a:p>
            <a:r>
              <a:rPr sz="1200" b="0"/>
              <a:t>Write: Pine life-cycle box:</a:t>
            </a:r>
          </a:p>
          <a:p>
            <a:r>
              <a:rPr sz="1200" b="0"/>
              <a:t>   • Dominant: sporophyte (the tree)</a:t>
            </a:r>
          </a:p>
          <a:p>
            <a:r>
              <a:rPr sz="1200" b="0"/>
              <a:t>   • Meiosis: pollen sacs -&gt; microspores; ovules -&gt; megaspores (1 of 4 survives)</a:t>
            </a:r>
          </a:p>
          <a:p>
            <a:r>
              <a:rPr sz="1200" b="0"/>
              <a:t>   • Gametophytes: male = winged pollen grain; female = inside the ovule, with archegonia</a:t>
            </a:r>
          </a:p>
          <a:p>
            <a:r>
              <a:rPr sz="1200" b="0"/>
              <a:t>   • Fertilization: pollen tube delivers non-swimming sperm; no water needed</a:t>
            </a:r>
          </a:p>
          <a:p>
            <a:r>
              <a:rPr sz="1200" b="0"/>
              <a:t>   • Seed: ovule -&gt; seed (embryo + food + coat), released from the cone</a:t>
            </a:r>
          </a:p>
        </p:txBody>
      </p:sp>
      <p:sp>
        <p:nvSpPr>
          <p:cNvPr id="4" name="Slide Number Placeholder 3">
            <a:extLst>
              <a:ext uri="{FF2B5EF4-FFF2-40B4-BE49-F238E27FC236}">
                <a16:creationId xmlns:a16="http://schemas.microsoft.com/office/drawing/2014/main" id="{88D06D68-9E18-48A4-A8B6-6EFF0B7168F8}"/>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68</a:t>
            </a:fld>
            <a:endParaRPr lang="en-US" altLang="en-US" dirty="0"/>
          </a:p>
        </p:txBody>
      </p:sp>
    </p:spTree>
    <p:extLst>
      <p:ext uri="{BB962C8B-B14F-4D97-AF65-F5344CB8AC3E}">
        <p14:creationId xmlns:p14="http://schemas.microsoft.com/office/powerpoint/2010/main" val="27358504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Slide Image Placeholder 1"/>
          <p:cNvSpPr>
            <a:spLocks noGrp="1" noRot="1" noChangeAspect="1" noTextEdit="1"/>
          </p:cNvSpPr>
          <p:nvPr>
            <p:ph type="sldImg"/>
          </p:nvPr>
        </p:nvSpPr>
        <p:spPr>
          <a:ln/>
        </p:spPr>
      </p:sp>
      <p:sp>
        <p:nvSpPr>
          <p:cNvPr id="17613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EXAM FOCUS (Low)</a:t>
            </a:r>
            <a:endParaRPr lang="en-US" altLang="en-US" dirty="0"/>
          </a:p>
          <a:p>
            <a:r>
              <a:rPr sz="1200" b="0"/>
              <a:t>Uses (asked rarely; know the main examples): pine needles and bark are rich in vitamins A and C (teas for colds); large pine seeds are eaten as pine nuts; pine oil scents household products. One line.</a:t>
            </a:r>
          </a:p>
        </p:txBody>
      </p:sp>
      <p:sp>
        <p:nvSpPr>
          <p:cNvPr id="4" name="Slide Number Placeholder 3">
            <a:extLst>
              <a:ext uri="{FF2B5EF4-FFF2-40B4-BE49-F238E27FC236}">
                <a16:creationId xmlns:a16="http://schemas.microsoft.com/office/drawing/2014/main" id="{57DB89E2-417B-4252-8CD5-4DB7E3385F7C}"/>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69</a:t>
            </a:fld>
            <a:endParaRPr lang="en-US" altLang="en-US" dirty="0"/>
          </a:p>
        </p:txBody>
      </p:sp>
    </p:spTree>
    <p:extLst>
      <p:ext uri="{BB962C8B-B14F-4D97-AF65-F5344CB8AC3E}">
        <p14:creationId xmlns:p14="http://schemas.microsoft.com/office/powerpoint/2010/main" val="187014255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Slide Image Placeholder 1"/>
          <p:cNvSpPr>
            <a:spLocks noGrp="1" noRot="1" noChangeAspect="1" noTextEdit="1"/>
          </p:cNvSpPr>
          <p:nvPr>
            <p:ph type="sldImg"/>
          </p:nvPr>
        </p:nvSpPr>
        <p:spPr>
          <a:ln/>
        </p:spPr>
      </p:sp>
      <p:sp>
        <p:nvSpPr>
          <p:cNvPr id="17715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NOT EXPLAINED ON ANY SLIDE</a:t>
            </a:r>
            <a:endParaRPr lang="en-US" altLang="en-US" dirty="0"/>
          </a:p>
          <a:p>
            <a:r>
              <a:rPr sz="1200" b="0"/>
              <a:t>• Mesozoic era: the "age of dinosaurs," about 252-66 million years ago.</a:t>
            </a:r>
          </a:p>
          <a:p/>
          <a:p>
            <a:r>
              <a:rPr sz="1200" b="1"/>
              <a:t>NOT EXPLAINED YET</a:t>
            </a:r>
          </a:p>
          <a:p>
            <a:r>
              <a:rPr sz="1200" b="0"/>
              <a:t>• Pollen tube: a tube that grows out of the pollen grain and carries the sperm to the egg. (27.1.17)</a:t>
            </a:r>
          </a:p>
          <a:p/>
          <a:p>
            <a:r>
              <a:rPr sz="1200" b="1"/>
              <a:t>HOME NOTE</a:t>
            </a:r>
          </a:p>
          <a:p>
            <a:r>
              <a:rPr sz="1200" b="0"/>
              <a:t>• Cycads</a:t>
            </a:r>
          </a:p>
          <a:p/>
          <a:p>
            <a:r>
              <a:rPr sz="1200" b="1"/>
              <a:t>ADDS TO</a:t>
            </a:r>
          </a:p>
          <a:p>
            <a:r>
              <a:rPr sz="1200" b="0"/>
              <a:t>Monoecious vs dioecious (27.1.10)</a:t>
            </a:r>
          </a:p>
          <a:p/>
          <a:p>
            <a:r>
              <a:rPr sz="1200" b="1"/>
              <a:t>EXAM FOCUS (Medium)</a:t>
            </a:r>
          </a:p>
          <a:p>
            <a:r>
              <a:rPr sz="1200" b="0"/>
              <a:t>Likely:</a:t>
            </a:r>
          </a:p>
          <a:p>
            <a:r>
              <a:rPr sz="1200" b="0"/>
              <a:t>   • Cycads: large, finely divided leaves clustered at the top of the stem; very large cones.</a:t>
            </a:r>
          </a:p>
          <a:p>
            <a:r>
              <a:rPr sz="1200" b="0"/>
              <a:t>   • Pollen cones and seed cones grow on separate plants.</a:t>
            </a:r>
          </a:p>
          <a:p>
            <a:r>
              <a:rPr sz="1200" b="0"/>
              <a:t>   • Pollinated by insects, not wind.</a:t>
            </a:r>
          </a:p>
          <a:p>
            <a:r>
              <a:rPr sz="1200" b="0"/>
              <a:t>   • The pollen tube bursts near the egg and multiflagellated sperm swim to it.</a:t>
            </a:r>
          </a:p>
          <a:p>
            <a:r>
              <a:rPr sz="1200" b="0"/>
              <a:t>   • Plentiful in the Mesozoic, the age of dinosaurs (dinosaurs fed on their seeds).</a:t>
            </a:r>
          </a:p>
          <a:p>
            <a:r>
              <a:rPr sz="1200" b="0"/>
              <a:t>Unlikely: 10 genera and 300 species; the exact cone length (over 1 m).</a:t>
            </a:r>
          </a:p>
          <a:p>
            <a:r>
              <a:rPr sz="1200" b="0"/>
              <a:t>How:</a:t>
            </a:r>
          </a:p>
          <a:p>
            <a:r>
              <a:rPr sz="1200" b="0"/>
              <a:t>   • 'Which gymnosperm is pollinated by insects rather than wind?' -&gt; cycads. Trap: conifers.</a:t>
            </a:r>
          </a:p>
          <a:p>
            <a:r>
              <a:rPr sz="1200" b="0"/>
              <a:t>   • 'Which gymnosperms have sperm that swim the last bit to the egg?' -&gt; cycads and ginkgoes. Trap: conifers (non-swimming sperm).</a:t>
            </a:r>
          </a:p>
          <a:p>
            <a:r>
              <a:rPr sz="1200" b="0"/>
              <a:t>Write: Nothing here; it's the cycad row of the table at 23.5.57 ("separate plants" = dioecious, 27.1.10).</a:t>
            </a:r>
          </a:p>
        </p:txBody>
      </p:sp>
      <p:sp>
        <p:nvSpPr>
          <p:cNvPr id="4" name="Slide Number Placeholder 3">
            <a:extLst>
              <a:ext uri="{FF2B5EF4-FFF2-40B4-BE49-F238E27FC236}">
                <a16:creationId xmlns:a16="http://schemas.microsoft.com/office/drawing/2014/main" id="{BC1CBDD8-3022-401F-BA91-358671ED3D37}"/>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70</a:t>
            </a:fld>
            <a:endParaRPr lang="en-US" altLang="en-US" dirty="0"/>
          </a:p>
        </p:txBody>
      </p:sp>
    </p:spTree>
    <p:extLst>
      <p:ext uri="{BB962C8B-B14F-4D97-AF65-F5344CB8AC3E}">
        <p14:creationId xmlns:p14="http://schemas.microsoft.com/office/powerpoint/2010/main" val="156969733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b="1"/>
              <a:t>IMAGE DESCRIPTION</a:t>
            </a:r>
            <a:endParaRPr lang="en-US" dirty="0"/>
          </a:p>
          <a:p>
            <a:r>
              <a:rPr sz="1200" b="0"/>
              <a:t>A cycad exhibits trunk, leaves, with an inset on top-right depicting presence of cones on separate plants.</a:t>
            </a:r>
          </a:p>
          <a:p/>
          <a:p>
            <a:r>
              <a:rPr sz="1200" b="1"/>
              <a:t>COVERED ELSEWHERE</a:t>
            </a:r>
          </a:p>
          <a:p>
            <a:r>
              <a:rPr sz="1200" b="0"/>
              <a:t>Cycads (23.5.70)</a:t>
            </a:r>
          </a:p>
          <a:p/>
          <a:p>
            <a:r>
              <a:rPr sz="1200" b="1"/>
              <a:t>EXAM FOCUS (Low)</a:t>
            </a:r>
          </a:p>
          <a:p>
            <a:r>
              <a:rPr sz="1200" b="0"/>
              <a:t>Cycad photo (cones on separate plants); see 23.5.70.</a:t>
            </a:r>
          </a:p>
        </p:txBody>
      </p:sp>
      <p:sp>
        <p:nvSpPr>
          <p:cNvPr id="4" name="Slide Number Placeholder 3">
            <a:extLst>
              <a:ext uri="{FF2B5EF4-FFF2-40B4-BE49-F238E27FC236}">
                <a16:creationId xmlns:a16="http://schemas.microsoft.com/office/drawing/2014/main" id="{0E81C10B-92EF-40E2-9A21-E929FC606F6D}"/>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71</a:t>
            </a:fld>
            <a:endParaRPr lang="en-US" altLang="en-US" dirty="0"/>
          </a:p>
        </p:txBody>
      </p:sp>
    </p:spTree>
    <p:extLst>
      <p:ext uri="{BB962C8B-B14F-4D97-AF65-F5344CB8AC3E}">
        <p14:creationId xmlns:p14="http://schemas.microsoft.com/office/powerpoint/2010/main" val="385198890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Slide Image Placeholder 1"/>
          <p:cNvSpPr>
            <a:spLocks noGrp="1" noRot="1" noChangeAspect="1" noTextEdit="1"/>
          </p:cNvSpPr>
          <p:nvPr>
            <p:ph type="sldImg"/>
          </p:nvPr>
        </p:nvSpPr>
        <p:spPr>
          <a:ln/>
        </p:spPr>
      </p:sp>
      <p:sp>
        <p:nvSpPr>
          <p:cNvPr id="17817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NOT EXPLAINED YET</a:t>
            </a:r>
            <a:endParaRPr lang="en-US" altLang="en-US" dirty="0"/>
          </a:p>
          <a:p>
            <a:r>
              <a:rPr sz="1200" b="0"/>
              <a:t>• Pollen tube: a tube that grows out of the pollen grain and carries the sperm to the egg. (27.1.17)</a:t>
            </a:r>
          </a:p>
          <a:p/>
          <a:p>
            <a:r>
              <a:rPr sz="1200" b="1"/>
              <a:t>HOME NOTE</a:t>
            </a:r>
          </a:p>
          <a:p>
            <a:r>
              <a:rPr sz="1200" b="0"/>
              <a:t>• Ginkgoes</a:t>
            </a:r>
          </a:p>
          <a:p>
            <a:r>
              <a:rPr sz="1200" b="0"/>
              <a:t>   Also write here:</a:t>
            </a:r>
          </a:p>
          <a:p>
            <a:r>
              <a:rPr sz="1200" b="0"/>
              <a:t>   – Ginkgo biloba, a Native of China (23.5.73): Ginkgo has broad leaves, and its fleshy seeds hang from the ends of stalks.</a:t>
            </a:r>
          </a:p>
          <a:p/>
          <a:p>
            <a:r>
              <a:rPr sz="1200" b="1"/>
              <a:t>ADDS TO</a:t>
            </a:r>
          </a:p>
          <a:p>
            <a:r>
              <a:rPr sz="1200" b="0"/>
              <a:t>Monoecious vs dioecious (27.1.10)</a:t>
            </a:r>
          </a:p>
          <a:p/>
          <a:p>
            <a:r>
              <a:rPr sz="1200" b="1"/>
              <a:t>COVERED ELSEWHERE</a:t>
            </a:r>
          </a:p>
          <a:p>
            <a:r>
              <a:rPr sz="1200" b="0"/>
              <a:t>Cycads (23.5.70)</a:t>
            </a:r>
          </a:p>
          <a:p/>
          <a:p>
            <a:r>
              <a:rPr sz="1200" b="1"/>
              <a:t>EXAM FOCUS (Medium)</a:t>
            </a:r>
          </a:p>
          <a:p>
            <a:r>
              <a:rPr sz="1200" b="0"/>
              <a:t>Likely:</a:t>
            </a:r>
          </a:p>
          <a:p>
            <a:r>
              <a:rPr sz="1200" b="0"/>
              <a:t>   • Ginkgo biloba is the one surviving species.</a:t>
            </a:r>
          </a:p>
          <a:p>
            <a:r>
              <a:rPr sz="1200" b="0"/>
              <a:t>   • Dioecious: some trees make seeds, others make pollen.</a:t>
            </a:r>
          </a:p>
          <a:p>
            <a:r>
              <a:rPr sz="1200" b="0"/>
              <a:t>   • Resistant to pollution, so planted along city streets and in parks.</a:t>
            </a:r>
          </a:p>
          <a:p>
            <a:r>
              <a:rPr sz="1200" b="0"/>
              <a:t>   • Like cycads, the pollen tube bursts to release multiflagellated sperm that swim to the egg.</a:t>
            </a:r>
          </a:p>
          <a:p>
            <a:r>
              <a:rPr sz="1200" b="0"/>
              <a:t>   • Extracts are used to improve blood circulation; the seeds are eaten in Asia.</a:t>
            </a:r>
          </a:p>
          <a:p>
            <a:r>
              <a:rPr sz="1200" b="0"/>
              <a:t>Unlikely: "Native to China".</a:t>
            </a:r>
          </a:p>
          <a:p>
            <a:r>
              <a:rPr sz="1200" b="0"/>
              <a:t>How:</a:t>
            </a:r>
          </a:p>
          <a:p>
            <a:r>
              <a:rPr sz="1200" b="0"/>
              <a:t>   • 'A gymnosperm is planted along city streets because it tolerates pollution. Which one?' -&gt; Ginkgo. Trap: cycads.</a:t>
            </a:r>
          </a:p>
          <a:p>
            <a:r>
              <a:rPr sz="1200" b="0"/>
              <a:t>   • 'In ginkgo, some trees make only seeds and others only pollen. This is...' -&gt; dioecious. Trap: monoecious.</a:t>
            </a:r>
          </a:p>
          <a:p>
            <a:r>
              <a:rPr sz="1200" b="0"/>
              <a:t>Write: Nothing here; it's the ginkgo row of the table at 23.5.57.</a:t>
            </a:r>
          </a:p>
        </p:txBody>
      </p:sp>
      <p:sp>
        <p:nvSpPr>
          <p:cNvPr id="4" name="Slide Number Placeholder 3">
            <a:extLst>
              <a:ext uri="{FF2B5EF4-FFF2-40B4-BE49-F238E27FC236}">
                <a16:creationId xmlns:a16="http://schemas.microsoft.com/office/drawing/2014/main" id="{6CC5701A-68F8-4182-BED4-A1C49A4EFB6F}"/>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72</a:t>
            </a:fld>
            <a:endParaRPr lang="en-US" altLang="en-US" dirty="0"/>
          </a:p>
        </p:txBody>
      </p:sp>
    </p:spTree>
    <p:extLst>
      <p:ext uri="{BB962C8B-B14F-4D97-AF65-F5344CB8AC3E}">
        <p14:creationId xmlns:p14="http://schemas.microsoft.com/office/powerpoint/2010/main" val="1866016342"/>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Slide Image Placeholder 1"/>
          <p:cNvSpPr>
            <a:spLocks noGrp="1" noRot="1" noChangeAspect="1" noTextEdit="1"/>
          </p:cNvSpPr>
          <p:nvPr>
            <p:ph type="sldImg"/>
          </p:nvPr>
        </p:nvSpPr>
        <p:spPr>
          <a:ln/>
        </p:spPr>
      </p:sp>
      <p:sp>
        <p:nvSpPr>
          <p:cNvPr id="17920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IMAGE DESCRIPTION</a:t>
            </a:r>
            <a:endParaRPr lang="en-US" altLang="en-US" dirty="0"/>
          </a:p>
          <a:p>
            <a:r>
              <a:rPr sz="1200" b="0"/>
              <a:t>A ginkgo tree has broad leaves and fleshy seeds borne at the end of stalk like megasporophylls.</a:t>
            </a:r>
          </a:p>
          <a:p/>
          <a:p>
            <a:r>
              <a:rPr sz="1200" b="1"/>
              <a:t>NOT EXPLAINED ON ANY SLIDE</a:t>
            </a:r>
          </a:p>
          <a:p>
            <a:r>
              <a:rPr sz="1200" b="0"/>
              <a:t>• Megasporophyll: a leaf-like stalk that carries ovules or seeds.</a:t>
            </a:r>
          </a:p>
          <a:p/>
          <a:p>
            <a:r>
              <a:rPr sz="1200" b="1"/>
              <a:t>ADDS TO</a:t>
            </a:r>
          </a:p>
          <a:p>
            <a:r>
              <a:rPr sz="1200" b="0"/>
              <a:t>Ginkgoes (23.5.72)</a:t>
            </a:r>
          </a:p>
          <a:p/>
          <a:p>
            <a:r>
              <a:rPr sz="1200" b="1"/>
              <a:t>EXAM FOCUS (Low)</a:t>
            </a:r>
          </a:p>
          <a:p>
            <a:r>
              <a:rPr sz="1200" b="0"/>
              <a:t>Ginkgo photo (broad leaves, fleshy seeds on stalks); see 23.5.72.</a:t>
            </a:r>
          </a:p>
        </p:txBody>
      </p:sp>
      <p:sp>
        <p:nvSpPr>
          <p:cNvPr id="4" name="Slide Number Placeholder 3">
            <a:extLst>
              <a:ext uri="{FF2B5EF4-FFF2-40B4-BE49-F238E27FC236}">
                <a16:creationId xmlns:a16="http://schemas.microsoft.com/office/drawing/2014/main" id="{6D3739A4-218B-45DD-9131-5C6A03C65FE6}"/>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73</a:t>
            </a:fld>
            <a:endParaRPr lang="en-US" altLang="en-US" dirty="0"/>
          </a:p>
        </p:txBody>
      </p:sp>
    </p:spTree>
    <p:extLst>
      <p:ext uri="{BB962C8B-B14F-4D97-AF65-F5344CB8AC3E}">
        <p14:creationId xmlns:p14="http://schemas.microsoft.com/office/powerpoint/2010/main" val="2248536075"/>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Slide Image Placeholder 1"/>
          <p:cNvSpPr>
            <a:spLocks noGrp="1" noRot="1" noChangeAspect="1" noTextEdit="1"/>
          </p:cNvSpPr>
          <p:nvPr>
            <p:ph type="sldImg"/>
          </p:nvPr>
        </p:nvSpPr>
        <p:spPr>
          <a:ln/>
        </p:spPr>
      </p:sp>
      <p:sp>
        <p:nvSpPr>
          <p:cNvPr id="18022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NOT EXPLAINED YET</a:t>
            </a:r>
            <a:endParaRPr lang="en-US" altLang="en-US" dirty="0"/>
          </a:p>
          <a:p>
            <a:r>
              <a:rPr sz="1200" b="0"/>
              <a:t>• Xylem: the vascular tissue that carries water through the plant. (25.3.28)</a:t>
            </a:r>
          </a:p>
          <a:p/>
          <a:p>
            <a:r>
              <a:rPr sz="1200" b="1"/>
              <a:t>HOME NOTE</a:t>
            </a:r>
          </a:p>
          <a:p>
            <a:r>
              <a:rPr sz="1200" b="0"/>
              <a:t>• Gnetophytes</a:t>
            </a:r>
          </a:p>
          <a:p>
            <a:r>
              <a:rPr sz="1200" b="0"/>
              <a:t>   Also write here:</a:t>
            </a:r>
          </a:p>
          <a:p>
            <a:r>
              <a:rPr sz="1200" b="0"/>
              <a:t>   – Ephedra, a Type of Gnetophyte (23.5.75): Ephedra is a branched shrub with small, scale-like leaves; its pollen is made in microsporangia (pollen sacs).</a:t>
            </a:r>
          </a:p>
          <a:p/>
          <a:p>
            <a:r>
              <a:rPr sz="1200" b="1"/>
              <a:t>EXAM FOCUS (Medium)</a:t>
            </a:r>
          </a:p>
          <a:p>
            <a:r>
              <a:rPr sz="1200" b="0"/>
              <a:t>Likely:</a:t>
            </a:r>
          </a:p>
          <a:p>
            <a:r>
              <a:rPr sz="1200" b="0"/>
              <a:t>   • Gnetophytes: three living genera with similar xylem and similar strobili.</a:t>
            </a:r>
          </a:p>
          <a:p>
            <a:r>
              <a:rPr sz="1200" b="0"/>
              <a:t>   • None have archegonia.</a:t>
            </a:r>
          </a:p>
          <a:p>
            <a:r>
              <a:rPr sz="1200" b="0"/>
              <a:t>   • Gnetum: trees or climbing vines with broad, leathery leaves in pairs.</a:t>
            </a:r>
          </a:p>
          <a:p>
            <a:r>
              <a:rPr sz="1200" b="0"/>
              <a:t>   • Ephedra -&gt; ephedrine (a medicine with serious side effects).</a:t>
            </a:r>
          </a:p>
          <a:p>
            <a:r>
              <a:rPr sz="1200" b="0"/>
              <a:t>   • Welwitschia: only two huge, strap-like leaves that fray with age.</a:t>
            </a:r>
          </a:p>
          <a:p>
            <a:r>
              <a:rPr sz="1200" b="0"/>
              <a:t>Unlikely: 65 species; southwestern Africa.</a:t>
            </a:r>
          </a:p>
          <a:p>
            <a:r>
              <a:rPr sz="1200" b="0"/>
              <a:t>How:</a:t>
            </a:r>
          </a:p>
          <a:p>
            <a:r>
              <a:rPr sz="1200" b="0"/>
              <a:t>   • 'Which gymnosperm group lacks archegonia?' -&gt; gnetophytes. Trap: conifers, cycads.</a:t>
            </a:r>
          </a:p>
          <a:p>
            <a:r>
              <a:rPr sz="1200" b="0"/>
              <a:t>   • 'The medicine ephedrine comes from...' -&gt; Ephedra (a gnetophyte). Trap: Ginkgo (its extracts are for circulation).</a:t>
            </a:r>
          </a:p>
          <a:p>
            <a:r>
              <a:rPr sz="1200" b="0"/>
              <a:t>Write: Nothing here; it's the gnetophyte row of the table at 23.5.57.</a:t>
            </a:r>
          </a:p>
        </p:txBody>
      </p:sp>
      <p:sp>
        <p:nvSpPr>
          <p:cNvPr id="4" name="Slide Number Placeholder 3">
            <a:extLst>
              <a:ext uri="{FF2B5EF4-FFF2-40B4-BE49-F238E27FC236}">
                <a16:creationId xmlns:a16="http://schemas.microsoft.com/office/drawing/2014/main" id="{41FBF596-6EF9-49BB-AB10-54FB6D597FF4}"/>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74</a:t>
            </a:fld>
            <a:endParaRPr lang="en-US" altLang="en-US" dirty="0"/>
          </a:p>
        </p:txBody>
      </p:sp>
    </p:spTree>
    <p:extLst>
      <p:ext uri="{BB962C8B-B14F-4D97-AF65-F5344CB8AC3E}">
        <p14:creationId xmlns:p14="http://schemas.microsoft.com/office/powerpoint/2010/main" val="1954005754"/>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Slide Image Placeholder 1"/>
          <p:cNvSpPr>
            <a:spLocks noGrp="1" noRot="1" noChangeAspect="1" noTextEdit="1"/>
          </p:cNvSpPr>
          <p:nvPr>
            <p:ph type="sldImg"/>
          </p:nvPr>
        </p:nvSpPr>
        <p:spPr>
          <a:ln/>
        </p:spPr>
      </p:sp>
      <p:sp>
        <p:nvSpPr>
          <p:cNvPr id="18227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IMAGE DESCRIPTION</a:t>
            </a:r>
            <a:endParaRPr lang="en-US" altLang="en-US" dirty="0"/>
          </a:p>
          <a:p>
            <a:r>
              <a:rPr sz="1200" b="0"/>
              <a:t>This example is a branched shrub with small, scale-like leaves. Pollen is produced in microsporangia.</a:t>
            </a:r>
          </a:p>
          <a:p/>
          <a:p>
            <a:r>
              <a:rPr sz="1200" b="1"/>
              <a:t>ADDS TO</a:t>
            </a:r>
          </a:p>
          <a:p>
            <a:r>
              <a:rPr sz="1200" b="0"/>
              <a:t>Gnetophytes (23.5.74)</a:t>
            </a:r>
          </a:p>
          <a:p/>
          <a:p>
            <a:r>
              <a:rPr sz="1200" b="1"/>
              <a:t>EXAM FOCUS (Low)</a:t>
            </a:r>
          </a:p>
          <a:p>
            <a:r>
              <a:rPr sz="1200" b="0"/>
              <a:t>Ephedra photo (shrub with small scale-like leaves); see 23.5.74.</a:t>
            </a:r>
          </a:p>
        </p:txBody>
      </p:sp>
      <p:sp>
        <p:nvSpPr>
          <p:cNvPr id="4" name="Slide Number Placeholder 3">
            <a:extLst>
              <a:ext uri="{FF2B5EF4-FFF2-40B4-BE49-F238E27FC236}">
                <a16:creationId xmlns:a16="http://schemas.microsoft.com/office/drawing/2014/main" id="{F13CBE15-B181-407E-88E5-61080561EA64}"/>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75</a:t>
            </a:fld>
            <a:endParaRPr lang="en-US" altLang="en-US" dirty="0"/>
          </a:p>
        </p:txBody>
      </p:sp>
    </p:spTree>
    <p:extLst>
      <p:ext uri="{BB962C8B-B14F-4D97-AF65-F5344CB8AC3E}">
        <p14:creationId xmlns:p14="http://schemas.microsoft.com/office/powerpoint/2010/main" val="4243893890"/>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Slide Image Placeholder 1"/>
          <p:cNvSpPr>
            <a:spLocks noGrp="1" noRot="1" noChangeAspect="1" noTextEdit="1"/>
          </p:cNvSpPr>
          <p:nvPr>
            <p:ph type="sldImg"/>
          </p:nvPr>
        </p:nvSpPr>
        <p:spPr>
          <a:ln/>
        </p:spPr>
      </p:sp>
      <p:sp>
        <p:nvSpPr>
          <p:cNvPr id="18329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IMAGE DESCRIPTION</a:t>
            </a:r>
            <a:endParaRPr lang="en-US" altLang="en-US" dirty="0"/>
          </a:p>
          <a:p>
            <a:r>
              <a:rPr sz="1200" b="0"/>
              <a:t>This example produces 2 straplike leaves that fray and split.</a:t>
            </a:r>
          </a:p>
          <a:p/>
          <a:p>
            <a:r>
              <a:rPr sz="1200" b="1"/>
              <a:t>COVERED ELSEWHERE</a:t>
            </a:r>
          </a:p>
          <a:p>
            <a:r>
              <a:rPr sz="1200" b="0"/>
              <a:t>Gnetophytes (23.5.74)</a:t>
            </a:r>
          </a:p>
          <a:p/>
          <a:p>
            <a:r>
              <a:rPr sz="1200" b="1"/>
              <a:t>EXAM FOCUS (Low)</a:t>
            </a:r>
          </a:p>
          <a:p>
            <a:r>
              <a:rPr sz="1200" b="0"/>
              <a:t>Welwitschia photo (two strap-like leaves); see 23.5.74.</a:t>
            </a:r>
          </a:p>
        </p:txBody>
      </p:sp>
      <p:sp>
        <p:nvSpPr>
          <p:cNvPr id="4" name="Slide Number Placeholder 3">
            <a:extLst>
              <a:ext uri="{FF2B5EF4-FFF2-40B4-BE49-F238E27FC236}">
                <a16:creationId xmlns:a16="http://schemas.microsoft.com/office/drawing/2014/main" id="{1814AFF1-6DC2-4942-B729-2602573CE8E5}"/>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76</a:t>
            </a:fld>
            <a:endParaRPr lang="en-US" altLang="en-US" dirty="0"/>
          </a:p>
        </p:txBody>
      </p:sp>
    </p:spTree>
    <p:extLst>
      <p:ext uri="{BB962C8B-B14F-4D97-AF65-F5344CB8AC3E}">
        <p14:creationId xmlns:p14="http://schemas.microsoft.com/office/powerpoint/2010/main" val="3272296518"/>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Slide Image Placeholder 1"/>
          <p:cNvSpPr>
            <a:spLocks noGrp="1" noRot="1" noChangeAspect="1" noTextEdit="1"/>
          </p:cNvSpPr>
          <p:nvPr>
            <p:ph type="sldImg"/>
          </p:nvPr>
        </p:nvSpPr>
        <p:spPr>
          <a:ln/>
        </p:spPr>
      </p:sp>
      <p:sp>
        <p:nvSpPr>
          <p:cNvPr id="18432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NOT EXPLAINED YET</a:t>
            </a:r>
            <a:endParaRPr lang="en-US" altLang="en-US" dirty="0"/>
          </a:p>
          <a:p>
            <a:r>
              <a:rPr sz="1200" b="0"/>
              <a:t>• Ovule: a small structure where the female gametophyte (with its egg) develops; after fertilization it becomes the seed. (27.1.14)</a:t>
            </a:r>
          </a:p>
          <a:p/>
          <a:p>
            <a:r>
              <a:rPr sz="1200" b="1"/>
              <a:t>COVERED ELSEWHERE</a:t>
            </a:r>
          </a:p>
          <a:p>
            <a:r>
              <a:rPr sz="1200" b="0"/>
              <a:t>Gymnosperms vs angiosperms (23.5.56)</a:t>
            </a:r>
          </a:p>
          <a:p/>
          <a:p>
            <a:r>
              <a:rPr sz="1200" b="1"/>
              <a:t>EXAM FOCUS (Medium)</a:t>
            </a:r>
          </a:p>
          <a:p>
            <a:r>
              <a:rPr sz="1200" b="0"/>
              <a:t>Likely: Angiosperms = flowering plants; their ovules are always enclosed within diploid tissue; the largest, most successful plant group; staples of the human diet.</a:t>
            </a:r>
          </a:p>
          <a:p>
            <a:r>
              <a:rPr sz="1200" b="0"/>
              <a:t>Unlikely: 352,000 species; duckweed and Eucalyptus sizes.</a:t>
            </a:r>
          </a:p>
          <a:p>
            <a:r>
              <a:rPr sz="1200" b="0"/>
              <a:t>How: 'Why are angiosperms called angiosperms?' -&gt; their ovules are enclosed within tissue (an ovary). Trap: 'their seeds are naked' (gymnosperms).</a:t>
            </a:r>
          </a:p>
          <a:p>
            <a:r>
              <a:rPr sz="1200" b="0"/>
              <a:t>Write: Nothing new beyond the 23.5.56 entry.</a:t>
            </a:r>
          </a:p>
        </p:txBody>
      </p:sp>
      <p:sp>
        <p:nvSpPr>
          <p:cNvPr id="4" name="Slide Number Placeholder 3">
            <a:extLst>
              <a:ext uri="{FF2B5EF4-FFF2-40B4-BE49-F238E27FC236}">
                <a16:creationId xmlns:a16="http://schemas.microsoft.com/office/drawing/2014/main" id="{D33ED069-6E4C-4473-ABAE-C145E4AB2A70}"/>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77</a:t>
            </a:fld>
            <a:endParaRPr lang="en-US" altLang="en-US" dirty="0"/>
          </a:p>
        </p:txBody>
      </p:sp>
    </p:spTree>
    <p:extLst>
      <p:ext uri="{BB962C8B-B14F-4D97-AF65-F5344CB8AC3E}">
        <p14:creationId xmlns:p14="http://schemas.microsoft.com/office/powerpoint/2010/main" val="4091581976"/>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Slide Image Placeholder 1"/>
          <p:cNvSpPr>
            <a:spLocks noGrp="1" noRot="1" noChangeAspect="1" noTextEdit="1"/>
          </p:cNvSpPr>
          <p:nvPr>
            <p:ph type="sldImg"/>
          </p:nvPr>
        </p:nvSpPr>
        <p:spPr>
          <a:ln/>
        </p:spPr>
      </p:sp>
      <p:sp>
        <p:nvSpPr>
          <p:cNvPr id="18432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NOT EXPLAINED ON ANY SLIDE</a:t>
            </a:r>
            <a:endParaRPr lang="en-US" altLang="en-US" dirty="0"/>
          </a:p>
          <a:p>
            <a:r>
              <a:rPr sz="1200" b="0"/>
              <a:t>• Triassic, Jurassic and Tertiary: periods in Earth's history: about 252-201, 201-145 and 66-2.6 million years ago.</a:t>
            </a:r>
          </a:p>
          <a:p>
            <a:r>
              <a:rPr sz="1200" b="0"/>
              <a:t>• Paleobotanists: scientists who study fossil plants.</a:t>
            </a:r>
          </a:p>
          <a:p>
            <a:r>
              <a:rPr sz="1200" b="0"/>
              <a:t>• Adaptive radiation: one ancestral species quickly evolving into many new species that fit different ways of life.</a:t>
            </a:r>
          </a:p>
          <a:p/>
          <a:p>
            <a:r>
              <a:rPr sz="1200" b="1"/>
              <a:t>HOME NOTE</a:t>
            </a:r>
          </a:p>
          <a:p>
            <a:r>
              <a:rPr sz="1200" b="0"/>
              <a:t>• Origin of flowering plants</a:t>
            </a:r>
          </a:p>
          <a:p>
            <a:r>
              <a:rPr sz="1200" b="0"/>
              <a:t>   Also write here:</a:t>
            </a:r>
          </a:p>
          <a:p>
            <a:r>
              <a:rPr sz="1200" b="0"/>
              <a:t>   – Evolution of Flowering Plants: Amborella trichopoda (23.5.79): Amborella has small, cream-white flowers growing in clusters where the leaves meet the stem.</a:t>
            </a:r>
          </a:p>
          <a:p/>
          <a:p>
            <a:r>
              <a:rPr sz="1200" b="1"/>
              <a:t>EXAM FOCUS (Low)</a:t>
            </a:r>
          </a:p>
          <a:p>
            <a:r>
              <a:rPr sz="1200" b="0"/>
              <a:t>Likely:</a:t>
            </a:r>
          </a:p>
          <a:p>
            <a:r>
              <a:rPr sz="1200" b="0"/>
              <a:t>   • Amborella is the living plant that may be most closely related to the first flowering plants.</a:t>
            </a:r>
          </a:p>
          <a:p>
            <a:r>
              <a:rPr sz="1200" b="0"/>
              <a:t>   • Pollen fossilizes well, so it can date when seed plants appeared; Triassic flowering-plant pollen pushes the origin of flowering plants back before the oldest flower fossils (Archaefructus, with flowers and fruit).</a:t>
            </a:r>
          </a:p>
          <a:p>
            <a:r>
              <a:rPr sz="1200" b="0"/>
              <a:t>Unlikely: The exact dates (135 and 240 MYA) and places (Switzerland, New Caledonia); know the sequence, not the numbers.</a:t>
            </a:r>
          </a:p>
          <a:p>
            <a:r>
              <a:rPr sz="1200" b="0"/>
              <a:t>How: 'Which living plant may be most closely related to the first angiosperms?' -&gt; Amborella. Trap: Archaefructus (a fossil, not a living plant).</a:t>
            </a:r>
          </a:p>
          <a:p>
            <a:r>
              <a:rPr sz="1200" b="0"/>
              <a:t>Write: One line: Amborella = closest living relative of the first flowering plants; fossil pollen suggests flowering plants are older than their oldest flower fossils.</a:t>
            </a:r>
          </a:p>
        </p:txBody>
      </p:sp>
      <p:sp>
        <p:nvSpPr>
          <p:cNvPr id="4" name="Slide Number Placeholder 3">
            <a:extLst>
              <a:ext uri="{FF2B5EF4-FFF2-40B4-BE49-F238E27FC236}">
                <a16:creationId xmlns:a16="http://schemas.microsoft.com/office/drawing/2014/main" id="{D33ED069-6E4C-4473-ABAE-C145E4AB2A70}"/>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78</a:t>
            </a:fld>
            <a:endParaRPr lang="en-US" altLang="en-US" dirty="0"/>
          </a:p>
        </p:txBody>
      </p:sp>
    </p:spTree>
    <p:extLst>
      <p:ext uri="{BB962C8B-B14F-4D97-AF65-F5344CB8AC3E}">
        <p14:creationId xmlns:p14="http://schemas.microsoft.com/office/powerpoint/2010/main" val="2072382909"/>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Slide Image Placeholder 1"/>
          <p:cNvSpPr>
            <a:spLocks noGrp="1" noRot="1" noChangeAspect="1" noTextEdit="1"/>
          </p:cNvSpPr>
          <p:nvPr>
            <p:ph type="sldImg"/>
          </p:nvPr>
        </p:nvSpPr>
        <p:spPr>
          <a:ln/>
        </p:spPr>
      </p:sp>
      <p:sp>
        <p:nvSpPr>
          <p:cNvPr id="18534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IMAGE DESCRIPTION</a:t>
            </a:r>
            <a:endParaRPr lang="en-US" altLang="en-US" dirty="0"/>
          </a:p>
          <a:p>
            <a:r>
              <a:rPr sz="1200" b="0"/>
              <a:t>Close-up of a plant shows small, creamy white flowers arranged in inflorescence borne in the axils of foliage leaves.</a:t>
            </a:r>
          </a:p>
          <a:p/>
          <a:p>
            <a:r>
              <a:rPr sz="1200" b="1"/>
              <a:t>NOT EXPLAINED YET</a:t>
            </a:r>
          </a:p>
          <a:p>
            <a:r>
              <a:rPr sz="1200" b="0"/>
              <a:t>• Inflorescence: a cluster of flowers. (23.5.91)</a:t>
            </a:r>
          </a:p>
          <a:p>
            <a:r>
              <a:rPr sz="1200" b="0"/>
              <a:t>• Axil: the angle where a leaf joins the stem. (24.5.50)</a:t>
            </a:r>
          </a:p>
          <a:p/>
          <a:p>
            <a:r>
              <a:rPr sz="1200" b="1"/>
              <a:t>ADDS TO</a:t>
            </a:r>
          </a:p>
          <a:p>
            <a:r>
              <a:rPr sz="1200" b="0"/>
              <a:t>Origin of flowering plants (23.5.78)</a:t>
            </a:r>
          </a:p>
          <a:p/>
          <a:p>
            <a:r>
              <a:rPr sz="1200" b="1"/>
              <a:t>EXAM FOCUS (Low)</a:t>
            </a:r>
          </a:p>
          <a:p>
            <a:r>
              <a:rPr sz="1200" b="0"/>
              <a:t>Amborella photo; see 23.5.78.</a:t>
            </a:r>
          </a:p>
        </p:txBody>
      </p:sp>
      <p:sp>
        <p:nvSpPr>
          <p:cNvPr id="4" name="Slide Number Placeholder 3">
            <a:extLst>
              <a:ext uri="{FF2B5EF4-FFF2-40B4-BE49-F238E27FC236}">
                <a16:creationId xmlns:a16="http://schemas.microsoft.com/office/drawing/2014/main" id="{709C69D2-95FC-486A-BF13-468843EF1D4B}"/>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79</a:t>
            </a:fld>
            <a:endParaRPr lang="en-US" altLang="en-US" dirty="0"/>
          </a:p>
        </p:txBody>
      </p:sp>
    </p:spTree>
    <p:extLst>
      <p:ext uri="{BB962C8B-B14F-4D97-AF65-F5344CB8AC3E}">
        <p14:creationId xmlns:p14="http://schemas.microsoft.com/office/powerpoint/2010/main" val="101734908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Slide Image Placeholder 1"/>
          <p:cNvSpPr>
            <a:spLocks noGrp="1" noRot="1" noChangeAspect="1" noTextEdit="1"/>
          </p:cNvSpPr>
          <p:nvPr>
            <p:ph type="sldImg"/>
          </p:nvPr>
        </p:nvSpPr>
        <p:spPr>
          <a:ln/>
        </p:spPr>
      </p:sp>
      <p:sp>
        <p:nvSpPr>
          <p:cNvPr id="18637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ADDS TO</a:t>
            </a:r>
            <a:endParaRPr lang="en-US" altLang="en-US" dirty="0"/>
          </a:p>
          <a:p>
            <a:r>
              <a:rPr sz="1200" b="0"/>
              <a:t>Monocots vs eudicots (23.5.81)</a:t>
            </a:r>
          </a:p>
          <a:p/>
          <a:p>
            <a:r>
              <a:rPr sz="1200" b="1"/>
              <a:t>EXAM FOCUS (High)</a:t>
            </a:r>
          </a:p>
          <a:p>
            <a:r>
              <a:rPr sz="1200" b="0"/>
              <a:t>Likely:</a:t>
            </a:r>
          </a:p>
          <a:p>
            <a:r>
              <a:rPr sz="1200" b="0"/>
              <a:t>   • Most flowering plants are monocots or eudicots.</a:t>
            </a:r>
          </a:p>
          <a:p>
            <a:r>
              <a:rPr sz="1200" b="0"/>
              <a:t>   • Cotyledons = seed leaves with nutrients that nourish the embryo: monocots have 1, eudicots 2.</a:t>
            </a:r>
          </a:p>
          <a:p>
            <a:r>
              <a:rPr sz="1200" b="0"/>
              <a:t>   • Monocots: corn, tulips, pineapples, sugarcane; eudicots: cacti, strawberries, dandelions, poplars, beans.</a:t>
            </a:r>
          </a:p>
          <a:p>
            <a:r>
              <a:rPr sz="1200" b="0"/>
              <a:t>Unlikely: Nothing to skip; every point here is testable.</a:t>
            </a:r>
          </a:p>
          <a:p>
            <a:r>
              <a:rPr sz="1200" b="0"/>
              <a:t>How:</a:t>
            </a:r>
          </a:p>
          <a:p>
            <a:r>
              <a:rPr sz="1200" b="0"/>
              <a:t>   • 'A seed has a single cotyledon. The plant is a...' -&gt; monocot. Trap: eudicot.</a:t>
            </a:r>
          </a:p>
          <a:p>
            <a:r>
              <a:rPr sz="1200" b="0"/>
              <a:t>   • 'Which of these is a monocot?' -&gt; corn. Trap: beans, cacti (eudicots).</a:t>
            </a:r>
          </a:p>
          <a:p>
            <a:r>
              <a:rPr sz="1200" b="0"/>
              <a:t>Write: Nothing here; the examples go in the 23.5.81 table.</a:t>
            </a:r>
          </a:p>
        </p:txBody>
      </p:sp>
      <p:sp>
        <p:nvSpPr>
          <p:cNvPr id="4" name="Slide Number Placeholder 3">
            <a:extLst>
              <a:ext uri="{FF2B5EF4-FFF2-40B4-BE49-F238E27FC236}">
                <a16:creationId xmlns:a16="http://schemas.microsoft.com/office/drawing/2014/main" id="{D5F1DAF7-4F45-4C1F-B005-7E900BB03706}"/>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80</a:t>
            </a:fld>
            <a:endParaRPr lang="en-US" altLang="en-US" dirty="0"/>
          </a:p>
        </p:txBody>
      </p:sp>
    </p:spTree>
    <p:extLst>
      <p:ext uri="{BB962C8B-B14F-4D97-AF65-F5344CB8AC3E}">
        <p14:creationId xmlns:p14="http://schemas.microsoft.com/office/powerpoint/2010/main" val="595147472"/>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Slide Image Placeholder 1"/>
          <p:cNvSpPr>
            <a:spLocks noGrp="1" noRot="1" noChangeAspect="1" noTextEdit="1"/>
          </p:cNvSpPr>
          <p:nvPr>
            <p:ph type="sldImg"/>
          </p:nvPr>
        </p:nvSpPr>
        <p:spPr>
          <a:ln/>
        </p:spPr>
      </p:sp>
      <p:sp>
        <p:nvSpPr>
          <p:cNvPr id="18944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IMAGE DESCRIPTION</a:t>
            </a:r>
            <a:endParaRPr lang="en-US" altLang="en-US" dirty="0"/>
          </a:p>
          <a:p>
            <a:r>
              <a:rPr sz="1200" b="0"/>
              <a:t>A) Three white colored petals (monocots). B) Five petals flower in white with stripes of pink (eudicot).</a:t>
            </a:r>
          </a:p>
          <a:p>
            <a:r>
              <a:rPr sz="1200" b="0"/>
              <a:t>Regardless of size and shape, flowers, such as this</a:t>
            </a:r>
          </a:p>
          <a:p>
            <a:r>
              <a:rPr sz="1200" b="0"/>
              <a:t>monocot, and</a:t>
            </a:r>
          </a:p>
          <a:p>
            <a:r>
              <a:rPr sz="1200" b="0"/>
              <a:t>eudicot, share certain features.</a:t>
            </a:r>
          </a:p>
          <a:p/>
          <a:p>
            <a:r>
              <a:rPr sz="1200" b="1"/>
              <a:t>COVERED ELSEWHERE</a:t>
            </a:r>
          </a:p>
          <a:p>
            <a:r>
              <a:rPr sz="1200" b="0"/>
              <a:t>Monocots vs eudicots (23.5.81)</a:t>
            </a:r>
          </a:p>
          <a:p/>
          <a:p>
            <a:r>
              <a:rPr sz="1200" b="1"/>
              <a:t>EXAM FOCUS (Low)</a:t>
            </a:r>
          </a:p>
          <a:p>
            <a:r>
              <a:rPr sz="1200" b="0"/>
              <a:t>Photos: monocot flower (3 petals) vs eudicot flower (5); see 23.5.81.</a:t>
            </a:r>
          </a:p>
        </p:txBody>
      </p:sp>
      <p:sp>
        <p:nvSpPr>
          <p:cNvPr id="4" name="Slide Number Placeholder 3">
            <a:extLst>
              <a:ext uri="{FF2B5EF4-FFF2-40B4-BE49-F238E27FC236}">
                <a16:creationId xmlns:a16="http://schemas.microsoft.com/office/drawing/2014/main" id="{34D0F1FC-17C6-43E1-8E63-5B7D65086A30}"/>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82</a:t>
            </a:fld>
            <a:endParaRPr lang="en-US" altLang="en-US" dirty="0"/>
          </a:p>
        </p:txBody>
      </p:sp>
    </p:spTree>
    <p:extLst>
      <p:ext uri="{BB962C8B-B14F-4D97-AF65-F5344CB8AC3E}">
        <p14:creationId xmlns:p14="http://schemas.microsoft.com/office/powerpoint/2010/main" val="2927557247"/>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Slide Image Placeholder 1"/>
          <p:cNvSpPr>
            <a:spLocks noGrp="1" noRot="1" noChangeAspect="1" noTextEdit="1"/>
          </p:cNvSpPr>
          <p:nvPr>
            <p:ph type="sldImg"/>
          </p:nvPr>
        </p:nvSpPr>
        <p:spPr>
          <a:ln/>
        </p:spPr>
      </p:sp>
      <p:sp>
        <p:nvSpPr>
          <p:cNvPr id="18739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ADDS TO</a:t>
            </a:r>
            <a:endParaRPr lang="en-US" altLang="en-US" dirty="0"/>
          </a:p>
          <a:p>
            <a:r>
              <a:rPr sz="1200" b="0"/>
              <a:t>Parts of a flower (23.5.84)</a:t>
            </a:r>
          </a:p>
          <a:p/>
          <a:p>
            <a:r>
              <a:rPr sz="1200" b="1"/>
              <a:t>EXAM FOCUS (Medium)</a:t>
            </a:r>
          </a:p>
          <a:p>
            <a:r>
              <a:rPr sz="1200" b="0"/>
              <a:t>Likely:</a:t>
            </a:r>
          </a:p>
          <a:p>
            <a:r>
              <a:rPr sz="1200" b="0"/>
              <a:t>   • Sepals (together: the calyx) protect the flower bud; usually green.</a:t>
            </a:r>
          </a:p>
          <a:p>
            <a:r>
              <a:rPr sz="1200" b="0"/>
              <a:t>   • Petals (together: the corolla) are diverse and often attract a particular pollinator.</a:t>
            </a:r>
          </a:p>
          <a:p>
            <a:r>
              <a:rPr sz="1200" b="0"/>
              <a:t>Unlikely: Sepals that fall off or are colored like petals.</a:t>
            </a:r>
          </a:p>
          <a:p>
            <a:r>
              <a:rPr sz="1200" b="0"/>
              <a:t>How: 'Which flower part protects the bud before it opens?' -&gt; sepals. Trap: petals.</a:t>
            </a:r>
          </a:p>
          <a:p>
            <a:r>
              <a:rPr sz="1200" b="0"/>
              <a:t>Write: Nothing here; it goes in the flower-parts table (23.5.84).</a:t>
            </a:r>
          </a:p>
        </p:txBody>
      </p:sp>
      <p:sp>
        <p:nvSpPr>
          <p:cNvPr id="4" name="Slide Number Placeholder 3">
            <a:extLst>
              <a:ext uri="{FF2B5EF4-FFF2-40B4-BE49-F238E27FC236}">
                <a16:creationId xmlns:a16="http://schemas.microsoft.com/office/drawing/2014/main" id="{67CF2529-9330-47E2-B37F-5547732013E6}"/>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83</a:t>
            </a:fld>
            <a:endParaRPr lang="en-US" altLang="en-US" dirty="0"/>
          </a:p>
        </p:txBody>
      </p:sp>
    </p:spTree>
    <p:extLst>
      <p:ext uri="{BB962C8B-B14F-4D97-AF65-F5344CB8AC3E}">
        <p14:creationId xmlns:p14="http://schemas.microsoft.com/office/powerpoint/2010/main" val="1588271723"/>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Slide Image Placeholder 1"/>
          <p:cNvSpPr>
            <a:spLocks noGrp="1" noRot="1" noChangeAspect="1" noTextEdit="1"/>
          </p:cNvSpPr>
          <p:nvPr>
            <p:ph type="sldImg"/>
          </p:nvPr>
        </p:nvSpPr>
        <p:spPr>
          <a:ln/>
        </p:spPr>
      </p:sp>
      <p:sp>
        <p:nvSpPr>
          <p:cNvPr id="18739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NOT EXPLAINED YET</a:t>
            </a:r>
            <a:endParaRPr lang="en-US" altLang="en-US" dirty="0"/>
          </a:p>
          <a:p>
            <a:r>
              <a:rPr sz="1200" b="0"/>
              <a:t>• Ovule: a small structure where the female gametophyte (with its egg) develops; after fertilization it becomes the seed. (27.1.14)</a:t>
            </a:r>
          </a:p>
          <a:p/>
          <a:p>
            <a:r>
              <a:rPr sz="1200" b="1"/>
              <a:t>HOME NOTE</a:t>
            </a:r>
          </a:p>
          <a:p>
            <a:r>
              <a:rPr sz="1200" b="0"/>
              <a:t>• Parts of a flower</a:t>
            </a:r>
          </a:p>
          <a:p>
            <a:r>
              <a:rPr sz="1200" b="0"/>
              <a:t>   Also write here:</a:t>
            </a:r>
          </a:p>
          <a:p>
            <a:r>
              <a:rPr sz="1200" b="0"/>
              <a:t>   – The Flower (23.5.83): Sepals (together called the calyx) protect the flower bud before it opens; they're usually green but may fall off or be colored like petals. Petals (together called the corolla) vary a lot in size, shape and color and often attract a particular pollinator.</a:t>
            </a:r>
          </a:p>
          <a:p/>
          <a:p>
            <a:r>
              <a:rPr sz="1200" b="1"/>
              <a:t>COVERED ELSEWHERE</a:t>
            </a:r>
          </a:p>
          <a:p>
            <a:r>
              <a:rPr sz="1200" b="0"/>
              <a:t>Fruit (27.3.27)</a:t>
            </a:r>
          </a:p>
          <a:p/>
          <a:p>
            <a:r>
              <a:rPr sz="1200" b="1"/>
              <a:t>EXAM FOCUS (High)</a:t>
            </a:r>
          </a:p>
          <a:p>
            <a:r>
              <a:rPr sz="1200" b="0"/>
              <a:t>Likely:</a:t>
            </a:r>
          </a:p>
          <a:p>
            <a:r>
              <a:rPr sz="1200" b="0"/>
              <a:t>   • Stamen (male) = filament (stalk) + anther (sac that makes pollen).</a:t>
            </a:r>
          </a:p>
          <a:p>
            <a:r>
              <a:rPr sz="1200" b="0"/>
              <a:t>   • Carpel (female) = stigma (sticky knob) + style (stalk) + ovary (encloses the ovules).</a:t>
            </a:r>
          </a:p>
          <a:p>
            <a:r>
              <a:rPr sz="1200" b="0"/>
              <a:t>   • Ovule -&gt; seed; ovary -&gt; fruit, which often helps spread the seeds.</a:t>
            </a:r>
          </a:p>
          <a:p>
            <a:r>
              <a:rPr sz="1200" b="0"/>
              <a:t>Unlikely: Nothing to skip; every point here is testable.</a:t>
            </a:r>
          </a:p>
          <a:p>
            <a:r>
              <a:rPr sz="1200" b="0"/>
              <a:t>How:</a:t>
            </a:r>
          </a:p>
          <a:p>
            <a:r>
              <a:rPr sz="1200" b="0"/>
              <a:t>   • 'Which part of the flower becomes the fruit?' -&gt; the ovary. Trap: the ovule (it becomes the seed).</a:t>
            </a:r>
          </a:p>
          <a:p>
            <a:r>
              <a:rPr sz="1200" b="0"/>
              <a:t>   • 'Pollen is produced in the...' -&gt; anther. Trap: stigma, filament.</a:t>
            </a:r>
          </a:p>
          <a:p>
            <a:r>
              <a:rPr sz="1200" b="0"/>
              <a:t>   • 'Which part of the carpel is sticky and receives pollen?' -&gt; the stigma. Trap: the style.</a:t>
            </a:r>
          </a:p>
          <a:p>
            <a:r>
              <a:rPr sz="1200" b="0"/>
              <a:t>Write: Flower-parts table (part · job · becomes):</a:t>
            </a:r>
          </a:p>
          <a:p>
            <a:r>
              <a:rPr sz="1200" b="0"/>
              <a:t>   • Sepals (calyx): protect the bud</a:t>
            </a:r>
          </a:p>
          <a:p>
            <a:r>
              <a:rPr sz="1200" b="0"/>
              <a:t>   • Petals (corolla): attract pollinators</a:t>
            </a:r>
          </a:p>
          <a:p>
            <a:r>
              <a:rPr sz="1200" b="0"/>
              <a:t>   • Stamen (male) = anther (makes pollen) + filament (stalk)</a:t>
            </a:r>
          </a:p>
          <a:p>
            <a:r>
              <a:rPr sz="1200" b="0"/>
              <a:t>   • Carpel (female) = stigma (sticky knob) + style (stalk) + ovary (holds the ovules); ovary -&gt; fruit, ovule -&gt; seed</a:t>
            </a:r>
          </a:p>
        </p:txBody>
      </p:sp>
      <p:sp>
        <p:nvSpPr>
          <p:cNvPr id="4" name="Slide Number Placeholder 3">
            <a:extLst>
              <a:ext uri="{FF2B5EF4-FFF2-40B4-BE49-F238E27FC236}">
                <a16:creationId xmlns:a16="http://schemas.microsoft.com/office/drawing/2014/main" id="{67CF2529-9330-47E2-B37F-5547732013E6}"/>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84</a:t>
            </a:fld>
            <a:endParaRPr lang="en-US" altLang="en-US" dirty="0"/>
          </a:p>
        </p:txBody>
      </p:sp>
    </p:spTree>
    <p:extLst>
      <p:ext uri="{BB962C8B-B14F-4D97-AF65-F5344CB8AC3E}">
        <p14:creationId xmlns:p14="http://schemas.microsoft.com/office/powerpoint/2010/main" val="3844006330"/>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Slide Image Placeholder 1"/>
          <p:cNvSpPr>
            <a:spLocks noGrp="1" noRot="1" noChangeAspect="1" noTextEdit="1"/>
          </p:cNvSpPr>
          <p:nvPr>
            <p:ph type="sldImg"/>
          </p:nvPr>
        </p:nvSpPr>
        <p:spPr>
          <a:ln/>
        </p:spPr>
      </p:sp>
      <p:sp>
        <p:nvSpPr>
          <p:cNvPr id="19046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IMAGE DESCRIPTION</a:t>
            </a:r>
            <a:endParaRPr lang="en-US" altLang="en-US" dirty="0"/>
          </a:p>
          <a:p>
            <a:r>
              <a:rPr sz="1200" b="0"/>
              <a:t>A flower has 4 main parts: sepals, petals, stamens (anther and filament), and carpels (stigma, style, ovule, pollen tube, and ovary).</a:t>
            </a:r>
          </a:p>
          <a:p/>
          <a:p>
            <a:r>
              <a:rPr sz="1200" b="1"/>
              <a:t>NOT EXPLAINED YET</a:t>
            </a:r>
          </a:p>
          <a:p>
            <a:r>
              <a:rPr sz="1200" b="0"/>
              <a:t>• Ovule: a small structure where the female gametophyte (with its egg) develops; after fertilization it becomes the seed. (27.1.14)</a:t>
            </a:r>
          </a:p>
          <a:p/>
          <a:p>
            <a:r>
              <a:rPr sz="1200" b="1"/>
              <a:t>COVERED ELSEWHERE</a:t>
            </a:r>
          </a:p>
          <a:p>
            <a:r>
              <a:rPr sz="1200" b="0"/>
              <a:t>Parts of a flower (23.5.84)</a:t>
            </a:r>
          </a:p>
          <a:p/>
          <a:p>
            <a:r>
              <a:rPr sz="1200" b="1"/>
              <a:t>EXAM FOCUS (Low)</a:t>
            </a:r>
          </a:p>
          <a:p>
            <a:r>
              <a:rPr sz="1200" b="0"/>
              <a:t>Labeled flower diagram; see 23.5.84.</a:t>
            </a:r>
          </a:p>
        </p:txBody>
      </p:sp>
      <p:sp>
        <p:nvSpPr>
          <p:cNvPr id="4" name="Slide Number Placeholder 3">
            <a:extLst>
              <a:ext uri="{FF2B5EF4-FFF2-40B4-BE49-F238E27FC236}">
                <a16:creationId xmlns:a16="http://schemas.microsoft.com/office/drawing/2014/main" id="{81B26062-845D-43D2-B3DB-831785285E9A}"/>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85</a:t>
            </a:fld>
            <a:endParaRPr lang="en-US" altLang="en-US" dirty="0"/>
          </a:p>
        </p:txBody>
      </p:sp>
    </p:spTree>
    <p:extLst>
      <p:ext uri="{BB962C8B-B14F-4D97-AF65-F5344CB8AC3E}">
        <p14:creationId xmlns:p14="http://schemas.microsoft.com/office/powerpoint/2010/main" val="578156592"/>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Slide Image Placeholder 1"/>
          <p:cNvSpPr>
            <a:spLocks noGrp="1" noRot="1" noChangeAspect="1" noTextEdit="1"/>
          </p:cNvSpPr>
          <p:nvPr>
            <p:ph type="sldImg"/>
          </p:nvPr>
        </p:nvSpPr>
        <p:spPr>
          <a:ln/>
        </p:spPr>
      </p:sp>
      <p:sp>
        <p:nvSpPr>
          <p:cNvPr id="18739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ADDS TO</a:t>
            </a:r>
            <a:endParaRPr lang="en-US" altLang="en-US" dirty="0"/>
          </a:p>
          <a:p>
            <a:r>
              <a:rPr sz="1200" b="0"/>
              <a:t>Ovule and embryo sac (27.1.14)</a:t>
            </a:r>
          </a:p>
          <a:p/>
          <a:p>
            <a:r>
              <a:rPr sz="1200" b="1"/>
              <a:t>COVERED ELSEWHERE</a:t>
            </a:r>
          </a:p>
          <a:p>
            <a:r>
              <a:rPr sz="1200" b="0"/>
              <a:t>Homospory and heterospory (23.3.34) · Flowering plant life cycle (23.5.89)</a:t>
            </a:r>
          </a:p>
          <a:p/>
          <a:p>
            <a:r>
              <a:rPr sz="1200" b="1"/>
              <a:t>EXAM FOCUS (High)</a:t>
            </a:r>
          </a:p>
          <a:p>
            <a:r>
              <a:rPr sz="1200" b="0"/>
              <a:t>Likely:</a:t>
            </a:r>
          </a:p>
          <a:p>
            <a:r>
              <a:rPr sz="1200" b="0"/>
              <a:t>   • Flowering plants are heterosporous.</a:t>
            </a:r>
          </a:p>
          <a:p>
            <a:r>
              <a:rPr sz="1200" b="0"/>
              <a:t>   • The megaspore (in an ovule, in the ovary of a carpel) becomes the female gametophyte = the embryo sac.</a:t>
            </a:r>
          </a:p>
          <a:p>
            <a:r>
              <a:rPr sz="1200" b="0"/>
              <a:t>   • The embryo sac usually has 7 cells; two matter here: the egg, and the cell with two polar nuclei.</a:t>
            </a:r>
          </a:p>
          <a:p>
            <a:r>
              <a:rPr sz="1200" b="0"/>
              <a:t>Unlikely: Why the nuclei are called "polar".</a:t>
            </a:r>
          </a:p>
          <a:p>
            <a:r>
              <a:rPr sz="1200" b="0"/>
              <a:t>How:</a:t>
            </a:r>
          </a:p>
          <a:p>
            <a:r>
              <a:rPr sz="1200" b="0"/>
              <a:t>   • 'What is the female gametophyte of a flowering plant called?' -&gt; the embryo sac. Trap: ovule, ovary, pollen grain.</a:t>
            </a:r>
          </a:p>
          <a:p>
            <a:r>
              <a:rPr sz="1200" b="0"/>
              <a:t>   • 'Which embryo-sac cell joins a sperm to form endosperm?' -&gt; the cell with the two polar nuclei. Trap: the egg.</a:t>
            </a:r>
          </a:p>
          <a:p>
            <a:r>
              <a:rPr sz="1200" b="0"/>
              <a:t>Write: Nothing here; it goes in the flowering-plant life-cycle box (23.5.89).</a:t>
            </a:r>
          </a:p>
        </p:txBody>
      </p:sp>
      <p:sp>
        <p:nvSpPr>
          <p:cNvPr id="4" name="Slide Number Placeholder 3">
            <a:extLst>
              <a:ext uri="{FF2B5EF4-FFF2-40B4-BE49-F238E27FC236}">
                <a16:creationId xmlns:a16="http://schemas.microsoft.com/office/drawing/2014/main" id="{67CF2529-9330-47E2-B37F-5547732013E6}"/>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86</a:t>
            </a:fld>
            <a:endParaRPr lang="en-US" altLang="en-US" dirty="0"/>
          </a:p>
        </p:txBody>
      </p:sp>
    </p:spTree>
    <p:extLst>
      <p:ext uri="{BB962C8B-B14F-4D97-AF65-F5344CB8AC3E}">
        <p14:creationId xmlns:p14="http://schemas.microsoft.com/office/powerpoint/2010/main" val="3662410006"/>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Slide Image Placeholder 1"/>
          <p:cNvSpPr>
            <a:spLocks noGrp="1" noRot="1" noChangeAspect="1" noTextEdit="1"/>
          </p:cNvSpPr>
          <p:nvPr>
            <p:ph type="sldImg"/>
          </p:nvPr>
        </p:nvSpPr>
        <p:spPr>
          <a:ln/>
        </p:spPr>
      </p:sp>
      <p:sp>
        <p:nvSpPr>
          <p:cNvPr id="18739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NOT EXPLAINED YET</a:t>
            </a:r>
            <a:endParaRPr lang="en-US" altLang="en-US" dirty="0"/>
          </a:p>
          <a:p>
            <a:r>
              <a:rPr sz="1200" b="0"/>
              <a:t>• Ovule: a small structure where the female gametophyte (with its egg) develops; after fertilization it becomes the seed. (27.1.14)</a:t>
            </a:r>
          </a:p>
          <a:p/>
          <a:p>
            <a:r>
              <a:rPr sz="1200" b="1"/>
              <a:t>ADDS TO</a:t>
            </a:r>
          </a:p>
          <a:p>
            <a:r>
              <a:rPr sz="1200" b="0"/>
              <a:t>Pollen tube (27.1.17)</a:t>
            </a:r>
          </a:p>
          <a:p/>
          <a:p>
            <a:r>
              <a:rPr sz="1200" b="1"/>
              <a:t>COVERED ELSEWHERE</a:t>
            </a:r>
          </a:p>
          <a:p>
            <a:r>
              <a:rPr sz="1200" b="0"/>
              <a:t>Flowering plant life cycle (23.5.89) · Pollen grain (27.1.12) · Pollination (27.1.15)</a:t>
            </a:r>
          </a:p>
          <a:p/>
          <a:p>
            <a:r>
              <a:rPr sz="1200" b="1"/>
              <a:t>EXAM FOCUS (High)</a:t>
            </a:r>
          </a:p>
          <a:p>
            <a:r>
              <a:rPr sz="1200" b="0"/>
              <a:t>Likely:</a:t>
            </a:r>
          </a:p>
          <a:p>
            <a:r>
              <a:rPr sz="1200" b="0"/>
              <a:t>   • Microspores are made in anthers and become pollen grains = male gametophytes with sperm.</a:t>
            </a:r>
          </a:p>
          <a:p>
            <a:r>
              <a:rPr sz="1200" b="0"/>
              <a:t>   • The mature male gametophyte has only 3 cells: the tube cell and 2 sperm.</a:t>
            </a:r>
          </a:p>
          <a:p>
            <a:r>
              <a:rPr sz="1200" b="0"/>
              <a:t>   • Pollination: pollen carried from the anther to the stigma.</a:t>
            </a:r>
          </a:p>
          <a:p>
            <a:r>
              <a:rPr sz="1200" b="0"/>
              <a:t>   • The tube cell makes the pollen tube; the 2 sperm travel down it to the micropyle (small opening) of an ovule.</a:t>
            </a:r>
          </a:p>
          <a:p>
            <a:r>
              <a:rPr sz="1200" b="0"/>
              <a:t>Unlikely: Nothing to skip; every point here is testable.</a:t>
            </a:r>
          </a:p>
          <a:p>
            <a:r>
              <a:rPr sz="1200" b="0"/>
              <a:t>How:</a:t>
            </a:r>
          </a:p>
          <a:p>
            <a:r>
              <a:rPr sz="1200" b="0"/>
              <a:t>   • 'The mature male gametophyte of a flowering plant consists of...' -&gt; a tube cell and two sperm. Trap: '7 cells including an egg' (the embryo sac).</a:t>
            </a:r>
          </a:p>
          <a:p>
            <a:r>
              <a:rPr sz="1200" b="0"/>
              <a:t>   • 'Pollination is the transfer of pollen from the...' -&gt; anther to the stigma. Trap: stigma to anther; ovary to ovule.</a:t>
            </a:r>
          </a:p>
          <a:p>
            <a:r>
              <a:rPr sz="1200" b="0"/>
              <a:t>   • 'Which cell produces the pollen tube?' -&gt; the tube cell. Trap: the generative cell.</a:t>
            </a:r>
          </a:p>
          <a:p>
            <a:r>
              <a:rPr sz="1200" b="0"/>
              <a:t>Write: Nothing here; it goes in the flowering-plant life-cycle box (23.5.89).</a:t>
            </a:r>
          </a:p>
        </p:txBody>
      </p:sp>
      <p:sp>
        <p:nvSpPr>
          <p:cNvPr id="4" name="Slide Number Placeholder 3">
            <a:extLst>
              <a:ext uri="{FF2B5EF4-FFF2-40B4-BE49-F238E27FC236}">
                <a16:creationId xmlns:a16="http://schemas.microsoft.com/office/drawing/2014/main" id="{67CF2529-9330-47E2-B37F-5547732013E6}"/>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87</a:t>
            </a:fld>
            <a:endParaRPr lang="en-US" altLang="en-US" dirty="0"/>
          </a:p>
        </p:txBody>
      </p:sp>
    </p:spTree>
    <p:extLst>
      <p:ext uri="{BB962C8B-B14F-4D97-AF65-F5344CB8AC3E}">
        <p14:creationId xmlns:p14="http://schemas.microsoft.com/office/powerpoint/2010/main" val="1508174005"/>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Slide Image Placeholder 1"/>
          <p:cNvSpPr>
            <a:spLocks noGrp="1" noRot="1" noChangeAspect="1" noTextEdit="1"/>
          </p:cNvSpPr>
          <p:nvPr>
            <p:ph type="sldImg"/>
          </p:nvPr>
        </p:nvSpPr>
        <p:spPr>
          <a:ln/>
        </p:spPr>
      </p:sp>
      <p:sp>
        <p:nvSpPr>
          <p:cNvPr id="18739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NOT EXPLAINED YET</a:t>
            </a:r>
            <a:endParaRPr lang="en-US" altLang="en-US" dirty="0"/>
          </a:p>
          <a:p>
            <a:r>
              <a:rPr sz="1200" b="0"/>
              <a:t>• Ovule: a small structure where the female gametophyte (with its egg) develops; after fertilization it becomes the seed. (27.1.14)</a:t>
            </a:r>
          </a:p>
          <a:p>
            <a:r>
              <a:rPr sz="1200" b="0"/>
              <a:t>• Polar nuclei: two nuclei in the middle of the embryo sac (the female gametophyte); the second sperm fuses with them to make the endosperm. (27.1.14)</a:t>
            </a:r>
          </a:p>
          <a:p/>
          <a:p>
            <a:r>
              <a:rPr sz="1200" b="1"/>
              <a:t>ADDS TO</a:t>
            </a:r>
          </a:p>
          <a:p>
            <a:r>
              <a:rPr sz="1200" b="0"/>
              <a:t>Fruit (27.3.27)</a:t>
            </a:r>
          </a:p>
          <a:p/>
          <a:p>
            <a:r>
              <a:rPr sz="1200" b="1"/>
              <a:t>COVERED ELSEWHERE</a:t>
            </a:r>
          </a:p>
          <a:p>
            <a:r>
              <a:rPr sz="1200" b="0"/>
              <a:t>Flowering plant life cycle (23.5.89)</a:t>
            </a:r>
          </a:p>
          <a:p/>
          <a:p>
            <a:r>
              <a:rPr sz="1200" b="1"/>
              <a:t>EXAM FOCUS (High)</a:t>
            </a:r>
          </a:p>
          <a:p>
            <a:r>
              <a:rPr sz="1200" b="0"/>
              <a:t>Likely:</a:t>
            </a:r>
          </a:p>
          <a:p>
            <a:r>
              <a:rPr sz="1200" b="0"/>
              <a:t>   • Double fertilization: sperm 1 + egg -&gt; diploid zygote; sperm 2 + the 2 polar nuclei -&gt; triploid endosperm nucleus.</a:t>
            </a:r>
          </a:p>
          <a:p>
            <a:r>
              <a:rPr sz="1200" b="0"/>
              <a:t>   • Ovule -&gt; seed: embryo (the next sporophyte) + endosperm (stored food) inside a seed coat.</a:t>
            </a:r>
          </a:p>
          <a:p>
            <a:r>
              <a:rPr sz="1200" b="0"/>
              <a:t>   • Ovary -&gt; fruit: fleshy (apples) or dry (acorns).</a:t>
            </a:r>
          </a:p>
          <a:p>
            <a:r>
              <a:rPr sz="1200" b="0"/>
              <a:t>Unlikely: Nothing to skip; every point here is testable.</a:t>
            </a:r>
          </a:p>
          <a:p>
            <a:r>
              <a:rPr sz="1200" b="0"/>
              <a:t>How:</a:t>
            </a:r>
          </a:p>
          <a:p>
            <a:r>
              <a:rPr sz="1200" b="0"/>
              <a:t>   • 'In double fertilization, the second sperm fuses with the polar nuclei to form...' -&gt; the triploid endosperm. Trap: the zygote, the seed coat.</a:t>
            </a:r>
          </a:p>
          <a:p>
            <a:r>
              <a:rPr sz="1200" b="0"/>
              <a:t>   • 'What is the ploidy of the endosperm?' -&gt; triploid (3n). Trap: diploid (2n).</a:t>
            </a:r>
          </a:p>
          <a:p>
            <a:r>
              <a:rPr sz="1200" b="0"/>
              <a:t>   • 'After fertilization, the ovary develops into the...' -&gt; fruit. Trap: seed.</a:t>
            </a:r>
          </a:p>
          <a:p>
            <a:r>
              <a:rPr sz="1200" b="0"/>
              <a:t>Write: Nothing here; it goes in the flowering-plant life-cycle box (23.5.89).</a:t>
            </a:r>
          </a:p>
        </p:txBody>
      </p:sp>
      <p:sp>
        <p:nvSpPr>
          <p:cNvPr id="4" name="Slide Number Placeholder 3">
            <a:extLst>
              <a:ext uri="{FF2B5EF4-FFF2-40B4-BE49-F238E27FC236}">
                <a16:creationId xmlns:a16="http://schemas.microsoft.com/office/drawing/2014/main" id="{67CF2529-9330-47E2-B37F-5547732013E6}"/>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88</a:t>
            </a:fld>
            <a:endParaRPr lang="en-US" altLang="en-US" dirty="0"/>
          </a:p>
        </p:txBody>
      </p:sp>
    </p:spTree>
    <p:extLst>
      <p:ext uri="{BB962C8B-B14F-4D97-AF65-F5344CB8AC3E}">
        <p14:creationId xmlns:p14="http://schemas.microsoft.com/office/powerpoint/2010/main" val="153494603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Slide Image Placeholder 1"/>
          <p:cNvSpPr>
            <a:spLocks noGrp="1" noRot="1" noChangeAspect="1" noTextEdit="1"/>
          </p:cNvSpPr>
          <p:nvPr>
            <p:ph type="sldImg"/>
          </p:nvPr>
        </p:nvSpPr>
        <p:spPr>
          <a:ln/>
        </p:spPr>
      </p:sp>
      <p:sp>
        <p:nvSpPr>
          <p:cNvPr id="19149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IMAGE DESCRIPTION</a:t>
            </a:r>
            <a:endParaRPr lang="en-US" altLang="en-US" dirty="0"/>
          </a:p>
          <a:p>
            <a:r>
              <a:rPr sz="1200" b="0"/>
              <a:t>Details of a typical flowering plant cycle are shown.1. The stamen: An anther at the top of a stamen has four pollen sacs. Pollen grains are produced in pollen sacs. The carpel: The ovary at the base of a carpel contains one or more ovules. The contents of an ovule change during the flowering plant lifecycle. 2. The pollen sacs: In pollen sacs (microsporangia) of the anther, meiosis produces microspores. The ovules: In an ovule (megasporangium) within an ovary, meiosis produces four megaspores. 3. The microspores: Each microspore in a pollen sac undergoes mitosis to become an immature pollen grain with two cells: the tube cell and the generative cell. The pollen sacs open, and the pollen grains are windblown or transported by an animal carrier, usually to other flowers. This is known as pollination. The megaspores: Inside the ovules of an ovary, three megaspores disintegrate, and only the remaining one undergoes mitosis to become a female gametophyte. 4. The mature male gametophyte: A pollen grain that lands on the carpel of the same type of plant germinates and produces a pollen tube, which grows within the style until it reaches an ovule in the ovary. Inside the pollen tube, the generative cell nucleus divides and produces two nonflagellated sperm. A fully germinated pollen grain is the mature male gametophyte. The mature female gametophyte: The ovule now contains the mature female gametophyte (embryo sac), which typically consists of eight haploid nuclei embedded in a mass of cytoplasm. The cytoplasm differentiates into cells, one of which is an egg and another that contains two polar nuclei. 5. Double fertilization: On reaching the ovule, the pollen tube discharges the sperm. One of the two sperm migrates to and fertilizes the egg, forming a zygote; the other unites with the two polar nuclei, producing a 3n (triploid) endosperm nucleus. The endosperm nucleus divides to form endosperm, food for the developing embryo. 6. The seed: The ovule now develops into the seed, which contains an embryo and food enclosed by a protective seed coat. The wall of the ovary and sometimes adjacent parts develop into a fruit that surrounds the seed(s). 7. The sporophyte: The embryo within a seed is the immature sporophyte. When a seed germinates, growth and differentiation produce the mature sporophyte of a flowering plant.</a:t>
            </a:r>
          </a:p>
          <a:p/>
          <a:p>
            <a:r>
              <a:rPr sz="1200" b="1"/>
              <a:t>HOME NOTE</a:t>
            </a:r>
          </a:p>
          <a:p>
            <a:r>
              <a:rPr sz="1200" b="0"/>
              <a:t>• Flowering plant life cycle</a:t>
            </a:r>
          </a:p>
          <a:p/>
          <a:p>
            <a:r>
              <a:rPr sz="1200" b="1"/>
              <a:t>COVERED ELSEWHERE</a:t>
            </a:r>
          </a:p>
          <a:p>
            <a:r>
              <a:rPr sz="1200" b="0"/>
              <a:t>Pollen grain (27.1.12) · Ovule and embryo sac (27.1.14) · Pollination (27.1.15) · Pollen tube (27.1.17) · Fruit (27.3.27)</a:t>
            </a:r>
          </a:p>
          <a:p/>
          <a:p>
            <a:r>
              <a:rPr sz="1200" b="1"/>
              <a:t>EXAM FOCUS (High)</a:t>
            </a:r>
          </a:p>
          <a:p>
            <a:r>
              <a:rPr sz="1200" b="0"/>
              <a:t>Likely:</a:t>
            </a:r>
          </a:p>
          <a:p>
            <a:r>
              <a:rPr sz="1200" b="0"/>
              <a:t>   • Meiosis: microspores in the anther's pollen sacs; megaspores in the ovule (3 of the 4 disintegrate).</a:t>
            </a:r>
          </a:p>
          <a:p>
            <a:r>
              <a:rPr sz="1200" b="0"/>
              <a:t>   • Microspore -&gt; pollen grain with a tube cell and a generative cell; the generative cell divides into 2 sperm.</a:t>
            </a:r>
          </a:p>
          <a:p>
            <a:r>
              <a:rPr sz="1200" b="0"/>
              <a:t>   • Megaspore -&gt; embryo sac (egg + a cell with two polar nuclei).</a:t>
            </a:r>
          </a:p>
          <a:p>
            <a:r>
              <a:rPr sz="1200" b="0"/>
              <a:t>   • Pollination -&gt; the pollen tube grows down the style to the ovule -&gt; double fertilization.</a:t>
            </a:r>
          </a:p>
          <a:p>
            <a:r>
              <a:rPr sz="1200" b="0"/>
              <a:t>   • Ovule -&gt; seed; ovary wall -&gt; fruit; the seed germinates into a new sporophyte.</a:t>
            </a:r>
          </a:p>
          <a:p>
            <a:r>
              <a:rPr sz="1200" b="0"/>
              <a:t>Unlikely: Memorizing every label.</a:t>
            </a:r>
          </a:p>
          <a:p>
            <a:r>
              <a:rPr sz="1200" b="0"/>
              <a:t>How:</a:t>
            </a:r>
          </a:p>
          <a:p>
            <a:r>
              <a:rPr sz="1200" b="0"/>
              <a:t>   • 'Which cell of the pollen grain divides to make the two sperm?' -&gt; the generative cell. Trap: the tube cell.</a:t>
            </a:r>
          </a:p>
          <a:p>
            <a:r>
              <a:rPr sz="1200" b="0"/>
              <a:t>   • 'In flowering plants, how many of the four megaspores survive?' -&gt; one. Trap: all four.</a:t>
            </a:r>
          </a:p>
          <a:p>
            <a:r>
              <a:rPr sz="1200" b="0"/>
              <a:t>   • 'The flowering plant you see is which generation?' -&gt; the sporophyte. Trap: the gametophyte.</a:t>
            </a:r>
          </a:p>
          <a:p>
            <a:r>
              <a:rPr sz="1200" b="0"/>
              <a:t>Write: Flowering-plant life-cycle box (same rows as moss, fern, pine):</a:t>
            </a:r>
          </a:p>
          <a:p>
            <a:r>
              <a:rPr sz="1200" b="0"/>
              <a:t>   • Dominant: sporophyte (the plant)</a:t>
            </a:r>
          </a:p>
          <a:p>
            <a:r>
              <a:rPr sz="1200" b="0"/>
              <a:t>   • Meiosis: anther pollen sacs -&gt; microspores; ovule -&gt; megaspores (1 of 4 survives)</a:t>
            </a:r>
          </a:p>
          <a:p>
            <a:r>
              <a:rPr sz="1200" b="0"/>
              <a:t>   • Gametophytes: male = pollen grain (tube cell + generative cell -&gt; 2 sperm; mature = 3 cells); female = embryo sac (7 cells: the egg, a cell with 2 polar nuclei, and others)</a:t>
            </a:r>
          </a:p>
          <a:p>
            <a:r>
              <a:rPr sz="1200" b="0"/>
              <a:t>   • Fertilization: pollen tube to the micropyle; double fertilization (sperm + egg -&gt; 2n zygote; sperm + polar nuclei -&gt; 3n endosperm); no water needed</a:t>
            </a:r>
          </a:p>
          <a:p>
            <a:r>
              <a:rPr sz="1200" b="0"/>
              <a:t>   • Seed and fruit: ovule -&gt; seed (embryo + endosperm + coat); ovary -&gt; fruit</a:t>
            </a:r>
          </a:p>
        </p:txBody>
      </p:sp>
      <p:sp>
        <p:nvSpPr>
          <p:cNvPr id="4" name="Slide Number Placeholder 3">
            <a:extLst>
              <a:ext uri="{FF2B5EF4-FFF2-40B4-BE49-F238E27FC236}">
                <a16:creationId xmlns:a16="http://schemas.microsoft.com/office/drawing/2014/main" id="{FEBB1B89-BFEB-4409-9D54-307537A0584B}"/>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89</a:t>
            </a:fld>
            <a:endParaRPr lang="en-US" altLang="en-US" dirty="0"/>
          </a:p>
        </p:txBody>
      </p:sp>
    </p:spTree>
    <p:extLst>
      <p:ext uri="{BB962C8B-B14F-4D97-AF65-F5344CB8AC3E}">
        <p14:creationId xmlns:p14="http://schemas.microsoft.com/office/powerpoint/2010/main" val="4277906563"/>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Slide Image Placeholder 1"/>
          <p:cNvSpPr>
            <a:spLocks noGrp="1" noRot="1" noChangeAspect="1" noTextEdit="1"/>
          </p:cNvSpPr>
          <p:nvPr>
            <p:ph type="sldImg"/>
          </p:nvPr>
        </p:nvSpPr>
        <p:spPr>
          <a:ln/>
        </p:spPr>
      </p:sp>
      <p:sp>
        <p:nvSpPr>
          <p:cNvPr id="19251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sz="1200" b="1"/>
              <a:t>ADDS TO</a:t>
            </a:r>
            <a:endParaRPr lang="en-US" altLang="en-US" dirty="0"/>
          </a:p>
          <a:p>
            <a:r>
              <a:rPr sz="1200" b="0"/>
              <a:t>Fruit and seed dispersal (27.3.31)</a:t>
            </a:r>
          </a:p>
          <a:p/>
          <a:p>
            <a:r>
              <a:rPr sz="1200" b="1"/>
              <a:t>EXAM FOCUS (Medium)</a:t>
            </a:r>
          </a:p>
          <a:p>
            <a:r>
              <a:rPr sz="1200" b="0"/>
              <a:t>Likely:</a:t>
            </a:r>
          </a:p>
          <a:p>
            <a:r>
              <a:rPr sz="1200" b="0"/>
              <a:t>   • Flowers are adapted to their pollinators: wind-pollinated flowers are not showy; bird- and insect-pollinated flowers are colorful.</a:t>
            </a:r>
          </a:p>
          <a:p>
            <a:r>
              <a:rPr sz="1200" b="0"/>
              <a:t>   • Night-blooming flowers are white or cream and scented, attracting nocturnal mammals or insects; many flowers fit one specific pollinator.</a:t>
            </a:r>
          </a:p>
          <a:p>
            <a:r>
              <a:rPr sz="1200" b="0"/>
              <a:t>   • Fruits protect seeds and help disperse them by wind, gravity, water and animals.</a:t>
            </a:r>
          </a:p>
          <a:p>
            <a:r>
              <a:rPr sz="1200" b="0"/>
              <a:t>Unlikely: Nothing to skip; every point here is testable.</a:t>
            </a:r>
          </a:p>
          <a:p>
            <a:r>
              <a:rPr sz="1200" b="0"/>
              <a:t>How:</a:t>
            </a:r>
          </a:p>
          <a:p>
            <a:r>
              <a:rPr sz="1200" b="0"/>
              <a:t>   • 'A white, strongly scented flower opens at night. Its likely pollinator is...' -&gt; a nocturnal mammal or insect. Trap: wind, birds.</a:t>
            </a:r>
          </a:p>
          <a:p>
            <a:r>
              <a:rPr sz="1200" b="0"/>
              <a:t>   • 'Which flowers are usually not showy?' -&gt; wind-pollinated ones. Trap: insect-pollinated flowers.</a:t>
            </a:r>
          </a:p>
          <a:p>
            <a:r>
              <a:rPr sz="1200" b="0"/>
              <a:t>Write: Pollinator -&gt; flower table:</a:t>
            </a:r>
          </a:p>
          <a:p>
            <a:r>
              <a:rPr sz="1200" b="0"/>
              <a:t>   • Wind: not showy</a:t>
            </a:r>
          </a:p>
          <a:p>
            <a:r>
              <a:rPr sz="1200" b="0"/>
              <a:t>   • Birds and insects: colorful</a:t>
            </a:r>
          </a:p>
          <a:p>
            <a:r>
              <a:rPr sz="1200" b="0"/>
              <a:t>   • Night animals (mammals, insects): white or cream, scented</a:t>
            </a:r>
          </a:p>
          <a:p>
            <a:r>
              <a:rPr sz="1200" b="0"/>
              <a:t>   • (Fruit dispersal goes at 27.3.31.)</a:t>
            </a:r>
          </a:p>
        </p:txBody>
      </p:sp>
      <p:sp>
        <p:nvSpPr>
          <p:cNvPr id="4" name="Slide Number Placeholder 3">
            <a:extLst>
              <a:ext uri="{FF2B5EF4-FFF2-40B4-BE49-F238E27FC236}">
                <a16:creationId xmlns:a16="http://schemas.microsoft.com/office/drawing/2014/main" id="{585B2000-F753-4DD2-8F53-E761457749EC}"/>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90</a:t>
            </a:fld>
            <a:endParaRPr lang="en-US" altLang="en-US" dirty="0"/>
          </a:p>
        </p:txBody>
      </p:sp>
    </p:spTree>
    <p:extLst>
      <p:ext uri="{BB962C8B-B14F-4D97-AF65-F5344CB8AC3E}">
        <p14:creationId xmlns:p14="http://schemas.microsoft.com/office/powerpoint/2010/main" val="3900862619"/>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b="1"/>
              <a:t>HOME NOTE</a:t>
            </a:r>
            <a:endParaRPr lang="en-US" dirty="0"/>
          </a:p>
          <a:p>
            <a:r>
              <a:rPr sz="1200" b="0"/>
              <a:t>• Inflorescence</a:t>
            </a:r>
          </a:p>
          <a:p/>
          <a:p>
            <a:r>
              <a:rPr sz="1200" b="1"/>
              <a:t>COVERED ELSEWHERE</a:t>
            </a:r>
          </a:p>
          <a:p>
            <a:r>
              <a:rPr sz="1200" b="0"/>
              <a:t>Complete/incomplete and perfect/imperfect flowers (27.1.10)</a:t>
            </a:r>
          </a:p>
          <a:p/>
          <a:p>
            <a:r>
              <a:rPr sz="1200" b="1"/>
              <a:t>EXAM FOCUS (Medium)</a:t>
            </a:r>
          </a:p>
          <a:p>
            <a:r>
              <a:rPr sz="1200" b="0"/>
              <a:t>Likely:</a:t>
            </a:r>
          </a:p>
          <a:p>
            <a:r>
              <a:rPr sz="1200" b="0"/>
              <a:t>   • Complete = all four parts (sepals, petals, stamens, carpels); incomplete = missing one or more.</a:t>
            </a:r>
          </a:p>
          <a:p>
            <a:r>
              <a:rPr sz="1200" b="0"/>
              <a:t>   • Perfect = has stamens and carpels; imperfect = has one but not both.</a:t>
            </a:r>
          </a:p>
          <a:p>
            <a:r>
              <a:rPr sz="1200" b="0"/>
              <a:t>   • Inflorescence = a cluster of flowers; composite = looks like one flower but is a group of tiny flowers.</a:t>
            </a:r>
          </a:p>
          <a:p>
            <a:r>
              <a:rPr sz="1200" b="0"/>
              <a:t>Unlikely: Nothing to skip; every point here is testable.</a:t>
            </a:r>
          </a:p>
          <a:p>
            <a:r>
              <a:rPr sz="1200" b="0"/>
              <a:t>How:</a:t>
            </a:r>
          </a:p>
          <a:p>
            <a:r>
              <a:rPr sz="1200" b="0"/>
              <a:t>   • 'A flower has stamens and carpels but no petals. It is...' -&gt; perfect but incomplete. Trap: complete; imperfect.</a:t>
            </a:r>
          </a:p>
          <a:p>
            <a:r>
              <a:rPr sz="1200" b="0"/>
              <a:t>   • 'A sunflower head looks like one flower but is many tiny flowers. This is a...' -&gt; composite. Trap: perfect or complete (those describe a single flower's parts). A composite head is a kind of inflorescence, but "composite" is the specific term.</a:t>
            </a:r>
          </a:p>
          <a:p>
            <a:r>
              <a:rPr sz="1200" b="0"/>
              <a:t>Write: Inflorescence and composite here; the complete/perfect pairs go in the 27.1.10 table.</a:t>
            </a:r>
          </a:p>
        </p:txBody>
      </p:sp>
      <p:sp>
        <p:nvSpPr>
          <p:cNvPr id="4" name="Slide Number Placeholder 3">
            <a:extLst>
              <a:ext uri="{FF2B5EF4-FFF2-40B4-BE49-F238E27FC236}">
                <a16:creationId xmlns:a16="http://schemas.microsoft.com/office/drawing/2014/main" id="{2D446E7F-3CE5-48E8-8E60-D3D1EFA2B338}"/>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91</a:t>
            </a:fld>
            <a:endParaRPr lang="en-US" altLang="en-US" dirty="0"/>
          </a:p>
        </p:txBody>
      </p:sp>
    </p:spTree>
    <p:extLst>
      <p:ext uri="{BB962C8B-B14F-4D97-AF65-F5344CB8AC3E}">
        <p14:creationId xmlns:p14="http://schemas.microsoft.com/office/powerpoint/2010/main" val="3113198406"/>
      </p:ext>
    </p:extLst>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a:t>CLARIFICATION</a:t>
            </a:r>
          </a:p>
          <a:p>
            <a:r>
              <a:rPr sz="1200" b="0"/>
              <a:t>The protonema is only the first, thread-like stage of the moss gametophyte, not the whole gametophyte; it then produces the leafy shoots (see 23.2.29).</a:t>
            </a:r>
          </a:p>
          <a:p/>
          <a:p>
            <a:r>
              <a:rPr sz="1200" b="1"/>
              <a:t>ADDS TO</a:t>
            </a:r>
          </a:p>
          <a:p>
            <a:r>
              <a:rPr sz="1200" b="0"/>
              <a:t>Moss life cycle (23.2.30)</a:t>
            </a:r>
          </a:p>
          <a:p/>
          <a:p>
            <a:r>
              <a:rPr sz="1200" b="1"/>
              <a:t>EXAM FOCUS (Medium)</a:t>
            </a:r>
          </a:p>
          <a:p>
            <a:r>
              <a:rPr sz="1200" b="0"/>
              <a:t>Likely: Protonema = the first, thread-like stage of the moss gametophyte; the moss sporophyte = foot + stalk + capsule (sporangium) and stays attached to the gametophyte.</a:t>
            </a:r>
          </a:p>
          <a:p>
            <a:r>
              <a:rPr sz="1200" b="0"/>
              <a:t>Unlikely: Labels of each step.</a:t>
            </a:r>
          </a:p>
          <a:p>
            <a:r>
              <a:rPr sz="1200" b="0"/>
              <a:t>How: 'The thread-like first stage of a moss gametophyte is the...' -&gt; protonema. Trap: prothallus (the fern gametophyte), rhizoid, capsule.</a:t>
            </a:r>
          </a:p>
          <a:p>
            <a:r>
              <a:rPr sz="1200" b="0"/>
              <a:t>Write: Nothing here; it goes in the moss life-cycle box (23.2.30).</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a:t>NOT EXPLAINED ON ANY SLIDE</a:t>
            </a:r>
          </a:p>
          <a:p>
            <a:r>
              <a:rPr sz="1200" b="0"/>
              <a:t>• Pollen pore: an opening in the pollen grain's wall.</a:t>
            </a:r>
          </a:p>
          <a:p/>
          <a:p>
            <a:r>
              <a:rPr sz="1200" b="1"/>
              <a:t>NOT EXPLAINED YET</a:t>
            </a:r>
          </a:p>
          <a:p>
            <a:r>
              <a:rPr sz="1200" b="0"/>
              <a:t>• Flower parts: sepals, petals, stamens and carpels. (23.5.84)</a:t>
            </a:r>
          </a:p>
          <a:p>
            <a:r>
              <a:rPr sz="1200" b="0"/>
              <a:t>• Herbaceous vs woody: herbaceous plants have soft, green, non-woody stems; woody plants make wood, so their stems also grow thicker each year. (24.4.42)</a:t>
            </a:r>
          </a:p>
          <a:p>
            <a:r>
              <a:rPr sz="1200" b="0"/>
              <a:t>• Venation: the pattern of veins in a leaf: parallel (side by side, like grass) or net (branching, like a maple leaf). (24.2.24)</a:t>
            </a:r>
          </a:p>
          <a:p>
            <a:r>
              <a:rPr sz="1200" b="0"/>
              <a:t>• Vascular bundles: strands of xylem and phloem running through the stem. (24.4.38)</a:t>
            </a:r>
          </a:p>
          <a:p>
            <a:r>
              <a:rPr sz="1200" b="0"/>
              <a:t>• Taproot vs fibrous roots: a taproot is one thick main root growing straight down (like a carrot); a fibrous root system is many thin roots of similar size (like grass). (24.3.32)</a:t>
            </a:r>
          </a:p>
          <a:p/>
          <a:p>
            <a:r>
              <a:rPr sz="1200" b="1"/>
              <a:t>HOME NOTE</a:t>
            </a:r>
          </a:p>
          <a:p>
            <a:r>
              <a:rPr sz="1200" b="0"/>
              <a:t>• Monocots vs eudicots</a:t>
            </a:r>
          </a:p>
          <a:p>
            <a:r>
              <a:rPr sz="1200" b="0"/>
              <a:t>   Also write here:</a:t>
            </a:r>
          </a:p>
          <a:p>
            <a:r>
              <a:rPr sz="1200" b="0"/>
              <a:t>   – Monocots and Eudicots (23.5.80): Examples: monocots: corn, tulips, pineapples, sugarcane; eudicots: cacti, strawberries, dandelions, poplars, beans. Cotyledons are "seed leaves" that hold nutrients for the embryo.</a:t>
            </a:r>
          </a:p>
          <a:p/>
          <a:p>
            <a:r>
              <a:rPr sz="1200" b="1"/>
              <a:t>EXAM FOCUS (High)</a:t>
            </a:r>
          </a:p>
          <a:p>
            <a:r>
              <a:rPr sz="1200" b="0"/>
              <a:t>Likely:</a:t>
            </a:r>
          </a:p>
          <a:p>
            <a:r>
              <a:rPr sz="1200" b="0"/>
              <a:t>   • Cotyledons: 1 vs 2.</a:t>
            </a:r>
          </a:p>
          <a:p>
            <a:r>
              <a:rPr sz="1200" b="0"/>
              <a:t>   • Flower parts: in 3s vs in 4s or 5s.</a:t>
            </a:r>
          </a:p>
          <a:p>
            <a:r>
              <a:rPr sz="1200" b="0"/>
              <a:t>   • Pollen pores: 1 vs 3.</a:t>
            </a:r>
          </a:p>
          <a:p>
            <a:r>
              <a:rPr sz="1200" b="0"/>
              <a:t>   • Usually herbaceous vs woody or herbaceous.</a:t>
            </a:r>
          </a:p>
          <a:p>
            <a:r>
              <a:rPr sz="1200" b="0"/>
              <a:t>   • Leaf veins: parallel vs net.</a:t>
            </a:r>
          </a:p>
          <a:p>
            <a:r>
              <a:rPr sz="1200" b="0"/>
              <a:t>   • Stem vascular bundles: scattered vs in a ring.</a:t>
            </a:r>
          </a:p>
          <a:p>
            <a:r>
              <a:rPr sz="1200" b="0"/>
              <a:t>   • Roots: fibrous vs taproot.</a:t>
            </a:r>
          </a:p>
          <a:p>
            <a:r>
              <a:rPr sz="1200" b="0"/>
              <a:t>Unlikely: Nothing to skip; every point here is testable.</a:t>
            </a:r>
          </a:p>
          <a:p>
            <a:r>
              <a:rPr sz="1200" b="0"/>
              <a:t>How:</a:t>
            </a:r>
          </a:p>
          <a:p>
            <a:r>
              <a:rPr sz="1200" b="0"/>
              <a:t>   • 'A plant has net-veined leaves, flower parts in fives and a taproot. It is a...' -&gt; eudicot. Trap: choices that mix in monocot features.</a:t>
            </a:r>
          </a:p>
          <a:p>
            <a:r>
              <a:rPr sz="1200" b="0"/>
              <a:t>   • 'Vascular bundles scattered through the stem indicate a...' -&gt; monocot. Trap: eudicot (bundles in a ring).</a:t>
            </a:r>
          </a:p>
          <a:p>
            <a:r>
              <a:rPr sz="1200" b="0"/>
              <a:t>   • 'How many pores does a eudicot pollen grain have?' -&gt; three. Trap: one (monocots).</a:t>
            </a:r>
          </a:p>
          <a:p>
            <a:r>
              <a:rPr sz="1200" b="0"/>
              <a:t>Write: The full two-column table (monocot | eudicot) with the 7 rows above, plus the examples from 23.5.80; Ch 24 adds more rows.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COVER">
    <p:bg>
      <p:bgPr>
        <a:solidFill>
          <a:schemeClr val="bg1"/>
        </a:solidFill>
        <a:effectLst/>
      </p:bgPr>
    </p:bg>
    <p:spTree>
      <p:nvGrpSpPr>
        <p:cNvPr id="1" name=""/>
        <p:cNvGrpSpPr/>
        <p:nvPr/>
      </p:nvGrpSpPr>
      <p:grpSpPr>
        <a:xfrm>
          <a:off x="0" y="0"/>
          <a:ext cx="0" cy="0"/>
          <a:chOff x="0" y="0"/>
          <a:chExt cx="0" cy="0"/>
        </a:xfrm>
      </p:grpSpPr>
      <p:sp>
        <p:nvSpPr>
          <p:cNvPr id="7" name="Title"/>
          <p:cNvSpPr>
            <a:spLocks noGrp="1"/>
          </p:cNvSpPr>
          <p:nvPr>
            <p:ph type="ctrTitle" hasCustomPrompt="1"/>
          </p:nvPr>
        </p:nvSpPr>
        <p:spPr>
          <a:xfrm>
            <a:off x="4572000" y="1348470"/>
            <a:ext cx="4572000" cy="1320966"/>
          </a:xfrm>
          <a:prstGeom prst="rect">
            <a:avLst/>
          </a:prstGeom>
          <a:solidFill>
            <a:schemeClr val="bg1">
              <a:alpha val="0"/>
            </a:schemeClr>
          </a:solidFill>
        </p:spPr>
        <p:txBody>
          <a:bodyPr anchor="ctr">
            <a:noAutofit/>
          </a:bodyPr>
          <a:lstStyle>
            <a:lvl1pPr algn="ctr">
              <a:lnSpc>
                <a:spcPct val="100000"/>
              </a:lnSpc>
              <a:defRPr sz="4000" b="1" i="1">
                <a:solidFill>
                  <a:srgbClr val="DB0F0F"/>
                </a:solidFill>
                <a:latin typeface="Arial (Headings)"/>
                <a:cs typeface="Calibri" panose="020F0502020204030204" pitchFamily="34" charset="0"/>
              </a:defRPr>
            </a:lvl1pPr>
          </a:lstStyle>
          <a:p>
            <a:r>
              <a:rPr lang="en-US" dirty="0"/>
              <a:t>Chapter Title</a:t>
            </a:r>
          </a:p>
        </p:txBody>
      </p:sp>
      <p:sp>
        <p:nvSpPr>
          <p:cNvPr id="8" name="Subtitle" hidden="1"/>
          <p:cNvSpPr>
            <a:spLocks noGrp="1"/>
          </p:cNvSpPr>
          <p:nvPr>
            <p:ph type="subTitle" idx="1" hasCustomPrompt="1"/>
          </p:nvPr>
        </p:nvSpPr>
        <p:spPr>
          <a:xfrm>
            <a:off x="3242733" y="2133600"/>
            <a:ext cx="5748866" cy="1011381"/>
          </a:xfrm>
          <a:prstGeom prst="rect">
            <a:avLst/>
          </a:prstGeom>
          <a:solidFill>
            <a:schemeClr val="bg1">
              <a:alpha val="0"/>
            </a:schemeClr>
          </a:solidFill>
        </p:spPr>
        <p:txBody>
          <a:bodyPr anchor="ctr"/>
          <a:lstStyle>
            <a:lvl1pPr marL="0" indent="0" algn="ctr" defTabSz="914400" rtl="0" eaLnBrk="1" latinLnBrk="0" hangingPunct="1">
              <a:lnSpc>
                <a:spcPct val="100000"/>
              </a:lnSpc>
              <a:spcBef>
                <a:spcPct val="0"/>
              </a:spcBef>
              <a:buNone/>
              <a:defRPr lang="en-US" sz="5400" b="1" kern="1200" dirty="0">
                <a:solidFill>
                  <a:schemeClr val="bg1"/>
                </a:solidFill>
                <a:effectLst>
                  <a:outerShdw blurRad="38100" dist="38100" dir="2700000" algn="ctr" rotWithShape="0">
                    <a:schemeClr val="tx1"/>
                  </a:outerShdw>
                </a:effectLst>
                <a:latin typeface="Calibri (Headings)"/>
                <a:ea typeface="+mj-ea"/>
                <a:cs typeface="+mj-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Chapter Subtitle</a:t>
            </a:r>
          </a:p>
        </p:txBody>
      </p:sp>
      <p:sp>
        <p:nvSpPr>
          <p:cNvPr id="3" name="Content Placeholder 2">
            <a:extLst>
              <a:ext uri="{FF2B5EF4-FFF2-40B4-BE49-F238E27FC236}">
                <a16:creationId xmlns:a16="http://schemas.microsoft.com/office/drawing/2014/main" id="{5A006BF3-2CB8-4BD4-9ACF-A1517A92D517}"/>
              </a:ext>
            </a:extLst>
          </p:cNvPr>
          <p:cNvSpPr>
            <a:spLocks noGrp="1"/>
          </p:cNvSpPr>
          <p:nvPr>
            <p:ph sz="quarter" idx="11" hasCustomPrompt="1"/>
          </p:nvPr>
        </p:nvSpPr>
        <p:spPr>
          <a:xfrm>
            <a:off x="4572000" y="2757640"/>
            <a:ext cx="4572000" cy="622300"/>
          </a:xfrm>
          <a:prstGeom prst="rect">
            <a:avLst/>
          </a:prstGeom>
        </p:spPr>
        <p:txBody>
          <a:bodyPr anchor="ctr"/>
          <a:lstStyle>
            <a:lvl1pPr algn="ctr">
              <a:defRPr sz="1800" b="1">
                <a:latin typeface="Arial (Headings)"/>
              </a:defRPr>
            </a:lvl1pPr>
          </a:lstStyle>
          <a:p>
            <a:pPr lvl="0"/>
            <a:r>
              <a:rPr lang="en-US" dirty="0"/>
              <a:t>Content </a:t>
            </a:r>
            <a:r>
              <a:rPr lang="en-US" dirty="0" err="1"/>
              <a:t>placehlder</a:t>
            </a:r>
            <a:r>
              <a:rPr lang="en-US" dirty="0"/>
              <a:t> 1</a:t>
            </a:r>
          </a:p>
        </p:txBody>
      </p:sp>
      <p:sp>
        <p:nvSpPr>
          <p:cNvPr id="5" name="Content Placeholder 4">
            <a:extLst>
              <a:ext uri="{FF2B5EF4-FFF2-40B4-BE49-F238E27FC236}">
                <a16:creationId xmlns:a16="http://schemas.microsoft.com/office/drawing/2014/main" id="{72BFCBE2-A216-47C6-9214-A3955A557166}"/>
              </a:ext>
            </a:extLst>
          </p:cNvPr>
          <p:cNvSpPr>
            <a:spLocks noGrp="1"/>
          </p:cNvSpPr>
          <p:nvPr>
            <p:ph sz="quarter" idx="12" hasCustomPrompt="1"/>
          </p:nvPr>
        </p:nvSpPr>
        <p:spPr>
          <a:xfrm>
            <a:off x="4572000" y="3791102"/>
            <a:ext cx="4572000" cy="961001"/>
          </a:xfrm>
          <a:prstGeom prst="rect">
            <a:avLst/>
          </a:prstGeom>
        </p:spPr>
        <p:txBody>
          <a:bodyPr anchor="t"/>
          <a:lstStyle>
            <a:lvl1pPr algn="ctr">
              <a:defRPr sz="2800">
                <a:latin typeface="Arial (Headings)"/>
              </a:defRPr>
            </a:lvl1pPr>
          </a:lstStyle>
          <a:p>
            <a:pPr lvl="0"/>
            <a:r>
              <a:rPr lang="en-US" dirty="0"/>
              <a:t>Content </a:t>
            </a:r>
            <a:r>
              <a:rPr lang="en-US" dirty="0" err="1"/>
              <a:t>placehlder</a:t>
            </a:r>
            <a:r>
              <a:rPr lang="en-US" dirty="0"/>
              <a:t> 2</a:t>
            </a:r>
          </a:p>
        </p:txBody>
      </p:sp>
      <p:sp>
        <p:nvSpPr>
          <p:cNvPr id="15" name="Content Placeholder 14">
            <a:extLst>
              <a:ext uri="{FF2B5EF4-FFF2-40B4-BE49-F238E27FC236}">
                <a16:creationId xmlns:a16="http://schemas.microsoft.com/office/drawing/2014/main" id="{93627D8A-B3C5-4BF6-B433-D9B26D347CC0}"/>
              </a:ext>
            </a:extLst>
          </p:cNvPr>
          <p:cNvSpPr>
            <a:spLocks noGrp="1"/>
          </p:cNvSpPr>
          <p:nvPr>
            <p:ph sz="quarter" idx="13" hasCustomPrompt="1"/>
          </p:nvPr>
        </p:nvSpPr>
        <p:spPr>
          <a:xfrm>
            <a:off x="4572000" y="4932068"/>
            <a:ext cx="4572000" cy="663575"/>
          </a:xfrm>
          <a:prstGeom prst="rect">
            <a:avLst/>
          </a:prstGeom>
        </p:spPr>
        <p:txBody>
          <a:bodyPr/>
          <a:lstStyle>
            <a:lvl1pPr algn="ctr">
              <a:defRPr b="1"/>
            </a:lvl1pPr>
          </a:lstStyle>
          <a:p>
            <a:pPr lvl="0"/>
            <a:r>
              <a:rPr lang="en-US" dirty="0"/>
              <a:t>Content placeholder 3</a:t>
            </a:r>
          </a:p>
        </p:txBody>
      </p:sp>
      <p:sp>
        <p:nvSpPr>
          <p:cNvPr id="14" name="Slide Number Placeholder" hidden="1">
            <a:extLst>
              <a:ext uri="{FF2B5EF4-FFF2-40B4-BE49-F238E27FC236}">
                <a16:creationId xmlns:a16="http://schemas.microsoft.com/office/drawing/2014/main" id="{5C691E31-1A94-439E-8E83-DB872CC124C4}"/>
              </a:ext>
            </a:extLst>
          </p:cNvPr>
          <p:cNvSpPr>
            <a:spLocks noGrp="1"/>
          </p:cNvSpPr>
          <p:nvPr>
            <p:ph type="sldNum" sz="quarter" idx="4"/>
          </p:nvPr>
        </p:nvSpPr>
        <p:spPr>
          <a:xfrm>
            <a:off x="8444542" y="6194459"/>
            <a:ext cx="461703" cy="279400"/>
          </a:xfrm>
          <a:prstGeom prst="rect">
            <a:avLst/>
          </a:prstGeom>
        </p:spPr>
        <p:txBody>
          <a:bodyPr vert="horz" lIns="45720" tIns="45720" rIns="45720" bIns="45720" rtlCol="0" anchor="ctr"/>
          <a:lstStyle>
            <a:lvl1pPr algn="r">
              <a:defRPr sz="10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sz="1000" dirty="0"/>
          </a:p>
        </p:txBody>
      </p:sp>
    </p:spTree>
    <p:extLst>
      <p:ext uri="{BB962C8B-B14F-4D97-AF65-F5344CB8AC3E}">
        <p14:creationId xmlns:p14="http://schemas.microsoft.com/office/powerpoint/2010/main" val="1795482773"/>
      </p:ext>
    </p:extLst>
  </p:cSld>
  <p:clrMapOvr>
    <a:masterClrMapping/>
  </p:clrMapOvr>
  <p:extLst>
    <p:ext uri="{DCECCB84-F9BA-43D5-87BE-67443E8EF086}">
      <p15:sldGuideLst xmlns:p15="http://schemas.microsoft.com/office/powerpoint/2012/main">
        <p15:guide id="1" orient="horz" pos="1320">
          <p15:clr>
            <a:srgbClr val="FBAE40"/>
          </p15:clr>
        </p15:guide>
        <p15:guide id="2" orient="horz" pos="3768">
          <p15:clr>
            <a:srgbClr val="FBAE40"/>
          </p15:clr>
        </p15:guide>
        <p15:guide id="3" pos="2664">
          <p15:clr>
            <a:srgbClr val="FBAE40"/>
          </p15:clr>
        </p15:guide>
        <p15:guide id="4" pos="2880">
          <p15:clr>
            <a:srgbClr val="FBAE40"/>
          </p15:clr>
        </p15:guide>
        <p15:guide id="5" pos="2472">
          <p15:clr>
            <a:srgbClr val="FBAE40"/>
          </p15:clr>
        </p15:guide>
        <p15:guide id="6" pos="312">
          <p15:clr>
            <a:srgbClr val="FBAE40"/>
          </p15:clr>
        </p15:guide>
        <p15:guide id="7" orient="horz" pos="1488">
          <p15:clr>
            <a:srgbClr val="FBAE40"/>
          </p15:clr>
        </p15:guide>
        <p15:guide id="8" orient="horz" pos="367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8F9AD23-695F-4808-8E99-6281554D0F77}" type="slidenum">
              <a:rPr lang="en-IN" smtClean="0"/>
              <a:t>‹#›</a:t>
            </a:fld>
            <a:endParaRPr lang="en-IN"/>
          </a:p>
        </p:txBody>
      </p:sp>
    </p:spTree>
    <p:extLst>
      <p:ext uri="{BB962C8B-B14F-4D97-AF65-F5344CB8AC3E}">
        <p14:creationId xmlns:p14="http://schemas.microsoft.com/office/powerpoint/2010/main" val="11096006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odyText_1">
    <p:bg>
      <p:bgPr>
        <a:solidFill>
          <a:schemeClr val="bg1"/>
        </a:solidFill>
        <a:effectLst/>
      </p:bgPr>
    </p:bg>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
            <a:ext cx="9144000" cy="948213"/>
          </a:xfrm>
          <a:prstGeom prst="rect">
            <a:avLst/>
          </a:prstGeom>
        </p:spPr>
        <p:txBody>
          <a:bodyPr anchor="ctr">
            <a:noAutofit/>
          </a:bodyPr>
          <a:lstStyle>
            <a:lvl1pPr algn="ctr" defTabSz="914400" rtl="0" eaLnBrk="1" latinLnBrk="0" hangingPunct="1">
              <a:spcBef>
                <a:spcPct val="0"/>
              </a:spcBef>
              <a:buNone/>
              <a:defRPr lang="en-US" sz="4000" b="1" kern="1200" dirty="0">
                <a:solidFill>
                  <a:srgbClr val="242852"/>
                </a:solidFill>
                <a:latin typeface="Arial (Headings)"/>
                <a:ea typeface="+mn-ea"/>
                <a:cs typeface="Calibri" panose="020F0502020204030204" pitchFamily="34" charset="0"/>
              </a:defRPr>
            </a:lvl1pPr>
          </a:lstStyle>
          <a:p>
            <a:r>
              <a:rPr lang="en-US" dirty="0"/>
              <a:t>Slide Title</a:t>
            </a:r>
          </a:p>
        </p:txBody>
      </p:sp>
      <p:sp>
        <p:nvSpPr>
          <p:cNvPr id="23" name="Long Description Link 22">
            <a:extLst>
              <a:ext uri="{FF2B5EF4-FFF2-40B4-BE49-F238E27FC236}">
                <a16:creationId xmlns:a16="http://schemas.microsoft.com/office/drawing/2014/main" id="{BD42A2ED-50EC-4CB6-89B9-F2440BE97967}"/>
              </a:ext>
            </a:extLst>
          </p:cNvPr>
          <p:cNvSpPr>
            <a:spLocks noGrp="1"/>
          </p:cNvSpPr>
          <p:nvPr>
            <p:ph type="body" sz="quarter" idx="18" hasCustomPrompt="1"/>
          </p:nvPr>
        </p:nvSpPr>
        <p:spPr>
          <a:xfrm>
            <a:off x="521259" y="6193594"/>
            <a:ext cx="8101481" cy="314325"/>
          </a:xfrm>
        </p:spPr>
        <p:txBody>
          <a:bodyPr anchor="ctr">
            <a:normAutofit/>
          </a:bodyPr>
          <a:lstStyle>
            <a:lvl1pPr algn="ctr">
              <a:defRPr sz="900">
                <a:latin typeface="Arial (Body)"/>
              </a:defRPr>
            </a:lvl1pPr>
          </a:lstStyle>
          <a:p>
            <a:pPr lvl="0"/>
            <a:r>
              <a:rPr lang="en-US" dirty="0"/>
              <a:t>Add text alternative link, if needed.</a:t>
            </a:r>
          </a:p>
        </p:txBody>
      </p:sp>
      <p:sp>
        <p:nvSpPr>
          <p:cNvPr id="16" name="Slide Number Placeholder">
            <a:extLst>
              <a:ext uri="{FF2B5EF4-FFF2-40B4-BE49-F238E27FC236}">
                <a16:creationId xmlns:a16="http://schemas.microsoft.com/office/drawing/2014/main" id="{C6E0F058-6A14-4C7D-AB8C-89C8AB1FC88F}"/>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
        <p:nvSpPr>
          <p:cNvPr id="4" name="Text Placeholder 3">
            <a:extLst>
              <a:ext uri="{FF2B5EF4-FFF2-40B4-BE49-F238E27FC236}">
                <a16:creationId xmlns:a16="http://schemas.microsoft.com/office/drawing/2014/main" id="{304C6754-5194-4521-8F81-6A363B045779}"/>
              </a:ext>
            </a:extLst>
          </p:cNvPr>
          <p:cNvSpPr>
            <a:spLocks noGrp="1"/>
          </p:cNvSpPr>
          <p:nvPr>
            <p:ph type="body" sz="quarter" idx="19"/>
          </p:nvPr>
        </p:nvSpPr>
        <p:spPr>
          <a:xfrm>
            <a:off x="842963" y="1177180"/>
            <a:ext cx="762367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8" name="Text Placeholder 3">
            <a:extLst>
              <a:ext uri="{FF2B5EF4-FFF2-40B4-BE49-F238E27FC236}">
                <a16:creationId xmlns:a16="http://schemas.microsoft.com/office/drawing/2014/main" id="{65F38756-9587-4F47-AAF7-1F04C911367E}"/>
              </a:ext>
            </a:extLst>
          </p:cNvPr>
          <p:cNvSpPr>
            <a:spLocks noGrp="1"/>
          </p:cNvSpPr>
          <p:nvPr>
            <p:ph type="body" sz="quarter" idx="21" hasCustomPrompt="1"/>
          </p:nvPr>
        </p:nvSpPr>
        <p:spPr>
          <a:xfrm>
            <a:off x="520698" y="6563439"/>
            <a:ext cx="8101482" cy="191493"/>
          </a:xfrm>
        </p:spPr>
        <p:txBody>
          <a:bodyPr>
            <a:noAutofit/>
          </a:bodyPr>
          <a:lstStyle>
            <a:lvl1pPr algn="r">
              <a:defRPr sz="700">
                <a:latin typeface="Arial (Body)"/>
              </a:defRPr>
            </a:lvl1pPr>
          </a:lstStyle>
          <a:p>
            <a:pPr lvl="0"/>
            <a:r>
              <a:rPr lang="en-US" dirty="0"/>
              <a:t>Image credit</a:t>
            </a:r>
          </a:p>
        </p:txBody>
      </p:sp>
    </p:spTree>
    <p:extLst>
      <p:ext uri="{BB962C8B-B14F-4D97-AF65-F5344CB8AC3E}">
        <p14:creationId xmlns:p14="http://schemas.microsoft.com/office/powerpoint/2010/main" val="158096288"/>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BodyText_1">
    <p:bg>
      <p:bgPr>
        <a:solidFill>
          <a:schemeClr val="bg1"/>
        </a:solidFill>
        <a:effectLst/>
      </p:bgPr>
    </p:bg>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
            <a:ext cx="9144000" cy="948213"/>
          </a:xfrm>
          <a:prstGeom prst="rect">
            <a:avLst/>
          </a:prstGeom>
        </p:spPr>
        <p:txBody>
          <a:bodyPr anchor="ctr">
            <a:noAutofit/>
          </a:bodyPr>
          <a:lstStyle>
            <a:lvl1pPr algn="ctr" defTabSz="914400" rtl="0" eaLnBrk="1" latinLnBrk="0" hangingPunct="1">
              <a:spcBef>
                <a:spcPct val="0"/>
              </a:spcBef>
              <a:buNone/>
              <a:defRPr lang="en-US" sz="4000" b="1" kern="1200" dirty="0">
                <a:solidFill>
                  <a:srgbClr val="242852"/>
                </a:solidFill>
                <a:latin typeface="Arial (Headings)"/>
                <a:ea typeface="+mn-ea"/>
                <a:cs typeface="Calibri" panose="020F0502020204030204" pitchFamily="34" charset="0"/>
              </a:defRPr>
            </a:lvl1pPr>
          </a:lstStyle>
          <a:p>
            <a:r>
              <a:rPr lang="en-US" dirty="0"/>
              <a:t>Slide Title</a:t>
            </a:r>
          </a:p>
        </p:txBody>
      </p:sp>
      <p:sp>
        <p:nvSpPr>
          <p:cNvPr id="4" name="Text Placeholder 2">
            <a:extLst>
              <a:ext uri="{FF2B5EF4-FFF2-40B4-BE49-F238E27FC236}">
                <a16:creationId xmlns:a16="http://schemas.microsoft.com/office/drawing/2014/main" id="{304C6754-5194-4521-8F81-6A363B045779}"/>
              </a:ext>
            </a:extLst>
          </p:cNvPr>
          <p:cNvSpPr>
            <a:spLocks noGrp="1"/>
          </p:cNvSpPr>
          <p:nvPr>
            <p:ph type="body" sz="quarter" idx="19"/>
          </p:nvPr>
        </p:nvSpPr>
        <p:spPr>
          <a:xfrm>
            <a:off x="842963" y="1177180"/>
            <a:ext cx="762367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6" name="Slide Number Placeholder">
            <a:extLst>
              <a:ext uri="{FF2B5EF4-FFF2-40B4-BE49-F238E27FC236}">
                <a16:creationId xmlns:a16="http://schemas.microsoft.com/office/drawing/2014/main" id="{C6E0F058-6A14-4C7D-AB8C-89C8AB1FC88F}"/>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2792942763"/>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odyText_1">
    <p:bg>
      <p:bgPr>
        <a:solidFill>
          <a:schemeClr val="bg1"/>
        </a:solidFill>
        <a:effectLst/>
      </p:bgPr>
    </p:bg>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
            <a:ext cx="9144000" cy="948213"/>
          </a:xfrm>
          <a:prstGeom prst="rect">
            <a:avLst/>
          </a:prstGeom>
        </p:spPr>
        <p:txBody>
          <a:bodyPr anchor="ctr">
            <a:noAutofit/>
          </a:bodyPr>
          <a:lstStyle>
            <a:lvl1pPr algn="ctr" defTabSz="914400" rtl="0" eaLnBrk="1" latinLnBrk="0" hangingPunct="1">
              <a:spcBef>
                <a:spcPct val="0"/>
              </a:spcBef>
              <a:buNone/>
              <a:defRPr lang="en-US" sz="4000" b="1" kern="1200" dirty="0">
                <a:solidFill>
                  <a:srgbClr val="242852"/>
                </a:solidFill>
                <a:latin typeface="Arial (Headings)"/>
                <a:ea typeface="+mn-ea"/>
                <a:cs typeface="Calibri" panose="020F0502020204030204" pitchFamily="34" charset="0"/>
              </a:defRPr>
            </a:lvl1pPr>
          </a:lstStyle>
          <a:p>
            <a:r>
              <a:rPr lang="en-US" dirty="0"/>
              <a:t>Slide Title</a:t>
            </a:r>
          </a:p>
        </p:txBody>
      </p:sp>
      <p:sp>
        <p:nvSpPr>
          <p:cNvPr id="23" name="Long Description Link 22">
            <a:extLst>
              <a:ext uri="{FF2B5EF4-FFF2-40B4-BE49-F238E27FC236}">
                <a16:creationId xmlns:a16="http://schemas.microsoft.com/office/drawing/2014/main" id="{BD42A2ED-50EC-4CB6-89B9-F2440BE97967}"/>
              </a:ext>
            </a:extLst>
          </p:cNvPr>
          <p:cNvSpPr>
            <a:spLocks noGrp="1"/>
          </p:cNvSpPr>
          <p:nvPr>
            <p:ph type="body" sz="quarter" idx="18" hasCustomPrompt="1"/>
          </p:nvPr>
        </p:nvSpPr>
        <p:spPr>
          <a:xfrm>
            <a:off x="521259" y="6193594"/>
            <a:ext cx="8101481" cy="314325"/>
          </a:xfrm>
        </p:spPr>
        <p:txBody>
          <a:bodyPr anchor="ctr">
            <a:normAutofit/>
          </a:bodyPr>
          <a:lstStyle>
            <a:lvl1pPr algn="ctr">
              <a:defRPr sz="900">
                <a:latin typeface="Arial (Body)"/>
              </a:defRPr>
            </a:lvl1pPr>
          </a:lstStyle>
          <a:p>
            <a:pPr lvl="0"/>
            <a:r>
              <a:rPr lang="en-US" dirty="0"/>
              <a:t>Add text alternative link, if needed.</a:t>
            </a:r>
          </a:p>
        </p:txBody>
      </p:sp>
      <p:sp>
        <p:nvSpPr>
          <p:cNvPr id="16" name="Slide Number Placeholder">
            <a:extLst>
              <a:ext uri="{FF2B5EF4-FFF2-40B4-BE49-F238E27FC236}">
                <a16:creationId xmlns:a16="http://schemas.microsoft.com/office/drawing/2014/main" id="{C6E0F058-6A14-4C7D-AB8C-89C8AB1FC88F}"/>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
        <p:nvSpPr>
          <p:cNvPr id="4" name="Text Placeholder 3">
            <a:extLst>
              <a:ext uri="{FF2B5EF4-FFF2-40B4-BE49-F238E27FC236}">
                <a16:creationId xmlns:a16="http://schemas.microsoft.com/office/drawing/2014/main" id="{304C6754-5194-4521-8F81-6A363B045779}"/>
              </a:ext>
            </a:extLst>
          </p:cNvPr>
          <p:cNvSpPr>
            <a:spLocks noGrp="1"/>
          </p:cNvSpPr>
          <p:nvPr>
            <p:ph type="body" sz="quarter" idx="19"/>
          </p:nvPr>
        </p:nvSpPr>
        <p:spPr>
          <a:xfrm>
            <a:off x="842963" y="1177180"/>
            <a:ext cx="762367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Text Placeholder 6">
            <a:extLst>
              <a:ext uri="{FF2B5EF4-FFF2-40B4-BE49-F238E27FC236}">
                <a16:creationId xmlns:a16="http://schemas.microsoft.com/office/drawing/2014/main" id="{32A6A4AB-91A1-4299-9C52-11E0C402AF08}"/>
              </a:ext>
            </a:extLst>
          </p:cNvPr>
          <p:cNvSpPr>
            <a:spLocks noGrp="1"/>
          </p:cNvSpPr>
          <p:nvPr>
            <p:ph type="body" sz="quarter" idx="20"/>
          </p:nvPr>
        </p:nvSpPr>
        <p:spPr>
          <a:xfrm>
            <a:off x="950913" y="3429000"/>
            <a:ext cx="751572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8" name="Text Placeholder 3">
            <a:extLst>
              <a:ext uri="{FF2B5EF4-FFF2-40B4-BE49-F238E27FC236}">
                <a16:creationId xmlns:a16="http://schemas.microsoft.com/office/drawing/2014/main" id="{6C2A9141-206E-4D7B-A0C1-70BA6703B6EB}"/>
              </a:ext>
            </a:extLst>
          </p:cNvPr>
          <p:cNvSpPr>
            <a:spLocks noGrp="1"/>
          </p:cNvSpPr>
          <p:nvPr>
            <p:ph type="body" sz="quarter" idx="21" hasCustomPrompt="1"/>
          </p:nvPr>
        </p:nvSpPr>
        <p:spPr>
          <a:xfrm>
            <a:off x="520698" y="6563439"/>
            <a:ext cx="8101482" cy="191493"/>
          </a:xfrm>
        </p:spPr>
        <p:txBody>
          <a:bodyPr>
            <a:noAutofit/>
          </a:bodyPr>
          <a:lstStyle>
            <a:lvl1pPr algn="r">
              <a:defRPr sz="700">
                <a:latin typeface="Arial (Body)"/>
              </a:defRPr>
            </a:lvl1pPr>
          </a:lstStyle>
          <a:p>
            <a:pPr lvl="0"/>
            <a:r>
              <a:rPr lang="en-US" dirty="0"/>
              <a:t>Image credit</a:t>
            </a:r>
          </a:p>
        </p:txBody>
      </p:sp>
    </p:spTree>
    <p:extLst>
      <p:ext uri="{BB962C8B-B14F-4D97-AF65-F5344CB8AC3E}">
        <p14:creationId xmlns:p14="http://schemas.microsoft.com/office/powerpoint/2010/main" val="3877095139"/>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BodyText_1">
    <p:bg>
      <p:bgPr>
        <a:solidFill>
          <a:schemeClr val="bg1"/>
        </a:solidFill>
        <a:effectLst/>
      </p:bgPr>
    </p:bg>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
            <a:ext cx="9144000" cy="948213"/>
          </a:xfrm>
          <a:prstGeom prst="rect">
            <a:avLst/>
          </a:prstGeom>
        </p:spPr>
        <p:txBody>
          <a:bodyPr anchor="ctr">
            <a:noAutofit/>
          </a:bodyPr>
          <a:lstStyle>
            <a:lvl1pPr algn="ctr" defTabSz="914400" rtl="0" eaLnBrk="1" latinLnBrk="0" hangingPunct="1">
              <a:spcBef>
                <a:spcPct val="0"/>
              </a:spcBef>
              <a:buNone/>
              <a:defRPr lang="en-US" sz="4000" b="1" kern="1200" dirty="0">
                <a:solidFill>
                  <a:srgbClr val="242852"/>
                </a:solidFill>
                <a:latin typeface="Arial (Headings)"/>
                <a:ea typeface="+mn-ea"/>
                <a:cs typeface="Calibri" panose="020F0502020204030204" pitchFamily="34" charset="0"/>
              </a:defRPr>
            </a:lvl1pPr>
          </a:lstStyle>
          <a:p>
            <a:r>
              <a:rPr lang="en-US" dirty="0"/>
              <a:t>Slide Title</a:t>
            </a:r>
          </a:p>
        </p:txBody>
      </p:sp>
      <p:sp>
        <p:nvSpPr>
          <p:cNvPr id="4" name="Text Placeholder 2">
            <a:extLst>
              <a:ext uri="{FF2B5EF4-FFF2-40B4-BE49-F238E27FC236}">
                <a16:creationId xmlns:a16="http://schemas.microsoft.com/office/drawing/2014/main" id="{304C6754-5194-4521-8F81-6A363B045779}"/>
              </a:ext>
            </a:extLst>
          </p:cNvPr>
          <p:cNvSpPr>
            <a:spLocks noGrp="1"/>
          </p:cNvSpPr>
          <p:nvPr>
            <p:ph type="body" sz="quarter" idx="19"/>
          </p:nvPr>
        </p:nvSpPr>
        <p:spPr>
          <a:xfrm>
            <a:off x="842963" y="1177180"/>
            <a:ext cx="762367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Text Placeholder 3">
            <a:extLst>
              <a:ext uri="{FF2B5EF4-FFF2-40B4-BE49-F238E27FC236}">
                <a16:creationId xmlns:a16="http://schemas.microsoft.com/office/drawing/2014/main" id="{32A6A4AB-91A1-4299-9C52-11E0C402AF08}"/>
              </a:ext>
            </a:extLst>
          </p:cNvPr>
          <p:cNvSpPr>
            <a:spLocks noGrp="1"/>
          </p:cNvSpPr>
          <p:nvPr>
            <p:ph type="body" sz="quarter" idx="20"/>
          </p:nvPr>
        </p:nvSpPr>
        <p:spPr>
          <a:xfrm>
            <a:off x="950913" y="3429000"/>
            <a:ext cx="751572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6" name="Slide Number Placeholder">
            <a:extLst>
              <a:ext uri="{FF2B5EF4-FFF2-40B4-BE49-F238E27FC236}">
                <a16:creationId xmlns:a16="http://schemas.microsoft.com/office/drawing/2014/main" id="{C6E0F058-6A14-4C7D-AB8C-89C8AB1FC88F}"/>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3144005547"/>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BodyText_1">
    <p:bg>
      <p:bgPr>
        <a:solidFill>
          <a:schemeClr val="bg1"/>
        </a:solidFill>
        <a:effectLst/>
      </p:bgPr>
    </p:bg>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
            <a:ext cx="9144000" cy="948213"/>
          </a:xfrm>
          <a:prstGeom prst="rect">
            <a:avLst/>
          </a:prstGeom>
        </p:spPr>
        <p:txBody>
          <a:bodyPr anchor="ctr">
            <a:noAutofit/>
          </a:bodyPr>
          <a:lstStyle>
            <a:lvl1pPr algn="ctr" defTabSz="914400" rtl="0" eaLnBrk="1" latinLnBrk="0" hangingPunct="1">
              <a:spcBef>
                <a:spcPct val="0"/>
              </a:spcBef>
              <a:buNone/>
              <a:defRPr lang="en-US" sz="4000" b="1" kern="1200" dirty="0">
                <a:solidFill>
                  <a:srgbClr val="242852"/>
                </a:solidFill>
                <a:latin typeface="Arial (Headings)"/>
                <a:ea typeface="+mn-ea"/>
                <a:cs typeface="Calibri" panose="020F0502020204030204" pitchFamily="34" charset="0"/>
              </a:defRPr>
            </a:lvl1pPr>
          </a:lstStyle>
          <a:p>
            <a:r>
              <a:rPr lang="en-US" dirty="0"/>
              <a:t>Slide Title</a:t>
            </a:r>
          </a:p>
        </p:txBody>
      </p:sp>
      <p:sp>
        <p:nvSpPr>
          <p:cNvPr id="23" name="Long Description Link 22">
            <a:extLst>
              <a:ext uri="{FF2B5EF4-FFF2-40B4-BE49-F238E27FC236}">
                <a16:creationId xmlns:a16="http://schemas.microsoft.com/office/drawing/2014/main" id="{BD42A2ED-50EC-4CB6-89B9-F2440BE97967}"/>
              </a:ext>
            </a:extLst>
          </p:cNvPr>
          <p:cNvSpPr>
            <a:spLocks noGrp="1"/>
          </p:cNvSpPr>
          <p:nvPr>
            <p:ph type="body" sz="quarter" idx="18" hasCustomPrompt="1"/>
          </p:nvPr>
        </p:nvSpPr>
        <p:spPr>
          <a:xfrm>
            <a:off x="521259" y="6193594"/>
            <a:ext cx="8101481" cy="314325"/>
          </a:xfrm>
        </p:spPr>
        <p:txBody>
          <a:bodyPr anchor="ctr">
            <a:normAutofit/>
          </a:bodyPr>
          <a:lstStyle>
            <a:lvl1pPr algn="ctr">
              <a:defRPr sz="900">
                <a:latin typeface="Arial (Body)"/>
              </a:defRPr>
            </a:lvl1pPr>
          </a:lstStyle>
          <a:p>
            <a:pPr lvl="0"/>
            <a:r>
              <a:rPr lang="en-US" dirty="0"/>
              <a:t>Add text alternative link, if needed.</a:t>
            </a:r>
          </a:p>
        </p:txBody>
      </p:sp>
      <p:sp>
        <p:nvSpPr>
          <p:cNvPr id="16" name="Slide Number Placeholder">
            <a:extLst>
              <a:ext uri="{FF2B5EF4-FFF2-40B4-BE49-F238E27FC236}">
                <a16:creationId xmlns:a16="http://schemas.microsoft.com/office/drawing/2014/main" id="{C6E0F058-6A14-4C7D-AB8C-89C8AB1FC88F}"/>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
        <p:nvSpPr>
          <p:cNvPr id="4" name="Text Placeholder 3">
            <a:extLst>
              <a:ext uri="{FF2B5EF4-FFF2-40B4-BE49-F238E27FC236}">
                <a16:creationId xmlns:a16="http://schemas.microsoft.com/office/drawing/2014/main" id="{304C6754-5194-4521-8F81-6A363B045779}"/>
              </a:ext>
            </a:extLst>
          </p:cNvPr>
          <p:cNvSpPr>
            <a:spLocks noGrp="1"/>
          </p:cNvSpPr>
          <p:nvPr>
            <p:ph type="body" sz="quarter" idx="19"/>
          </p:nvPr>
        </p:nvSpPr>
        <p:spPr>
          <a:xfrm>
            <a:off x="842963" y="1177180"/>
            <a:ext cx="762367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Text Placeholder 6">
            <a:extLst>
              <a:ext uri="{FF2B5EF4-FFF2-40B4-BE49-F238E27FC236}">
                <a16:creationId xmlns:a16="http://schemas.microsoft.com/office/drawing/2014/main" id="{32A6A4AB-91A1-4299-9C52-11E0C402AF08}"/>
              </a:ext>
            </a:extLst>
          </p:cNvPr>
          <p:cNvSpPr>
            <a:spLocks noGrp="1"/>
          </p:cNvSpPr>
          <p:nvPr>
            <p:ph type="body" sz="quarter" idx="20"/>
          </p:nvPr>
        </p:nvSpPr>
        <p:spPr>
          <a:xfrm>
            <a:off x="950913" y="3324439"/>
            <a:ext cx="751572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8" name="Text Placeholder 6">
            <a:extLst>
              <a:ext uri="{FF2B5EF4-FFF2-40B4-BE49-F238E27FC236}">
                <a16:creationId xmlns:a16="http://schemas.microsoft.com/office/drawing/2014/main" id="{14F7A605-44D5-45ED-BFD6-E58353F97E4F}"/>
              </a:ext>
            </a:extLst>
          </p:cNvPr>
          <p:cNvSpPr>
            <a:spLocks noGrp="1"/>
          </p:cNvSpPr>
          <p:nvPr>
            <p:ph type="body" sz="quarter" idx="21"/>
          </p:nvPr>
        </p:nvSpPr>
        <p:spPr>
          <a:xfrm>
            <a:off x="950913" y="4371939"/>
            <a:ext cx="751572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Text Placeholder 6">
            <a:extLst>
              <a:ext uri="{FF2B5EF4-FFF2-40B4-BE49-F238E27FC236}">
                <a16:creationId xmlns:a16="http://schemas.microsoft.com/office/drawing/2014/main" id="{D57AE75C-9DC5-469E-8EA6-7C610556BF0A}"/>
              </a:ext>
            </a:extLst>
          </p:cNvPr>
          <p:cNvSpPr>
            <a:spLocks noGrp="1"/>
          </p:cNvSpPr>
          <p:nvPr>
            <p:ph type="body" sz="quarter" idx="22"/>
          </p:nvPr>
        </p:nvSpPr>
        <p:spPr>
          <a:xfrm>
            <a:off x="1181764" y="4979157"/>
            <a:ext cx="751572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847803097"/>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odyText_2">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4606"/>
            <a:ext cx="9143999" cy="920816"/>
          </a:xfrm>
          <a:prstGeom prst="rect">
            <a:avLst/>
          </a:prstGeom>
        </p:spPr>
        <p:txBody>
          <a:bodyPr anchor="ctr">
            <a:noAutofit/>
          </a:bodyPr>
          <a:lstStyle>
            <a:lvl1pPr algn="ctr" defTabSz="914400" rtl="0" eaLnBrk="1" latinLnBrk="0" hangingPunct="1">
              <a:spcBef>
                <a:spcPct val="0"/>
              </a:spcBef>
              <a:buNone/>
              <a:defRPr lang="en-US" sz="4000" b="1" kern="1200" baseline="0" dirty="0">
                <a:solidFill>
                  <a:srgbClr val="081D48"/>
                </a:solidFill>
                <a:latin typeface="Arial (Headings)"/>
                <a:ea typeface="+mn-ea"/>
                <a:cs typeface="Calibri" panose="020F0502020204030204" pitchFamily="34" charset="0"/>
              </a:defRPr>
            </a:lvl1pPr>
          </a:lstStyle>
          <a:p>
            <a:r>
              <a:rPr lang="en-US" dirty="0"/>
              <a:t>Slide Title</a:t>
            </a:r>
          </a:p>
        </p:txBody>
      </p:sp>
      <p:sp>
        <p:nvSpPr>
          <p:cNvPr id="6" name="Content Placeholder 5">
            <a:extLst>
              <a:ext uri="{FF2B5EF4-FFF2-40B4-BE49-F238E27FC236}">
                <a16:creationId xmlns:a16="http://schemas.microsoft.com/office/drawing/2014/main" id="{54C96008-B1F9-413A-ACB1-B1A0CC43B4AC}"/>
              </a:ext>
            </a:extLst>
          </p:cNvPr>
          <p:cNvSpPr>
            <a:spLocks noGrp="1"/>
          </p:cNvSpPr>
          <p:nvPr>
            <p:ph sz="quarter" idx="11" hasCustomPrompt="1"/>
          </p:nvPr>
        </p:nvSpPr>
        <p:spPr>
          <a:xfrm>
            <a:off x="521260" y="1395453"/>
            <a:ext cx="8101480" cy="406342"/>
          </a:xfrm>
        </p:spPr>
        <p:txBody>
          <a:bodyPr>
            <a:noAutofit/>
          </a:bodyPr>
          <a:lstStyle>
            <a:lvl1pPr>
              <a:defRPr sz="2600">
                <a:latin typeface="Arial (Body)"/>
              </a:defRPr>
            </a:lvl1pPr>
            <a:lvl2pPr>
              <a:defRPr sz="3200">
                <a:latin typeface="Calibri (Body)"/>
              </a:defRPr>
            </a:lvl2pPr>
            <a:lvl3pPr>
              <a:defRPr sz="3200">
                <a:latin typeface="Calibri (Body)"/>
              </a:defRPr>
            </a:lvl3pPr>
            <a:lvl4pPr>
              <a:defRPr sz="3200">
                <a:latin typeface="Calibri (Body)"/>
              </a:defRPr>
            </a:lvl4pPr>
            <a:lvl5pPr>
              <a:defRPr sz="3200">
                <a:latin typeface="Calibri (Body)"/>
              </a:defRPr>
            </a:lvl5pPr>
          </a:lstStyle>
          <a:p>
            <a:pPr lvl="0"/>
            <a:r>
              <a:rPr lang="en-US" dirty="0"/>
              <a:t>Content Placeholder 1</a:t>
            </a:r>
          </a:p>
        </p:txBody>
      </p:sp>
      <p:sp>
        <p:nvSpPr>
          <p:cNvPr id="11" name="Content Placeholder 10">
            <a:extLst>
              <a:ext uri="{FF2B5EF4-FFF2-40B4-BE49-F238E27FC236}">
                <a16:creationId xmlns:a16="http://schemas.microsoft.com/office/drawing/2014/main" id="{F85AD958-0059-4A1D-B504-B60338828B65}"/>
              </a:ext>
            </a:extLst>
          </p:cNvPr>
          <p:cNvSpPr>
            <a:spLocks noGrp="1"/>
          </p:cNvSpPr>
          <p:nvPr>
            <p:ph sz="quarter" idx="12" hasCustomPrompt="1"/>
          </p:nvPr>
        </p:nvSpPr>
        <p:spPr>
          <a:xfrm>
            <a:off x="521260" y="1865081"/>
            <a:ext cx="8101481" cy="406342"/>
          </a:xfrm>
        </p:spPr>
        <p:txBody>
          <a:bodyPr>
            <a:noAutofit/>
          </a:bodyPr>
          <a:lstStyle>
            <a:lvl1pPr>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2</a:t>
            </a:r>
          </a:p>
        </p:txBody>
      </p:sp>
      <p:sp>
        <p:nvSpPr>
          <p:cNvPr id="13" name="Content Placeholder 12">
            <a:extLst>
              <a:ext uri="{FF2B5EF4-FFF2-40B4-BE49-F238E27FC236}">
                <a16:creationId xmlns:a16="http://schemas.microsoft.com/office/drawing/2014/main" id="{AF2B8440-A8C3-4970-9445-DE220532B290}"/>
              </a:ext>
            </a:extLst>
          </p:cNvPr>
          <p:cNvSpPr>
            <a:spLocks noGrp="1"/>
          </p:cNvSpPr>
          <p:nvPr>
            <p:ph sz="quarter" idx="13" hasCustomPrompt="1"/>
          </p:nvPr>
        </p:nvSpPr>
        <p:spPr>
          <a:xfrm>
            <a:off x="521260" y="2388483"/>
            <a:ext cx="8101480" cy="406342"/>
          </a:xfrm>
        </p:spPr>
        <p:txBody>
          <a:bodyPr>
            <a:no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3</a:t>
            </a:r>
          </a:p>
        </p:txBody>
      </p:sp>
      <p:sp>
        <p:nvSpPr>
          <p:cNvPr id="15" name="Content Placeholder 14">
            <a:extLst>
              <a:ext uri="{FF2B5EF4-FFF2-40B4-BE49-F238E27FC236}">
                <a16:creationId xmlns:a16="http://schemas.microsoft.com/office/drawing/2014/main" id="{2AA36A2C-553A-49F8-A35E-5142F66F8C7C}"/>
              </a:ext>
            </a:extLst>
          </p:cNvPr>
          <p:cNvSpPr>
            <a:spLocks noGrp="1"/>
          </p:cNvSpPr>
          <p:nvPr>
            <p:ph sz="quarter" idx="14" hasCustomPrompt="1"/>
          </p:nvPr>
        </p:nvSpPr>
        <p:spPr>
          <a:xfrm>
            <a:off x="521259" y="2889294"/>
            <a:ext cx="8101481" cy="406342"/>
          </a:xfrm>
        </p:spPr>
        <p:txBody>
          <a:bodyPr>
            <a:norm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4</a:t>
            </a:r>
          </a:p>
        </p:txBody>
      </p:sp>
      <p:sp>
        <p:nvSpPr>
          <p:cNvPr id="17" name="Content Placeholder 16">
            <a:extLst>
              <a:ext uri="{FF2B5EF4-FFF2-40B4-BE49-F238E27FC236}">
                <a16:creationId xmlns:a16="http://schemas.microsoft.com/office/drawing/2014/main" id="{BF2C5FFC-20D4-4A05-9580-282061042C42}"/>
              </a:ext>
            </a:extLst>
          </p:cNvPr>
          <p:cNvSpPr>
            <a:spLocks noGrp="1"/>
          </p:cNvSpPr>
          <p:nvPr>
            <p:ph sz="quarter" idx="15" hasCustomPrompt="1"/>
          </p:nvPr>
        </p:nvSpPr>
        <p:spPr>
          <a:xfrm>
            <a:off x="521259" y="3361720"/>
            <a:ext cx="8101481" cy="406342"/>
          </a:xfrm>
        </p:spPr>
        <p:txBody>
          <a:bodyPr>
            <a:norm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5</a:t>
            </a:r>
          </a:p>
        </p:txBody>
      </p:sp>
      <p:sp>
        <p:nvSpPr>
          <p:cNvPr id="19" name="Content Placeholder 18">
            <a:extLst>
              <a:ext uri="{FF2B5EF4-FFF2-40B4-BE49-F238E27FC236}">
                <a16:creationId xmlns:a16="http://schemas.microsoft.com/office/drawing/2014/main" id="{EFE9EF17-8BE8-440A-B62B-80D09B55AC38}"/>
              </a:ext>
            </a:extLst>
          </p:cNvPr>
          <p:cNvSpPr>
            <a:spLocks noGrp="1"/>
          </p:cNvSpPr>
          <p:nvPr>
            <p:ph sz="quarter" idx="16" hasCustomPrompt="1"/>
          </p:nvPr>
        </p:nvSpPr>
        <p:spPr>
          <a:xfrm>
            <a:off x="521259" y="3855374"/>
            <a:ext cx="8101481" cy="406342"/>
          </a:xfrm>
        </p:spPr>
        <p:txBody>
          <a:bodyPr>
            <a:no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6</a:t>
            </a:r>
          </a:p>
        </p:txBody>
      </p:sp>
      <p:sp>
        <p:nvSpPr>
          <p:cNvPr id="21" name="Content Placeholder 20">
            <a:extLst>
              <a:ext uri="{FF2B5EF4-FFF2-40B4-BE49-F238E27FC236}">
                <a16:creationId xmlns:a16="http://schemas.microsoft.com/office/drawing/2014/main" id="{AD4C7CD8-D449-4D2F-B0E8-59D4E0725C11}"/>
              </a:ext>
            </a:extLst>
          </p:cNvPr>
          <p:cNvSpPr>
            <a:spLocks noGrp="1"/>
          </p:cNvSpPr>
          <p:nvPr>
            <p:ph sz="quarter" idx="17" hasCustomPrompt="1"/>
          </p:nvPr>
        </p:nvSpPr>
        <p:spPr>
          <a:xfrm>
            <a:off x="521259" y="4379625"/>
            <a:ext cx="8101482" cy="406342"/>
          </a:xfrm>
        </p:spPr>
        <p:txBody>
          <a:bodyPr>
            <a:no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7</a:t>
            </a:r>
          </a:p>
        </p:txBody>
      </p:sp>
      <p:sp>
        <p:nvSpPr>
          <p:cNvPr id="5" name="Content Placeholder 4">
            <a:extLst>
              <a:ext uri="{FF2B5EF4-FFF2-40B4-BE49-F238E27FC236}">
                <a16:creationId xmlns:a16="http://schemas.microsoft.com/office/drawing/2014/main" id="{63D910F2-5B14-B640-BA8E-D5BAE35431D4}"/>
              </a:ext>
            </a:extLst>
          </p:cNvPr>
          <p:cNvSpPr>
            <a:spLocks noGrp="1"/>
          </p:cNvSpPr>
          <p:nvPr>
            <p:ph sz="quarter" idx="18" hasCustomPrompt="1"/>
          </p:nvPr>
        </p:nvSpPr>
        <p:spPr>
          <a:xfrm>
            <a:off x="520700" y="4873063"/>
            <a:ext cx="8101480" cy="406342"/>
          </a:xfrm>
        </p:spPr>
        <p:txBody>
          <a:bodyPr>
            <a:no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8</a:t>
            </a:r>
          </a:p>
        </p:txBody>
      </p:sp>
      <p:sp>
        <p:nvSpPr>
          <p:cNvPr id="8" name="Content Placeholder 7">
            <a:extLst>
              <a:ext uri="{FF2B5EF4-FFF2-40B4-BE49-F238E27FC236}">
                <a16:creationId xmlns:a16="http://schemas.microsoft.com/office/drawing/2014/main" id="{6AC24DEE-53EB-E940-8BA1-39C4FCB5CF81}"/>
              </a:ext>
            </a:extLst>
          </p:cNvPr>
          <p:cNvSpPr>
            <a:spLocks noGrp="1"/>
          </p:cNvSpPr>
          <p:nvPr>
            <p:ph sz="quarter" idx="19" hasCustomPrompt="1"/>
          </p:nvPr>
        </p:nvSpPr>
        <p:spPr>
          <a:xfrm>
            <a:off x="520700" y="5355908"/>
            <a:ext cx="8101482" cy="380671"/>
          </a:xfrm>
        </p:spPr>
        <p:txBody>
          <a:bodyPr>
            <a:no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9</a:t>
            </a:r>
          </a:p>
        </p:txBody>
      </p:sp>
      <p:sp>
        <p:nvSpPr>
          <p:cNvPr id="18" name="Long Description Link 22">
            <a:extLst>
              <a:ext uri="{FF2B5EF4-FFF2-40B4-BE49-F238E27FC236}">
                <a16:creationId xmlns:a16="http://schemas.microsoft.com/office/drawing/2014/main" id="{B58759B8-BBA5-814F-A7AC-974E1C4DFA9D}"/>
              </a:ext>
            </a:extLst>
          </p:cNvPr>
          <p:cNvSpPr>
            <a:spLocks noGrp="1"/>
          </p:cNvSpPr>
          <p:nvPr>
            <p:ph type="body" sz="quarter" idx="20" hasCustomPrompt="1"/>
          </p:nvPr>
        </p:nvSpPr>
        <p:spPr>
          <a:xfrm>
            <a:off x="520698" y="5965086"/>
            <a:ext cx="8101481" cy="314325"/>
          </a:xfrm>
        </p:spPr>
        <p:txBody>
          <a:bodyPr anchor="ctr">
            <a:normAutofit/>
          </a:bodyPr>
          <a:lstStyle>
            <a:lvl1pPr algn="ctr">
              <a:defRPr sz="1200">
                <a:latin typeface="Arial (Body)"/>
              </a:defRPr>
            </a:lvl1pPr>
          </a:lstStyle>
          <a:p>
            <a:pPr lvl="0"/>
            <a:r>
              <a:rPr lang="en-US" dirty="0"/>
              <a:t>Add text alternative link, if needed.</a:t>
            </a:r>
          </a:p>
        </p:txBody>
      </p:sp>
      <p:sp>
        <p:nvSpPr>
          <p:cNvPr id="4" name="Text Placeholder 3">
            <a:extLst>
              <a:ext uri="{FF2B5EF4-FFF2-40B4-BE49-F238E27FC236}">
                <a16:creationId xmlns:a16="http://schemas.microsoft.com/office/drawing/2014/main" id="{F5D3D98C-B108-47F8-BEFF-9D8CAA57926D}"/>
              </a:ext>
            </a:extLst>
          </p:cNvPr>
          <p:cNvSpPr>
            <a:spLocks noGrp="1"/>
          </p:cNvSpPr>
          <p:nvPr>
            <p:ph type="body" sz="quarter" idx="21" hasCustomPrompt="1"/>
          </p:nvPr>
        </p:nvSpPr>
        <p:spPr>
          <a:xfrm>
            <a:off x="520698" y="6563439"/>
            <a:ext cx="8101482" cy="191493"/>
          </a:xfrm>
        </p:spPr>
        <p:txBody>
          <a:bodyPr>
            <a:noAutofit/>
          </a:bodyPr>
          <a:lstStyle>
            <a:lvl1pPr algn="r">
              <a:defRPr sz="700">
                <a:latin typeface="Arial (Body)"/>
              </a:defRPr>
            </a:lvl1pPr>
          </a:lstStyle>
          <a:p>
            <a:pPr lvl="0"/>
            <a:r>
              <a:rPr lang="en-US" dirty="0"/>
              <a:t>Image credit</a:t>
            </a:r>
          </a:p>
        </p:txBody>
      </p:sp>
      <p:sp>
        <p:nvSpPr>
          <p:cNvPr id="20" name="Slide Number Placeholder">
            <a:extLst>
              <a:ext uri="{FF2B5EF4-FFF2-40B4-BE49-F238E27FC236}">
                <a16:creationId xmlns:a16="http://schemas.microsoft.com/office/drawing/2014/main" id="{F0C0D4EB-AC98-41A7-BF3A-6A5C921415DD}"/>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4095949948"/>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BodyText_2">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4606"/>
            <a:ext cx="9143999" cy="920816"/>
          </a:xfrm>
          <a:prstGeom prst="rect">
            <a:avLst/>
          </a:prstGeom>
        </p:spPr>
        <p:txBody>
          <a:bodyPr anchor="ctr">
            <a:noAutofit/>
          </a:bodyPr>
          <a:lstStyle>
            <a:lvl1pPr algn="ctr" defTabSz="914400" rtl="0" eaLnBrk="1" latinLnBrk="0" hangingPunct="1">
              <a:spcBef>
                <a:spcPct val="0"/>
              </a:spcBef>
              <a:buNone/>
              <a:defRPr lang="en-US" sz="4000" b="1" kern="1200" baseline="0" dirty="0">
                <a:solidFill>
                  <a:srgbClr val="081D48"/>
                </a:solidFill>
                <a:latin typeface="Arial (Headings)"/>
                <a:ea typeface="+mn-ea"/>
                <a:cs typeface="Calibri" panose="020F0502020204030204" pitchFamily="34" charset="0"/>
              </a:defRPr>
            </a:lvl1pPr>
          </a:lstStyle>
          <a:p>
            <a:r>
              <a:rPr lang="en-US" dirty="0"/>
              <a:t>Slide Title</a:t>
            </a:r>
          </a:p>
        </p:txBody>
      </p:sp>
      <p:sp>
        <p:nvSpPr>
          <p:cNvPr id="6" name="Content Placeholder 5">
            <a:extLst>
              <a:ext uri="{FF2B5EF4-FFF2-40B4-BE49-F238E27FC236}">
                <a16:creationId xmlns:a16="http://schemas.microsoft.com/office/drawing/2014/main" id="{54C96008-B1F9-413A-ACB1-B1A0CC43B4AC}"/>
              </a:ext>
            </a:extLst>
          </p:cNvPr>
          <p:cNvSpPr>
            <a:spLocks noGrp="1"/>
          </p:cNvSpPr>
          <p:nvPr>
            <p:ph sz="quarter" idx="11" hasCustomPrompt="1"/>
          </p:nvPr>
        </p:nvSpPr>
        <p:spPr>
          <a:xfrm>
            <a:off x="521260" y="1395453"/>
            <a:ext cx="8101480" cy="406342"/>
          </a:xfrm>
        </p:spPr>
        <p:txBody>
          <a:bodyPr>
            <a:noAutofit/>
          </a:bodyPr>
          <a:lstStyle>
            <a:lvl1pPr>
              <a:defRPr sz="2600">
                <a:latin typeface="Arial (Body)"/>
              </a:defRPr>
            </a:lvl1pPr>
            <a:lvl2pPr>
              <a:defRPr sz="3200">
                <a:latin typeface="Calibri (Body)"/>
              </a:defRPr>
            </a:lvl2pPr>
            <a:lvl3pPr>
              <a:defRPr sz="3200">
                <a:latin typeface="Calibri (Body)"/>
              </a:defRPr>
            </a:lvl3pPr>
            <a:lvl4pPr>
              <a:defRPr sz="3200">
                <a:latin typeface="Calibri (Body)"/>
              </a:defRPr>
            </a:lvl4pPr>
            <a:lvl5pPr>
              <a:defRPr sz="3200">
                <a:latin typeface="Calibri (Body)"/>
              </a:defRPr>
            </a:lvl5pPr>
          </a:lstStyle>
          <a:p>
            <a:pPr lvl="0"/>
            <a:r>
              <a:rPr lang="en-US" dirty="0"/>
              <a:t>Content Placeholder 1</a:t>
            </a:r>
          </a:p>
        </p:txBody>
      </p:sp>
      <p:sp>
        <p:nvSpPr>
          <p:cNvPr id="18" name="Long Description Link 22">
            <a:extLst>
              <a:ext uri="{FF2B5EF4-FFF2-40B4-BE49-F238E27FC236}">
                <a16:creationId xmlns:a16="http://schemas.microsoft.com/office/drawing/2014/main" id="{B58759B8-BBA5-814F-A7AC-974E1C4DFA9D}"/>
              </a:ext>
            </a:extLst>
          </p:cNvPr>
          <p:cNvSpPr>
            <a:spLocks noGrp="1"/>
          </p:cNvSpPr>
          <p:nvPr>
            <p:ph type="body" sz="quarter" idx="20" hasCustomPrompt="1"/>
          </p:nvPr>
        </p:nvSpPr>
        <p:spPr>
          <a:xfrm>
            <a:off x="520698" y="5965086"/>
            <a:ext cx="8101481" cy="314325"/>
          </a:xfrm>
        </p:spPr>
        <p:txBody>
          <a:bodyPr anchor="ctr">
            <a:normAutofit/>
          </a:bodyPr>
          <a:lstStyle>
            <a:lvl1pPr algn="ctr">
              <a:defRPr sz="1200">
                <a:latin typeface="Arial (Body)"/>
              </a:defRPr>
            </a:lvl1pPr>
          </a:lstStyle>
          <a:p>
            <a:pPr lvl="0"/>
            <a:r>
              <a:rPr lang="en-US" dirty="0"/>
              <a:t>Add text alternative link, if needed.</a:t>
            </a:r>
          </a:p>
        </p:txBody>
      </p:sp>
      <p:sp>
        <p:nvSpPr>
          <p:cNvPr id="4" name="Text Placeholder 3">
            <a:extLst>
              <a:ext uri="{FF2B5EF4-FFF2-40B4-BE49-F238E27FC236}">
                <a16:creationId xmlns:a16="http://schemas.microsoft.com/office/drawing/2014/main" id="{F5D3D98C-B108-47F8-BEFF-9D8CAA57926D}"/>
              </a:ext>
            </a:extLst>
          </p:cNvPr>
          <p:cNvSpPr>
            <a:spLocks noGrp="1"/>
          </p:cNvSpPr>
          <p:nvPr>
            <p:ph type="body" sz="quarter" idx="21" hasCustomPrompt="1"/>
          </p:nvPr>
        </p:nvSpPr>
        <p:spPr>
          <a:xfrm>
            <a:off x="520698" y="6563439"/>
            <a:ext cx="8101482" cy="191493"/>
          </a:xfrm>
        </p:spPr>
        <p:txBody>
          <a:bodyPr>
            <a:noAutofit/>
          </a:bodyPr>
          <a:lstStyle>
            <a:lvl1pPr algn="r">
              <a:defRPr sz="700">
                <a:latin typeface="Arial (Body)"/>
              </a:defRPr>
            </a:lvl1pPr>
          </a:lstStyle>
          <a:p>
            <a:pPr lvl="0"/>
            <a:r>
              <a:rPr lang="en-US" dirty="0"/>
              <a:t>Image credit</a:t>
            </a:r>
          </a:p>
        </p:txBody>
      </p:sp>
      <p:sp>
        <p:nvSpPr>
          <p:cNvPr id="20" name="Slide Number Placeholder">
            <a:extLst>
              <a:ext uri="{FF2B5EF4-FFF2-40B4-BE49-F238E27FC236}">
                <a16:creationId xmlns:a16="http://schemas.microsoft.com/office/drawing/2014/main" id="{F0C0D4EB-AC98-41A7-BF3A-6A5C921415DD}"/>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44600128"/>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_BodyText_2">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4606"/>
            <a:ext cx="9143999" cy="920816"/>
          </a:xfrm>
          <a:prstGeom prst="rect">
            <a:avLst/>
          </a:prstGeom>
        </p:spPr>
        <p:txBody>
          <a:bodyPr anchor="ctr">
            <a:noAutofit/>
          </a:bodyPr>
          <a:lstStyle>
            <a:lvl1pPr algn="ctr" defTabSz="914400" rtl="0" eaLnBrk="1" latinLnBrk="0" hangingPunct="1">
              <a:spcBef>
                <a:spcPct val="0"/>
              </a:spcBef>
              <a:buNone/>
              <a:defRPr lang="en-US" sz="4000" b="1" kern="1200" baseline="0" dirty="0">
                <a:solidFill>
                  <a:srgbClr val="081D48"/>
                </a:solidFill>
                <a:latin typeface="Arial (Headings)"/>
                <a:ea typeface="+mn-ea"/>
                <a:cs typeface="Calibri" panose="020F0502020204030204" pitchFamily="34" charset="0"/>
              </a:defRPr>
            </a:lvl1pPr>
          </a:lstStyle>
          <a:p>
            <a:r>
              <a:rPr lang="en-US" dirty="0"/>
              <a:t>Slide Title</a:t>
            </a:r>
          </a:p>
        </p:txBody>
      </p:sp>
      <p:sp>
        <p:nvSpPr>
          <p:cNvPr id="6" name="Content Placeholder 5">
            <a:extLst>
              <a:ext uri="{FF2B5EF4-FFF2-40B4-BE49-F238E27FC236}">
                <a16:creationId xmlns:a16="http://schemas.microsoft.com/office/drawing/2014/main" id="{54C96008-B1F9-413A-ACB1-B1A0CC43B4AC}"/>
              </a:ext>
            </a:extLst>
          </p:cNvPr>
          <p:cNvSpPr>
            <a:spLocks noGrp="1"/>
          </p:cNvSpPr>
          <p:nvPr>
            <p:ph sz="quarter" idx="11" hasCustomPrompt="1"/>
          </p:nvPr>
        </p:nvSpPr>
        <p:spPr>
          <a:xfrm>
            <a:off x="521260" y="1395453"/>
            <a:ext cx="8101480" cy="406342"/>
          </a:xfrm>
        </p:spPr>
        <p:txBody>
          <a:bodyPr>
            <a:noAutofit/>
          </a:bodyPr>
          <a:lstStyle>
            <a:lvl1pPr>
              <a:defRPr sz="2600">
                <a:latin typeface="Arial (Body)"/>
              </a:defRPr>
            </a:lvl1pPr>
            <a:lvl2pPr>
              <a:defRPr sz="3200">
                <a:latin typeface="Calibri (Body)"/>
              </a:defRPr>
            </a:lvl2pPr>
            <a:lvl3pPr>
              <a:defRPr sz="3200">
                <a:latin typeface="Calibri (Body)"/>
              </a:defRPr>
            </a:lvl3pPr>
            <a:lvl4pPr>
              <a:defRPr sz="3200">
                <a:latin typeface="Calibri (Body)"/>
              </a:defRPr>
            </a:lvl4pPr>
            <a:lvl5pPr>
              <a:defRPr sz="3200">
                <a:latin typeface="Calibri (Body)"/>
              </a:defRPr>
            </a:lvl5pPr>
          </a:lstStyle>
          <a:p>
            <a:pPr lvl="0"/>
            <a:r>
              <a:rPr lang="en-US" dirty="0"/>
              <a:t>Content Placeholder 1</a:t>
            </a:r>
          </a:p>
        </p:txBody>
      </p:sp>
      <p:sp>
        <p:nvSpPr>
          <p:cNvPr id="20" name="Slide Number Placeholder">
            <a:extLst>
              <a:ext uri="{FF2B5EF4-FFF2-40B4-BE49-F238E27FC236}">
                <a16:creationId xmlns:a16="http://schemas.microsoft.com/office/drawing/2014/main" id="{F0C0D4EB-AC98-41A7-BF3A-6A5C921415DD}"/>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2136055173"/>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BodyText_2">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4606"/>
            <a:ext cx="9143999" cy="920816"/>
          </a:xfrm>
          <a:prstGeom prst="rect">
            <a:avLst/>
          </a:prstGeom>
        </p:spPr>
        <p:txBody>
          <a:bodyPr anchor="ctr">
            <a:noAutofit/>
          </a:bodyPr>
          <a:lstStyle>
            <a:lvl1pPr algn="ctr" defTabSz="914400" rtl="0" eaLnBrk="1" latinLnBrk="0" hangingPunct="1">
              <a:spcBef>
                <a:spcPct val="0"/>
              </a:spcBef>
              <a:buNone/>
              <a:defRPr lang="en-US" sz="4000" b="1" kern="1200" baseline="0" dirty="0">
                <a:solidFill>
                  <a:srgbClr val="081D48"/>
                </a:solidFill>
                <a:latin typeface="Arial (Headings)"/>
                <a:ea typeface="+mn-ea"/>
                <a:cs typeface="Calibri" panose="020F0502020204030204" pitchFamily="34" charset="0"/>
              </a:defRPr>
            </a:lvl1pPr>
          </a:lstStyle>
          <a:p>
            <a:r>
              <a:rPr lang="en-US" dirty="0"/>
              <a:t>Slide Title</a:t>
            </a:r>
          </a:p>
        </p:txBody>
      </p:sp>
      <p:sp>
        <p:nvSpPr>
          <p:cNvPr id="6" name="Content Placeholder 5">
            <a:extLst>
              <a:ext uri="{FF2B5EF4-FFF2-40B4-BE49-F238E27FC236}">
                <a16:creationId xmlns:a16="http://schemas.microsoft.com/office/drawing/2014/main" id="{54C96008-B1F9-413A-ACB1-B1A0CC43B4AC}"/>
              </a:ext>
            </a:extLst>
          </p:cNvPr>
          <p:cNvSpPr>
            <a:spLocks noGrp="1"/>
          </p:cNvSpPr>
          <p:nvPr>
            <p:ph sz="quarter" idx="11" hasCustomPrompt="1"/>
          </p:nvPr>
        </p:nvSpPr>
        <p:spPr>
          <a:xfrm>
            <a:off x="521260" y="1395453"/>
            <a:ext cx="8101480" cy="406342"/>
          </a:xfrm>
        </p:spPr>
        <p:txBody>
          <a:bodyPr>
            <a:noAutofit/>
          </a:bodyPr>
          <a:lstStyle>
            <a:lvl1pPr>
              <a:defRPr sz="2600">
                <a:latin typeface="Arial (Body)"/>
              </a:defRPr>
            </a:lvl1pPr>
            <a:lvl2pPr>
              <a:defRPr sz="3200">
                <a:latin typeface="Calibri (Body)"/>
              </a:defRPr>
            </a:lvl2pPr>
            <a:lvl3pPr>
              <a:defRPr sz="3200">
                <a:latin typeface="Calibri (Body)"/>
              </a:defRPr>
            </a:lvl3pPr>
            <a:lvl4pPr>
              <a:defRPr sz="3200">
                <a:latin typeface="Calibri (Body)"/>
              </a:defRPr>
            </a:lvl4pPr>
            <a:lvl5pPr>
              <a:defRPr sz="3200">
                <a:latin typeface="Calibri (Body)"/>
              </a:defRPr>
            </a:lvl5pPr>
          </a:lstStyle>
          <a:p>
            <a:pPr lvl="0"/>
            <a:r>
              <a:rPr lang="en-US" dirty="0"/>
              <a:t>Content Placeholder 1</a:t>
            </a:r>
          </a:p>
        </p:txBody>
      </p:sp>
      <p:sp>
        <p:nvSpPr>
          <p:cNvPr id="18" name="Long Description Link 22">
            <a:extLst>
              <a:ext uri="{FF2B5EF4-FFF2-40B4-BE49-F238E27FC236}">
                <a16:creationId xmlns:a16="http://schemas.microsoft.com/office/drawing/2014/main" id="{B58759B8-BBA5-814F-A7AC-974E1C4DFA9D}"/>
              </a:ext>
            </a:extLst>
          </p:cNvPr>
          <p:cNvSpPr>
            <a:spLocks noGrp="1"/>
          </p:cNvSpPr>
          <p:nvPr>
            <p:ph type="body" sz="quarter" idx="20" hasCustomPrompt="1"/>
          </p:nvPr>
        </p:nvSpPr>
        <p:spPr>
          <a:xfrm>
            <a:off x="520698" y="5965086"/>
            <a:ext cx="8101481" cy="314325"/>
          </a:xfrm>
        </p:spPr>
        <p:txBody>
          <a:bodyPr anchor="ctr">
            <a:normAutofit/>
          </a:bodyPr>
          <a:lstStyle>
            <a:lvl1pPr algn="ctr">
              <a:defRPr sz="1200">
                <a:latin typeface="Arial (Body)"/>
              </a:defRPr>
            </a:lvl1pPr>
          </a:lstStyle>
          <a:p>
            <a:pPr lvl="0"/>
            <a:r>
              <a:rPr lang="en-US" dirty="0"/>
              <a:t>Add text alternative link, if needed.</a:t>
            </a:r>
          </a:p>
        </p:txBody>
      </p:sp>
      <p:sp>
        <p:nvSpPr>
          <p:cNvPr id="4" name="Text Placeholder 3">
            <a:extLst>
              <a:ext uri="{FF2B5EF4-FFF2-40B4-BE49-F238E27FC236}">
                <a16:creationId xmlns:a16="http://schemas.microsoft.com/office/drawing/2014/main" id="{F5D3D98C-B108-47F8-BEFF-9D8CAA57926D}"/>
              </a:ext>
            </a:extLst>
          </p:cNvPr>
          <p:cNvSpPr>
            <a:spLocks noGrp="1"/>
          </p:cNvSpPr>
          <p:nvPr>
            <p:ph type="body" sz="quarter" idx="21" hasCustomPrompt="1"/>
          </p:nvPr>
        </p:nvSpPr>
        <p:spPr>
          <a:xfrm>
            <a:off x="520698" y="6563439"/>
            <a:ext cx="8101482" cy="191493"/>
          </a:xfrm>
        </p:spPr>
        <p:txBody>
          <a:bodyPr>
            <a:noAutofit/>
          </a:bodyPr>
          <a:lstStyle>
            <a:lvl1pPr algn="r">
              <a:defRPr sz="700">
                <a:latin typeface="Arial (Body)"/>
              </a:defRPr>
            </a:lvl1pPr>
          </a:lstStyle>
          <a:p>
            <a:pPr lvl="0"/>
            <a:r>
              <a:rPr lang="en-US" dirty="0"/>
              <a:t>Image credit</a:t>
            </a:r>
          </a:p>
        </p:txBody>
      </p:sp>
      <p:sp>
        <p:nvSpPr>
          <p:cNvPr id="20" name="Slide Number Placeholder">
            <a:extLst>
              <a:ext uri="{FF2B5EF4-FFF2-40B4-BE49-F238E27FC236}">
                <a16:creationId xmlns:a16="http://schemas.microsoft.com/office/drawing/2014/main" id="{F0C0D4EB-AC98-41A7-BF3A-6A5C921415DD}"/>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1288961358"/>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BodyText_2">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4606"/>
            <a:ext cx="9143999" cy="920816"/>
          </a:xfrm>
          <a:prstGeom prst="rect">
            <a:avLst/>
          </a:prstGeom>
        </p:spPr>
        <p:txBody>
          <a:bodyPr anchor="ctr">
            <a:noAutofit/>
          </a:bodyPr>
          <a:lstStyle>
            <a:lvl1pPr algn="ctr" defTabSz="914400" rtl="0" eaLnBrk="1" latinLnBrk="0" hangingPunct="1">
              <a:spcBef>
                <a:spcPct val="0"/>
              </a:spcBef>
              <a:buNone/>
              <a:defRPr lang="en-US" sz="4000" b="1" kern="1200" baseline="0" dirty="0">
                <a:solidFill>
                  <a:srgbClr val="081D48"/>
                </a:solidFill>
                <a:latin typeface="Arial (Headings)"/>
                <a:ea typeface="+mn-ea"/>
                <a:cs typeface="Calibri" panose="020F0502020204030204" pitchFamily="34" charset="0"/>
              </a:defRPr>
            </a:lvl1pPr>
          </a:lstStyle>
          <a:p>
            <a:r>
              <a:rPr lang="en-US" dirty="0"/>
              <a:t>Slide Title</a:t>
            </a:r>
          </a:p>
        </p:txBody>
      </p:sp>
      <p:sp>
        <p:nvSpPr>
          <p:cNvPr id="6" name="Content Placeholder 5">
            <a:extLst>
              <a:ext uri="{FF2B5EF4-FFF2-40B4-BE49-F238E27FC236}">
                <a16:creationId xmlns:a16="http://schemas.microsoft.com/office/drawing/2014/main" id="{54C96008-B1F9-413A-ACB1-B1A0CC43B4AC}"/>
              </a:ext>
            </a:extLst>
          </p:cNvPr>
          <p:cNvSpPr>
            <a:spLocks noGrp="1"/>
          </p:cNvSpPr>
          <p:nvPr>
            <p:ph sz="quarter" idx="11" hasCustomPrompt="1"/>
          </p:nvPr>
        </p:nvSpPr>
        <p:spPr>
          <a:xfrm>
            <a:off x="521260" y="1395453"/>
            <a:ext cx="8101480" cy="406342"/>
          </a:xfrm>
        </p:spPr>
        <p:txBody>
          <a:bodyPr>
            <a:noAutofit/>
          </a:bodyPr>
          <a:lstStyle>
            <a:lvl1pPr>
              <a:defRPr sz="2600">
                <a:latin typeface="Arial (Body)"/>
              </a:defRPr>
            </a:lvl1pPr>
            <a:lvl2pPr>
              <a:defRPr sz="3200">
                <a:latin typeface="Calibri (Body)"/>
              </a:defRPr>
            </a:lvl2pPr>
            <a:lvl3pPr>
              <a:defRPr sz="3200">
                <a:latin typeface="Calibri (Body)"/>
              </a:defRPr>
            </a:lvl3pPr>
            <a:lvl4pPr>
              <a:defRPr sz="3200">
                <a:latin typeface="Calibri (Body)"/>
              </a:defRPr>
            </a:lvl4pPr>
            <a:lvl5pPr>
              <a:defRPr sz="3200">
                <a:latin typeface="Calibri (Body)"/>
              </a:defRPr>
            </a:lvl5pPr>
          </a:lstStyle>
          <a:p>
            <a:pPr lvl="0"/>
            <a:r>
              <a:rPr lang="en-US" dirty="0"/>
              <a:t>Content Placeholder 1</a:t>
            </a:r>
          </a:p>
        </p:txBody>
      </p:sp>
      <p:sp>
        <p:nvSpPr>
          <p:cNvPr id="11" name="Content Placeholder 10">
            <a:extLst>
              <a:ext uri="{FF2B5EF4-FFF2-40B4-BE49-F238E27FC236}">
                <a16:creationId xmlns:a16="http://schemas.microsoft.com/office/drawing/2014/main" id="{F85AD958-0059-4A1D-B504-B60338828B65}"/>
              </a:ext>
            </a:extLst>
          </p:cNvPr>
          <p:cNvSpPr>
            <a:spLocks noGrp="1"/>
          </p:cNvSpPr>
          <p:nvPr>
            <p:ph sz="quarter" idx="12" hasCustomPrompt="1"/>
          </p:nvPr>
        </p:nvSpPr>
        <p:spPr>
          <a:xfrm>
            <a:off x="520697" y="4057297"/>
            <a:ext cx="8101481" cy="406342"/>
          </a:xfrm>
        </p:spPr>
        <p:txBody>
          <a:bodyPr>
            <a:noAutofit/>
          </a:bodyPr>
          <a:lstStyle>
            <a:lvl1pPr>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2</a:t>
            </a:r>
          </a:p>
        </p:txBody>
      </p:sp>
      <p:sp>
        <p:nvSpPr>
          <p:cNvPr id="18" name="Long Description Link 22">
            <a:extLst>
              <a:ext uri="{FF2B5EF4-FFF2-40B4-BE49-F238E27FC236}">
                <a16:creationId xmlns:a16="http://schemas.microsoft.com/office/drawing/2014/main" id="{B58759B8-BBA5-814F-A7AC-974E1C4DFA9D}"/>
              </a:ext>
            </a:extLst>
          </p:cNvPr>
          <p:cNvSpPr>
            <a:spLocks noGrp="1"/>
          </p:cNvSpPr>
          <p:nvPr>
            <p:ph type="body" sz="quarter" idx="20" hasCustomPrompt="1"/>
          </p:nvPr>
        </p:nvSpPr>
        <p:spPr>
          <a:xfrm>
            <a:off x="520698" y="5965086"/>
            <a:ext cx="8101481" cy="314325"/>
          </a:xfrm>
        </p:spPr>
        <p:txBody>
          <a:bodyPr anchor="ctr">
            <a:normAutofit/>
          </a:bodyPr>
          <a:lstStyle>
            <a:lvl1pPr algn="ctr">
              <a:defRPr sz="1200">
                <a:latin typeface="Arial (Body)"/>
              </a:defRPr>
            </a:lvl1pPr>
          </a:lstStyle>
          <a:p>
            <a:pPr lvl="0"/>
            <a:r>
              <a:rPr lang="en-US" dirty="0"/>
              <a:t>Add text alternative link, if needed.</a:t>
            </a:r>
          </a:p>
        </p:txBody>
      </p:sp>
      <p:sp>
        <p:nvSpPr>
          <p:cNvPr id="4" name="Text Placeholder 3">
            <a:extLst>
              <a:ext uri="{FF2B5EF4-FFF2-40B4-BE49-F238E27FC236}">
                <a16:creationId xmlns:a16="http://schemas.microsoft.com/office/drawing/2014/main" id="{F5D3D98C-B108-47F8-BEFF-9D8CAA57926D}"/>
              </a:ext>
            </a:extLst>
          </p:cNvPr>
          <p:cNvSpPr>
            <a:spLocks noGrp="1"/>
          </p:cNvSpPr>
          <p:nvPr>
            <p:ph type="body" sz="quarter" idx="21" hasCustomPrompt="1"/>
          </p:nvPr>
        </p:nvSpPr>
        <p:spPr>
          <a:xfrm>
            <a:off x="520698" y="6563439"/>
            <a:ext cx="8101482" cy="191493"/>
          </a:xfrm>
        </p:spPr>
        <p:txBody>
          <a:bodyPr>
            <a:noAutofit/>
          </a:bodyPr>
          <a:lstStyle>
            <a:lvl1pPr algn="r">
              <a:defRPr sz="700">
                <a:latin typeface="Arial (Body)"/>
              </a:defRPr>
            </a:lvl1pPr>
          </a:lstStyle>
          <a:p>
            <a:pPr lvl="0"/>
            <a:r>
              <a:rPr lang="en-US" dirty="0"/>
              <a:t>Image credit</a:t>
            </a:r>
          </a:p>
        </p:txBody>
      </p:sp>
      <p:sp>
        <p:nvSpPr>
          <p:cNvPr id="20" name="Slide Number Placeholder">
            <a:extLst>
              <a:ext uri="{FF2B5EF4-FFF2-40B4-BE49-F238E27FC236}">
                <a16:creationId xmlns:a16="http://schemas.microsoft.com/office/drawing/2014/main" id="{F0C0D4EB-AC98-41A7-BF3A-6A5C921415DD}"/>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2489664496"/>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tabLst>
                <a:tab pos="1885950" algn="l"/>
              </a:tabLst>
              <a:defRPr sz="4000" b="1">
                <a:solidFill>
                  <a:srgbClr val="001848"/>
                </a:solidFill>
                <a:latin typeface="+mj-lt"/>
              </a:defRPr>
            </a:lvl1pPr>
          </a:lstStyle>
          <a:p>
            <a:r>
              <a:rPr lang="en-US" dirty="0"/>
              <a:t>Click to edit Master title style</a:t>
            </a:r>
          </a:p>
        </p:txBody>
      </p:sp>
      <p:sp>
        <p:nvSpPr>
          <p:cNvPr id="3" name="Content Placeholder 2"/>
          <p:cNvSpPr>
            <a:spLocks noGrp="1"/>
          </p:cNvSpPr>
          <p:nvPr>
            <p:ph idx="1"/>
          </p:nvPr>
        </p:nvSpPr>
        <p:spPr>
          <a:xfrm>
            <a:off x="8439" y="1005376"/>
            <a:ext cx="8458200" cy="4944374"/>
          </a:xfrm>
        </p:spPr>
        <p:txBody>
          <a:bodyPr/>
          <a:lstStyle>
            <a:lvl1pPr>
              <a:spcBef>
                <a:spcPts val="1800"/>
              </a:spcBef>
              <a:defRPr>
                <a:latin typeface="+mn-lt"/>
              </a:defRPr>
            </a:lvl1pPr>
            <a:lvl2pPr>
              <a:spcBef>
                <a:spcPts val="1800"/>
              </a:spcBef>
              <a:defRPr>
                <a:latin typeface="+mn-lt"/>
              </a:defRPr>
            </a:lvl2pPr>
            <a:lvl3pPr>
              <a:spcBef>
                <a:spcPts val="1800"/>
              </a:spcBef>
              <a:defRPr>
                <a:latin typeface="+mn-lt"/>
              </a:defRPr>
            </a:lvl3pPr>
            <a:lvl4pPr>
              <a:spcBef>
                <a:spcPts val="1800"/>
              </a:spcBef>
              <a:defRPr>
                <a:latin typeface="+mn-lt"/>
              </a:defRPr>
            </a:lvl4pPr>
            <a:lvl5pPr>
              <a:spcBef>
                <a:spcPts val="1800"/>
              </a:spcBef>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p:cNvSpPr>
            <a:spLocks noGrp="1"/>
          </p:cNvSpPr>
          <p:nvPr>
            <p:ph sz="quarter" idx="10"/>
          </p:nvPr>
        </p:nvSpPr>
        <p:spPr>
          <a:xfrm>
            <a:off x="806953" y="1295400"/>
            <a:ext cx="8190089" cy="3146425"/>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Content Placeholder 8"/>
          <p:cNvSpPr>
            <a:spLocks noGrp="1"/>
          </p:cNvSpPr>
          <p:nvPr>
            <p:ph sz="quarter" idx="11"/>
          </p:nvPr>
        </p:nvSpPr>
        <p:spPr>
          <a:xfrm>
            <a:off x="914400" y="4625144"/>
            <a:ext cx="8229600" cy="1882775"/>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1" name="Slide Number Placeholder 3">
            <a:extLst>
              <a:ext uri="{FF2B5EF4-FFF2-40B4-BE49-F238E27FC236}">
                <a16:creationId xmlns:a16="http://schemas.microsoft.com/office/drawing/2014/main" id="{2A35CB20-86C7-477E-80A4-3980739841FC}"/>
              </a:ext>
            </a:extLst>
          </p:cNvPr>
          <p:cNvSpPr>
            <a:spLocks noGrp="1"/>
          </p:cNvSpPr>
          <p:nvPr>
            <p:ph type="sldNum" sz="quarter" idx="4"/>
          </p:nvPr>
        </p:nvSpPr>
        <p:spPr>
          <a:xfrm>
            <a:off x="8466639" y="6513689"/>
            <a:ext cx="462872" cy="308555"/>
          </a:xfrm>
        </p:spPr>
        <p:txBody>
          <a:body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38940680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sz="4000" b="1">
                <a:solidFill>
                  <a:srgbClr val="001848"/>
                </a:solidFill>
                <a:latin typeface="+mj-lt"/>
              </a:defRPr>
            </a:lvl1pPr>
          </a:lstStyle>
          <a:p>
            <a:r>
              <a:rPr lang="en-US" dirty="0"/>
              <a:t>Click to edit Master title style</a:t>
            </a:r>
          </a:p>
        </p:txBody>
      </p:sp>
      <p:sp>
        <p:nvSpPr>
          <p:cNvPr id="13" name="Content Placeholder 12"/>
          <p:cNvSpPr>
            <a:spLocks noGrp="1"/>
          </p:cNvSpPr>
          <p:nvPr>
            <p:ph sz="quarter" idx="12"/>
          </p:nvPr>
        </p:nvSpPr>
        <p:spPr>
          <a:xfrm>
            <a:off x="4085431" y="1519237"/>
            <a:ext cx="1204913" cy="493712"/>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p:cNvSpPr>
            <a:spLocks noGrp="1"/>
          </p:cNvSpPr>
          <p:nvPr>
            <p:ph sz="quarter" idx="15"/>
          </p:nvPr>
        </p:nvSpPr>
        <p:spPr>
          <a:xfrm>
            <a:off x="633413" y="1085850"/>
            <a:ext cx="2849562" cy="433387"/>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Content Placeholder 4"/>
          <p:cNvSpPr>
            <a:spLocks noGrp="1"/>
          </p:cNvSpPr>
          <p:nvPr>
            <p:ph sz="quarter" idx="16"/>
          </p:nvPr>
        </p:nvSpPr>
        <p:spPr>
          <a:xfrm>
            <a:off x="5603875" y="2368948"/>
            <a:ext cx="1257300" cy="8509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8" name="Content Placeholder 17"/>
          <p:cNvSpPr>
            <a:spLocks noGrp="1"/>
          </p:cNvSpPr>
          <p:nvPr>
            <p:ph sz="quarter" idx="19"/>
          </p:nvPr>
        </p:nvSpPr>
        <p:spPr>
          <a:xfrm>
            <a:off x="7185188" y="2388400"/>
            <a:ext cx="1512887" cy="1290638"/>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8" name="Content Placeholder 7"/>
          <p:cNvSpPr>
            <a:spLocks noGrp="1"/>
          </p:cNvSpPr>
          <p:nvPr>
            <p:ph sz="quarter" idx="21"/>
          </p:nvPr>
        </p:nvSpPr>
        <p:spPr>
          <a:xfrm>
            <a:off x="434976" y="4681538"/>
            <a:ext cx="4252912" cy="1090612"/>
          </a:xfrm>
        </p:spPr>
        <p:txBody>
          <a:bodyPr/>
          <a:lstStyle>
            <a:lvl1pPr>
              <a:defRPr>
                <a:latin typeface="+mn-lt"/>
              </a:defRPr>
            </a:lvl1pPr>
          </a:lstStyle>
          <a:p>
            <a:pPr lvl="0"/>
            <a:r>
              <a:rPr lang="en-US" dirty="0"/>
              <a:t>Click to edit Master text styles</a:t>
            </a:r>
          </a:p>
        </p:txBody>
      </p:sp>
      <p:sp>
        <p:nvSpPr>
          <p:cNvPr id="9" name="Slide Number Placeholder 3">
            <a:extLst>
              <a:ext uri="{FF2B5EF4-FFF2-40B4-BE49-F238E27FC236}">
                <a16:creationId xmlns:a16="http://schemas.microsoft.com/office/drawing/2014/main" id="{847A5315-F5C6-4ED8-A5D4-28FBCB2571AD}"/>
              </a:ext>
            </a:extLst>
          </p:cNvPr>
          <p:cNvSpPr>
            <a:spLocks noGrp="1"/>
          </p:cNvSpPr>
          <p:nvPr>
            <p:ph type="sldNum" sz="quarter" idx="4"/>
          </p:nvPr>
        </p:nvSpPr>
        <p:spPr>
          <a:xfrm>
            <a:off x="8466639" y="6513689"/>
            <a:ext cx="462872" cy="308555"/>
          </a:xfrm>
        </p:spPr>
        <p:txBody>
          <a:body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31407227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sz="4000" b="1">
                <a:solidFill>
                  <a:srgbClr val="001848"/>
                </a:solidFill>
                <a:latin typeface="+mj-lt"/>
              </a:defRPr>
            </a:lvl1pPr>
          </a:lstStyle>
          <a:p>
            <a:r>
              <a:rPr lang="en-US" dirty="0"/>
              <a:t>Click to edit Master title style</a:t>
            </a:r>
          </a:p>
        </p:txBody>
      </p:sp>
      <p:sp>
        <p:nvSpPr>
          <p:cNvPr id="9" name="Content Placeholder 8"/>
          <p:cNvSpPr>
            <a:spLocks noGrp="1"/>
          </p:cNvSpPr>
          <p:nvPr>
            <p:ph sz="quarter" idx="10"/>
          </p:nvPr>
        </p:nvSpPr>
        <p:spPr>
          <a:xfrm>
            <a:off x="769938" y="5254625"/>
            <a:ext cx="6821033" cy="754289"/>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3" name="Content Placeholder 12"/>
          <p:cNvSpPr>
            <a:spLocks noGrp="1"/>
          </p:cNvSpPr>
          <p:nvPr>
            <p:ph sz="quarter" idx="12"/>
          </p:nvPr>
        </p:nvSpPr>
        <p:spPr>
          <a:xfrm>
            <a:off x="3482975" y="2176463"/>
            <a:ext cx="1204913" cy="493712"/>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7" name="Content Placeholder 16"/>
          <p:cNvSpPr>
            <a:spLocks noGrp="1"/>
          </p:cNvSpPr>
          <p:nvPr>
            <p:ph sz="quarter" idx="14"/>
          </p:nvPr>
        </p:nvSpPr>
        <p:spPr>
          <a:xfrm>
            <a:off x="7402513" y="2670175"/>
            <a:ext cx="974725" cy="696913"/>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Content Placeholder 4"/>
          <p:cNvSpPr>
            <a:spLocks noGrp="1"/>
          </p:cNvSpPr>
          <p:nvPr>
            <p:ph sz="quarter" idx="16"/>
          </p:nvPr>
        </p:nvSpPr>
        <p:spPr>
          <a:xfrm>
            <a:off x="5283200" y="3746500"/>
            <a:ext cx="1257300" cy="8509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8" name="Content Placeholder 17"/>
          <p:cNvSpPr>
            <a:spLocks noGrp="1"/>
          </p:cNvSpPr>
          <p:nvPr>
            <p:ph sz="quarter" idx="19"/>
          </p:nvPr>
        </p:nvSpPr>
        <p:spPr>
          <a:xfrm>
            <a:off x="7402513" y="3746500"/>
            <a:ext cx="1512887" cy="1290638"/>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0" name="Slide Number Placeholder 3">
            <a:extLst>
              <a:ext uri="{FF2B5EF4-FFF2-40B4-BE49-F238E27FC236}">
                <a16:creationId xmlns:a16="http://schemas.microsoft.com/office/drawing/2014/main" id="{D49618B9-3DA5-4E00-A418-9309E12F7E35}"/>
              </a:ext>
            </a:extLst>
          </p:cNvPr>
          <p:cNvSpPr>
            <a:spLocks noGrp="1"/>
          </p:cNvSpPr>
          <p:nvPr>
            <p:ph type="sldNum" sz="quarter" idx="4"/>
          </p:nvPr>
        </p:nvSpPr>
        <p:spPr>
          <a:xfrm>
            <a:off x="8466639" y="6513689"/>
            <a:ext cx="462872" cy="308555"/>
          </a:xfrm>
        </p:spPr>
        <p:txBody>
          <a:body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3018284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HAPTER CLOSING">
    <p:spTree>
      <p:nvGrpSpPr>
        <p:cNvPr id="1" name=""/>
        <p:cNvGrpSpPr/>
        <p:nvPr/>
      </p:nvGrpSpPr>
      <p:grpSpPr>
        <a:xfrm>
          <a:off x="0" y="0"/>
          <a:ext cx="0" cy="0"/>
          <a:chOff x="0" y="0"/>
          <a:chExt cx="0" cy="0"/>
        </a:xfrm>
      </p:grpSpPr>
      <p:sp>
        <p:nvSpPr>
          <p:cNvPr id="2" name="Hidden Slide Title">
            <a:extLst>
              <a:ext uri="{FF2B5EF4-FFF2-40B4-BE49-F238E27FC236}">
                <a16:creationId xmlns:a16="http://schemas.microsoft.com/office/drawing/2014/main" id="{D3229D0C-04EF-482F-B26C-8D49CD33DBE3}"/>
              </a:ext>
            </a:extLst>
          </p:cNvPr>
          <p:cNvSpPr>
            <a:spLocks noGrp="1"/>
          </p:cNvSpPr>
          <p:nvPr>
            <p:ph type="title" hasCustomPrompt="1"/>
          </p:nvPr>
        </p:nvSpPr>
        <p:spPr>
          <a:xfrm>
            <a:off x="3501687" y="0"/>
            <a:ext cx="2292103" cy="409904"/>
          </a:xfrm>
          <a:prstGeom prst="rect">
            <a:avLst/>
          </a:prstGeom>
        </p:spPr>
        <p:txBody>
          <a:bodyPr/>
          <a:lstStyle>
            <a:lvl1pPr>
              <a:defRPr>
                <a:solidFill>
                  <a:schemeClr val="tx1"/>
                </a:solidFill>
                <a:latin typeface="Arial (Headings)"/>
              </a:defRPr>
            </a:lvl1pPr>
          </a:lstStyle>
          <a:p>
            <a:r>
              <a:rPr lang="en-US" dirty="0"/>
              <a:t>Add hidden title here </a:t>
            </a:r>
          </a:p>
        </p:txBody>
      </p:sp>
      <p:pic>
        <p:nvPicPr>
          <p:cNvPr id="6" name="MGH Logo">
            <a:extLst>
              <a:ext uri="{FF2B5EF4-FFF2-40B4-BE49-F238E27FC236}">
                <a16:creationId xmlns:a16="http://schemas.microsoft.com/office/drawing/2014/main" id="{60DCFDF5-2A5B-440E-888A-BC0BFEF9FF5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350211" y="1479079"/>
            <a:ext cx="2443579" cy="2443579"/>
          </a:xfrm>
          <a:prstGeom prst="rect">
            <a:avLst/>
          </a:prstGeom>
        </p:spPr>
      </p:pic>
      <p:sp>
        <p:nvSpPr>
          <p:cNvPr id="9" name="MGH Tagline">
            <a:extLst>
              <a:ext uri="{FF2B5EF4-FFF2-40B4-BE49-F238E27FC236}">
                <a16:creationId xmlns:a16="http://schemas.microsoft.com/office/drawing/2014/main" id="{F040BF5C-A78D-440C-93DF-72F3F641F3F1}"/>
              </a:ext>
            </a:extLst>
          </p:cNvPr>
          <p:cNvSpPr txBox="1"/>
          <p:nvPr userDrawn="1"/>
        </p:nvSpPr>
        <p:spPr>
          <a:xfrm>
            <a:off x="1730746" y="4372423"/>
            <a:ext cx="5682508" cy="49244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600" b="0" i="0" u="none" strike="noStrike" kern="1200" cap="none" spc="40" normalizeH="0" baseline="0" noProof="0" dirty="0">
                <a:ln>
                  <a:noFill/>
                </a:ln>
                <a:solidFill>
                  <a:srgbClr val="000000"/>
                </a:solidFill>
                <a:effectLst/>
                <a:uLnTx/>
                <a:uFillTx/>
                <a:latin typeface="Calibri (Body)"/>
                <a:ea typeface="Calibri" panose="020F0502020204030204" pitchFamily="34" charset="0"/>
                <a:cs typeface="+mn-cs"/>
              </a:rPr>
              <a:t>Because learning changes everything.</a:t>
            </a:r>
            <a:r>
              <a:rPr kumimoji="0" lang="en-US" sz="2600" b="0" i="0" u="none" strike="noStrike" kern="1200" cap="none" spc="40" normalizeH="0" baseline="40000" noProof="0" dirty="0">
                <a:ln>
                  <a:noFill/>
                </a:ln>
                <a:solidFill>
                  <a:srgbClr val="000000"/>
                </a:solidFill>
                <a:effectLst/>
                <a:uLnTx/>
                <a:uFillTx/>
                <a:latin typeface="Calibri (Body)"/>
                <a:ea typeface="Calibri" panose="020F0502020204030204" pitchFamily="34" charset="0"/>
                <a:cs typeface="+mn-cs"/>
              </a:rPr>
              <a:t>®</a:t>
            </a:r>
            <a:endParaRPr kumimoji="0" lang="en-US" sz="2600" b="0" i="0" u="none" strike="noStrike" kern="1200" cap="none" spc="40" normalizeH="0" baseline="40000" noProof="0" dirty="0">
              <a:ln>
                <a:noFill/>
              </a:ln>
              <a:solidFill>
                <a:srgbClr val="000000"/>
              </a:solidFill>
              <a:effectLst/>
              <a:uLnTx/>
              <a:uFillTx/>
              <a:latin typeface="Calibri (Body)"/>
              <a:ea typeface="+mn-ea"/>
              <a:cs typeface="+mn-cs"/>
            </a:endParaRPr>
          </a:p>
        </p:txBody>
      </p:sp>
      <p:sp>
        <p:nvSpPr>
          <p:cNvPr id="10" name="MGH URL">
            <a:extLst>
              <a:ext uri="{FF2B5EF4-FFF2-40B4-BE49-F238E27FC236}">
                <a16:creationId xmlns:a16="http://schemas.microsoft.com/office/drawing/2014/main" id="{2215B5DD-E18E-478F-81B9-79BA83A9A251}"/>
              </a:ext>
            </a:extLst>
          </p:cNvPr>
          <p:cNvSpPr txBox="1"/>
          <p:nvPr userDrawn="1"/>
        </p:nvSpPr>
        <p:spPr>
          <a:xfrm>
            <a:off x="3269085" y="5329121"/>
            <a:ext cx="2605831"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Body)"/>
                <a:ea typeface="+mn-ea"/>
                <a:cs typeface="+mn-cs"/>
              </a:rPr>
              <a:t>www.mheducation.com</a:t>
            </a:r>
          </a:p>
        </p:txBody>
      </p:sp>
      <p:sp>
        <p:nvSpPr>
          <p:cNvPr id="7" name="Footer Placeholder 2">
            <a:extLst>
              <a:ext uri="{FF2B5EF4-FFF2-40B4-BE49-F238E27FC236}">
                <a16:creationId xmlns:a16="http://schemas.microsoft.com/office/drawing/2014/main" id="{9CF0A730-D7C8-4E8F-AEFB-EF1D3A3771B0}"/>
              </a:ext>
            </a:extLst>
          </p:cNvPr>
          <p:cNvSpPr>
            <a:spLocks noGrp="1"/>
          </p:cNvSpPr>
          <p:nvPr>
            <p:ph type="body" sz="quarter" idx="10" hasCustomPrompt="1"/>
          </p:nvPr>
        </p:nvSpPr>
        <p:spPr>
          <a:xfrm>
            <a:off x="1" y="6365559"/>
            <a:ext cx="9144000" cy="492442"/>
          </a:xfrm>
          <a:prstGeom prst="rect">
            <a:avLst/>
          </a:prstGeom>
        </p:spPr>
        <p:txBody>
          <a:bodyPr anchor="ctr"/>
          <a:lstStyle>
            <a:lvl1pPr algn="ctr">
              <a:defRPr sz="850">
                <a:solidFill>
                  <a:schemeClr val="tx1"/>
                </a:solidFill>
                <a:latin typeface="Arial (Body)"/>
              </a:defRPr>
            </a:lvl1pPr>
          </a:lstStyle>
          <a:p>
            <a:pPr lvl="0"/>
            <a:r>
              <a:rPr lang="en-IN" dirty="0"/>
              <a:t>Place long copyright here</a:t>
            </a:r>
            <a:endParaRPr lang="en-US" dirty="0"/>
          </a:p>
        </p:txBody>
      </p:sp>
    </p:spTree>
    <p:extLst>
      <p:ext uri="{BB962C8B-B14F-4D97-AF65-F5344CB8AC3E}">
        <p14:creationId xmlns:p14="http://schemas.microsoft.com/office/powerpoint/2010/main" val="28639272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GLOSSARY OPENER">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4FC4A42A-F982-4BF3-855D-C46FC3848A70}"/>
              </a:ext>
            </a:extLst>
          </p:cNvPr>
          <p:cNvSpPr/>
          <p:nvPr userDrawn="1"/>
        </p:nvSpPr>
        <p:spPr>
          <a:xfrm>
            <a:off x="0" y="2853266"/>
            <a:ext cx="9144000" cy="11514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49767" y="2892774"/>
            <a:ext cx="8644467" cy="1072453"/>
          </a:xfrm>
          <a:prstGeom prst="rect">
            <a:avLst/>
          </a:prstGeom>
        </p:spPr>
        <p:txBody>
          <a:bodyPr anchor="ctr">
            <a:noAutofit/>
          </a:bodyPr>
          <a:lstStyle>
            <a:lvl1pPr algn="l" defTabSz="914400" rtl="0" eaLnBrk="1" latinLnBrk="0" hangingPunct="1">
              <a:spcBef>
                <a:spcPct val="0"/>
              </a:spcBef>
              <a:buNone/>
              <a:defRPr lang="en-US" sz="2400" b="1" kern="1200" dirty="0">
                <a:solidFill>
                  <a:schemeClr val="bg1"/>
                </a:solidFill>
                <a:latin typeface="Calibri (Headings)"/>
                <a:ea typeface="+mn-ea"/>
                <a:cs typeface="Calibri" panose="020F0502020204030204" pitchFamily="34" charset="0"/>
              </a:defRPr>
            </a:lvl1pPr>
          </a:lstStyle>
          <a:p>
            <a:r>
              <a:rPr lang="en-US" dirty="0"/>
              <a:t>Glossary Title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458200"/>
            <a:ext cx="355840" cy="385194"/>
          </a:xfrm>
        </p:spPr>
        <p:txBody>
          <a:bodyPr/>
          <a:lstStyle>
            <a:lvl1pPr>
              <a:defRPr>
                <a:solidFill>
                  <a:schemeClr val="tx1"/>
                </a:solidFill>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2295968746"/>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GLOSSARY CONTENT">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521260" y="143933"/>
            <a:ext cx="8101480" cy="1072453"/>
          </a:xfrm>
          <a:prstGeom prst="rect">
            <a:avLst/>
          </a:prstGeom>
        </p:spPr>
        <p:txBody>
          <a:bodyPr anchor="ctr">
            <a:noAutofit/>
          </a:bodyPr>
          <a:lstStyle>
            <a:lvl1pPr algn="ctr" defTabSz="914400" rtl="0" eaLnBrk="1" latinLnBrk="0" hangingPunct="1">
              <a:spcBef>
                <a:spcPct val="0"/>
              </a:spcBef>
              <a:buNone/>
              <a:defRPr lang="en-US" sz="4000" b="1" kern="1200" dirty="0">
                <a:solidFill>
                  <a:srgbClr val="081D48"/>
                </a:solidFill>
                <a:latin typeface="Calibri (Headings)"/>
                <a:ea typeface="+mn-ea"/>
                <a:cs typeface="Calibri" panose="020F0502020204030204" pitchFamily="34" charset="0"/>
              </a:defRPr>
            </a:lvl1pPr>
          </a:lstStyle>
          <a:p>
            <a:r>
              <a:rPr lang="en-US" dirty="0"/>
              <a:t>Glossary-#</a:t>
            </a:r>
          </a:p>
        </p:txBody>
      </p:sp>
      <p:sp>
        <p:nvSpPr>
          <p:cNvPr id="8" name="Text Placeholder 7">
            <a:extLst>
              <a:ext uri="{FF2B5EF4-FFF2-40B4-BE49-F238E27FC236}">
                <a16:creationId xmlns:a16="http://schemas.microsoft.com/office/drawing/2014/main" id="{C1FCF5E1-2FEB-4730-893A-3DEFEAE61E8A}"/>
              </a:ext>
            </a:extLst>
          </p:cNvPr>
          <p:cNvSpPr>
            <a:spLocks noGrp="1"/>
          </p:cNvSpPr>
          <p:nvPr>
            <p:ph type="body" sz="quarter" idx="20" hasCustomPrompt="1"/>
          </p:nvPr>
        </p:nvSpPr>
        <p:spPr>
          <a:xfrm>
            <a:off x="520700" y="1338263"/>
            <a:ext cx="8102600" cy="405869"/>
          </a:xfrm>
        </p:spPr>
        <p:txBody>
          <a:bodyPr anchor="ctr" anchorCtr="1">
            <a:normAutofit/>
          </a:bodyPr>
          <a:lstStyle>
            <a:lvl1pPr marL="0" marR="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sz="1200">
                <a:latin typeface="Calibri (Body)"/>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lang="en-US" dirty="0"/>
              <a:t>Return to the parent-slide glossary term.</a:t>
            </a:r>
          </a:p>
        </p:txBody>
      </p:sp>
      <p:sp>
        <p:nvSpPr>
          <p:cNvPr id="10" name="Content Placeholder 9">
            <a:extLst>
              <a:ext uri="{FF2B5EF4-FFF2-40B4-BE49-F238E27FC236}">
                <a16:creationId xmlns:a16="http://schemas.microsoft.com/office/drawing/2014/main" id="{66FA4441-D273-4366-AF7D-29D272FD4385}"/>
              </a:ext>
            </a:extLst>
          </p:cNvPr>
          <p:cNvSpPr>
            <a:spLocks noGrp="1"/>
          </p:cNvSpPr>
          <p:nvPr>
            <p:ph sz="quarter" idx="21" hasCustomPrompt="1"/>
          </p:nvPr>
        </p:nvSpPr>
        <p:spPr>
          <a:xfrm>
            <a:off x="520700" y="1812925"/>
            <a:ext cx="8102600" cy="3773228"/>
          </a:xfrm>
        </p:spPr>
        <p:txBody>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a:latin typeface="Calibri (Body)"/>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lang="en-US" dirty="0"/>
              <a:t>Place Glossary Content Here…</a:t>
            </a:r>
          </a:p>
        </p:txBody>
      </p:sp>
      <p:sp>
        <p:nvSpPr>
          <p:cNvPr id="14" name="Text Placeholder 13">
            <a:extLst>
              <a:ext uri="{FF2B5EF4-FFF2-40B4-BE49-F238E27FC236}">
                <a16:creationId xmlns:a16="http://schemas.microsoft.com/office/drawing/2014/main" id="{71A6FFE2-060D-4131-A13B-CD72D3C16134}"/>
              </a:ext>
            </a:extLst>
          </p:cNvPr>
          <p:cNvSpPr>
            <a:spLocks noGrp="1"/>
          </p:cNvSpPr>
          <p:nvPr>
            <p:ph type="body" sz="quarter" idx="22" hasCustomPrompt="1"/>
          </p:nvPr>
        </p:nvSpPr>
        <p:spPr>
          <a:xfrm>
            <a:off x="520700" y="5718743"/>
            <a:ext cx="8102600" cy="385194"/>
          </a:xfrm>
        </p:spPr>
        <p:txBody>
          <a:bodyPr anchor="ctr" anchorCtr="1">
            <a:normAutofit/>
          </a:bodyPr>
          <a:lstStyle>
            <a:lvl1pPr marL="0" marR="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1200" kern="1200" dirty="0">
                <a:solidFill>
                  <a:schemeClr val="tx2"/>
                </a:solidFill>
                <a:latin typeface="Calibri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lang="en-US" dirty="0"/>
              <a:t>Return to the parent-slide glossary term.</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458200"/>
            <a:ext cx="355840" cy="385194"/>
          </a:xfr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3040548838"/>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PPENDIX OPENER">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F8E8A6E-2134-462B-9229-B1F01D5FD7F4}"/>
              </a:ext>
            </a:extLst>
          </p:cNvPr>
          <p:cNvSpPr/>
          <p:nvPr userDrawn="1"/>
        </p:nvSpPr>
        <p:spPr bwMode="auto">
          <a:xfrm>
            <a:off x="0" y="2853265"/>
            <a:ext cx="9144000" cy="1151467"/>
          </a:xfrm>
          <a:prstGeom prst="rect">
            <a:avLst/>
          </a:prstGeom>
          <a:solidFill>
            <a:srgbClr val="D9D9D9"/>
          </a:solidFill>
          <a:ln>
            <a:noFill/>
          </a:ln>
          <a:effectLst/>
        </p:spPr>
        <p:txBody>
          <a:bodyPr lIns="90488" tIns="44450" rIns="90488" bIns="44450"/>
          <a:lstStyle/>
          <a:p>
            <a:pPr marL="169863" indent="-169863" eaLnBrk="0" hangingPunct="0">
              <a:spcBef>
                <a:spcPct val="34000"/>
              </a:spcBef>
              <a:buClr>
                <a:srgbClr val="000000"/>
              </a:buClr>
              <a:buSzPct val="100000"/>
              <a:buFont typeface="Symbol" pitchFamily="18" charset="2"/>
              <a:buChar char="·"/>
              <a:defRPr/>
            </a:pPr>
            <a:endParaRPr lang="en-US" sz="1600" dirty="0">
              <a:solidFill>
                <a:srgbClr val="000000"/>
              </a:solidFill>
              <a:latin typeface="+mn-lt"/>
              <a:cs typeface="+mn-cs"/>
            </a:endParaRPr>
          </a:p>
        </p:txBody>
      </p:sp>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49767" y="2892774"/>
            <a:ext cx="8644467" cy="1072453"/>
          </a:xfrm>
          <a:prstGeom prst="rect">
            <a:avLst/>
          </a:prstGeom>
        </p:spPr>
        <p:txBody>
          <a:bodyPr anchor="ctr">
            <a:noAutofit/>
          </a:bodyPr>
          <a:lstStyle>
            <a:lvl1pPr algn="l" defTabSz="914400" rtl="0" eaLnBrk="1" latinLnBrk="0" hangingPunct="1">
              <a:spcBef>
                <a:spcPct val="0"/>
              </a:spcBef>
              <a:buNone/>
              <a:defRPr lang="en-US" sz="2400" b="1" kern="1200" dirty="0">
                <a:solidFill>
                  <a:schemeClr val="tx1"/>
                </a:solidFill>
                <a:latin typeface="Arial (Headings)"/>
                <a:ea typeface="+mn-ea"/>
                <a:cs typeface="Calibri" panose="020F0502020204030204" pitchFamily="34" charset="0"/>
              </a:defRPr>
            </a:lvl1pPr>
          </a:lstStyle>
          <a:p>
            <a:r>
              <a:rPr lang="en-US" dirty="0"/>
              <a:t>Appendix Title</a:t>
            </a:r>
          </a:p>
        </p:txBody>
      </p:sp>
      <p:sp>
        <p:nvSpPr>
          <p:cNvPr id="6" name="Slide Number Placeholder">
            <a:extLst>
              <a:ext uri="{FF2B5EF4-FFF2-40B4-BE49-F238E27FC236}">
                <a16:creationId xmlns:a16="http://schemas.microsoft.com/office/drawing/2014/main" id="{00556159-A873-408F-99F4-67C548E58AC9}"/>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1418588910"/>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APPENDIX CONTENT">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4607"/>
            <a:ext cx="9144000" cy="1201780"/>
          </a:xfrm>
          <a:prstGeom prst="rect">
            <a:avLst/>
          </a:prstGeom>
        </p:spPr>
        <p:txBody>
          <a:bodyPr anchor="ctr">
            <a:noAutofit/>
          </a:bodyPr>
          <a:lstStyle>
            <a:lvl1pPr algn="ctr" defTabSz="914400" rtl="0" eaLnBrk="1" latinLnBrk="0" hangingPunct="1">
              <a:spcBef>
                <a:spcPct val="0"/>
              </a:spcBef>
              <a:buNone/>
              <a:defRPr lang="en-US" sz="3600" b="0" kern="1200" dirty="0">
                <a:solidFill>
                  <a:srgbClr val="081D48"/>
                </a:solidFill>
                <a:latin typeface="Arial" panose="020B0604020202020204" pitchFamily="34" charset="0"/>
                <a:ea typeface="+mn-ea"/>
                <a:cs typeface="Arial" panose="020B0604020202020204" pitchFamily="34" charset="0"/>
              </a:defRPr>
            </a:lvl1pPr>
          </a:lstStyle>
          <a:p>
            <a:r>
              <a:rPr lang="en-US" dirty="0"/>
              <a:t>Appendix Title - Text Alternative</a:t>
            </a:r>
          </a:p>
        </p:txBody>
      </p:sp>
      <p:sp>
        <p:nvSpPr>
          <p:cNvPr id="8" name="Text Placeholder 7">
            <a:extLst>
              <a:ext uri="{FF2B5EF4-FFF2-40B4-BE49-F238E27FC236}">
                <a16:creationId xmlns:a16="http://schemas.microsoft.com/office/drawing/2014/main" id="{C1FCF5E1-2FEB-4730-893A-3DEFEAE61E8A}"/>
              </a:ext>
            </a:extLst>
          </p:cNvPr>
          <p:cNvSpPr>
            <a:spLocks noGrp="1"/>
          </p:cNvSpPr>
          <p:nvPr>
            <p:ph type="body" sz="quarter" idx="20" hasCustomPrompt="1"/>
          </p:nvPr>
        </p:nvSpPr>
        <p:spPr>
          <a:xfrm>
            <a:off x="703545" y="1338263"/>
            <a:ext cx="7736911" cy="405869"/>
          </a:xfrm>
        </p:spPr>
        <p:txBody>
          <a:bodyPr anchor="ctr" anchorCtr="1">
            <a:normAutofit/>
          </a:bodyPr>
          <a:lstStyle>
            <a:lvl1pPr marL="0" marR="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sz="1200">
                <a:latin typeface="Arial" panose="020B0604020202020204" pitchFamily="34" charset="0"/>
                <a:cs typeface="Arial" panose="020B0604020202020204" pitchFamily="34" charset="0"/>
              </a:defRPr>
            </a:lvl1pPr>
          </a:lstStyle>
          <a:p>
            <a:pPr lvl="0"/>
            <a:r>
              <a:rPr lang="en-US" dirty="0"/>
              <a:t>Return to parent-slide containing images.</a:t>
            </a:r>
          </a:p>
        </p:txBody>
      </p:sp>
      <p:sp>
        <p:nvSpPr>
          <p:cNvPr id="10" name="Content Placeholder 9">
            <a:extLst>
              <a:ext uri="{FF2B5EF4-FFF2-40B4-BE49-F238E27FC236}">
                <a16:creationId xmlns:a16="http://schemas.microsoft.com/office/drawing/2014/main" id="{66FA4441-D273-4366-AF7D-29D272FD4385}"/>
              </a:ext>
            </a:extLst>
          </p:cNvPr>
          <p:cNvSpPr>
            <a:spLocks noGrp="1"/>
          </p:cNvSpPr>
          <p:nvPr>
            <p:ph sz="quarter" idx="21" hasCustomPrompt="1"/>
          </p:nvPr>
        </p:nvSpPr>
        <p:spPr>
          <a:xfrm>
            <a:off x="703545" y="1812925"/>
            <a:ext cx="7736911" cy="3773228"/>
          </a:xfrm>
        </p:spPr>
        <p:txBody>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1400">
                <a:latin typeface="Arial" panose="020B0604020202020204" pitchFamily="34" charset="0"/>
                <a:cs typeface="Arial" panose="020B0604020202020204" pitchFamily="34" charset="0"/>
              </a:defRPr>
            </a:lvl1pPr>
          </a:lstStyle>
          <a:p>
            <a:pPr lvl="0"/>
            <a:r>
              <a:rPr lang="en-US" dirty="0"/>
              <a:t>Place Appendix Content Here…</a:t>
            </a:r>
          </a:p>
        </p:txBody>
      </p:sp>
      <p:sp>
        <p:nvSpPr>
          <p:cNvPr id="14" name="Text Placeholder 13">
            <a:extLst>
              <a:ext uri="{FF2B5EF4-FFF2-40B4-BE49-F238E27FC236}">
                <a16:creationId xmlns:a16="http://schemas.microsoft.com/office/drawing/2014/main" id="{71A6FFE2-060D-4131-A13B-CD72D3C16134}"/>
              </a:ext>
            </a:extLst>
          </p:cNvPr>
          <p:cNvSpPr>
            <a:spLocks noGrp="1"/>
          </p:cNvSpPr>
          <p:nvPr>
            <p:ph type="body" sz="quarter" idx="22" hasCustomPrompt="1"/>
          </p:nvPr>
        </p:nvSpPr>
        <p:spPr>
          <a:xfrm>
            <a:off x="703545" y="5718743"/>
            <a:ext cx="7736911" cy="385194"/>
          </a:xfrm>
        </p:spPr>
        <p:txBody>
          <a:bodyPr anchor="ctr" anchorCtr="1">
            <a:normAutofit/>
          </a:bodyPr>
          <a:lstStyle>
            <a:lvl1pPr marL="0" marR="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1200" kern="1200" dirty="0">
                <a:solidFill>
                  <a:schemeClr val="tx2"/>
                </a:solidFill>
                <a:latin typeface="Arial" panose="020B0604020202020204" pitchFamily="34" charset="0"/>
                <a:ea typeface="+mn-ea"/>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440456" y="6458200"/>
            <a:ext cx="541796" cy="385194"/>
          </a:xfrm>
          <a:prstGeom prst="rect">
            <a:avLst/>
          </a:prstGeo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2778746110"/>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APPENDIX TITLE SUBTITLE">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735677" y="2345267"/>
            <a:ext cx="7672647" cy="1354666"/>
          </a:xfrm>
          <a:prstGeom prst="rect">
            <a:avLst/>
          </a:prstGeom>
        </p:spPr>
        <p:txBody>
          <a:bodyPr anchor="ctr" anchorCtr="1">
            <a:noAutofit/>
          </a:bodyPr>
          <a:lstStyle>
            <a:lvl1pPr algn="ctr" defTabSz="914400" rtl="0" eaLnBrk="1" latinLnBrk="0" hangingPunct="1">
              <a:spcBef>
                <a:spcPct val="0"/>
              </a:spcBef>
              <a:buNone/>
              <a:defRPr lang="en-US" sz="4400" b="1" kern="1200" dirty="0">
                <a:solidFill>
                  <a:srgbClr val="081D48"/>
                </a:solidFill>
                <a:latin typeface="Calibri (Headings)"/>
                <a:ea typeface="+mn-ea"/>
                <a:cs typeface="Calibri" panose="020F0502020204030204" pitchFamily="34" charset="0"/>
              </a:defRPr>
            </a:lvl1pPr>
          </a:lstStyle>
          <a:p>
            <a:r>
              <a:rPr lang="en-US" dirty="0"/>
              <a:t>Appendix</a:t>
            </a:r>
          </a:p>
        </p:txBody>
      </p:sp>
      <p:sp>
        <p:nvSpPr>
          <p:cNvPr id="14" name="Subtitle 2">
            <a:extLst>
              <a:ext uri="{FF2B5EF4-FFF2-40B4-BE49-F238E27FC236}">
                <a16:creationId xmlns:a16="http://schemas.microsoft.com/office/drawing/2014/main" id="{94B2AA13-A008-444C-B284-83EB2A0F5D97}"/>
              </a:ext>
            </a:extLst>
          </p:cNvPr>
          <p:cNvSpPr>
            <a:spLocks noGrp="1"/>
          </p:cNvSpPr>
          <p:nvPr>
            <p:ph type="subTitle" idx="1" hasCustomPrompt="1"/>
          </p:nvPr>
        </p:nvSpPr>
        <p:spPr>
          <a:xfrm>
            <a:off x="1596044" y="3981796"/>
            <a:ext cx="5951912" cy="1729048"/>
          </a:xfrm>
        </p:spPr>
        <p:txBody>
          <a:bodyPr anchor="ctr" anchorCtr="1">
            <a:normAutofit/>
          </a:bodyPr>
          <a:lstStyle>
            <a:lvl1pPr marL="0" indent="0" algn="ctr">
              <a:buNone/>
              <a:defRPr sz="4400">
                <a:latin typeface="Calibri (Body)"/>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Appendix Subtitle</a:t>
            </a:r>
          </a:p>
        </p:txBody>
      </p:sp>
      <p:sp>
        <p:nvSpPr>
          <p:cNvPr id="23" name="Long Description Link 22" hidden="1">
            <a:extLst>
              <a:ext uri="{FF2B5EF4-FFF2-40B4-BE49-F238E27FC236}">
                <a16:creationId xmlns:a16="http://schemas.microsoft.com/office/drawing/2014/main" id="{BD42A2ED-50EC-4CB6-89B9-F2440BE97967}"/>
              </a:ext>
            </a:extLst>
          </p:cNvPr>
          <p:cNvSpPr>
            <a:spLocks noGrp="1"/>
          </p:cNvSpPr>
          <p:nvPr>
            <p:ph type="body" sz="quarter" idx="18" hasCustomPrompt="1"/>
          </p:nvPr>
        </p:nvSpPr>
        <p:spPr>
          <a:xfrm>
            <a:off x="521259" y="5790672"/>
            <a:ext cx="8101481" cy="314325"/>
          </a:xfrm>
        </p:spPr>
        <p:txBody>
          <a:bodyPr anchor="ctr">
            <a:normAutofit/>
          </a:bodyPr>
          <a:lstStyle>
            <a:lvl1pPr algn="ctr">
              <a:defRPr sz="900">
                <a:latin typeface="Calibri (Body)"/>
              </a:defRPr>
            </a:lvl1pPr>
          </a:lstStyle>
          <a:p>
            <a:pPr lvl="0"/>
            <a:r>
              <a:rPr lang="en-US" dirty="0"/>
              <a:t>Add text alternative link, if needed.</a:t>
            </a:r>
          </a:p>
        </p:txBody>
      </p:sp>
      <p:sp>
        <p:nvSpPr>
          <p:cNvPr id="25" name="Image Credit" hidden="1">
            <a:extLst>
              <a:ext uri="{FF2B5EF4-FFF2-40B4-BE49-F238E27FC236}">
                <a16:creationId xmlns:a16="http://schemas.microsoft.com/office/drawing/2014/main" id="{5CA37626-93A6-4081-9ED9-636DCDEED43D}"/>
              </a:ext>
            </a:extLst>
          </p:cNvPr>
          <p:cNvSpPr>
            <a:spLocks noGrp="1"/>
          </p:cNvSpPr>
          <p:nvPr>
            <p:ph type="body" sz="quarter" idx="19" hasCustomPrompt="1"/>
          </p:nvPr>
        </p:nvSpPr>
        <p:spPr>
          <a:xfrm>
            <a:off x="1592569" y="6458201"/>
            <a:ext cx="6932612" cy="385194"/>
          </a:xfrm>
        </p:spPr>
        <p:txBody>
          <a:bodyPr rIns="0" anchor="ctr" anchorCtr="0">
            <a:noAutofit/>
          </a:bodyPr>
          <a:lstStyle>
            <a:lvl1pPr algn="r">
              <a:defRPr lang="en-US" sz="800" kern="1200" dirty="0">
                <a:solidFill>
                  <a:schemeClr val="bg1"/>
                </a:solidFill>
                <a:latin typeface="Calibri" panose="020F0502020204030204" pitchFamily="34" charset="0"/>
                <a:ea typeface="+mn-ea"/>
                <a:cs typeface="Calibri" panose="020F0502020204030204" pitchFamily="34" charset="0"/>
              </a:defRPr>
            </a:lvl1pPr>
          </a:lstStyle>
          <a:p>
            <a:pPr marL="0" marR="0" lvl="0" indent="0" algn="r"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458200"/>
            <a:ext cx="355840" cy="385194"/>
          </a:xfr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1707012676"/>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png"/><Relationship Id="rId5"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Layout" Target="../slideLayouts/slideLayout4.xml"/><Relationship Id="rId3" Type="http://schemas.openxmlformats.org/officeDocument/2006/relationships/slideLayout" Target="../slideLayouts/slideLayout5.xml"/><Relationship Id="rId4" Type="http://schemas.openxmlformats.org/officeDocument/2006/relationships/slideLayout" Target="../slideLayouts/slideLayout6.xml"/><Relationship Id="rId5" Type="http://schemas.openxmlformats.org/officeDocument/2006/relationships/slideLayout" Target="../slideLayouts/slideLayout7.xml"/><Relationship Id="rId6" Type="http://schemas.openxmlformats.org/officeDocument/2006/relationships/slideLayout" Target="../slideLayouts/slideLayout8.xml"/><Relationship Id="rId7" Type="http://schemas.openxmlformats.org/officeDocument/2006/relationships/slideLayout" Target="../slideLayouts/slideLayout9.xml"/><Relationship Id="rId8" Type="http://schemas.openxmlformats.org/officeDocument/2006/relationships/slideLayout" Target="../slideLayouts/slideLayout10.xml"/><Relationship Id="rId9" Type="http://schemas.openxmlformats.org/officeDocument/2006/relationships/slideLayout" Target="../slideLayouts/slideLayout11.xml"/><Relationship Id="rId10" Type="http://schemas.openxmlformats.org/officeDocument/2006/relationships/slideLayout" Target="../slideLayouts/slideLayout12.xml"/><Relationship Id="rId11" Type="http://schemas.openxmlformats.org/officeDocument/2006/relationships/slideLayout" Target="../slideLayouts/slideLayout13.xml"/><Relationship Id="rId12" Type="http://schemas.openxmlformats.org/officeDocument/2006/relationships/slideLayout" Target="../slideLayouts/slideLayout14.xml"/><Relationship Id="rId13" Type="http://schemas.openxmlformats.org/officeDocument/2006/relationships/slideLayout" Target="../slideLayouts/slideLayout15.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theme" Target="../theme/theme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5B9B96F-01AB-4DD8-9A0B-D81D4B92BC67}"/>
              </a:ext>
            </a:extLst>
          </p:cNvPr>
          <p:cNvSpPr/>
          <p:nvPr userDrawn="1"/>
        </p:nvSpPr>
        <p:spPr bwMode="auto">
          <a:xfrm>
            <a:off x="0" y="-1"/>
            <a:ext cx="9144000" cy="481867"/>
          </a:xfrm>
          <a:prstGeom prst="rect">
            <a:avLst/>
          </a:prstGeom>
          <a:solidFill>
            <a:schemeClr val="bg1">
              <a:lumMod val="85000"/>
            </a:schemeClr>
          </a:solidFill>
          <a:ln>
            <a:noFill/>
          </a:ln>
          <a:effectLst/>
        </p:spPr>
        <p:txBody>
          <a:bodyPr lIns="90488" tIns="44450" rIns="90488" bIns="44450"/>
          <a:lstStyle/>
          <a:p>
            <a:pPr marL="169863" indent="-169863" eaLnBrk="0" hangingPunct="0">
              <a:spcBef>
                <a:spcPct val="34000"/>
              </a:spcBef>
              <a:buClr>
                <a:srgbClr val="000000"/>
              </a:buClr>
              <a:buSzPct val="100000"/>
              <a:buFont typeface="Symbol" pitchFamily="18" charset="2"/>
              <a:buChar char="·"/>
              <a:defRPr/>
            </a:pPr>
            <a:endParaRPr lang="en-US" sz="1600" dirty="0">
              <a:solidFill>
                <a:srgbClr val="000000"/>
              </a:solidFill>
              <a:latin typeface="+mn-lt"/>
              <a:cs typeface="+mn-cs"/>
            </a:endParaRPr>
          </a:p>
        </p:txBody>
      </p:sp>
      <p:pic>
        <p:nvPicPr>
          <p:cNvPr id="8" name="MGH logo">
            <a:extLst>
              <a:ext uri="{FF2B5EF4-FFF2-40B4-BE49-F238E27FC236}">
                <a16:creationId xmlns:a16="http://schemas.microsoft.com/office/drawing/2014/main" id="{202AAA75-63DC-48F9-8834-4D17A1CF4E2C}"/>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4600" y="126037"/>
            <a:ext cx="612648" cy="612648"/>
          </a:xfrm>
          <a:prstGeom prst="rect">
            <a:avLst/>
          </a:prstGeom>
        </p:spPr>
      </p:pic>
      <p:sp>
        <p:nvSpPr>
          <p:cNvPr id="3" name="MGH Tagline">
            <a:extLst>
              <a:ext uri="{FF2B5EF4-FFF2-40B4-BE49-F238E27FC236}">
                <a16:creationId xmlns:a16="http://schemas.microsoft.com/office/drawing/2014/main" id="{70E12349-CEA7-4006-B6E3-3E283BDBD258}"/>
              </a:ext>
            </a:extLst>
          </p:cNvPr>
          <p:cNvSpPr txBox="1"/>
          <p:nvPr/>
        </p:nvSpPr>
        <p:spPr>
          <a:xfrm>
            <a:off x="465512" y="741460"/>
            <a:ext cx="8558299" cy="307777"/>
          </a:xfrm>
          <a:prstGeom prst="rect">
            <a:avLst/>
          </a:prstGeom>
          <a:noFill/>
        </p:spPr>
        <p:txBody>
          <a:bodyPr wrap="square" lIns="45720" rIns="4572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40" dirty="0">
                <a:effectLst/>
                <a:latin typeface="Arial" panose="020B0604020202020204" pitchFamily="34" charset="0"/>
                <a:ea typeface="Calibri" panose="020F0502020204030204" pitchFamily="34" charset="0"/>
                <a:cs typeface="Arial" panose="020B0604020202020204" pitchFamily="34" charset="0"/>
              </a:rPr>
              <a:t>Because learning changes everything.</a:t>
            </a:r>
            <a:r>
              <a:rPr lang="en-US" sz="1400" spc="40" baseline="30000" dirty="0">
                <a:effectLst/>
                <a:latin typeface="Arial" panose="020B0604020202020204" pitchFamily="34" charset="0"/>
                <a:ea typeface="Calibri" panose="020F0502020204030204" pitchFamily="34" charset="0"/>
                <a:cs typeface="Arial" panose="020B0604020202020204" pitchFamily="34" charset="0"/>
              </a:rPr>
              <a:t>®</a:t>
            </a:r>
            <a:endParaRPr lang="en-US" sz="1400" spc="40" baseline="30000"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6A1A395B-AC00-4912-B68A-9FFDC1A8A4DA}"/>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440575" y="1284804"/>
            <a:ext cx="4229373" cy="4663440"/>
          </a:xfrm>
          <a:prstGeom prst="rect">
            <a:avLst/>
          </a:prstGeom>
        </p:spPr>
      </p:pic>
      <p:sp>
        <p:nvSpPr>
          <p:cNvPr id="14" name="Slide Number Placeholder">
            <a:extLst>
              <a:ext uri="{FF2B5EF4-FFF2-40B4-BE49-F238E27FC236}">
                <a16:creationId xmlns:a16="http://schemas.microsoft.com/office/drawing/2014/main" id="{358CCDBF-D83B-42C0-9F60-3DB5E69B969D}"/>
              </a:ext>
            </a:extLst>
          </p:cNvPr>
          <p:cNvSpPr>
            <a:spLocks noGrp="1"/>
          </p:cNvSpPr>
          <p:nvPr>
            <p:ph type="sldNum" sz="quarter" idx="4"/>
          </p:nvPr>
        </p:nvSpPr>
        <p:spPr>
          <a:xfrm>
            <a:off x="8562109" y="6089955"/>
            <a:ext cx="461703" cy="279400"/>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
        <p:nvSpPr>
          <p:cNvPr id="11" name="Rectangle 10">
            <a:extLst>
              <a:ext uri="{FF2B5EF4-FFF2-40B4-BE49-F238E27FC236}">
                <a16:creationId xmlns:a16="http://schemas.microsoft.com/office/drawing/2014/main" id="{827CDCCE-AEEF-467C-B925-131D7D384F3C}"/>
              </a:ext>
            </a:extLst>
          </p:cNvPr>
          <p:cNvSpPr/>
          <p:nvPr userDrawn="1"/>
        </p:nvSpPr>
        <p:spPr bwMode="auto">
          <a:xfrm>
            <a:off x="0" y="6369355"/>
            <a:ext cx="9144000" cy="490954"/>
          </a:xfrm>
          <a:prstGeom prst="rect">
            <a:avLst/>
          </a:prstGeom>
          <a:solidFill>
            <a:srgbClr val="D9D9D9"/>
          </a:solidFill>
          <a:ln>
            <a:noFill/>
          </a:ln>
          <a:effectLst/>
        </p:spPr>
        <p:txBody>
          <a:bodyPr lIns="90488" tIns="44450" rIns="90488" bIns="44450" anchor="ctr"/>
          <a:lstStyle/>
          <a:p>
            <a:pPr algn="ctr">
              <a:defRPr/>
            </a:pPr>
            <a:endParaRPr lang="en-US" sz="1000" i="0" dirty="0">
              <a:solidFill>
                <a:srgbClr val="000000"/>
              </a:solidFill>
              <a:latin typeface="+mn-lt"/>
              <a:cs typeface="Arial" panose="020B0604020202020204" pitchFamily="34" charset="0"/>
            </a:endParaRPr>
          </a:p>
        </p:txBody>
      </p:sp>
    </p:spTree>
    <p:extLst>
      <p:ext uri="{BB962C8B-B14F-4D97-AF65-F5344CB8AC3E}">
        <p14:creationId xmlns:p14="http://schemas.microsoft.com/office/powerpoint/2010/main" val="4098600466"/>
      </p:ext>
    </p:extLst>
  </p:cSld>
  <p:clrMap bg1="lt1" tx1="dk1" bg2="lt2" tx2="dk2" accent1="accent1" accent2="accent2" accent3="accent3" accent4="accent4" accent5="accent5" accent6="accent6" hlink="hlink" folHlink="folHlink"/>
  <p:sldLayoutIdLst>
    <p:sldLayoutId id="2147483673" r:id="rId1"/>
    <p:sldLayoutId id="2147483674" r:id="rId2"/>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400" kern="1200" baseline="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880">
          <p15:clr>
            <a:srgbClr val="F26B43"/>
          </p15:clr>
        </p15:guide>
        <p15:guide id="6" pos="216">
          <p15:clr>
            <a:srgbClr val="F26B43"/>
          </p15:clr>
        </p15:guide>
        <p15:guide id="7" pos="5544">
          <p15:clr>
            <a:srgbClr val="F26B43"/>
          </p15:clr>
        </p15:guide>
        <p15:guide id="9" orient="horz" pos="4211">
          <p15:clr>
            <a:srgbClr val="F26B43"/>
          </p15:clr>
        </p15:guide>
        <p15:guide id="10" orient="horz" pos="960">
          <p15:clr>
            <a:srgbClr val="F26B43"/>
          </p15:clr>
        </p15:guide>
        <p15:guide id="11" orient="horz" pos="410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itle Placeholder" hidden="1">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hidden="1">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2" name="Short Copyright">
            <a:extLst>
              <a:ext uri="{FF2B5EF4-FFF2-40B4-BE49-F238E27FC236}">
                <a16:creationId xmlns:a16="http://schemas.microsoft.com/office/drawing/2014/main" id="{36838A37-515E-4F5C-BF9F-CE51891A9C27}"/>
              </a:ext>
            </a:extLst>
          </p:cNvPr>
          <p:cNvSpPr txBox="1"/>
          <p:nvPr/>
        </p:nvSpPr>
        <p:spPr>
          <a:xfrm>
            <a:off x="215658" y="6542844"/>
            <a:ext cx="1233578" cy="215444"/>
          </a:xfrm>
          <a:prstGeom prst="rect">
            <a:avLst/>
          </a:prstGeom>
          <a:noFill/>
        </p:spPr>
        <p:txBody>
          <a:bodyPr wrap="square" lIns="45720" rIns="45720" rtlCol="0" anchor="ctr">
            <a:spAutoFit/>
          </a:bodyPr>
          <a:lstStyle/>
          <a:p>
            <a:r>
              <a:rPr lang="en-IN" sz="800" b="0" kern="1200" dirty="0">
                <a:solidFill>
                  <a:schemeClr val="tx1"/>
                </a:solidFill>
                <a:effectLst/>
                <a:latin typeface="+mn-lt"/>
                <a:ea typeface="+mn-ea"/>
                <a:cs typeface="+mn-cs"/>
              </a:rPr>
              <a:t>© McGraw Hill LLC</a:t>
            </a:r>
          </a:p>
        </p:txBody>
      </p:sp>
      <p:sp>
        <p:nvSpPr>
          <p:cNvPr id="6" name="Slide Number Placeholder">
            <a:extLst>
              <a:ext uri="{FF2B5EF4-FFF2-40B4-BE49-F238E27FC236}">
                <a16:creationId xmlns:a16="http://schemas.microsoft.com/office/drawing/2014/main" id="{7D76183D-3485-4A46-8E8E-BA5DC84389D1}"/>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3603059519"/>
      </p:ext>
    </p:extLst>
  </p:cSld>
  <p:clrMap bg1="lt1" tx1="dk1" bg2="lt2" tx2="dk2" accent1="accent1" accent2="accent2" accent3="accent3" accent4="accent4" accent5="accent5" accent6="accent6" hlink="hlink" folHlink="folHlink"/>
  <p:sldLayoutIdLst>
    <p:sldLayoutId id="2147483694" r:id="rId1"/>
    <p:sldLayoutId id="2147483696" r:id="rId2"/>
    <p:sldLayoutId id="2147483676" r:id="rId3"/>
    <p:sldLayoutId id="2147483697" r:id="rId4"/>
    <p:sldLayoutId id="2147483695" r:id="rId5"/>
    <p:sldLayoutId id="2147483677" r:id="rId6"/>
    <p:sldLayoutId id="2147483690" r:id="rId7"/>
    <p:sldLayoutId id="2147483693" r:id="rId8"/>
    <p:sldLayoutId id="2147483692" r:id="rId9"/>
    <p:sldLayoutId id="2147483691" r:id="rId10"/>
    <p:sldLayoutId id="2147483698" r:id="rId11"/>
    <p:sldLayoutId id="2147483699" r:id="rId12"/>
    <p:sldLayoutId id="2147483700" r:id="rId13"/>
  </p:sldLayoutIdLst>
  <p:hf hdr="0" dt="0"/>
  <p:txStyles>
    <p:titleStyle>
      <a:lvl1pPr algn="l" defTabSz="914400" rtl="0" eaLnBrk="1" latinLnBrk="0" hangingPunct="1">
        <a:lnSpc>
          <a:spcPct val="90000"/>
        </a:lnSpc>
        <a:spcBef>
          <a:spcPct val="0"/>
        </a:spcBef>
        <a:buNone/>
        <a:defRPr sz="2400" b="1" kern="1200">
          <a:solidFill>
            <a:schemeClr val="tx2"/>
          </a:solidFill>
          <a:latin typeface="Calibri (Headings)"/>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Calibri" panose="020F0502020204030204" pitchFamily="34" charset="0"/>
          <a:ea typeface="+mn-ea"/>
          <a:cs typeface="Calibri" panose="020F0502020204030204" pitchFamily="34" charset="0"/>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Calibri" panose="020F0502020204030204" pitchFamily="34" charset="0"/>
          <a:ea typeface="+mn-ea"/>
          <a:cs typeface="Calibri" panose="020F0502020204030204" pitchFamily="34" charset="0"/>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Calibri" panose="020F0502020204030204" pitchFamily="34" charset="0"/>
          <a:ea typeface="+mn-ea"/>
          <a:cs typeface="Calibri" panose="020F0502020204030204" pitchFamily="34" charset="0"/>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E2F7581-8105-4856-B006-EAE98E0C9AC7}"/>
              </a:ext>
            </a:extLst>
          </p:cNvPr>
          <p:cNvSpPr/>
          <p:nvPr userDrawn="1"/>
        </p:nvSpPr>
        <p:spPr bwMode="auto">
          <a:xfrm>
            <a:off x="-1" y="0"/>
            <a:ext cx="9144000" cy="490954"/>
          </a:xfrm>
          <a:prstGeom prst="rect">
            <a:avLst/>
          </a:prstGeom>
          <a:solidFill>
            <a:srgbClr val="D9D9D9"/>
          </a:solidFill>
          <a:ln>
            <a:noFill/>
          </a:ln>
          <a:effectLst/>
        </p:spPr>
        <p:txBody>
          <a:bodyPr lIns="90488" tIns="44450" rIns="90488" bIns="44450"/>
          <a:lstStyle/>
          <a:p>
            <a:pPr marL="169863" indent="-169863" eaLnBrk="0" hangingPunct="0">
              <a:spcBef>
                <a:spcPct val="34000"/>
              </a:spcBef>
              <a:buClr>
                <a:srgbClr val="000000"/>
              </a:buClr>
              <a:buSzPct val="100000"/>
              <a:buFont typeface="Symbol" pitchFamily="18" charset="2"/>
              <a:buChar char="·"/>
              <a:defRPr/>
            </a:pPr>
            <a:endParaRPr lang="en-US" sz="1600" dirty="0">
              <a:solidFill>
                <a:srgbClr val="000000"/>
              </a:solidFill>
              <a:latin typeface="+mn-lt"/>
              <a:cs typeface="+mn-cs"/>
            </a:endParaRPr>
          </a:p>
        </p:txBody>
      </p:sp>
      <p:sp>
        <p:nvSpPr>
          <p:cNvPr id="7" name="Rectangle 6">
            <a:extLst>
              <a:ext uri="{FF2B5EF4-FFF2-40B4-BE49-F238E27FC236}">
                <a16:creationId xmlns:a16="http://schemas.microsoft.com/office/drawing/2014/main" id="{70958A1A-1A12-45A2-B5E0-60CE12EFE953}"/>
              </a:ext>
            </a:extLst>
          </p:cNvPr>
          <p:cNvSpPr/>
          <p:nvPr userDrawn="1"/>
        </p:nvSpPr>
        <p:spPr bwMode="auto">
          <a:xfrm>
            <a:off x="0" y="6367046"/>
            <a:ext cx="9144000" cy="490954"/>
          </a:xfrm>
          <a:prstGeom prst="rect">
            <a:avLst/>
          </a:prstGeom>
          <a:solidFill>
            <a:schemeClr val="bg1">
              <a:lumMod val="85000"/>
            </a:schemeClr>
          </a:solidFill>
          <a:ln>
            <a:noFill/>
          </a:ln>
          <a:effectLst/>
        </p:spPr>
        <p:txBody>
          <a:bodyPr lIns="90488" tIns="44450" rIns="90488" bIns="44450" anchor="ctr"/>
          <a:lstStyle/>
          <a:p>
            <a:pPr marL="0" marR="0" lvl="0" indent="0" algn="ctr" defTabSz="457200" rtl="0" eaLnBrk="0" fontAlgn="auto" latinLnBrk="0" hangingPunct="0">
              <a:lnSpc>
                <a:spcPct val="100000"/>
              </a:lnSpc>
              <a:spcBef>
                <a:spcPct val="34000"/>
              </a:spcBef>
              <a:spcAft>
                <a:spcPts val="0"/>
              </a:spcAft>
              <a:buClr>
                <a:srgbClr val="000000"/>
              </a:buClr>
              <a:buSzPct val="100000"/>
              <a:buFont typeface="Symbol" pitchFamily="18" charset="2"/>
              <a:buNone/>
              <a:tabLst/>
              <a:defRPr/>
            </a:pPr>
            <a:endParaRPr lang="en-US" sz="1000" i="0" dirty="0">
              <a:solidFill>
                <a:srgbClr val="000000"/>
              </a:solidFill>
              <a:latin typeface="+mn-lt"/>
              <a:cs typeface="Arial" panose="020B0604020202020204" pitchFamily="34" charset="0"/>
            </a:endParaRPr>
          </a:p>
        </p:txBody>
      </p:sp>
    </p:spTree>
    <p:extLst>
      <p:ext uri="{BB962C8B-B14F-4D97-AF65-F5344CB8AC3E}">
        <p14:creationId xmlns:p14="http://schemas.microsoft.com/office/powerpoint/2010/main" val="580835463"/>
      </p:ext>
    </p:extLst>
  </p:cSld>
  <p:clrMap bg1="lt1" tx1="dk1" bg2="lt2" tx2="dk2" accent1="accent1" accent2="accent2" accent3="accent3" accent4="accent4" accent5="accent5" accent6="accent6" hlink="hlink" folHlink="folHlink"/>
  <p:sldLayoutIdLst>
    <p:sldLayoutId id="2147483679" r:id="rId1"/>
  </p:sldLayoutIdLst>
  <p:hf hdr="0" dt="0"/>
  <p:txStyles>
    <p:titleStyle>
      <a:lvl1pPr algn="ctr" defTabSz="914400" rtl="0" eaLnBrk="1" latinLnBrk="0" hangingPunct="1">
        <a:lnSpc>
          <a:spcPct val="90000"/>
        </a:lnSpc>
        <a:spcBef>
          <a:spcPct val="0"/>
        </a:spcBef>
        <a:buNone/>
        <a:defRPr sz="1600" b="0" kern="1200">
          <a:solidFill>
            <a:schemeClr val="tx2"/>
          </a:solidFill>
          <a:latin typeface="+mj-lt"/>
          <a:ea typeface="+mj-ea"/>
          <a:cs typeface="+mj-cs"/>
        </a:defRPr>
      </a:lvl1pPr>
    </p:titleStyle>
    <p:bodyStyle>
      <a:lvl1pPr marL="0" marR="0" indent="0" algn="ctr" defTabSz="914400" rtl="0" eaLnBrk="1" fontAlgn="auto" latinLnBrk="0" hangingPunct="1">
        <a:lnSpc>
          <a:spcPct val="100000"/>
        </a:lnSpc>
        <a:spcBef>
          <a:spcPts val="0"/>
        </a:spcBef>
        <a:spcAft>
          <a:spcPts val="0"/>
        </a:spcAft>
        <a:buClrTx/>
        <a:buSzTx/>
        <a:buFontTx/>
        <a:buNone/>
        <a:tabLst/>
        <a:defRPr sz="2000" kern="120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11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2160">
          <p15:clr>
            <a:srgbClr val="F26B43"/>
          </p15:clr>
        </p15:guide>
        <p15:guide id="13" pos="3648">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596C750-0659-48DE-A47B-CB4755CF87C8}"/>
              </a:ext>
            </a:extLst>
          </p:cNvPr>
          <p:cNvSpPr/>
          <p:nvPr userDrawn="1"/>
        </p:nvSpPr>
        <p:spPr>
          <a:xfrm>
            <a:off x="0" y="6443133"/>
            <a:ext cx="9144000" cy="414867"/>
          </a:xfrm>
          <a:prstGeom prst="rect">
            <a:avLst/>
          </a:prstGeom>
          <a:solidFill>
            <a:schemeClr val="bg1">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2" name="Short Copyright">
            <a:extLst>
              <a:ext uri="{FF2B5EF4-FFF2-40B4-BE49-F238E27FC236}">
                <a16:creationId xmlns:a16="http://schemas.microsoft.com/office/drawing/2014/main" id="{36838A37-515E-4F5C-BF9F-CE51891A9C27}"/>
              </a:ext>
            </a:extLst>
          </p:cNvPr>
          <p:cNvSpPr txBox="1"/>
          <p:nvPr/>
        </p:nvSpPr>
        <p:spPr>
          <a:xfrm>
            <a:off x="215658" y="6535150"/>
            <a:ext cx="1233578" cy="230832"/>
          </a:xfrm>
          <a:prstGeom prst="rect">
            <a:avLst/>
          </a:prstGeom>
          <a:noFill/>
        </p:spPr>
        <p:txBody>
          <a:bodyPr wrap="square" lIns="45720" rIns="45720" rtlCol="0" anchor="ctr">
            <a:spAutoFit/>
          </a:bodyPr>
          <a:lstStyle/>
          <a:p>
            <a:r>
              <a:rPr lang="en-US" sz="900" b="0" dirty="0">
                <a:solidFill>
                  <a:schemeClr val="bg1"/>
                </a:solidFill>
                <a:latin typeface="Calibri (Body)"/>
                <a:cs typeface="Calibri" panose="020F0502020204030204" pitchFamily="34" charset="0"/>
              </a:rPr>
              <a:t>© McGraw-Hill</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569868"/>
            <a:ext cx="355840" cy="161396"/>
          </a:xfrm>
          <a:prstGeom prst="rect">
            <a:avLst/>
          </a:prstGeom>
        </p:spPr>
        <p:txBody>
          <a:bodyPr vert="horz" lIns="45720" tIns="45720" rIns="45720" bIns="45720" rtlCol="0" anchor="ctr"/>
          <a:lstStyle>
            <a:lvl1pPr algn="r">
              <a:defRPr sz="900">
                <a:solidFill>
                  <a:schemeClr val="bg1"/>
                </a:solidFill>
                <a:latin typeface="Calibri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1459613783"/>
      </p:ext>
    </p:extLst>
  </p:cSld>
  <p:clrMap bg1="lt1" tx1="dk1" bg2="lt2" tx2="dk2" accent1="accent1" accent2="accent2" accent3="accent3" accent4="accent4" accent5="accent5" accent6="accent6" hlink="hlink" folHlink="folHlink"/>
  <p:sldLayoutIdLst>
    <p:sldLayoutId id="2147483681" r:id="rId1"/>
  </p:sldLayoutIdLst>
  <p:hf hdr="0" dt="0"/>
  <p:txStyles>
    <p:titleStyle>
      <a:lvl1pPr algn="l" defTabSz="914400" rtl="0" eaLnBrk="1" latinLnBrk="0" hangingPunct="1">
        <a:lnSpc>
          <a:spcPct val="90000"/>
        </a:lnSpc>
        <a:spcBef>
          <a:spcPct val="0"/>
        </a:spcBef>
        <a:buNone/>
        <a:defRPr sz="2400" b="1" kern="1200">
          <a:solidFill>
            <a:schemeClr val="tx2"/>
          </a:solidFill>
          <a:latin typeface="Calibri (Headings)"/>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Calibri" panose="020F0502020204030204" pitchFamily="34" charset="0"/>
          <a:ea typeface="+mn-ea"/>
          <a:cs typeface="Calibri" panose="020F0502020204030204" pitchFamily="34" charset="0"/>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Calibri" panose="020F0502020204030204" pitchFamily="34" charset="0"/>
          <a:ea typeface="+mn-ea"/>
          <a:cs typeface="Calibri" panose="020F0502020204030204" pitchFamily="34" charset="0"/>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Calibri" panose="020F0502020204030204" pitchFamily="34" charset="0"/>
          <a:ea typeface="+mn-ea"/>
          <a:cs typeface="Calibri" panose="020F0502020204030204" pitchFamily="34" charset="0"/>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596C750-0659-48DE-A47B-CB4755CF87C8}"/>
              </a:ext>
            </a:extLst>
          </p:cNvPr>
          <p:cNvSpPr/>
          <p:nvPr userDrawn="1"/>
        </p:nvSpPr>
        <p:spPr>
          <a:xfrm>
            <a:off x="0" y="6443133"/>
            <a:ext cx="9144000" cy="414867"/>
          </a:xfrm>
          <a:prstGeom prst="rect">
            <a:avLst/>
          </a:prstGeom>
          <a:solidFill>
            <a:schemeClr val="bg1">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C6E75AB-522C-474E-9E3E-415E5ACB67EA}"/>
              </a:ext>
            </a:extLst>
          </p:cNvPr>
          <p:cNvSpPr/>
          <p:nvPr userDrawn="1"/>
        </p:nvSpPr>
        <p:spPr>
          <a:xfrm>
            <a:off x="512794" y="148703"/>
            <a:ext cx="8118412" cy="1053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Calibri (Headings)"/>
            </a:endParaRPr>
          </a:p>
        </p:txBody>
      </p:sp>
      <p:sp>
        <p:nvSpPr>
          <p:cNvPr id="6" name="Rectangle 5">
            <a:extLst>
              <a:ext uri="{FF2B5EF4-FFF2-40B4-BE49-F238E27FC236}">
                <a16:creationId xmlns:a16="http://schemas.microsoft.com/office/drawing/2014/main" id="{8CB7F0CE-DA2B-4031-BE27-29AD3872DDEF}"/>
              </a:ext>
            </a:extLst>
          </p:cNvPr>
          <p:cNvSpPr/>
          <p:nvPr userDrawn="1"/>
        </p:nvSpPr>
        <p:spPr>
          <a:xfrm>
            <a:off x="517588" y="1346200"/>
            <a:ext cx="8108824" cy="4766733"/>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Placeholder" hidden="1">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hidden="1">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2" name="Short Copyright">
            <a:extLst>
              <a:ext uri="{FF2B5EF4-FFF2-40B4-BE49-F238E27FC236}">
                <a16:creationId xmlns:a16="http://schemas.microsoft.com/office/drawing/2014/main" id="{36838A37-515E-4F5C-BF9F-CE51891A9C27}"/>
              </a:ext>
            </a:extLst>
          </p:cNvPr>
          <p:cNvSpPr txBox="1"/>
          <p:nvPr/>
        </p:nvSpPr>
        <p:spPr>
          <a:xfrm>
            <a:off x="215658" y="6535150"/>
            <a:ext cx="1233578" cy="230832"/>
          </a:xfrm>
          <a:prstGeom prst="rect">
            <a:avLst/>
          </a:prstGeom>
          <a:noFill/>
        </p:spPr>
        <p:txBody>
          <a:bodyPr wrap="square" lIns="45720" rIns="45720" rtlCol="0" anchor="ctr">
            <a:spAutoFit/>
          </a:bodyPr>
          <a:lstStyle/>
          <a:p>
            <a:r>
              <a:rPr lang="en-US" sz="900" b="0" dirty="0">
                <a:solidFill>
                  <a:schemeClr val="bg1"/>
                </a:solidFill>
                <a:latin typeface="Calibri (Body)"/>
                <a:cs typeface="Calibri" panose="020F0502020204030204" pitchFamily="34" charset="0"/>
              </a:rPr>
              <a:t>© McGraw-Hill</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569868"/>
            <a:ext cx="355840" cy="161396"/>
          </a:xfrm>
          <a:prstGeom prst="rect">
            <a:avLst/>
          </a:prstGeom>
        </p:spPr>
        <p:txBody>
          <a:bodyPr vert="horz" lIns="45720" tIns="45720" rIns="45720" bIns="45720" rtlCol="0" anchor="ctr"/>
          <a:lstStyle>
            <a:lvl1pPr algn="r">
              <a:defRPr sz="900">
                <a:solidFill>
                  <a:schemeClr val="bg1"/>
                </a:solidFill>
                <a:latin typeface="Calibri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3125060620"/>
      </p:ext>
    </p:extLst>
  </p:cSld>
  <p:clrMap bg1="lt1" tx1="dk1" bg2="lt2" tx2="dk2" accent1="accent1" accent2="accent2" accent3="accent3" accent4="accent4" accent5="accent5" accent6="accent6" hlink="hlink" folHlink="folHlink"/>
  <p:sldLayoutIdLst>
    <p:sldLayoutId id="2147483683" r:id="rId1"/>
  </p:sldLayoutIdLst>
  <p:hf hdr="0" dt="0"/>
  <p:txStyles>
    <p:titleStyle>
      <a:lvl1pPr algn="l" defTabSz="914400" rtl="0" eaLnBrk="1" latinLnBrk="0" hangingPunct="1">
        <a:lnSpc>
          <a:spcPct val="90000"/>
        </a:lnSpc>
        <a:spcBef>
          <a:spcPct val="0"/>
        </a:spcBef>
        <a:buNone/>
        <a:defRPr sz="2400" b="1" kern="1200">
          <a:solidFill>
            <a:schemeClr val="tx2"/>
          </a:solidFill>
          <a:latin typeface="Calibri (Headings)"/>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Calibri" panose="020F0502020204030204" pitchFamily="34" charset="0"/>
          <a:ea typeface="+mn-ea"/>
          <a:cs typeface="Calibri" panose="020F0502020204030204" pitchFamily="34" charset="0"/>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Calibri" panose="020F0502020204030204" pitchFamily="34" charset="0"/>
          <a:ea typeface="+mn-ea"/>
          <a:cs typeface="Calibri" panose="020F0502020204030204" pitchFamily="34" charset="0"/>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Calibri" panose="020F0502020204030204" pitchFamily="34" charset="0"/>
          <a:ea typeface="+mn-ea"/>
          <a:cs typeface="Calibri" panose="020F0502020204030204" pitchFamily="34" charset="0"/>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10" name="Rectangle 9">
            <a:extLst>
              <a:ext uri="{FF2B5EF4-FFF2-40B4-BE49-F238E27FC236}">
                <a16:creationId xmlns:a16="http://schemas.microsoft.com/office/drawing/2014/main" id="{B5AFE35D-2800-49B9-98ED-918880A1185E}"/>
              </a:ext>
            </a:extLst>
          </p:cNvPr>
          <p:cNvSpPr/>
          <p:nvPr userDrawn="1"/>
        </p:nvSpPr>
        <p:spPr bwMode="auto">
          <a:xfrm>
            <a:off x="0" y="6367046"/>
            <a:ext cx="9144000" cy="490954"/>
          </a:xfrm>
          <a:prstGeom prst="rect">
            <a:avLst/>
          </a:prstGeom>
          <a:solidFill>
            <a:schemeClr val="bg1">
              <a:lumMod val="85000"/>
            </a:schemeClr>
          </a:solidFill>
          <a:ln>
            <a:noFill/>
          </a:ln>
          <a:effectLst/>
        </p:spPr>
        <p:txBody>
          <a:bodyPr lIns="90488" tIns="44450" rIns="90488" bIns="44450"/>
          <a:lstStyle/>
          <a:p>
            <a:pPr marL="169863" indent="-169863" eaLnBrk="0" hangingPunct="0">
              <a:spcBef>
                <a:spcPct val="34000"/>
              </a:spcBef>
              <a:buClr>
                <a:srgbClr val="000000"/>
              </a:buClr>
              <a:buSzPct val="100000"/>
              <a:buFont typeface="Symbol" pitchFamily="18" charset="2"/>
              <a:buChar char="·"/>
              <a:defRPr/>
            </a:pPr>
            <a:endParaRPr lang="en-US" sz="1600" dirty="0">
              <a:solidFill>
                <a:srgbClr val="000000"/>
              </a:solidFill>
              <a:latin typeface="+mn-lt"/>
              <a:cs typeface="+mn-cs"/>
            </a:endParaRPr>
          </a:p>
        </p:txBody>
      </p:sp>
      <p:sp>
        <p:nvSpPr>
          <p:cNvPr id="8" name="Short Copyright">
            <a:extLst>
              <a:ext uri="{FF2B5EF4-FFF2-40B4-BE49-F238E27FC236}">
                <a16:creationId xmlns:a16="http://schemas.microsoft.com/office/drawing/2014/main" id="{4A2FC72F-53CB-4924-9CB5-4C71034E8F6B}"/>
              </a:ext>
            </a:extLst>
          </p:cNvPr>
          <p:cNvSpPr txBox="1"/>
          <p:nvPr userDrawn="1"/>
        </p:nvSpPr>
        <p:spPr>
          <a:xfrm>
            <a:off x="215658" y="6542844"/>
            <a:ext cx="1233578" cy="215444"/>
          </a:xfrm>
          <a:prstGeom prst="rect">
            <a:avLst/>
          </a:prstGeom>
          <a:noFill/>
        </p:spPr>
        <p:txBody>
          <a:bodyPr wrap="square" lIns="45720" rIns="45720" rtlCol="0" anchor="ctr">
            <a:spAutoFit/>
          </a:bodyPr>
          <a:lstStyle/>
          <a:p>
            <a:r>
              <a:rPr lang="en-IN" sz="800" b="0" kern="1200" dirty="0">
                <a:solidFill>
                  <a:schemeClr val="tx1"/>
                </a:solidFill>
                <a:effectLst/>
                <a:latin typeface="+mn-lt"/>
                <a:ea typeface="+mn-ea"/>
                <a:cs typeface="+mn-cs"/>
              </a:rPr>
              <a:t>© McGraw Hill LLC</a:t>
            </a:r>
          </a:p>
        </p:txBody>
      </p:sp>
      <p:sp>
        <p:nvSpPr>
          <p:cNvPr id="9" name="Slide Number Placeholder">
            <a:extLst>
              <a:ext uri="{FF2B5EF4-FFF2-40B4-BE49-F238E27FC236}">
                <a16:creationId xmlns:a16="http://schemas.microsoft.com/office/drawing/2014/main" id="{D81F4F2D-3BB8-4150-BA92-5F3FA2A274EB}"/>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2168668309"/>
      </p:ext>
    </p:extLst>
  </p:cSld>
  <p:clrMap bg1="lt1" tx1="dk1" bg2="lt2" tx2="dk2" accent1="accent1" accent2="accent2" accent3="accent3" accent4="accent4" accent5="accent5" accent6="accent6" hlink="hlink" folHlink="folHlink"/>
  <p:sldLayoutIdLst>
    <p:sldLayoutId id="2147483685" r:id="rId1"/>
  </p:sldLayoutIdLst>
  <p:hf hdr="0" dt="0"/>
  <p:txStyles>
    <p:titleStyle>
      <a:lvl1pPr algn="l" defTabSz="914400" rtl="0" eaLnBrk="1" latinLnBrk="0" hangingPunct="1">
        <a:lnSpc>
          <a:spcPct val="90000"/>
        </a:lnSpc>
        <a:spcBef>
          <a:spcPct val="0"/>
        </a:spcBef>
        <a:buNone/>
        <a:defRPr sz="2400" b="1" kern="1200">
          <a:solidFill>
            <a:schemeClr val="tx2"/>
          </a:solidFill>
          <a:latin typeface="Calibri (Headings)"/>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Calibri" panose="020F0502020204030204" pitchFamily="34" charset="0"/>
          <a:ea typeface="+mn-ea"/>
          <a:cs typeface="Calibri" panose="020F0502020204030204" pitchFamily="34" charset="0"/>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Calibri" panose="020F0502020204030204" pitchFamily="34" charset="0"/>
          <a:ea typeface="+mn-ea"/>
          <a:cs typeface="Calibri" panose="020F0502020204030204" pitchFamily="34" charset="0"/>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Calibri" panose="020F0502020204030204" pitchFamily="34" charset="0"/>
          <a:ea typeface="+mn-ea"/>
          <a:cs typeface="Calibri" panose="020F0502020204030204" pitchFamily="34" charset="0"/>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itle Placeholder" hidden="1">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hidden="1">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2" name="Short Copyright">
            <a:extLst>
              <a:ext uri="{FF2B5EF4-FFF2-40B4-BE49-F238E27FC236}">
                <a16:creationId xmlns:a16="http://schemas.microsoft.com/office/drawing/2014/main" id="{36838A37-515E-4F5C-BF9F-CE51891A9C27}"/>
              </a:ext>
            </a:extLst>
          </p:cNvPr>
          <p:cNvSpPr txBox="1"/>
          <p:nvPr/>
        </p:nvSpPr>
        <p:spPr>
          <a:xfrm>
            <a:off x="215658" y="6542844"/>
            <a:ext cx="1233578" cy="215444"/>
          </a:xfrm>
          <a:prstGeom prst="rect">
            <a:avLst/>
          </a:prstGeom>
          <a:noFill/>
        </p:spPr>
        <p:txBody>
          <a:bodyPr wrap="square" lIns="45720" rIns="45720" rtlCol="0" anchor="ctr">
            <a:spAutoFit/>
          </a:bodyPr>
          <a:lstStyle/>
          <a:p>
            <a:r>
              <a:rPr lang="en-IN" sz="800" b="0" kern="1200" dirty="0">
                <a:solidFill>
                  <a:schemeClr val="tx1"/>
                </a:solidFill>
                <a:effectLst/>
                <a:latin typeface="+mn-lt"/>
                <a:ea typeface="+mn-ea"/>
                <a:cs typeface="+mn-cs"/>
              </a:rPr>
              <a:t>© McGraw Hill LLC</a:t>
            </a:r>
          </a:p>
        </p:txBody>
      </p:sp>
      <p:sp>
        <p:nvSpPr>
          <p:cNvPr id="6" name="Slide Number Placeholder">
            <a:extLst>
              <a:ext uri="{FF2B5EF4-FFF2-40B4-BE49-F238E27FC236}">
                <a16:creationId xmlns:a16="http://schemas.microsoft.com/office/drawing/2014/main" id="{E9109236-1BF2-42DF-B3D7-8095A6311691}"/>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1687634475"/>
      </p:ext>
    </p:extLst>
  </p:cSld>
  <p:clrMap bg1="lt1" tx1="dk1" bg2="lt2" tx2="dk2" accent1="accent1" accent2="accent2" accent3="accent3" accent4="accent4" accent5="accent5" accent6="accent6" hlink="hlink" folHlink="folHlink"/>
  <p:sldLayoutIdLst>
    <p:sldLayoutId id="2147483687" r:id="rId1"/>
  </p:sldLayoutIdLst>
  <p:hf hdr="0" dt="0"/>
  <p:txStyles>
    <p:titleStyle>
      <a:lvl1pPr algn="l" defTabSz="914400" rtl="0" eaLnBrk="1" latinLnBrk="0" hangingPunct="1">
        <a:lnSpc>
          <a:spcPct val="90000"/>
        </a:lnSpc>
        <a:spcBef>
          <a:spcPct val="0"/>
        </a:spcBef>
        <a:buNone/>
        <a:defRPr sz="2400" b="1" kern="1200">
          <a:solidFill>
            <a:schemeClr val="tx2"/>
          </a:solidFill>
          <a:latin typeface="Calibri (Headings)"/>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Calibri" panose="020F0502020204030204" pitchFamily="34" charset="0"/>
          <a:ea typeface="+mn-ea"/>
          <a:cs typeface="Calibri" panose="020F0502020204030204" pitchFamily="34" charset="0"/>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Calibri" panose="020F0502020204030204" pitchFamily="34" charset="0"/>
          <a:ea typeface="+mn-ea"/>
          <a:cs typeface="Calibri" panose="020F0502020204030204" pitchFamily="34" charset="0"/>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Calibri" panose="020F0502020204030204" pitchFamily="34" charset="0"/>
          <a:ea typeface="+mn-ea"/>
          <a:cs typeface="Calibri" panose="020F0502020204030204" pitchFamily="34" charset="0"/>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596C750-0659-48DE-A47B-CB4755CF87C8}"/>
              </a:ext>
            </a:extLst>
          </p:cNvPr>
          <p:cNvSpPr/>
          <p:nvPr userDrawn="1"/>
        </p:nvSpPr>
        <p:spPr>
          <a:xfrm>
            <a:off x="0" y="6443133"/>
            <a:ext cx="9144000" cy="414867"/>
          </a:xfrm>
          <a:prstGeom prst="rect">
            <a:avLst/>
          </a:prstGeom>
          <a:solidFill>
            <a:schemeClr val="bg1">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C6E75AB-522C-474E-9E3E-415E5ACB67EA}"/>
              </a:ext>
            </a:extLst>
          </p:cNvPr>
          <p:cNvSpPr/>
          <p:nvPr userDrawn="1"/>
        </p:nvSpPr>
        <p:spPr>
          <a:xfrm>
            <a:off x="730223" y="2335879"/>
            <a:ext cx="7683555" cy="13632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Calibri (Headings)"/>
            </a:endParaRPr>
          </a:p>
        </p:txBody>
      </p:sp>
      <p:sp>
        <p:nvSpPr>
          <p:cNvPr id="6" name="Rectangle 5">
            <a:extLst>
              <a:ext uri="{FF2B5EF4-FFF2-40B4-BE49-F238E27FC236}">
                <a16:creationId xmlns:a16="http://schemas.microsoft.com/office/drawing/2014/main" id="{8CB7F0CE-DA2B-4031-BE27-29AD3872DDEF}"/>
              </a:ext>
            </a:extLst>
          </p:cNvPr>
          <p:cNvSpPr/>
          <p:nvPr userDrawn="1"/>
        </p:nvSpPr>
        <p:spPr>
          <a:xfrm>
            <a:off x="1584125" y="3961709"/>
            <a:ext cx="5975751" cy="1765764"/>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Placeholder" hidden="1">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hidden="1">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2" name="Short Copyright">
            <a:extLst>
              <a:ext uri="{FF2B5EF4-FFF2-40B4-BE49-F238E27FC236}">
                <a16:creationId xmlns:a16="http://schemas.microsoft.com/office/drawing/2014/main" id="{36838A37-515E-4F5C-BF9F-CE51891A9C27}"/>
              </a:ext>
            </a:extLst>
          </p:cNvPr>
          <p:cNvSpPr txBox="1"/>
          <p:nvPr/>
        </p:nvSpPr>
        <p:spPr>
          <a:xfrm>
            <a:off x="215658" y="6535150"/>
            <a:ext cx="1233578" cy="230832"/>
          </a:xfrm>
          <a:prstGeom prst="rect">
            <a:avLst/>
          </a:prstGeom>
          <a:noFill/>
        </p:spPr>
        <p:txBody>
          <a:bodyPr wrap="square" lIns="45720" rIns="45720" rtlCol="0" anchor="ctr">
            <a:spAutoFit/>
          </a:bodyPr>
          <a:lstStyle/>
          <a:p>
            <a:r>
              <a:rPr lang="en-US" sz="900" b="0" dirty="0">
                <a:solidFill>
                  <a:schemeClr val="bg1"/>
                </a:solidFill>
                <a:latin typeface="Calibri (Body)"/>
                <a:cs typeface="Calibri" panose="020F0502020204030204" pitchFamily="34" charset="0"/>
              </a:rPr>
              <a:t>© McGraw-Hill</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569868"/>
            <a:ext cx="355840" cy="161396"/>
          </a:xfrm>
          <a:prstGeom prst="rect">
            <a:avLst/>
          </a:prstGeom>
        </p:spPr>
        <p:txBody>
          <a:bodyPr vert="horz" lIns="45720" tIns="45720" rIns="45720" bIns="45720" rtlCol="0" anchor="ctr"/>
          <a:lstStyle>
            <a:lvl1pPr algn="r">
              <a:defRPr sz="900">
                <a:solidFill>
                  <a:schemeClr val="bg1"/>
                </a:solidFill>
                <a:latin typeface="Calibri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476714983"/>
      </p:ext>
    </p:extLst>
  </p:cSld>
  <p:clrMap bg1="lt1" tx1="dk1" bg2="lt2" tx2="dk2" accent1="accent1" accent2="accent2" accent3="accent3" accent4="accent4" accent5="accent5" accent6="accent6" hlink="hlink" folHlink="folHlink"/>
  <p:sldLayoutIdLst>
    <p:sldLayoutId id="2147483689" r:id="rId1"/>
  </p:sldLayoutIdLst>
  <p:hf hdr="0" dt="0"/>
  <p:txStyles>
    <p:titleStyle>
      <a:lvl1pPr algn="l" defTabSz="914400" rtl="0" eaLnBrk="1" latinLnBrk="0" hangingPunct="1">
        <a:lnSpc>
          <a:spcPct val="90000"/>
        </a:lnSpc>
        <a:spcBef>
          <a:spcPct val="0"/>
        </a:spcBef>
        <a:buNone/>
        <a:defRPr sz="2400" b="1" kern="1200">
          <a:solidFill>
            <a:schemeClr val="tx2"/>
          </a:solidFill>
          <a:latin typeface="Calibri (Headings)"/>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Calibri" panose="020F0502020204030204" pitchFamily="34" charset="0"/>
          <a:ea typeface="+mn-ea"/>
          <a:cs typeface="Calibri" panose="020F0502020204030204" pitchFamily="34" charset="0"/>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Calibri" panose="020F0502020204030204" pitchFamily="34" charset="0"/>
          <a:ea typeface="+mn-ea"/>
          <a:cs typeface="Calibri" panose="020F0502020204030204" pitchFamily="34" charset="0"/>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Calibri" panose="020F0502020204030204" pitchFamily="34" charset="0"/>
          <a:ea typeface="+mn-ea"/>
          <a:cs typeface="Calibri" panose="020F0502020204030204" pitchFamily="34" charset="0"/>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slide" Target="slide9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jpeg"/><Relationship Id="rId4" Type="http://schemas.openxmlformats.org/officeDocument/2006/relationships/slide" Target="slide9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6.JPG"/><Relationship Id="rId4" Type="http://schemas.openxmlformats.org/officeDocument/2006/relationships/slide" Target="slide9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7.png"/><Relationship Id="rId4" Type="http://schemas.openxmlformats.org/officeDocument/2006/relationships/slide" Target="slide9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8.png"/><Relationship Id="rId4" Type="http://schemas.openxmlformats.org/officeDocument/2006/relationships/slide" Target="slide9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9.JPG"/><Relationship Id="rId4" Type="http://schemas.openxmlformats.org/officeDocument/2006/relationships/slide" Target="slide9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 Id="rId3" Type="http://schemas.openxmlformats.org/officeDocument/2006/relationships/image" Target="../media/image11.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 Id="rId3" Type="http://schemas.openxmlformats.org/officeDocument/2006/relationships/image" Target="../media/image12.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 Id="rId3" Type="http://schemas.openxmlformats.org/officeDocument/2006/relationships/image" Target="../media/image13.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4.jpg"/><Relationship Id="rId4" Type="http://schemas.openxmlformats.org/officeDocument/2006/relationships/slide" Target="slide10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5.jpeg"/><Relationship Id="rId4" Type="http://schemas.openxmlformats.org/officeDocument/2006/relationships/slide" Target="slide10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 Id="rId3" Type="http://schemas.openxmlformats.org/officeDocument/2006/relationships/image" Target="../media/image16.jpe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 Id="rId3" Type="http://schemas.openxmlformats.org/officeDocument/2006/relationships/image" Target="../media/image17.jpe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7.jpeg"/><Relationship Id="rId4" Type="http://schemas.openxmlformats.org/officeDocument/2006/relationships/slide" Target="slide10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9.png"/><Relationship Id="rId4" Type="http://schemas.openxmlformats.org/officeDocument/2006/relationships/slide" Target="slide10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20.png"/><Relationship Id="rId4" Type="http://schemas.openxmlformats.org/officeDocument/2006/relationships/slide" Target="slide10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 Id="rId3" Type="http://schemas.openxmlformats.org/officeDocument/2006/relationships/image" Target="../media/image21.jpe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 Id="rId3" Type="http://schemas.openxmlformats.org/officeDocument/2006/relationships/image" Target="../media/image22.jpe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2.xml"/><Relationship Id="rId3" Type="http://schemas.openxmlformats.org/officeDocument/2006/relationships/image" Target="../media/image23.jpe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 Id="rId3" Type="http://schemas.openxmlformats.org/officeDocument/2006/relationships/image" Target="../media/image24.jpe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 Id="rId3" Type="http://schemas.openxmlformats.org/officeDocument/2006/relationships/image" Target="../media/image12.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 Id="rId3" Type="http://schemas.openxmlformats.org/officeDocument/2006/relationships/image" Target="../media/image13.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 Id="rId3" Type="http://schemas.openxmlformats.org/officeDocument/2006/relationships/image" Target="../media/image14.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 Id="rId3" Type="http://schemas.openxmlformats.org/officeDocument/2006/relationships/image" Target="../media/image15.jpe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16.jpeg"/><Relationship Id="rId4" Type="http://schemas.openxmlformats.org/officeDocument/2006/relationships/slide" Target="slide10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17.jpeg"/><Relationship Id="rId4" Type="http://schemas.openxmlformats.org/officeDocument/2006/relationships/slide" Target="slide10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25.jpeg"/><Relationship Id="rId4" Type="http://schemas.openxmlformats.org/officeDocument/2006/relationships/slide" Target="slide10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7.xml"/><Relationship Id="rId3" Type="http://schemas.openxmlformats.org/officeDocument/2006/relationships/image" Target="../media/image26.JP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 Id="rId3" Type="http://schemas.openxmlformats.org/officeDocument/2006/relationships/image" Target="../media/image27.jpe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9.xml"/><Relationship Id="rId3" Type="http://schemas.openxmlformats.org/officeDocument/2006/relationships/image" Target="../media/image28.jpe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29.jpeg"/><Relationship Id="rId4" Type="http://schemas.openxmlformats.org/officeDocument/2006/relationships/slide" Target="slide108.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1.xml"/><Relationship Id="rId3" Type="http://schemas.openxmlformats.org/officeDocument/2006/relationships/image" Target="../media/image30.jp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2.xml"/><Relationship Id="rId3" Type="http://schemas.openxmlformats.org/officeDocument/2006/relationships/image" Target="../media/image31.jpe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image" Target="../media/image32.jpeg"/><Relationship Id="rId4" Type="http://schemas.openxmlformats.org/officeDocument/2006/relationships/slide" Target="slide109.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image" Target="../media/image33.jpeg"/><Relationship Id="rId4" Type="http://schemas.openxmlformats.org/officeDocument/2006/relationships/slide" Target="slide110.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 Id="rId3" Type="http://schemas.openxmlformats.org/officeDocument/2006/relationships/image" Target="../media/image34.jpeg"/><Relationship Id="rId4" Type="http://schemas.openxmlformats.org/officeDocument/2006/relationships/slide" Target="slide11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 Id="rId3" Type="http://schemas.openxmlformats.org/officeDocument/2006/relationships/image" Target="../media/image35.jpeg"/><Relationship Id="rId4" Type="http://schemas.openxmlformats.org/officeDocument/2006/relationships/slide" Target="slide11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8.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 Id="rId3" Type="http://schemas.openxmlformats.org/officeDocument/2006/relationships/image" Target="../media/image36.jpe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0.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1.xml"/><Relationship Id="rId3" Type="http://schemas.openxmlformats.org/officeDocument/2006/relationships/image" Target="../media/image37.jpe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3.xml"/><Relationship Id="rId3" Type="http://schemas.openxmlformats.org/officeDocument/2006/relationships/image" Target="../media/image38.jpe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4.xml"/><Relationship Id="rId3" Type="http://schemas.openxmlformats.org/officeDocument/2006/relationships/image" Target="../media/image39.jpe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5.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6.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7.xml"/><Relationship Id="rId3" Type="http://schemas.openxmlformats.org/officeDocument/2006/relationships/image" Target="../media/image40.jpe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8.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0.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 Id="rId3" Type="http://schemas.openxmlformats.org/officeDocument/2006/relationships/image" Target="../media/image41.JP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0.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 Id="rId3" Type="http://schemas.openxmlformats.org/officeDocument/2006/relationships/image" Target="../media/image42.jpe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4.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5.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6.xml"/><Relationship Id="rId3" Type="http://schemas.openxmlformats.org/officeDocument/2006/relationships/image" Target="../media/image43.png"/><Relationship Id="rId4" Type="http://schemas.openxmlformats.org/officeDocument/2006/relationships/slide" Target="slide114.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8.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slide" Target="slide15.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slide" Target="slide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slide" Target="slide10.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slide" Target="slide13.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slide" Target="slide15.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slide" Target="slide18.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slide" Target="slide26.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slide" Target="slide2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slide" Target="slide30.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slide" Target="slide35.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slide" Target="slide3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slide" Target="slide50.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slide" Target="slide5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slide" Target="slide5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slide" Target="slide6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slide" Target="slide65.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slide" Target="slide66.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slide" Target="slide6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slide" Target="slide68.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slide" Target="slide8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slide" Target="slide8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0733ED0-3842-43A7-8BDE-AFE8B97FDE28}"/>
              </a:ext>
            </a:extLst>
          </p:cNvPr>
          <p:cNvSpPr>
            <a:spLocks noGrp="1"/>
          </p:cNvSpPr>
          <p:nvPr>
            <p:ph type="ctrTitle"/>
          </p:nvPr>
        </p:nvSpPr>
        <p:spPr>
          <a:xfrm>
            <a:off x="4572000" y="1300036"/>
            <a:ext cx="4572000" cy="1129393"/>
          </a:xfrm>
        </p:spPr>
        <p:txBody>
          <a:bodyPr/>
          <a:lstStyle/>
          <a:p>
            <a:r>
              <a:rPr lang="en-US" altLang="en-US" dirty="0"/>
              <a:t>Biology</a:t>
            </a:r>
            <a:endParaRPr lang="en-IN" dirty="0"/>
          </a:p>
        </p:txBody>
      </p:sp>
      <p:sp>
        <p:nvSpPr>
          <p:cNvPr id="5" name="Subtitle 2">
            <a:extLst>
              <a:ext uri="{FF2B5EF4-FFF2-40B4-BE49-F238E27FC236}">
                <a16:creationId xmlns:a16="http://schemas.microsoft.com/office/drawing/2014/main" id="{0870AA8A-D98D-4EB3-81F3-3373CF2A34CB}"/>
              </a:ext>
            </a:extLst>
          </p:cNvPr>
          <p:cNvSpPr>
            <a:spLocks noGrp="1"/>
          </p:cNvSpPr>
          <p:nvPr>
            <p:ph type="subTitle" idx="1"/>
          </p:nvPr>
        </p:nvSpPr>
        <p:spPr>
          <a:xfrm>
            <a:off x="4454771" y="2273103"/>
            <a:ext cx="4689229" cy="1011381"/>
          </a:xfrm>
        </p:spPr>
        <p:txBody>
          <a:bodyPr/>
          <a:lstStyle/>
          <a:p>
            <a:r>
              <a:rPr lang="en-US" altLang="en-US" sz="1800" dirty="0">
                <a:solidFill>
                  <a:schemeClr val="tx1"/>
                </a:solidFill>
                <a:effectLst/>
                <a:latin typeface="+mj-lt"/>
              </a:rPr>
              <a:t>Sylvia S. </a:t>
            </a:r>
            <a:r>
              <a:rPr lang="en-US" altLang="en-US" sz="1800" dirty="0" err="1">
                <a:solidFill>
                  <a:schemeClr val="tx1"/>
                </a:solidFill>
                <a:effectLst/>
                <a:latin typeface="+mj-lt"/>
              </a:rPr>
              <a:t>Mader</a:t>
            </a:r>
            <a:br>
              <a:rPr lang="en-US" altLang="en-US" sz="1800" dirty="0">
                <a:solidFill>
                  <a:schemeClr val="tx1"/>
                </a:solidFill>
                <a:effectLst/>
                <a:latin typeface="+mj-lt"/>
              </a:rPr>
            </a:br>
            <a:r>
              <a:rPr lang="en-US" altLang="en-US" sz="1800" dirty="0">
                <a:solidFill>
                  <a:schemeClr val="tx1"/>
                </a:solidFill>
                <a:effectLst/>
                <a:latin typeface="+mj-lt"/>
              </a:rPr>
              <a:t>Michael </a:t>
            </a:r>
            <a:r>
              <a:rPr lang="en-US" altLang="en-US" sz="1800" dirty="0" err="1">
                <a:solidFill>
                  <a:schemeClr val="tx1"/>
                </a:solidFill>
                <a:effectLst/>
                <a:latin typeface="+mj-lt"/>
              </a:rPr>
              <a:t>Windelspecht</a:t>
            </a:r>
            <a:endParaRPr lang="en-IN" sz="1800" dirty="0">
              <a:solidFill>
                <a:schemeClr val="tx1"/>
              </a:solidFill>
              <a:effectLst/>
              <a:latin typeface="+mj-lt"/>
            </a:endParaRPr>
          </a:p>
        </p:txBody>
      </p:sp>
      <p:sp>
        <p:nvSpPr>
          <p:cNvPr id="6" name="Content Placeholder 3">
            <a:extLst>
              <a:ext uri="{FF2B5EF4-FFF2-40B4-BE49-F238E27FC236}">
                <a16:creationId xmlns:a16="http://schemas.microsoft.com/office/drawing/2014/main" id="{592C8D69-86D8-4DDD-A213-ED8E89CF93EE}"/>
              </a:ext>
            </a:extLst>
          </p:cNvPr>
          <p:cNvSpPr>
            <a:spLocks noGrp="1"/>
          </p:cNvSpPr>
          <p:nvPr>
            <p:ph sz="quarter" idx="11"/>
          </p:nvPr>
        </p:nvSpPr>
        <p:spPr>
          <a:xfrm>
            <a:off x="4572000" y="3721985"/>
            <a:ext cx="4572000" cy="622300"/>
          </a:xfrm>
        </p:spPr>
        <p:txBody>
          <a:bodyPr/>
          <a:lstStyle/>
          <a:p>
            <a:pPr lvl="0">
              <a:spcBef>
                <a:spcPts val="0"/>
              </a:spcBef>
            </a:pPr>
            <a:r>
              <a:rPr lang="en-US" altLang="en-US" sz="2800" b="0" dirty="0"/>
              <a:t>Chapter 23 </a:t>
            </a:r>
          </a:p>
          <a:p>
            <a:pPr lvl="0">
              <a:spcBef>
                <a:spcPts val="0"/>
              </a:spcBef>
            </a:pPr>
            <a:r>
              <a:rPr lang="en-US" altLang="en-US" sz="2800" b="0" dirty="0"/>
              <a:t>Plant Evolution and Diversity</a:t>
            </a:r>
          </a:p>
          <a:p>
            <a:pPr lvl="0">
              <a:spcBef>
                <a:spcPts val="0"/>
              </a:spcBef>
            </a:pPr>
            <a:r>
              <a:rPr lang="en-US" altLang="en-US" sz="2800" b="0" dirty="0"/>
              <a:t>Lecture Outline</a:t>
            </a:r>
          </a:p>
        </p:txBody>
      </p:sp>
      <p:sp>
        <p:nvSpPr>
          <p:cNvPr id="7" name="Content Placeholder 4">
            <a:extLst>
              <a:ext uri="{FF2B5EF4-FFF2-40B4-BE49-F238E27FC236}">
                <a16:creationId xmlns:a16="http://schemas.microsoft.com/office/drawing/2014/main" id="{50B07C52-C32A-404C-823B-3E0C2B4D72F2}"/>
              </a:ext>
            </a:extLst>
          </p:cNvPr>
          <p:cNvSpPr>
            <a:spLocks noGrp="1"/>
          </p:cNvSpPr>
          <p:nvPr>
            <p:ph sz="quarter" idx="12"/>
          </p:nvPr>
        </p:nvSpPr>
        <p:spPr>
          <a:xfrm>
            <a:off x="4876800" y="5187517"/>
            <a:ext cx="3962400" cy="961001"/>
          </a:xfrm>
        </p:spPr>
        <p:txBody>
          <a:bodyPr/>
          <a:lstStyle/>
          <a:p>
            <a:r>
              <a:rPr lang="en-US" altLang="en-US" sz="1400" b="1" dirty="0">
                <a:latin typeface="+mn-lt"/>
              </a:rPr>
              <a:t>See separate </a:t>
            </a:r>
            <a:r>
              <a:rPr lang="en-US" altLang="en-US" sz="1400" b="1" dirty="0" err="1">
                <a:latin typeface="+mn-lt"/>
              </a:rPr>
              <a:t>FlexArt</a:t>
            </a:r>
            <a:r>
              <a:rPr lang="en-US" altLang="en-US" sz="1400" b="1" dirty="0">
                <a:latin typeface="+mn-lt"/>
              </a:rPr>
              <a:t> PowerPoint slides for all figures and tables pre-inserted into PowerPoint without notes.</a:t>
            </a:r>
            <a:endParaRPr lang="en-IN" sz="1400" b="1" dirty="0">
              <a:latin typeface="+mn-lt"/>
            </a:endParaRPr>
          </a:p>
        </p:txBody>
      </p:sp>
      <p:sp>
        <p:nvSpPr>
          <p:cNvPr id="8" name="Content Placeholder 8">
            <a:extLst>
              <a:ext uri="{FF2B5EF4-FFF2-40B4-BE49-F238E27FC236}">
                <a16:creationId xmlns:a16="http://schemas.microsoft.com/office/drawing/2014/main" id="{3CFCD7C5-EA7C-4E20-A620-38C65C5C845F}"/>
              </a:ext>
            </a:extLst>
          </p:cNvPr>
          <p:cNvSpPr txBox="1">
            <a:spLocks/>
          </p:cNvSpPr>
          <p:nvPr/>
        </p:nvSpPr>
        <p:spPr>
          <a:xfrm>
            <a:off x="0" y="6383045"/>
            <a:ext cx="9144000" cy="47495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800" dirty="0">
                <a:solidFill>
                  <a:srgbClr val="222222"/>
                </a:solidFill>
                <a:latin typeface="Arial" panose="020B0604020202020204" pitchFamily="34" charset="0"/>
              </a:rPr>
              <a:t>Copyright 2022 © McGraw Hill LLC. All rights reserved. No reproduction or distribution without the prior written consent of McGraw Hill LLC.</a:t>
            </a:r>
            <a:endParaRPr lang="en-US" sz="800" dirty="0"/>
          </a:p>
        </p:txBody>
      </p:sp>
    </p:spTree>
    <p:extLst>
      <p:ext uri="{BB962C8B-B14F-4D97-AF65-F5344CB8AC3E}">
        <p14:creationId xmlns:p14="http://schemas.microsoft.com/office/powerpoint/2010/main" val="41324921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noChangeArrowheads="1"/>
          </p:cNvSpPr>
          <p:nvPr>
            <p:ph type="title"/>
          </p:nvPr>
        </p:nvSpPr>
        <p:spPr>
          <a:xfrm>
            <a:off x="3167117" y="248903"/>
            <a:ext cx="2809766" cy="645195"/>
          </a:xfrm>
        </p:spPr>
        <p:txBody>
          <a:bodyPr/>
          <a:lstStyle/>
          <a:p>
            <a:pPr algn="ctr"/>
            <a:r>
              <a:rPr lang="en-US" altLang="en-US" dirty="0">
                <a:solidFill>
                  <a:schemeClr val="accent3">
                    <a:lumMod val="50000"/>
                  </a:schemeClr>
                </a:solidFill>
                <a:latin typeface="+mj-lt"/>
              </a:rPr>
              <a:t>Outline</a:t>
            </a:r>
          </a:p>
        </p:txBody>
      </p:sp>
      <p:sp>
        <p:nvSpPr>
          <p:cNvPr id="6147" name="Content Placeholder 2"/>
          <p:cNvSpPr>
            <a:spLocks noGrp="1" noChangeArrowheads="1"/>
          </p:cNvSpPr>
          <p:nvPr>
            <p:ph idx="1"/>
          </p:nvPr>
        </p:nvSpPr>
        <p:spPr>
          <a:xfrm>
            <a:off x="794826" y="1295400"/>
            <a:ext cx="8059003" cy="5214582"/>
          </a:xfrm>
        </p:spPr>
        <p:txBody>
          <a:bodyPr/>
          <a:lstStyle/>
          <a:p>
            <a:pPr marL="0" indent="0">
              <a:spcBef>
                <a:spcPts val="0"/>
              </a:spcBef>
              <a:spcAft>
                <a:spcPts val="1500"/>
              </a:spcAft>
              <a:buNone/>
            </a:pPr>
            <a:r>
              <a:rPr lang="en-US" altLang="en-US" sz="2800" dirty="0">
                <a:latin typeface="+mn-lt"/>
              </a:rPr>
              <a:t>23.1 Ancestry and Features of Land Plants</a:t>
            </a:r>
          </a:p>
          <a:p>
            <a:pPr marL="0" indent="0">
              <a:spcBef>
                <a:spcPts val="0"/>
              </a:spcBef>
              <a:spcAft>
                <a:spcPts val="1500"/>
              </a:spcAft>
              <a:buNone/>
            </a:pPr>
            <a:r>
              <a:rPr lang="en-US" altLang="en-US" sz="2800" dirty="0">
                <a:latin typeface="+mn-lt"/>
              </a:rPr>
              <a:t>23.2 Evolution of Bryophytes: Colonization of Land</a:t>
            </a:r>
          </a:p>
          <a:p>
            <a:pPr marL="0" indent="0">
              <a:spcBef>
                <a:spcPts val="0"/>
              </a:spcBef>
              <a:spcAft>
                <a:spcPts val="1500"/>
              </a:spcAft>
              <a:buNone/>
            </a:pPr>
            <a:r>
              <a:rPr lang="en-US" altLang="en-US" sz="2800" dirty="0">
                <a:latin typeface="+mn-lt"/>
              </a:rPr>
              <a:t>23.3 Evolution of Lycophytes: Vascular Tissue</a:t>
            </a:r>
          </a:p>
          <a:p>
            <a:pPr marL="0" indent="0">
              <a:spcBef>
                <a:spcPts val="0"/>
              </a:spcBef>
              <a:spcAft>
                <a:spcPts val="1500"/>
              </a:spcAft>
              <a:buNone/>
            </a:pPr>
            <a:r>
              <a:rPr lang="en-US" altLang="en-US" sz="2800" dirty="0">
                <a:latin typeface="+mn-lt"/>
              </a:rPr>
              <a:t>23.4 Evolution of Pteridophytes: Megaphylls</a:t>
            </a:r>
          </a:p>
          <a:p>
            <a:pPr marL="0" indent="0">
              <a:spcBef>
                <a:spcPts val="0"/>
              </a:spcBef>
              <a:spcAft>
                <a:spcPts val="1500"/>
              </a:spcAft>
              <a:buNone/>
            </a:pPr>
            <a:r>
              <a:rPr lang="en-US" altLang="en-US" sz="2800" dirty="0">
                <a:latin typeface="+mn-lt"/>
              </a:rPr>
              <a:t>23.5 Evolution of Seed Plants: Full Adaptation to Land</a:t>
            </a:r>
          </a:p>
        </p:txBody>
      </p:sp>
      <p:sp>
        <p:nvSpPr>
          <p:cNvPr id="4" name="Slide Number Placeholder 3">
            <a:extLst>
              <a:ext uri="{FF2B5EF4-FFF2-40B4-BE49-F238E27FC236}">
                <a16:creationId xmlns:a16="http://schemas.microsoft.com/office/drawing/2014/main" id="{BCA1A6AE-9DAF-4680-91DF-8EBE946C7BE4}"/>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2</a:t>
            </a:fld>
            <a:endParaRPr lang="en-IN"/>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noChangeArrowheads="1"/>
          </p:cNvSpPr>
          <p:nvPr>
            <p:ph type="title"/>
          </p:nvPr>
        </p:nvSpPr>
        <p:spPr>
          <a:xfrm>
            <a:off x="300386" y="0"/>
            <a:ext cx="8543227" cy="1089764"/>
          </a:xfrm>
        </p:spPr>
        <p:txBody>
          <a:bodyPr>
            <a:noAutofit/>
          </a:bodyPr>
          <a:lstStyle/>
          <a:p>
            <a:pPr algn="ctr"/>
            <a:r>
              <a:rPr lang="en-US" altLang="en-US" dirty="0">
                <a:solidFill>
                  <a:schemeClr val="accent3">
                    <a:lumMod val="50000"/>
                  </a:schemeClr>
                </a:solidFill>
                <a:latin typeface="+mn-lt"/>
              </a:rPr>
              <a:t>23.1 Ancestry and Features of Land Plants</a:t>
            </a:r>
          </a:p>
        </p:txBody>
      </p:sp>
      <p:sp>
        <p:nvSpPr>
          <p:cNvPr id="7171" name="Content Placeholder 2"/>
          <p:cNvSpPr>
            <a:spLocks noGrp="1" noChangeArrowheads="1"/>
          </p:cNvSpPr>
          <p:nvPr>
            <p:ph idx="1"/>
          </p:nvPr>
        </p:nvSpPr>
        <p:spPr>
          <a:xfrm>
            <a:off x="267285" y="1295400"/>
            <a:ext cx="8543227" cy="5307106"/>
          </a:xfrm>
        </p:spPr>
        <p:txBody>
          <a:bodyPr>
            <a:normAutofit/>
          </a:bodyPr>
          <a:lstStyle/>
          <a:p>
            <a:pPr>
              <a:spcBef>
                <a:spcPts val="0"/>
              </a:spcBef>
              <a:spcAft>
                <a:spcPts val="1500"/>
              </a:spcAft>
            </a:pPr>
            <a:r>
              <a:rPr lang="en-US" altLang="en-US" sz="2400" dirty="0">
                <a:latin typeface="+mn-lt"/>
              </a:rPr>
              <a:t>Plants are multicellular, photosynthetic eukaryotes</a:t>
            </a:r>
          </a:p>
          <a:p>
            <a:pPr>
              <a:spcBef>
                <a:spcPts val="0"/>
              </a:spcBef>
              <a:spcAft>
                <a:spcPts val="1500"/>
              </a:spcAft>
            </a:pPr>
            <a:r>
              <a:rPr lang="en-US" altLang="en-US" sz="2400" dirty="0">
                <a:latin typeface="+mn-lt"/>
              </a:rPr>
              <a:t>Plant systematists use molecular and morphological information to classify plants</a:t>
            </a:r>
          </a:p>
          <a:p>
            <a:pPr marL="0" lvl="1" indent="0">
              <a:spcBef>
                <a:spcPts val="0"/>
              </a:spcBef>
              <a:spcAft>
                <a:spcPts val="0"/>
              </a:spcAft>
              <a:buNone/>
            </a:pPr>
            <a:r>
              <a:rPr lang="en-US" altLang="en-US" sz="2400" dirty="0">
                <a:latin typeface="+mn-lt"/>
              </a:rPr>
              <a:t>Plants are thought to have evolved from a freshwater green algae about 590 MYA</a:t>
            </a:r>
            <a:endParaRPr lang="en-US" altLang="en-US" sz="2000" dirty="0">
              <a:latin typeface="+mn-lt"/>
            </a:endParaRPr>
          </a:p>
          <a:p>
            <a:pPr marL="0" lvl="1" indent="0">
              <a:spcBef>
                <a:spcPts val="0"/>
              </a:spcBef>
              <a:buNone/>
            </a:pPr>
            <a:r>
              <a:rPr lang="en-US" altLang="en-US" sz="2400" dirty="0">
                <a:latin typeface="+mn-lt"/>
              </a:rPr>
              <a:t>Like plants, green algae</a:t>
            </a:r>
          </a:p>
          <a:p>
            <a:pPr marL="363538" lvl="2" indent="-363538">
              <a:spcBef>
                <a:spcPts val="1200"/>
              </a:spcBef>
              <a:spcAft>
                <a:spcPts val="0"/>
              </a:spcAft>
            </a:pPr>
            <a:r>
              <a:rPr lang="en-US" altLang="en-US" sz="2200" dirty="0">
                <a:latin typeface="+mn-lt"/>
              </a:rPr>
              <a:t>Contain chlorophylls and accessory pigments</a:t>
            </a:r>
          </a:p>
          <a:p>
            <a:pPr marL="363538" lvl="2" indent="-363538">
              <a:spcBef>
                <a:spcPts val="1200"/>
              </a:spcBef>
              <a:spcAft>
                <a:spcPts val="0"/>
              </a:spcAft>
            </a:pPr>
            <a:r>
              <a:rPr lang="en-US" altLang="en-US" sz="2200" dirty="0">
                <a:latin typeface="+mn-lt"/>
              </a:rPr>
              <a:t>Store excess carbohydrates as starch</a:t>
            </a:r>
          </a:p>
          <a:p>
            <a:pPr marL="363538" lvl="2" indent="-363538">
              <a:spcBef>
                <a:spcPts val="1200"/>
              </a:spcBef>
              <a:spcAft>
                <a:spcPts val="0"/>
              </a:spcAft>
            </a:pPr>
            <a:r>
              <a:rPr lang="en-US" altLang="en-US" sz="2200" dirty="0">
                <a:latin typeface="+mn-lt"/>
              </a:rPr>
              <a:t>Have cellulose in their cell walls</a:t>
            </a:r>
          </a:p>
          <a:p>
            <a:pPr marL="0" lvl="1" indent="0">
              <a:spcBef>
                <a:spcPts val="1200"/>
              </a:spcBef>
              <a:buNone/>
            </a:pPr>
            <a:r>
              <a:rPr lang="en-US" altLang="en-US" sz="2400" dirty="0">
                <a:latin typeface="+mn-lt"/>
              </a:rPr>
              <a:t>Difference between plants and algae: besides protecting the zygote, plants also protect and nourish the embryo</a:t>
            </a:r>
          </a:p>
        </p:txBody>
      </p:sp>
      <p:sp>
        <p:nvSpPr>
          <p:cNvPr id="4" name="Slide Number Placeholder 3">
            <a:extLst>
              <a:ext uri="{FF2B5EF4-FFF2-40B4-BE49-F238E27FC236}">
                <a16:creationId xmlns:a16="http://schemas.microsoft.com/office/drawing/2014/main" id="{2F170D44-AC10-49C1-B60A-B798D4F3AC22}"/>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3</a:t>
            </a:fld>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0" y="2"/>
            <a:ext cx="9144000" cy="481262"/>
          </a:xfrm>
        </p:spPr>
        <p:txBody>
          <a:bodyPr/>
          <a:lstStyle/>
          <a:p>
            <a:pPr lvl="0" algn="ctr"/>
            <a:r>
              <a:rPr lang="en-US" altLang="en-US" dirty="0">
                <a:solidFill>
                  <a:schemeClr val="accent3">
                    <a:lumMod val="50000"/>
                  </a:schemeClr>
                </a:solidFill>
              </a:rPr>
              <a:t>Characteristics of Plants</a:t>
            </a:r>
          </a:p>
        </p:txBody>
      </p:sp>
      <p:sp>
        <p:nvSpPr>
          <p:cNvPr id="3" name="Text Placeholder 2">
            <a:extLst>
              <a:ext uri="{FF2B5EF4-FFF2-40B4-BE49-F238E27FC236}">
                <a16:creationId xmlns:a16="http://schemas.microsoft.com/office/drawing/2014/main" id="{3A3AEDE3-85C0-41BB-B4A1-AB634024DB8D}"/>
              </a:ext>
            </a:extLst>
          </p:cNvPr>
          <p:cNvSpPr>
            <a:spLocks noGrp="1"/>
          </p:cNvSpPr>
          <p:nvPr>
            <p:ph type="body" sz="quarter" idx="19"/>
          </p:nvPr>
        </p:nvSpPr>
        <p:spPr>
          <a:xfrm>
            <a:off x="395031" y="494969"/>
            <a:ext cx="3588494" cy="274576"/>
          </a:xfrm>
        </p:spPr>
        <p:txBody>
          <a:bodyPr anchor="ctr">
            <a:noAutofit/>
          </a:bodyPr>
          <a:lstStyle/>
          <a:p>
            <a:r>
              <a:rPr lang="en-US" sz="1600" b="1" dirty="0">
                <a:solidFill>
                  <a:srgbClr val="0070C0"/>
                </a:solidFill>
              </a:rPr>
              <a:t>Table 23.1 </a:t>
            </a:r>
            <a:r>
              <a:rPr lang="en-US" sz="1400" dirty="0"/>
              <a:t>Characteristics of Plants</a:t>
            </a:r>
            <a:endParaRPr lang="en-IN" sz="1600" dirty="0"/>
          </a:p>
        </p:txBody>
      </p:sp>
      <p:sp>
        <p:nvSpPr>
          <p:cNvPr id="5" name="Text Placeholder 4" hidden="1">
            <a:extLst>
              <a:ext uri="{FF2B5EF4-FFF2-40B4-BE49-F238E27FC236}">
                <a16:creationId xmlns:a16="http://schemas.microsoft.com/office/drawing/2014/main" id="{B99D8E8E-CA10-476C-B9EB-9B5CCC4B7FCD}"/>
              </a:ext>
            </a:extLst>
          </p:cNvPr>
          <p:cNvSpPr>
            <a:spLocks noGrp="1"/>
          </p:cNvSpPr>
          <p:nvPr>
            <p:ph type="body" sz="quarter" idx="20"/>
          </p:nvPr>
        </p:nvSpPr>
        <p:spPr>
          <a:xfrm>
            <a:off x="2668513" y="2872212"/>
            <a:ext cx="5225957" cy="914400"/>
          </a:xfrm>
        </p:spPr>
        <p:txBody>
          <a:bodyPr>
            <a:normAutofit/>
          </a:bodyPr>
          <a:lstStyle/>
          <a:p>
            <a:r>
              <a:rPr lang="en-US" sz="1800" dirty="0"/>
              <a:t>Table summarizes characteristics of plants including Eukarya, supergroup: Archaeplastida and kingdom: Plantae.</a:t>
            </a:r>
            <a:endParaRPr lang="en-IN" sz="1800" dirty="0"/>
          </a:p>
        </p:txBody>
      </p:sp>
      <p:graphicFrame>
        <p:nvGraphicFramePr>
          <p:cNvPr id="7" name="Table 5">
            <a:extLst>
              <a:ext uri="{FF2B5EF4-FFF2-40B4-BE49-F238E27FC236}">
                <a16:creationId xmlns:a16="http://schemas.microsoft.com/office/drawing/2014/main" id="{8C3FC503-BD12-4E2E-8B8A-8B2C10F5453D}"/>
              </a:ext>
            </a:extLst>
          </p:cNvPr>
          <p:cNvGraphicFramePr>
            <a:graphicFrameLocks/>
          </p:cNvGraphicFramePr>
          <p:nvPr>
            <p:extLst>
              <p:ext uri="{D42A27DB-BD31-4B8C-83A1-F6EECF244321}">
                <p14:modId xmlns:p14="http://schemas.microsoft.com/office/powerpoint/2010/main" val="1484348081"/>
              </p:ext>
            </p:extLst>
          </p:nvPr>
        </p:nvGraphicFramePr>
        <p:xfrm>
          <a:off x="416459" y="769545"/>
          <a:ext cx="8332510" cy="5771009"/>
        </p:xfrm>
        <a:graphic>
          <a:graphicData uri="http://schemas.openxmlformats.org/drawingml/2006/table">
            <a:tbl>
              <a:tblPr firstRow="1" bandRow="1">
                <a:tableStyleId>{5940675A-B579-460E-94D1-54222C63F5DA}</a:tableStyleId>
              </a:tblPr>
              <a:tblGrid>
                <a:gridCol w="8332510">
                  <a:extLst>
                    <a:ext uri="{9D8B030D-6E8A-4147-A177-3AD203B41FA5}">
                      <a16:colId xmlns:a16="http://schemas.microsoft.com/office/drawing/2014/main" val="1257546867"/>
                    </a:ext>
                  </a:extLst>
                </a:gridCol>
              </a:tblGrid>
              <a:tr h="641223">
                <a:tc>
                  <a:txBody>
                    <a:bodyPr/>
                    <a:lstStyle/>
                    <a:p>
                      <a:r>
                        <a:rPr lang="en-IN" sz="1200" dirty="0"/>
                        <a:t>DOMAIN: Eukarya </a:t>
                      </a:r>
                    </a:p>
                    <a:p>
                      <a:r>
                        <a:rPr lang="en-IN" sz="1200" dirty="0"/>
                        <a:t>SUPERGROUP: Archaeplastida</a:t>
                      </a:r>
                    </a:p>
                    <a:p>
                      <a:r>
                        <a:rPr lang="en-IN" sz="1200" dirty="0"/>
                        <a:t>KINGDOM Plantae</a:t>
                      </a:r>
                    </a:p>
                  </a:txBody>
                  <a:tcPr/>
                </a:tc>
                <a:extLst>
                  <a:ext uri="{0D108BD9-81ED-4DB2-BD59-A6C34878D82A}">
                    <a16:rowId xmlns:a16="http://schemas.microsoft.com/office/drawing/2014/main" val="2338724284"/>
                  </a:ext>
                </a:extLst>
              </a:tr>
              <a:tr h="824430">
                <a:tc>
                  <a:txBody>
                    <a:bodyPr/>
                    <a:lstStyle/>
                    <a:p>
                      <a:r>
                        <a:rPr lang="en-IN" sz="1200" dirty="0"/>
                        <a:t>CHARACTERISTICS</a:t>
                      </a:r>
                    </a:p>
                    <a:p>
                      <a:endParaRPr lang="en-IN" sz="1200" dirty="0"/>
                    </a:p>
                    <a:p>
                      <a:r>
                        <a:rPr lang="en-IN" sz="1200" dirty="0"/>
                        <a:t>Multicellular; apical tissue produces </a:t>
                      </a:r>
                      <a:r>
                        <a:rPr lang="en-IN" sz="1200" dirty="0" err="1"/>
                        <a:t>specialtzed</a:t>
                      </a:r>
                      <a:r>
                        <a:rPr lang="en-IN" sz="1200" dirty="0"/>
                        <a:t> tissues </a:t>
                      </a:r>
                      <a:r>
                        <a:rPr lang="en-IN" sz="1200" dirty="0" err="1"/>
                        <a:t>altemations</a:t>
                      </a:r>
                      <a:r>
                        <a:rPr lang="en-IN" sz="1200" dirty="0"/>
                        <a:t>-of- generation life cycle: protection of the embryo: </a:t>
                      </a:r>
                      <a:r>
                        <a:rPr lang="en-IN" sz="1200" dirty="0" err="1"/>
                        <a:t>gametangla</a:t>
                      </a:r>
                      <a:r>
                        <a:rPr lang="en-IN" sz="1200" dirty="0"/>
                        <a:t> produces gametes waxy cuticle prevents water loss</a:t>
                      </a:r>
                    </a:p>
                  </a:txBody>
                  <a:tcPr/>
                </a:tc>
                <a:extLst>
                  <a:ext uri="{0D108BD9-81ED-4DB2-BD59-A6C34878D82A}">
                    <a16:rowId xmlns:a16="http://schemas.microsoft.com/office/drawing/2014/main" val="1983613746"/>
                  </a:ext>
                </a:extLst>
              </a:tr>
              <a:tr h="824430">
                <a:tc>
                  <a:txBody>
                    <a:bodyPr/>
                    <a:lstStyle/>
                    <a:p>
                      <a:r>
                        <a:rPr lang="en-IN" sz="1200" dirty="0"/>
                        <a:t>Nonvascular Plants The Bryophytes</a:t>
                      </a:r>
                    </a:p>
                    <a:p>
                      <a:endParaRPr lang="en-IN" sz="1200" dirty="0"/>
                    </a:p>
                    <a:p>
                      <a:r>
                        <a:rPr lang="en-IN" sz="1200" dirty="0"/>
                        <a:t>Liverworts, hornworts, and mosses are low lying and live in moist environments. Dominant gametophyte produces flagellated sperm unbranched, dependent sporophyte produces windblown spores.</a:t>
                      </a:r>
                    </a:p>
                  </a:txBody>
                  <a:tcPr/>
                </a:tc>
                <a:extLst>
                  <a:ext uri="{0D108BD9-81ED-4DB2-BD59-A6C34878D82A}">
                    <a16:rowId xmlns:a16="http://schemas.microsoft.com/office/drawing/2014/main" val="3748821208"/>
                  </a:ext>
                </a:extLst>
              </a:tr>
              <a:tr h="1557256">
                <a:tc>
                  <a:txBody>
                    <a:bodyPr/>
                    <a:lstStyle/>
                    <a:p>
                      <a:r>
                        <a:rPr lang="en-IN" sz="1200" dirty="0"/>
                        <a:t>Seedless Vascular Plants - The Lycophytes and Pteridophytes</a:t>
                      </a:r>
                    </a:p>
                    <a:p>
                      <a:endParaRPr lang="en-IN" sz="1200" dirty="0"/>
                    </a:p>
                    <a:p>
                      <a:r>
                        <a:rPr lang="en-IN" sz="1200" dirty="0"/>
                        <a:t>Dominate branched sporophyte has vascular tissue: Lignified xylem transports water, and phloem transports organic nutrients: typically has roots, stems and leaves sporangia borne on sides of leaves that produce windblown spores Independent and separate gametophyte produces flagellated sperm.</a:t>
                      </a:r>
                    </a:p>
                    <a:p>
                      <a:endParaRPr lang="en-IN" sz="1200" dirty="0"/>
                    </a:p>
                    <a:p>
                      <a:pPr marL="285750" indent="-285750">
                        <a:buFont typeface="Arial" panose="020B0604020202020204" pitchFamily="34" charset="0"/>
                        <a:buChar char="•"/>
                      </a:pPr>
                      <a:r>
                        <a:rPr lang="en-IN" sz="1200" dirty="0"/>
                        <a:t>Lycophyte leaves are microphylls with a single, unbranched vein.</a:t>
                      </a:r>
                    </a:p>
                    <a:p>
                      <a:pPr marL="285750" indent="-285750">
                        <a:buFont typeface="Arial" panose="020B0604020202020204" pitchFamily="34" charset="0"/>
                        <a:buChar char="•"/>
                      </a:pPr>
                      <a:r>
                        <a:rPr lang="en-IN" sz="1200" dirty="0"/>
                        <a:t>Pteridophyte leaves are megaphylls with branched veins.</a:t>
                      </a:r>
                    </a:p>
                  </a:txBody>
                  <a:tcPr/>
                </a:tc>
                <a:extLst>
                  <a:ext uri="{0D108BD9-81ED-4DB2-BD59-A6C34878D82A}">
                    <a16:rowId xmlns:a16="http://schemas.microsoft.com/office/drawing/2014/main" val="3809747532"/>
                  </a:ext>
                </a:extLst>
              </a:tr>
              <a:tr h="1923670">
                <a:tc>
                  <a:txBody>
                    <a:bodyPr/>
                    <a:lstStyle/>
                    <a:p>
                      <a:r>
                        <a:rPr lang="en-IN" sz="1200" dirty="0"/>
                        <a:t>Seeded Vascular Plants–The Gymnosperms and Angiosperms </a:t>
                      </a:r>
                    </a:p>
                    <a:p>
                      <a:endParaRPr lang="en-IN" sz="1200" dirty="0"/>
                    </a:p>
                    <a:p>
                      <a:r>
                        <a:rPr lang="en-IN" sz="1200" dirty="0"/>
                        <a:t>Leaves are megaphylls: dominant sporophyte produces </a:t>
                      </a:r>
                      <a:r>
                        <a:rPr lang="en-IN" sz="1200" dirty="0" err="1"/>
                        <a:t>heterosperes</a:t>
                      </a:r>
                      <a:r>
                        <a:rPr lang="en-IN" sz="1200" dirty="0"/>
                        <a:t> that become dependent male and female gametophytes Male gametophyte is pollen grain, and female gametophyte occurs within ovule, which becomes a seed.</a:t>
                      </a:r>
                    </a:p>
                    <a:p>
                      <a:endParaRPr lang="en-IN" sz="1200" dirty="0"/>
                    </a:p>
                    <a:p>
                      <a:pPr marL="285750" indent="-285750">
                        <a:buFont typeface="Arial" panose="020B0604020202020204" pitchFamily="34" charset="0"/>
                        <a:buChar char="•"/>
                      </a:pPr>
                      <a:r>
                        <a:rPr lang="en-IN" sz="1200" dirty="0"/>
                        <a:t>Gymnosperms are cone bearing: sporophyte bears pollen cones. which produce </a:t>
                      </a:r>
                      <a:r>
                        <a:rPr lang="en-IN" sz="1200" dirty="0" err="1"/>
                        <a:t>windtown</a:t>
                      </a:r>
                      <a:r>
                        <a:rPr lang="en-IN" sz="1200" dirty="0"/>
                        <a:t> pollen (male </a:t>
                      </a:r>
                      <a:r>
                        <a:rPr lang="en-IN" sz="1200" dirty="0" err="1"/>
                        <a:t>gametopyte</a:t>
                      </a:r>
                      <a:r>
                        <a:rPr lang="en-IN" sz="1200" dirty="0"/>
                        <a:t>, and seed cones which produce seeds</a:t>
                      </a:r>
                    </a:p>
                    <a:p>
                      <a:pPr marL="285750" indent="-285750">
                        <a:buFont typeface="Arial" panose="020B0604020202020204" pitchFamily="34" charset="0"/>
                        <a:buChar char="•"/>
                      </a:pPr>
                      <a:endParaRPr lang="en-IN" sz="1200" dirty="0"/>
                    </a:p>
                    <a:p>
                      <a:pPr marL="285750" indent="-285750">
                        <a:buFont typeface="Arial" panose="020B0604020202020204" pitchFamily="34" charset="0"/>
                        <a:buChar char="•"/>
                      </a:pPr>
                      <a:r>
                        <a:rPr lang="en-IN" sz="1200" dirty="0"/>
                        <a:t>Angiosperm sporophytes bear flowers, which produce pollen grain and beat </a:t>
                      </a:r>
                      <a:r>
                        <a:rPr lang="en-IN" sz="1200" dirty="0" err="1"/>
                        <a:t>vules</a:t>
                      </a:r>
                      <a:r>
                        <a:rPr lang="en-IN" sz="1200" dirty="0"/>
                        <a:t> within an ovary Following double fertilization, ovules become seeds that enclose a sporophyte embryo and endosperm. Fruit develops from ovary</a:t>
                      </a:r>
                    </a:p>
                  </a:txBody>
                  <a:tcPr/>
                </a:tc>
                <a:extLst>
                  <a:ext uri="{0D108BD9-81ED-4DB2-BD59-A6C34878D82A}">
                    <a16:rowId xmlns:a16="http://schemas.microsoft.com/office/drawing/2014/main" val="451839841"/>
                  </a:ext>
                </a:extLst>
              </a:tr>
            </a:tbl>
          </a:graphicData>
        </a:graphic>
      </p:graphicFrame>
      <p:sp>
        <p:nvSpPr>
          <p:cNvPr id="6" name="Slide Number Placeholder 5">
            <a:extLst>
              <a:ext uri="{FF2B5EF4-FFF2-40B4-BE49-F238E27FC236}">
                <a16:creationId xmlns:a16="http://schemas.microsoft.com/office/drawing/2014/main" id="{B2F5AD56-9385-47DF-B5C9-DBF53B7C9C31}"/>
              </a:ext>
            </a:extLst>
          </p:cNvPr>
          <p:cNvSpPr>
            <a:spLocks noGrp="1"/>
          </p:cNvSpPr>
          <p:nvPr>
            <p:ph type="sldNum" sz="quarter" idx="4"/>
          </p:nvPr>
        </p:nvSpPr>
        <p:spPr/>
        <p:txBody>
          <a:bodyPr/>
          <a:lstStyle/>
          <a:p>
            <a:fld id="{08F9AD23-695F-4808-8E99-6281554D0F77}" type="slidenum">
              <a:rPr lang="en-IN" smtClean="0"/>
              <a:t>4</a:t>
            </a:fld>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Title 1"/>
          <p:cNvSpPr>
            <a:spLocks noGrp="1" noChangeArrowheads="1"/>
          </p:cNvSpPr>
          <p:nvPr>
            <p:ph type="title"/>
          </p:nvPr>
        </p:nvSpPr>
        <p:spPr/>
        <p:txBody>
          <a:bodyPr/>
          <a:lstStyle/>
          <a:p>
            <a:pPr algn="ctr">
              <a:tabLst>
                <a:tab pos="2692400" algn="l"/>
              </a:tabLst>
            </a:pPr>
            <a:r>
              <a:rPr lang="en-US" altLang="en-US" dirty="0">
                <a:solidFill>
                  <a:schemeClr val="accent3">
                    <a:lumMod val="50000"/>
                  </a:schemeClr>
                </a:solidFill>
                <a:latin typeface="+mn-lt"/>
              </a:rPr>
              <a:t>The Ancestry of Land Plants</a:t>
            </a:r>
          </a:p>
        </p:txBody>
      </p:sp>
      <p:sp>
        <p:nvSpPr>
          <p:cNvPr id="8196" name="Content Placeholder 2"/>
          <p:cNvSpPr>
            <a:spLocks noGrp="1" noChangeArrowheads="1"/>
          </p:cNvSpPr>
          <p:nvPr>
            <p:ph idx="1"/>
          </p:nvPr>
        </p:nvSpPr>
        <p:spPr>
          <a:xfrm>
            <a:off x="445202" y="1295400"/>
            <a:ext cx="8229600" cy="5147603"/>
          </a:xfrm>
        </p:spPr>
        <p:txBody>
          <a:bodyPr>
            <a:normAutofit/>
          </a:bodyPr>
          <a:lstStyle/>
          <a:p>
            <a:pPr>
              <a:spcBef>
                <a:spcPts val="0"/>
              </a:spcBef>
              <a:spcAft>
                <a:spcPts val="1500"/>
              </a:spcAft>
            </a:pPr>
            <a:r>
              <a:rPr lang="en-US" altLang="en-US" sz="2800" dirty="0">
                <a:latin typeface="+mn-lt"/>
              </a:rPr>
              <a:t>Land plants are most closely related to freshwater green algae known as </a:t>
            </a:r>
            <a:r>
              <a:rPr lang="en-US" altLang="en-US" sz="2800" b="1" dirty="0">
                <a:solidFill>
                  <a:srgbClr val="D90000"/>
                </a:solidFill>
                <a:latin typeface="+mn-lt"/>
              </a:rPr>
              <a:t>charophytes</a:t>
            </a:r>
            <a:endParaRPr lang="en-US" altLang="en-US" sz="2800" dirty="0">
              <a:solidFill>
                <a:srgbClr val="D90000"/>
              </a:solidFill>
              <a:latin typeface="+mn-lt"/>
            </a:endParaRPr>
          </a:p>
          <a:p>
            <a:pPr marL="285750" lvl="1" indent="-285750">
              <a:spcBef>
                <a:spcPts val="0"/>
              </a:spcBef>
              <a:buFont typeface="Arial" panose="020B0604020202020204" pitchFamily="34" charset="0"/>
              <a:buChar char="•"/>
            </a:pPr>
            <a:r>
              <a:rPr lang="en-US" altLang="en-US" sz="2800" dirty="0">
                <a:latin typeface="+mn-lt"/>
              </a:rPr>
              <a:t>Charophytes and land plants are in the same clade</a:t>
            </a:r>
          </a:p>
          <a:p>
            <a:pPr marL="627063" lvl="2" indent="-363538">
              <a:spcBef>
                <a:spcPts val="1200"/>
              </a:spcBef>
              <a:buFont typeface="Arial" panose="020B0604020202020204" pitchFamily="34" charset="0"/>
              <a:buChar char="•"/>
            </a:pPr>
            <a:r>
              <a:rPr lang="en-US" sz="2600" dirty="0">
                <a:latin typeface="+mn-lt"/>
              </a:rPr>
              <a:t>Ancestors of land plants were most closely related to the charophytes </a:t>
            </a:r>
            <a:r>
              <a:rPr lang="en-US" sz="2600" i="1" dirty="0">
                <a:latin typeface="+mn-lt"/>
              </a:rPr>
              <a:t>Chara</a:t>
            </a:r>
            <a:r>
              <a:rPr lang="en-US" sz="2600" dirty="0">
                <a:latin typeface="+mn-lt"/>
              </a:rPr>
              <a:t> and </a:t>
            </a:r>
            <a:r>
              <a:rPr lang="en-US" sz="2600" i="1" dirty="0" err="1">
                <a:latin typeface="+mn-lt"/>
              </a:rPr>
              <a:t>Coleochaete</a:t>
            </a:r>
            <a:endParaRPr lang="en-US" sz="2600" i="1" dirty="0">
              <a:latin typeface="+mn-lt"/>
            </a:endParaRPr>
          </a:p>
          <a:p>
            <a:pPr marL="989013" lvl="3" indent="-361950">
              <a:spcBef>
                <a:spcPts val="1200"/>
              </a:spcBef>
              <a:buFont typeface="Arial" panose="020B0604020202020204" pitchFamily="34" charset="0"/>
              <a:buChar char="•"/>
            </a:pPr>
            <a:r>
              <a:rPr lang="en-US" sz="2400" dirty="0"/>
              <a:t>Most important to the evolution of plants, charophytes protect the zygote</a:t>
            </a:r>
            <a:endParaRPr lang="en-US" altLang="en-US" sz="2400" dirty="0"/>
          </a:p>
        </p:txBody>
      </p:sp>
      <p:sp>
        <p:nvSpPr>
          <p:cNvPr id="4" name="Slide Number Placeholder 3">
            <a:extLst>
              <a:ext uri="{FF2B5EF4-FFF2-40B4-BE49-F238E27FC236}">
                <a16:creationId xmlns:a16="http://schemas.microsoft.com/office/drawing/2014/main" id="{CCC2EBE5-93BD-4224-B561-4B91CBEE300E}"/>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5</a:t>
            </a:fld>
            <a:endParaRPr lang="en-IN"/>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noChangeArrowheads="1"/>
          </p:cNvSpPr>
          <p:nvPr>
            <p:ph type="title"/>
          </p:nvPr>
        </p:nvSpPr>
        <p:spPr/>
        <p:txBody>
          <a:bodyPr/>
          <a:lstStyle/>
          <a:p>
            <a:pPr algn="ctr"/>
            <a:r>
              <a:rPr lang="en-US" altLang="en-US" dirty="0">
                <a:solidFill>
                  <a:schemeClr val="accent3">
                    <a:lumMod val="50000"/>
                  </a:schemeClr>
                </a:solidFill>
                <a:latin typeface="+mj-lt"/>
              </a:rPr>
              <a:t> Evolutionary History of Plants</a:t>
            </a:r>
          </a:p>
        </p:txBody>
      </p:sp>
      <p:pic>
        <p:nvPicPr>
          <p:cNvPr id="3" name="Picture 2" descr="Cladogram shows evolution of plant.">
            <a:extLst>
              <a:ext uri="{FF2B5EF4-FFF2-40B4-BE49-F238E27FC236}">
                <a16:creationId xmlns:a16="http://schemas.microsoft.com/office/drawing/2014/main" id="{C0678721-14AF-40B1-88C3-D063F95D9F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11919" y="948214"/>
            <a:ext cx="2920159" cy="4946679"/>
          </a:xfrm>
          <a:prstGeom prst="rect">
            <a:avLst/>
          </a:prstGeom>
        </p:spPr>
      </p:pic>
      <p:sp>
        <p:nvSpPr>
          <p:cNvPr id="4" name="Content Placeholder 3"/>
          <p:cNvSpPr>
            <a:spLocks noGrp="1"/>
          </p:cNvSpPr>
          <p:nvPr>
            <p:ph type="body" sz="quarter" idx="18"/>
          </p:nvPr>
        </p:nvSpPr>
        <p:spPr>
          <a:xfrm>
            <a:off x="4037291" y="6013203"/>
            <a:ext cx="1069416" cy="314325"/>
          </a:xfrm>
        </p:spPr>
        <p:txBody>
          <a:bodyPr>
            <a:normAutofit/>
          </a:bodyPr>
          <a:lstStyle/>
          <a:p>
            <a:r>
              <a:rPr lang="en-US" sz="1200" dirty="0"/>
              <a:t>Figure 23.1</a:t>
            </a:r>
          </a:p>
        </p:txBody>
      </p:sp>
      <p:sp>
        <p:nvSpPr>
          <p:cNvPr id="2" name="Text Placeholder 4">
            <a:extLst>
              <a:ext uri="{FF2B5EF4-FFF2-40B4-BE49-F238E27FC236}">
                <a16:creationId xmlns:a16="http://schemas.microsoft.com/office/drawing/2014/main" id="{DA26BDAE-B495-4C95-AD29-15A2F7A3EF57}"/>
              </a:ext>
            </a:extLst>
          </p:cNvPr>
          <p:cNvSpPr>
            <a:spLocks noGrp="1"/>
          </p:cNvSpPr>
          <p:nvPr>
            <p:ph type="body" sz="quarter" idx="19"/>
          </p:nvPr>
        </p:nvSpPr>
        <p:spPr>
          <a:xfrm>
            <a:off x="2978942" y="6327528"/>
            <a:ext cx="3186112" cy="314325"/>
          </a:xfrm>
        </p:spPr>
        <p:txBody>
          <a:bodyPr>
            <a:normAutofit/>
          </a:bodyPr>
          <a:lstStyle/>
          <a:p>
            <a:pPr algn="ctr"/>
            <a:r>
              <a:rPr lang="en-US" sz="1200" dirty="0">
                <a:hlinkClick r:id="rId4" action="ppaction://hlinksldjump"/>
              </a:rPr>
              <a:t>Access the text alternative for slide images.</a:t>
            </a:r>
            <a:endParaRPr lang="en-US" sz="1200" dirty="0"/>
          </a:p>
        </p:txBody>
      </p:sp>
      <p:sp>
        <p:nvSpPr>
          <p:cNvPr id="7" name="Slide Number Placeholder 5">
            <a:extLst>
              <a:ext uri="{FF2B5EF4-FFF2-40B4-BE49-F238E27FC236}">
                <a16:creationId xmlns:a16="http://schemas.microsoft.com/office/drawing/2014/main" id="{B407E6EE-330C-4ED8-A88D-D50F9CFF9492}"/>
              </a:ext>
            </a:extLst>
          </p:cNvPr>
          <p:cNvSpPr>
            <a:spLocks noGrp="1"/>
          </p:cNvSpPr>
          <p:nvPr>
            <p:ph type="sldNum" sz="quarter" idx="4"/>
          </p:nvPr>
        </p:nvSpPr>
        <p:spPr/>
        <p:txBody>
          <a:bodyPr/>
          <a:lstStyle/>
          <a:p>
            <a:fld id="{08F9AD23-695F-4808-8E99-6281554D0F77}" type="slidenum">
              <a:rPr lang="en-IN" smtClean="0"/>
              <a:t>6</a:t>
            </a:fld>
            <a:endParaRPr lang="en-IN"/>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p:txBody>
          <a:bodyPr/>
          <a:lstStyle/>
          <a:p>
            <a:pPr algn="ctr"/>
            <a:r>
              <a:rPr lang="en-US" sz="3600" dirty="0">
                <a:solidFill>
                  <a:schemeClr val="accent3">
                    <a:lumMod val="50000"/>
                  </a:schemeClr>
                </a:solidFill>
                <a:latin typeface="+mn-lt"/>
              </a:rPr>
              <a:t>Embryo Difference in Green Algae and Land Plants</a:t>
            </a:r>
          </a:p>
        </p:txBody>
      </p:sp>
      <p:pic>
        <p:nvPicPr>
          <p:cNvPr id="5" name="Picture 2" descr="Set of two micrographs comparing features of Oedogonium and Capsella depict difference in seeds."/>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3246" b="1984"/>
          <a:stretch/>
        </p:blipFill>
        <p:spPr bwMode="auto">
          <a:xfrm>
            <a:off x="2818001" y="1137477"/>
            <a:ext cx="3506874" cy="43856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Content Placeholder 3"/>
          <p:cNvSpPr>
            <a:spLocks noGrp="1"/>
          </p:cNvSpPr>
          <p:nvPr>
            <p:ph type="body" sz="quarter" idx="18"/>
          </p:nvPr>
        </p:nvSpPr>
        <p:spPr>
          <a:xfrm>
            <a:off x="520698" y="5765152"/>
            <a:ext cx="8101481" cy="314325"/>
          </a:xfrm>
        </p:spPr>
        <p:txBody>
          <a:bodyPr>
            <a:normAutofit/>
          </a:bodyPr>
          <a:lstStyle/>
          <a:p>
            <a:r>
              <a:rPr lang="en-US" sz="1200" dirty="0"/>
              <a:t>Figure 23.2</a:t>
            </a:r>
          </a:p>
        </p:txBody>
      </p:sp>
      <p:sp>
        <p:nvSpPr>
          <p:cNvPr id="8" name="Content Placeholder 4"/>
          <p:cNvSpPr>
            <a:spLocks noGrp="1"/>
          </p:cNvSpPr>
          <p:nvPr>
            <p:ph type="body" sz="quarter" idx="19"/>
          </p:nvPr>
        </p:nvSpPr>
        <p:spPr>
          <a:xfrm>
            <a:off x="2916469" y="6134997"/>
            <a:ext cx="3309937" cy="314325"/>
          </a:xfrm>
        </p:spPr>
        <p:txBody>
          <a:bodyPr anchor="ctr">
            <a:normAutofit/>
          </a:bodyPr>
          <a:lstStyle/>
          <a:p>
            <a:pPr algn="ctr"/>
            <a:r>
              <a:rPr lang="en-US" sz="1200" dirty="0">
                <a:hlinkClick r:id="rId4" action="ppaction://hlinksldjump"/>
              </a:rPr>
              <a:t>Access the text alternative for slide images.</a:t>
            </a:r>
            <a:endParaRPr lang="en-US" sz="1200" dirty="0"/>
          </a:p>
        </p:txBody>
      </p:sp>
      <p:sp>
        <p:nvSpPr>
          <p:cNvPr id="2" name="Text Placeholder 5">
            <a:extLst>
              <a:ext uri="{FF2B5EF4-FFF2-40B4-BE49-F238E27FC236}">
                <a16:creationId xmlns:a16="http://schemas.microsoft.com/office/drawing/2014/main" id="{CE808228-FC0B-413B-872A-DA46C50D9240}"/>
              </a:ext>
            </a:extLst>
          </p:cNvPr>
          <p:cNvSpPr>
            <a:spLocks noGrp="1"/>
          </p:cNvSpPr>
          <p:nvPr>
            <p:ph type="body" sz="quarter" idx="21"/>
          </p:nvPr>
        </p:nvSpPr>
        <p:spPr/>
        <p:txBody>
          <a:bodyPr/>
          <a:lstStyle/>
          <a:p>
            <a:r>
              <a:rPr lang="en-US" dirty="0"/>
              <a:t>(a): Biology Pics/Science Source; (b): Garry DeLong/Science Source</a:t>
            </a:r>
            <a:endParaRPr lang="en-GB" dirty="0"/>
          </a:p>
        </p:txBody>
      </p:sp>
      <p:sp>
        <p:nvSpPr>
          <p:cNvPr id="9" name="Slide Number Placeholder 6">
            <a:extLst>
              <a:ext uri="{FF2B5EF4-FFF2-40B4-BE49-F238E27FC236}">
                <a16:creationId xmlns:a16="http://schemas.microsoft.com/office/drawing/2014/main" id="{DA480DE8-6550-4EF8-886A-B716E52B5FC1}"/>
              </a:ext>
            </a:extLst>
          </p:cNvPr>
          <p:cNvSpPr>
            <a:spLocks noGrp="1"/>
          </p:cNvSpPr>
          <p:nvPr>
            <p:ph type="sldNum" sz="quarter" idx="4"/>
          </p:nvPr>
        </p:nvSpPr>
        <p:spPr/>
        <p:txBody>
          <a:bodyPr/>
          <a:lstStyle/>
          <a:p>
            <a:fld id="{08F9AD23-695F-4808-8E99-6281554D0F77}" type="slidenum">
              <a:rPr lang="en-IN" smtClean="0"/>
              <a:t>7</a:t>
            </a:fld>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noChangeArrowheads="1"/>
          </p:cNvSpPr>
          <p:nvPr>
            <p:ph type="title"/>
          </p:nvPr>
        </p:nvSpPr>
        <p:spPr/>
        <p:txBody>
          <a:bodyPr/>
          <a:lstStyle/>
          <a:p>
            <a:pPr algn="ctr"/>
            <a:r>
              <a:rPr lang="en-US" altLang="en-US" dirty="0">
                <a:solidFill>
                  <a:schemeClr val="accent3">
                    <a:lumMod val="50000"/>
                  </a:schemeClr>
                </a:solidFill>
              </a:rPr>
              <a:t>Charophytes</a:t>
            </a:r>
          </a:p>
        </p:txBody>
      </p:sp>
      <p:pic>
        <p:nvPicPr>
          <p:cNvPr id="2" name="Picture 2" descr="A) Chara is depicted as stem-like and leaf-like structures.&#10;B) Micrograph shows concentric rings of green, uninucleated cells."/>
          <p:cNvPicPr>
            <a:picLocks noChangeAspect="1"/>
          </p:cNvPicPr>
          <p:nvPr/>
        </p:nvPicPr>
        <p:blipFill rotWithShape="1">
          <a:blip r:embed="rId3">
            <a:extLst>
              <a:ext uri="{28A0092B-C50C-407E-A947-70E740481C1C}">
                <a14:useLocalDpi xmlns:a14="http://schemas.microsoft.com/office/drawing/2010/main" val="0"/>
              </a:ext>
            </a:extLst>
          </a:blip>
          <a:srcRect t="5186"/>
          <a:stretch/>
        </p:blipFill>
        <p:spPr>
          <a:xfrm>
            <a:off x="879651" y="966591"/>
            <a:ext cx="6949441" cy="3814702"/>
          </a:xfrm>
          <a:prstGeom prst="rect">
            <a:avLst/>
          </a:prstGeom>
        </p:spPr>
      </p:pic>
      <p:sp>
        <p:nvSpPr>
          <p:cNvPr id="5" name="Content Placeholder 3"/>
          <p:cNvSpPr>
            <a:spLocks noGrp="1"/>
          </p:cNvSpPr>
          <p:nvPr>
            <p:ph type="body" sz="quarter" idx="18"/>
          </p:nvPr>
        </p:nvSpPr>
        <p:spPr>
          <a:xfrm>
            <a:off x="4017681" y="5276904"/>
            <a:ext cx="1107516" cy="314325"/>
          </a:xfrm>
        </p:spPr>
        <p:txBody>
          <a:bodyPr>
            <a:noAutofit/>
          </a:bodyPr>
          <a:lstStyle/>
          <a:p>
            <a:r>
              <a:rPr lang="en-US" sz="1200" dirty="0"/>
              <a:t>Figure 23.3</a:t>
            </a:r>
          </a:p>
        </p:txBody>
      </p:sp>
      <p:sp>
        <p:nvSpPr>
          <p:cNvPr id="8" name="Slide Number Placeholder 4">
            <a:extLst>
              <a:ext uri="{FF2B5EF4-FFF2-40B4-BE49-F238E27FC236}">
                <a16:creationId xmlns:a16="http://schemas.microsoft.com/office/drawing/2014/main" id="{7D991264-7646-4449-AAA5-4E0CB47B4AB2}"/>
              </a:ext>
            </a:extLst>
          </p:cNvPr>
          <p:cNvSpPr>
            <a:spLocks noGrp="1"/>
          </p:cNvSpPr>
          <p:nvPr>
            <p:ph type="sldNum" sz="quarter" idx="4"/>
          </p:nvPr>
        </p:nvSpPr>
        <p:spPr/>
        <p:txBody>
          <a:bodyPr/>
          <a:lstStyle/>
          <a:p>
            <a:fld id="{08F9AD23-695F-4808-8E99-6281554D0F77}" type="slidenum">
              <a:rPr lang="en-IN" smtClean="0"/>
              <a:t>8</a:t>
            </a:fld>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noChangeArrowheads="1"/>
          </p:cNvSpPr>
          <p:nvPr>
            <p:ph type="title"/>
          </p:nvPr>
        </p:nvSpPr>
        <p:spPr>
          <a:xfrm>
            <a:off x="457200" y="0"/>
            <a:ext cx="8229600" cy="1028114"/>
          </a:xfrm>
        </p:spPr>
        <p:txBody>
          <a:bodyPr/>
          <a:lstStyle/>
          <a:p>
            <a:pPr algn="ctr"/>
            <a:r>
              <a:rPr lang="en-US" altLang="en-US" dirty="0">
                <a:solidFill>
                  <a:schemeClr val="accent3">
                    <a:lumMod val="50000"/>
                  </a:schemeClr>
                </a:solidFill>
                <a:latin typeface="+mn-lt"/>
              </a:rPr>
              <a:t>Adaptation to Land</a:t>
            </a:r>
          </a:p>
        </p:txBody>
      </p:sp>
      <p:sp>
        <p:nvSpPr>
          <p:cNvPr id="6" name="Content Placeholder 2"/>
          <p:cNvSpPr>
            <a:spLocks noGrp="1"/>
          </p:cNvSpPr>
          <p:nvPr>
            <p:ph sz="quarter" idx="10"/>
          </p:nvPr>
        </p:nvSpPr>
        <p:spPr>
          <a:xfrm>
            <a:off x="365760" y="1028114"/>
            <a:ext cx="8321040" cy="5386754"/>
          </a:xfrm>
        </p:spPr>
        <p:txBody>
          <a:bodyPr/>
          <a:lstStyle/>
          <a:p>
            <a:pPr>
              <a:lnSpc>
                <a:spcPct val="90000"/>
              </a:lnSpc>
              <a:spcBef>
                <a:spcPts val="0"/>
              </a:spcBef>
              <a:spcAft>
                <a:spcPts val="2000"/>
              </a:spcAft>
            </a:pPr>
            <a:r>
              <a:rPr lang="en-US" sz="2400" dirty="0">
                <a:latin typeface="+mn-lt"/>
              </a:rPr>
              <a:t>Being on land required plants to evolve mechanisms to minimize dehydration, move water and nutrients against gravity, and damage from UV radiation:</a:t>
            </a:r>
          </a:p>
          <a:p>
            <a:pPr lvl="1">
              <a:lnSpc>
                <a:spcPct val="90000"/>
              </a:lnSpc>
              <a:spcBef>
                <a:spcPts val="0"/>
              </a:spcBef>
              <a:spcAft>
                <a:spcPts val="2000"/>
              </a:spcAft>
              <a:buFont typeface="Arial" panose="020B0604020202020204" pitchFamily="34" charset="0"/>
              <a:buChar char="•"/>
            </a:pPr>
            <a:r>
              <a:rPr lang="en-US" sz="2200" dirty="0">
                <a:latin typeface="+mn-lt"/>
              </a:rPr>
              <a:t>Waxy covering called a </a:t>
            </a:r>
            <a:r>
              <a:rPr lang="en-US" sz="2200" b="1" dirty="0">
                <a:solidFill>
                  <a:srgbClr val="D90000"/>
                </a:solidFill>
                <a:latin typeface="+mn-lt"/>
              </a:rPr>
              <a:t>cuticle</a:t>
            </a:r>
            <a:r>
              <a:rPr lang="en-US" sz="2200" dirty="0">
                <a:latin typeface="+mn-lt"/>
              </a:rPr>
              <a:t> protects most land plants from desiccation</a:t>
            </a:r>
          </a:p>
          <a:p>
            <a:pPr marL="714375" lvl="2" indent="-350838">
              <a:lnSpc>
                <a:spcPct val="90000"/>
              </a:lnSpc>
              <a:spcBef>
                <a:spcPts val="0"/>
              </a:spcBef>
              <a:spcAft>
                <a:spcPts val="2000"/>
              </a:spcAft>
              <a:buFont typeface="Arial" panose="020B0604020202020204" pitchFamily="34" charset="0"/>
              <a:buChar char="•"/>
            </a:pPr>
            <a:r>
              <a:rPr lang="en-US" sz="2000" dirty="0">
                <a:latin typeface="+mn-lt"/>
              </a:rPr>
              <a:t>Cuticle covers exposed surfaces and is relatively impermeable</a:t>
            </a:r>
          </a:p>
          <a:p>
            <a:pPr marL="714375" lvl="2" indent="-350838">
              <a:lnSpc>
                <a:spcPct val="90000"/>
              </a:lnSpc>
              <a:spcBef>
                <a:spcPts val="0"/>
              </a:spcBef>
              <a:spcAft>
                <a:spcPts val="2000"/>
              </a:spcAft>
              <a:buFont typeface="Arial" panose="020B0604020202020204" pitchFamily="34" charset="0"/>
              <a:buChar char="•"/>
            </a:pPr>
            <a:r>
              <a:rPr lang="en-US" sz="2000" dirty="0">
                <a:latin typeface="+mn-lt"/>
              </a:rPr>
              <a:t>Small openings, called </a:t>
            </a:r>
            <a:r>
              <a:rPr lang="en-US" sz="2000" b="1" dirty="0">
                <a:solidFill>
                  <a:srgbClr val="D90000"/>
                </a:solidFill>
                <a:latin typeface="+mn-lt"/>
              </a:rPr>
              <a:t>stomata</a:t>
            </a:r>
            <a:r>
              <a:rPr lang="en-US" sz="2000" dirty="0">
                <a:latin typeface="+mn-lt"/>
              </a:rPr>
              <a:t>, are found mostly on the underside of leaves and allow for gas exchange between the plant and the environment</a:t>
            </a:r>
          </a:p>
          <a:p>
            <a:pPr lvl="1">
              <a:lnSpc>
                <a:spcPct val="90000"/>
              </a:lnSpc>
              <a:spcBef>
                <a:spcPts val="0"/>
              </a:spcBef>
              <a:spcAft>
                <a:spcPts val="2000"/>
              </a:spcAft>
              <a:buFont typeface="Arial" panose="020B0604020202020204" pitchFamily="34" charset="0"/>
              <a:buChar char="•"/>
            </a:pPr>
            <a:r>
              <a:rPr lang="en-US" sz="2200" dirty="0">
                <a:latin typeface="+mn-lt"/>
              </a:rPr>
              <a:t>To move water against the force of water many plants have </a:t>
            </a:r>
            <a:r>
              <a:rPr lang="en-US" sz="2200" b="1" i="0" u="none" strike="noStrike" baseline="0" dirty="0" err="1">
                <a:solidFill>
                  <a:srgbClr val="D90000"/>
                </a:solidFill>
                <a:latin typeface="+mn-lt"/>
              </a:rPr>
              <a:t>tracheids</a:t>
            </a:r>
            <a:r>
              <a:rPr lang="en-US" sz="2200" b="1" i="0" u="none" strike="noStrike" baseline="0" dirty="0">
                <a:solidFill>
                  <a:srgbClr val="000000"/>
                </a:solidFill>
                <a:latin typeface="+mn-lt"/>
              </a:rPr>
              <a:t>, </a:t>
            </a:r>
            <a:r>
              <a:rPr lang="en-US" sz="2200" b="0" i="0" u="none" strike="noStrike" baseline="0" dirty="0">
                <a:solidFill>
                  <a:srgbClr val="000000"/>
                </a:solidFill>
                <a:latin typeface="+mn-lt"/>
              </a:rPr>
              <a:t>specialized cells with proteins that resist gravity and facilitate the upward transport of water and minerals</a:t>
            </a:r>
            <a:endParaRPr lang="en-US" sz="2000" dirty="0">
              <a:latin typeface="+mn-lt"/>
            </a:endParaRPr>
          </a:p>
        </p:txBody>
      </p:sp>
      <p:sp>
        <p:nvSpPr>
          <p:cNvPr id="4" name="Slide Number Placeholder 3">
            <a:extLst>
              <a:ext uri="{FF2B5EF4-FFF2-40B4-BE49-F238E27FC236}">
                <a16:creationId xmlns:a16="http://schemas.microsoft.com/office/drawing/2014/main" id="{D7804121-01A1-4937-A95C-3A1079EE93B1}"/>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9</a:t>
            </a:fld>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noChangeArrowheads="1"/>
          </p:cNvSpPr>
          <p:nvPr>
            <p:ph type="title"/>
          </p:nvPr>
        </p:nvSpPr>
        <p:spPr>
          <a:xfrm>
            <a:off x="0" y="103068"/>
            <a:ext cx="9144000" cy="948213"/>
          </a:xfrm>
        </p:spPr>
        <p:txBody>
          <a:bodyPr>
            <a:noAutofit/>
          </a:bodyPr>
          <a:lstStyle/>
          <a:p>
            <a:pPr algn="ctr"/>
            <a:r>
              <a:rPr lang="en-US" altLang="en-US" dirty="0">
                <a:solidFill>
                  <a:schemeClr val="accent3">
                    <a:lumMod val="50000"/>
                  </a:schemeClr>
                </a:solidFill>
                <a:latin typeface="+mn-lt"/>
              </a:rPr>
              <a:t>Leaf Adaptation to Prevent Desiccation</a:t>
            </a:r>
          </a:p>
        </p:txBody>
      </p:sp>
      <p:pic>
        <p:nvPicPr>
          <p:cNvPr id="9" name="Picture 2" descr="Illustration shows leaves with a waterproof cuticle and falsely colored scanning electron micrograph of leaf surface. ">
            <a:extLst>
              <a:ext uri="{FF2B5EF4-FFF2-40B4-BE49-F238E27FC236}">
                <a16:creationId xmlns:a16="http://schemas.microsoft.com/office/drawing/2014/main" id="{C9B691DA-7D47-4271-9879-F59F235D62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49801" y="1614679"/>
            <a:ext cx="3810000" cy="3924300"/>
          </a:xfrm>
          <a:prstGeom prst="rect">
            <a:avLst/>
          </a:prstGeom>
        </p:spPr>
      </p:pic>
      <p:sp>
        <p:nvSpPr>
          <p:cNvPr id="7" name="Content Placeholder 3"/>
          <p:cNvSpPr>
            <a:spLocks noGrp="1"/>
          </p:cNvSpPr>
          <p:nvPr>
            <p:ph type="body" sz="quarter" idx="18"/>
          </p:nvPr>
        </p:nvSpPr>
        <p:spPr>
          <a:xfrm>
            <a:off x="3955767" y="5657236"/>
            <a:ext cx="1231341" cy="314325"/>
          </a:xfrm>
        </p:spPr>
        <p:txBody>
          <a:bodyPr>
            <a:normAutofit/>
          </a:bodyPr>
          <a:lstStyle/>
          <a:p>
            <a:r>
              <a:rPr lang="en-US" sz="1200" dirty="0"/>
              <a:t>Figure 23.4</a:t>
            </a:r>
          </a:p>
        </p:txBody>
      </p:sp>
      <p:sp>
        <p:nvSpPr>
          <p:cNvPr id="6" name="Content Placeholder 4"/>
          <p:cNvSpPr>
            <a:spLocks noGrp="1"/>
          </p:cNvSpPr>
          <p:nvPr>
            <p:ph type="body" sz="quarter" idx="19"/>
          </p:nvPr>
        </p:nvSpPr>
        <p:spPr>
          <a:xfrm>
            <a:off x="2972364" y="6102377"/>
            <a:ext cx="3198149" cy="356813"/>
          </a:xfrm>
        </p:spPr>
        <p:txBody>
          <a:bodyPr/>
          <a:lstStyle/>
          <a:p>
            <a:pPr algn="ctr"/>
            <a:r>
              <a:rPr lang="en-US" sz="1200" dirty="0">
                <a:hlinkClick r:id="rId4" action="ppaction://hlinksldjump"/>
              </a:rPr>
              <a:t>Access the text alternative for slide images.</a:t>
            </a:r>
            <a:endParaRPr lang="en-US" sz="1200" dirty="0"/>
          </a:p>
        </p:txBody>
      </p:sp>
      <p:sp>
        <p:nvSpPr>
          <p:cNvPr id="2" name="Text Placeholder 5">
            <a:extLst>
              <a:ext uri="{FF2B5EF4-FFF2-40B4-BE49-F238E27FC236}">
                <a16:creationId xmlns:a16="http://schemas.microsoft.com/office/drawing/2014/main" id="{7AB4DB23-7538-4970-90AE-B5F26A1D30CB}"/>
              </a:ext>
            </a:extLst>
          </p:cNvPr>
          <p:cNvSpPr>
            <a:spLocks noGrp="1"/>
          </p:cNvSpPr>
          <p:nvPr>
            <p:ph type="body" sz="quarter" idx="21"/>
          </p:nvPr>
        </p:nvSpPr>
        <p:spPr/>
        <p:txBody>
          <a:bodyPr/>
          <a:lstStyle/>
          <a:p>
            <a:pPr lvl="0"/>
            <a:r>
              <a:rPr lang="en-US" dirty="0"/>
              <a:t>(a): Ingram Publishing/age </a:t>
            </a:r>
            <a:r>
              <a:rPr lang="en-US" dirty="0" err="1"/>
              <a:t>fotostock</a:t>
            </a:r>
            <a:r>
              <a:rPr lang="en-US" dirty="0"/>
              <a:t> RF; (b): Dr Jeremy Burgess/Science Source</a:t>
            </a:r>
            <a:endParaRPr lang="en-GB" dirty="0"/>
          </a:p>
        </p:txBody>
      </p:sp>
      <p:sp>
        <p:nvSpPr>
          <p:cNvPr id="12" name="Slide Number Placeholder 6">
            <a:extLst>
              <a:ext uri="{FF2B5EF4-FFF2-40B4-BE49-F238E27FC236}">
                <a16:creationId xmlns:a16="http://schemas.microsoft.com/office/drawing/2014/main" id="{BF8E39CB-D396-43FF-B809-51980A1A0F59}"/>
              </a:ext>
            </a:extLst>
          </p:cNvPr>
          <p:cNvSpPr>
            <a:spLocks noGrp="1"/>
          </p:cNvSpPr>
          <p:nvPr>
            <p:ph type="sldNum" sz="quarter" idx="4"/>
          </p:nvPr>
        </p:nvSpPr>
        <p:spPr/>
        <p:txBody>
          <a:bodyPr/>
          <a:lstStyle/>
          <a:p>
            <a:fld id="{08F9AD23-695F-4808-8E99-6281554D0F77}" type="slidenum">
              <a:rPr lang="en-IN" smtClean="0"/>
              <a:t>10</a:t>
            </a:fld>
            <a:endParaRPr lang="en-IN"/>
          </a:p>
        </p:txBody>
      </p:sp>
    </p:spTree>
    <p:extLst>
      <p:ext uri="{BB962C8B-B14F-4D97-AF65-F5344CB8AC3E}">
        <p14:creationId xmlns:p14="http://schemas.microsoft.com/office/powerpoint/2010/main" val="37217246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noChangeArrowheads="1"/>
          </p:cNvSpPr>
          <p:nvPr>
            <p:ph type="title"/>
          </p:nvPr>
        </p:nvSpPr>
        <p:spPr>
          <a:xfrm>
            <a:off x="457200" y="0"/>
            <a:ext cx="8229600" cy="1028114"/>
          </a:xfrm>
        </p:spPr>
        <p:txBody>
          <a:bodyPr/>
          <a:lstStyle/>
          <a:p>
            <a:pPr algn="ctr"/>
            <a:r>
              <a:rPr lang="en-US" altLang="en-US" dirty="0">
                <a:solidFill>
                  <a:schemeClr val="accent3">
                    <a:lumMod val="50000"/>
                  </a:schemeClr>
                </a:solidFill>
                <a:latin typeface="+mj-lt"/>
              </a:rPr>
              <a:t>Land Plants</a:t>
            </a:r>
          </a:p>
        </p:txBody>
      </p:sp>
      <p:sp>
        <p:nvSpPr>
          <p:cNvPr id="6" name="Content Placeholder 2"/>
          <p:cNvSpPr>
            <a:spLocks noGrp="1"/>
          </p:cNvSpPr>
          <p:nvPr>
            <p:ph sz="quarter" idx="10"/>
          </p:nvPr>
        </p:nvSpPr>
        <p:spPr>
          <a:xfrm>
            <a:off x="193638" y="1028114"/>
            <a:ext cx="8595360" cy="5386754"/>
          </a:xfrm>
        </p:spPr>
        <p:txBody>
          <a:bodyPr/>
          <a:lstStyle/>
          <a:p>
            <a:pPr marL="338138" lvl="2" indent="0">
              <a:lnSpc>
                <a:spcPct val="90000"/>
              </a:lnSpc>
              <a:buNone/>
            </a:pPr>
            <a:r>
              <a:rPr lang="en-US" sz="2400" b="0" u="none" strike="noStrike" baseline="0" dirty="0">
                <a:solidFill>
                  <a:srgbClr val="000000"/>
                </a:solidFill>
                <a:latin typeface="+mn-lt"/>
              </a:rPr>
              <a:t>Land plants </a:t>
            </a:r>
            <a:r>
              <a:rPr lang="en-US" sz="2400" dirty="0">
                <a:solidFill>
                  <a:srgbClr val="000000"/>
                </a:solidFill>
                <a:latin typeface="+mn-lt"/>
              </a:rPr>
              <a:t>have </a:t>
            </a:r>
            <a:r>
              <a:rPr lang="en-US" sz="2400" b="0" u="none" strike="noStrike" baseline="0" dirty="0">
                <a:solidFill>
                  <a:srgbClr val="000000"/>
                </a:solidFill>
                <a:latin typeface="+mn-lt"/>
              </a:rPr>
              <a:t>tissues which reduces water loss to the environment because they have a lower surface-area-to-volume ratio than do branched filaments</a:t>
            </a:r>
          </a:p>
          <a:p>
            <a:pPr marL="338138" lvl="2" indent="0">
              <a:lnSpc>
                <a:spcPct val="90000"/>
              </a:lnSpc>
              <a:buNone/>
            </a:pPr>
            <a:r>
              <a:rPr lang="en-US" altLang="en-US" sz="2400" dirty="0">
                <a:solidFill>
                  <a:srgbClr val="000000"/>
                </a:solidFill>
                <a:latin typeface="+mn-lt"/>
              </a:rPr>
              <a:t>To reduce the effects of UV radiation, plants have both a haploid and diploid generation</a:t>
            </a:r>
          </a:p>
          <a:p>
            <a:pPr marL="717550" lvl="3" indent="-358775">
              <a:lnSpc>
                <a:spcPct val="90000"/>
              </a:lnSpc>
              <a:buFont typeface="Arial" panose="020B0604020202020204" pitchFamily="34" charset="0"/>
              <a:buChar char="•"/>
            </a:pPr>
            <a:r>
              <a:rPr lang="en-US" altLang="en-US" sz="2200" dirty="0">
                <a:solidFill>
                  <a:srgbClr val="000000"/>
                </a:solidFill>
              </a:rPr>
              <a:t>Diploid generation helps to hide the effect of a single deleterious allele </a:t>
            </a:r>
          </a:p>
          <a:p>
            <a:pPr marL="717550" lvl="3" indent="-358775">
              <a:lnSpc>
                <a:spcPct val="90000"/>
              </a:lnSpc>
              <a:buFont typeface="Arial" panose="020B0604020202020204" pitchFamily="34" charset="0"/>
              <a:buChar char="•"/>
            </a:pPr>
            <a:r>
              <a:rPr lang="en-US" sz="2200" b="0" i="0" u="none" strike="noStrike" baseline="0" dirty="0">
                <a:solidFill>
                  <a:srgbClr val="000000"/>
                </a:solidFill>
              </a:rPr>
              <a:t>Evolutionary shift toward a more dominant diploid generation also allows for greater genetic variability in land plants </a:t>
            </a:r>
            <a:endParaRPr lang="en-US" altLang="en-US" sz="2200" dirty="0"/>
          </a:p>
        </p:txBody>
      </p:sp>
      <p:sp>
        <p:nvSpPr>
          <p:cNvPr id="4" name="Slide Number Placeholder 3">
            <a:extLst>
              <a:ext uri="{FF2B5EF4-FFF2-40B4-BE49-F238E27FC236}">
                <a16:creationId xmlns:a16="http://schemas.microsoft.com/office/drawing/2014/main" id="{0221F4DC-36DA-4E6E-BD82-6D0EEE9B05BE}"/>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11</a:t>
            </a:fld>
            <a:endParaRPr lang="en-IN"/>
          </a:p>
        </p:txBody>
      </p:sp>
    </p:spTree>
    <p:extLst>
      <p:ext uri="{BB962C8B-B14F-4D97-AF65-F5344CB8AC3E}">
        <p14:creationId xmlns:p14="http://schemas.microsoft.com/office/powerpoint/2010/main" val="31401217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noChangeArrowheads="1"/>
          </p:cNvSpPr>
          <p:nvPr>
            <p:ph type="title"/>
          </p:nvPr>
        </p:nvSpPr>
        <p:spPr>
          <a:xfrm>
            <a:off x="457200" y="0"/>
            <a:ext cx="8229600" cy="886265"/>
          </a:xfrm>
        </p:spPr>
        <p:txBody>
          <a:bodyPr>
            <a:normAutofit/>
          </a:bodyPr>
          <a:lstStyle/>
          <a:p>
            <a:pPr algn="ctr"/>
            <a:r>
              <a:rPr lang="en-US" altLang="en-US" dirty="0">
                <a:solidFill>
                  <a:schemeClr val="accent3">
                    <a:lumMod val="50000"/>
                  </a:schemeClr>
                </a:solidFill>
                <a:latin typeface="+mj-lt"/>
              </a:rPr>
              <a:t>Alternation of Generations</a:t>
            </a:r>
          </a:p>
        </p:txBody>
      </p:sp>
      <p:sp>
        <p:nvSpPr>
          <p:cNvPr id="11267" name="Content Placeholder 2"/>
          <p:cNvSpPr>
            <a:spLocks noGrp="1" noChangeArrowheads="1"/>
          </p:cNvSpPr>
          <p:nvPr>
            <p:ph idx="1"/>
          </p:nvPr>
        </p:nvSpPr>
        <p:spPr>
          <a:xfrm>
            <a:off x="344245" y="886265"/>
            <a:ext cx="8229601" cy="5702104"/>
          </a:xfrm>
        </p:spPr>
        <p:txBody>
          <a:bodyPr>
            <a:noAutofit/>
          </a:bodyPr>
          <a:lstStyle/>
          <a:p>
            <a:pPr>
              <a:spcBef>
                <a:spcPts val="600"/>
              </a:spcBef>
              <a:spcAft>
                <a:spcPts val="600"/>
              </a:spcAft>
            </a:pPr>
            <a:r>
              <a:rPr lang="en-US" sz="2400" dirty="0">
                <a:latin typeface="+mn-lt"/>
              </a:rPr>
              <a:t>All land plants exhibit </a:t>
            </a:r>
            <a:r>
              <a:rPr lang="en-US" sz="2400" b="1" dirty="0">
                <a:solidFill>
                  <a:srgbClr val="D90000"/>
                </a:solidFill>
                <a:latin typeface="+mn-lt"/>
              </a:rPr>
              <a:t>alternation of generations</a:t>
            </a:r>
            <a:r>
              <a:rPr lang="en-US" sz="2400" dirty="0">
                <a:latin typeface="+mn-lt"/>
              </a:rPr>
              <a:t>:</a:t>
            </a:r>
          </a:p>
          <a:p>
            <a:pPr lvl="1">
              <a:spcBef>
                <a:spcPts val="600"/>
              </a:spcBef>
              <a:spcAft>
                <a:spcPts val="600"/>
              </a:spcAft>
              <a:buFont typeface="Arial" panose="020B0604020202020204" pitchFamily="34" charset="0"/>
              <a:buChar char="•"/>
            </a:pPr>
            <a:r>
              <a:rPr lang="en-US" sz="2200" dirty="0">
                <a:latin typeface="+mn-lt"/>
              </a:rPr>
              <a:t>Plant alternates between a multicellular haploid (n) phase and a multicellular diploid (2n) phase</a:t>
            </a:r>
          </a:p>
          <a:p>
            <a:pPr lvl="2">
              <a:spcBef>
                <a:spcPts val="600"/>
              </a:spcBef>
              <a:spcAft>
                <a:spcPts val="600"/>
              </a:spcAft>
              <a:buFont typeface="Arial" panose="020B0604020202020204" pitchFamily="34" charset="0"/>
              <a:buChar char="•"/>
            </a:pPr>
            <a:r>
              <a:rPr lang="en-US" sz="2000" dirty="0">
                <a:latin typeface="+mn-lt"/>
              </a:rPr>
              <a:t>Multicellular haploid individuals are called </a:t>
            </a:r>
            <a:r>
              <a:rPr lang="en-US" sz="2000" b="1" dirty="0">
                <a:solidFill>
                  <a:srgbClr val="D90000"/>
                </a:solidFill>
                <a:latin typeface="+mn-lt"/>
              </a:rPr>
              <a:t>gametophytes</a:t>
            </a:r>
          </a:p>
          <a:p>
            <a:pPr lvl="2">
              <a:spcBef>
                <a:spcPts val="600"/>
              </a:spcBef>
              <a:spcAft>
                <a:spcPts val="600"/>
              </a:spcAft>
              <a:buFont typeface="Arial" panose="020B0604020202020204" pitchFamily="34" charset="0"/>
              <a:buChar char="•"/>
            </a:pPr>
            <a:r>
              <a:rPr lang="en-US" sz="2000" dirty="0">
                <a:latin typeface="+mn-lt"/>
              </a:rPr>
              <a:t>Gametophytes produce gametes (eggs and sperm) by mitosis within tissue called </a:t>
            </a:r>
            <a:r>
              <a:rPr lang="en-US" sz="2000" b="1" dirty="0">
                <a:latin typeface="+mn-lt"/>
              </a:rPr>
              <a:t>gametangia</a:t>
            </a:r>
          </a:p>
          <a:p>
            <a:pPr lvl="3">
              <a:spcBef>
                <a:spcPts val="600"/>
              </a:spcBef>
              <a:spcAft>
                <a:spcPts val="600"/>
              </a:spcAft>
              <a:buFont typeface="Arial" panose="020B0604020202020204" pitchFamily="34" charset="0"/>
              <a:buChar char="•"/>
            </a:pPr>
            <a:r>
              <a:rPr lang="en-US" sz="1800" dirty="0"/>
              <a:t>Male gametangia are called </a:t>
            </a:r>
            <a:r>
              <a:rPr lang="en-US" sz="1800" b="1" dirty="0">
                <a:solidFill>
                  <a:srgbClr val="D90000"/>
                </a:solidFill>
              </a:rPr>
              <a:t>antheridia</a:t>
            </a:r>
          </a:p>
          <a:p>
            <a:pPr lvl="3">
              <a:spcBef>
                <a:spcPts val="600"/>
              </a:spcBef>
              <a:spcAft>
                <a:spcPts val="600"/>
              </a:spcAft>
              <a:buFont typeface="Arial" panose="020B0604020202020204" pitchFamily="34" charset="0"/>
              <a:buChar char="•"/>
            </a:pPr>
            <a:r>
              <a:rPr lang="en-US" sz="1800" dirty="0"/>
              <a:t>Female gametangia are called </a:t>
            </a:r>
            <a:r>
              <a:rPr lang="en-US" sz="1800" b="1" dirty="0">
                <a:solidFill>
                  <a:srgbClr val="D90000"/>
                </a:solidFill>
              </a:rPr>
              <a:t>archegonia</a:t>
            </a:r>
          </a:p>
          <a:p>
            <a:pPr lvl="3">
              <a:spcBef>
                <a:spcPts val="600"/>
              </a:spcBef>
              <a:spcAft>
                <a:spcPts val="600"/>
              </a:spcAft>
              <a:buFont typeface="Arial" panose="020B0604020202020204" pitchFamily="34" charset="0"/>
              <a:buChar char="•"/>
            </a:pPr>
            <a:r>
              <a:rPr lang="en-US" sz="1800" dirty="0"/>
              <a:t>Eggs and sperm combine to form diploid sporophytes</a:t>
            </a:r>
          </a:p>
          <a:p>
            <a:pPr lvl="2">
              <a:spcBef>
                <a:spcPts val="600"/>
              </a:spcBef>
              <a:spcAft>
                <a:spcPts val="600"/>
              </a:spcAft>
              <a:buFont typeface="Arial" panose="020B0604020202020204" pitchFamily="34" charset="0"/>
              <a:buChar char="•"/>
            </a:pPr>
            <a:r>
              <a:rPr lang="en-US" sz="2000" dirty="0">
                <a:latin typeface="+mn-lt"/>
              </a:rPr>
              <a:t>Multicellular diploid individuals are called </a:t>
            </a:r>
            <a:r>
              <a:rPr lang="en-US" sz="2000" b="1" dirty="0">
                <a:solidFill>
                  <a:srgbClr val="D90000"/>
                </a:solidFill>
                <a:latin typeface="+mn-lt"/>
              </a:rPr>
              <a:t>sporophytes</a:t>
            </a:r>
          </a:p>
          <a:p>
            <a:pPr lvl="3">
              <a:spcBef>
                <a:spcPts val="600"/>
              </a:spcBef>
              <a:spcAft>
                <a:spcPts val="600"/>
              </a:spcAft>
              <a:buFont typeface="Arial" panose="020B0604020202020204" pitchFamily="34" charset="0"/>
              <a:buChar char="•"/>
            </a:pPr>
            <a:r>
              <a:rPr lang="en-US" sz="1800" dirty="0"/>
              <a:t>Sporophytes produce spores by meiosis within a structure called the </a:t>
            </a:r>
            <a:r>
              <a:rPr lang="en-US" sz="1800" b="1" dirty="0">
                <a:solidFill>
                  <a:srgbClr val="D90000"/>
                </a:solidFill>
              </a:rPr>
              <a:t>sporangium</a:t>
            </a:r>
          </a:p>
          <a:p>
            <a:pPr lvl="3">
              <a:spcBef>
                <a:spcPts val="600"/>
              </a:spcBef>
              <a:spcAft>
                <a:spcPts val="600"/>
              </a:spcAft>
              <a:buFont typeface="Arial" panose="020B0604020202020204" pitchFamily="34" charset="0"/>
              <a:buChar char="•"/>
            </a:pPr>
            <a:r>
              <a:rPr lang="en-US" sz="1800" b="1" dirty="0">
                <a:solidFill>
                  <a:srgbClr val="D90000"/>
                </a:solidFill>
              </a:rPr>
              <a:t>Spores</a:t>
            </a:r>
            <a:r>
              <a:rPr lang="en-US" sz="1800" dirty="0"/>
              <a:t> are released and if they land on suitable substrate, germinate and grow by mitosis into gametophytes</a:t>
            </a:r>
          </a:p>
        </p:txBody>
      </p:sp>
      <p:sp>
        <p:nvSpPr>
          <p:cNvPr id="4" name="Slide Number Placeholder 3">
            <a:extLst>
              <a:ext uri="{FF2B5EF4-FFF2-40B4-BE49-F238E27FC236}">
                <a16:creationId xmlns:a16="http://schemas.microsoft.com/office/drawing/2014/main" id="{22A68E2B-993A-4F78-93E2-11E2D2E7FE49}"/>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12</a:t>
            </a:fld>
            <a:endParaRPr lang="en-IN"/>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noChangeArrowheads="1"/>
          </p:cNvSpPr>
          <p:nvPr>
            <p:ph type="title"/>
          </p:nvPr>
        </p:nvSpPr>
        <p:spPr/>
        <p:txBody>
          <a:bodyPr>
            <a:normAutofit fontScale="90000"/>
          </a:bodyPr>
          <a:lstStyle/>
          <a:p>
            <a:pPr algn="ctr"/>
            <a:r>
              <a:rPr lang="en-US" altLang="en-US" dirty="0">
                <a:solidFill>
                  <a:schemeClr val="accent3">
                    <a:lumMod val="50000"/>
                  </a:schemeClr>
                </a:solidFill>
                <a:latin typeface="+mn-lt"/>
              </a:rPr>
              <a:t> Alternation of Generations in Land Plants</a:t>
            </a:r>
          </a:p>
        </p:txBody>
      </p:sp>
      <p:pic>
        <p:nvPicPr>
          <p:cNvPr id="7" name="Picture 2" descr="A sporophyte (2N) gives rise to spores through meiosis and a gametophyte (1N) gives rise to gametes that fuse in fertilization to form a zygote."/>
          <p:cNvPicPr>
            <a:picLocks noChangeAspect="1"/>
          </p:cNvPicPr>
          <p:nvPr/>
        </p:nvPicPr>
        <p:blipFill>
          <a:blip r:embed="rId3"/>
          <a:stretch>
            <a:fillRect/>
          </a:stretch>
        </p:blipFill>
        <p:spPr>
          <a:xfrm>
            <a:off x="2142961" y="1180707"/>
            <a:ext cx="4858077" cy="4496586"/>
          </a:xfrm>
          <a:prstGeom prst="rect">
            <a:avLst/>
          </a:prstGeom>
        </p:spPr>
      </p:pic>
      <p:sp>
        <p:nvSpPr>
          <p:cNvPr id="4" name="Content Placeholder 3"/>
          <p:cNvSpPr>
            <a:spLocks noGrp="1"/>
          </p:cNvSpPr>
          <p:nvPr>
            <p:ph type="body" sz="quarter" idx="18"/>
          </p:nvPr>
        </p:nvSpPr>
        <p:spPr>
          <a:xfrm>
            <a:off x="521258" y="5784019"/>
            <a:ext cx="8101481" cy="314325"/>
          </a:xfrm>
        </p:spPr>
        <p:txBody>
          <a:bodyPr/>
          <a:lstStyle/>
          <a:p>
            <a:r>
              <a:rPr lang="en-US" sz="1200" dirty="0"/>
              <a:t>Figure 23.5</a:t>
            </a:r>
          </a:p>
        </p:txBody>
      </p:sp>
      <p:sp>
        <p:nvSpPr>
          <p:cNvPr id="2" name="Text Placeholder 4">
            <a:extLst>
              <a:ext uri="{FF2B5EF4-FFF2-40B4-BE49-F238E27FC236}">
                <a16:creationId xmlns:a16="http://schemas.microsoft.com/office/drawing/2014/main" id="{64F5FB08-789B-46C8-BCA0-13B1C40C7F6D}"/>
              </a:ext>
            </a:extLst>
          </p:cNvPr>
          <p:cNvSpPr>
            <a:spLocks noGrp="1"/>
          </p:cNvSpPr>
          <p:nvPr>
            <p:ph type="body" sz="quarter" idx="19"/>
          </p:nvPr>
        </p:nvSpPr>
        <p:spPr>
          <a:xfrm>
            <a:off x="760160" y="6098344"/>
            <a:ext cx="7623676" cy="314325"/>
          </a:xfrm>
        </p:spPr>
        <p:txBody>
          <a:bodyPr>
            <a:normAutofit/>
          </a:bodyPr>
          <a:lstStyle/>
          <a:p>
            <a:pPr algn="ctr"/>
            <a:r>
              <a:rPr lang="en-US" sz="1200" dirty="0">
                <a:hlinkClick r:id="rId4" action="ppaction://hlinksldjump"/>
              </a:rPr>
              <a:t>Access the text alternative for slide images.</a:t>
            </a:r>
            <a:endParaRPr lang="en-US" sz="1200" dirty="0"/>
          </a:p>
        </p:txBody>
      </p:sp>
      <p:sp>
        <p:nvSpPr>
          <p:cNvPr id="6" name="Slide Number Placeholder 5">
            <a:extLst>
              <a:ext uri="{FF2B5EF4-FFF2-40B4-BE49-F238E27FC236}">
                <a16:creationId xmlns:a16="http://schemas.microsoft.com/office/drawing/2014/main" id="{8B6D392A-C1CF-47F4-AFF8-DB8FFE1B2AD9}"/>
              </a:ext>
            </a:extLst>
          </p:cNvPr>
          <p:cNvSpPr>
            <a:spLocks noGrp="1"/>
          </p:cNvSpPr>
          <p:nvPr>
            <p:ph type="sldNum" sz="quarter" idx="4"/>
          </p:nvPr>
        </p:nvSpPr>
        <p:spPr/>
        <p:txBody>
          <a:bodyPr/>
          <a:lstStyle/>
          <a:p>
            <a:fld id="{08F9AD23-695F-4808-8E99-6281554D0F77}" type="slidenum">
              <a:rPr lang="en-IN" smtClean="0"/>
              <a:t>13</a:t>
            </a:fld>
            <a:endParaRPr lang="en-IN"/>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Title 1"/>
          <p:cNvSpPr>
            <a:spLocks noGrp="1" noChangeArrowheads="1"/>
          </p:cNvSpPr>
          <p:nvPr>
            <p:ph type="title"/>
          </p:nvPr>
        </p:nvSpPr>
        <p:spPr>
          <a:xfrm>
            <a:off x="457200" y="-1"/>
            <a:ext cx="8229600" cy="1081557"/>
          </a:xfrm>
        </p:spPr>
        <p:txBody>
          <a:bodyPr>
            <a:normAutofit/>
          </a:bodyPr>
          <a:lstStyle/>
          <a:p>
            <a:pPr algn="ctr"/>
            <a:r>
              <a:rPr lang="en-US" altLang="en-US" dirty="0">
                <a:solidFill>
                  <a:schemeClr val="accent3">
                    <a:lumMod val="50000"/>
                  </a:schemeClr>
                </a:solidFill>
                <a:latin typeface="+mj-lt"/>
              </a:rPr>
              <a:t>Dominant Generation</a:t>
            </a:r>
          </a:p>
        </p:txBody>
      </p:sp>
      <p:sp>
        <p:nvSpPr>
          <p:cNvPr id="3" name="Content Placeholder 2"/>
          <p:cNvSpPr>
            <a:spLocks noGrp="1"/>
          </p:cNvSpPr>
          <p:nvPr>
            <p:ph idx="1"/>
          </p:nvPr>
        </p:nvSpPr>
        <p:spPr>
          <a:xfrm>
            <a:off x="457200" y="1081557"/>
            <a:ext cx="8229600" cy="5669280"/>
          </a:xfrm>
        </p:spPr>
        <p:txBody>
          <a:bodyPr/>
          <a:lstStyle/>
          <a:p>
            <a:pPr lvl="0">
              <a:spcBef>
                <a:spcPts val="0"/>
              </a:spcBef>
              <a:spcAft>
                <a:spcPts val="2000"/>
              </a:spcAft>
            </a:pPr>
            <a:r>
              <a:rPr lang="en-US" altLang="en-US" sz="2400" dirty="0">
                <a:latin typeface="+mn-lt"/>
              </a:rPr>
              <a:t>Land plants differ as to which generation is dominant (conspicuous)</a:t>
            </a:r>
          </a:p>
          <a:p>
            <a:pPr lvl="1">
              <a:spcBef>
                <a:spcPts val="0"/>
              </a:spcBef>
              <a:spcAft>
                <a:spcPts val="2000"/>
              </a:spcAft>
              <a:buFont typeface="Arial" panose="020B0604020202020204" pitchFamily="34" charset="0"/>
              <a:buChar char="•"/>
            </a:pPr>
            <a:r>
              <a:rPr lang="en-US" altLang="en-US" sz="2200" dirty="0">
                <a:latin typeface="+mn-lt"/>
              </a:rPr>
              <a:t>In early land plants like moss, the gametophyte is dominant</a:t>
            </a:r>
          </a:p>
          <a:p>
            <a:pPr lvl="1">
              <a:spcBef>
                <a:spcPts val="0"/>
              </a:spcBef>
              <a:spcAft>
                <a:spcPts val="1200"/>
              </a:spcAft>
              <a:buFont typeface="Arial" panose="020B0604020202020204" pitchFamily="34" charset="0"/>
              <a:buChar char="•"/>
            </a:pPr>
            <a:r>
              <a:rPr lang="en-US" altLang="en-US" sz="2200" dirty="0">
                <a:latin typeface="+mn-lt"/>
              </a:rPr>
              <a:t>In all other plants such as ferns, pine trees, and flowering plants, the sporophyte is dominant</a:t>
            </a:r>
          </a:p>
          <a:p>
            <a:pPr marL="714375" lvl="3" indent="-350838">
              <a:buFont typeface="Arial" panose="020B0604020202020204" pitchFamily="34" charset="0"/>
              <a:buChar char="•"/>
            </a:pPr>
            <a:r>
              <a:rPr lang="en-US" altLang="en-US" sz="2000" dirty="0"/>
              <a:t>Shift to sporophyte dominance is adaptation to land</a:t>
            </a:r>
          </a:p>
          <a:p>
            <a:pPr marL="984250" lvl="4" indent="-269875">
              <a:buFont typeface="Arial" panose="020B0604020202020204" pitchFamily="34" charset="0"/>
              <a:buChar char="•"/>
            </a:pPr>
            <a:r>
              <a:rPr lang="en-US" altLang="en-US" sz="1800" dirty="0"/>
              <a:t>Only sporophytes have vascular systems</a:t>
            </a:r>
          </a:p>
          <a:p>
            <a:pPr marL="984250" lvl="4" indent="-269875">
              <a:buFont typeface="Arial" panose="020B0604020202020204" pitchFamily="34" charset="0"/>
              <a:buChar char="•"/>
            </a:pPr>
            <a:r>
              <a:rPr lang="en-US" altLang="en-US" sz="1800" dirty="0"/>
              <a:t>As the sporophyte becomes dominant, the gametophyte becomes reduced in size and dependent on sporophyte</a:t>
            </a:r>
          </a:p>
        </p:txBody>
      </p:sp>
      <p:sp>
        <p:nvSpPr>
          <p:cNvPr id="4" name="Slide Number Placeholder 3">
            <a:extLst>
              <a:ext uri="{FF2B5EF4-FFF2-40B4-BE49-F238E27FC236}">
                <a16:creationId xmlns:a16="http://schemas.microsoft.com/office/drawing/2014/main" id="{128AFB32-F42C-429B-A821-03F507127E32}"/>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14</a:t>
            </a:fld>
            <a:endParaRPr lang="en-I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noChangeArrowheads="1"/>
          </p:cNvSpPr>
          <p:nvPr>
            <p:ph type="title"/>
          </p:nvPr>
        </p:nvSpPr>
        <p:spPr>
          <a:xfrm>
            <a:off x="0" y="101422"/>
            <a:ext cx="9144000" cy="948213"/>
          </a:xfrm>
        </p:spPr>
        <p:txBody>
          <a:bodyPr>
            <a:noAutofit/>
          </a:bodyPr>
          <a:lstStyle/>
          <a:p>
            <a:pPr algn="ctr"/>
            <a:r>
              <a:rPr lang="en-US" altLang="en-US" dirty="0">
                <a:solidFill>
                  <a:schemeClr val="accent3">
                    <a:lumMod val="50000"/>
                  </a:schemeClr>
                </a:solidFill>
                <a:latin typeface="+mj-lt"/>
              </a:rPr>
              <a:t> Reduction in the Size of the Gametophyte</a:t>
            </a:r>
          </a:p>
        </p:txBody>
      </p:sp>
      <p:pic>
        <p:nvPicPr>
          <p:cNvPr id="13" name="Picture 2" descr="Illustration shows reduction in the size of the gametophyte and increase in sporophytes from moss to angiosperm. "/>
          <p:cNvPicPr>
            <a:picLocks noChangeAspect="1"/>
          </p:cNvPicPr>
          <p:nvPr/>
        </p:nvPicPr>
        <p:blipFill>
          <a:blip r:embed="rId3"/>
          <a:stretch>
            <a:fillRect/>
          </a:stretch>
        </p:blipFill>
        <p:spPr>
          <a:xfrm>
            <a:off x="670619" y="1252272"/>
            <a:ext cx="7802759" cy="3760912"/>
          </a:xfrm>
          <a:prstGeom prst="rect">
            <a:avLst/>
          </a:prstGeom>
        </p:spPr>
      </p:pic>
      <p:sp>
        <p:nvSpPr>
          <p:cNvPr id="12" name="Content Placeholder 3"/>
          <p:cNvSpPr>
            <a:spLocks noGrp="1"/>
          </p:cNvSpPr>
          <p:nvPr>
            <p:ph type="body" sz="quarter" idx="18"/>
          </p:nvPr>
        </p:nvSpPr>
        <p:spPr>
          <a:xfrm>
            <a:off x="4008716" y="5291403"/>
            <a:ext cx="1126566" cy="314325"/>
          </a:xfrm>
        </p:spPr>
        <p:txBody>
          <a:bodyPr/>
          <a:lstStyle/>
          <a:p>
            <a:r>
              <a:rPr lang="en-US" sz="1200" dirty="0"/>
              <a:t>Figure 23.6</a:t>
            </a:r>
          </a:p>
        </p:txBody>
      </p:sp>
      <p:sp>
        <p:nvSpPr>
          <p:cNvPr id="2" name="Text Placeholder 4">
            <a:extLst>
              <a:ext uri="{FF2B5EF4-FFF2-40B4-BE49-F238E27FC236}">
                <a16:creationId xmlns:a16="http://schemas.microsoft.com/office/drawing/2014/main" id="{E81A9D54-437D-4B24-AA93-407657CE56BF}"/>
              </a:ext>
            </a:extLst>
          </p:cNvPr>
          <p:cNvSpPr>
            <a:spLocks noGrp="1"/>
          </p:cNvSpPr>
          <p:nvPr>
            <p:ph type="body" sz="quarter" idx="19"/>
          </p:nvPr>
        </p:nvSpPr>
        <p:spPr>
          <a:xfrm>
            <a:off x="2947721" y="5726784"/>
            <a:ext cx="3248556" cy="314325"/>
          </a:xfrm>
        </p:spPr>
        <p:txBody>
          <a:bodyPr>
            <a:normAutofit/>
          </a:bodyPr>
          <a:lstStyle/>
          <a:p>
            <a:pPr algn="ctr"/>
            <a:r>
              <a:rPr lang="en-US" sz="1200" dirty="0">
                <a:hlinkClick r:id="rId4" action="ppaction://hlinksldjump"/>
              </a:rPr>
              <a:t>Access the text alternative for slide images.</a:t>
            </a:r>
            <a:endParaRPr lang="en-US" sz="1200" dirty="0"/>
          </a:p>
        </p:txBody>
      </p:sp>
      <p:sp>
        <p:nvSpPr>
          <p:cNvPr id="6" name="Slide Number Placeholder 5">
            <a:extLst>
              <a:ext uri="{FF2B5EF4-FFF2-40B4-BE49-F238E27FC236}">
                <a16:creationId xmlns:a16="http://schemas.microsoft.com/office/drawing/2014/main" id="{17810C59-0C39-49A8-BA73-D2D5303D1FDD}"/>
              </a:ext>
            </a:extLst>
          </p:cNvPr>
          <p:cNvSpPr>
            <a:spLocks noGrp="1"/>
          </p:cNvSpPr>
          <p:nvPr>
            <p:ph type="sldNum" sz="quarter" idx="4"/>
          </p:nvPr>
        </p:nvSpPr>
        <p:spPr/>
        <p:txBody>
          <a:bodyPr/>
          <a:lstStyle/>
          <a:p>
            <a:fld id="{08F9AD23-695F-4808-8E99-6281554D0F77}" type="slidenum">
              <a:rPr lang="en-IN" smtClean="0"/>
              <a:t>15</a:t>
            </a:fld>
            <a:endParaRPr lang="en-IN"/>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noChangeArrowheads="1"/>
          </p:cNvSpPr>
          <p:nvPr>
            <p:ph type="title"/>
          </p:nvPr>
        </p:nvSpPr>
        <p:spPr>
          <a:xfrm>
            <a:off x="342900" y="0"/>
            <a:ext cx="8458200" cy="1055077"/>
          </a:xfrm>
        </p:spPr>
        <p:txBody>
          <a:bodyPr>
            <a:noAutofit/>
          </a:bodyPr>
          <a:lstStyle/>
          <a:p>
            <a:pPr algn="ctr"/>
            <a:r>
              <a:rPr lang="en-US" altLang="en-US" dirty="0">
                <a:solidFill>
                  <a:schemeClr val="accent3">
                    <a:lumMod val="50000"/>
                  </a:schemeClr>
                </a:solidFill>
                <a:latin typeface="+mn-lt"/>
              </a:rPr>
              <a:t>23.2 Evolution of Bryophytes: Colonization of Land</a:t>
            </a:r>
          </a:p>
        </p:txBody>
      </p:sp>
      <p:sp>
        <p:nvSpPr>
          <p:cNvPr id="17411" name="Content Placeholder 2"/>
          <p:cNvSpPr>
            <a:spLocks noGrp="1" noChangeArrowheads="1"/>
          </p:cNvSpPr>
          <p:nvPr>
            <p:ph idx="1"/>
          </p:nvPr>
        </p:nvSpPr>
        <p:spPr>
          <a:xfrm>
            <a:off x="794826" y="1158240"/>
            <a:ext cx="7798189" cy="5133535"/>
          </a:xfrm>
        </p:spPr>
        <p:txBody>
          <a:bodyPr>
            <a:noAutofit/>
          </a:bodyPr>
          <a:lstStyle/>
          <a:p>
            <a:pPr>
              <a:spcBef>
                <a:spcPts val="0"/>
              </a:spcBef>
              <a:spcAft>
                <a:spcPts val="1500"/>
              </a:spcAft>
            </a:pPr>
            <a:r>
              <a:rPr lang="en-US" sz="2400" b="1" dirty="0">
                <a:solidFill>
                  <a:srgbClr val="D90000"/>
                </a:solidFill>
                <a:latin typeface="+mn-lt"/>
              </a:rPr>
              <a:t>Nonvascular plants</a:t>
            </a:r>
          </a:p>
          <a:p>
            <a:pPr lvl="1">
              <a:spcBef>
                <a:spcPts val="0"/>
              </a:spcBef>
              <a:spcAft>
                <a:spcPts val="1500"/>
              </a:spcAft>
              <a:buFont typeface="Arial" panose="020B0604020202020204" pitchFamily="34" charset="0"/>
              <a:buChar char="•"/>
            </a:pPr>
            <a:r>
              <a:rPr lang="en-US" sz="2200" dirty="0">
                <a:latin typeface="+mn-lt"/>
              </a:rPr>
              <a:t>First plants to colonize land</a:t>
            </a:r>
          </a:p>
          <a:p>
            <a:pPr marL="363538" lvl="2" indent="-363538">
              <a:spcBef>
                <a:spcPts val="0"/>
              </a:spcBef>
              <a:buFont typeface="Arial" panose="020B0604020202020204" pitchFamily="34" charset="0"/>
              <a:buChar char="•"/>
            </a:pPr>
            <a:r>
              <a:rPr lang="en-US" sz="2200" dirty="0">
                <a:latin typeface="+mn-lt"/>
              </a:rPr>
              <a:t>Absence of  </a:t>
            </a:r>
            <a:r>
              <a:rPr lang="en-US" sz="2200" b="1" dirty="0">
                <a:solidFill>
                  <a:srgbClr val="D90000"/>
                </a:solidFill>
                <a:latin typeface="+mn-lt"/>
              </a:rPr>
              <a:t>vascular tissue </a:t>
            </a:r>
            <a:r>
              <a:rPr lang="en-US" sz="2200" dirty="0">
                <a:latin typeface="+mn-lt"/>
              </a:rPr>
              <a:t>results </a:t>
            </a:r>
            <a:r>
              <a:rPr lang="en-US" sz="2200" dirty="0">
                <a:solidFill>
                  <a:schemeClr val="bg2">
                    <a:lumMod val="25000"/>
                  </a:schemeClr>
                </a:solidFill>
                <a:latin typeface="+mn-lt"/>
              </a:rPr>
              <a:t>in</a:t>
            </a:r>
            <a:r>
              <a:rPr lang="en-US" sz="2200" b="1" dirty="0">
                <a:solidFill>
                  <a:schemeClr val="bg2">
                    <a:lumMod val="25000"/>
                  </a:schemeClr>
                </a:solidFill>
                <a:latin typeface="+mn-lt"/>
              </a:rPr>
              <a:t> </a:t>
            </a:r>
            <a:r>
              <a:rPr lang="en-US" sz="2200" dirty="0">
                <a:latin typeface="+mn-lt"/>
              </a:rPr>
              <a:t>low-lying plants that</a:t>
            </a:r>
          </a:p>
          <a:p>
            <a:pPr marL="620713" lvl="3" indent="-257175">
              <a:spcBef>
                <a:spcPts val="1200"/>
              </a:spcBef>
              <a:buFont typeface="Arial" panose="020B0604020202020204" pitchFamily="34" charset="0"/>
              <a:buChar char="•"/>
            </a:pPr>
            <a:r>
              <a:rPr lang="en-US" sz="2000" dirty="0"/>
              <a:t>Lack specialized means of transporting water and organic nutrients</a:t>
            </a:r>
          </a:p>
          <a:p>
            <a:pPr marL="620713" lvl="3" indent="-257175">
              <a:spcBef>
                <a:spcPts val="1200"/>
              </a:spcBef>
              <a:buFont typeface="Arial" panose="020B0604020202020204" pitchFamily="34" charset="0"/>
              <a:buChar char="•"/>
            </a:pPr>
            <a:r>
              <a:rPr lang="en-US" sz="2000" dirty="0"/>
              <a:t>Do not have true roots, stems, and leaves</a:t>
            </a:r>
          </a:p>
          <a:p>
            <a:pPr marL="0" lvl="1" indent="0">
              <a:spcBef>
                <a:spcPts val="1200"/>
              </a:spcBef>
              <a:spcAft>
                <a:spcPts val="0"/>
              </a:spcAft>
              <a:buNone/>
            </a:pPr>
            <a:r>
              <a:rPr lang="en-US" sz="2400" dirty="0">
                <a:latin typeface="+mn-lt"/>
              </a:rPr>
              <a:t>Gametophyte dominant generation</a:t>
            </a:r>
          </a:p>
          <a:p>
            <a:pPr marL="363538" lvl="2" indent="-363538">
              <a:spcBef>
                <a:spcPts val="1200"/>
              </a:spcBef>
              <a:spcAft>
                <a:spcPts val="0"/>
              </a:spcAft>
            </a:pPr>
            <a:r>
              <a:rPr lang="en-US" sz="2200" dirty="0">
                <a:latin typeface="+mn-lt"/>
              </a:rPr>
              <a:t>Produces eggs in archegonia</a:t>
            </a:r>
          </a:p>
          <a:p>
            <a:pPr marL="363538" lvl="2" indent="-363538">
              <a:spcBef>
                <a:spcPts val="1200"/>
              </a:spcBef>
              <a:spcAft>
                <a:spcPts val="0"/>
              </a:spcAft>
            </a:pPr>
            <a:r>
              <a:rPr lang="en-US" sz="2200" dirty="0">
                <a:latin typeface="+mn-lt"/>
              </a:rPr>
              <a:t>Produces flagellated sperm in antheridia</a:t>
            </a:r>
          </a:p>
          <a:p>
            <a:pPr marL="363538" lvl="2" indent="-363538">
              <a:spcBef>
                <a:spcPts val="1200"/>
              </a:spcBef>
              <a:spcAft>
                <a:spcPts val="0"/>
              </a:spcAft>
            </a:pPr>
            <a:r>
              <a:rPr lang="en-US" sz="2200" dirty="0">
                <a:latin typeface="+mn-lt"/>
              </a:rPr>
              <a:t>Sperm swim to egg in film of water</a:t>
            </a:r>
          </a:p>
        </p:txBody>
      </p:sp>
      <p:sp>
        <p:nvSpPr>
          <p:cNvPr id="4" name="Slide Number Placeholder 3">
            <a:extLst>
              <a:ext uri="{FF2B5EF4-FFF2-40B4-BE49-F238E27FC236}">
                <a16:creationId xmlns:a16="http://schemas.microsoft.com/office/drawing/2014/main" id="{98ECB976-21D2-46B5-B0DF-A47C486CA54A}"/>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16</a:t>
            </a:fld>
            <a:endParaRPr lang="en-IN"/>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Title 1"/>
          <p:cNvSpPr>
            <a:spLocks noGrp="1" noChangeArrowheads="1"/>
          </p:cNvSpPr>
          <p:nvPr>
            <p:ph type="title"/>
          </p:nvPr>
        </p:nvSpPr>
        <p:spPr>
          <a:xfrm>
            <a:off x="392136" y="0"/>
            <a:ext cx="8359728" cy="1032458"/>
          </a:xfrm>
        </p:spPr>
        <p:txBody>
          <a:bodyPr>
            <a:normAutofit/>
          </a:bodyPr>
          <a:lstStyle/>
          <a:p>
            <a:pPr algn="ctr"/>
            <a:r>
              <a:rPr lang="en-US" altLang="en-US" dirty="0">
                <a:solidFill>
                  <a:schemeClr val="accent3">
                    <a:lumMod val="50000"/>
                  </a:schemeClr>
                </a:solidFill>
                <a:latin typeface="+mj-lt"/>
              </a:rPr>
              <a:t>Liverworts</a:t>
            </a:r>
          </a:p>
        </p:txBody>
      </p:sp>
      <p:sp>
        <p:nvSpPr>
          <p:cNvPr id="1448963" name="Content Placeholder 2"/>
          <p:cNvSpPr>
            <a:spLocks noGrp="1" noChangeArrowheads="1"/>
          </p:cNvSpPr>
          <p:nvPr>
            <p:ph idx="1"/>
          </p:nvPr>
        </p:nvSpPr>
        <p:spPr>
          <a:xfrm>
            <a:off x="392136" y="898540"/>
            <a:ext cx="8359728" cy="5819335"/>
          </a:xfrm>
        </p:spPr>
        <p:txBody>
          <a:bodyPr>
            <a:noAutofit/>
          </a:bodyPr>
          <a:lstStyle/>
          <a:p>
            <a:pPr>
              <a:spcBef>
                <a:spcPts val="0"/>
              </a:spcBef>
              <a:spcAft>
                <a:spcPts val="1500"/>
              </a:spcAft>
            </a:pPr>
            <a:r>
              <a:rPr lang="en-US" sz="2200" b="1" dirty="0">
                <a:solidFill>
                  <a:srgbClr val="D90000"/>
                </a:solidFill>
                <a:latin typeface="+mn-lt"/>
              </a:rPr>
              <a:t>Liverwort</a:t>
            </a:r>
            <a:r>
              <a:rPr lang="en-US" sz="2200" dirty="0">
                <a:latin typeface="+mn-lt"/>
              </a:rPr>
              <a:t> gametophytes (n) are divided into two groups:</a:t>
            </a:r>
          </a:p>
          <a:p>
            <a:pPr lvl="1">
              <a:spcBef>
                <a:spcPts val="0"/>
              </a:spcBef>
              <a:spcAft>
                <a:spcPts val="1500"/>
              </a:spcAft>
              <a:buFont typeface="Arial" panose="020B0604020202020204" pitchFamily="34" charset="0"/>
              <a:buChar char="•"/>
            </a:pPr>
            <a:r>
              <a:rPr lang="en-US" sz="2000" dirty="0" err="1">
                <a:latin typeface="+mn-lt"/>
              </a:rPr>
              <a:t>Thallose</a:t>
            </a:r>
            <a:r>
              <a:rPr lang="en-US" sz="2000" dirty="0">
                <a:latin typeface="+mn-lt"/>
              </a:rPr>
              <a:t> liverworts: have a flattened body known as a thallus </a:t>
            </a:r>
          </a:p>
          <a:p>
            <a:pPr lvl="1">
              <a:spcBef>
                <a:spcPts val="0"/>
              </a:spcBef>
              <a:spcAft>
                <a:spcPts val="1500"/>
              </a:spcAft>
              <a:buFont typeface="Arial" panose="020B0604020202020204" pitchFamily="34" charset="0"/>
              <a:buChar char="•"/>
            </a:pPr>
            <a:r>
              <a:rPr lang="en-US" sz="2000" dirty="0">
                <a:latin typeface="+mn-lt"/>
              </a:rPr>
              <a:t>Leafy liverworts: superficially resemble mosses</a:t>
            </a:r>
          </a:p>
          <a:p>
            <a:pPr>
              <a:spcBef>
                <a:spcPts val="0"/>
              </a:spcBef>
              <a:spcAft>
                <a:spcPts val="1500"/>
              </a:spcAft>
            </a:pPr>
            <a:r>
              <a:rPr lang="en-US" sz="2200" dirty="0">
                <a:latin typeface="+mn-lt"/>
              </a:rPr>
              <a:t>Some liverworts like </a:t>
            </a:r>
            <a:r>
              <a:rPr lang="en-US" sz="2200" i="1" dirty="0">
                <a:latin typeface="+mn-lt"/>
              </a:rPr>
              <a:t>Marchantia</a:t>
            </a:r>
            <a:r>
              <a:rPr lang="en-US" sz="2200" dirty="0">
                <a:latin typeface="+mn-lt"/>
              </a:rPr>
              <a:t> contain </a:t>
            </a:r>
            <a:r>
              <a:rPr lang="en-US" sz="2200" b="1" dirty="0">
                <a:solidFill>
                  <a:srgbClr val="D90000"/>
                </a:solidFill>
                <a:latin typeface="+mn-lt"/>
              </a:rPr>
              <a:t>rhizoids</a:t>
            </a:r>
          </a:p>
          <a:p>
            <a:pPr lvl="1">
              <a:spcBef>
                <a:spcPts val="0"/>
              </a:spcBef>
              <a:spcAft>
                <a:spcPts val="1500"/>
              </a:spcAft>
              <a:buFont typeface="Arial" panose="020B0604020202020204" pitchFamily="34" charset="0"/>
              <a:buChar char="•"/>
            </a:pPr>
            <a:r>
              <a:rPr lang="en-US" sz="2000" dirty="0">
                <a:latin typeface="+mn-lt"/>
              </a:rPr>
              <a:t>Hairy extensions that anchor plant in soil and aid in absorption</a:t>
            </a:r>
          </a:p>
          <a:p>
            <a:pPr>
              <a:spcBef>
                <a:spcPts val="0"/>
              </a:spcBef>
              <a:spcAft>
                <a:spcPts val="1500"/>
              </a:spcAft>
            </a:pPr>
            <a:r>
              <a:rPr lang="en-US" sz="2200" dirty="0">
                <a:latin typeface="+mn-lt"/>
              </a:rPr>
              <a:t>Liverworts can reproduce either sexually or asexually</a:t>
            </a:r>
          </a:p>
          <a:p>
            <a:pPr lvl="1">
              <a:spcBef>
                <a:spcPts val="0"/>
              </a:spcBef>
              <a:spcAft>
                <a:spcPts val="1500"/>
              </a:spcAft>
              <a:buFont typeface="Arial" panose="020B0604020202020204" pitchFamily="34" charset="0"/>
              <a:buChar char="•"/>
            </a:pPr>
            <a:r>
              <a:rPr lang="en-US" sz="2000" dirty="0" err="1">
                <a:latin typeface="+mn-lt"/>
              </a:rPr>
              <a:t>Gemmae</a:t>
            </a:r>
            <a:r>
              <a:rPr lang="en-US" sz="2000" dirty="0">
                <a:latin typeface="+mn-lt"/>
              </a:rPr>
              <a:t> are groups of cells that detach from the thallus and start a new plant (asexual)</a:t>
            </a:r>
          </a:p>
          <a:p>
            <a:pPr lvl="1">
              <a:spcBef>
                <a:spcPts val="0"/>
              </a:spcBef>
              <a:spcAft>
                <a:spcPts val="1500"/>
              </a:spcAft>
              <a:buFont typeface="Arial" panose="020B0604020202020204" pitchFamily="34" charset="0"/>
              <a:buChar char="•"/>
            </a:pPr>
            <a:r>
              <a:rPr lang="en-US" sz="2000" dirty="0">
                <a:latin typeface="+mn-lt"/>
              </a:rPr>
              <a:t>Sexual reproduction depends on two types of stalks bearing either antheridia (n) or archegonia (n)</a:t>
            </a:r>
          </a:p>
          <a:p>
            <a:pPr marL="722313" lvl="2" indent="-360363">
              <a:spcBef>
                <a:spcPts val="0"/>
              </a:spcBef>
              <a:spcAft>
                <a:spcPts val="1500"/>
              </a:spcAft>
              <a:buFont typeface="Arial" panose="020B0604020202020204" pitchFamily="34" charset="0"/>
              <a:buChar char="•"/>
            </a:pPr>
            <a:r>
              <a:rPr lang="en-US" sz="1800" dirty="0">
                <a:latin typeface="+mn-lt"/>
              </a:rPr>
              <a:t>Sporophyte (2n) grows from a fertilized egg within the archegonia</a:t>
            </a:r>
          </a:p>
          <a:p>
            <a:pPr marL="722313" lvl="2" indent="-360363">
              <a:spcBef>
                <a:spcPts val="0"/>
              </a:spcBef>
              <a:spcAft>
                <a:spcPts val="1500"/>
              </a:spcAft>
              <a:buFont typeface="Arial" panose="020B0604020202020204" pitchFamily="34" charset="0"/>
              <a:buChar char="•"/>
            </a:pPr>
            <a:r>
              <a:rPr lang="en-US" sz="1800" dirty="0">
                <a:latin typeface="+mn-lt"/>
              </a:rPr>
              <a:t>Sporophyte grows a capsule which produces and releases spores (n)	</a:t>
            </a:r>
          </a:p>
        </p:txBody>
      </p:sp>
      <p:sp>
        <p:nvSpPr>
          <p:cNvPr id="4" name="Slide Number Placeholder 3">
            <a:extLst>
              <a:ext uri="{FF2B5EF4-FFF2-40B4-BE49-F238E27FC236}">
                <a16:creationId xmlns:a16="http://schemas.microsoft.com/office/drawing/2014/main" id="{832196B8-1365-4C0C-B164-ADEE0D362157}"/>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17</a:t>
            </a:fld>
            <a:endParaRPr lang="en-IN"/>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noChangeArrowheads="1"/>
          </p:cNvSpPr>
          <p:nvPr>
            <p:ph type="title"/>
          </p:nvPr>
        </p:nvSpPr>
        <p:spPr/>
        <p:txBody>
          <a:bodyPr/>
          <a:lstStyle/>
          <a:p>
            <a:pPr algn="ctr"/>
            <a:r>
              <a:rPr lang="en-US" altLang="en-US" dirty="0">
                <a:solidFill>
                  <a:schemeClr val="accent3">
                    <a:lumMod val="50000"/>
                  </a:schemeClr>
                </a:solidFill>
                <a:latin typeface="+mn-lt"/>
              </a:rPr>
              <a:t>Liverwort, </a:t>
            </a:r>
            <a:r>
              <a:rPr lang="en-US" altLang="en-US" i="1" dirty="0">
                <a:solidFill>
                  <a:schemeClr val="accent3">
                    <a:lumMod val="50000"/>
                  </a:schemeClr>
                </a:solidFill>
                <a:latin typeface="+mn-lt"/>
              </a:rPr>
              <a:t>Marchantia</a:t>
            </a:r>
          </a:p>
        </p:txBody>
      </p:sp>
      <p:pic>
        <p:nvPicPr>
          <p:cNvPr id="4" name="Picture 2" descr="Set of three illustrations are marked a through c.">
            <a:extLst>
              <a:ext uri="{FF2B5EF4-FFF2-40B4-BE49-F238E27FC236}">
                <a16:creationId xmlns:a16="http://schemas.microsoft.com/office/drawing/2014/main" id="{D0B9C3AB-8192-4246-962D-75B85D43E2A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6209" y="1521198"/>
            <a:ext cx="8791575" cy="3228975"/>
          </a:xfrm>
          <a:prstGeom prst="rect">
            <a:avLst/>
          </a:prstGeom>
        </p:spPr>
      </p:pic>
      <p:sp>
        <p:nvSpPr>
          <p:cNvPr id="10" name="Content Placeholder 3"/>
          <p:cNvSpPr>
            <a:spLocks noGrp="1"/>
          </p:cNvSpPr>
          <p:nvPr>
            <p:ph type="body" sz="quarter" idx="18"/>
          </p:nvPr>
        </p:nvSpPr>
        <p:spPr>
          <a:xfrm>
            <a:off x="3936717" y="4932805"/>
            <a:ext cx="1269441" cy="314325"/>
          </a:xfrm>
        </p:spPr>
        <p:txBody>
          <a:bodyPr/>
          <a:lstStyle/>
          <a:p>
            <a:r>
              <a:rPr lang="en-US" sz="1200" dirty="0"/>
              <a:t>Figure 23.7</a:t>
            </a:r>
          </a:p>
        </p:txBody>
      </p:sp>
      <p:sp>
        <p:nvSpPr>
          <p:cNvPr id="9" name="Content Placeholder 4"/>
          <p:cNvSpPr>
            <a:spLocks noGrp="1"/>
          </p:cNvSpPr>
          <p:nvPr>
            <p:ph type="body" sz="quarter" idx="19"/>
          </p:nvPr>
        </p:nvSpPr>
        <p:spPr>
          <a:xfrm>
            <a:off x="2968857" y="5336802"/>
            <a:ext cx="3205162" cy="344018"/>
          </a:xfrm>
        </p:spPr>
        <p:txBody>
          <a:bodyPr>
            <a:normAutofit/>
          </a:bodyPr>
          <a:lstStyle/>
          <a:p>
            <a:pPr algn="ctr"/>
            <a:r>
              <a:rPr lang="en-US" sz="1200" dirty="0">
                <a:hlinkClick r:id="rId4" action="ppaction://hlinksldjump"/>
              </a:rPr>
              <a:t>Access the text alternative for slide images.</a:t>
            </a:r>
            <a:endParaRPr lang="en-US" sz="1200" dirty="0"/>
          </a:p>
        </p:txBody>
      </p:sp>
      <p:sp>
        <p:nvSpPr>
          <p:cNvPr id="5" name="Text Placeholder 5">
            <a:extLst>
              <a:ext uri="{FF2B5EF4-FFF2-40B4-BE49-F238E27FC236}">
                <a16:creationId xmlns:a16="http://schemas.microsoft.com/office/drawing/2014/main" id="{E46877A9-F12F-446F-82FE-A280D97A9A19}"/>
              </a:ext>
            </a:extLst>
          </p:cNvPr>
          <p:cNvSpPr>
            <a:spLocks noGrp="1"/>
          </p:cNvSpPr>
          <p:nvPr>
            <p:ph type="body" sz="quarter" idx="21"/>
          </p:nvPr>
        </p:nvSpPr>
        <p:spPr/>
        <p:txBody>
          <a:bodyPr/>
          <a:lstStyle/>
          <a:p>
            <a:pPr lvl="0"/>
            <a:r>
              <a:rPr lang="en-US" sz="800" dirty="0"/>
              <a:t>(a): Ed Reschke/Getty Images; (b): J. M. </a:t>
            </a:r>
            <a:r>
              <a:rPr lang="en-US" sz="800" dirty="0" err="1"/>
              <a:t>Conrarder</a:t>
            </a:r>
            <a:r>
              <a:rPr lang="en-US" sz="800" dirty="0"/>
              <a:t>/Science Source; (c): Ed Reschke/Stone/Getty Images</a:t>
            </a:r>
            <a:endParaRPr lang="en-GB" sz="800" dirty="0"/>
          </a:p>
        </p:txBody>
      </p:sp>
      <p:sp>
        <p:nvSpPr>
          <p:cNvPr id="12" name="Slide Number Placeholder 6">
            <a:extLst>
              <a:ext uri="{FF2B5EF4-FFF2-40B4-BE49-F238E27FC236}">
                <a16:creationId xmlns:a16="http://schemas.microsoft.com/office/drawing/2014/main" id="{564D8959-049E-49EE-9D63-3696C380407B}"/>
              </a:ext>
            </a:extLst>
          </p:cNvPr>
          <p:cNvSpPr>
            <a:spLocks noGrp="1"/>
          </p:cNvSpPr>
          <p:nvPr>
            <p:ph type="sldNum" sz="quarter" idx="4"/>
          </p:nvPr>
        </p:nvSpPr>
        <p:spPr/>
        <p:txBody>
          <a:bodyPr/>
          <a:lstStyle/>
          <a:p>
            <a:fld id="{08F9AD23-695F-4808-8E99-6281554D0F77}" type="slidenum">
              <a:rPr lang="en-IN" smtClean="0"/>
              <a:t>18</a:t>
            </a:fld>
            <a:endParaRPr lang="en-IN"/>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58" name="Title 1"/>
          <p:cNvSpPr>
            <a:spLocks noGrp="1" noChangeArrowheads="1"/>
          </p:cNvSpPr>
          <p:nvPr>
            <p:ph type="title"/>
          </p:nvPr>
        </p:nvSpPr>
        <p:spPr>
          <a:xfrm>
            <a:off x="342900" y="0"/>
            <a:ext cx="8458200" cy="1083733"/>
          </a:xfrm>
        </p:spPr>
        <p:txBody>
          <a:bodyPr/>
          <a:lstStyle/>
          <a:p>
            <a:pPr algn="ctr"/>
            <a:r>
              <a:rPr lang="en-US" altLang="en-US" sz="3600" dirty="0">
                <a:solidFill>
                  <a:schemeClr val="accent3">
                    <a:lumMod val="50000"/>
                  </a:schemeClr>
                </a:solidFill>
                <a:latin typeface="+mn-lt"/>
              </a:rPr>
              <a:t>Hornworts</a:t>
            </a:r>
          </a:p>
        </p:txBody>
      </p:sp>
      <p:sp>
        <p:nvSpPr>
          <p:cNvPr id="1448963" name="Content Placeholder 2"/>
          <p:cNvSpPr>
            <a:spLocks noGrp="1" noChangeArrowheads="1"/>
          </p:cNvSpPr>
          <p:nvPr>
            <p:ph idx="1"/>
          </p:nvPr>
        </p:nvSpPr>
        <p:spPr>
          <a:xfrm>
            <a:off x="457200" y="1295400"/>
            <a:ext cx="8428616" cy="5250543"/>
          </a:xfrm>
        </p:spPr>
        <p:txBody>
          <a:bodyPr>
            <a:normAutofit/>
          </a:bodyPr>
          <a:lstStyle/>
          <a:p>
            <a:pPr marL="347472" lvl="2" indent="-347472">
              <a:spcBef>
                <a:spcPts val="0"/>
              </a:spcBef>
              <a:spcAft>
                <a:spcPts val="600"/>
              </a:spcAft>
              <a:buFont typeface="Arial" panose="020B0604020202020204" pitchFamily="34" charset="0"/>
              <a:buChar char="•"/>
            </a:pPr>
            <a:r>
              <a:rPr lang="en-US" sz="2400" dirty="0">
                <a:latin typeface="+mn-lt"/>
              </a:rPr>
              <a:t>Have small sporophytes rising out of thin gametophytes that carry on photosynthesis</a:t>
            </a:r>
          </a:p>
          <a:p>
            <a:pPr marL="347472" lvl="2" indent="-347472">
              <a:lnSpc>
                <a:spcPct val="150000"/>
              </a:lnSpc>
              <a:spcBef>
                <a:spcPts val="0"/>
              </a:spcBef>
              <a:spcAft>
                <a:spcPts val="0"/>
              </a:spcAft>
              <a:buFont typeface="Arial" panose="020B0604020202020204" pitchFamily="34" charset="0"/>
              <a:buChar char="•"/>
            </a:pPr>
            <a:r>
              <a:rPr lang="en-US" sz="2400" dirty="0">
                <a:latin typeface="+mn-lt"/>
              </a:rPr>
              <a:t>Sporophyte has one chloroplast per cell</a:t>
            </a:r>
          </a:p>
          <a:p>
            <a:pPr marL="347472" lvl="2" indent="-347472">
              <a:buFont typeface="Arial" panose="020B0604020202020204" pitchFamily="34" charset="0"/>
              <a:buChar char="•"/>
            </a:pPr>
            <a:r>
              <a:rPr lang="en-US" sz="2400" dirty="0">
                <a:latin typeface="+mn-lt"/>
              </a:rPr>
              <a:t>Most live in moist, well-shaded areas.</a:t>
            </a:r>
          </a:p>
          <a:p>
            <a:pPr marL="347472" lvl="2" indent="-347472">
              <a:buFont typeface="Arial" panose="020B0604020202020204" pitchFamily="34" charset="0"/>
              <a:buChar char="•"/>
            </a:pPr>
            <a:r>
              <a:rPr lang="en-US" sz="2400" dirty="0">
                <a:latin typeface="+mn-lt"/>
              </a:rPr>
              <a:t>Symbiotic relationship with cyanobacteria allow nitrogen fixation from the air</a:t>
            </a:r>
          </a:p>
          <a:p>
            <a:pPr marL="347472" lvl="2" indent="-347472">
              <a:buFont typeface="Arial" panose="020B0604020202020204" pitchFamily="34" charset="0"/>
              <a:buChar char="•"/>
            </a:pPr>
            <a:r>
              <a:rPr lang="en-US" sz="2400" dirty="0">
                <a:latin typeface="+mn-lt"/>
              </a:rPr>
              <a:t>Can bypass alternation of generations by reproducing asexually through fragmentation</a:t>
            </a:r>
          </a:p>
        </p:txBody>
      </p:sp>
      <p:sp>
        <p:nvSpPr>
          <p:cNvPr id="4" name="Slide Number Placeholder 3">
            <a:extLst>
              <a:ext uri="{FF2B5EF4-FFF2-40B4-BE49-F238E27FC236}">
                <a16:creationId xmlns:a16="http://schemas.microsoft.com/office/drawing/2014/main" id="{FC442FD7-6A9A-4C43-B2EA-200F214E54EA}"/>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19</a:t>
            </a:fld>
            <a:endParaRPr lang="en-IN"/>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noChangeArrowheads="1"/>
          </p:cNvSpPr>
          <p:nvPr>
            <p:ph type="title"/>
          </p:nvPr>
        </p:nvSpPr>
        <p:spPr/>
        <p:txBody>
          <a:bodyPr/>
          <a:lstStyle/>
          <a:p>
            <a:pPr algn="ctr"/>
            <a:r>
              <a:rPr lang="en-US" altLang="en-US" dirty="0">
                <a:solidFill>
                  <a:schemeClr val="accent3">
                    <a:lumMod val="50000"/>
                  </a:schemeClr>
                </a:solidFill>
              </a:rPr>
              <a:t>Hornwort, </a:t>
            </a:r>
            <a:r>
              <a:rPr lang="en-US" altLang="en-US" i="1" dirty="0">
                <a:solidFill>
                  <a:schemeClr val="accent3">
                    <a:lumMod val="50000"/>
                  </a:schemeClr>
                </a:solidFill>
              </a:rPr>
              <a:t>Anthoceros</a:t>
            </a:r>
            <a:r>
              <a:rPr lang="en-US" altLang="en-US" dirty="0">
                <a:solidFill>
                  <a:schemeClr val="accent3">
                    <a:lumMod val="50000"/>
                  </a:schemeClr>
                </a:solidFill>
              </a:rPr>
              <a:t> sp.</a:t>
            </a:r>
          </a:p>
        </p:txBody>
      </p:sp>
      <p:pic>
        <p:nvPicPr>
          <p:cNvPr id="6" name="Picture 2" descr="The “horns” of a hornwort are sporophytes that grow continuously from a base anchored in gametophyte tissue."/>
          <p:cNvPicPr>
            <a:picLocks noChangeAspect="1"/>
          </p:cNvPicPr>
          <p:nvPr/>
        </p:nvPicPr>
        <p:blipFill>
          <a:blip r:embed="rId3"/>
          <a:stretch>
            <a:fillRect/>
          </a:stretch>
        </p:blipFill>
        <p:spPr>
          <a:xfrm>
            <a:off x="1331056" y="1841605"/>
            <a:ext cx="6647490" cy="3841351"/>
          </a:xfrm>
          <a:prstGeom prst="rect">
            <a:avLst/>
          </a:prstGeom>
        </p:spPr>
      </p:pic>
      <p:sp>
        <p:nvSpPr>
          <p:cNvPr id="4" name="Content Placeholder 3"/>
          <p:cNvSpPr>
            <a:spLocks noGrp="1"/>
          </p:cNvSpPr>
          <p:nvPr>
            <p:ph type="body" sz="quarter" idx="18"/>
          </p:nvPr>
        </p:nvSpPr>
        <p:spPr>
          <a:xfrm>
            <a:off x="3896865" y="5849664"/>
            <a:ext cx="1350270" cy="314325"/>
          </a:xfrm>
        </p:spPr>
        <p:txBody>
          <a:bodyPr/>
          <a:lstStyle/>
          <a:p>
            <a:r>
              <a:rPr lang="en-US" sz="1200" dirty="0"/>
              <a:t>Figure 23.8</a:t>
            </a:r>
          </a:p>
        </p:txBody>
      </p:sp>
      <p:sp>
        <p:nvSpPr>
          <p:cNvPr id="8" name="Text Placeholder 4">
            <a:extLst>
              <a:ext uri="{FF2B5EF4-FFF2-40B4-BE49-F238E27FC236}">
                <a16:creationId xmlns:a16="http://schemas.microsoft.com/office/drawing/2014/main" id="{85505A5C-B73C-4A54-80CA-C00B380BBC90}"/>
              </a:ext>
            </a:extLst>
          </p:cNvPr>
          <p:cNvSpPr>
            <a:spLocks noGrp="1"/>
          </p:cNvSpPr>
          <p:nvPr>
            <p:ph type="body" sz="quarter" idx="21"/>
          </p:nvPr>
        </p:nvSpPr>
        <p:spPr>
          <a:xfrm>
            <a:off x="596008" y="6572035"/>
            <a:ext cx="8101482" cy="191493"/>
          </a:xfrm>
        </p:spPr>
        <p:txBody>
          <a:bodyPr/>
          <a:lstStyle/>
          <a:p>
            <a:r>
              <a:rPr lang="en-US" sz="800" dirty="0"/>
              <a:t>(photo): Steven P. Lynch</a:t>
            </a:r>
          </a:p>
        </p:txBody>
      </p:sp>
      <p:sp>
        <p:nvSpPr>
          <p:cNvPr id="7" name="Slide Number Placeholder 5">
            <a:extLst>
              <a:ext uri="{FF2B5EF4-FFF2-40B4-BE49-F238E27FC236}">
                <a16:creationId xmlns:a16="http://schemas.microsoft.com/office/drawing/2014/main" id="{8E008B54-2A51-48C2-B3E6-20BC4BF38F4E}"/>
              </a:ext>
            </a:extLst>
          </p:cNvPr>
          <p:cNvSpPr>
            <a:spLocks noGrp="1"/>
          </p:cNvSpPr>
          <p:nvPr>
            <p:ph type="sldNum" sz="quarter" idx="4"/>
          </p:nvPr>
        </p:nvSpPr>
        <p:spPr/>
        <p:txBody>
          <a:bodyPr/>
          <a:lstStyle/>
          <a:p>
            <a:fld id="{08F9AD23-695F-4808-8E99-6281554D0F77}" type="slidenum">
              <a:rPr lang="en-IN" smtClean="0"/>
              <a:t>20</a:t>
            </a:fld>
            <a:endParaRPr lang="en-IN"/>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4" name="Title 1"/>
          <p:cNvSpPr>
            <a:spLocks noGrp="1" noChangeArrowheads="1"/>
          </p:cNvSpPr>
          <p:nvPr>
            <p:ph type="title"/>
          </p:nvPr>
        </p:nvSpPr>
        <p:spPr>
          <a:xfrm>
            <a:off x="457200" y="0"/>
            <a:ext cx="8229600" cy="1094045"/>
          </a:xfrm>
        </p:spPr>
        <p:txBody>
          <a:bodyPr>
            <a:normAutofit/>
          </a:bodyPr>
          <a:lstStyle/>
          <a:p>
            <a:pPr algn="ctr"/>
            <a:r>
              <a:rPr lang="en-US" altLang="en-US" dirty="0">
                <a:solidFill>
                  <a:schemeClr val="accent3">
                    <a:lumMod val="50000"/>
                  </a:schemeClr>
                </a:solidFill>
                <a:latin typeface="+mj-lt"/>
              </a:rPr>
              <a:t>Mosses</a:t>
            </a:r>
          </a:p>
        </p:txBody>
      </p:sp>
      <p:sp>
        <p:nvSpPr>
          <p:cNvPr id="1448963" name="Content Placeholder 2"/>
          <p:cNvSpPr>
            <a:spLocks noGrp="1" noChangeArrowheads="1"/>
          </p:cNvSpPr>
          <p:nvPr>
            <p:ph idx="1"/>
          </p:nvPr>
        </p:nvSpPr>
        <p:spPr>
          <a:xfrm>
            <a:off x="457200" y="912741"/>
            <a:ext cx="8229600" cy="5289805"/>
          </a:xfrm>
        </p:spPr>
        <p:txBody>
          <a:bodyPr>
            <a:noAutofit/>
          </a:bodyPr>
          <a:lstStyle/>
          <a:p>
            <a:pPr marL="0" lvl="1" indent="0">
              <a:lnSpc>
                <a:spcPct val="150000"/>
              </a:lnSpc>
              <a:spcBef>
                <a:spcPts val="0"/>
              </a:spcBef>
              <a:buNone/>
            </a:pPr>
            <a:r>
              <a:rPr lang="en-US" sz="2400" dirty="0"/>
              <a:t>Largest phyla of nonvascular plants</a:t>
            </a:r>
          </a:p>
          <a:p>
            <a:pPr marL="0" lvl="1" indent="0">
              <a:lnSpc>
                <a:spcPct val="150000"/>
              </a:lnSpc>
              <a:spcBef>
                <a:spcPts val="0"/>
              </a:spcBef>
              <a:buNone/>
            </a:pPr>
            <a:r>
              <a:rPr lang="en-US" sz="2400" dirty="0"/>
              <a:t>Mostly found in moist environments</a:t>
            </a:r>
          </a:p>
          <a:p>
            <a:pPr marL="0" lvl="1" indent="0">
              <a:lnSpc>
                <a:spcPct val="90000"/>
              </a:lnSpc>
              <a:spcBef>
                <a:spcPts val="1200"/>
              </a:spcBef>
              <a:buNone/>
            </a:pPr>
            <a:r>
              <a:rPr lang="en-US" sz="2400" dirty="0"/>
              <a:t>In dry environments they may become shriveled, turn brown, and look dead but when it rains they resume metabolic activity and turn green</a:t>
            </a:r>
          </a:p>
          <a:p>
            <a:pPr marL="0" lvl="1" indent="0">
              <a:lnSpc>
                <a:spcPct val="90000"/>
              </a:lnSpc>
              <a:spcBef>
                <a:spcPts val="1200"/>
              </a:spcBef>
              <a:buNone/>
            </a:pPr>
            <a:r>
              <a:rPr lang="en-US" sz="2400" dirty="0"/>
              <a:t>Three distinct groupings of mosses:</a:t>
            </a:r>
          </a:p>
          <a:p>
            <a:pPr marL="266700" lvl="2" indent="-266700">
              <a:lnSpc>
                <a:spcPct val="90000"/>
              </a:lnSpc>
              <a:spcBef>
                <a:spcPts val="1200"/>
              </a:spcBef>
            </a:pPr>
            <a:r>
              <a:rPr lang="en-US" sz="2200" dirty="0"/>
              <a:t>Peat mosses, granite mosses, true mosses</a:t>
            </a:r>
          </a:p>
          <a:p>
            <a:pPr marL="531813" lvl="3" indent="-265113">
              <a:lnSpc>
                <a:spcPct val="90000"/>
              </a:lnSpc>
              <a:spcBef>
                <a:spcPts val="1200"/>
              </a:spcBef>
              <a:buFont typeface="Arial" panose="020B0604020202020204" pitchFamily="34" charset="0"/>
              <a:buChar char="•"/>
            </a:pPr>
            <a:r>
              <a:rPr lang="en-US" sz="2000" dirty="0"/>
              <a:t>Peat moss has great commercial and ecological importance to humans</a:t>
            </a:r>
          </a:p>
          <a:p>
            <a:pPr marL="809625" lvl="4" indent="-277813">
              <a:lnSpc>
                <a:spcPct val="90000"/>
              </a:lnSpc>
              <a:spcBef>
                <a:spcPts val="1200"/>
              </a:spcBef>
              <a:buFont typeface="Arial" panose="020B0604020202020204" pitchFamily="34" charset="0"/>
              <a:buChar char="•"/>
            </a:pPr>
            <a:r>
              <a:rPr lang="en-US" sz="1800" dirty="0"/>
              <a:t>Used to improve the water-capacity of soil</a:t>
            </a:r>
          </a:p>
          <a:p>
            <a:pPr marL="809625" lvl="4" indent="-277813">
              <a:lnSpc>
                <a:spcPct val="90000"/>
              </a:lnSpc>
              <a:spcBef>
                <a:spcPts val="1200"/>
              </a:spcBef>
              <a:buFont typeface="Arial" panose="020B0604020202020204" pitchFamily="34" charset="0"/>
              <a:buChar char="•"/>
            </a:pPr>
            <a:r>
              <a:rPr lang="en-US" sz="1800" dirty="0"/>
              <a:t>Was used as wound dressing on battlefields</a:t>
            </a:r>
          </a:p>
        </p:txBody>
      </p:sp>
      <p:sp>
        <p:nvSpPr>
          <p:cNvPr id="4" name="Slide Number Placeholder 3">
            <a:extLst>
              <a:ext uri="{FF2B5EF4-FFF2-40B4-BE49-F238E27FC236}">
                <a16:creationId xmlns:a16="http://schemas.microsoft.com/office/drawing/2014/main" id="{DFC848BC-087D-4FF7-8C5E-78FC5DC0C581}"/>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21</a:t>
            </a:fld>
            <a:endParaRPr lang="en-IN"/>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6D8CC0-FA48-48FB-8D75-6D08BD3BCBFC}"/>
              </a:ext>
            </a:extLst>
          </p:cNvPr>
          <p:cNvSpPr>
            <a:spLocks noGrp="1"/>
          </p:cNvSpPr>
          <p:nvPr>
            <p:ph type="title"/>
          </p:nvPr>
        </p:nvSpPr>
        <p:spPr/>
        <p:txBody>
          <a:bodyPr/>
          <a:lstStyle/>
          <a:p>
            <a:r>
              <a:rPr lang="en-US" dirty="0"/>
              <a:t>Life Cycle of Moss</a:t>
            </a:r>
          </a:p>
        </p:txBody>
      </p:sp>
      <p:sp>
        <p:nvSpPr>
          <p:cNvPr id="6" name="Content Placeholder 2">
            <a:extLst>
              <a:ext uri="{FF2B5EF4-FFF2-40B4-BE49-F238E27FC236}">
                <a16:creationId xmlns:a16="http://schemas.microsoft.com/office/drawing/2014/main" id="{92B8B81D-FA71-4578-932E-3623499B8647}"/>
              </a:ext>
            </a:extLst>
          </p:cNvPr>
          <p:cNvSpPr>
            <a:spLocks noGrp="1"/>
          </p:cNvSpPr>
          <p:nvPr>
            <p:ph idx="1"/>
          </p:nvPr>
        </p:nvSpPr>
        <p:spPr>
          <a:xfrm>
            <a:off x="457200" y="1002041"/>
            <a:ext cx="8229600" cy="5302170"/>
          </a:xfrm>
        </p:spPr>
        <p:txBody>
          <a:bodyPr>
            <a:normAutofit/>
          </a:bodyPr>
          <a:lstStyle/>
          <a:p>
            <a:r>
              <a:rPr lang="en-US" sz="2400" dirty="0"/>
              <a:t>G</a:t>
            </a:r>
            <a:r>
              <a:rPr lang="en-US" sz="2400" b="0" i="0" u="none" strike="noStrike" baseline="0" dirty="0"/>
              <a:t>ametophyte (n) of </a:t>
            </a:r>
            <a:r>
              <a:rPr lang="en-US" sz="2400" dirty="0"/>
              <a:t>a moss is called </a:t>
            </a:r>
            <a:r>
              <a:rPr lang="en-US" sz="2400" b="0" i="0" u="none" strike="noStrike" baseline="0" dirty="0"/>
              <a:t>the protonema</a:t>
            </a:r>
          </a:p>
          <a:p>
            <a:pPr lvl="1">
              <a:spcAft>
                <a:spcPts val="0"/>
              </a:spcAft>
              <a:buFont typeface="Arial" panose="020B0604020202020204" pitchFamily="34" charset="0"/>
              <a:buChar char="•"/>
            </a:pPr>
            <a:r>
              <a:rPr lang="en-US" sz="2200" dirty="0"/>
              <a:t>P</a:t>
            </a:r>
            <a:r>
              <a:rPr lang="en-US" sz="2200" b="0" i="0" u="none" strike="noStrike" baseline="0" dirty="0"/>
              <a:t>recedes and produces upright, leafy shoots that sprout rhizoids</a:t>
            </a:r>
          </a:p>
          <a:p>
            <a:pPr lvl="1">
              <a:spcAft>
                <a:spcPts val="0"/>
              </a:spcAft>
              <a:buFont typeface="Arial" panose="020B0604020202020204" pitchFamily="34" charset="0"/>
              <a:buChar char="•"/>
            </a:pPr>
            <a:r>
              <a:rPr lang="en-US" sz="2200" dirty="0"/>
              <a:t>S</a:t>
            </a:r>
            <a:r>
              <a:rPr lang="en-US" sz="2200" b="0" i="0" u="none" strike="noStrike" baseline="0" dirty="0"/>
              <a:t>hoots bear either antheridia (sperm-producing) or archegonia (egg-producing)</a:t>
            </a:r>
          </a:p>
          <a:p>
            <a:pPr lvl="1">
              <a:spcAft>
                <a:spcPts val="0"/>
              </a:spcAft>
              <a:buFont typeface="Arial" panose="020B0604020202020204" pitchFamily="34" charset="0"/>
              <a:buChar char="•"/>
            </a:pPr>
            <a:r>
              <a:rPr lang="en-US" sz="2200" dirty="0"/>
              <a:t>S</a:t>
            </a:r>
            <a:r>
              <a:rPr lang="en-US" sz="2200" b="0" i="0" u="none" strike="noStrike" baseline="0" dirty="0"/>
              <a:t>porophyte is enclosed in female gametophyte tissue</a:t>
            </a:r>
          </a:p>
          <a:p>
            <a:pPr lvl="1">
              <a:spcAft>
                <a:spcPts val="0"/>
              </a:spcAft>
              <a:buFont typeface="Arial" panose="020B0604020202020204" pitchFamily="34" charset="0"/>
              <a:buChar char="•"/>
            </a:pPr>
            <a:r>
              <a:rPr lang="en-US" sz="2200" dirty="0"/>
              <a:t>S</a:t>
            </a:r>
            <a:r>
              <a:rPr lang="en-US" sz="2200" b="0" i="0" u="none" strike="noStrike" baseline="0" dirty="0"/>
              <a:t>porophyte has three parts:</a:t>
            </a:r>
          </a:p>
          <a:p>
            <a:pPr marL="625475" lvl="2" indent="-266700">
              <a:buFont typeface="Arial" panose="020B0604020202020204" pitchFamily="34" charset="0"/>
              <a:buChar char="•"/>
            </a:pPr>
            <a:r>
              <a:rPr lang="en-US" sz="2000" b="0" i="0" u="none" strike="noStrike" baseline="0" dirty="0"/>
              <a:t>A foot, a stalk, and an upper capsule</a:t>
            </a:r>
          </a:p>
          <a:p>
            <a:pPr marL="890588" lvl="3">
              <a:buFont typeface="Arial" panose="020B0604020202020204" pitchFamily="34" charset="0"/>
              <a:buChar char="•"/>
            </a:pPr>
            <a:r>
              <a:rPr lang="en-US" sz="1800" dirty="0"/>
              <a:t>Capsule </a:t>
            </a:r>
            <a:r>
              <a:rPr lang="en-US" sz="1800" b="0" i="0" u="none" strike="noStrike" baseline="0" dirty="0"/>
              <a:t>contains the sporangium, where spores are produced</a:t>
            </a:r>
          </a:p>
          <a:p>
            <a:pPr marL="890588" lvl="3">
              <a:buFont typeface="Arial" panose="020B0604020202020204" pitchFamily="34" charset="0"/>
              <a:buChar char="•"/>
            </a:pPr>
            <a:r>
              <a:rPr lang="en-US" sz="1800" dirty="0"/>
              <a:t>M</a:t>
            </a:r>
            <a:r>
              <a:rPr lang="en-US" sz="1800" b="0" i="0" u="none" strike="noStrike" baseline="0" dirty="0"/>
              <a:t>oss sporophyte is always attached to the gametophyte</a:t>
            </a:r>
          </a:p>
        </p:txBody>
      </p:sp>
      <p:sp>
        <p:nvSpPr>
          <p:cNvPr id="4" name="Slide Number Placeholder 3">
            <a:extLst>
              <a:ext uri="{FF2B5EF4-FFF2-40B4-BE49-F238E27FC236}">
                <a16:creationId xmlns:a16="http://schemas.microsoft.com/office/drawing/2014/main" id="{EAE96DB0-33B0-4A9E-8341-C41335A2863D}"/>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22</a:t>
            </a:fld>
            <a:endParaRPr lang="en-IN"/>
          </a:p>
        </p:txBody>
      </p:sp>
    </p:spTree>
    <p:extLst>
      <p:ext uri="{BB962C8B-B14F-4D97-AF65-F5344CB8AC3E}">
        <p14:creationId xmlns:p14="http://schemas.microsoft.com/office/powerpoint/2010/main" val="19747203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noChangeArrowheads="1"/>
          </p:cNvSpPr>
          <p:nvPr>
            <p:ph type="title"/>
          </p:nvPr>
        </p:nvSpPr>
        <p:spPr/>
        <p:txBody>
          <a:bodyPr/>
          <a:lstStyle/>
          <a:p>
            <a:r>
              <a:rPr lang="en-US" altLang="en-US" dirty="0"/>
              <a:t>Moss Life Cycle </a:t>
            </a:r>
            <a:r>
              <a:rPr lang="en-US" altLang="en-US" sz="1600" dirty="0"/>
              <a:t>1</a:t>
            </a:r>
          </a:p>
        </p:txBody>
      </p:sp>
      <p:pic>
        <p:nvPicPr>
          <p:cNvPr id="8" name="Picture 2" descr="Mature gametophytes are leafy shoots that bear either antheridia or archegonia, where gametes are produced by mitosis."/>
          <p:cNvPicPr>
            <a:picLocks noChangeAspect="1"/>
          </p:cNvPicPr>
          <p:nvPr/>
        </p:nvPicPr>
        <p:blipFill rotWithShape="1">
          <a:blip r:embed="rId3">
            <a:extLst>
              <a:ext uri="{28A0092B-C50C-407E-A947-70E740481C1C}">
                <a14:useLocalDpi xmlns:a14="http://schemas.microsoft.com/office/drawing/2010/main" val="0"/>
              </a:ext>
            </a:extLst>
          </a:blip>
          <a:srcRect t="4650" b="2993"/>
          <a:stretch/>
        </p:blipFill>
        <p:spPr>
          <a:xfrm>
            <a:off x="1324303" y="998711"/>
            <a:ext cx="6495394" cy="5014777"/>
          </a:xfrm>
          <a:prstGeom prst="rect">
            <a:avLst/>
          </a:prstGeom>
        </p:spPr>
      </p:pic>
      <p:sp>
        <p:nvSpPr>
          <p:cNvPr id="9" name="Content Placeholder 3"/>
          <p:cNvSpPr>
            <a:spLocks noGrp="1"/>
          </p:cNvSpPr>
          <p:nvPr>
            <p:ph type="body" sz="quarter" idx="19"/>
          </p:nvPr>
        </p:nvSpPr>
        <p:spPr>
          <a:xfrm>
            <a:off x="3939404" y="6231232"/>
            <a:ext cx="1265192" cy="276687"/>
          </a:xfrm>
        </p:spPr>
        <p:txBody>
          <a:bodyPr anchor="ctr">
            <a:noAutofit/>
          </a:bodyPr>
          <a:lstStyle/>
          <a:p>
            <a:pPr algn="ctr"/>
            <a:r>
              <a:rPr lang="en-US" sz="1200" dirty="0"/>
              <a:t>Figure 23.9</a:t>
            </a:r>
          </a:p>
        </p:txBody>
      </p:sp>
      <p:sp>
        <p:nvSpPr>
          <p:cNvPr id="2" name="Text Placeholder 4">
            <a:extLst>
              <a:ext uri="{FF2B5EF4-FFF2-40B4-BE49-F238E27FC236}">
                <a16:creationId xmlns:a16="http://schemas.microsoft.com/office/drawing/2014/main" id="{68D28DDD-0FED-4964-A530-70D4B2F3ECA6}"/>
              </a:ext>
            </a:extLst>
          </p:cNvPr>
          <p:cNvSpPr>
            <a:spLocks noGrp="1"/>
          </p:cNvSpPr>
          <p:nvPr>
            <p:ph type="body" sz="quarter" idx="20"/>
          </p:nvPr>
        </p:nvSpPr>
        <p:spPr>
          <a:xfrm>
            <a:off x="6887910" y="6558416"/>
            <a:ext cx="1809580" cy="213329"/>
          </a:xfrm>
        </p:spPr>
        <p:txBody>
          <a:bodyPr>
            <a:normAutofit lnSpcReduction="10000"/>
          </a:bodyPr>
          <a:lstStyle/>
          <a:p>
            <a:pPr lvl="0" algn="r"/>
            <a:r>
              <a:rPr lang="en-US" sz="800" dirty="0"/>
              <a:t>(gametophyte):© Steven P. Lynch</a:t>
            </a:r>
            <a:endParaRPr lang="en-GB" sz="800" dirty="0"/>
          </a:p>
        </p:txBody>
      </p:sp>
      <p:sp>
        <p:nvSpPr>
          <p:cNvPr id="6" name="Slide Number Placeholder 5">
            <a:extLst>
              <a:ext uri="{FF2B5EF4-FFF2-40B4-BE49-F238E27FC236}">
                <a16:creationId xmlns:a16="http://schemas.microsoft.com/office/drawing/2014/main" id="{6AEA5945-9DE0-455E-ADF1-A8A664CEC524}"/>
              </a:ext>
            </a:extLst>
          </p:cNvPr>
          <p:cNvSpPr>
            <a:spLocks noGrp="1"/>
          </p:cNvSpPr>
          <p:nvPr>
            <p:ph type="sldNum" sz="quarter" idx="4"/>
          </p:nvPr>
        </p:nvSpPr>
        <p:spPr/>
        <p:txBody>
          <a:bodyPr/>
          <a:lstStyle/>
          <a:p>
            <a:fld id="{08F9AD23-695F-4808-8E99-6281554D0F77}" type="slidenum">
              <a:rPr lang="en-IN" smtClean="0"/>
              <a:t>23</a:t>
            </a:fld>
            <a:endParaRPr lang="en-IN"/>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noChangeArrowheads="1"/>
          </p:cNvSpPr>
          <p:nvPr>
            <p:ph type="title"/>
          </p:nvPr>
        </p:nvSpPr>
        <p:spPr/>
        <p:txBody>
          <a:bodyPr/>
          <a:lstStyle/>
          <a:p>
            <a:r>
              <a:rPr lang="en-US" altLang="en-US" dirty="0"/>
              <a:t>Moss Life Cycle </a:t>
            </a:r>
            <a:r>
              <a:rPr lang="en-US" altLang="en-US" sz="1600" dirty="0"/>
              <a:t>2</a:t>
            </a:r>
          </a:p>
        </p:txBody>
      </p:sp>
      <p:pic>
        <p:nvPicPr>
          <p:cNvPr id="7" name="Picture 2" descr="Step 2, Fertilization: Flagellate sperm produced in antheridia swim in external water to archegonia, each bearing a single egg.">
            <a:extLst>
              <a:ext uri="{FF2B5EF4-FFF2-40B4-BE49-F238E27FC236}">
                <a16:creationId xmlns:a16="http://schemas.microsoft.com/office/drawing/2014/main" id="{157DCB98-5861-442D-8AF9-D86C7AA45CDE}"/>
              </a:ext>
            </a:extLst>
          </p:cNvPr>
          <p:cNvPicPr>
            <a:picLocks noChangeAspect="1"/>
          </p:cNvPicPr>
          <p:nvPr/>
        </p:nvPicPr>
        <p:blipFill rotWithShape="1">
          <a:blip r:embed="rId3">
            <a:extLst>
              <a:ext uri="{28A0092B-C50C-407E-A947-70E740481C1C}">
                <a14:useLocalDpi xmlns:a14="http://schemas.microsoft.com/office/drawing/2010/main" val="0"/>
              </a:ext>
            </a:extLst>
          </a:blip>
          <a:srcRect t="4333" b="2685"/>
          <a:stretch/>
        </p:blipFill>
        <p:spPr>
          <a:xfrm>
            <a:off x="1298448" y="948214"/>
            <a:ext cx="6547104" cy="5084308"/>
          </a:xfrm>
          <a:prstGeom prst="rect">
            <a:avLst/>
          </a:prstGeom>
        </p:spPr>
      </p:pic>
      <p:sp>
        <p:nvSpPr>
          <p:cNvPr id="9" name="Content Placeholder 3"/>
          <p:cNvSpPr>
            <a:spLocks noGrp="1"/>
          </p:cNvSpPr>
          <p:nvPr>
            <p:ph type="body" sz="quarter" idx="19"/>
          </p:nvPr>
        </p:nvSpPr>
        <p:spPr>
          <a:xfrm>
            <a:off x="3939404" y="6231232"/>
            <a:ext cx="1265192" cy="276687"/>
          </a:xfrm>
        </p:spPr>
        <p:txBody>
          <a:bodyPr anchor="ctr">
            <a:noAutofit/>
          </a:bodyPr>
          <a:lstStyle/>
          <a:p>
            <a:pPr algn="ctr"/>
            <a:r>
              <a:rPr lang="en-US" sz="1200" dirty="0"/>
              <a:t>Figure 23.9</a:t>
            </a:r>
          </a:p>
        </p:txBody>
      </p:sp>
      <p:sp>
        <p:nvSpPr>
          <p:cNvPr id="2" name="Text Placeholder 4">
            <a:extLst>
              <a:ext uri="{FF2B5EF4-FFF2-40B4-BE49-F238E27FC236}">
                <a16:creationId xmlns:a16="http://schemas.microsoft.com/office/drawing/2014/main" id="{68D28DDD-0FED-4964-A530-70D4B2F3ECA6}"/>
              </a:ext>
            </a:extLst>
          </p:cNvPr>
          <p:cNvSpPr>
            <a:spLocks noGrp="1"/>
          </p:cNvSpPr>
          <p:nvPr>
            <p:ph type="body" sz="quarter" idx="20"/>
          </p:nvPr>
        </p:nvSpPr>
        <p:spPr>
          <a:xfrm>
            <a:off x="6887910" y="6558416"/>
            <a:ext cx="1809580" cy="213329"/>
          </a:xfrm>
        </p:spPr>
        <p:txBody>
          <a:bodyPr>
            <a:normAutofit lnSpcReduction="10000"/>
          </a:bodyPr>
          <a:lstStyle/>
          <a:p>
            <a:pPr lvl="0" algn="r"/>
            <a:r>
              <a:rPr lang="en-US" sz="800" dirty="0"/>
              <a:t>(gametophyte):© Steven P. Lynch</a:t>
            </a:r>
            <a:endParaRPr lang="en-GB" sz="800" dirty="0"/>
          </a:p>
        </p:txBody>
      </p:sp>
      <p:sp>
        <p:nvSpPr>
          <p:cNvPr id="6" name="Slide Number Placeholder 5">
            <a:extLst>
              <a:ext uri="{FF2B5EF4-FFF2-40B4-BE49-F238E27FC236}">
                <a16:creationId xmlns:a16="http://schemas.microsoft.com/office/drawing/2014/main" id="{6AEA5945-9DE0-455E-ADF1-A8A664CEC524}"/>
              </a:ext>
            </a:extLst>
          </p:cNvPr>
          <p:cNvSpPr>
            <a:spLocks noGrp="1"/>
          </p:cNvSpPr>
          <p:nvPr>
            <p:ph type="sldNum" sz="quarter" idx="4"/>
          </p:nvPr>
        </p:nvSpPr>
        <p:spPr/>
        <p:txBody>
          <a:bodyPr/>
          <a:lstStyle/>
          <a:p>
            <a:fld id="{08F9AD23-695F-4808-8E99-6281554D0F77}" type="slidenum">
              <a:rPr lang="en-IN" smtClean="0"/>
              <a:t>24</a:t>
            </a:fld>
            <a:endParaRPr lang="en-IN"/>
          </a:p>
        </p:txBody>
      </p:sp>
    </p:spTree>
    <p:extLst>
      <p:ext uri="{BB962C8B-B14F-4D97-AF65-F5344CB8AC3E}">
        <p14:creationId xmlns:p14="http://schemas.microsoft.com/office/powerpoint/2010/main" val="954478805"/>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noChangeArrowheads="1"/>
          </p:cNvSpPr>
          <p:nvPr>
            <p:ph type="title"/>
          </p:nvPr>
        </p:nvSpPr>
        <p:spPr/>
        <p:txBody>
          <a:bodyPr/>
          <a:lstStyle/>
          <a:p>
            <a:r>
              <a:rPr lang="en-US" altLang="en-US" dirty="0"/>
              <a:t>Moss Life Cycle </a:t>
            </a:r>
            <a:r>
              <a:rPr lang="en-US" altLang="en-US" sz="1600" dirty="0"/>
              <a:t>3</a:t>
            </a:r>
          </a:p>
        </p:txBody>
      </p:sp>
      <p:pic>
        <p:nvPicPr>
          <p:cNvPr id="7" name="Picture 2" descr="Step 3, the zygote and developing sporophyte are retained within the archegonium.">
            <a:extLst>
              <a:ext uri="{FF2B5EF4-FFF2-40B4-BE49-F238E27FC236}">
                <a16:creationId xmlns:a16="http://schemas.microsoft.com/office/drawing/2014/main" id="{39916577-5FAA-449D-A936-EBD4440D7268}"/>
              </a:ext>
            </a:extLst>
          </p:cNvPr>
          <p:cNvPicPr>
            <a:picLocks noChangeAspect="1"/>
          </p:cNvPicPr>
          <p:nvPr/>
        </p:nvPicPr>
        <p:blipFill rotWithShape="1">
          <a:blip r:embed="rId3">
            <a:extLst>
              <a:ext uri="{28A0092B-C50C-407E-A947-70E740481C1C}">
                <a14:useLocalDpi xmlns:a14="http://schemas.microsoft.com/office/drawing/2010/main" val="0"/>
              </a:ext>
            </a:extLst>
          </a:blip>
          <a:srcRect t="4450" b="2198"/>
          <a:stretch/>
        </p:blipFill>
        <p:spPr>
          <a:xfrm>
            <a:off x="1586992" y="1314450"/>
            <a:ext cx="6224016" cy="4854121"/>
          </a:xfrm>
          <a:prstGeom prst="rect">
            <a:avLst/>
          </a:prstGeom>
        </p:spPr>
      </p:pic>
      <p:sp>
        <p:nvSpPr>
          <p:cNvPr id="9" name="Content Placeholder 3"/>
          <p:cNvSpPr>
            <a:spLocks noGrp="1"/>
          </p:cNvSpPr>
          <p:nvPr>
            <p:ph type="body" sz="quarter" idx="19"/>
          </p:nvPr>
        </p:nvSpPr>
        <p:spPr>
          <a:xfrm>
            <a:off x="3939404" y="6231232"/>
            <a:ext cx="1265192" cy="276687"/>
          </a:xfrm>
        </p:spPr>
        <p:txBody>
          <a:bodyPr anchor="ctr">
            <a:noAutofit/>
          </a:bodyPr>
          <a:lstStyle/>
          <a:p>
            <a:pPr algn="ctr"/>
            <a:r>
              <a:rPr lang="en-US" sz="1200" dirty="0"/>
              <a:t>Figure 23.9</a:t>
            </a:r>
          </a:p>
        </p:txBody>
      </p:sp>
      <p:sp>
        <p:nvSpPr>
          <p:cNvPr id="2" name="Text Placeholder 4">
            <a:extLst>
              <a:ext uri="{FF2B5EF4-FFF2-40B4-BE49-F238E27FC236}">
                <a16:creationId xmlns:a16="http://schemas.microsoft.com/office/drawing/2014/main" id="{68D28DDD-0FED-4964-A530-70D4B2F3ECA6}"/>
              </a:ext>
            </a:extLst>
          </p:cNvPr>
          <p:cNvSpPr>
            <a:spLocks noGrp="1"/>
          </p:cNvSpPr>
          <p:nvPr>
            <p:ph type="body" sz="quarter" idx="20"/>
          </p:nvPr>
        </p:nvSpPr>
        <p:spPr>
          <a:xfrm>
            <a:off x="6887910" y="6558416"/>
            <a:ext cx="1809580" cy="213329"/>
          </a:xfrm>
        </p:spPr>
        <p:txBody>
          <a:bodyPr>
            <a:normAutofit lnSpcReduction="10000"/>
          </a:bodyPr>
          <a:lstStyle/>
          <a:p>
            <a:pPr lvl="0" algn="r"/>
            <a:r>
              <a:rPr lang="en-US" sz="800" dirty="0"/>
              <a:t>(gametophyte):© Steven P. Lynch</a:t>
            </a:r>
            <a:endParaRPr lang="en-GB" sz="800" dirty="0"/>
          </a:p>
        </p:txBody>
      </p:sp>
      <p:sp>
        <p:nvSpPr>
          <p:cNvPr id="6" name="Slide Number Placeholder 5">
            <a:extLst>
              <a:ext uri="{FF2B5EF4-FFF2-40B4-BE49-F238E27FC236}">
                <a16:creationId xmlns:a16="http://schemas.microsoft.com/office/drawing/2014/main" id="{6AEA5945-9DE0-455E-ADF1-A8A664CEC524}"/>
              </a:ext>
            </a:extLst>
          </p:cNvPr>
          <p:cNvSpPr>
            <a:spLocks noGrp="1"/>
          </p:cNvSpPr>
          <p:nvPr>
            <p:ph type="sldNum" sz="quarter" idx="4"/>
          </p:nvPr>
        </p:nvSpPr>
        <p:spPr/>
        <p:txBody>
          <a:bodyPr/>
          <a:lstStyle/>
          <a:p>
            <a:fld id="{08F9AD23-695F-4808-8E99-6281554D0F77}" type="slidenum">
              <a:rPr lang="en-IN" smtClean="0"/>
              <a:t>25</a:t>
            </a:fld>
            <a:endParaRPr lang="en-IN"/>
          </a:p>
        </p:txBody>
      </p:sp>
    </p:spTree>
    <p:extLst>
      <p:ext uri="{BB962C8B-B14F-4D97-AF65-F5344CB8AC3E}">
        <p14:creationId xmlns:p14="http://schemas.microsoft.com/office/powerpoint/2010/main" val="1452182981"/>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noChangeArrowheads="1"/>
          </p:cNvSpPr>
          <p:nvPr>
            <p:ph type="title"/>
          </p:nvPr>
        </p:nvSpPr>
        <p:spPr/>
        <p:txBody>
          <a:bodyPr/>
          <a:lstStyle/>
          <a:p>
            <a:r>
              <a:rPr lang="en-US" altLang="en-US" dirty="0"/>
              <a:t>Moss Life Cycle </a:t>
            </a:r>
            <a:r>
              <a:rPr lang="en-US" altLang="en-US" sz="1600" dirty="0"/>
              <a:t>4</a:t>
            </a:r>
          </a:p>
        </p:txBody>
      </p:sp>
      <p:pic>
        <p:nvPicPr>
          <p:cNvPr id="8" name="Picture 2" descr="Step 4 of the cycle is sporophyte.">
            <a:extLst>
              <a:ext uri="{FF2B5EF4-FFF2-40B4-BE49-F238E27FC236}">
                <a16:creationId xmlns:a16="http://schemas.microsoft.com/office/drawing/2014/main" id="{885D0446-51E6-498E-9AB3-C33D4BD3BBD8}"/>
              </a:ext>
            </a:extLst>
          </p:cNvPr>
          <p:cNvPicPr>
            <a:picLocks noChangeAspect="1"/>
          </p:cNvPicPr>
          <p:nvPr/>
        </p:nvPicPr>
        <p:blipFill rotWithShape="1">
          <a:blip r:embed="rId3">
            <a:extLst>
              <a:ext uri="{28A0092B-C50C-407E-A947-70E740481C1C}">
                <a14:useLocalDpi xmlns:a14="http://schemas.microsoft.com/office/drawing/2010/main" val="0"/>
              </a:ext>
            </a:extLst>
          </a:blip>
          <a:srcRect t="4846" b="2684"/>
          <a:stretch/>
        </p:blipFill>
        <p:spPr>
          <a:xfrm>
            <a:off x="1279597" y="886732"/>
            <a:ext cx="6583680" cy="5084536"/>
          </a:xfrm>
          <a:prstGeom prst="rect">
            <a:avLst/>
          </a:prstGeom>
        </p:spPr>
      </p:pic>
      <p:sp>
        <p:nvSpPr>
          <p:cNvPr id="5" name="Content Placeholder 3"/>
          <p:cNvSpPr>
            <a:spLocks noGrp="1"/>
          </p:cNvSpPr>
          <p:nvPr>
            <p:ph type="body" sz="quarter" idx="18"/>
          </p:nvPr>
        </p:nvSpPr>
        <p:spPr>
          <a:xfrm>
            <a:off x="520698" y="5971268"/>
            <a:ext cx="8101481" cy="314325"/>
          </a:xfrm>
        </p:spPr>
        <p:txBody>
          <a:bodyPr/>
          <a:lstStyle/>
          <a:p>
            <a:r>
              <a:rPr lang="en-US" sz="1200" dirty="0"/>
              <a:t>Figure 23.9</a:t>
            </a:r>
          </a:p>
        </p:txBody>
      </p:sp>
      <p:sp>
        <p:nvSpPr>
          <p:cNvPr id="16" name="Content Placeholder 4"/>
          <p:cNvSpPr>
            <a:spLocks noGrp="1"/>
          </p:cNvSpPr>
          <p:nvPr>
            <p:ph type="body" sz="quarter" idx="19"/>
          </p:nvPr>
        </p:nvSpPr>
        <p:spPr>
          <a:xfrm>
            <a:off x="2955618" y="6204460"/>
            <a:ext cx="3231639" cy="331219"/>
          </a:xfrm>
        </p:spPr>
        <p:txBody>
          <a:bodyPr anchor="ctr">
            <a:noAutofit/>
          </a:bodyPr>
          <a:lstStyle/>
          <a:p>
            <a:pPr algn="ctr"/>
            <a:r>
              <a:rPr lang="en-US" sz="1200" dirty="0">
                <a:hlinkClick r:id="rId4" action="ppaction://hlinksldjump"/>
              </a:rPr>
              <a:t>Access the text alternative for slide images.</a:t>
            </a:r>
            <a:endParaRPr lang="en-US" sz="1200" dirty="0"/>
          </a:p>
        </p:txBody>
      </p:sp>
      <p:sp>
        <p:nvSpPr>
          <p:cNvPr id="2" name="Text Placeholder 5">
            <a:extLst>
              <a:ext uri="{FF2B5EF4-FFF2-40B4-BE49-F238E27FC236}">
                <a16:creationId xmlns:a16="http://schemas.microsoft.com/office/drawing/2014/main" id="{0D77A4DC-0880-435B-9858-CFD67C4C5020}"/>
              </a:ext>
            </a:extLst>
          </p:cNvPr>
          <p:cNvSpPr>
            <a:spLocks noGrp="1"/>
          </p:cNvSpPr>
          <p:nvPr>
            <p:ph type="body" sz="quarter" idx="21"/>
          </p:nvPr>
        </p:nvSpPr>
        <p:spPr>
          <a:xfrm>
            <a:off x="4862556" y="6563439"/>
            <a:ext cx="3759623" cy="187739"/>
          </a:xfrm>
        </p:spPr>
        <p:txBody>
          <a:bodyPr/>
          <a:lstStyle/>
          <a:p>
            <a:pPr lvl="0" algn="r"/>
            <a:r>
              <a:rPr lang="en-US" sz="800" dirty="0"/>
              <a:t>(gametophyte):© Steven P. Lynch</a:t>
            </a:r>
            <a:endParaRPr lang="en-GB" sz="800" dirty="0"/>
          </a:p>
        </p:txBody>
      </p:sp>
      <p:sp>
        <p:nvSpPr>
          <p:cNvPr id="7" name="Slide Number Placeholder 6">
            <a:extLst>
              <a:ext uri="{FF2B5EF4-FFF2-40B4-BE49-F238E27FC236}">
                <a16:creationId xmlns:a16="http://schemas.microsoft.com/office/drawing/2014/main" id="{3D2A132A-E885-4F05-ACD7-5E8317E82F92}"/>
              </a:ext>
            </a:extLst>
          </p:cNvPr>
          <p:cNvSpPr>
            <a:spLocks noGrp="1"/>
          </p:cNvSpPr>
          <p:nvPr>
            <p:ph type="sldNum" sz="quarter" idx="4"/>
          </p:nvPr>
        </p:nvSpPr>
        <p:spPr/>
        <p:txBody>
          <a:bodyPr/>
          <a:lstStyle/>
          <a:p>
            <a:fld id="{08F9AD23-695F-4808-8E99-6281554D0F77}" type="slidenum">
              <a:rPr lang="en-IN" smtClean="0"/>
              <a:t>26</a:t>
            </a:fld>
            <a:endParaRPr lang="en-IN"/>
          </a:p>
        </p:txBody>
      </p:sp>
    </p:spTree>
    <p:extLst>
      <p:ext uri="{BB962C8B-B14F-4D97-AF65-F5344CB8AC3E}">
        <p14:creationId xmlns:p14="http://schemas.microsoft.com/office/powerpoint/2010/main" val="1119099254"/>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noChangeArrowheads="1"/>
          </p:cNvSpPr>
          <p:nvPr>
            <p:ph type="title"/>
          </p:nvPr>
        </p:nvSpPr>
        <p:spPr/>
        <p:txBody>
          <a:bodyPr/>
          <a:lstStyle/>
          <a:p>
            <a:r>
              <a:rPr lang="en-US" altLang="en-US" dirty="0"/>
              <a:t>Moss Life Cycle </a:t>
            </a:r>
            <a:r>
              <a:rPr lang="en-US" altLang="en-US" sz="1600" dirty="0"/>
              <a:t>5</a:t>
            </a:r>
          </a:p>
        </p:txBody>
      </p:sp>
      <p:pic>
        <p:nvPicPr>
          <p:cNvPr id="9" name="Picture 2" descr="Step 5, of the cycle is formation of spores.">
            <a:extLst>
              <a:ext uri="{FF2B5EF4-FFF2-40B4-BE49-F238E27FC236}">
                <a16:creationId xmlns:a16="http://schemas.microsoft.com/office/drawing/2014/main" id="{2580D05E-FB97-42C2-A5F8-2DBABF32DAA0}"/>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4086" b="2415"/>
          <a:stretch/>
        </p:blipFill>
        <p:spPr>
          <a:xfrm>
            <a:off x="1666306" y="932656"/>
            <a:ext cx="6392500" cy="4992687"/>
          </a:xfrm>
          <a:prstGeom prst="rect">
            <a:avLst/>
          </a:prstGeom>
        </p:spPr>
      </p:pic>
      <p:sp>
        <p:nvSpPr>
          <p:cNvPr id="5" name="Content Placeholder 3"/>
          <p:cNvSpPr>
            <a:spLocks noGrp="1"/>
          </p:cNvSpPr>
          <p:nvPr>
            <p:ph type="body" sz="quarter" idx="18"/>
          </p:nvPr>
        </p:nvSpPr>
        <p:spPr>
          <a:xfrm>
            <a:off x="520698" y="5971268"/>
            <a:ext cx="8101481" cy="314325"/>
          </a:xfrm>
        </p:spPr>
        <p:txBody>
          <a:bodyPr/>
          <a:lstStyle/>
          <a:p>
            <a:r>
              <a:rPr lang="en-US" sz="1200" dirty="0"/>
              <a:t>Figure 23.9</a:t>
            </a:r>
          </a:p>
        </p:txBody>
      </p:sp>
      <p:sp>
        <p:nvSpPr>
          <p:cNvPr id="16" name="Content Placeholder 4"/>
          <p:cNvSpPr>
            <a:spLocks noGrp="1"/>
          </p:cNvSpPr>
          <p:nvPr>
            <p:ph type="body" sz="quarter" idx="19"/>
          </p:nvPr>
        </p:nvSpPr>
        <p:spPr>
          <a:xfrm>
            <a:off x="2955618" y="6204460"/>
            <a:ext cx="3231639" cy="331219"/>
          </a:xfrm>
        </p:spPr>
        <p:txBody>
          <a:bodyPr anchor="ctr">
            <a:noAutofit/>
          </a:bodyPr>
          <a:lstStyle/>
          <a:p>
            <a:pPr algn="ctr"/>
            <a:r>
              <a:rPr lang="en-US" sz="1200" dirty="0">
                <a:hlinkClick r:id="rId4" action="ppaction://hlinksldjump"/>
              </a:rPr>
              <a:t>Access the text alternative for slide images.</a:t>
            </a:r>
            <a:endParaRPr lang="en-US" sz="1200" dirty="0"/>
          </a:p>
        </p:txBody>
      </p:sp>
      <p:sp>
        <p:nvSpPr>
          <p:cNvPr id="2" name="Text Placeholder 5">
            <a:extLst>
              <a:ext uri="{FF2B5EF4-FFF2-40B4-BE49-F238E27FC236}">
                <a16:creationId xmlns:a16="http://schemas.microsoft.com/office/drawing/2014/main" id="{0D77A4DC-0880-435B-9858-CFD67C4C5020}"/>
              </a:ext>
            </a:extLst>
          </p:cNvPr>
          <p:cNvSpPr>
            <a:spLocks noGrp="1"/>
          </p:cNvSpPr>
          <p:nvPr>
            <p:ph type="body" sz="quarter" idx="21"/>
          </p:nvPr>
        </p:nvSpPr>
        <p:spPr>
          <a:xfrm>
            <a:off x="4862556" y="6563439"/>
            <a:ext cx="3759623" cy="187739"/>
          </a:xfrm>
        </p:spPr>
        <p:txBody>
          <a:bodyPr/>
          <a:lstStyle/>
          <a:p>
            <a:pPr lvl="0" algn="r"/>
            <a:r>
              <a:rPr lang="en-US" sz="800" dirty="0"/>
              <a:t>(gametophyte):© Steven P. Lynch</a:t>
            </a:r>
            <a:endParaRPr lang="en-GB" sz="800" dirty="0"/>
          </a:p>
        </p:txBody>
      </p:sp>
      <p:sp>
        <p:nvSpPr>
          <p:cNvPr id="7" name="Slide Number Placeholder 6">
            <a:extLst>
              <a:ext uri="{FF2B5EF4-FFF2-40B4-BE49-F238E27FC236}">
                <a16:creationId xmlns:a16="http://schemas.microsoft.com/office/drawing/2014/main" id="{3D2A132A-E885-4F05-ACD7-5E8317E82F92}"/>
              </a:ext>
            </a:extLst>
          </p:cNvPr>
          <p:cNvSpPr>
            <a:spLocks noGrp="1"/>
          </p:cNvSpPr>
          <p:nvPr>
            <p:ph type="sldNum" sz="quarter" idx="4"/>
          </p:nvPr>
        </p:nvSpPr>
        <p:spPr/>
        <p:txBody>
          <a:bodyPr/>
          <a:lstStyle/>
          <a:p>
            <a:fld id="{08F9AD23-695F-4808-8E99-6281554D0F77}" type="slidenum">
              <a:rPr lang="en-IN" smtClean="0"/>
              <a:t>27</a:t>
            </a:fld>
            <a:endParaRPr lang="en-IN"/>
          </a:p>
        </p:txBody>
      </p:sp>
    </p:spTree>
    <p:extLst>
      <p:ext uri="{BB962C8B-B14F-4D97-AF65-F5344CB8AC3E}">
        <p14:creationId xmlns:p14="http://schemas.microsoft.com/office/powerpoint/2010/main" val="1996499106"/>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noChangeArrowheads="1"/>
          </p:cNvSpPr>
          <p:nvPr>
            <p:ph type="title"/>
          </p:nvPr>
        </p:nvSpPr>
        <p:spPr/>
        <p:txBody>
          <a:bodyPr/>
          <a:lstStyle/>
          <a:p>
            <a:r>
              <a:rPr lang="en-US" altLang="en-US" dirty="0"/>
              <a:t>Moss Life Cycle </a:t>
            </a:r>
            <a:r>
              <a:rPr lang="en-US" altLang="en-US" sz="1600" dirty="0"/>
              <a:t>6</a:t>
            </a:r>
          </a:p>
        </p:txBody>
      </p:sp>
      <p:pic>
        <p:nvPicPr>
          <p:cNvPr id="7" name="Picture 2" descr="Step 6, spores are released when they are most likely to be dispersed by air currents.">
            <a:extLst>
              <a:ext uri="{FF2B5EF4-FFF2-40B4-BE49-F238E27FC236}">
                <a16:creationId xmlns:a16="http://schemas.microsoft.com/office/drawing/2014/main" id="{CC9727E8-14B9-461A-A7DF-2758782C4FDA}"/>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5271" b="2441"/>
          <a:stretch/>
        </p:blipFill>
        <p:spPr>
          <a:xfrm>
            <a:off x="1351060" y="1100137"/>
            <a:ext cx="6612256" cy="5097463"/>
          </a:xfrm>
          <a:prstGeom prst="rect">
            <a:avLst/>
          </a:prstGeom>
        </p:spPr>
      </p:pic>
      <p:sp>
        <p:nvSpPr>
          <p:cNvPr id="9" name="Content Placeholder 3"/>
          <p:cNvSpPr>
            <a:spLocks noGrp="1"/>
          </p:cNvSpPr>
          <p:nvPr>
            <p:ph type="body" sz="quarter" idx="19"/>
          </p:nvPr>
        </p:nvSpPr>
        <p:spPr>
          <a:xfrm>
            <a:off x="3939404" y="6231232"/>
            <a:ext cx="1265192" cy="276687"/>
          </a:xfrm>
        </p:spPr>
        <p:txBody>
          <a:bodyPr anchor="ctr">
            <a:noAutofit/>
          </a:bodyPr>
          <a:lstStyle/>
          <a:p>
            <a:pPr algn="ctr"/>
            <a:r>
              <a:rPr lang="en-US" sz="1200" dirty="0"/>
              <a:t>Figure 23.9</a:t>
            </a:r>
          </a:p>
        </p:txBody>
      </p:sp>
      <p:sp>
        <p:nvSpPr>
          <p:cNvPr id="2" name="Text Placeholder 4">
            <a:extLst>
              <a:ext uri="{FF2B5EF4-FFF2-40B4-BE49-F238E27FC236}">
                <a16:creationId xmlns:a16="http://schemas.microsoft.com/office/drawing/2014/main" id="{68D28DDD-0FED-4964-A530-70D4B2F3ECA6}"/>
              </a:ext>
            </a:extLst>
          </p:cNvPr>
          <p:cNvSpPr>
            <a:spLocks noGrp="1"/>
          </p:cNvSpPr>
          <p:nvPr>
            <p:ph type="body" sz="quarter" idx="20"/>
          </p:nvPr>
        </p:nvSpPr>
        <p:spPr>
          <a:xfrm>
            <a:off x="6887910" y="6558416"/>
            <a:ext cx="1809580" cy="213329"/>
          </a:xfrm>
        </p:spPr>
        <p:txBody>
          <a:bodyPr>
            <a:normAutofit lnSpcReduction="10000"/>
          </a:bodyPr>
          <a:lstStyle/>
          <a:p>
            <a:pPr lvl="0" algn="r"/>
            <a:r>
              <a:rPr lang="en-US" sz="800" dirty="0"/>
              <a:t>(gametophyte):© Steven P. Lynch</a:t>
            </a:r>
            <a:endParaRPr lang="en-GB" sz="800" dirty="0"/>
          </a:p>
        </p:txBody>
      </p:sp>
      <p:sp>
        <p:nvSpPr>
          <p:cNvPr id="6" name="Slide Number Placeholder 5">
            <a:extLst>
              <a:ext uri="{FF2B5EF4-FFF2-40B4-BE49-F238E27FC236}">
                <a16:creationId xmlns:a16="http://schemas.microsoft.com/office/drawing/2014/main" id="{6AEA5945-9DE0-455E-ADF1-A8A664CEC524}"/>
              </a:ext>
            </a:extLst>
          </p:cNvPr>
          <p:cNvSpPr>
            <a:spLocks noGrp="1"/>
          </p:cNvSpPr>
          <p:nvPr>
            <p:ph type="sldNum" sz="quarter" idx="4"/>
          </p:nvPr>
        </p:nvSpPr>
        <p:spPr/>
        <p:txBody>
          <a:bodyPr/>
          <a:lstStyle/>
          <a:p>
            <a:fld id="{08F9AD23-695F-4808-8E99-6281554D0F77}" type="slidenum">
              <a:rPr lang="en-IN" smtClean="0"/>
              <a:t>28</a:t>
            </a:fld>
            <a:endParaRPr lang="en-IN"/>
          </a:p>
        </p:txBody>
      </p:sp>
    </p:spTree>
    <p:extLst>
      <p:ext uri="{BB962C8B-B14F-4D97-AF65-F5344CB8AC3E}">
        <p14:creationId xmlns:p14="http://schemas.microsoft.com/office/powerpoint/2010/main" val="3720334228"/>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noChangeArrowheads="1"/>
          </p:cNvSpPr>
          <p:nvPr>
            <p:ph type="title"/>
          </p:nvPr>
        </p:nvSpPr>
        <p:spPr/>
        <p:txBody>
          <a:bodyPr/>
          <a:lstStyle/>
          <a:p>
            <a:r>
              <a:rPr lang="en-US" altLang="en-US" dirty="0"/>
              <a:t>Moss Life Cycle </a:t>
            </a:r>
            <a:r>
              <a:rPr lang="en-US" altLang="en-US" sz="1600" dirty="0"/>
              <a:t>7</a:t>
            </a:r>
          </a:p>
        </p:txBody>
      </p:sp>
      <p:pic>
        <p:nvPicPr>
          <p:cNvPr id="7" name="Picture 2" descr="Step 7, the immature gametophyte reads:  spore germinates into male or a female protonema, the first stage of the male and the female gametophytes.">
            <a:extLst>
              <a:ext uri="{FF2B5EF4-FFF2-40B4-BE49-F238E27FC236}">
                <a16:creationId xmlns:a16="http://schemas.microsoft.com/office/drawing/2014/main" id="{5FCB3013-AFF7-41A2-9D0D-99AC5314CC38}"/>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4834" b="2453"/>
          <a:stretch/>
        </p:blipFill>
        <p:spPr>
          <a:xfrm>
            <a:off x="1470596" y="1100137"/>
            <a:ext cx="6581929" cy="5097463"/>
          </a:xfrm>
          <a:prstGeom prst="rect">
            <a:avLst/>
          </a:prstGeom>
        </p:spPr>
      </p:pic>
      <p:sp>
        <p:nvSpPr>
          <p:cNvPr id="9" name="Content Placeholder 3"/>
          <p:cNvSpPr>
            <a:spLocks noGrp="1"/>
          </p:cNvSpPr>
          <p:nvPr>
            <p:ph type="body" sz="quarter" idx="19"/>
          </p:nvPr>
        </p:nvSpPr>
        <p:spPr>
          <a:xfrm>
            <a:off x="3939404" y="6231232"/>
            <a:ext cx="1265192" cy="276687"/>
          </a:xfrm>
        </p:spPr>
        <p:txBody>
          <a:bodyPr anchor="ctr">
            <a:noAutofit/>
          </a:bodyPr>
          <a:lstStyle/>
          <a:p>
            <a:pPr algn="ctr"/>
            <a:r>
              <a:rPr lang="en-US" sz="1200" dirty="0"/>
              <a:t>Figure 23.9</a:t>
            </a:r>
          </a:p>
        </p:txBody>
      </p:sp>
      <p:sp>
        <p:nvSpPr>
          <p:cNvPr id="2" name="Text Placeholder 4">
            <a:extLst>
              <a:ext uri="{FF2B5EF4-FFF2-40B4-BE49-F238E27FC236}">
                <a16:creationId xmlns:a16="http://schemas.microsoft.com/office/drawing/2014/main" id="{68D28DDD-0FED-4964-A530-70D4B2F3ECA6}"/>
              </a:ext>
            </a:extLst>
          </p:cNvPr>
          <p:cNvSpPr>
            <a:spLocks noGrp="1"/>
          </p:cNvSpPr>
          <p:nvPr>
            <p:ph type="body" sz="quarter" idx="20"/>
          </p:nvPr>
        </p:nvSpPr>
        <p:spPr>
          <a:xfrm>
            <a:off x="6887910" y="6558416"/>
            <a:ext cx="1809580" cy="213329"/>
          </a:xfrm>
        </p:spPr>
        <p:txBody>
          <a:bodyPr>
            <a:normAutofit lnSpcReduction="10000"/>
          </a:bodyPr>
          <a:lstStyle/>
          <a:p>
            <a:pPr lvl="0" algn="r"/>
            <a:r>
              <a:rPr lang="en-US" sz="800" dirty="0"/>
              <a:t>(gametophyte):© Steven P. Lynch</a:t>
            </a:r>
            <a:endParaRPr lang="en-GB" sz="800" dirty="0"/>
          </a:p>
        </p:txBody>
      </p:sp>
      <p:sp>
        <p:nvSpPr>
          <p:cNvPr id="6" name="Slide Number Placeholder 5">
            <a:extLst>
              <a:ext uri="{FF2B5EF4-FFF2-40B4-BE49-F238E27FC236}">
                <a16:creationId xmlns:a16="http://schemas.microsoft.com/office/drawing/2014/main" id="{6AEA5945-9DE0-455E-ADF1-A8A664CEC524}"/>
              </a:ext>
            </a:extLst>
          </p:cNvPr>
          <p:cNvSpPr>
            <a:spLocks noGrp="1"/>
          </p:cNvSpPr>
          <p:nvPr>
            <p:ph type="sldNum" sz="quarter" idx="4"/>
          </p:nvPr>
        </p:nvSpPr>
        <p:spPr/>
        <p:txBody>
          <a:bodyPr/>
          <a:lstStyle/>
          <a:p>
            <a:fld id="{08F9AD23-695F-4808-8E99-6281554D0F77}" type="slidenum">
              <a:rPr lang="en-IN" smtClean="0"/>
              <a:t>29</a:t>
            </a:fld>
            <a:endParaRPr lang="en-IN"/>
          </a:p>
        </p:txBody>
      </p:sp>
    </p:spTree>
    <p:extLst>
      <p:ext uri="{BB962C8B-B14F-4D97-AF65-F5344CB8AC3E}">
        <p14:creationId xmlns:p14="http://schemas.microsoft.com/office/powerpoint/2010/main" val="3512100312"/>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noChangeArrowheads="1"/>
          </p:cNvSpPr>
          <p:nvPr>
            <p:ph type="title"/>
          </p:nvPr>
        </p:nvSpPr>
        <p:spPr/>
        <p:txBody>
          <a:bodyPr/>
          <a:lstStyle/>
          <a:p>
            <a:r>
              <a:rPr lang="en-US" altLang="en-US" dirty="0"/>
              <a:t>Moss Life Cycle </a:t>
            </a:r>
            <a:r>
              <a:rPr lang="en-US" altLang="en-US" sz="1600" dirty="0"/>
              <a:t>8</a:t>
            </a:r>
          </a:p>
        </p:txBody>
      </p:sp>
      <p:pic>
        <p:nvPicPr>
          <p:cNvPr id="17" name="Picture 2" descr="Diagram of  moss life cycle with gamete formation, fertilization, spore formation, dispersal, zygote, gametophyte formation as described from 1 to 7."/>
          <p:cNvPicPr>
            <a:picLocks noChangeAspect="1"/>
          </p:cNvPicPr>
          <p:nvPr/>
        </p:nvPicPr>
        <p:blipFill rotWithShape="1">
          <a:blip r:embed="rId3" cstate="print">
            <a:extLst>
              <a:ext uri="{28A0092B-C50C-407E-A947-70E740481C1C}">
                <a14:useLocalDpi xmlns:a14="http://schemas.microsoft.com/office/drawing/2010/main" val="0"/>
              </a:ext>
            </a:extLst>
          </a:blip>
          <a:srcRect t="4403" b="2453"/>
          <a:stretch/>
        </p:blipFill>
        <p:spPr>
          <a:xfrm>
            <a:off x="1281035" y="726816"/>
            <a:ext cx="6581929" cy="5121155"/>
          </a:xfrm>
          <a:prstGeom prst="rect">
            <a:avLst/>
          </a:prstGeom>
        </p:spPr>
      </p:pic>
      <p:sp>
        <p:nvSpPr>
          <p:cNvPr id="5" name="Content Placeholder 3"/>
          <p:cNvSpPr>
            <a:spLocks noGrp="1"/>
          </p:cNvSpPr>
          <p:nvPr>
            <p:ph type="body" sz="quarter" idx="18"/>
          </p:nvPr>
        </p:nvSpPr>
        <p:spPr>
          <a:xfrm>
            <a:off x="520698" y="5835859"/>
            <a:ext cx="8101481" cy="314325"/>
          </a:xfrm>
        </p:spPr>
        <p:txBody>
          <a:bodyPr/>
          <a:lstStyle/>
          <a:p>
            <a:r>
              <a:rPr lang="en-US" sz="1200" dirty="0"/>
              <a:t>Figure 23.9</a:t>
            </a:r>
          </a:p>
        </p:txBody>
      </p:sp>
      <p:sp>
        <p:nvSpPr>
          <p:cNvPr id="16" name="Content Placeholder 4"/>
          <p:cNvSpPr>
            <a:spLocks noGrp="1"/>
          </p:cNvSpPr>
          <p:nvPr>
            <p:ph type="body" sz="quarter" idx="19"/>
          </p:nvPr>
        </p:nvSpPr>
        <p:spPr>
          <a:xfrm>
            <a:off x="2955618" y="6204460"/>
            <a:ext cx="3231639" cy="331219"/>
          </a:xfrm>
        </p:spPr>
        <p:txBody>
          <a:bodyPr anchor="ctr">
            <a:noAutofit/>
          </a:bodyPr>
          <a:lstStyle/>
          <a:p>
            <a:pPr algn="ctr"/>
            <a:r>
              <a:rPr lang="en-US" sz="1200" dirty="0">
                <a:hlinkClick r:id="rId4" action="ppaction://hlinksldjump"/>
              </a:rPr>
              <a:t>Access the text alternative for slide images.</a:t>
            </a:r>
            <a:endParaRPr lang="en-US" sz="1200" dirty="0"/>
          </a:p>
        </p:txBody>
      </p:sp>
      <p:sp>
        <p:nvSpPr>
          <p:cNvPr id="2" name="Text Placeholder 5">
            <a:extLst>
              <a:ext uri="{FF2B5EF4-FFF2-40B4-BE49-F238E27FC236}">
                <a16:creationId xmlns:a16="http://schemas.microsoft.com/office/drawing/2014/main" id="{0D77A4DC-0880-435B-9858-CFD67C4C5020}"/>
              </a:ext>
            </a:extLst>
          </p:cNvPr>
          <p:cNvSpPr>
            <a:spLocks noGrp="1"/>
          </p:cNvSpPr>
          <p:nvPr>
            <p:ph type="body" sz="quarter" idx="21"/>
          </p:nvPr>
        </p:nvSpPr>
        <p:spPr>
          <a:xfrm>
            <a:off x="4862556" y="6563439"/>
            <a:ext cx="3759623" cy="187739"/>
          </a:xfrm>
        </p:spPr>
        <p:txBody>
          <a:bodyPr/>
          <a:lstStyle/>
          <a:p>
            <a:pPr lvl="0"/>
            <a:r>
              <a:rPr lang="en-US" sz="800" dirty="0"/>
              <a:t>(sporophyte): © Peter Arnold, Inc./</a:t>
            </a:r>
            <a:r>
              <a:rPr lang="en-US" sz="800" dirty="0" err="1"/>
              <a:t>Alamy</a:t>
            </a:r>
            <a:r>
              <a:rPr lang="en-US" sz="800" dirty="0"/>
              <a:t>: (gametophyte): © Steven P. Lynch</a:t>
            </a:r>
            <a:endParaRPr lang="en-GB" sz="800" dirty="0"/>
          </a:p>
        </p:txBody>
      </p:sp>
      <p:sp>
        <p:nvSpPr>
          <p:cNvPr id="7" name="Slide Number Placeholder 6">
            <a:extLst>
              <a:ext uri="{FF2B5EF4-FFF2-40B4-BE49-F238E27FC236}">
                <a16:creationId xmlns:a16="http://schemas.microsoft.com/office/drawing/2014/main" id="{3D2A132A-E885-4F05-ACD7-5E8317E82F92}"/>
              </a:ext>
            </a:extLst>
          </p:cNvPr>
          <p:cNvSpPr>
            <a:spLocks noGrp="1"/>
          </p:cNvSpPr>
          <p:nvPr>
            <p:ph type="sldNum" sz="quarter" idx="4"/>
          </p:nvPr>
        </p:nvSpPr>
        <p:spPr/>
        <p:txBody>
          <a:bodyPr/>
          <a:lstStyle/>
          <a:p>
            <a:fld id="{08F9AD23-695F-4808-8E99-6281554D0F77}" type="slidenum">
              <a:rPr lang="en-IN" smtClean="0"/>
              <a:t>30</a:t>
            </a:fld>
            <a:endParaRPr lang="en-IN"/>
          </a:p>
        </p:txBody>
      </p:sp>
    </p:spTree>
    <p:extLst>
      <p:ext uri="{BB962C8B-B14F-4D97-AF65-F5344CB8AC3E}">
        <p14:creationId xmlns:p14="http://schemas.microsoft.com/office/powerpoint/2010/main" val="2970487939"/>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noChangeArrowheads="1"/>
          </p:cNvSpPr>
          <p:nvPr>
            <p:ph type="title"/>
          </p:nvPr>
        </p:nvSpPr>
        <p:spPr>
          <a:xfrm>
            <a:off x="342900" y="0"/>
            <a:ext cx="8458200" cy="1215342"/>
          </a:xfrm>
        </p:spPr>
        <p:txBody>
          <a:bodyPr>
            <a:normAutofit/>
          </a:bodyPr>
          <a:lstStyle/>
          <a:p>
            <a:r>
              <a:rPr lang="en-US" altLang="en-US" dirty="0"/>
              <a:t>23.3 Evolution of Lycophytes: Vascular Tissue</a:t>
            </a:r>
          </a:p>
        </p:txBody>
      </p:sp>
      <p:sp>
        <p:nvSpPr>
          <p:cNvPr id="22531" name="Content Placeholder 2"/>
          <p:cNvSpPr>
            <a:spLocks noGrp="1" noChangeArrowheads="1"/>
          </p:cNvSpPr>
          <p:nvPr>
            <p:ph idx="1"/>
          </p:nvPr>
        </p:nvSpPr>
        <p:spPr>
          <a:xfrm>
            <a:off x="457200" y="1564341"/>
            <a:ext cx="8073614" cy="5036997"/>
          </a:xfrm>
        </p:spPr>
        <p:txBody>
          <a:bodyPr>
            <a:normAutofit/>
          </a:bodyPr>
          <a:lstStyle/>
          <a:p>
            <a:pPr>
              <a:spcBef>
                <a:spcPts val="0"/>
              </a:spcBef>
              <a:spcAft>
                <a:spcPts val="1500"/>
              </a:spcAft>
            </a:pPr>
            <a:r>
              <a:rPr lang="en-US" sz="2400" b="1" dirty="0">
                <a:solidFill>
                  <a:srgbClr val="D90000"/>
                </a:solidFill>
              </a:rPr>
              <a:t>Vascular plants </a:t>
            </a:r>
            <a:r>
              <a:rPr lang="en-US" sz="2400" dirty="0"/>
              <a:t>(tracheophytes) dominate the natural terrestrial landscape</a:t>
            </a:r>
          </a:p>
          <a:p>
            <a:pPr lvl="1">
              <a:spcBef>
                <a:spcPts val="0"/>
              </a:spcBef>
              <a:spcAft>
                <a:spcPts val="1500"/>
              </a:spcAft>
              <a:buFont typeface="Arial" panose="020B0604020202020204" pitchFamily="34" charset="0"/>
              <a:buChar char="•"/>
            </a:pPr>
            <a:r>
              <a:rPr lang="en-US" sz="2200" dirty="0"/>
              <a:t>Can achieve great heights because of roots and vascular tissue and nutrient-conducting tissue:</a:t>
            </a:r>
          </a:p>
          <a:p>
            <a:pPr marL="625475" lvl="2" indent="-266700">
              <a:spcBef>
                <a:spcPts val="0"/>
              </a:spcBef>
              <a:spcAft>
                <a:spcPts val="1500"/>
              </a:spcAft>
              <a:buFont typeface="Arial" panose="020B0604020202020204" pitchFamily="34" charset="0"/>
              <a:buChar char="•"/>
            </a:pPr>
            <a:r>
              <a:rPr lang="en-US" sz="2000" b="1" dirty="0">
                <a:solidFill>
                  <a:srgbClr val="D90000"/>
                </a:solidFill>
              </a:rPr>
              <a:t>Xylem</a:t>
            </a:r>
            <a:r>
              <a:rPr lang="en-US" sz="2000" dirty="0"/>
              <a:t> conducts water and dissolved minerals up from roots</a:t>
            </a:r>
          </a:p>
          <a:p>
            <a:pPr marL="890588" lvl="3" indent="-265113">
              <a:spcBef>
                <a:spcPts val="0"/>
              </a:spcBef>
              <a:spcAft>
                <a:spcPts val="1500"/>
              </a:spcAft>
              <a:buFont typeface="Arial" panose="020B0604020202020204" pitchFamily="34" charset="0"/>
              <a:buChar char="•"/>
            </a:pPr>
            <a:r>
              <a:rPr lang="en-US" sz="1800" b="1" dirty="0">
                <a:solidFill>
                  <a:srgbClr val="D90000"/>
                </a:solidFill>
              </a:rPr>
              <a:t>Lignin</a:t>
            </a:r>
            <a:r>
              <a:rPr lang="en-US" sz="1800" dirty="0"/>
              <a:t> strengthens cell walls of conducting cells in xylem</a:t>
            </a:r>
          </a:p>
          <a:p>
            <a:pPr marL="625475" lvl="2" indent="-266700">
              <a:spcBef>
                <a:spcPts val="0"/>
              </a:spcBef>
              <a:spcAft>
                <a:spcPts val="1500"/>
              </a:spcAft>
              <a:buFont typeface="Arial" panose="020B0604020202020204" pitchFamily="34" charset="0"/>
              <a:buChar char="•"/>
            </a:pPr>
            <a:r>
              <a:rPr lang="en-US" sz="2000" b="1" dirty="0">
                <a:solidFill>
                  <a:srgbClr val="D90000"/>
                </a:solidFill>
              </a:rPr>
              <a:t>Phloem</a:t>
            </a:r>
            <a:r>
              <a:rPr lang="en-US" sz="2000" dirty="0"/>
              <a:t> conducts sucrose and other organic compounds throughout the plant</a:t>
            </a:r>
          </a:p>
        </p:txBody>
      </p:sp>
      <p:sp>
        <p:nvSpPr>
          <p:cNvPr id="4" name="Slide Number Placeholder 3">
            <a:extLst>
              <a:ext uri="{FF2B5EF4-FFF2-40B4-BE49-F238E27FC236}">
                <a16:creationId xmlns:a16="http://schemas.microsoft.com/office/drawing/2014/main" id="{3A0C4A87-71E2-4453-98DC-889EE62DFD22}"/>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31</a:t>
            </a:fld>
            <a:endParaRPr lang="en-IN"/>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noChangeArrowheads="1"/>
          </p:cNvSpPr>
          <p:nvPr>
            <p:ph type="title"/>
          </p:nvPr>
        </p:nvSpPr>
        <p:spPr/>
        <p:txBody>
          <a:bodyPr/>
          <a:lstStyle/>
          <a:p>
            <a:r>
              <a:rPr lang="en-US" altLang="en-US" dirty="0"/>
              <a:t>The Origin of Vascular Plants</a:t>
            </a:r>
          </a:p>
        </p:txBody>
      </p:sp>
      <p:sp>
        <p:nvSpPr>
          <p:cNvPr id="22531" name="Content Placeholder 2"/>
          <p:cNvSpPr>
            <a:spLocks noGrp="1" noChangeArrowheads="1"/>
          </p:cNvSpPr>
          <p:nvPr>
            <p:ph idx="1"/>
          </p:nvPr>
        </p:nvSpPr>
        <p:spPr>
          <a:xfrm>
            <a:off x="457200" y="1295400"/>
            <a:ext cx="7760825" cy="5036997"/>
          </a:xfrm>
        </p:spPr>
        <p:txBody>
          <a:bodyPr>
            <a:noAutofit/>
          </a:bodyPr>
          <a:lstStyle/>
          <a:p>
            <a:pPr>
              <a:spcBef>
                <a:spcPts val="0"/>
              </a:spcBef>
              <a:spcAft>
                <a:spcPts val="1500"/>
              </a:spcAft>
            </a:pPr>
            <a:r>
              <a:rPr lang="en-US" sz="2400" dirty="0"/>
              <a:t>F</a:t>
            </a:r>
            <a:r>
              <a:rPr lang="en-US" sz="2400" b="0" i="0" u="none" strike="noStrike" baseline="0" dirty="0"/>
              <a:t>ossil record indicates that the first vascular plants, such as </a:t>
            </a:r>
            <a:r>
              <a:rPr lang="en-US" sz="2400" b="0" i="1" u="none" strike="noStrike" baseline="0" dirty="0" err="1"/>
              <a:t>Cooksonia</a:t>
            </a:r>
            <a:r>
              <a:rPr lang="en-US" sz="2400" b="0" i="1" u="none" strike="noStrike" baseline="0" dirty="0"/>
              <a:t>, </a:t>
            </a:r>
            <a:r>
              <a:rPr lang="en-US" sz="2400" b="0" i="0" u="none" strike="noStrike" baseline="0" dirty="0"/>
              <a:t>were more likely bushes than trees</a:t>
            </a:r>
          </a:p>
          <a:p>
            <a:pPr lvl="1">
              <a:spcBef>
                <a:spcPts val="0"/>
              </a:spcBef>
              <a:spcAft>
                <a:spcPts val="1500"/>
              </a:spcAft>
              <a:buFont typeface="Arial" panose="020B0604020202020204" pitchFamily="34" charset="0"/>
              <a:buChar char="•"/>
            </a:pPr>
            <a:r>
              <a:rPr lang="en-US" sz="2200" dirty="0"/>
              <a:t>B</a:t>
            </a:r>
            <a:r>
              <a:rPr lang="en-US" sz="2200" b="0" i="0" u="none" strike="noStrike" baseline="0" dirty="0"/>
              <a:t>ranching of </a:t>
            </a:r>
            <a:r>
              <a:rPr lang="en-US" sz="2200" b="0" i="1" u="none" strike="noStrike" baseline="0" dirty="0" err="1"/>
              <a:t>Cooksonia</a:t>
            </a:r>
            <a:r>
              <a:rPr lang="en-US" sz="2200" b="0" i="1" u="none" strike="noStrike" baseline="0" dirty="0"/>
              <a:t> </a:t>
            </a:r>
            <a:r>
              <a:rPr lang="en-US" sz="2200" b="0" i="0" u="none" strike="noStrike" baseline="0" dirty="0"/>
              <a:t>was significant for two reasons</a:t>
            </a:r>
            <a:r>
              <a:rPr lang="en-US" sz="2200" dirty="0"/>
              <a:t>:</a:t>
            </a:r>
          </a:p>
          <a:p>
            <a:pPr marL="625475" lvl="2" indent="-266700">
              <a:spcBef>
                <a:spcPts val="0"/>
              </a:spcBef>
              <a:spcAft>
                <a:spcPts val="1500"/>
              </a:spcAft>
              <a:buFont typeface="Arial" panose="020B0604020202020204" pitchFamily="34" charset="0"/>
              <a:buChar char="•"/>
            </a:pPr>
            <a:r>
              <a:rPr lang="en-US" sz="2000" b="0" i="0" u="none" strike="noStrike" baseline="0" dirty="0"/>
              <a:t>More sporangia were produced, and therefore many more spores</a:t>
            </a:r>
          </a:p>
          <a:p>
            <a:pPr marL="625475" lvl="2" indent="-266700">
              <a:spcBef>
                <a:spcPts val="0"/>
              </a:spcBef>
              <a:spcAft>
                <a:spcPts val="1500"/>
              </a:spcAft>
              <a:buFont typeface="Arial" panose="020B0604020202020204" pitchFamily="34" charset="0"/>
              <a:buChar char="•"/>
            </a:pPr>
            <a:r>
              <a:rPr lang="en-US" sz="2000" b="0" i="0" u="none" strike="noStrike" baseline="0" dirty="0"/>
              <a:t>Indicative of vascular tissue</a:t>
            </a:r>
          </a:p>
          <a:p>
            <a:pPr lvl="1">
              <a:spcBef>
                <a:spcPts val="0"/>
              </a:spcBef>
              <a:spcAft>
                <a:spcPts val="1500"/>
              </a:spcAft>
              <a:buFont typeface="Arial" panose="020B0604020202020204" pitchFamily="34" charset="0"/>
              <a:buChar char="•"/>
            </a:pPr>
            <a:r>
              <a:rPr lang="en-US" sz="2200" dirty="0"/>
              <a:t>S</a:t>
            </a:r>
            <a:r>
              <a:rPr lang="en-US" sz="2200" b="0" i="0" u="none" strike="noStrike" baseline="0" dirty="0"/>
              <a:t>porangia of </a:t>
            </a:r>
            <a:r>
              <a:rPr lang="en-US" sz="2200" b="0" i="1" u="none" strike="noStrike" baseline="0" dirty="0" err="1"/>
              <a:t>Cooksonia</a:t>
            </a:r>
            <a:r>
              <a:rPr lang="en-US" sz="2200" b="0" i="1" u="none" strike="noStrike" baseline="0" dirty="0"/>
              <a:t> </a:t>
            </a:r>
            <a:r>
              <a:rPr lang="en-US" sz="2200" b="0" i="0" u="none" strike="noStrike" baseline="0" dirty="0"/>
              <a:t>produced windblown spores</a:t>
            </a:r>
          </a:p>
          <a:p>
            <a:pPr marL="625475" lvl="2" indent="-266700">
              <a:spcBef>
                <a:spcPts val="0"/>
              </a:spcBef>
              <a:spcAft>
                <a:spcPts val="1500"/>
              </a:spcAft>
              <a:buFont typeface="Arial" panose="020B0604020202020204" pitchFamily="34" charset="0"/>
              <a:buChar char="•"/>
            </a:pPr>
            <a:r>
              <a:rPr lang="en-US" sz="2000" b="0" i="0" u="none" strike="noStrike" baseline="0" dirty="0"/>
              <a:t>This classifies it (and </a:t>
            </a:r>
            <a:r>
              <a:rPr lang="en-US" sz="2000" dirty="0"/>
              <a:t>other lycophytes and pteridophytes) </a:t>
            </a:r>
            <a:r>
              <a:rPr lang="en-US" sz="2000" b="0" i="0" u="none" strike="noStrike" baseline="0" dirty="0"/>
              <a:t>as </a:t>
            </a:r>
            <a:r>
              <a:rPr lang="en-US" sz="2000" b="1" i="0" u="none" strike="noStrike" baseline="0" dirty="0">
                <a:solidFill>
                  <a:srgbClr val="D90000"/>
                </a:solidFill>
              </a:rPr>
              <a:t>seedless vascular plants </a:t>
            </a:r>
          </a:p>
          <a:p>
            <a:pPr lvl="1">
              <a:spcBef>
                <a:spcPts val="0"/>
              </a:spcBef>
              <a:spcAft>
                <a:spcPts val="1500"/>
              </a:spcAft>
              <a:buFont typeface="Arial" panose="020B0604020202020204" pitchFamily="34" charset="0"/>
              <a:buChar char="•"/>
            </a:pPr>
            <a:r>
              <a:rPr lang="en-US" sz="2200" b="0" i="0" u="none" strike="noStrike" baseline="0" dirty="0"/>
              <a:t>Lycophytes and all other vascular plants have a dominant sporophyte generation</a:t>
            </a:r>
            <a:endParaRPr lang="en-US" sz="2200" dirty="0"/>
          </a:p>
        </p:txBody>
      </p:sp>
      <p:sp>
        <p:nvSpPr>
          <p:cNvPr id="4" name="Slide Number Placeholder 3">
            <a:extLst>
              <a:ext uri="{FF2B5EF4-FFF2-40B4-BE49-F238E27FC236}">
                <a16:creationId xmlns:a16="http://schemas.microsoft.com/office/drawing/2014/main" id="{451BE785-0DE4-4E05-96D4-A1321A789BFF}"/>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32</a:t>
            </a:fld>
            <a:endParaRPr lang="en-IN"/>
          </a:p>
        </p:txBody>
      </p:sp>
    </p:spTree>
    <p:extLst>
      <p:ext uri="{BB962C8B-B14F-4D97-AF65-F5344CB8AC3E}">
        <p14:creationId xmlns:p14="http://schemas.microsoft.com/office/powerpoint/2010/main" val="1327084038"/>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noChangeArrowheads="1"/>
          </p:cNvSpPr>
          <p:nvPr>
            <p:ph type="title"/>
          </p:nvPr>
        </p:nvSpPr>
        <p:spPr/>
        <p:txBody>
          <a:bodyPr/>
          <a:lstStyle/>
          <a:p>
            <a:r>
              <a:rPr lang="en-US" altLang="en-US" dirty="0"/>
              <a:t>A </a:t>
            </a:r>
            <a:r>
              <a:rPr lang="en-US" altLang="en-US" i="1" dirty="0"/>
              <a:t>Cooksonia</a:t>
            </a:r>
            <a:r>
              <a:rPr lang="en-US" altLang="en-US" dirty="0"/>
              <a:t> Fossil</a:t>
            </a:r>
          </a:p>
        </p:txBody>
      </p:sp>
      <p:pic>
        <p:nvPicPr>
          <p:cNvPr id="6" name="Picture 2" descr="The fossil, which is no more than a few centimeters tall and terminated in sporangia is evidence of vascular plant evolution."/>
          <p:cNvPicPr>
            <a:picLocks noChangeAspect="1"/>
          </p:cNvPicPr>
          <p:nvPr/>
        </p:nvPicPr>
        <p:blipFill>
          <a:blip r:embed="rId3"/>
          <a:stretch>
            <a:fillRect/>
          </a:stretch>
        </p:blipFill>
        <p:spPr>
          <a:xfrm>
            <a:off x="1190242" y="1182567"/>
            <a:ext cx="6763515" cy="4569427"/>
          </a:xfrm>
          <a:prstGeom prst="rect">
            <a:avLst/>
          </a:prstGeom>
        </p:spPr>
      </p:pic>
      <p:sp>
        <p:nvSpPr>
          <p:cNvPr id="4" name="Content Placeholder 3"/>
          <p:cNvSpPr>
            <a:spLocks noGrp="1"/>
          </p:cNvSpPr>
          <p:nvPr>
            <p:ph type="body" sz="quarter" idx="18"/>
          </p:nvPr>
        </p:nvSpPr>
        <p:spPr>
          <a:xfrm>
            <a:off x="520699" y="5862396"/>
            <a:ext cx="8101481" cy="314325"/>
          </a:xfrm>
        </p:spPr>
        <p:txBody>
          <a:bodyPr/>
          <a:lstStyle/>
          <a:p>
            <a:r>
              <a:rPr lang="en-US" sz="1200" dirty="0"/>
              <a:t>Figure 23.10</a:t>
            </a:r>
          </a:p>
        </p:txBody>
      </p:sp>
      <p:sp>
        <p:nvSpPr>
          <p:cNvPr id="8" name="Text Placeholder 4">
            <a:extLst>
              <a:ext uri="{FF2B5EF4-FFF2-40B4-BE49-F238E27FC236}">
                <a16:creationId xmlns:a16="http://schemas.microsoft.com/office/drawing/2014/main" id="{636C0754-1BF7-46A7-B0D5-A3E4F4DD5250}"/>
              </a:ext>
            </a:extLst>
          </p:cNvPr>
          <p:cNvSpPr>
            <a:spLocks noGrp="1"/>
          </p:cNvSpPr>
          <p:nvPr>
            <p:ph type="body" sz="quarter" idx="21"/>
          </p:nvPr>
        </p:nvSpPr>
        <p:spPr/>
        <p:txBody>
          <a:bodyPr/>
          <a:lstStyle/>
          <a:p>
            <a:r>
              <a:rPr lang="en-US" dirty="0"/>
              <a:t>(photo): Hans </a:t>
            </a:r>
            <a:r>
              <a:rPr lang="en-US" dirty="0" err="1"/>
              <a:t>Steur</a:t>
            </a:r>
            <a:r>
              <a:rPr lang="en-US" dirty="0"/>
              <a:t>, the Netherlands</a:t>
            </a:r>
          </a:p>
        </p:txBody>
      </p:sp>
      <p:sp>
        <p:nvSpPr>
          <p:cNvPr id="7" name="Slide Number Placeholder 5">
            <a:extLst>
              <a:ext uri="{FF2B5EF4-FFF2-40B4-BE49-F238E27FC236}">
                <a16:creationId xmlns:a16="http://schemas.microsoft.com/office/drawing/2014/main" id="{32C5AA4C-1AE6-4654-8C98-FE78B4C7BBC7}"/>
              </a:ext>
            </a:extLst>
          </p:cNvPr>
          <p:cNvSpPr>
            <a:spLocks noGrp="1"/>
          </p:cNvSpPr>
          <p:nvPr>
            <p:ph type="sldNum" sz="quarter" idx="4"/>
          </p:nvPr>
        </p:nvSpPr>
        <p:spPr/>
        <p:txBody>
          <a:bodyPr/>
          <a:lstStyle/>
          <a:p>
            <a:fld id="{08F9AD23-695F-4808-8E99-6281554D0F77}" type="slidenum">
              <a:rPr lang="en-IN" smtClean="0"/>
              <a:t>33</a:t>
            </a:fld>
            <a:endParaRPr lang="en-IN"/>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noChangeArrowheads="1"/>
          </p:cNvSpPr>
          <p:nvPr>
            <p:ph type="title"/>
          </p:nvPr>
        </p:nvSpPr>
        <p:spPr>
          <a:xfrm>
            <a:off x="450166" y="1"/>
            <a:ext cx="8236634" cy="737494"/>
          </a:xfrm>
        </p:spPr>
        <p:txBody>
          <a:bodyPr>
            <a:normAutofit/>
          </a:bodyPr>
          <a:lstStyle/>
          <a:p>
            <a:r>
              <a:rPr lang="en-US" altLang="en-US" dirty="0"/>
              <a:t>Lycophytes</a:t>
            </a:r>
          </a:p>
        </p:txBody>
      </p:sp>
      <p:sp>
        <p:nvSpPr>
          <p:cNvPr id="24579" name="Content Placeholer 2"/>
          <p:cNvSpPr>
            <a:spLocks noGrp="1" noChangeArrowheads="1"/>
          </p:cNvSpPr>
          <p:nvPr>
            <p:ph idx="1"/>
          </p:nvPr>
        </p:nvSpPr>
        <p:spPr>
          <a:xfrm>
            <a:off x="81024" y="606138"/>
            <a:ext cx="8398558" cy="6022121"/>
          </a:xfrm>
        </p:spPr>
        <p:txBody>
          <a:bodyPr>
            <a:noAutofit/>
          </a:bodyPr>
          <a:lstStyle/>
          <a:p>
            <a:pPr marL="290513" lvl="2" indent="0">
              <a:lnSpc>
                <a:spcPct val="120000"/>
              </a:lnSpc>
              <a:spcBef>
                <a:spcPts val="600"/>
              </a:spcBef>
              <a:spcAft>
                <a:spcPts val="0"/>
              </a:spcAft>
              <a:buNone/>
              <a:tabLst>
                <a:tab pos="204788" algn="l"/>
              </a:tabLst>
            </a:pPr>
            <a:r>
              <a:rPr lang="en-US" sz="2200" dirty="0"/>
              <a:t>Roots evolved as lower extensions of the stem</a:t>
            </a:r>
          </a:p>
          <a:p>
            <a:pPr marL="290513" lvl="2" indent="0">
              <a:lnSpc>
                <a:spcPct val="120000"/>
              </a:lnSpc>
              <a:spcBef>
                <a:spcPts val="600"/>
              </a:spcBef>
              <a:spcAft>
                <a:spcPts val="0"/>
              </a:spcAft>
              <a:buNone/>
              <a:tabLst>
                <a:tab pos="204788" algn="l"/>
              </a:tabLst>
            </a:pPr>
            <a:r>
              <a:rPr lang="en-US" sz="2200" dirty="0"/>
              <a:t>Leaves are </a:t>
            </a:r>
            <a:r>
              <a:rPr lang="en-US" sz="2200" b="1" dirty="0">
                <a:solidFill>
                  <a:srgbClr val="D90000"/>
                </a:solidFill>
              </a:rPr>
              <a:t>microphylls</a:t>
            </a:r>
            <a:r>
              <a:rPr lang="en-US" sz="2200" dirty="0"/>
              <a:t> </a:t>
            </a:r>
          </a:p>
          <a:p>
            <a:pPr marL="531813" lvl="3" indent="-265113">
              <a:lnSpc>
                <a:spcPct val="120000"/>
              </a:lnSpc>
              <a:spcBef>
                <a:spcPts val="600"/>
              </a:spcBef>
              <a:spcAft>
                <a:spcPts val="0"/>
              </a:spcAft>
              <a:buFont typeface="Arial" panose="020B0604020202020204" pitchFamily="34" charset="0"/>
              <a:buChar char="•"/>
              <a:tabLst>
                <a:tab pos="204788" algn="l"/>
              </a:tabLst>
            </a:pPr>
            <a:r>
              <a:rPr lang="en-US" sz="1800" dirty="0"/>
              <a:t>Have only one strand of vascular tissue</a:t>
            </a:r>
          </a:p>
          <a:p>
            <a:pPr marL="531813" lvl="3" indent="-265113">
              <a:lnSpc>
                <a:spcPct val="120000"/>
              </a:lnSpc>
              <a:spcBef>
                <a:spcPts val="600"/>
              </a:spcBef>
              <a:spcAft>
                <a:spcPts val="0"/>
              </a:spcAft>
              <a:buFont typeface="Arial" panose="020B0604020202020204" pitchFamily="34" charset="0"/>
              <a:buChar char="•"/>
            </a:pPr>
            <a:r>
              <a:rPr lang="en-US" sz="1800" dirty="0"/>
              <a:t>Most likely evolved as simple side extensions of the stem</a:t>
            </a:r>
          </a:p>
          <a:p>
            <a:pPr marL="303213" lvl="2" indent="0">
              <a:lnSpc>
                <a:spcPct val="120000"/>
              </a:lnSpc>
              <a:spcBef>
                <a:spcPts val="600"/>
              </a:spcBef>
              <a:spcAft>
                <a:spcPts val="0"/>
              </a:spcAft>
              <a:buNone/>
            </a:pPr>
            <a:r>
              <a:rPr lang="en-US" sz="2200" dirty="0"/>
              <a:t>Cone-shaped structure called a </a:t>
            </a:r>
            <a:r>
              <a:rPr lang="en-US" sz="2200" b="1" dirty="0">
                <a:solidFill>
                  <a:srgbClr val="D90000"/>
                </a:solidFill>
              </a:rPr>
              <a:t>strobili</a:t>
            </a:r>
            <a:r>
              <a:rPr lang="en-US" sz="2200" b="1" dirty="0">
                <a:solidFill>
                  <a:schemeClr val="bg2">
                    <a:lumMod val="25000"/>
                  </a:schemeClr>
                </a:solidFill>
              </a:rPr>
              <a:t> </a:t>
            </a:r>
            <a:r>
              <a:rPr lang="en-US" sz="2200" dirty="0"/>
              <a:t>produce spores by meiosis</a:t>
            </a:r>
          </a:p>
          <a:p>
            <a:pPr marL="290513" lvl="2" indent="0">
              <a:lnSpc>
                <a:spcPct val="120000"/>
              </a:lnSpc>
              <a:spcBef>
                <a:spcPts val="600"/>
              </a:spcBef>
              <a:spcAft>
                <a:spcPts val="0"/>
              </a:spcAft>
              <a:buNone/>
            </a:pPr>
            <a:r>
              <a:rPr lang="en-US" sz="2200" dirty="0"/>
              <a:t>Some lycophytes have spores that grow into one type of gamete (homosporous), others produce two types of spores (</a:t>
            </a:r>
            <a:r>
              <a:rPr lang="en-US" sz="2200" b="1" dirty="0">
                <a:solidFill>
                  <a:srgbClr val="D90000"/>
                </a:solidFill>
              </a:rPr>
              <a:t>heterosporous</a:t>
            </a:r>
            <a:r>
              <a:rPr lang="en-US" sz="2200" dirty="0"/>
              <a:t>)</a:t>
            </a:r>
          </a:p>
          <a:p>
            <a:pPr marL="290513" lvl="2" indent="0">
              <a:lnSpc>
                <a:spcPct val="120000"/>
              </a:lnSpc>
              <a:spcBef>
                <a:spcPts val="600"/>
              </a:spcBef>
              <a:spcAft>
                <a:spcPts val="0"/>
              </a:spcAft>
              <a:buNone/>
            </a:pPr>
            <a:r>
              <a:rPr lang="en-US" sz="2200" b="1" dirty="0">
                <a:solidFill>
                  <a:srgbClr val="D90000"/>
                </a:solidFill>
              </a:rPr>
              <a:t>Microspores</a:t>
            </a:r>
            <a:r>
              <a:rPr lang="en-US" sz="2200" b="1" dirty="0">
                <a:solidFill>
                  <a:schemeClr val="tx2"/>
                </a:solidFill>
              </a:rPr>
              <a:t> </a:t>
            </a:r>
            <a:r>
              <a:rPr lang="en-US" sz="2200" dirty="0"/>
              <a:t>(become male gametophyte) and </a:t>
            </a:r>
            <a:r>
              <a:rPr lang="en-US" sz="2200" b="1" dirty="0">
                <a:solidFill>
                  <a:srgbClr val="D90000"/>
                </a:solidFill>
              </a:rPr>
              <a:t>megaspores</a:t>
            </a:r>
            <a:r>
              <a:rPr lang="en-US" sz="2200" dirty="0"/>
              <a:t> (become female gametophyte)</a:t>
            </a:r>
          </a:p>
          <a:p>
            <a:pPr marL="290513" lvl="1" indent="0">
              <a:lnSpc>
                <a:spcPct val="120000"/>
              </a:lnSpc>
              <a:spcBef>
                <a:spcPts val="600"/>
              </a:spcBef>
              <a:spcAft>
                <a:spcPts val="0"/>
              </a:spcAft>
              <a:buNone/>
            </a:pPr>
            <a:r>
              <a:rPr lang="en-US" sz="2200" dirty="0"/>
              <a:t>Three main groups of lycophytes:</a:t>
            </a:r>
          </a:p>
          <a:p>
            <a:pPr marL="531813" lvl="3" indent="-265113">
              <a:lnSpc>
                <a:spcPct val="120000"/>
              </a:lnSpc>
              <a:spcBef>
                <a:spcPts val="600"/>
              </a:spcBef>
              <a:buFont typeface="Arial" panose="020B0604020202020204" pitchFamily="34" charset="0"/>
              <a:buChar char="•"/>
            </a:pPr>
            <a:r>
              <a:rPr lang="en-US" sz="1800" dirty="0"/>
              <a:t>Ground pines (</a:t>
            </a:r>
            <a:r>
              <a:rPr lang="en-US" sz="1800" i="1" dirty="0"/>
              <a:t>Lycopodium</a:t>
            </a:r>
            <a:r>
              <a:rPr lang="en-US" sz="1800" dirty="0"/>
              <a:t>), spike mosses (</a:t>
            </a:r>
            <a:r>
              <a:rPr lang="en-US" sz="1800" i="1" dirty="0"/>
              <a:t>Selaginella</a:t>
            </a:r>
            <a:r>
              <a:rPr lang="en-US" sz="1800" dirty="0"/>
              <a:t>), and quillworts (</a:t>
            </a:r>
            <a:r>
              <a:rPr lang="en-US" sz="1800" i="1" dirty="0"/>
              <a:t>Isoetes</a:t>
            </a:r>
            <a:r>
              <a:rPr lang="en-US" sz="1800" dirty="0"/>
              <a:t>)</a:t>
            </a:r>
          </a:p>
        </p:txBody>
      </p:sp>
      <p:sp>
        <p:nvSpPr>
          <p:cNvPr id="4" name="Slide Number Placeholder 3">
            <a:extLst>
              <a:ext uri="{FF2B5EF4-FFF2-40B4-BE49-F238E27FC236}">
                <a16:creationId xmlns:a16="http://schemas.microsoft.com/office/drawing/2014/main" id="{D3C83A35-A942-4298-94BC-C952BEB4611A}"/>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34</a:t>
            </a:fld>
            <a:endParaRPr lang="en-IN"/>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noChangeArrowheads="1"/>
          </p:cNvSpPr>
          <p:nvPr>
            <p:ph type="title"/>
          </p:nvPr>
        </p:nvSpPr>
        <p:spPr>
          <a:xfrm>
            <a:off x="0" y="2"/>
            <a:ext cx="9144000" cy="546538"/>
          </a:xfrm>
        </p:spPr>
        <p:txBody>
          <a:bodyPr/>
          <a:lstStyle/>
          <a:p>
            <a:r>
              <a:rPr lang="en-US" altLang="en-US" dirty="0"/>
              <a:t>Lycophytes Example</a:t>
            </a:r>
            <a:endParaRPr lang="en-US" altLang="en-US" i="1" dirty="0"/>
          </a:p>
        </p:txBody>
      </p:sp>
      <p:pic>
        <p:nvPicPr>
          <p:cNvPr id="4" name="Picture 2" descr="Illustration shows spike moss and club moss (with its external parts and subparts). ">
            <a:extLst>
              <a:ext uri="{FF2B5EF4-FFF2-40B4-BE49-F238E27FC236}">
                <a16:creationId xmlns:a16="http://schemas.microsoft.com/office/drawing/2014/main" id="{B6506568-B8D5-4DC8-9A98-D73A8EDCE3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34419" y="648182"/>
            <a:ext cx="2875157" cy="5405377"/>
          </a:xfrm>
          <a:prstGeom prst="rect">
            <a:avLst/>
          </a:prstGeom>
        </p:spPr>
      </p:pic>
      <p:sp>
        <p:nvSpPr>
          <p:cNvPr id="5" name="Content Placeholder 3"/>
          <p:cNvSpPr>
            <a:spLocks noGrp="1"/>
          </p:cNvSpPr>
          <p:nvPr>
            <p:ph type="body" sz="quarter" idx="18"/>
          </p:nvPr>
        </p:nvSpPr>
        <p:spPr>
          <a:xfrm>
            <a:off x="520698" y="6106233"/>
            <a:ext cx="8101481" cy="314325"/>
          </a:xfrm>
        </p:spPr>
        <p:txBody>
          <a:bodyPr>
            <a:normAutofit/>
          </a:bodyPr>
          <a:lstStyle/>
          <a:p>
            <a:r>
              <a:rPr lang="en-US" sz="1200" dirty="0"/>
              <a:t>Figure 23.11</a:t>
            </a:r>
          </a:p>
        </p:txBody>
      </p:sp>
      <p:sp>
        <p:nvSpPr>
          <p:cNvPr id="2" name="Text Placeholder 4">
            <a:extLst>
              <a:ext uri="{FF2B5EF4-FFF2-40B4-BE49-F238E27FC236}">
                <a16:creationId xmlns:a16="http://schemas.microsoft.com/office/drawing/2014/main" id="{15D3975E-606E-449E-9E89-B880DC3F3B99}"/>
              </a:ext>
            </a:extLst>
          </p:cNvPr>
          <p:cNvSpPr>
            <a:spLocks noGrp="1"/>
          </p:cNvSpPr>
          <p:nvPr>
            <p:ph type="body" sz="quarter" idx="19"/>
          </p:nvPr>
        </p:nvSpPr>
        <p:spPr>
          <a:xfrm>
            <a:off x="2946821" y="6338965"/>
            <a:ext cx="3249234" cy="314324"/>
          </a:xfrm>
        </p:spPr>
        <p:txBody>
          <a:bodyPr>
            <a:normAutofit/>
          </a:bodyPr>
          <a:lstStyle/>
          <a:p>
            <a:pPr algn="ctr"/>
            <a:r>
              <a:rPr lang="en-US" sz="1200" dirty="0">
                <a:hlinkClick r:id="rId4" action="ppaction://hlinksldjump"/>
              </a:rPr>
              <a:t>Access the text alternative for slide images.</a:t>
            </a:r>
            <a:endParaRPr lang="en-US" sz="1200" dirty="0"/>
          </a:p>
        </p:txBody>
      </p:sp>
      <p:sp>
        <p:nvSpPr>
          <p:cNvPr id="8" name="Text Placeholder 5">
            <a:extLst>
              <a:ext uri="{FF2B5EF4-FFF2-40B4-BE49-F238E27FC236}">
                <a16:creationId xmlns:a16="http://schemas.microsoft.com/office/drawing/2014/main" id="{41B35C80-826E-4E2B-8CA4-F2108DCF3562}"/>
              </a:ext>
            </a:extLst>
          </p:cNvPr>
          <p:cNvSpPr>
            <a:spLocks noGrp="1"/>
          </p:cNvSpPr>
          <p:nvPr>
            <p:ph type="body" sz="quarter" idx="21"/>
          </p:nvPr>
        </p:nvSpPr>
        <p:spPr/>
        <p:txBody>
          <a:bodyPr/>
          <a:lstStyle/>
          <a:p>
            <a:r>
              <a:rPr lang="en-US" sz="800" dirty="0"/>
              <a:t>(a): Steven P. Lynch</a:t>
            </a:r>
          </a:p>
        </p:txBody>
      </p:sp>
      <p:sp>
        <p:nvSpPr>
          <p:cNvPr id="7" name="Slide Number Placeholder 6">
            <a:extLst>
              <a:ext uri="{FF2B5EF4-FFF2-40B4-BE49-F238E27FC236}">
                <a16:creationId xmlns:a16="http://schemas.microsoft.com/office/drawing/2014/main" id="{2BD6E421-A476-4879-B487-6FC8AF7812A8}"/>
              </a:ext>
            </a:extLst>
          </p:cNvPr>
          <p:cNvSpPr>
            <a:spLocks noGrp="1"/>
          </p:cNvSpPr>
          <p:nvPr>
            <p:ph type="sldNum" sz="quarter" idx="4"/>
          </p:nvPr>
        </p:nvSpPr>
        <p:spPr/>
        <p:txBody>
          <a:bodyPr/>
          <a:lstStyle/>
          <a:p>
            <a:fld id="{08F9AD23-695F-4808-8E99-6281554D0F77}" type="slidenum">
              <a:rPr lang="en-IN" smtClean="0"/>
              <a:t>35</a:t>
            </a:fld>
            <a:endParaRPr lang="en-IN"/>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noChangeArrowheads="1"/>
          </p:cNvSpPr>
          <p:nvPr>
            <p:ph type="title"/>
          </p:nvPr>
        </p:nvSpPr>
        <p:spPr>
          <a:xfrm>
            <a:off x="342900" y="12031"/>
            <a:ext cx="8458200" cy="1079085"/>
          </a:xfrm>
        </p:spPr>
        <p:txBody>
          <a:bodyPr>
            <a:normAutofit fontScale="90000"/>
          </a:bodyPr>
          <a:lstStyle/>
          <a:p>
            <a:r>
              <a:rPr lang="en-US" altLang="en-US" dirty="0"/>
              <a:t>23.4 Evolution of Pteridophytes: Megaphylls</a:t>
            </a:r>
          </a:p>
        </p:txBody>
      </p:sp>
      <p:sp>
        <p:nvSpPr>
          <p:cNvPr id="27651" name="Content Placeholder 2"/>
          <p:cNvSpPr>
            <a:spLocks noGrp="1" noChangeArrowheads="1"/>
          </p:cNvSpPr>
          <p:nvPr>
            <p:ph idx="1"/>
          </p:nvPr>
        </p:nvSpPr>
        <p:spPr>
          <a:xfrm>
            <a:off x="365760" y="1628887"/>
            <a:ext cx="8477026" cy="5036997"/>
          </a:xfrm>
        </p:spPr>
        <p:txBody>
          <a:bodyPr>
            <a:normAutofit/>
          </a:bodyPr>
          <a:lstStyle/>
          <a:p>
            <a:pPr>
              <a:spcBef>
                <a:spcPts val="0"/>
              </a:spcBef>
              <a:spcAft>
                <a:spcPts val="600"/>
              </a:spcAft>
            </a:pPr>
            <a:r>
              <a:rPr lang="en-US" sz="2400" b="1" dirty="0">
                <a:solidFill>
                  <a:srgbClr val="D90000"/>
                </a:solidFill>
              </a:rPr>
              <a:t>Pteridophytes </a:t>
            </a:r>
            <a:r>
              <a:rPr lang="en-US" sz="2400" dirty="0"/>
              <a:t>are seedless vascular plants </a:t>
            </a:r>
          </a:p>
          <a:p>
            <a:pPr marL="358775" lvl="2" indent="-358775">
              <a:spcBef>
                <a:spcPts val="1200"/>
              </a:spcBef>
              <a:spcAft>
                <a:spcPts val="0"/>
              </a:spcAft>
              <a:buFont typeface="Arial" panose="020B0604020202020204" pitchFamily="34" charset="0"/>
              <a:buChar char="•"/>
            </a:pPr>
            <a:r>
              <a:rPr lang="en-US" sz="2200" dirty="0"/>
              <a:t>Dominant from late Devonian through Carboniferous period</a:t>
            </a:r>
          </a:p>
          <a:p>
            <a:pPr marL="358775" lvl="2" indent="-358775">
              <a:spcBef>
                <a:spcPts val="1200"/>
              </a:spcBef>
              <a:spcAft>
                <a:spcPts val="0"/>
              </a:spcAft>
              <a:buFont typeface="Arial" panose="020B0604020202020204" pitchFamily="34" charset="0"/>
              <a:buChar char="•"/>
            </a:pPr>
            <a:r>
              <a:rPr lang="en-US" sz="2200" dirty="0"/>
              <a:t>Include ferns and their allies (horsetails and whisk ferns)</a:t>
            </a:r>
          </a:p>
          <a:p>
            <a:pPr marL="358775" lvl="2" indent="-358775">
              <a:spcBef>
                <a:spcPts val="1200"/>
              </a:spcBef>
              <a:spcAft>
                <a:spcPts val="0"/>
              </a:spcAft>
              <a:buFont typeface="Arial" panose="020B0604020202020204" pitchFamily="34" charset="0"/>
              <a:buChar char="•"/>
            </a:pPr>
            <a:r>
              <a:rPr lang="en-US" sz="2200" dirty="0"/>
              <a:t>Have </a:t>
            </a:r>
            <a:r>
              <a:rPr lang="en-US" sz="2200" b="1" dirty="0">
                <a:solidFill>
                  <a:srgbClr val="D90000"/>
                </a:solidFill>
              </a:rPr>
              <a:t>megaphylls</a:t>
            </a:r>
            <a:r>
              <a:rPr lang="en-US" sz="2200" dirty="0"/>
              <a:t> (broad leaves with several strands of vascular tissue)</a:t>
            </a:r>
          </a:p>
          <a:p>
            <a:pPr marL="625475" lvl="3" indent="-266700">
              <a:spcBef>
                <a:spcPts val="1200"/>
              </a:spcBef>
              <a:spcAft>
                <a:spcPts val="0"/>
              </a:spcAft>
              <a:buFont typeface="Arial" panose="020B0604020202020204" pitchFamily="34" charset="0"/>
              <a:buChar char="•"/>
            </a:pPr>
            <a:r>
              <a:rPr lang="en-US" sz="2000" dirty="0"/>
              <a:t>Allow plants to efficiently collect solar energy, allowing the production of more food and possibly more offspring</a:t>
            </a:r>
          </a:p>
          <a:p>
            <a:pPr marL="890588" lvl="4" indent="-265113">
              <a:spcBef>
                <a:spcPts val="1200"/>
              </a:spcBef>
              <a:buFont typeface="Arial" panose="020B0604020202020204" pitchFamily="34" charset="0"/>
              <a:buChar char="•"/>
            </a:pPr>
            <a:r>
              <a:rPr lang="en-US" sz="1800" dirty="0"/>
              <a:t>Resulted in increased fitness for plants</a:t>
            </a:r>
          </a:p>
        </p:txBody>
      </p:sp>
      <p:sp>
        <p:nvSpPr>
          <p:cNvPr id="4" name="Slide Number Placeholder 3">
            <a:extLst>
              <a:ext uri="{FF2B5EF4-FFF2-40B4-BE49-F238E27FC236}">
                <a16:creationId xmlns:a16="http://schemas.microsoft.com/office/drawing/2014/main" id="{42815970-F194-45D9-B463-E871000A69C4}"/>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36</a:t>
            </a:fld>
            <a:endParaRPr lang="en-IN"/>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noChangeArrowheads="1"/>
          </p:cNvSpPr>
          <p:nvPr>
            <p:ph type="title"/>
          </p:nvPr>
        </p:nvSpPr>
        <p:spPr/>
        <p:txBody>
          <a:bodyPr/>
          <a:lstStyle/>
          <a:p>
            <a:r>
              <a:rPr lang="en-US" altLang="en-US" dirty="0"/>
              <a:t>Microphylls and Megaphylls</a:t>
            </a:r>
          </a:p>
        </p:txBody>
      </p:sp>
      <p:pic>
        <p:nvPicPr>
          <p:cNvPr id="12" name="Picture 2" descr="Set of two illustrations marked a and b shows changes brought about in microphyll and megaphyll.">
            <a:extLst>
              <a:ext uri="{FF2B5EF4-FFF2-40B4-BE49-F238E27FC236}">
                <a16:creationId xmlns:a16="http://schemas.microsoft.com/office/drawing/2014/main" id="{FF5ECC9F-FFC3-407D-9A18-5EC680104961}"/>
              </a:ext>
            </a:extLst>
          </p:cNvPr>
          <p:cNvPicPr>
            <a:picLocks noChangeAspect="1"/>
          </p:cNvPicPr>
          <p:nvPr/>
        </p:nvPicPr>
        <p:blipFill>
          <a:blip r:embed="rId3"/>
          <a:stretch>
            <a:fillRect/>
          </a:stretch>
        </p:blipFill>
        <p:spPr>
          <a:xfrm>
            <a:off x="0" y="1389055"/>
            <a:ext cx="9144000" cy="4079890"/>
          </a:xfrm>
          <a:prstGeom prst="rect">
            <a:avLst/>
          </a:prstGeom>
        </p:spPr>
      </p:pic>
      <p:sp>
        <p:nvSpPr>
          <p:cNvPr id="5" name="Content Placeholder 3"/>
          <p:cNvSpPr>
            <a:spLocks noGrp="1"/>
          </p:cNvSpPr>
          <p:nvPr>
            <p:ph type="body" sz="quarter" idx="18"/>
          </p:nvPr>
        </p:nvSpPr>
        <p:spPr>
          <a:xfrm>
            <a:off x="521259" y="5698385"/>
            <a:ext cx="8101481" cy="314325"/>
          </a:xfrm>
        </p:spPr>
        <p:txBody>
          <a:bodyPr/>
          <a:lstStyle/>
          <a:p>
            <a:r>
              <a:rPr lang="en-US" sz="1200" dirty="0"/>
              <a:t>Figure 23.12</a:t>
            </a:r>
          </a:p>
        </p:txBody>
      </p:sp>
      <p:sp>
        <p:nvSpPr>
          <p:cNvPr id="2" name="Text Placeholder 4">
            <a:extLst>
              <a:ext uri="{FF2B5EF4-FFF2-40B4-BE49-F238E27FC236}">
                <a16:creationId xmlns:a16="http://schemas.microsoft.com/office/drawing/2014/main" id="{05AAAC19-3E4C-4994-B425-86CC9DA720DD}"/>
              </a:ext>
            </a:extLst>
          </p:cNvPr>
          <p:cNvSpPr>
            <a:spLocks noGrp="1"/>
          </p:cNvSpPr>
          <p:nvPr>
            <p:ph type="body" sz="quarter" idx="19"/>
          </p:nvPr>
        </p:nvSpPr>
        <p:spPr>
          <a:xfrm>
            <a:off x="2852759" y="6012710"/>
            <a:ext cx="3438480" cy="284151"/>
          </a:xfrm>
        </p:spPr>
        <p:txBody>
          <a:bodyPr>
            <a:normAutofit/>
          </a:bodyPr>
          <a:lstStyle/>
          <a:p>
            <a:pPr algn="ctr"/>
            <a:r>
              <a:rPr lang="en-US" sz="1200" dirty="0">
                <a:hlinkClick r:id="rId4" action="ppaction://hlinksldjump"/>
              </a:rPr>
              <a:t>Access the text alternative for slide images.</a:t>
            </a:r>
            <a:endParaRPr lang="en-US" sz="1200" dirty="0"/>
          </a:p>
        </p:txBody>
      </p:sp>
      <p:sp>
        <p:nvSpPr>
          <p:cNvPr id="10" name="Slide Number Placeholder 5">
            <a:extLst>
              <a:ext uri="{FF2B5EF4-FFF2-40B4-BE49-F238E27FC236}">
                <a16:creationId xmlns:a16="http://schemas.microsoft.com/office/drawing/2014/main" id="{BA7E3637-34B0-4F75-B767-3FB6CAC6511C}"/>
              </a:ext>
            </a:extLst>
          </p:cNvPr>
          <p:cNvSpPr>
            <a:spLocks noGrp="1"/>
          </p:cNvSpPr>
          <p:nvPr>
            <p:ph type="sldNum" sz="quarter" idx="4"/>
          </p:nvPr>
        </p:nvSpPr>
        <p:spPr/>
        <p:txBody>
          <a:bodyPr/>
          <a:lstStyle/>
          <a:p>
            <a:fld id="{08F9AD23-695F-4808-8E99-6281554D0F77}" type="slidenum">
              <a:rPr lang="en-IN" smtClean="0"/>
              <a:t>37</a:t>
            </a:fld>
            <a:endParaRPr lang="en-IN"/>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Title 1"/>
          <p:cNvSpPr>
            <a:spLocks noGrp="1" noChangeArrowheads="1"/>
          </p:cNvSpPr>
          <p:nvPr>
            <p:ph type="title"/>
          </p:nvPr>
        </p:nvSpPr>
        <p:spPr>
          <a:xfrm>
            <a:off x="295422" y="0"/>
            <a:ext cx="8391378" cy="787791"/>
          </a:xfrm>
        </p:spPr>
        <p:txBody>
          <a:bodyPr/>
          <a:lstStyle/>
          <a:p>
            <a:r>
              <a:rPr lang="en-US" altLang="en-US" sz="3600" dirty="0"/>
              <a:t>Horsetails</a:t>
            </a:r>
          </a:p>
        </p:txBody>
      </p:sp>
      <p:sp>
        <p:nvSpPr>
          <p:cNvPr id="29700" name="Content Placeholder 2"/>
          <p:cNvSpPr>
            <a:spLocks noGrp="1" noChangeArrowheads="1"/>
          </p:cNvSpPr>
          <p:nvPr>
            <p:ph idx="1"/>
          </p:nvPr>
        </p:nvSpPr>
        <p:spPr>
          <a:xfrm>
            <a:off x="295422" y="787790"/>
            <a:ext cx="8184159" cy="5894363"/>
          </a:xfrm>
        </p:spPr>
        <p:txBody>
          <a:bodyPr>
            <a:noAutofit/>
          </a:bodyPr>
          <a:lstStyle/>
          <a:p>
            <a:pPr>
              <a:spcBef>
                <a:spcPts val="0"/>
              </a:spcBef>
              <a:spcAft>
                <a:spcPts val="1200"/>
              </a:spcAft>
            </a:pPr>
            <a:r>
              <a:rPr lang="en-US" sz="2200" b="1" dirty="0">
                <a:solidFill>
                  <a:srgbClr val="D90000"/>
                </a:solidFill>
              </a:rPr>
              <a:t>Horsetails</a:t>
            </a:r>
            <a:r>
              <a:rPr lang="en-US" sz="2200" b="1" dirty="0">
                <a:solidFill>
                  <a:schemeClr val="bg2">
                    <a:lumMod val="25000"/>
                  </a:schemeClr>
                </a:solidFill>
              </a:rPr>
              <a:t> </a:t>
            </a:r>
            <a:r>
              <a:rPr lang="en-US" sz="2200" dirty="0"/>
              <a:t>consist of one genus, </a:t>
            </a:r>
            <a:r>
              <a:rPr lang="en-US" sz="2200" i="1" dirty="0"/>
              <a:t>Equisetum</a:t>
            </a:r>
            <a:r>
              <a:rPr lang="en-US" sz="2200" dirty="0"/>
              <a:t>, and approximately 15 species of seedless vascular plants</a:t>
            </a:r>
          </a:p>
          <a:p>
            <a:pPr lvl="1">
              <a:spcBef>
                <a:spcPts val="0"/>
              </a:spcBef>
              <a:spcAft>
                <a:spcPts val="1200"/>
              </a:spcAft>
              <a:buFont typeface="Arial" panose="020B0604020202020204" pitchFamily="34" charset="0"/>
              <a:buChar char="•"/>
            </a:pPr>
            <a:r>
              <a:rPr lang="en-US" sz="2000" dirty="0"/>
              <a:t>Most horsetails inhabit wet, marshy environments</a:t>
            </a:r>
          </a:p>
          <a:p>
            <a:pPr lvl="1">
              <a:spcBef>
                <a:spcPts val="0"/>
              </a:spcBef>
              <a:spcAft>
                <a:spcPts val="1200"/>
              </a:spcAft>
              <a:buFont typeface="Arial" panose="020B0604020202020204" pitchFamily="34" charset="0"/>
              <a:buChar char="•"/>
            </a:pPr>
            <a:r>
              <a:rPr lang="en-US" sz="2000" b="0" i="1" u="none" strike="noStrike" baseline="0" dirty="0"/>
              <a:t>Equisetum </a:t>
            </a:r>
            <a:r>
              <a:rPr lang="en-US" sz="2000" b="0" i="0" u="none" strike="noStrike" baseline="0" dirty="0"/>
              <a:t>can be branched or unbranched, with leaves that may have been megaphylls at one time but now are reduced and form whorls at the nodes</a:t>
            </a:r>
          </a:p>
          <a:p>
            <a:pPr lvl="1">
              <a:spcBef>
                <a:spcPts val="0"/>
              </a:spcBef>
              <a:spcAft>
                <a:spcPts val="1200"/>
              </a:spcAft>
              <a:buFont typeface="Arial" panose="020B0604020202020204" pitchFamily="34" charset="0"/>
              <a:buChar char="•"/>
            </a:pPr>
            <a:r>
              <a:rPr lang="en-US" sz="2000" b="0" i="0" u="none" strike="noStrike" baseline="0" dirty="0"/>
              <a:t>Branches bear resemblance to a horse’s tail</a:t>
            </a:r>
          </a:p>
          <a:p>
            <a:pPr lvl="1">
              <a:spcBef>
                <a:spcPts val="0"/>
              </a:spcBef>
              <a:spcAft>
                <a:spcPts val="1200"/>
              </a:spcAft>
              <a:buFont typeface="Arial" panose="020B0604020202020204" pitchFamily="34" charset="0"/>
              <a:buChar char="•"/>
            </a:pPr>
            <a:r>
              <a:rPr lang="en-US" sz="2000" b="0" i="0" u="none" strike="noStrike" baseline="0" dirty="0"/>
              <a:t>Many have strobili at the tips of stems</a:t>
            </a:r>
          </a:p>
          <a:p>
            <a:pPr lvl="1">
              <a:spcBef>
                <a:spcPts val="0"/>
              </a:spcBef>
              <a:spcAft>
                <a:spcPts val="1200"/>
              </a:spcAft>
              <a:buFont typeface="Arial" panose="020B0604020202020204" pitchFamily="34" charset="0"/>
              <a:buChar char="•"/>
            </a:pPr>
            <a:r>
              <a:rPr lang="en-US" sz="2000" dirty="0"/>
              <a:t>S</a:t>
            </a:r>
            <a:r>
              <a:rPr lang="en-US" sz="2000" b="0" i="0" u="none" strike="noStrike" baseline="0" dirty="0"/>
              <a:t>pores germinate into inconspicuous and independent gametophytes</a:t>
            </a:r>
          </a:p>
          <a:p>
            <a:pPr lvl="1">
              <a:spcBef>
                <a:spcPts val="0"/>
              </a:spcBef>
              <a:spcAft>
                <a:spcPts val="1200"/>
              </a:spcAft>
              <a:buFont typeface="Arial" panose="020B0604020202020204" pitchFamily="34" charset="0"/>
              <a:buChar char="•"/>
            </a:pPr>
            <a:r>
              <a:rPr lang="en-US" sz="2000" b="0" i="1" u="none" strike="noStrike" baseline="0" dirty="0"/>
              <a:t>Equisetum </a:t>
            </a:r>
            <a:r>
              <a:rPr lang="en-US" sz="2000" b="0" i="0" u="none" strike="noStrike" baseline="0" dirty="0"/>
              <a:t>spores are sensitive to humidity and are “spring-loaded” </a:t>
            </a:r>
          </a:p>
          <a:p>
            <a:pPr marL="625475" lvl="2" indent="-266700">
              <a:spcBef>
                <a:spcPts val="0"/>
              </a:spcBef>
              <a:spcAft>
                <a:spcPts val="1200"/>
              </a:spcAft>
              <a:buFont typeface="Arial" panose="020B0604020202020204" pitchFamily="34" charset="0"/>
              <a:buChar char="•"/>
            </a:pPr>
            <a:r>
              <a:rPr lang="en-US" sz="1800" dirty="0"/>
              <a:t>S</a:t>
            </a:r>
            <a:r>
              <a:rPr lang="en-US" sz="1800" b="0" i="0" u="none" strike="noStrike" baseline="0" dirty="0"/>
              <a:t>pores have been known to be ejected and travel upward of 2 </a:t>
            </a:r>
            <a:r>
              <a:rPr lang="en-US" sz="1800" dirty="0"/>
              <a:t>mp</a:t>
            </a:r>
            <a:r>
              <a:rPr lang="en-US" sz="1800" b="0" i="0" u="none" strike="noStrike" baseline="0" dirty="0"/>
              <a:t>h</a:t>
            </a:r>
          </a:p>
          <a:p>
            <a:pPr lvl="1">
              <a:spcBef>
                <a:spcPts val="0"/>
              </a:spcBef>
              <a:spcAft>
                <a:spcPts val="1200"/>
              </a:spcAft>
              <a:buFont typeface="Arial" panose="020B0604020202020204" pitchFamily="34" charset="0"/>
              <a:buChar char="•"/>
            </a:pPr>
            <a:r>
              <a:rPr lang="en-US" sz="2000" dirty="0"/>
              <a:t>S</a:t>
            </a:r>
            <a:r>
              <a:rPr lang="en-US" sz="2000" b="0" i="0" u="none" strike="noStrike" baseline="0" dirty="0"/>
              <a:t>tems are tough and rigid because of silica deposited in cell walls</a:t>
            </a:r>
          </a:p>
        </p:txBody>
      </p:sp>
      <p:sp>
        <p:nvSpPr>
          <p:cNvPr id="4" name="Slide Number Placeholder 3">
            <a:extLst>
              <a:ext uri="{FF2B5EF4-FFF2-40B4-BE49-F238E27FC236}">
                <a16:creationId xmlns:a16="http://schemas.microsoft.com/office/drawing/2014/main" id="{01F94D96-9409-4477-81A9-6448567A4A73}"/>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38</a:t>
            </a:fld>
            <a:endParaRPr lang="en-IN"/>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noChangeArrowheads="1"/>
          </p:cNvSpPr>
          <p:nvPr>
            <p:ph type="title"/>
          </p:nvPr>
        </p:nvSpPr>
        <p:spPr/>
        <p:txBody>
          <a:bodyPr/>
          <a:lstStyle/>
          <a:p>
            <a:r>
              <a:rPr lang="en-US" altLang="en-US" dirty="0"/>
              <a:t> Horsetail, </a:t>
            </a:r>
            <a:r>
              <a:rPr lang="en-US" altLang="en-US" i="1" dirty="0"/>
              <a:t>Equisetum</a:t>
            </a:r>
          </a:p>
        </p:txBody>
      </p:sp>
      <p:pic>
        <p:nvPicPr>
          <p:cNvPr id="5" name="Picture 2" descr="Diagram of horsetail plant shows labels for root, rhizome, leaves, node, branches, and strobilus. "/>
          <p:cNvPicPr>
            <a:picLocks noChangeAspect="1" noChangeArrowheads="1"/>
          </p:cNvPicPr>
          <p:nvPr/>
        </p:nvPicPr>
        <p:blipFill rotWithShape="1">
          <a:blip r:embed="rId3">
            <a:extLst>
              <a:ext uri="{28A0092B-C50C-407E-A947-70E740481C1C}">
                <a14:useLocalDpi xmlns:a14="http://schemas.microsoft.com/office/drawing/2010/main" val="0"/>
              </a:ext>
            </a:extLst>
          </a:blip>
          <a:srcRect t="3606" b="2568"/>
          <a:stretch/>
        </p:blipFill>
        <p:spPr bwMode="auto">
          <a:xfrm>
            <a:off x="1155700" y="925073"/>
            <a:ext cx="6832600" cy="4894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Content Placeholder 3"/>
          <p:cNvSpPr>
            <a:spLocks noGrp="1"/>
          </p:cNvSpPr>
          <p:nvPr>
            <p:ph type="body" sz="quarter" idx="19"/>
          </p:nvPr>
        </p:nvSpPr>
        <p:spPr>
          <a:xfrm>
            <a:off x="4015908" y="6080672"/>
            <a:ext cx="1112183" cy="222024"/>
          </a:xfrm>
        </p:spPr>
        <p:txBody>
          <a:bodyPr anchor="ctr">
            <a:noAutofit/>
          </a:bodyPr>
          <a:lstStyle/>
          <a:p>
            <a:pPr algn="ctr"/>
            <a:r>
              <a:rPr lang="en-US" sz="1200" dirty="0"/>
              <a:t>Figure 23.13</a:t>
            </a:r>
          </a:p>
        </p:txBody>
      </p:sp>
      <p:sp>
        <p:nvSpPr>
          <p:cNvPr id="16" name="Text Placeholder 4">
            <a:extLst>
              <a:ext uri="{FF2B5EF4-FFF2-40B4-BE49-F238E27FC236}">
                <a16:creationId xmlns:a16="http://schemas.microsoft.com/office/drawing/2014/main" id="{F91A21A1-A1DD-4AFD-8024-ECFDF39FCF77}"/>
              </a:ext>
            </a:extLst>
          </p:cNvPr>
          <p:cNvSpPr>
            <a:spLocks noGrp="1"/>
          </p:cNvSpPr>
          <p:nvPr>
            <p:ph type="body" sz="quarter" idx="20"/>
          </p:nvPr>
        </p:nvSpPr>
        <p:spPr>
          <a:xfrm>
            <a:off x="5834742" y="6563844"/>
            <a:ext cx="2762525" cy="202474"/>
          </a:xfrm>
        </p:spPr>
        <p:txBody>
          <a:bodyPr>
            <a:normAutofit fontScale="77500" lnSpcReduction="20000"/>
          </a:bodyPr>
          <a:lstStyle/>
          <a:p>
            <a:pPr lvl="0" algn="r"/>
            <a:r>
              <a:rPr lang="en-US" sz="800" dirty="0"/>
              <a:t>(leaves): </a:t>
            </a:r>
            <a:r>
              <a:rPr lang="en-US" sz="800" dirty="0" err="1"/>
              <a:t>blickwinkel</a:t>
            </a:r>
            <a:r>
              <a:rPr lang="en-US" sz="800" dirty="0"/>
              <a:t>/</a:t>
            </a:r>
            <a:r>
              <a:rPr lang="en-US" sz="800" dirty="0" err="1"/>
              <a:t>Alamy</a:t>
            </a:r>
            <a:r>
              <a:rPr lang="en-US" sz="800" dirty="0"/>
              <a:t> Stock Photo; (plant): Robert </a:t>
            </a:r>
            <a:r>
              <a:rPr lang="en-US" sz="800" dirty="0" err="1"/>
              <a:t>Carr</a:t>
            </a:r>
            <a:r>
              <a:rPr lang="en-US" sz="800" dirty="0"/>
              <a:t>/</a:t>
            </a:r>
            <a:r>
              <a:rPr lang="en-US" sz="800" dirty="0" err="1"/>
              <a:t>Photoshot</a:t>
            </a:r>
            <a:endParaRPr lang="en-GB" sz="800" dirty="0"/>
          </a:p>
        </p:txBody>
      </p:sp>
      <p:sp>
        <p:nvSpPr>
          <p:cNvPr id="9" name="Slide Number Placeholder 5">
            <a:extLst>
              <a:ext uri="{FF2B5EF4-FFF2-40B4-BE49-F238E27FC236}">
                <a16:creationId xmlns:a16="http://schemas.microsoft.com/office/drawing/2014/main" id="{F0D0CAA2-02CB-498E-AEE4-80A069AED8A6}"/>
              </a:ext>
            </a:extLst>
          </p:cNvPr>
          <p:cNvSpPr>
            <a:spLocks noGrp="1"/>
          </p:cNvSpPr>
          <p:nvPr>
            <p:ph type="sldNum" sz="quarter" idx="4"/>
          </p:nvPr>
        </p:nvSpPr>
        <p:spPr/>
        <p:txBody>
          <a:bodyPr/>
          <a:lstStyle/>
          <a:p>
            <a:fld id="{08F9AD23-695F-4808-8E99-6281554D0F77}" type="slidenum">
              <a:rPr lang="en-IN" smtClean="0"/>
              <a:t>39</a:t>
            </a:fld>
            <a:endParaRPr lang="en-IN"/>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noChangeArrowheads="1"/>
          </p:cNvSpPr>
          <p:nvPr>
            <p:ph type="title"/>
          </p:nvPr>
        </p:nvSpPr>
        <p:spPr>
          <a:xfrm>
            <a:off x="457200" y="0"/>
            <a:ext cx="8229600" cy="858129"/>
          </a:xfrm>
        </p:spPr>
        <p:txBody>
          <a:bodyPr>
            <a:normAutofit/>
          </a:bodyPr>
          <a:lstStyle/>
          <a:p>
            <a:r>
              <a:rPr lang="en-US" altLang="en-US" dirty="0"/>
              <a:t>Whisk Ferns</a:t>
            </a:r>
          </a:p>
        </p:txBody>
      </p:sp>
      <p:sp>
        <p:nvSpPr>
          <p:cNvPr id="31747" name="Content Placeholder 2"/>
          <p:cNvSpPr>
            <a:spLocks noGrp="1" noChangeArrowheads="1"/>
          </p:cNvSpPr>
          <p:nvPr>
            <p:ph idx="1"/>
          </p:nvPr>
        </p:nvSpPr>
        <p:spPr>
          <a:xfrm>
            <a:off x="457200" y="876300"/>
            <a:ext cx="8022381" cy="5105400"/>
          </a:xfrm>
        </p:spPr>
        <p:txBody>
          <a:bodyPr>
            <a:normAutofit/>
          </a:bodyPr>
          <a:lstStyle/>
          <a:p>
            <a:pPr>
              <a:spcBef>
                <a:spcPts val="0"/>
              </a:spcBef>
              <a:spcAft>
                <a:spcPts val="2000"/>
              </a:spcAft>
            </a:pPr>
            <a:r>
              <a:rPr lang="en-US" sz="2400" b="1" dirty="0">
                <a:solidFill>
                  <a:srgbClr val="D90000"/>
                </a:solidFill>
              </a:rPr>
              <a:t>Whisk ferns </a:t>
            </a:r>
            <a:r>
              <a:rPr lang="en-US" sz="2400" dirty="0"/>
              <a:t>consist of two genera: </a:t>
            </a:r>
            <a:r>
              <a:rPr lang="en-US" sz="2400" i="1" dirty="0"/>
              <a:t>Psilotum</a:t>
            </a:r>
            <a:r>
              <a:rPr lang="en-US" sz="2400" dirty="0"/>
              <a:t> and </a:t>
            </a:r>
            <a:r>
              <a:rPr lang="en-US" sz="2400" i="1" dirty="0" err="1"/>
              <a:t>Tmesipteris</a:t>
            </a:r>
            <a:endParaRPr lang="en-US" sz="2400" i="1" dirty="0"/>
          </a:p>
          <a:p>
            <a:pPr lvl="1">
              <a:spcBef>
                <a:spcPts val="1200"/>
              </a:spcBef>
              <a:spcAft>
                <a:spcPts val="0"/>
              </a:spcAft>
              <a:buFont typeface="Arial" panose="020B0604020202020204" pitchFamily="34" charset="0"/>
              <a:buChar char="•"/>
            </a:pPr>
            <a:r>
              <a:rPr lang="en-US" sz="2000" dirty="0"/>
              <a:t>Resemble whisk brooms because they have no leaves</a:t>
            </a:r>
          </a:p>
          <a:p>
            <a:pPr lvl="1">
              <a:spcBef>
                <a:spcPts val="1200"/>
              </a:spcBef>
              <a:spcAft>
                <a:spcPts val="0"/>
              </a:spcAft>
              <a:buFont typeface="Arial" panose="020B0604020202020204" pitchFamily="34" charset="0"/>
              <a:buChar char="•"/>
            </a:pPr>
            <a:r>
              <a:rPr lang="en-US" sz="2000" dirty="0"/>
              <a:t>H</a:t>
            </a:r>
            <a:r>
              <a:rPr lang="en-US" sz="2000" b="0" i="0" u="none" strike="noStrike" baseline="0" dirty="0"/>
              <a:t>orizontal rhizome gives rise to aboveground stems that repeatedly fork</a:t>
            </a:r>
          </a:p>
          <a:p>
            <a:pPr lvl="1">
              <a:spcBef>
                <a:spcPts val="1200"/>
              </a:spcBef>
              <a:spcAft>
                <a:spcPts val="0"/>
              </a:spcAft>
              <a:buFont typeface="Arial" panose="020B0604020202020204" pitchFamily="34" charset="0"/>
              <a:buChar char="•"/>
            </a:pPr>
            <a:r>
              <a:rPr lang="en-US" sz="2000" dirty="0"/>
              <a:t>Pumpkin-shaped sporangia are on short side branches</a:t>
            </a:r>
          </a:p>
          <a:p>
            <a:pPr lvl="1">
              <a:spcBef>
                <a:spcPts val="1200"/>
              </a:spcBef>
              <a:spcAft>
                <a:spcPts val="0"/>
              </a:spcAft>
              <a:buFont typeface="Arial" panose="020B0604020202020204" pitchFamily="34" charset="0"/>
              <a:buChar char="•"/>
            </a:pPr>
            <a:r>
              <a:rPr lang="en-US" sz="2000" i="1" dirty="0" err="1"/>
              <a:t>Tmesipteris</a:t>
            </a:r>
            <a:r>
              <a:rPr lang="en-US" sz="2000" dirty="0"/>
              <a:t> species have appendages resembling reduced megaphylls</a:t>
            </a:r>
          </a:p>
        </p:txBody>
      </p:sp>
      <p:sp>
        <p:nvSpPr>
          <p:cNvPr id="4" name="Slide Number Placeholder 3">
            <a:extLst>
              <a:ext uri="{FF2B5EF4-FFF2-40B4-BE49-F238E27FC236}">
                <a16:creationId xmlns:a16="http://schemas.microsoft.com/office/drawing/2014/main" id="{415CC5A8-C52C-4AD8-A8EA-6194599E8715}"/>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40</a:t>
            </a:fld>
            <a:endParaRPr lang="en-IN"/>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noChangeArrowheads="1"/>
          </p:cNvSpPr>
          <p:nvPr>
            <p:ph type="title"/>
          </p:nvPr>
        </p:nvSpPr>
        <p:spPr/>
        <p:txBody>
          <a:bodyPr/>
          <a:lstStyle/>
          <a:p>
            <a:r>
              <a:rPr lang="en-US" altLang="en-US" dirty="0"/>
              <a:t> Whisk Fern, </a:t>
            </a:r>
            <a:r>
              <a:rPr lang="en-US" altLang="en-US" i="1" dirty="0"/>
              <a:t>Psilotum</a:t>
            </a:r>
          </a:p>
        </p:txBody>
      </p:sp>
      <p:pic>
        <p:nvPicPr>
          <p:cNvPr id="49156" name="Picture 2" descr="Close-up of sporangium (left). Diagram of whisk fernroot plant (right) shows labels for rhizome, root, aerial stem, scale and sporangium. "/>
          <p:cNvPicPr>
            <a:picLocks noChangeAspect="1" noChangeArrowheads="1"/>
          </p:cNvPicPr>
          <p:nvPr/>
        </p:nvPicPr>
        <p:blipFill rotWithShape="1">
          <a:blip r:embed="rId3">
            <a:extLst>
              <a:ext uri="{28A0092B-C50C-407E-A947-70E740481C1C}">
                <a14:useLocalDpi xmlns:a14="http://schemas.microsoft.com/office/drawing/2010/main" val="0"/>
              </a:ext>
            </a:extLst>
          </a:blip>
          <a:srcRect t="3410" b="3274"/>
          <a:stretch/>
        </p:blipFill>
        <p:spPr bwMode="auto">
          <a:xfrm>
            <a:off x="676275" y="980392"/>
            <a:ext cx="7791450" cy="4152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 Placeholder 3">
            <a:extLst>
              <a:ext uri="{FF2B5EF4-FFF2-40B4-BE49-F238E27FC236}">
                <a16:creationId xmlns:a16="http://schemas.microsoft.com/office/drawing/2014/main" id="{4A42BF9B-E2EB-4432-BED9-4D1C09E2E2A4}"/>
              </a:ext>
            </a:extLst>
          </p:cNvPr>
          <p:cNvSpPr>
            <a:spLocks noGrp="1"/>
          </p:cNvSpPr>
          <p:nvPr>
            <p:ph type="body" sz="quarter" idx="20"/>
          </p:nvPr>
        </p:nvSpPr>
        <p:spPr>
          <a:xfrm>
            <a:off x="3999246" y="5548246"/>
            <a:ext cx="1145507" cy="329362"/>
          </a:xfrm>
        </p:spPr>
        <p:txBody>
          <a:bodyPr>
            <a:normAutofit/>
          </a:bodyPr>
          <a:lstStyle/>
          <a:p>
            <a:pPr algn="ctr"/>
            <a:r>
              <a:rPr lang="en-US" sz="1200" dirty="0"/>
              <a:t>Figure 23.14</a:t>
            </a:r>
          </a:p>
        </p:txBody>
      </p:sp>
      <p:sp>
        <p:nvSpPr>
          <p:cNvPr id="6" name="Content Placeholder 4"/>
          <p:cNvSpPr>
            <a:spLocks noGrp="1"/>
          </p:cNvSpPr>
          <p:nvPr>
            <p:ph type="body" sz="quarter" idx="19"/>
          </p:nvPr>
        </p:nvSpPr>
        <p:spPr>
          <a:xfrm>
            <a:off x="4987673" y="6540097"/>
            <a:ext cx="3600850" cy="249968"/>
          </a:xfrm>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t>(sporangia): Steven P. Lynch; (plant): </a:t>
            </a:r>
            <a:r>
              <a:rPr lang="en-US" sz="800" dirty="0" err="1"/>
              <a:t>Biophoto</a:t>
            </a:r>
            <a:r>
              <a:rPr lang="en-US" sz="800" dirty="0"/>
              <a:t> Associates/Science Source</a:t>
            </a:r>
            <a:endParaRPr lang="en-GB" sz="800" dirty="0"/>
          </a:p>
        </p:txBody>
      </p:sp>
      <p:sp>
        <p:nvSpPr>
          <p:cNvPr id="8" name="Slide Number Placeholder 5">
            <a:extLst>
              <a:ext uri="{FF2B5EF4-FFF2-40B4-BE49-F238E27FC236}">
                <a16:creationId xmlns:a16="http://schemas.microsoft.com/office/drawing/2014/main" id="{72616E0F-8B7B-4381-BA78-7C90363DD397}"/>
              </a:ext>
            </a:extLst>
          </p:cNvPr>
          <p:cNvSpPr>
            <a:spLocks noGrp="1"/>
          </p:cNvSpPr>
          <p:nvPr>
            <p:ph type="sldNum" sz="quarter" idx="4"/>
          </p:nvPr>
        </p:nvSpPr>
        <p:spPr/>
        <p:txBody>
          <a:bodyPr/>
          <a:lstStyle/>
          <a:p>
            <a:fld id="{08F9AD23-695F-4808-8E99-6281554D0F77}" type="slidenum">
              <a:rPr lang="en-IN" smtClean="0"/>
              <a:t>41</a:t>
            </a:fld>
            <a:endParaRPr lang="en-IN"/>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Title 1"/>
          <p:cNvSpPr>
            <a:spLocks noGrp="1" noChangeArrowheads="1"/>
          </p:cNvSpPr>
          <p:nvPr>
            <p:ph type="title"/>
          </p:nvPr>
        </p:nvSpPr>
        <p:spPr>
          <a:xfrm>
            <a:off x="529874" y="12031"/>
            <a:ext cx="8229600" cy="1143000"/>
          </a:xfrm>
        </p:spPr>
        <p:txBody>
          <a:bodyPr/>
          <a:lstStyle/>
          <a:p>
            <a:r>
              <a:rPr lang="en-US" altLang="en-US" dirty="0"/>
              <a:t>Ferns</a:t>
            </a:r>
          </a:p>
        </p:txBody>
      </p:sp>
      <p:sp>
        <p:nvSpPr>
          <p:cNvPr id="33796" name="Content Placeholder 2"/>
          <p:cNvSpPr>
            <a:spLocks noGrp="1" noChangeArrowheads="1"/>
          </p:cNvSpPr>
          <p:nvPr>
            <p:ph idx="1"/>
          </p:nvPr>
        </p:nvSpPr>
        <p:spPr>
          <a:xfrm>
            <a:off x="258184" y="1245555"/>
            <a:ext cx="8221397" cy="5429152"/>
          </a:xfrm>
        </p:spPr>
        <p:txBody>
          <a:bodyPr>
            <a:noAutofit/>
          </a:bodyPr>
          <a:lstStyle/>
          <a:p>
            <a:pPr marL="338328" lvl="2" indent="0">
              <a:lnSpc>
                <a:spcPct val="80000"/>
              </a:lnSpc>
              <a:spcBef>
                <a:spcPts val="0"/>
              </a:spcBef>
              <a:buNone/>
            </a:pPr>
            <a:r>
              <a:rPr lang="en-US" sz="2600" dirty="0"/>
              <a:t>Approximately 11,000 species</a:t>
            </a:r>
          </a:p>
          <a:p>
            <a:pPr marL="338328" lvl="2" indent="0">
              <a:lnSpc>
                <a:spcPct val="80000"/>
              </a:lnSpc>
              <a:spcBef>
                <a:spcPts val="1200"/>
              </a:spcBef>
              <a:buNone/>
            </a:pPr>
            <a:r>
              <a:rPr lang="en-US" sz="2600" dirty="0"/>
              <a:t>Most abundant in warm, moist, tropical regions</a:t>
            </a:r>
          </a:p>
          <a:p>
            <a:pPr marL="338328" lvl="2" indent="0">
              <a:lnSpc>
                <a:spcPct val="80000"/>
              </a:lnSpc>
              <a:spcBef>
                <a:spcPts val="1200"/>
              </a:spcBef>
              <a:buNone/>
            </a:pPr>
            <a:r>
              <a:rPr lang="en-US" sz="2600" dirty="0"/>
              <a:t>Range in size from 1 cm in diameter to 20 m in height</a:t>
            </a:r>
          </a:p>
          <a:p>
            <a:pPr marL="338328" lvl="2" indent="0">
              <a:lnSpc>
                <a:spcPct val="80000"/>
              </a:lnSpc>
              <a:spcBef>
                <a:spcPts val="1200"/>
              </a:spcBef>
              <a:buNone/>
            </a:pPr>
            <a:r>
              <a:rPr lang="en-US" sz="2600" dirty="0"/>
              <a:t>Large, conspicuous megaphylls are called </a:t>
            </a:r>
            <a:r>
              <a:rPr lang="en-US" sz="2600" b="1" dirty="0">
                <a:solidFill>
                  <a:srgbClr val="D90000"/>
                </a:solidFill>
              </a:rPr>
              <a:t>fronds</a:t>
            </a:r>
            <a:endParaRPr lang="en-US" sz="2600" dirty="0">
              <a:solidFill>
                <a:srgbClr val="D90000"/>
              </a:solidFill>
            </a:endParaRPr>
          </a:p>
          <a:p>
            <a:pPr marL="809625" lvl="3" indent="-450850">
              <a:lnSpc>
                <a:spcPct val="80000"/>
              </a:lnSpc>
              <a:spcBef>
                <a:spcPts val="1200"/>
              </a:spcBef>
              <a:buFont typeface="Arial" panose="020B0604020202020204" pitchFamily="34" charset="0"/>
              <a:buChar char="•"/>
            </a:pPr>
            <a:r>
              <a:rPr lang="en-US" sz="2400" dirty="0"/>
              <a:t>Divided into leaflets</a:t>
            </a:r>
          </a:p>
          <a:p>
            <a:pPr marL="809625" lvl="3" indent="-450850">
              <a:lnSpc>
                <a:spcPct val="80000"/>
              </a:lnSpc>
              <a:spcBef>
                <a:spcPts val="1200"/>
              </a:spcBef>
              <a:buFont typeface="Arial" panose="020B0604020202020204" pitchFamily="34" charset="0"/>
              <a:buChar char="•"/>
            </a:pPr>
            <a:r>
              <a:rPr lang="en-US" sz="2400" dirty="0"/>
              <a:t>Sporangia are in clusters called </a:t>
            </a:r>
            <a:r>
              <a:rPr lang="en-US" sz="2400" b="1" dirty="0"/>
              <a:t>sori</a:t>
            </a:r>
            <a:r>
              <a:rPr lang="en-US" sz="2400" dirty="0"/>
              <a:t> on the undersides of fronds</a:t>
            </a:r>
          </a:p>
          <a:p>
            <a:pPr marL="338328" lvl="2" indent="0">
              <a:lnSpc>
                <a:spcPct val="80000"/>
              </a:lnSpc>
              <a:spcBef>
                <a:spcPts val="1200"/>
              </a:spcBef>
              <a:buNone/>
            </a:pPr>
            <a:r>
              <a:rPr lang="en-US" sz="2600" dirty="0"/>
              <a:t>Dominant sporophyte produces windblown spores by meiosis within sporangia</a:t>
            </a:r>
          </a:p>
        </p:txBody>
      </p:sp>
      <p:sp>
        <p:nvSpPr>
          <p:cNvPr id="4" name="Slide Number Placeholder 3">
            <a:extLst>
              <a:ext uri="{FF2B5EF4-FFF2-40B4-BE49-F238E27FC236}">
                <a16:creationId xmlns:a16="http://schemas.microsoft.com/office/drawing/2014/main" id="{E4B6A2EF-DEFB-4B06-9B2E-6F248AE7C55A}"/>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42</a:t>
            </a:fld>
            <a:endParaRPr lang="en-IN"/>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Title 1"/>
          <p:cNvSpPr>
            <a:spLocks noGrp="1" noChangeArrowheads="1"/>
          </p:cNvSpPr>
          <p:nvPr>
            <p:ph type="title"/>
          </p:nvPr>
        </p:nvSpPr>
        <p:spPr/>
        <p:txBody>
          <a:bodyPr/>
          <a:lstStyle/>
          <a:p>
            <a:r>
              <a:rPr lang="en-US" altLang="en-US" dirty="0"/>
              <a:t>Fern Life Cycle</a:t>
            </a:r>
          </a:p>
        </p:txBody>
      </p:sp>
      <p:sp>
        <p:nvSpPr>
          <p:cNvPr id="33796" name="Content Placeholder 2"/>
          <p:cNvSpPr>
            <a:spLocks noGrp="1" noChangeArrowheads="1"/>
          </p:cNvSpPr>
          <p:nvPr>
            <p:ph idx="1"/>
          </p:nvPr>
        </p:nvSpPr>
        <p:spPr>
          <a:xfrm>
            <a:off x="457201" y="1295401"/>
            <a:ext cx="8108065" cy="5175737"/>
          </a:xfrm>
        </p:spPr>
        <p:txBody>
          <a:bodyPr/>
          <a:lstStyle/>
          <a:p>
            <a:pPr marL="0" lvl="1" indent="0">
              <a:spcBef>
                <a:spcPts val="0"/>
              </a:spcBef>
              <a:buNone/>
            </a:pPr>
            <a:r>
              <a:rPr lang="en-US" sz="2400" dirty="0"/>
              <a:t>Windblown spores eventually germinate into gametophytes which produce sperm</a:t>
            </a:r>
          </a:p>
          <a:p>
            <a:pPr marL="0" lvl="1" indent="0">
              <a:buNone/>
            </a:pPr>
            <a:r>
              <a:rPr lang="en-US" sz="2400" dirty="0"/>
              <a:t>Sperm swim from antheridium to archegonium where fertilization occurs</a:t>
            </a:r>
          </a:p>
          <a:p>
            <a:pPr marL="0" lvl="1" indent="0">
              <a:buNone/>
            </a:pPr>
            <a:r>
              <a:rPr lang="en-US" sz="2400" dirty="0"/>
              <a:t>When the gametophyte disappears the sporophyte is independent</a:t>
            </a:r>
          </a:p>
          <a:p>
            <a:pPr marL="358775" lvl="2" indent="-358775">
              <a:buFont typeface="Arial" panose="020B0604020202020204" pitchFamily="34" charset="0"/>
              <a:buChar char="•"/>
            </a:pPr>
            <a:r>
              <a:rPr lang="en-US" sz="2200" b="0" i="0" u="none" strike="noStrike" baseline="0" dirty="0"/>
              <a:t>Both generations of a fern are considered to be independent of one another</a:t>
            </a:r>
            <a:endParaRPr lang="en-US" sz="2200" dirty="0"/>
          </a:p>
        </p:txBody>
      </p:sp>
      <p:sp>
        <p:nvSpPr>
          <p:cNvPr id="4" name="Slide Number Placeholder 3">
            <a:extLst>
              <a:ext uri="{FF2B5EF4-FFF2-40B4-BE49-F238E27FC236}">
                <a16:creationId xmlns:a16="http://schemas.microsoft.com/office/drawing/2014/main" id="{EBF9BBD4-A001-4C26-A1D8-C80FD793D217}"/>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43</a:t>
            </a:fld>
            <a:endParaRPr lang="en-IN"/>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p:cNvSpPr>
            <a:spLocks noGrp="1" noChangeArrowheads="1"/>
          </p:cNvSpPr>
          <p:nvPr>
            <p:ph type="title"/>
          </p:nvPr>
        </p:nvSpPr>
        <p:spPr>
          <a:xfrm>
            <a:off x="2167668" y="0"/>
            <a:ext cx="4808663" cy="674549"/>
          </a:xfrm>
        </p:spPr>
        <p:txBody>
          <a:bodyPr/>
          <a:lstStyle/>
          <a:p>
            <a:r>
              <a:rPr lang="en-US" altLang="en-US" dirty="0"/>
              <a:t>Diversity of Ferns</a:t>
            </a:r>
          </a:p>
        </p:txBody>
      </p:sp>
      <p:pic>
        <p:nvPicPr>
          <p:cNvPr id="6" name="Picture 2" descr="Photos of a tree fern, a feather leaf fern, and a hart’s tongue fern. "/>
          <p:cNvPicPr>
            <a:picLocks noChangeAspect="1" noChangeArrowheads="1"/>
          </p:cNvPicPr>
          <p:nvPr/>
        </p:nvPicPr>
        <p:blipFill rotWithShape="1">
          <a:blip r:embed="rId3">
            <a:extLst>
              <a:ext uri="{28A0092B-C50C-407E-A947-70E740481C1C}">
                <a14:useLocalDpi xmlns:a14="http://schemas.microsoft.com/office/drawing/2010/main" val="0"/>
              </a:ext>
            </a:extLst>
          </a:blip>
          <a:srcRect t="2069" b="4585"/>
          <a:stretch/>
        </p:blipFill>
        <p:spPr bwMode="auto">
          <a:xfrm>
            <a:off x="1937767" y="674549"/>
            <a:ext cx="5268466" cy="4949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3">
            <a:extLst>
              <a:ext uri="{FF2B5EF4-FFF2-40B4-BE49-F238E27FC236}">
                <a16:creationId xmlns:a16="http://schemas.microsoft.com/office/drawing/2014/main" id="{D190E08D-CD22-488D-8BF8-D2F5F4F91F84}"/>
              </a:ext>
            </a:extLst>
          </p:cNvPr>
          <p:cNvSpPr txBox="1"/>
          <p:nvPr/>
        </p:nvSpPr>
        <p:spPr>
          <a:xfrm>
            <a:off x="3843865" y="5793702"/>
            <a:ext cx="1456267" cy="276999"/>
          </a:xfrm>
          <a:prstGeom prst="rect">
            <a:avLst/>
          </a:prstGeom>
          <a:noFill/>
        </p:spPr>
        <p:txBody>
          <a:bodyPr wrap="square" rtlCol="0">
            <a:spAutoFit/>
          </a:bodyPr>
          <a:lstStyle/>
          <a:p>
            <a:pPr algn="ctr"/>
            <a:r>
              <a:rPr lang="en-US" sz="1200" dirty="0"/>
              <a:t>Figure 23.15</a:t>
            </a:r>
          </a:p>
        </p:txBody>
      </p:sp>
      <p:sp>
        <p:nvSpPr>
          <p:cNvPr id="7" name="Content Placeholder 4"/>
          <p:cNvSpPr>
            <a:spLocks noGrp="1"/>
          </p:cNvSpPr>
          <p:nvPr>
            <p:ph sz="quarter" idx="4294967295"/>
          </p:nvPr>
        </p:nvSpPr>
        <p:spPr>
          <a:xfrm>
            <a:off x="3756660" y="6517302"/>
            <a:ext cx="4817046" cy="295559"/>
          </a:xfrm>
        </p:spPr>
        <p:txBody>
          <a:bodyPr anchor="ctr">
            <a:noAutofit/>
          </a:bodyPr>
          <a:lstStyle/>
          <a:p>
            <a:pPr marL="0" lvl="0" indent="0" algn="r">
              <a:buNone/>
            </a:pPr>
            <a:r>
              <a:rPr lang="en-US" sz="800" dirty="0">
                <a:latin typeface="+mn-lt"/>
              </a:rPr>
              <a:t>(leatherleaf fern): Gregory Preest/</a:t>
            </a:r>
            <a:r>
              <a:rPr lang="en-US" sz="800" dirty="0" err="1">
                <a:latin typeface="+mn-lt"/>
              </a:rPr>
              <a:t>Alamy</a:t>
            </a:r>
            <a:r>
              <a:rPr lang="en-US" sz="800" dirty="0">
                <a:latin typeface="+mn-lt"/>
              </a:rPr>
              <a:t> Stock Photo; (tree fern): Danita Delimont/Gallo Images/Getty Images; (hart’s tongue fern): Organics/image library/</a:t>
            </a:r>
            <a:r>
              <a:rPr lang="en-US" sz="800" dirty="0" err="1">
                <a:latin typeface="+mn-lt"/>
              </a:rPr>
              <a:t>Alamy</a:t>
            </a:r>
            <a:r>
              <a:rPr lang="en-US" sz="800" dirty="0">
                <a:latin typeface="+mn-lt"/>
              </a:rPr>
              <a:t> Stock Photo</a:t>
            </a:r>
            <a:endParaRPr lang="en-GB" sz="800" dirty="0">
              <a:latin typeface="+mn-lt"/>
            </a:endParaRPr>
          </a:p>
        </p:txBody>
      </p:sp>
      <p:sp>
        <p:nvSpPr>
          <p:cNvPr id="9" name="Slide Number Placeholder 5">
            <a:extLst>
              <a:ext uri="{FF2B5EF4-FFF2-40B4-BE49-F238E27FC236}">
                <a16:creationId xmlns:a16="http://schemas.microsoft.com/office/drawing/2014/main" id="{659E187B-DC48-4521-950B-AEE29D46F06F}"/>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44</a:t>
            </a:fld>
            <a:endParaRPr lang="en-IN"/>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p:cNvSpPr>
            <a:spLocks noGrp="1" noChangeArrowheads="1"/>
          </p:cNvSpPr>
          <p:nvPr>
            <p:ph type="title"/>
          </p:nvPr>
        </p:nvSpPr>
        <p:spPr/>
        <p:txBody>
          <a:bodyPr/>
          <a:lstStyle/>
          <a:p>
            <a:r>
              <a:rPr lang="en-US" altLang="en-US" dirty="0"/>
              <a:t>Fern Life Cycle </a:t>
            </a:r>
            <a:r>
              <a:rPr lang="en-US" altLang="en-US" sz="1600" dirty="0"/>
              <a:t>1</a:t>
            </a:r>
          </a:p>
        </p:txBody>
      </p:sp>
      <p:pic>
        <p:nvPicPr>
          <p:cNvPr id="53252" name="Picture 2" descr="The sporophyte portion of the life cycle is dominant in ferns."/>
          <p:cNvPicPr>
            <a:picLocks noChangeAspect="1" noChangeArrowheads="1"/>
          </p:cNvPicPr>
          <p:nvPr/>
        </p:nvPicPr>
        <p:blipFill rotWithShape="1">
          <a:blip r:embed="rId3">
            <a:extLst>
              <a:ext uri="{28A0092B-C50C-407E-A947-70E740481C1C}">
                <a14:useLocalDpi xmlns:a14="http://schemas.microsoft.com/office/drawing/2010/main" val="0"/>
              </a:ext>
            </a:extLst>
          </a:blip>
          <a:srcRect t="3230"/>
          <a:stretch/>
        </p:blipFill>
        <p:spPr bwMode="auto">
          <a:xfrm>
            <a:off x="2262187" y="739749"/>
            <a:ext cx="4619625" cy="5610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 Placeholder 3">
            <a:extLst>
              <a:ext uri="{FF2B5EF4-FFF2-40B4-BE49-F238E27FC236}">
                <a16:creationId xmlns:a16="http://schemas.microsoft.com/office/drawing/2014/main" id="{B3DB232E-C8A8-4C83-8FE8-2F6BCCD750AE}"/>
              </a:ext>
            </a:extLst>
          </p:cNvPr>
          <p:cNvSpPr>
            <a:spLocks noGrp="1"/>
          </p:cNvSpPr>
          <p:nvPr>
            <p:ph type="body" sz="quarter" idx="19"/>
          </p:nvPr>
        </p:nvSpPr>
        <p:spPr>
          <a:xfrm>
            <a:off x="4000552" y="6350055"/>
            <a:ext cx="1142893" cy="314325"/>
          </a:xfrm>
        </p:spPr>
        <p:txBody>
          <a:bodyPr>
            <a:normAutofit/>
          </a:bodyPr>
          <a:lstStyle/>
          <a:p>
            <a:pPr algn="ctr"/>
            <a:r>
              <a:rPr lang="en-US" sz="1200" dirty="0"/>
              <a:t>Figure 23.16</a:t>
            </a:r>
          </a:p>
        </p:txBody>
      </p:sp>
      <p:sp>
        <p:nvSpPr>
          <p:cNvPr id="5" name="Slide Number Placeholder 4">
            <a:extLst>
              <a:ext uri="{FF2B5EF4-FFF2-40B4-BE49-F238E27FC236}">
                <a16:creationId xmlns:a16="http://schemas.microsoft.com/office/drawing/2014/main" id="{761D5E09-C5EB-4742-A605-8FEB0037051D}"/>
              </a:ext>
            </a:extLst>
          </p:cNvPr>
          <p:cNvSpPr>
            <a:spLocks noGrp="1"/>
          </p:cNvSpPr>
          <p:nvPr>
            <p:ph type="sldNum" sz="quarter" idx="4"/>
          </p:nvPr>
        </p:nvSpPr>
        <p:spPr/>
        <p:txBody>
          <a:bodyPr/>
          <a:lstStyle/>
          <a:p>
            <a:fld id="{08F9AD23-695F-4808-8E99-6281554D0F77}" type="slidenum">
              <a:rPr lang="en-IN" smtClean="0"/>
              <a:t>45</a:t>
            </a:fld>
            <a:endParaRPr lang="en-IN"/>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p:cNvSpPr>
            <a:spLocks noGrp="1" noChangeArrowheads="1"/>
          </p:cNvSpPr>
          <p:nvPr>
            <p:ph type="title"/>
          </p:nvPr>
        </p:nvSpPr>
        <p:spPr/>
        <p:txBody>
          <a:bodyPr/>
          <a:lstStyle/>
          <a:p>
            <a:r>
              <a:rPr lang="en-US" altLang="en-US" dirty="0"/>
              <a:t>Fern Life Cycle </a:t>
            </a:r>
            <a:r>
              <a:rPr lang="en-US" altLang="en-US" sz="1600" dirty="0"/>
              <a:t>2</a:t>
            </a:r>
          </a:p>
        </p:txBody>
      </p:sp>
      <p:pic>
        <p:nvPicPr>
          <p:cNvPr id="6" name="Picture 2" descr="Step 1,  the sporophyte portion of the life cycle is dominant in ferns.">
            <a:extLst>
              <a:ext uri="{FF2B5EF4-FFF2-40B4-BE49-F238E27FC236}">
                <a16:creationId xmlns:a16="http://schemas.microsoft.com/office/drawing/2014/main" id="{221BF5B5-0AEB-4E38-B16B-6B7821DE183E}"/>
              </a:ext>
            </a:extLst>
          </p:cNvPr>
          <p:cNvPicPr>
            <a:picLocks noChangeAspect="1"/>
          </p:cNvPicPr>
          <p:nvPr/>
        </p:nvPicPr>
        <p:blipFill rotWithShape="1">
          <a:blip r:embed="rId3">
            <a:extLst>
              <a:ext uri="{28A0092B-C50C-407E-A947-70E740481C1C}">
                <a14:useLocalDpi xmlns:a14="http://schemas.microsoft.com/office/drawing/2010/main" val="0"/>
              </a:ext>
            </a:extLst>
          </a:blip>
          <a:srcRect t="4594" b="2686"/>
          <a:stretch/>
        </p:blipFill>
        <p:spPr>
          <a:xfrm>
            <a:off x="1298448" y="1200150"/>
            <a:ext cx="6547104" cy="5070021"/>
          </a:xfrm>
          <a:prstGeom prst="rect">
            <a:avLst/>
          </a:prstGeom>
        </p:spPr>
      </p:pic>
      <p:sp>
        <p:nvSpPr>
          <p:cNvPr id="2" name="Text Placeholder 3">
            <a:extLst>
              <a:ext uri="{FF2B5EF4-FFF2-40B4-BE49-F238E27FC236}">
                <a16:creationId xmlns:a16="http://schemas.microsoft.com/office/drawing/2014/main" id="{B3DB232E-C8A8-4C83-8FE8-2F6BCCD750AE}"/>
              </a:ext>
            </a:extLst>
          </p:cNvPr>
          <p:cNvSpPr>
            <a:spLocks noGrp="1"/>
          </p:cNvSpPr>
          <p:nvPr>
            <p:ph type="body" sz="quarter" idx="19"/>
          </p:nvPr>
        </p:nvSpPr>
        <p:spPr>
          <a:xfrm>
            <a:off x="4000552" y="6350055"/>
            <a:ext cx="1142893" cy="314325"/>
          </a:xfrm>
        </p:spPr>
        <p:txBody>
          <a:bodyPr>
            <a:normAutofit/>
          </a:bodyPr>
          <a:lstStyle/>
          <a:p>
            <a:pPr algn="ctr"/>
            <a:r>
              <a:rPr lang="en-US" sz="1200" dirty="0"/>
              <a:t>Figure 23.16</a:t>
            </a:r>
          </a:p>
        </p:txBody>
      </p:sp>
      <p:sp>
        <p:nvSpPr>
          <p:cNvPr id="5" name="Slide Number Placeholder 4">
            <a:extLst>
              <a:ext uri="{FF2B5EF4-FFF2-40B4-BE49-F238E27FC236}">
                <a16:creationId xmlns:a16="http://schemas.microsoft.com/office/drawing/2014/main" id="{761D5E09-C5EB-4742-A605-8FEB0037051D}"/>
              </a:ext>
            </a:extLst>
          </p:cNvPr>
          <p:cNvSpPr>
            <a:spLocks noGrp="1"/>
          </p:cNvSpPr>
          <p:nvPr>
            <p:ph type="sldNum" sz="quarter" idx="4"/>
          </p:nvPr>
        </p:nvSpPr>
        <p:spPr/>
        <p:txBody>
          <a:bodyPr/>
          <a:lstStyle/>
          <a:p>
            <a:fld id="{08F9AD23-695F-4808-8E99-6281554D0F77}" type="slidenum">
              <a:rPr lang="en-IN" smtClean="0"/>
              <a:t>46</a:t>
            </a:fld>
            <a:endParaRPr lang="en-IN"/>
          </a:p>
        </p:txBody>
      </p:sp>
    </p:spTree>
    <p:extLst>
      <p:ext uri="{BB962C8B-B14F-4D97-AF65-F5344CB8AC3E}">
        <p14:creationId xmlns:p14="http://schemas.microsoft.com/office/powerpoint/2010/main" val="3259943412"/>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p:cNvSpPr>
            <a:spLocks noGrp="1" noChangeArrowheads="1"/>
          </p:cNvSpPr>
          <p:nvPr>
            <p:ph type="title"/>
          </p:nvPr>
        </p:nvSpPr>
        <p:spPr/>
        <p:txBody>
          <a:bodyPr/>
          <a:lstStyle/>
          <a:p>
            <a:r>
              <a:rPr lang="en-US" altLang="en-US" dirty="0"/>
              <a:t>Fern Life Cycle </a:t>
            </a:r>
            <a:r>
              <a:rPr lang="en-US" altLang="en-US" sz="1600" dirty="0"/>
              <a:t>3</a:t>
            </a:r>
          </a:p>
        </p:txBody>
      </p:sp>
      <p:pic>
        <p:nvPicPr>
          <p:cNvPr id="6" name="Picture 2" descr="Step 2, in this fern, the sporangia are located within sori, on the underside of the leaflets, and protected by the indusium.">
            <a:extLst>
              <a:ext uri="{FF2B5EF4-FFF2-40B4-BE49-F238E27FC236}">
                <a16:creationId xmlns:a16="http://schemas.microsoft.com/office/drawing/2014/main" id="{FD11C697-DBE0-4560-98EC-556B04ED7C5F}"/>
              </a:ext>
            </a:extLst>
          </p:cNvPr>
          <p:cNvPicPr>
            <a:picLocks noChangeAspect="1"/>
          </p:cNvPicPr>
          <p:nvPr/>
        </p:nvPicPr>
        <p:blipFill rotWithShape="1">
          <a:blip r:embed="rId3">
            <a:extLst>
              <a:ext uri="{28A0092B-C50C-407E-A947-70E740481C1C}">
                <a14:useLocalDpi xmlns:a14="http://schemas.microsoft.com/office/drawing/2010/main" val="0"/>
              </a:ext>
            </a:extLst>
          </a:blip>
          <a:srcRect t="4176" b="2198"/>
          <a:stretch/>
        </p:blipFill>
        <p:spPr>
          <a:xfrm>
            <a:off x="1586992" y="1300163"/>
            <a:ext cx="6224016" cy="4868408"/>
          </a:xfrm>
          <a:prstGeom prst="rect">
            <a:avLst/>
          </a:prstGeom>
        </p:spPr>
      </p:pic>
      <p:sp>
        <p:nvSpPr>
          <p:cNvPr id="2" name="Text Placeholder 3">
            <a:extLst>
              <a:ext uri="{FF2B5EF4-FFF2-40B4-BE49-F238E27FC236}">
                <a16:creationId xmlns:a16="http://schemas.microsoft.com/office/drawing/2014/main" id="{B3DB232E-C8A8-4C83-8FE8-2F6BCCD750AE}"/>
              </a:ext>
            </a:extLst>
          </p:cNvPr>
          <p:cNvSpPr>
            <a:spLocks noGrp="1"/>
          </p:cNvSpPr>
          <p:nvPr>
            <p:ph type="body" sz="quarter" idx="19"/>
          </p:nvPr>
        </p:nvSpPr>
        <p:spPr>
          <a:xfrm>
            <a:off x="4000552" y="6350055"/>
            <a:ext cx="1142893" cy="314325"/>
          </a:xfrm>
        </p:spPr>
        <p:txBody>
          <a:bodyPr>
            <a:normAutofit/>
          </a:bodyPr>
          <a:lstStyle/>
          <a:p>
            <a:pPr algn="ctr"/>
            <a:r>
              <a:rPr lang="en-US" sz="1200" dirty="0"/>
              <a:t>Figure 23.16</a:t>
            </a:r>
          </a:p>
        </p:txBody>
      </p:sp>
      <p:sp>
        <p:nvSpPr>
          <p:cNvPr id="5" name="Slide Number Placeholder 4">
            <a:extLst>
              <a:ext uri="{FF2B5EF4-FFF2-40B4-BE49-F238E27FC236}">
                <a16:creationId xmlns:a16="http://schemas.microsoft.com/office/drawing/2014/main" id="{761D5E09-C5EB-4742-A605-8FEB0037051D}"/>
              </a:ext>
            </a:extLst>
          </p:cNvPr>
          <p:cNvSpPr>
            <a:spLocks noGrp="1"/>
          </p:cNvSpPr>
          <p:nvPr>
            <p:ph type="sldNum" sz="quarter" idx="4"/>
          </p:nvPr>
        </p:nvSpPr>
        <p:spPr/>
        <p:txBody>
          <a:bodyPr/>
          <a:lstStyle/>
          <a:p>
            <a:fld id="{08F9AD23-695F-4808-8E99-6281554D0F77}" type="slidenum">
              <a:rPr lang="en-IN" smtClean="0"/>
              <a:t>47</a:t>
            </a:fld>
            <a:endParaRPr lang="en-IN"/>
          </a:p>
        </p:txBody>
      </p:sp>
    </p:spTree>
    <p:extLst>
      <p:ext uri="{BB962C8B-B14F-4D97-AF65-F5344CB8AC3E}">
        <p14:creationId xmlns:p14="http://schemas.microsoft.com/office/powerpoint/2010/main" val="1751958413"/>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p:cNvSpPr>
            <a:spLocks noGrp="1" noChangeArrowheads="1"/>
          </p:cNvSpPr>
          <p:nvPr>
            <p:ph type="title"/>
          </p:nvPr>
        </p:nvSpPr>
        <p:spPr/>
        <p:txBody>
          <a:bodyPr/>
          <a:lstStyle/>
          <a:p>
            <a:r>
              <a:rPr lang="en-US" altLang="en-US" dirty="0"/>
              <a:t>Fern Life Cycle </a:t>
            </a:r>
            <a:r>
              <a:rPr lang="en-US" altLang="en-US" sz="1600" dirty="0"/>
              <a:t>4</a:t>
            </a:r>
          </a:p>
        </p:txBody>
      </p:sp>
      <p:pic>
        <p:nvPicPr>
          <p:cNvPr id="6" name="Picture 2" descr="Step 3, within a sporangium, meiosis occurs and spores are produced. When a sporangium opens, the spores are released.">
            <a:extLst>
              <a:ext uri="{FF2B5EF4-FFF2-40B4-BE49-F238E27FC236}">
                <a16:creationId xmlns:a16="http://schemas.microsoft.com/office/drawing/2014/main" id="{6CC2AD7C-6AF5-4B24-8D6C-9A953BEE05E9}"/>
              </a:ext>
            </a:extLst>
          </p:cNvPr>
          <p:cNvPicPr>
            <a:picLocks noChangeAspect="1"/>
          </p:cNvPicPr>
          <p:nvPr/>
        </p:nvPicPr>
        <p:blipFill rotWithShape="1">
          <a:blip r:embed="rId3">
            <a:extLst>
              <a:ext uri="{28A0092B-C50C-407E-A947-70E740481C1C}">
                <a14:useLocalDpi xmlns:a14="http://schemas.microsoft.com/office/drawing/2010/main" val="0"/>
              </a:ext>
            </a:extLst>
          </a:blip>
          <a:srcRect t="4066" b="2684"/>
          <a:stretch/>
        </p:blipFill>
        <p:spPr>
          <a:xfrm>
            <a:off x="1280160" y="1157288"/>
            <a:ext cx="6583680" cy="5127398"/>
          </a:xfrm>
          <a:prstGeom prst="rect">
            <a:avLst/>
          </a:prstGeom>
        </p:spPr>
      </p:pic>
      <p:sp>
        <p:nvSpPr>
          <p:cNvPr id="2" name="Text Placeholder 3">
            <a:extLst>
              <a:ext uri="{FF2B5EF4-FFF2-40B4-BE49-F238E27FC236}">
                <a16:creationId xmlns:a16="http://schemas.microsoft.com/office/drawing/2014/main" id="{B3DB232E-C8A8-4C83-8FE8-2F6BCCD750AE}"/>
              </a:ext>
            </a:extLst>
          </p:cNvPr>
          <p:cNvSpPr>
            <a:spLocks noGrp="1"/>
          </p:cNvSpPr>
          <p:nvPr>
            <p:ph type="body" sz="quarter" idx="19"/>
          </p:nvPr>
        </p:nvSpPr>
        <p:spPr>
          <a:xfrm>
            <a:off x="4000552" y="6350055"/>
            <a:ext cx="1142893" cy="314325"/>
          </a:xfrm>
        </p:spPr>
        <p:txBody>
          <a:bodyPr>
            <a:normAutofit/>
          </a:bodyPr>
          <a:lstStyle/>
          <a:p>
            <a:pPr algn="ctr"/>
            <a:r>
              <a:rPr lang="en-US" sz="1200" dirty="0"/>
              <a:t>Figure 23.16</a:t>
            </a:r>
          </a:p>
        </p:txBody>
      </p:sp>
      <p:sp>
        <p:nvSpPr>
          <p:cNvPr id="5" name="Slide Number Placeholder 4">
            <a:extLst>
              <a:ext uri="{FF2B5EF4-FFF2-40B4-BE49-F238E27FC236}">
                <a16:creationId xmlns:a16="http://schemas.microsoft.com/office/drawing/2014/main" id="{761D5E09-C5EB-4742-A605-8FEB0037051D}"/>
              </a:ext>
            </a:extLst>
          </p:cNvPr>
          <p:cNvSpPr>
            <a:spLocks noGrp="1"/>
          </p:cNvSpPr>
          <p:nvPr>
            <p:ph type="sldNum" sz="quarter" idx="4"/>
          </p:nvPr>
        </p:nvSpPr>
        <p:spPr/>
        <p:txBody>
          <a:bodyPr/>
          <a:lstStyle/>
          <a:p>
            <a:fld id="{08F9AD23-695F-4808-8E99-6281554D0F77}" type="slidenum">
              <a:rPr lang="en-IN" smtClean="0"/>
              <a:t>48</a:t>
            </a:fld>
            <a:endParaRPr lang="en-IN"/>
          </a:p>
        </p:txBody>
      </p:sp>
    </p:spTree>
    <p:extLst>
      <p:ext uri="{BB962C8B-B14F-4D97-AF65-F5344CB8AC3E}">
        <p14:creationId xmlns:p14="http://schemas.microsoft.com/office/powerpoint/2010/main" val="2166651381"/>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p:cNvSpPr>
            <a:spLocks noGrp="1" noChangeArrowheads="1"/>
          </p:cNvSpPr>
          <p:nvPr>
            <p:ph type="title"/>
          </p:nvPr>
        </p:nvSpPr>
        <p:spPr/>
        <p:txBody>
          <a:bodyPr/>
          <a:lstStyle/>
          <a:p>
            <a:r>
              <a:rPr lang="en-US" altLang="en-US" dirty="0"/>
              <a:t>Fern Life Cycle </a:t>
            </a:r>
            <a:r>
              <a:rPr lang="en-US" altLang="en-US" sz="1600" dirty="0"/>
              <a:t>5</a:t>
            </a:r>
          </a:p>
        </p:txBody>
      </p:sp>
      <p:pic>
        <p:nvPicPr>
          <p:cNvPr id="6" name="Picture 2" descr="Step 4, a spore germinates into a prothallus (the gametophyte), which typically bears archegonia at the notch and antheridia at the tip between the rhizoids.">
            <a:extLst>
              <a:ext uri="{FF2B5EF4-FFF2-40B4-BE49-F238E27FC236}">
                <a16:creationId xmlns:a16="http://schemas.microsoft.com/office/drawing/2014/main" id="{2E567467-DF56-4160-A69E-19AC78795E65}"/>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3819" b="2414"/>
          <a:stretch/>
        </p:blipFill>
        <p:spPr>
          <a:xfrm>
            <a:off x="1692135" y="1228725"/>
            <a:ext cx="6392500" cy="5006975"/>
          </a:xfrm>
          <a:prstGeom prst="rect">
            <a:avLst/>
          </a:prstGeom>
        </p:spPr>
      </p:pic>
      <p:sp>
        <p:nvSpPr>
          <p:cNvPr id="2" name="Text Placeholder 3">
            <a:extLst>
              <a:ext uri="{FF2B5EF4-FFF2-40B4-BE49-F238E27FC236}">
                <a16:creationId xmlns:a16="http://schemas.microsoft.com/office/drawing/2014/main" id="{B3DB232E-C8A8-4C83-8FE8-2F6BCCD750AE}"/>
              </a:ext>
            </a:extLst>
          </p:cNvPr>
          <p:cNvSpPr>
            <a:spLocks noGrp="1"/>
          </p:cNvSpPr>
          <p:nvPr>
            <p:ph type="body" sz="quarter" idx="19"/>
          </p:nvPr>
        </p:nvSpPr>
        <p:spPr>
          <a:xfrm>
            <a:off x="4000552" y="6350055"/>
            <a:ext cx="1142893" cy="314325"/>
          </a:xfrm>
        </p:spPr>
        <p:txBody>
          <a:bodyPr>
            <a:normAutofit/>
          </a:bodyPr>
          <a:lstStyle/>
          <a:p>
            <a:pPr algn="ctr"/>
            <a:r>
              <a:rPr lang="en-US" sz="1200" dirty="0"/>
              <a:t>Figure 23.16</a:t>
            </a:r>
          </a:p>
        </p:txBody>
      </p:sp>
      <p:sp>
        <p:nvSpPr>
          <p:cNvPr id="5" name="Slide Number Placeholder 4">
            <a:extLst>
              <a:ext uri="{FF2B5EF4-FFF2-40B4-BE49-F238E27FC236}">
                <a16:creationId xmlns:a16="http://schemas.microsoft.com/office/drawing/2014/main" id="{761D5E09-C5EB-4742-A605-8FEB0037051D}"/>
              </a:ext>
            </a:extLst>
          </p:cNvPr>
          <p:cNvSpPr>
            <a:spLocks noGrp="1"/>
          </p:cNvSpPr>
          <p:nvPr>
            <p:ph type="sldNum" sz="quarter" idx="4"/>
          </p:nvPr>
        </p:nvSpPr>
        <p:spPr/>
        <p:txBody>
          <a:bodyPr/>
          <a:lstStyle/>
          <a:p>
            <a:fld id="{08F9AD23-695F-4808-8E99-6281554D0F77}" type="slidenum">
              <a:rPr lang="en-IN" smtClean="0"/>
              <a:t>49</a:t>
            </a:fld>
            <a:endParaRPr lang="en-IN"/>
          </a:p>
        </p:txBody>
      </p:sp>
    </p:spTree>
    <p:extLst>
      <p:ext uri="{BB962C8B-B14F-4D97-AF65-F5344CB8AC3E}">
        <p14:creationId xmlns:p14="http://schemas.microsoft.com/office/powerpoint/2010/main" val="560408024"/>
      </p:ext>
    </p:ext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p:cNvSpPr>
            <a:spLocks noGrp="1" noChangeArrowheads="1"/>
          </p:cNvSpPr>
          <p:nvPr>
            <p:ph type="title"/>
          </p:nvPr>
        </p:nvSpPr>
        <p:spPr/>
        <p:txBody>
          <a:bodyPr/>
          <a:lstStyle/>
          <a:p>
            <a:r>
              <a:rPr lang="en-US" altLang="en-US" dirty="0"/>
              <a:t>Fern Life Cycle </a:t>
            </a:r>
            <a:r>
              <a:rPr lang="en-US" altLang="en-US" sz="1600" dirty="0"/>
              <a:t>6</a:t>
            </a:r>
          </a:p>
        </p:txBody>
      </p:sp>
      <p:pic>
        <p:nvPicPr>
          <p:cNvPr id="7" name="Picture 2" descr="Step 5 of the cycle is fertilization.">
            <a:extLst>
              <a:ext uri="{FF2B5EF4-FFF2-40B4-BE49-F238E27FC236}">
                <a16:creationId xmlns:a16="http://schemas.microsoft.com/office/drawing/2014/main" id="{C3E56735-EE9D-4112-9B39-0C056AFB75B0}"/>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4753" b="2441"/>
          <a:stretch/>
        </p:blipFill>
        <p:spPr>
          <a:xfrm>
            <a:off x="1265872" y="839466"/>
            <a:ext cx="6612256" cy="5126038"/>
          </a:xfrm>
          <a:prstGeom prst="rect">
            <a:avLst/>
          </a:prstGeom>
        </p:spPr>
      </p:pic>
      <p:sp>
        <p:nvSpPr>
          <p:cNvPr id="3" name="Text Placeholder 3">
            <a:extLst>
              <a:ext uri="{FF2B5EF4-FFF2-40B4-BE49-F238E27FC236}">
                <a16:creationId xmlns:a16="http://schemas.microsoft.com/office/drawing/2014/main" id="{81E21D01-EACA-4700-957D-B5CA063E8075}"/>
              </a:ext>
            </a:extLst>
          </p:cNvPr>
          <p:cNvSpPr>
            <a:spLocks noGrp="1"/>
          </p:cNvSpPr>
          <p:nvPr>
            <p:ph type="body" sz="quarter" idx="18"/>
          </p:nvPr>
        </p:nvSpPr>
        <p:spPr>
          <a:xfrm>
            <a:off x="3990197" y="5872320"/>
            <a:ext cx="1163605" cy="378739"/>
          </a:xfrm>
        </p:spPr>
        <p:txBody>
          <a:bodyPr>
            <a:normAutofit/>
          </a:bodyPr>
          <a:lstStyle/>
          <a:p>
            <a:r>
              <a:rPr lang="en-US" sz="1200" dirty="0"/>
              <a:t>Figure 23.16</a:t>
            </a:r>
          </a:p>
        </p:txBody>
      </p:sp>
      <p:sp>
        <p:nvSpPr>
          <p:cNvPr id="6" name="Text Placeholder 4">
            <a:extLst>
              <a:ext uri="{FF2B5EF4-FFF2-40B4-BE49-F238E27FC236}">
                <a16:creationId xmlns:a16="http://schemas.microsoft.com/office/drawing/2014/main" id="{BB59562B-E5A5-4009-8338-9B9031D2244F}"/>
              </a:ext>
            </a:extLst>
          </p:cNvPr>
          <p:cNvSpPr>
            <a:spLocks noGrp="1"/>
          </p:cNvSpPr>
          <p:nvPr>
            <p:ph type="body" sz="quarter" idx="19"/>
          </p:nvPr>
        </p:nvSpPr>
        <p:spPr>
          <a:xfrm>
            <a:off x="2849662" y="6252784"/>
            <a:ext cx="3444676" cy="378739"/>
          </a:xfrm>
        </p:spPr>
        <p:txBody>
          <a:bodyPr>
            <a:normAutofit/>
          </a:bodyPr>
          <a:lstStyle/>
          <a:p>
            <a:pPr algn="ctr"/>
            <a:r>
              <a:rPr lang="en-US" sz="1200" dirty="0">
                <a:latin typeface="+mn-lt"/>
                <a:hlinkClick r:id="rId4" action="ppaction://hlinksldjump"/>
              </a:rPr>
              <a:t>Access the text alternative for slide images.</a:t>
            </a:r>
            <a:endParaRPr lang="en-US" sz="1200" dirty="0">
              <a:latin typeface="+mn-lt"/>
            </a:endParaRPr>
          </a:p>
        </p:txBody>
      </p:sp>
      <p:sp>
        <p:nvSpPr>
          <p:cNvPr id="5" name="Slide Number Placeholder 5">
            <a:extLst>
              <a:ext uri="{FF2B5EF4-FFF2-40B4-BE49-F238E27FC236}">
                <a16:creationId xmlns:a16="http://schemas.microsoft.com/office/drawing/2014/main" id="{E4EE2096-646F-4A92-A8B2-C2275498A9F5}"/>
              </a:ext>
            </a:extLst>
          </p:cNvPr>
          <p:cNvSpPr>
            <a:spLocks noGrp="1"/>
          </p:cNvSpPr>
          <p:nvPr>
            <p:ph type="sldNum" sz="quarter" idx="4"/>
          </p:nvPr>
        </p:nvSpPr>
        <p:spPr/>
        <p:txBody>
          <a:bodyPr/>
          <a:lstStyle/>
          <a:p>
            <a:fld id="{08F9AD23-695F-4808-8E99-6281554D0F77}" type="slidenum">
              <a:rPr lang="en-IN" smtClean="0"/>
              <a:t>50</a:t>
            </a:fld>
            <a:endParaRPr lang="en-IN"/>
          </a:p>
        </p:txBody>
      </p:sp>
    </p:spTree>
    <p:extLst>
      <p:ext uri="{BB962C8B-B14F-4D97-AF65-F5344CB8AC3E}">
        <p14:creationId xmlns:p14="http://schemas.microsoft.com/office/powerpoint/2010/main" val="1426426780"/>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p:cNvSpPr>
            <a:spLocks noGrp="1" noChangeArrowheads="1"/>
          </p:cNvSpPr>
          <p:nvPr>
            <p:ph type="title"/>
          </p:nvPr>
        </p:nvSpPr>
        <p:spPr/>
        <p:txBody>
          <a:bodyPr/>
          <a:lstStyle/>
          <a:p>
            <a:r>
              <a:rPr lang="en-US" altLang="en-US" dirty="0"/>
              <a:t>Fern Life Cycle </a:t>
            </a:r>
            <a:r>
              <a:rPr lang="en-US" altLang="en-US" sz="1600" dirty="0"/>
              <a:t>7</a:t>
            </a:r>
          </a:p>
        </p:txBody>
      </p:sp>
      <p:pic>
        <p:nvPicPr>
          <p:cNvPr id="8" name="Picture 2" descr="Step 6, spores germinate into male or female immature gametophytes (protonema).">
            <a:extLst>
              <a:ext uri="{FF2B5EF4-FFF2-40B4-BE49-F238E27FC236}">
                <a16:creationId xmlns:a16="http://schemas.microsoft.com/office/drawing/2014/main" id="{5E1207A5-3F18-4D39-920E-6044F39DBBBC}"/>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4834" b="2453"/>
          <a:stretch/>
        </p:blipFill>
        <p:spPr>
          <a:xfrm>
            <a:off x="1281036" y="861536"/>
            <a:ext cx="6581929" cy="5097463"/>
          </a:xfrm>
          <a:prstGeom prst="rect">
            <a:avLst/>
          </a:prstGeom>
        </p:spPr>
      </p:pic>
      <p:sp>
        <p:nvSpPr>
          <p:cNvPr id="3" name="Text Placeholder 3">
            <a:extLst>
              <a:ext uri="{FF2B5EF4-FFF2-40B4-BE49-F238E27FC236}">
                <a16:creationId xmlns:a16="http://schemas.microsoft.com/office/drawing/2014/main" id="{81E21D01-EACA-4700-957D-B5CA063E8075}"/>
              </a:ext>
            </a:extLst>
          </p:cNvPr>
          <p:cNvSpPr>
            <a:spLocks noGrp="1"/>
          </p:cNvSpPr>
          <p:nvPr>
            <p:ph type="body" sz="quarter" idx="18"/>
          </p:nvPr>
        </p:nvSpPr>
        <p:spPr>
          <a:xfrm>
            <a:off x="3990197" y="5872320"/>
            <a:ext cx="1163605" cy="378739"/>
          </a:xfrm>
        </p:spPr>
        <p:txBody>
          <a:bodyPr>
            <a:normAutofit/>
          </a:bodyPr>
          <a:lstStyle/>
          <a:p>
            <a:r>
              <a:rPr lang="en-US" sz="1200" dirty="0"/>
              <a:t>Figure 23.16</a:t>
            </a:r>
          </a:p>
        </p:txBody>
      </p:sp>
      <p:sp>
        <p:nvSpPr>
          <p:cNvPr id="6" name="Text Placeholder 4">
            <a:extLst>
              <a:ext uri="{FF2B5EF4-FFF2-40B4-BE49-F238E27FC236}">
                <a16:creationId xmlns:a16="http://schemas.microsoft.com/office/drawing/2014/main" id="{BB59562B-E5A5-4009-8338-9B9031D2244F}"/>
              </a:ext>
            </a:extLst>
          </p:cNvPr>
          <p:cNvSpPr>
            <a:spLocks noGrp="1"/>
          </p:cNvSpPr>
          <p:nvPr>
            <p:ph type="body" sz="quarter" idx="19"/>
          </p:nvPr>
        </p:nvSpPr>
        <p:spPr>
          <a:xfrm>
            <a:off x="2849662" y="6252784"/>
            <a:ext cx="3444676" cy="378739"/>
          </a:xfrm>
        </p:spPr>
        <p:txBody>
          <a:bodyPr>
            <a:normAutofit/>
          </a:bodyPr>
          <a:lstStyle/>
          <a:p>
            <a:pPr algn="ctr"/>
            <a:r>
              <a:rPr lang="en-US" sz="1200" dirty="0">
                <a:latin typeface="+mn-lt"/>
                <a:hlinkClick r:id="rId4" action="ppaction://hlinksldjump"/>
              </a:rPr>
              <a:t>Access the text alternative for slide images.</a:t>
            </a:r>
            <a:endParaRPr lang="en-US" sz="1200" dirty="0">
              <a:latin typeface="+mn-lt"/>
            </a:endParaRPr>
          </a:p>
        </p:txBody>
      </p:sp>
      <p:sp>
        <p:nvSpPr>
          <p:cNvPr id="5" name="Slide Number Placeholder 5">
            <a:extLst>
              <a:ext uri="{FF2B5EF4-FFF2-40B4-BE49-F238E27FC236}">
                <a16:creationId xmlns:a16="http://schemas.microsoft.com/office/drawing/2014/main" id="{E4EE2096-646F-4A92-A8B2-C2275498A9F5}"/>
              </a:ext>
            </a:extLst>
          </p:cNvPr>
          <p:cNvSpPr>
            <a:spLocks noGrp="1"/>
          </p:cNvSpPr>
          <p:nvPr>
            <p:ph type="sldNum" sz="quarter" idx="4"/>
          </p:nvPr>
        </p:nvSpPr>
        <p:spPr/>
        <p:txBody>
          <a:bodyPr/>
          <a:lstStyle/>
          <a:p>
            <a:fld id="{08F9AD23-695F-4808-8E99-6281554D0F77}" type="slidenum">
              <a:rPr lang="en-IN" smtClean="0"/>
              <a:t>51</a:t>
            </a:fld>
            <a:endParaRPr lang="en-IN"/>
          </a:p>
        </p:txBody>
      </p:sp>
    </p:spTree>
    <p:extLst>
      <p:ext uri="{BB962C8B-B14F-4D97-AF65-F5344CB8AC3E}">
        <p14:creationId xmlns:p14="http://schemas.microsoft.com/office/powerpoint/2010/main" val="586052586"/>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p:cNvSpPr>
            <a:spLocks noGrp="1" noChangeArrowheads="1"/>
          </p:cNvSpPr>
          <p:nvPr>
            <p:ph type="title"/>
          </p:nvPr>
        </p:nvSpPr>
        <p:spPr/>
        <p:txBody>
          <a:bodyPr/>
          <a:lstStyle/>
          <a:p>
            <a:r>
              <a:rPr lang="en-US" altLang="en-US" dirty="0"/>
              <a:t>Fern Life Cycle </a:t>
            </a:r>
            <a:r>
              <a:rPr lang="en-US" altLang="en-US" sz="1600" dirty="0"/>
              <a:t>8</a:t>
            </a:r>
          </a:p>
        </p:txBody>
      </p:sp>
      <p:pic>
        <p:nvPicPr>
          <p:cNvPr id="2" name="Picture 2" descr="Details of the fern life cycle include spore formation and germination, gamete formation, fertilization and frond formation"/>
          <p:cNvPicPr>
            <a:picLocks noChangeAspect="1"/>
          </p:cNvPicPr>
          <p:nvPr/>
        </p:nvPicPr>
        <p:blipFill rotWithShape="1">
          <a:blip r:embed="rId3" cstate="print">
            <a:extLst>
              <a:ext uri="{28A0092B-C50C-407E-A947-70E740481C1C}">
                <a14:useLocalDpi xmlns:a14="http://schemas.microsoft.com/office/drawing/2010/main" val="0"/>
              </a:ext>
            </a:extLst>
          </a:blip>
          <a:srcRect t="5096"/>
          <a:stretch/>
        </p:blipFill>
        <p:spPr>
          <a:xfrm>
            <a:off x="1685330" y="824322"/>
            <a:ext cx="5773339" cy="4677409"/>
          </a:xfrm>
          <a:prstGeom prst="rect">
            <a:avLst/>
          </a:prstGeom>
        </p:spPr>
      </p:pic>
      <p:sp>
        <p:nvSpPr>
          <p:cNvPr id="3" name="Text Placeholder 3">
            <a:extLst>
              <a:ext uri="{FF2B5EF4-FFF2-40B4-BE49-F238E27FC236}">
                <a16:creationId xmlns:a16="http://schemas.microsoft.com/office/drawing/2014/main" id="{81E21D01-EACA-4700-957D-B5CA063E8075}"/>
              </a:ext>
            </a:extLst>
          </p:cNvPr>
          <p:cNvSpPr>
            <a:spLocks noGrp="1"/>
          </p:cNvSpPr>
          <p:nvPr>
            <p:ph type="body" sz="quarter" idx="18"/>
          </p:nvPr>
        </p:nvSpPr>
        <p:spPr>
          <a:xfrm>
            <a:off x="3990196" y="5639795"/>
            <a:ext cx="1163605" cy="378739"/>
          </a:xfrm>
        </p:spPr>
        <p:txBody>
          <a:bodyPr>
            <a:normAutofit/>
          </a:bodyPr>
          <a:lstStyle/>
          <a:p>
            <a:r>
              <a:rPr lang="en-US" sz="1200" dirty="0"/>
              <a:t>Figure 23.16</a:t>
            </a:r>
          </a:p>
        </p:txBody>
      </p:sp>
      <p:sp>
        <p:nvSpPr>
          <p:cNvPr id="6" name="Text Placeholder 4">
            <a:extLst>
              <a:ext uri="{FF2B5EF4-FFF2-40B4-BE49-F238E27FC236}">
                <a16:creationId xmlns:a16="http://schemas.microsoft.com/office/drawing/2014/main" id="{BB59562B-E5A5-4009-8338-9B9031D2244F}"/>
              </a:ext>
            </a:extLst>
          </p:cNvPr>
          <p:cNvSpPr>
            <a:spLocks noGrp="1"/>
          </p:cNvSpPr>
          <p:nvPr>
            <p:ph type="body" sz="quarter" idx="19"/>
          </p:nvPr>
        </p:nvSpPr>
        <p:spPr>
          <a:xfrm>
            <a:off x="2849660" y="6156598"/>
            <a:ext cx="3444676" cy="378739"/>
          </a:xfrm>
        </p:spPr>
        <p:txBody>
          <a:bodyPr>
            <a:normAutofit/>
          </a:bodyPr>
          <a:lstStyle/>
          <a:p>
            <a:pPr algn="ctr"/>
            <a:r>
              <a:rPr lang="en-US" sz="1200" dirty="0">
                <a:latin typeface="+mn-lt"/>
                <a:hlinkClick r:id="rId4" action="ppaction://hlinksldjump"/>
              </a:rPr>
              <a:t>Access the text alternative for slide images.</a:t>
            </a:r>
            <a:endParaRPr lang="en-US" sz="1200" dirty="0">
              <a:latin typeface="+mn-lt"/>
            </a:endParaRPr>
          </a:p>
        </p:txBody>
      </p:sp>
      <p:sp>
        <p:nvSpPr>
          <p:cNvPr id="5" name="Slide Number Placeholder 5">
            <a:extLst>
              <a:ext uri="{FF2B5EF4-FFF2-40B4-BE49-F238E27FC236}">
                <a16:creationId xmlns:a16="http://schemas.microsoft.com/office/drawing/2014/main" id="{E4EE2096-646F-4A92-A8B2-C2275498A9F5}"/>
              </a:ext>
            </a:extLst>
          </p:cNvPr>
          <p:cNvSpPr>
            <a:spLocks noGrp="1"/>
          </p:cNvSpPr>
          <p:nvPr>
            <p:ph type="sldNum" sz="quarter" idx="4"/>
          </p:nvPr>
        </p:nvSpPr>
        <p:spPr/>
        <p:txBody>
          <a:bodyPr/>
          <a:lstStyle/>
          <a:p>
            <a:fld id="{08F9AD23-695F-4808-8E99-6281554D0F77}" type="slidenum">
              <a:rPr lang="en-IN" smtClean="0"/>
              <a:t>52</a:t>
            </a:fld>
            <a:endParaRPr lang="en-IN"/>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le 1"/>
          <p:cNvSpPr>
            <a:spLocks noGrp="1" noChangeArrowheads="1"/>
          </p:cNvSpPr>
          <p:nvPr>
            <p:ph type="title"/>
          </p:nvPr>
        </p:nvSpPr>
        <p:spPr>
          <a:xfrm>
            <a:off x="2143625" y="86770"/>
            <a:ext cx="4856750" cy="688107"/>
          </a:xfrm>
        </p:spPr>
        <p:txBody>
          <a:bodyPr/>
          <a:lstStyle/>
          <a:p>
            <a:r>
              <a:rPr lang="en-US" altLang="en-US" sz="3600" dirty="0"/>
              <a:t>The Uses of Ferns</a:t>
            </a:r>
          </a:p>
        </p:txBody>
      </p:sp>
      <p:sp>
        <p:nvSpPr>
          <p:cNvPr id="64515" name="Content Placeholder 2"/>
          <p:cNvSpPr>
            <a:spLocks noGrp="1" noChangeArrowheads="1"/>
          </p:cNvSpPr>
          <p:nvPr>
            <p:ph idx="1"/>
          </p:nvPr>
        </p:nvSpPr>
        <p:spPr>
          <a:xfrm>
            <a:off x="516368" y="804166"/>
            <a:ext cx="7724807" cy="5779514"/>
          </a:xfrm>
        </p:spPr>
        <p:txBody>
          <a:bodyPr>
            <a:noAutofit/>
          </a:bodyPr>
          <a:lstStyle/>
          <a:p>
            <a:pPr>
              <a:spcBef>
                <a:spcPts val="0"/>
              </a:spcBef>
              <a:spcAft>
                <a:spcPts val="2000"/>
              </a:spcAft>
            </a:pPr>
            <a:r>
              <a:rPr lang="en-US" altLang="en-US" sz="2400" dirty="0"/>
              <a:t>Ferns have economic and medicinal value</a:t>
            </a:r>
          </a:p>
          <a:p>
            <a:pPr lvl="1">
              <a:spcBef>
                <a:spcPts val="0"/>
              </a:spcBef>
              <a:spcAft>
                <a:spcPts val="2000"/>
              </a:spcAft>
              <a:buFont typeface="Arial" panose="020B0604020202020204" pitchFamily="34" charset="0"/>
              <a:buChar char="•"/>
            </a:pPr>
            <a:r>
              <a:rPr lang="en-US" altLang="en-US" sz="2200" dirty="0"/>
              <a:t>Edible ferns are used as a food source</a:t>
            </a:r>
          </a:p>
          <a:p>
            <a:pPr lvl="1">
              <a:spcBef>
                <a:spcPts val="0"/>
              </a:spcBef>
              <a:spcAft>
                <a:spcPts val="2000"/>
              </a:spcAft>
              <a:buFont typeface="Arial" panose="020B0604020202020204" pitchFamily="34" charset="0"/>
              <a:buChar char="•"/>
            </a:pPr>
            <a:r>
              <a:rPr lang="en-US" sz="2200" b="0" i="0" u="none" strike="noStrike" baseline="0" dirty="0"/>
              <a:t>Native Americans use them as an astringent during childbirth to stop bleeding</a:t>
            </a:r>
          </a:p>
          <a:p>
            <a:pPr lvl="1">
              <a:spcBef>
                <a:spcPts val="0"/>
              </a:spcBef>
              <a:spcAft>
                <a:spcPts val="2000"/>
              </a:spcAft>
              <a:buFont typeface="Arial" panose="020B0604020202020204" pitchFamily="34" charset="0"/>
              <a:buChar char="•"/>
            </a:pPr>
            <a:r>
              <a:rPr lang="en-US" sz="2200" dirty="0"/>
              <a:t>M</a:t>
            </a:r>
            <a:r>
              <a:rPr lang="en-US" sz="2200" b="0" i="0" u="none" strike="noStrike" baseline="0" dirty="0"/>
              <a:t>aidenhair fern is the source of a cold medicine </a:t>
            </a:r>
            <a:endParaRPr lang="en-US" sz="2200" dirty="0"/>
          </a:p>
          <a:p>
            <a:pPr lvl="1">
              <a:spcBef>
                <a:spcPts val="0"/>
              </a:spcBef>
              <a:spcAft>
                <a:spcPts val="2000"/>
              </a:spcAft>
              <a:buFont typeface="Arial" panose="020B0604020202020204" pitchFamily="34" charset="0"/>
              <a:buChar char="•"/>
            </a:pPr>
            <a:r>
              <a:rPr lang="en-US" sz="2200" b="0" i="0" u="none" strike="noStrike" baseline="0" dirty="0"/>
              <a:t>Ferns are frequently used by florists in decorative bouquets and as ornamental plants in the home and garden </a:t>
            </a:r>
            <a:endParaRPr lang="en-US" sz="2200" dirty="0"/>
          </a:p>
          <a:p>
            <a:pPr lvl="1">
              <a:spcBef>
                <a:spcPts val="0"/>
              </a:spcBef>
              <a:spcAft>
                <a:spcPts val="2000"/>
              </a:spcAft>
              <a:buFont typeface="Arial" panose="020B0604020202020204" pitchFamily="34" charset="0"/>
              <a:buChar char="•"/>
            </a:pPr>
            <a:r>
              <a:rPr lang="en-US" sz="2200" b="0" i="0" u="none" strike="noStrike" baseline="0" dirty="0"/>
              <a:t>Wood from tropical tree ferns is often used as a building material, because it resists decay, particularly by termites</a:t>
            </a:r>
            <a:endParaRPr lang="en-US" altLang="en-US" sz="2200" dirty="0"/>
          </a:p>
        </p:txBody>
      </p:sp>
      <p:sp>
        <p:nvSpPr>
          <p:cNvPr id="4" name="Slide Number Placeholder 3">
            <a:extLst>
              <a:ext uri="{FF2B5EF4-FFF2-40B4-BE49-F238E27FC236}">
                <a16:creationId xmlns:a16="http://schemas.microsoft.com/office/drawing/2014/main" id="{539FAD45-1A65-4565-878A-C0CEB1AE1407}"/>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53</a:t>
            </a:fld>
            <a:endParaRPr lang="en-IN"/>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1"/>
          <p:cNvSpPr>
            <a:spLocks noGrp="1" noChangeArrowheads="1"/>
          </p:cNvSpPr>
          <p:nvPr>
            <p:ph type="title"/>
          </p:nvPr>
        </p:nvSpPr>
        <p:spPr>
          <a:xfrm>
            <a:off x="342900" y="12031"/>
            <a:ext cx="8458200" cy="1343560"/>
          </a:xfrm>
        </p:spPr>
        <p:txBody>
          <a:bodyPr>
            <a:normAutofit/>
          </a:bodyPr>
          <a:lstStyle/>
          <a:p>
            <a:r>
              <a:rPr lang="en-US" altLang="en-US" sz="3600" dirty="0"/>
              <a:t>23.5 Evolution of Seed Plants: Full Adaptation to Land</a:t>
            </a:r>
          </a:p>
        </p:txBody>
      </p:sp>
      <p:sp>
        <p:nvSpPr>
          <p:cNvPr id="37891" name="Content Placeholder 2"/>
          <p:cNvSpPr>
            <a:spLocks noGrp="1" noChangeArrowheads="1"/>
          </p:cNvSpPr>
          <p:nvPr>
            <p:ph idx="1"/>
          </p:nvPr>
        </p:nvSpPr>
        <p:spPr>
          <a:xfrm>
            <a:off x="627798" y="1355591"/>
            <a:ext cx="7555503" cy="5128604"/>
          </a:xfrm>
        </p:spPr>
        <p:txBody>
          <a:bodyPr>
            <a:noAutofit/>
          </a:bodyPr>
          <a:lstStyle/>
          <a:p>
            <a:pPr>
              <a:spcBef>
                <a:spcPts val="0"/>
              </a:spcBef>
              <a:spcAft>
                <a:spcPts val="1500"/>
              </a:spcAft>
            </a:pPr>
            <a:r>
              <a:rPr lang="en-US" sz="2400" b="1" dirty="0">
                <a:solidFill>
                  <a:srgbClr val="D90000"/>
                </a:solidFill>
              </a:rPr>
              <a:t>Seed plants </a:t>
            </a:r>
            <a:r>
              <a:rPr lang="en-US" sz="2400" dirty="0"/>
              <a:t>are vascular plants that use seeds during the dispersal phase of their life cycle</a:t>
            </a:r>
          </a:p>
          <a:p>
            <a:pPr lvl="1">
              <a:spcBef>
                <a:spcPts val="0"/>
              </a:spcBef>
              <a:spcAft>
                <a:spcPts val="1500"/>
              </a:spcAft>
              <a:buFont typeface="Arial" panose="020B0604020202020204" pitchFamily="34" charset="0"/>
              <a:buChar char="•"/>
            </a:pPr>
            <a:r>
              <a:rPr lang="en-US" sz="2200" b="1" i="0" u="none" strike="noStrike" baseline="0" dirty="0">
                <a:solidFill>
                  <a:srgbClr val="D90000"/>
                </a:solidFill>
              </a:rPr>
              <a:t>Seeds</a:t>
            </a:r>
            <a:r>
              <a:rPr lang="en-US" sz="2200" b="1" i="0" u="none" strike="noStrike" baseline="0" dirty="0"/>
              <a:t> </a:t>
            </a:r>
            <a:r>
              <a:rPr lang="en-US" sz="2200" b="0" i="0" u="none" strike="noStrike" baseline="0" dirty="0"/>
              <a:t>contain a sporophyte embryo and stored food within a protective seed coat</a:t>
            </a:r>
          </a:p>
          <a:p>
            <a:pPr marL="717550" lvl="2" indent="-358775">
              <a:spcBef>
                <a:spcPts val="0"/>
              </a:spcBef>
              <a:spcAft>
                <a:spcPts val="1500"/>
              </a:spcAft>
              <a:buFont typeface="Arial" panose="020B0604020202020204" pitchFamily="34" charset="0"/>
              <a:buChar char="•"/>
            </a:pPr>
            <a:r>
              <a:rPr lang="en-US" sz="2000" dirty="0"/>
              <a:t>S</a:t>
            </a:r>
            <a:r>
              <a:rPr lang="en-US" sz="2000" b="0" i="0" u="none" strike="noStrike" baseline="0" dirty="0"/>
              <a:t>eed coat and stored food allow an embryo to survive harsh conditions during long periods of dormancy (arrested state) until environmental conditions become favorable for growth</a:t>
            </a:r>
          </a:p>
          <a:p>
            <a:pPr marL="717550" lvl="2" indent="-358775">
              <a:spcBef>
                <a:spcPts val="0"/>
              </a:spcBef>
              <a:spcAft>
                <a:spcPts val="1500"/>
              </a:spcAft>
              <a:buFont typeface="Arial" panose="020B0604020202020204" pitchFamily="34" charset="0"/>
              <a:buChar char="•"/>
            </a:pPr>
            <a:r>
              <a:rPr lang="en-US" sz="2000" b="0" i="0" u="none" strike="noStrike" baseline="0" dirty="0"/>
              <a:t>When a seed germinates, the stored food is a source of nutrients for the growing seedling</a:t>
            </a:r>
          </a:p>
          <a:p>
            <a:pPr marL="717550" lvl="2" indent="-358775">
              <a:spcBef>
                <a:spcPts val="0"/>
              </a:spcBef>
              <a:spcAft>
                <a:spcPts val="1500"/>
              </a:spcAft>
              <a:buFont typeface="Arial" panose="020B0604020202020204" pitchFamily="34" charset="0"/>
              <a:buChar char="•"/>
            </a:pPr>
            <a:r>
              <a:rPr lang="en-US" sz="2000" dirty="0"/>
              <a:t>S</a:t>
            </a:r>
            <a:r>
              <a:rPr lang="en-US" sz="2000" b="0" i="0" u="none" strike="noStrike" baseline="0" dirty="0"/>
              <a:t>urvival of seeds largely accounts for the dominance of seed plants today </a:t>
            </a:r>
            <a:endParaRPr lang="en-US" sz="2000" dirty="0"/>
          </a:p>
        </p:txBody>
      </p:sp>
      <p:sp>
        <p:nvSpPr>
          <p:cNvPr id="4" name="Slide Number Placeholder 3">
            <a:extLst>
              <a:ext uri="{FF2B5EF4-FFF2-40B4-BE49-F238E27FC236}">
                <a16:creationId xmlns:a16="http://schemas.microsoft.com/office/drawing/2014/main" id="{FB3190C3-6612-40B7-860D-FEF4B5ED7458}"/>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54</a:t>
            </a:fld>
            <a:endParaRPr lang="en-IN"/>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1"/>
          <p:cNvSpPr>
            <a:spLocks noGrp="1" noChangeArrowheads="1"/>
          </p:cNvSpPr>
          <p:nvPr>
            <p:ph type="title"/>
          </p:nvPr>
        </p:nvSpPr>
        <p:spPr/>
        <p:txBody>
          <a:bodyPr/>
          <a:lstStyle/>
          <a:p>
            <a:r>
              <a:rPr lang="en-US" altLang="en-US" sz="3600" dirty="0"/>
              <a:t>Seed Plants</a:t>
            </a:r>
          </a:p>
        </p:txBody>
      </p:sp>
      <p:sp>
        <p:nvSpPr>
          <p:cNvPr id="37891" name="Content Placeholder 2"/>
          <p:cNvSpPr>
            <a:spLocks noGrp="1" noChangeArrowheads="1"/>
          </p:cNvSpPr>
          <p:nvPr>
            <p:ph idx="1"/>
          </p:nvPr>
        </p:nvSpPr>
        <p:spPr>
          <a:xfrm>
            <a:off x="445625" y="822057"/>
            <a:ext cx="7714527" cy="5662138"/>
          </a:xfrm>
        </p:spPr>
        <p:txBody>
          <a:bodyPr>
            <a:noAutofit/>
          </a:bodyPr>
          <a:lstStyle/>
          <a:p>
            <a:r>
              <a:rPr lang="en-US" sz="2400" dirty="0"/>
              <a:t>S</a:t>
            </a:r>
            <a:r>
              <a:rPr lang="en-US" sz="2400" b="0" i="0" u="none" strike="noStrike" baseline="0" dirty="0"/>
              <a:t>eed plants are heterosporous (have microspores and megaspores)</a:t>
            </a:r>
          </a:p>
          <a:p>
            <a:r>
              <a:rPr lang="en-US" sz="2400" b="0" i="0" u="none" strike="noStrike" baseline="0" dirty="0"/>
              <a:t>Unlike other plant groups, seed plants retain the spores rather than release them into the environment </a:t>
            </a:r>
          </a:p>
          <a:p>
            <a:pPr lvl="1">
              <a:buFont typeface="Arial" panose="020B0604020202020204" pitchFamily="34" charset="0"/>
              <a:buChar char="•"/>
            </a:pPr>
            <a:r>
              <a:rPr lang="en-US" sz="2200" b="0" i="0" u="none" strike="noStrike" baseline="0" dirty="0"/>
              <a:t>Microspores become male gametophytes (</a:t>
            </a:r>
            <a:r>
              <a:rPr lang="en-US" sz="2200" b="1" i="0" u="none" strike="noStrike" baseline="0" dirty="0">
                <a:solidFill>
                  <a:srgbClr val="D90000"/>
                </a:solidFill>
              </a:rPr>
              <a:t>pollen grains</a:t>
            </a:r>
            <a:r>
              <a:rPr lang="en-US" sz="2200" i="0" u="none" strike="noStrike" baseline="0" dirty="0"/>
              <a:t>)</a:t>
            </a:r>
          </a:p>
          <a:p>
            <a:pPr marL="717550" lvl="2" indent="-358775">
              <a:buFont typeface="Arial" panose="020B0604020202020204" pitchFamily="34" charset="0"/>
              <a:buChar char="•"/>
            </a:pPr>
            <a:r>
              <a:rPr lang="en-US" sz="2000" b="1" i="0" u="none" strike="noStrike" baseline="0" dirty="0">
                <a:solidFill>
                  <a:srgbClr val="D90000"/>
                </a:solidFill>
              </a:rPr>
              <a:t>Pollination</a:t>
            </a:r>
            <a:r>
              <a:rPr lang="en-US" sz="2000" b="1" i="0" u="none" strike="noStrike" baseline="0" dirty="0"/>
              <a:t> </a:t>
            </a:r>
            <a:r>
              <a:rPr lang="en-US" sz="2000" b="0" i="0" u="none" strike="noStrike" baseline="0" dirty="0"/>
              <a:t>occurs when wind or a pollinator carries pollen </a:t>
            </a:r>
            <a:r>
              <a:rPr lang="en-US" sz="2000" dirty="0"/>
              <a:t>to the </a:t>
            </a:r>
            <a:r>
              <a:rPr lang="en-US" sz="2000" b="0" i="0" u="none" strike="noStrike" baseline="0" dirty="0"/>
              <a:t>female gametophyte </a:t>
            </a:r>
          </a:p>
          <a:p>
            <a:pPr marL="1076325" lvl="3" indent="-358775">
              <a:spcAft>
                <a:spcPts val="0"/>
              </a:spcAft>
              <a:buFont typeface="Arial" panose="020B0604020202020204" pitchFamily="34" charset="0"/>
              <a:buChar char="•"/>
              <a:tabLst>
                <a:tab pos="92075" algn="l"/>
              </a:tabLst>
            </a:pPr>
            <a:r>
              <a:rPr lang="en-US" sz="1800" dirty="0"/>
              <a:t>S</a:t>
            </a:r>
            <a:r>
              <a:rPr lang="en-US" sz="1800" b="0" i="0" u="none" strike="noStrike" baseline="0" dirty="0"/>
              <a:t>perm move toward the female gametophyte through a </a:t>
            </a:r>
            <a:r>
              <a:rPr lang="en-US" sz="1800" b="1" i="0" u="none" strike="noStrike" baseline="0" dirty="0">
                <a:solidFill>
                  <a:srgbClr val="D90000"/>
                </a:solidFill>
              </a:rPr>
              <a:t>pollen tube</a:t>
            </a:r>
          </a:p>
          <a:p>
            <a:pPr marL="1076325" lvl="3" indent="-358775">
              <a:spcAft>
                <a:spcPts val="0"/>
              </a:spcAft>
              <a:buFont typeface="Arial" panose="020B0604020202020204" pitchFamily="34" charset="0"/>
              <a:buChar char="•"/>
              <a:tabLst>
                <a:tab pos="92075" algn="l"/>
              </a:tabLst>
            </a:pPr>
            <a:r>
              <a:rPr lang="en-US" sz="1800" dirty="0"/>
              <a:t>M</a:t>
            </a:r>
            <a:r>
              <a:rPr lang="en-US" sz="1800" b="0" i="0" u="none" strike="noStrike" baseline="0" dirty="0"/>
              <a:t>egaspore develops into a female gametophyte within an </a:t>
            </a:r>
            <a:r>
              <a:rPr lang="en-US" sz="1800" b="1" i="0" u="none" strike="noStrike" baseline="0" dirty="0">
                <a:solidFill>
                  <a:srgbClr val="D90000"/>
                </a:solidFill>
              </a:rPr>
              <a:t>ovule</a:t>
            </a:r>
            <a:r>
              <a:rPr lang="en-US" sz="1800" b="1" i="0" u="none" strike="noStrike" baseline="0" dirty="0"/>
              <a:t>, </a:t>
            </a:r>
            <a:r>
              <a:rPr lang="en-US" sz="1800" b="0" i="0" u="none" strike="noStrike" baseline="0" dirty="0"/>
              <a:t>which becomes a seed following fertilization </a:t>
            </a:r>
          </a:p>
          <a:p>
            <a:pPr marL="1076325" lvl="3" indent="-358775">
              <a:spcAft>
                <a:spcPts val="0"/>
              </a:spcAft>
              <a:buFont typeface="Arial" panose="020B0604020202020204" pitchFamily="34" charset="0"/>
              <a:buChar char="•"/>
              <a:tabLst>
                <a:tab pos="92075" algn="l"/>
              </a:tabLst>
            </a:pPr>
            <a:r>
              <a:rPr lang="en-US" sz="1800" dirty="0"/>
              <a:t>No external water is needed to accomplish fertilization</a:t>
            </a:r>
          </a:p>
          <a:p>
            <a:pPr marL="0" indent="0">
              <a:spcBef>
                <a:spcPts val="0"/>
              </a:spcBef>
              <a:spcAft>
                <a:spcPts val="1500"/>
              </a:spcAft>
              <a:buNone/>
            </a:pPr>
            <a:r>
              <a:rPr lang="en-US" sz="2000" dirty="0"/>
              <a:t> </a:t>
            </a:r>
          </a:p>
        </p:txBody>
      </p:sp>
      <p:sp>
        <p:nvSpPr>
          <p:cNvPr id="4" name="Slide Number Placeholder 3">
            <a:extLst>
              <a:ext uri="{FF2B5EF4-FFF2-40B4-BE49-F238E27FC236}">
                <a16:creationId xmlns:a16="http://schemas.microsoft.com/office/drawing/2014/main" id="{EE1E8394-4B28-4242-A9A7-8993CCE986F4}"/>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55</a:t>
            </a:fld>
            <a:endParaRPr lang="en-IN"/>
          </a:p>
        </p:txBody>
      </p:sp>
    </p:spTree>
    <p:extLst>
      <p:ext uri="{BB962C8B-B14F-4D97-AF65-F5344CB8AC3E}">
        <p14:creationId xmlns:p14="http://schemas.microsoft.com/office/powerpoint/2010/main" val="3345469424"/>
      </p:ext>
    </p:extLst>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1"/>
          <p:cNvSpPr>
            <a:spLocks noGrp="1" noChangeArrowheads="1"/>
          </p:cNvSpPr>
          <p:nvPr>
            <p:ph type="title"/>
          </p:nvPr>
        </p:nvSpPr>
        <p:spPr/>
        <p:txBody>
          <a:bodyPr/>
          <a:lstStyle/>
          <a:p>
            <a:r>
              <a:rPr lang="en-US" altLang="en-US" sz="3600" dirty="0"/>
              <a:t>Gymnosperms and Angiosperms</a:t>
            </a:r>
          </a:p>
        </p:txBody>
      </p:sp>
      <p:sp>
        <p:nvSpPr>
          <p:cNvPr id="37891" name="Content Placeholder 2"/>
          <p:cNvSpPr>
            <a:spLocks noGrp="1" noChangeArrowheads="1"/>
          </p:cNvSpPr>
          <p:nvPr>
            <p:ph idx="1"/>
          </p:nvPr>
        </p:nvSpPr>
        <p:spPr>
          <a:xfrm>
            <a:off x="602286" y="1143000"/>
            <a:ext cx="7939427" cy="5484504"/>
          </a:xfrm>
        </p:spPr>
        <p:txBody>
          <a:bodyPr>
            <a:noAutofit/>
          </a:bodyPr>
          <a:lstStyle/>
          <a:p>
            <a:pPr marL="358775" indent="-358775">
              <a:buFont typeface="Arial" panose="020B0604020202020204" pitchFamily="34" charset="0"/>
              <a:buChar char="•"/>
            </a:pPr>
            <a:r>
              <a:rPr lang="en-US" sz="2600" b="0" i="0" u="none" strike="noStrike" baseline="0" dirty="0"/>
              <a:t>In </a:t>
            </a:r>
            <a:r>
              <a:rPr lang="en-US" sz="2600" b="1" i="0" u="none" strike="noStrike" baseline="0" dirty="0">
                <a:solidFill>
                  <a:srgbClr val="D90000"/>
                </a:solidFill>
              </a:rPr>
              <a:t>gymnosperms</a:t>
            </a:r>
            <a:r>
              <a:rPr lang="en-US" sz="2600" b="1" i="0" u="none" strike="noStrike" baseline="0" dirty="0"/>
              <a:t> </a:t>
            </a:r>
            <a:r>
              <a:rPr lang="en-US" sz="2600" b="0" i="0" u="none" strike="noStrike" baseline="0" dirty="0"/>
              <a:t>(mostly cone-bearing seed plants), the ovules are not completely enclosed by sporophyte tissue at the time of pollination</a:t>
            </a:r>
          </a:p>
          <a:p>
            <a:pPr marL="358775" indent="-358775">
              <a:buFont typeface="Arial" panose="020B0604020202020204" pitchFamily="34" charset="0"/>
              <a:buChar char="•"/>
            </a:pPr>
            <a:r>
              <a:rPr lang="en-US" sz="2600" b="0" i="0" u="none" strike="noStrike" baseline="0" dirty="0"/>
              <a:t>In </a:t>
            </a:r>
            <a:r>
              <a:rPr lang="en-US" sz="2600" b="1" i="0" u="none" strike="noStrike" baseline="0" dirty="0">
                <a:solidFill>
                  <a:srgbClr val="D90000"/>
                </a:solidFill>
              </a:rPr>
              <a:t>angiosperms</a:t>
            </a:r>
            <a:r>
              <a:rPr lang="en-US" sz="2600" b="1" i="0" u="none" strike="noStrike" baseline="0" dirty="0"/>
              <a:t> </a:t>
            </a:r>
            <a:r>
              <a:rPr lang="en-US" sz="2600" b="0" i="0" u="none" strike="noStrike" baseline="0" dirty="0"/>
              <a:t>(flowering plants), the ovules are completely enclosed within diploid sporophyte tissue (ovary), which becomes a fruit.</a:t>
            </a:r>
            <a:endParaRPr lang="en-US" sz="2600" dirty="0"/>
          </a:p>
          <a:p>
            <a:pPr marL="0" indent="0">
              <a:spcBef>
                <a:spcPts val="0"/>
              </a:spcBef>
              <a:spcAft>
                <a:spcPts val="1500"/>
              </a:spcAft>
              <a:buNone/>
            </a:pPr>
            <a:r>
              <a:rPr lang="en-US" sz="2800" dirty="0"/>
              <a:t> </a:t>
            </a:r>
          </a:p>
        </p:txBody>
      </p:sp>
      <p:sp>
        <p:nvSpPr>
          <p:cNvPr id="4" name="Slide Number Placeholder 3">
            <a:extLst>
              <a:ext uri="{FF2B5EF4-FFF2-40B4-BE49-F238E27FC236}">
                <a16:creationId xmlns:a16="http://schemas.microsoft.com/office/drawing/2014/main" id="{F0161738-AA21-48AC-9233-B351338A0154}"/>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56</a:t>
            </a:fld>
            <a:endParaRPr lang="en-IN"/>
          </a:p>
        </p:txBody>
      </p:sp>
    </p:spTree>
    <p:extLst>
      <p:ext uri="{BB962C8B-B14F-4D97-AF65-F5344CB8AC3E}">
        <p14:creationId xmlns:p14="http://schemas.microsoft.com/office/powerpoint/2010/main" val="3457296692"/>
      </p:ext>
    </p:extLst>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itle 1"/>
          <p:cNvSpPr>
            <a:spLocks noGrp="1" noChangeArrowheads="1"/>
          </p:cNvSpPr>
          <p:nvPr>
            <p:ph type="title"/>
          </p:nvPr>
        </p:nvSpPr>
        <p:spPr/>
        <p:txBody>
          <a:bodyPr/>
          <a:lstStyle/>
          <a:p>
            <a:r>
              <a:rPr lang="en-US" altLang="en-US" dirty="0"/>
              <a:t>Gymnosperms</a:t>
            </a:r>
          </a:p>
        </p:txBody>
      </p:sp>
      <p:sp>
        <p:nvSpPr>
          <p:cNvPr id="39939" name="Content Placeholder 2"/>
          <p:cNvSpPr>
            <a:spLocks noGrp="1" noChangeArrowheads="1"/>
          </p:cNvSpPr>
          <p:nvPr>
            <p:ph idx="1"/>
          </p:nvPr>
        </p:nvSpPr>
        <p:spPr>
          <a:xfrm>
            <a:off x="225911" y="1295401"/>
            <a:ext cx="8442915" cy="4838114"/>
          </a:xfrm>
        </p:spPr>
        <p:txBody>
          <a:bodyPr/>
          <a:lstStyle/>
          <a:p>
            <a:pPr marL="338328" lvl="2" indent="0">
              <a:spcBef>
                <a:spcPts val="0"/>
              </a:spcBef>
              <a:buNone/>
            </a:pPr>
            <a:r>
              <a:rPr lang="en-US" sz="2400" dirty="0"/>
              <a:t>Seeds are not enclosed by fruit—“naked” seeds.</a:t>
            </a:r>
          </a:p>
          <a:p>
            <a:pPr marL="338328" lvl="2" indent="0">
              <a:buNone/>
            </a:pPr>
            <a:r>
              <a:rPr lang="en-US" sz="2400" dirty="0"/>
              <a:t>1,000 species divided into four extant groups:</a:t>
            </a:r>
          </a:p>
          <a:p>
            <a:pPr marL="779463" lvl="3" indent="-420688">
              <a:buFont typeface="Arial" panose="020B0604020202020204" pitchFamily="34" charset="0"/>
              <a:buChar char="•"/>
            </a:pPr>
            <a:r>
              <a:rPr lang="en-US" sz="2200" b="1" dirty="0">
                <a:solidFill>
                  <a:srgbClr val="D90000"/>
                </a:solidFill>
              </a:rPr>
              <a:t>Conifers</a:t>
            </a:r>
            <a:r>
              <a:rPr lang="en-US" sz="2200" dirty="0"/>
              <a:t> – Most plentiful</a:t>
            </a:r>
          </a:p>
          <a:p>
            <a:pPr marL="779463" lvl="3" indent="-420688">
              <a:buFont typeface="Arial" panose="020B0604020202020204" pitchFamily="34" charset="0"/>
              <a:buChar char="•"/>
            </a:pPr>
            <a:r>
              <a:rPr lang="en-US" sz="2200" b="1" dirty="0">
                <a:solidFill>
                  <a:srgbClr val="D90000"/>
                </a:solidFill>
              </a:rPr>
              <a:t>Cycads</a:t>
            </a:r>
          </a:p>
          <a:p>
            <a:pPr marL="779463" lvl="3" indent="-420688">
              <a:buFont typeface="Arial" panose="020B0604020202020204" pitchFamily="34" charset="0"/>
              <a:buChar char="•"/>
            </a:pPr>
            <a:r>
              <a:rPr lang="en-US" sz="2200" b="1" dirty="0">
                <a:solidFill>
                  <a:srgbClr val="D90000"/>
                </a:solidFill>
              </a:rPr>
              <a:t>Ginkgoes</a:t>
            </a:r>
          </a:p>
          <a:p>
            <a:pPr marL="779463" lvl="3" indent="-420688">
              <a:buFont typeface="Arial" panose="020B0604020202020204" pitchFamily="34" charset="0"/>
              <a:buChar char="•"/>
            </a:pPr>
            <a:r>
              <a:rPr lang="en-US" sz="2200" b="1" dirty="0">
                <a:solidFill>
                  <a:srgbClr val="D90000"/>
                </a:solidFill>
              </a:rPr>
              <a:t>Gnetophytes</a:t>
            </a:r>
          </a:p>
        </p:txBody>
      </p:sp>
      <p:sp>
        <p:nvSpPr>
          <p:cNvPr id="4" name="Slide Number Placeholder 3">
            <a:extLst>
              <a:ext uri="{FF2B5EF4-FFF2-40B4-BE49-F238E27FC236}">
                <a16:creationId xmlns:a16="http://schemas.microsoft.com/office/drawing/2014/main" id="{9DA2EE17-D176-42A4-BF19-8C2AA89EA22E}"/>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57</a:t>
            </a:fld>
            <a:endParaRPr lang="en-IN"/>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itle 1"/>
          <p:cNvSpPr>
            <a:spLocks noGrp="1" noChangeArrowheads="1"/>
          </p:cNvSpPr>
          <p:nvPr>
            <p:ph type="title"/>
          </p:nvPr>
        </p:nvSpPr>
        <p:spPr>
          <a:xfrm>
            <a:off x="457200" y="0"/>
            <a:ext cx="8229600" cy="815926"/>
          </a:xfrm>
        </p:spPr>
        <p:txBody>
          <a:bodyPr/>
          <a:lstStyle/>
          <a:p>
            <a:r>
              <a:rPr lang="en-US" altLang="en-US" sz="3600" dirty="0"/>
              <a:t>Conifers</a:t>
            </a:r>
          </a:p>
        </p:txBody>
      </p:sp>
      <p:sp>
        <p:nvSpPr>
          <p:cNvPr id="40963" name="Content Placeholder 2"/>
          <p:cNvSpPr>
            <a:spLocks noGrp="1" noChangeArrowheads="1"/>
          </p:cNvSpPr>
          <p:nvPr>
            <p:ph idx="1"/>
          </p:nvPr>
        </p:nvSpPr>
        <p:spPr>
          <a:xfrm>
            <a:off x="182880" y="971843"/>
            <a:ext cx="8393961" cy="5294086"/>
          </a:xfrm>
        </p:spPr>
        <p:txBody>
          <a:bodyPr>
            <a:normAutofit lnSpcReduction="10000"/>
          </a:bodyPr>
          <a:lstStyle/>
          <a:p>
            <a:pPr lvl="1" indent="-347472">
              <a:spcBef>
                <a:spcPts val="0"/>
              </a:spcBef>
              <a:spcAft>
                <a:spcPts val="1500"/>
              </a:spcAft>
              <a:buFont typeface="Arial" panose="020B0604020202020204" pitchFamily="34" charset="0"/>
              <a:buChar char="•"/>
            </a:pPr>
            <a:r>
              <a:rPr lang="en-US" sz="2600" dirty="0"/>
              <a:t>About 630 species</a:t>
            </a:r>
          </a:p>
          <a:p>
            <a:pPr marL="358775" lvl="2" indent="-358775">
              <a:spcBef>
                <a:spcPts val="0"/>
              </a:spcBef>
              <a:buFont typeface="Arial" panose="020B0604020202020204" pitchFamily="34" charset="0"/>
              <a:buChar char="•"/>
              <a:tabLst>
                <a:tab pos="358775" algn="l"/>
              </a:tabLst>
            </a:pPr>
            <a:r>
              <a:rPr lang="en-US" sz="2600" dirty="0"/>
              <a:t>Produce </a:t>
            </a:r>
            <a:r>
              <a:rPr lang="en-US" sz="2600" b="1" dirty="0">
                <a:solidFill>
                  <a:srgbClr val="D90000"/>
                </a:solidFill>
              </a:rPr>
              <a:t>cones</a:t>
            </a:r>
          </a:p>
          <a:p>
            <a:pPr marL="358775" lvl="2" indent="-358775">
              <a:spcBef>
                <a:spcPts val="1200"/>
              </a:spcBef>
              <a:buFont typeface="Arial" panose="020B0604020202020204" pitchFamily="34" charset="0"/>
              <a:buChar char="•"/>
              <a:tabLst>
                <a:tab pos="358775" algn="l"/>
              </a:tabLst>
            </a:pPr>
            <a:r>
              <a:rPr lang="en-US" sz="2600" dirty="0"/>
              <a:t>Tough, needlelike leaves of pines conserve water with a thick cuticle and recessed stomata</a:t>
            </a:r>
          </a:p>
          <a:p>
            <a:pPr marL="358775" lvl="2" indent="-358775">
              <a:spcBef>
                <a:spcPts val="1200"/>
              </a:spcBef>
              <a:buFont typeface="Arial" panose="020B0604020202020204" pitchFamily="34" charset="0"/>
              <a:buChar char="•"/>
              <a:tabLst>
                <a:tab pos="358775" algn="l"/>
              </a:tabLst>
            </a:pPr>
            <a:r>
              <a:rPr lang="en-US" sz="2600" dirty="0"/>
              <a:t>Sporophyte is dominant</a:t>
            </a:r>
          </a:p>
          <a:p>
            <a:pPr marL="358775" lvl="2" indent="-358775">
              <a:spcBef>
                <a:spcPts val="1200"/>
              </a:spcBef>
              <a:buFont typeface="Arial" panose="020B0604020202020204" pitchFamily="34" charset="0"/>
              <a:buChar char="•"/>
              <a:tabLst>
                <a:tab pos="358775" algn="l"/>
              </a:tabLst>
            </a:pPr>
            <a:r>
              <a:rPr lang="en-US" sz="2600" dirty="0"/>
              <a:t>Pollen grains are windblown</a:t>
            </a:r>
          </a:p>
          <a:p>
            <a:pPr marL="358775" lvl="2" indent="-358775">
              <a:spcBef>
                <a:spcPts val="1200"/>
              </a:spcBef>
              <a:buFont typeface="Arial" panose="020B0604020202020204" pitchFamily="34" charset="0"/>
              <a:buChar char="•"/>
              <a:tabLst>
                <a:tab pos="358775" algn="l"/>
              </a:tabLst>
            </a:pPr>
            <a:r>
              <a:rPr lang="en-US" sz="2600" dirty="0"/>
              <a:t>Seed is the dispersal stage</a:t>
            </a:r>
          </a:p>
          <a:p>
            <a:pPr marL="358775" lvl="2" indent="-358775">
              <a:spcBef>
                <a:spcPts val="1200"/>
              </a:spcBef>
              <a:buFont typeface="Arial" panose="020B0604020202020204" pitchFamily="34" charset="0"/>
              <a:buChar char="•"/>
              <a:tabLst>
                <a:tab pos="358775" algn="l"/>
              </a:tabLst>
            </a:pPr>
            <a:r>
              <a:rPr lang="en-US" sz="2600" b="1" dirty="0">
                <a:solidFill>
                  <a:srgbClr val="D90000"/>
                </a:solidFill>
              </a:rPr>
              <a:t>Monoecious</a:t>
            </a:r>
            <a:r>
              <a:rPr lang="en-US" sz="2600" dirty="0"/>
              <a:t> – A single plant produces both pollen (male reproductive structure) and seed cones (female reproductive structure)</a:t>
            </a:r>
          </a:p>
        </p:txBody>
      </p:sp>
      <p:sp>
        <p:nvSpPr>
          <p:cNvPr id="4" name="Slide Number Placeholder 3">
            <a:extLst>
              <a:ext uri="{FF2B5EF4-FFF2-40B4-BE49-F238E27FC236}">
                <a16:creationId xmlns:a16="http://schemas.microsoft.com/office/drawing/2014/main" id="{D79EF23F-912A-46CC-9278-07FF00809B2D}"/>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58</a:t>
            </a:fld>
            <a:endParaRPr lang="en-IN"/>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1"/>
          <p:cNvSpPr>
            <a:spLocks noGrp="1" noChangeArrowheads="1"/>
          </p:cNvSpPr>
          <p:nvPr>
            <p:ph type="title"/>
          </p:nvPr>
        </p:nvSpPr>
        <p:spPr>
          <a:xfrm>
            <a:off x="2130014" y="250595"/>
            <a:ext cx="4948518" cy="641810"/>
          </a:xfrm>
        </p:spPr>
        <p:txBody>
          <a:bodyPr/>
          <a:lstStyle/>
          <a:p>
            <a:r>
              <a:rPr lang="en-US" altLang="en-US" dirty="0"/>
              <a:t>Conifer Examples</a:t>
            </a:r>
          </a:p>
        </p:txBody>
      </p:sp>
      <p:pic>
        <p:nvPicPr>
          <p:cNvPr id="13" name="Picture 2" descr="Examples of conifer include pine having pollen and seed cones (a), spruce (needless leaves), and Juniper (tall shrub, scale-like leaves.">
            <a:extLst>
              <a:ext uri="{FF2B5EF4-FFF2-40B4-BE49-F238E27FC236}">
                <a16:creationId xmlns:a16="http://schemas.microsoft.com/office/drawing/2014/main" id="{28074505-7CD9-4277-911C-438F38FE9D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5640" y="963045"/>
            <a:ext cx="8150453" cy="4709693"/>
          </a:xfrm>
          <a:prstGeom prst="rect">
            <a:avLst/>
          </a:prstGeom>
        </p:spPr>
      </p:pic>
      <p:sp>
        <p:nvSpPr>
          <p:cNvPr id="11" name="TextBox 3">
            <a:extLst>
              <a:ext uri="{FF2B5EF4-FFF2-40B4-BE49-F238E27FC236}">
                <a16:creationId xmlns:a16="http://schemas.microsoft.com/office/drawing/2014/main" id="{D7359CE8-176C-4299-B888-F5E449E3F7BE}"/>
              </a:ext>
            </a:extLst>
          </p:cNvPr>
          <p:cNvSpPr txBox="1"/>
          <p:nvPr/>
        </p:nvSpPr>
        <p:spPr>
          <a:xfrm>
            <a:off x="3842735" y="5803113"/>
            <a:ext cx="1456267" cy="276999"/>
          </a:xfrm>
          <a:prstGeom prst="rect">
            <a:avLst/>
          </a:prstGeom>
          <a:noFill/>
        </p:spPr>
        <p:txBody>
          <a:bodyPr wrap="square" rtlCol="0">
            <a:spAutoFit/>
          </a:bodyPr>
          <a:lstStyle/>
          <a:p>
            <a:pPr algn="ctr"/>
            <a:r>
              <a:rPr lang="en-US" sz="1200" dirty="0"/>
              <a:t>Figure 23.17</a:t>
            </a:r>
          </a:p>
        </p:txBody>
      </p:sp>
      <p:sp>
        <p:nvSpPr>
          <p:cNvPr id="9" name="Content Placeholder 4"/>
          <p:cNvSpPr>
            <a:spLocks noGrp="1"/>
          </p:cNvSpPr>
          <p:nvPr>
            <p:ph sz="quarter" idx="15"/>
          </p:nvPr>
        </p:nvSpPr>
        <p:spPr>
          <a:xfrm>
            <a:off x="3067291" y="6496226"/>
            <a:ext cx="5412290" cy="361774"/>
          </a:xfrm>
        </p:spPr>
        <p:txBody>
          <a:bodyPr/>
          <a:lstStyle/>
          <a:p>
            <a:pPr marL="84138" lvl="0" indent="-84138" algn="r">
              <a:buNone/>
            </a:pPr>
            <a:r>
              <a:rPr lang="en-US" sz="800" dirty="0"/>
              <a:t>(a): (seed cones): Steven P. Lynch; (pollen cones): Maria </a:t>
            </a:r>
            <a:r>
              <a:rPr lang="en-US" sz="800" dirty="0" err="1"/>
              <a:t>Mosolova</a:t>
            </a:r>
            <a:r>
              <a:rPr lang="en-US" sz="800" dirty="0"/>
              <a:t>/</a:t>
            </a:r>
            <a:r>
              <a:rPr lang="en-US" sz="800" dirty="0" err="1"/>
              <a:t>Stockbyte</a:t>
            </a:r>
            <a:r>
              <a:rPr lang="en-US" sz="800" dirty="0"/>
              <a:t>/Getty Images; forest): Steven P. Lynch; (b): Ed Reschke/Stone/Getty Images; (c): Steffen Hauser/botanikfoto/</a:t>
            </a:r>
            <a:r>
              <a:rPr lang="en-US" sz="800" dirty="0" err="1"/>
              <a:t>Alamy</a:t>
            </a:r>
            <a:r>
              <a:rPr lang="en-US" sz="800" dirty="0"/>
              <a:t> Stock Photo</a:t>
            </a:r>
            <a:endParaRPr lang="en-GB" sz="800" dirty="0"/>
          </a:p>
        </p:txBody>
      </p:sp>
      <p:sp>
        <p:nvSpPr>
          <p:cNvPr id="12" name="Slide Number Placeholder 6">
            <a:extLst>
              <a:ext uri="{FF2B5EF4-FFF2-40B4-BE49-F238E27FC236}">
                <a16:creationId xmlns:a16="http://schemas.microsoft.com/office/drawing/2014/main" id="{8BBC9781-01E8-43B3-A701-963311777B85}"/>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59</a:t>
            </a:fld>
            <a:endParaRPr lang="en-IN"/>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itle 1"/>
          <p:cNvSpPr>
            <a:spLocks noGrp="1" noChangeArrowheads="1"/>
          </p:cNvSpPr>
          <p:nvPr>
            <p:ph type="title"/>
          </p:nvPr>
        </p:nvSpPr>
        <p:spPr/>
        <p:txBody>
          <a:bodyPr/>
          <a:lstStyle/>
          <a:p>
            <a:r>
              <a:rPr lang="en-US" altLang="en-US" dirty="0"/>
              <a:t>Pine Life Cycle </a:t>
            </a:r>
            <a:r>
              <a:rPr lang="en-US" altLang="en-US" sz="1600" dirty="0"/>
              <a:t>1</a:t>
            </a:r>
          </a:p>
        </p:txBody>
      </p:sp>
      <p:pic>
        <p:nvPicPr>
          <p:cNvPr id="69636" name="Picture 2" descr="The tree is the most prominent structure in the pine life cycle. It is diploid (2N) and a sporophyte. It has both pollen cones and pine cones."/>
          <p:cNvPicPr>
            <a:picLocks noChangeAspect="1" noChangeArrowheads="1"/>
          </p:cNvPicPr>
          <p:nvPr/>
        </p:nvPicPr>
        <p:blipFill rotWithShape="1">
          <a:blip r:embed="rId3">
            <a:extLst>
              <a:ext uri="{28A0092B-C50C-407E-A947-70E740481C1C}">
                <a14:useLocalDpi xmlns:a14="http://schemas.microsoft.com/office/drawing/2010/main" val="0"/>
              </a:ext>
            </a:extLst>
          </a:blip>
          <a:srcRect t="4204"/>
          <a:stretch/>
        </p:blipFill>
        <p:spPr bwMode="auto">
          <a:xfrm>
            <a:off x="1431925" y="1006997"/>
            <a:ext cx="6280150" cy="50778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Placeholder 3">
            <a:extLst>
              <a:ext uri="{FF2B5EF4-FFF2-40B4-BE49-F238E27FC236}">
                <a16:creationId xmlns:a16="http://schemas.microsoft.com/office/drawing/2014/main" id="{9322567E-26EE-4722-A2EF-8DC56E9C29BF}"/>
              </a:ext>
            </a:extLst>
          </p:cNvPr>
          <p:cNvSpPr>
            <a:spLocks noGrp="1"/>
          </p:cNvSpPr>
          <p:nvPr>
            <p:ph type="body" sz="quarter" idx="19"/>
          </p:nvPr>
        </p:nvSpPr>
        <p:spPr>
          <a:xfrm>
            <a:off x="3965041" y="6252026"/>
            <a:ext cx="1213917" cy="290317"/>
          </a:xfrm>
        </p:spPr>
        <p:txBody>
          <a:bodyPr>
            <a:normAutofit/>
          </a:bodyPr>
          <a:lstStyle/>
          <a:p>
            <a:pPr algn="ctr"/>
            <a:r>
              <a:rPr lang="en-US" sz="1200" dirty="0"/>
              <a:t>Figure 23.18</a:t>
            </a:r>
          </a:p>
        </p:txBody>
      </p:sp>
      <p:sp>
        <p:nvSpPr>
          <p:cNvPr id="5" name="Slide Number Placeholder 4">
            <a:extLst>
              <a:ext uri="{FF2B5EF4-FFF2-40B4-BE49-F238E27FC236}">
                <a16:creationId xmlns:a16="http://schemas.microsoft.com/office/drawing/2014/main" id="{4B0D94C2-6AB8-44A9-AF76-0D622582365E}"/>
              </a:ext>
            </a:extLst>
          </p:cNvPr>
          <p:cNvSpPr>
            <a:spLocks noGrp="1"/>
          </p:cNvSpPr>
          <p:nvPr>
            <p:ph type="sldNum" sz="quarter" idx="4"/>
          </p:nvPr>
        </p:nvSpPr>
        <p:spPr/>
        <p:txBody>
          <a:bodyPr/>
          <a:lstStyle/>
          <a:p>
            <a:fld id="{08F9AD23-695F-4808-8E99-6281554D0F77}" type="slidenum">
              <a:rPr lang="en-IN" smtClean="0"/>
              <a:t>60</a:t>
            </a:fld>
            <a:endParaRPr lang="en-IN"/>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itle 1"/>
          <p:cNvSpPr>
            <a:spLocks noGrp="1" noChangeArrowheads="1"/>
          </p:cNvSpPr>
          <p:nvPr>
            <p:ph type="title"/>
          </p:nvPr>
        </p:nvSpPr>
        <p:spPr/>
        <p:txBody>
          <a:bodyPr/>
          <a:lstStyle/>
          <a:p>
            <a:r>
              <a:rPr lang="en-US" altLang="en-US" dirty="0"/>
              <a:t>Pine Life Cycle </a:t>
            </a:r>
            <a:r>
              <a:rPr lang="en-US" altLang="en-US" sz="1600" dirty="0"/>
              <a:t>2</a:t>
            </a:r>
          </a:p>
        </p:txBody>
      </p:sp>
      <p:pic>
        <p:nvPicPr>
          <p:cNvPr id="6" name="Picture 2" descr="Pollen cones are typically quite small and develop near the tips of lower branches whereas seed cones are larger and located at higher branches.">
            <a:extLst>
              <a:ext uri="{FF2B5EF4-FFF2-40B4-BE49-F238E27FC236}">
                <a16:creationId xmlns:a16="http://schemas.microsoft.com/office/drawing/2014/main" id="{B80B6915-27C0-44AD-AE38-0CE94A8052F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6643"/>
          <a:stretch/>
        </p:blipFill>
        <p:spPr bwMode="auto">
          <a:xfrm>
            <a:off x="117475" y="1814513"/>
            <a:ext cx="8909050" cy="36220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Placeholder 3">
            <a:extLst>
              <a:ext uri="{FF2B5EF4-FFF2-40B4-BE49-F238E27FC236}">
                <a16:creationId xmlns:a16="http://schemas.microsoft.com/office/drawing/2014/main" id="{9322567E-26EE-4722-A2EF-8DC56E9C29BF}"/>
              </a:ext>
            </a:extLst>
          </p:cNvPr>
          <p:cNvSpPr>
            <a:spLocks noGrp="1"/>
          </p:cNvSpPr>
          <p:nvPr>
            <p:ph type="body" sz="quarter" idx="19"/>
          </p:nvPr>
        </p:nvSpPr>
        <p:spPr>
          <a:xfrm>
            <a:off x="3965041" y="6252026"/>
            <a:ext cx="1213917" cy="290317"/>
          </a:xfrm>
        </p:spPr>
        <p:txBody>
          <a:bodyPr>
            <a:normAutofit/>
          </a:bodyPr>
          <a:lstStyle/>
          <a:p>
            <a:pPr algn="ctr"/>
            <a:r>
              <a:rPr lang="en-US" sz="1200" dirty="0"/>
              <a:t>Figure 23.18</a:t>
            </a:r>
          </a:p>
        </p:txBody>
      </p:sp>
      <p:sp>
        <p:nvSpPr>
          <p:cNvPr id="5" name="Slide Number Placeholder 4">
            <a:extLst>
              <a:ext uri="{FF2B5EF4-FFF2-40B4-BE49-F238E27FC236}">
                <a16:creationId xmlns:a16="http://schemas.microsoft.com/office/drawing/2014/main" id="{4B0D94C2-6AB8-44A9-AF76-0D622582365E}"/>
              </a:ext>
            </a:extLst>
          </p:cNvPr>
          <p:cNvSpPr>
            <a:spLocks noGrp="1"/>
          </p:cNvSpPr>
          <p:nvPr>
            <p:ph type="sldNum" sz="quarter" idx="4"/>
          </p:nvPr>
        </p:nvSpPr>
        <p:spPr/>
        <p:txBody>
          <a:bodyPr/>
          <a:lstStyle/>
          <a:p>
            <a:fld id="{08F9AD23-695F-4808-8E99-6281554D0F77}" type="slidenum">
              <a:rPr lang="en-IN" smtClean="0"/>
              <a:t>61</a:t>
            </a:fld>
            <a:endParaRPr lang="en-IN"/>
          </a:p>
        </p:txBody>
      </p:sp>
    </p:spTree>
    <p:extLst>
      <p:ext uri="{BB962C8B-B14F-4D97-AF65-F5344CB8AC3E}">
        <p14:creationId xmlns:p14="http://schemas.microsoft.com/office/powerpoint/2010/main" val="3429540175"/>
      </p:ext>
    </p:extLst>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tle 1"/>
          <p:cNvSpPr>
            <a:spLocks noGrp="1" noChangeArrowheads="1"/>
          </p:cNvSpPr>
          <p:nvPr>
            <p:ph type="title"/>
          </p:nvPr>
        </p:nvSpPr>
        <p:spPr/>
        <p:txBody>
          <a:bodyPr/>
          <a:lstStyle/>
          <a:p>
            <a:r>
              <a:rPr lang="en-US" altLang="en-US" dirty="0"/>
              <a:t>Pine Life Cycle </a:t>
            </a:r>
            <a:r>
              <a:rPr lang="en-US" altLang="en-US" sz="1600" dirty="0"/>
              <a:t>3</a:t>
            </a:r>
          </a:p>
        </p:txBody>
      </p:sp>
      <p:pic>
        <p:nvPicPr>
          <p:cNvPr id="7" name="Picture 2" descr="Step 2 compares pollen and seed cone on basis of pollen sac and ovule.">
            <a:extLst>
              <a:ext uri="{FF2B5EF4-FFF2-40B4-BE49-F238E27FC236}">
                <a16:creationId xmlns:a16="http://schemas.microsoft.com/office/drawing/2014/main" id="{A7B5A613-F4EF-4601-95C3-6584A7C1505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968"/>
          <a:stretch/>
        </p:blipFill>
        <p:spPr bwMode="auto">
          <a:xfrm>
            <a:off x="279400" y="1628775"/>
            <a:ext cx="8585200" cy="41819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 Placeholder 3">
            <a:extLst>
              <a:ext uri="{FF2B5EF4-FFF2-40B4-BE49-F238E27FC236}">
                <a16:creationId xmlns:a16="http://schemas.microsoft.com/office/drawing/2014/main" id="{D145A385-7771-4F48-BBED-1EA5E51CB5D8}"/>
              </a:ext>
            </a:extLst>
          </p:cNvPr>
          <p:cNvSpPr>
            <a:spLocks noGrp="1"/>
          </p:cNvSpPr>
          <p:nvPr>
            <p:ph type="body" sz="quarter" idx="18"/>
          </p:nvPr>
        </p:nvSpPr>
        <p:spPr>
          <a:xfrm>
            <a:off x="3931956" y="6193594"/>
            <a:ext cx="1278966" cy="314325"/>
          </a:xfrm>
        </p:spPr>
        <p:txBody>
          <a:bodyPr>
            <a:normAutofit/>
          </a:bodyPr>
          <a:lstStyle/>
          <a:p>
            <a:pPr algn="ctr"/>
            <a:r>
              <a:rPr lang="en-US" sz="1200" dirty="0"/>
              <a:t>Figure 23.18</a:t>
            </a:r>
          </a:p>
        </p:txBody>
      </p:sp>
      <p:sp>
        <p:nvSpPr>
          <p:cNvPr id="6" name="Text Placeholder 4">
            <a:extLst>
              <a:ext uri="{FF2B5EF4-FFF2-40B4-BE49-F238E27FC236}">
                <a16:creationId xmlns:a16="http://schemas.microsoft.com/office/drawing/2014/main" id="{905A73CA-9A2D-4250-AB80-AF4672E2BE7E}"/>
              </a:ext>
            </a:extLst>
          </p:cNvPr>
          <p:cNvSpPr>
            <a:spLocks noGrp="1"/>
          </p:cNvSpPr>
          <p:nvPr>
            <p:ph type="body" sz="quarter" idx="19"/>
          </p:nvPr>
        </p:nvSpPr>
        <p:spPr>
          <a:xfrm>
            <a:off x="2921233" y="6507919"/>
            <a:ext cx="3300412" cy="314325"/>
          </a:xfrm>
        </p:spPr>
        <p:txBody>
          <a:bodyPr>
            <a:normAutofit/>
          </a:bodyPr>
          <a:lstStyle/>
          <a:p>
            <a:pPr algn="ctr"/>
            <a:r>
              <a:rPr lang="en-US" sz="1200" dirty="0">
                <a:latin typeface="+mn-lt"/>
                <a:hlinkClick r:id="rId4" action="ppaction://hlinksldjump"/>
              </a:rPr>
              <a:t>Access the text alternative for slide images.</a:t>
            </a:r>
            <a:endParaRPr lang="en-US" sz="1200" dirty="0">
              <a:latin typeface="+mn-lt"/>
            </a:endParaRPr>
          </a:p>
        </p:txBody>
      </p:sp>
      <p:sp>
        <p:nvSpPr>
          <p:cNvPr id="5" name="Slide Number Placeholder 5">
            <a:extLst>
              <a:ext uri="{FF2B5EF4-FFF2-40B4-BE49-F238E27FC236}">
                <a16:creationId xmlns:a16="http://schemas.microsoft.com/office/drawing/2014/main" id="{D1B92705-FA0A-4067-8AEA-B3AA83EBD5B3}"/>
              </a:ext>
            </a:extLst>
          </p:cNvPr>
          <p:cNvSpPr>
            <a:spLocks noGrp="1"/>
          </p:cNvSpPr>
          <p:nvPr>
            <p:ph type="sldNum" sz="quarter" idx="4"/>
          </p:nvPr>
        </p:nvSpPr>
        <p:spPr/>
        <p:txBody>
          <a:bodyPr/>
          <a:lstStyle/>
          <a:p>
            <a:fld id="{08F9AD23-695F-4808-8E99-6281554D0F77}" type="slidenum">
              <a:rPr lang="en-IN" smtClean="0"/>
              <a:t>62</a:t>
            </a:fld>
            <a:endParaRPr lang="en-IN"/>
          </a:p>
        </p:txBody>
      </p:sp>
    </p:spTree>
    <p:extLst>
      <p:ext uri="{BB962C8B-B14F-4D97-AF65-F5344CB8AC3E}">
        <p14:creationId xmlns:p14="http://schemas.microsoft.com/office/powerpoint/2010/main" val="2099945894"/>
      </p:ext>
    </p:extLst>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itle 1"/>
          <p:cNvSpPr>
            <a:spLocks noGrp="1" noChangeArrowheads="1"/>
          </p:cNvSpPr>
          <p:nvPr>
            <p:ph type="title"/>
          </p:nvPr>
        </p:nvSpPr>
        <p:spPr/>
        <p:txBody>
          <a:bodyPr/>
          <a:lstStyle/>
          <a:p>
            <a:r>
              <a:rPr lang="en-US" altLang="en-US" dirty="0"/>
              <a:t>Pine Life Cycle </a:t>
            </a:r>
            <a:r>
              <a:rPr lang="en-US" altLang="en-US" sz="1600" dirty="0"/>
              <a:t>4</a:t>
            </a:r>
          </a:p>
        </p:txBody>
      </p:sp>
      <p:pic>
        <p:nvPicPr>
          <p:cNvPr id="6" name="Picture 2" descr="Microspores: Within the pollen sacs, meiosis produces four microspores. Megaspore: Within an ovule, meiosis produces 4 megaspores; only 1 survives.">
            <a:extLst>
              <a:ext uri="{FF2B5EF4-FFF2-40B4-BE49-F238E27FC236}">
                <a16:creationId xmlns:a16="http://schemas.microsoft.com/office/drawing/2014/main" id="{2C9E604F-2982-4D20-A411-412E590DDC10}"/>
              </a:ext>
            </a:extLst>
          </p:cNvPr>
          <p:cNvPicPr>
            <a:picLocks noChangeAspect="1"/>
          </p:cNvPicPr>
          <p:nvPr/>
        </p:nvPicPr>
        <p:blipFill rotWithShape="1">
          <a:blip r:embed="rId3">
            <a:extLst>
              <a:ext uri="{28A0092B-C50C-407E-A947-70E740481C1C}">
                <a14:useLocalDpi xmlns:a14="http://schemas.microsoft.com/office/drawing/2010/main" val="0"/>
              </a:ext>
            </a:extLst>
          </a:blip>
          <a:srcRect t="5860" b="-1"/>
          <a:stretch/>
        </p:blipFill>
        <p:spPr>
          <a:xfrm>
            <a:off x="1207007" y="783418"/>
            <a:ext cx="6729984" cy="5291164"/>
          </a:xfrm>
          <a:prstGeom prst="rect">
            <a:avLst/>
          </a:prstGeom>
        </p:spPr>
      </p:pic>
      <p:sp>
        <p:nvSpPr>
          <p:cNvPr id="7" name="Text Placeholder 3">
            <a:extLst>
              <a:ext uri="{FF2B5EF4-FFF2-40B4-BE49-F238E27FC236}">
                <a16:creationId xmlns:a16="http://schemas.microsoft.com/office/drawing/2014/main" id="{9322567E-26EE-4722-A2EF-8DC56E9C29BF}"/>
              </a:ext>
            </a:extLst>
          </p:cNvPr>
          <p:cNvSpPr>
            <a:spLocks noGrp="1"/>
          </p:cNvSpPr>
          <p:nvPr>
            <p:ph type="body" sz="quarter" idx="19"/>
          </p:nvPr>
        </p:nvSpPr>
        <p:spPr>
          <a:xfrm>
            <a:off x="3965041" y="6252026"/>
            <a:ext cx="1213917" cy="290317"/>
          </a:xfrm>
        </p:spPr>
        <p:txBody>
          <a:bodyPr>
            <a:normAutofit/>
          </a:bodyPr>
          <a:lstStyle/>
          <a:p>
            <a:pPr algn="ctr"/>
            <a:r>
              <a:rPr lang="en-US" sz="1200" dirty="0"/>
              <a:t>Figure 23.18</a:t>
            </a:r>
          </a:p>
        </p:txBody>
      </p:sp>
      <p:sp>
        <p:nvSpPr>
          <p:cNvPr id="5" name="Slide Number Placeholder 4">
            <a:extLst>
              <a:ext uri="{FF2B5EF4-FFF2-40B4-BE49-F238E27FC236}">
                <a16:creationId xmlns:a16="http://schemas.microsoft.com/office/drawing/2014/main" id="{4B0D94C2-6AB8-44A9-AF76-0D622582365E}"/>
              </a:ext>
            </a:extLst>
          </p:cNvPr>
          <p:cNvSpPr>
            <a:spLocks noGrp="1"/>
          </p:cNvSpPr>
          <p:nvPr>
            <p:ph type="sldNum" sz="quarter" idx="4"/>
          </p:nvPr>
        </p:nvSpPr>
        <p:spPr/>
        <p:txBody>
          <a:bodyPr/>
          <a:lstStyle/>
          <a:p>
            <a:fld id="{08F9AD23-695F-4808-8E99-6281554D0F77}" type="slidenum">
              <a:rPr lang="en-IN" smtClean="0"/>
              <a:t>63</a:t>
            </a:fld>
            <a:endParaRPr lang="en-IN"/>
          </a:p>
        </p:txBody>
      </p:sp>
    </p:spTree>
    <p:extLst>
      <p:ext uri="{BB962C8B-B14F-4D97-AF65-F5344CB8AC3E}">
        <p14:creationId xmlns:p14="http://schemas.microsoft.com/office/powerpoint/2010/main" val="1717534264"/>
      </p:ext>
    </p:extLst>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itle 1"/>
          <p:cNvSpPr>
            <a:spLocks noGrp="1" noChangeArrowheads="1"/>
          </p:cNvSpPr>
          <p:nvPr>
            <p:ph type="title"/>
          </p:nvPr>
        </p:nvSpPr>
        <p:spPr/>
        <p:txBody>
          <a:bodyPr/>
          <a:lstStyle/>
          <a:p>
            <a:r>
              <a:rPr lang="en-US" altLang="en-US" dirty="0"/>
              <a:t>Pine Life Cycle </a:t>
            </a:r>
            <a:r>
              <a:rPr lang="en-US" altLang="en-US" sz="1600" dirty="0"/>
              <a:t>5</a:t>
            </a:r>
          </a:p>
        </p:txBody>
      </p:sp>
      <p:pic>
        <p:nvPicPr>
          <p:cNvPr id="6" name="Picture 2" descr=" The pollen grains: Each microspore becomes a pollen grain, which has two wings and is carried by the wind to the seed cone during pollination.">
            <a:extLst>
              <a:ext uri="{FF2B5EF4-FFF2-40B4-BE49-F238E27FC236}">
                <a16:creationId xmlns:a16="http://schemas.microsoft.com/office/drawing/2014/main" id="{78BF8E28-732F-43D1-8275-A3BA8E30AA9F}"/>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4905"/>
          <a:stretch/>
        </p:blipFill>
        <p:spPr>
          <a:xfrm>
            <a:off x="1206881" y="755301"/>
            <a:ext cx="6730236" cy="5347398"/>
          </a:xfrm>
          <a:prstGeom prst="rect">
            <a:avLst/>
          </a:prstGeom>
        </p:spPr>
      </p:pic>
      <p:sp>
        <p:nvSpPr>
          <p:cNvPr id="7" name="Text Placeholder 3">
            <a:extLst>
              <a:ext uri="{FF2B5EF4-FFF2-40B4-BE49-F238E27FC236}">
                <a16:creationId xmlns:a16="http://schemas.microsoft.com/office/drawing/2014/main" id="{9322567E-26EE-4722-A2EF-8DC56E9C29BF}"/>
              </a:ext>
            </a:extLst>
          </p:cNvPr>
          <p:cNvSpPr>
            <a:spLocks noGrp="1"/>
          </p:cNvSpPr>
          <p:nvPr>
            <p:ph type="body" sz="quarter" idx="19"/>
          </p:nvPr>
        </p:nvSpPr>
        <p:spPr>
          <a:xfrm>
            <a:off x="3965041" y="6252026"/>
            <a:ext cx="1213917" cy="290317"/>
          </a:xfrm>
        </p:spPr>
        <p:txBody>
          <a:bodyPr>
            <a:normAutofit/>
          </a:bodyPr>
          <a:lstStyle/>
          <a:p>
            <a:pPr algn="ctr"/>
            <a:r>
              <a:rPr lang="en-US" sz="1200" dirty="0"/>
              <a:t>Figure 23.18</a:t>
            </a:r>
          </a:p>
        </p:txBody>
      </p:sp>
      <p:sp>
        <p:nvSpPr>
          <p:cNvPr id="5" name="Slide Number Placeholder 4">
            <a:extLst>
              <a:ext uri="{FF2B5EF4-FFF2-40B4-BE49-F238E27FC236}">
                <a16:creationId xmlns:a16="http://schemas.microsoft.com/office/drawing/2014/main" id="{4B0D94C2-6AB8-44A9-AF76-0D622582365E}"/>
              </a:ext>
            </a:extLst>
          </p:cNvPr>
          <p:cNvSpPr>
            <a:spLocks noGrp="1"/>
          </p:cNvSpPr>
          <p:nvPr>
            <p:ph type="sldNum" sz="quarter" idx="4"/>
          </p:nvPr>
        </p:nvSpPr>
        <p:spPr/>
        <p:txBody>
          <a:bodyPr/>
          <a:lstStyle/>
          <a:p>
            <a:fld id="{08F9AD23-695F-4808-8E99-6281554D0F77}" type="slidenum">
              <a:rPr lang="en-IN" smtClean="0"/>
              <a:t>64</a:t>
            </a:fld>
            <a:endParaRPr lang="en-IN"/>
          </a:p>
        </p:txBody>
      </p:sp>
    </p:spTree>
    <p:extLst>
      <p:ext uri="{BB962C8B-B14F-4D97-AF65-F5344CB8AC3E}">
        <p14:creationId xmlns:p14="http://schemas.microsoft.com/office/powerpoint/2010/main" val="270660982"/>
      </p:ext>
    </p:extLst>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tle 1"/>
          <p:cNvSpPr>
            <a:spLocks noGrp="1" noChangeArrowheads="1"/>
          </p:cNvSpPr>
          <p:nvPr>
            <p:ph type="title"/>
          </p:nvPr>
        </p:nvSpPr>
        <p:spPr/>
        <p:txBody>
          <a:bodyPr/>
          <a:lstStyle/>
          <a:p>
            <a:r>
              <a:rPr lang="en-US" altLang="en-US" dirty="0"/>
              <a:t>Pine Life Cycle </a:t>
            </a:r>
            <a:r>
              <a:rPr lang="en-US" altLang="en-US" sz="1600" dirty="0"/>
              <a:t>6</a:t>
            </a:r>
          </a:p>
        </p:txBody>
      </p:sp>
      <p:pic>
        <p:nvPicPr>
          <p:cNvPr id="7" name="Picture 2" descr="Step 5 illustrates mature female gametophyte.">
            <a:extLst>
              <a:ext uri="{FF2B5EF4-FFF2-40B4-BE49-F238E27FC236}">
                <a16:creationId xmlns:a16="http://schemas.microsoft.com/office/drawing/2014/main" id="{B855CDF7-5B49-43A9-A832-B7716EEBB86B}"/>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4695"/>
          <a:stretch/>
        </p:blipFill>
        <p:spPr>
          <a:xfrm>
            <a:off x="1243149" y="948214"/>
            <a:ext cx="6657699" cy="5301457"/>
          </a:xfrm>
          <a:prstGeom prst="rect">
            <a:avLst/>
          </a:prstGeom>
        </p:spPr>
      </p:pic>
      <p:sp>
        <p:nvSpPr>
          <p:cNvPr id="3" name="Text Placeholder 3">
            <a:extLst>
              <a:ext uri="{FF2B5EF4-FFF2-40B4-BE49-F238E27FC236}">
                <a16:creationId xmlns:a16="http://schemas.microsoft.com/office/drawing/2014/main" id="{D145A385-7771-4F48-BBED-1EA5E51CB5D8}"/>
              </a:ext>
            </a:extLst>
          </p:cNvPr>
          <p:cNvSpPr>
            <a:spLocks noGrp="1"/>
          </p:cNvSpPr>
          <p:nvPr>
            <p:ph type="body" sz="quarter" idx="18"/>
          </p:nvPr>
        </p:nvSpPr>
        <p:spPr>
          <a:xfrm>
            <a:off x="3931956" y="6193594"/>
            <a:ext cx="1278966" cy="314325"/>
          </a:xfrm>
        </p:spPr>
        <p:txBody>
          <a:bodyPr>
            <a:normAutofit/>
          </a:bodyPr>
          <a:lstStyle/>
          <a:p>
            <a:pPr algn="ctr"/>
            <a:r>
              <a:rPr lang="en-US" sz="1200" dirty="0"/>
              <a:t>Figure 23.18</a:t>
            </a:r>
          </a:p>
        </p:txBody>
      </p:sp>
      <p:sp>
        <p:nvSpPr>
          <p:cNvPr id="6" name="Text Placeholder 4">
            <a:extLst>
              <a:ext uri="{FF2B5EF4-FFF2-40B4-BE49-F238E27FC236}">
                <a16:creationId xmlns:a16="http://schemas.microsoft.com/office/drawing/2014/main" id="{905A73CA-9A2D-4250-AB80-AF4672E2BE7E}"/>
              </a:ext>
            </a:extLst>
          </p:cNvPr>
          <p:cNvSpPr>
            <a:spLocks noGrp="1"/>
          </p:cNvSpPr>
          <p:nvPr>
            <p:ph type="body" sz="quarter" idx="19"/>
          </p:nvPr>
        </p:nvSpPr>
        <p:spPr>
          <a:xfrm>
            <a:off x="2921233" y="6507919"/>
            <a:ext cx="3300412" cy="314325"/>
          </a:xfrm>
        </p:spPr>
        <p:txBody>
          <a:bodyPr>
            <a:normAutofit/>
          </a:bodyPr>
          <a:lstStyle/>
          <a:p>
            <a:pPr algn="ctr"/>
            <a:r>
              <a:rPr lang="en-US" sz="1200" dirty="0">
                <a:latin typeface="+mn-lt"/>
                <a:hlinkClick r:id="rId4" action="ppaction://hlinksldjump"/>
              </a:rPr>
              <a:t>Access the text alternative for slide images.</a:t>
            </a:r>
            <a:endParaRPr lang="en-US" sz="1200" dirty="0">
              <a:latin typeface="+mn-lt"/>
            </a:endParaRPr>
          </a:p>
        </p:txBody>
      </p:sp>
      <p:sp>
        <p:nvSpPr>
          <p:cNvPr id="5" name="Slide Number Placeholder 5">
            <a:extLst>
              <a:ext uri="{FF2B5EF4-FFF2-40B4-BE49-F238E27FC236}">
                <a16:creationId xmlns:a16="http://schemas.microsoft.com/office/drawing/2014/main" id="{D1B92705-FA0A-4067-8AEA-B3AA83EBD5B3}"/>
              </a:ext>
            </a:extLst>
          </p:cNvPr>
          <p:cNvSpPr>
            <a:spLocks noGrp="1"/>
          </p:cNvSpPr>
          <p:nvPr>
            <p:ph type="sldNum" sz="quarter" idx="4"/>
          </p:nvPr>
        </p:nvSpPr>
        <p:spPr/>
        <p:txBody>
          <a:bodyPr/>
          <a:lstStyle/>
          <a:p>
            <a:fld id="{08F9AD23-695F-4808-8E99-6281554D0F77}" type="slidenum">
              <a:rPr lang="en-IN" smtClean="0"/>
              <a:t>65</a:t>
            </a:fld>
            <a:endParaRPr lang="en-IN"/>
          </a:p>
        </p:txBody>
      </p:sp>
    </p:spTree>
    <p:extLst>
      <p:ext uri="{BB962C8B-B14F-4D97-AF65-F5344CB8AC3E}">
        <p14:creationId xmlns:p14="http://schemas.microsoft.com/office/powerpoint/2010/main" val="3010315838"/>
      </p:ext>
    </p:extLst>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tle 1"/>
          <p:cNvSpPr>
            <a:spLocks noGrp="1" noChangeArrowheads="1"/>
          </p:cNvSpPr>
          <p:nvPr>
            <p:ph type="title"/>
          </p:nvPr>
        </p:nvSpPr>
        <p:spPr/>
        <p:txBody>
          <a:bodyPr/>
          <a:lstStyle/>
          <a:p>
            <a:r>
              <a:rPr lang="en-US" altLang="en-US" dirty="0"/>
              <a:t>Pine Life Cycle </a:t>
            </a:r>
            <a:r>
              <a:rPr lang="en-US" altLang="en-US" sz="1600" dirty="0"/>
              <a:t>7</a:t>
            </a:r>
          </a:p>
        </p:txBody>
      </p:sp>
      <p:pic>
        <p:nvPicPr>
          <p:cNvPr id="8" name="Picture 2" descr="Step 6 illustrates pollen grain and pollen tube.">
            <a:extLst>
              <a:ext uri="{FF2B5EF4-FFF2-40B4-BE49-F238E27FC236}">
                <a16:creationId xmlns:a16="http://schemas.microsoft.com/office/drawing/2014/main" id="{A06DF099-A02E-4AED-B415-5CA6F59052DD}"/>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5326"/>
          <a:stretch/>
        </p:blipFill>
        <p:spPr>
          <a:xfrm>
            <a:off x="1254301" y="948214"/>
            <a:ext cx="6635396" cy="5248678"/>
          </a:xfrm>
          <a:prstGeom prst="rect">
            <a:avLst/>
          </a:prstGeom>
        </p:spPr>
      </p:pic>
      <p:sp>
        <p:nvSpPr>
          <p:cNvPr id="3" name="Text Placeholder 3">
            <a:extLst>
              <a:ext uri="{FF2B5EF4-FFF2-40B4-BE49-F238E27FC236}">
                <a16:creationId xmlns:a16="http://schemas.microsoft.com/office/drawing/2014/main" id="{D145A385-7771-4F48-BBED-1EA5E51CB5D8}"/>
              </a:ext>
            </a:extLst>
          </p:cNvPr>
          <p:cNvSpPr>
            <a:spLocks noGrp="1"/>
          </p:cNvSpPr>
          <p:nvPr>
            <p:ph type="body" sz="quarter" idx="18"/>
          </p:nvPr>
        </p:nvSpPr>
        <p:spPr>
          <a:xfrm>
            <a:off x="3931956" y="6193594"/>
            <a:ext cx="1278966" cy="314325"/>
          </a:xfrm>
        </p:spPr>
        <p:txBody>
          <a:bodyPr>
            <a:normAutofit/>
          </a:bodyPr>
          <a:lstStyle/>
          <a:p>
            <a:pPr algn="ctr"/>
            <a:r>
              <a:rPr lang="en-US" sz="1200" dirty="0"/>
              <a:t>Figure 23.18</a:t>
            </a:r>
          </a:p>
        </p:txBody>
      </p:sp>
      <p:sp>
        <p:nvSpPr>
          <p:cNvPr id="6" name="Text Placeholder 4">
            <a:extLst>
              <a:ext uri="{FF2B5EF4-FFF2-40B4-BE49-F238E27FC236}">
                <a16:creationId xmlns:a16="http://schemas.microsoft.com/office/drawing/2014/main" id="{905A73CA-9A2D-4250-AB80-AF4672E2BE7E}"/>
              </a:ext>
            </a:extLst>
          </p:cNvPr>
          <p:cNvSpPr>
            <a:spLocks noGrp="1"/>
          </p:cNvSpPr>
          <p:nvPr>
            <p:ph type="body" sz="quarter" idx="19"/>
          </p:nvPr>
        </p:nvSpPr>
        <p:spPr>
          <a:xfrm>
            <a:off x="2921233" y="6507919"/>
            <a:ext cx="3300412" cy="314325"/>
          </a:xfrm>
        </p:spPr>
        <p:txBody>
          <a:bodyPr>
            <a:normAutofit/>
          </a:bodyPr>
          <a:lstStyle/>
          <a:p>
            <a:pPr algn="ctr"/>
            <a:r>
              <a:rPr lang="en-US" sz="1200" dirty="0">
                <a:latin typeface="+mn-lt"/>
                <a:hlinkClick r:id="rId4" action="ppaction://hlinksldjump"/>
              </a:rPr>
              <a:t>Access the text alternative for slide images.</a:t>
            </a:r>
            <a:endParaRPr lang="en-US" sz="1200" dirty="0">
              <a:latin typeface="+mn-lt"/>
            </a:endParaRPr>
          </a:p>
        </p:txBody>
      </p:sp>
      <p:sp>
        <p:nvSpPr>
          <p:cNvPr id="5" name="Slide Number Placeholder 5">
            <a:extLst>
              <a:ext uri="{FF2B5EF4-FFF2-40B4-BE49-F238E27FC236}">
                <a16:creationId xmlns:a16="http://schemas.microsoft.com/office/drawing/2014/main" id="{D1B92705-FA0A-4067-8AEA-B3AA83EBD5B3}"/>
              </a:ext>
            </a:extLst>
          </p:cNvPr>
          <p:cNvSpPr>
            <a:spLocks noGrp="1"/>
          </p:cNvSpPr>
          <p:nvPr>
            <p:ph type="sldNum" sz="quarter" idx="4"/>
          </p:nvPr>
        </p:nvSpPr>
        <p:spPr/>
        <p:txBody>
          <a:bodyPr/>
          <a:lstStyle/>
          <a:p>
            <a:fld id="{08F9AD23-695F-4808-8E99-6281554D0F77}" type="slidenum">
              <a:rPr lang="en-IN" smtClean="0"/>
              <a:t>66</a:t>
            </a:fld>
            <a:endParaRPr lang="en-IN"/>
          </a:p>
        </p:txBody>
      </p:sp>
    </p:spTree>
    <p:extLst>
      <p:ext uri="{BB962C8B-B14F-4D97-AF65-F5344CB8AC3E}">
        <p14:creationId xmlns:p14="http://schemas.microsoft.com/office/powerpoint/2010/main" val="37419835"/>
      </p:ext>
    </p:extLst>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tle 1"/>
          <p:cNvSpPr>
            <a:spLocks noGrp="1" noChangeArrowheads="1"/>
          </p:cNvSpPr>
          <p:nvPr>
            <p:ph type="title"/>
          </p:nvPr>
        </p:nvSpPr>
        <p:spPr/>
        <p:txBody>
          <a:bodyPr/>
          <a:lstStyle/>
          <a:p>
            <a:r>
              <a:rPr lang="en-US" altLang="en-US" dirty="0"/>
              <a:t>Pine Life Cycle </a:t>
            </a:r>
            <a:r>
              <a:rPr lang="en-US" altLang="en-US" sz="1600" dirty="0"/>
              <a:t>8</a:t>
            </a:r>
          </a:p>
        </p:txBody>
      </p:sp>
      <p:pic>
        <p:nvPicPr>
          <p:cNvPr id="7" name="Picture 2" descr="Step 7 illustrates the process of fertilization.">
            <a:extLst>
              <a:ext uri="{FF2B5EF4-FFF2-40B4-BE49-F238E27FC236}">
                <a16:creationId xmlns:a16="http://schemas.microsoft.com/office/drawing/2014/main" id="{A6AAEF56-6F0D-4CD1-A764-9DC605C95AFE}"/>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4768"/>
          <a:stretch/>
        </p:blipFill>
        <p:spPr>
          <a:xfrm>
            <a:off x="1337934" y="948214"/>
            <a:ext cx="6468129" cy="5146534"/>
          </a:xfrm>
          <a:prstGeom prst="rect">
            <a:avLst/>
          </a:prstGeom>
        </p:spPr>
      </p:pic>
      <p:sp>
        <p:nvSpPr>
          <p:cNvPr id="3" name="Text Placeholder 3">
            <a:extLst>
              <a:ext uri="{FF2B5EF4-FFF2-40B4-BE49-F238E27FC236}">
                <a16:creationId xmlns:a16="http://schemas.microsoft.com/office/drawing/2014/main" id="{D145A385-7771-4F48-BBED-1EA5E51CB5D8}"/>
              </a:ext>
            </a:extLst>
          </p:cNvPr>
          <p:cNvSpPr>
            <a:spLocks noGrp="1"/>
          </p:cNvSpPr>
          <p:nvPr>
            <p:ph type="body" sz="quarter" idx="18"/>
          </p:nvPr>
        </p:nvSpPr>
        <p:spPr>
          <a:xfrm>
            <a:off x="3931956" y="6193594"/>
            <a:ext cx="1278966" cy="314325"/>
          </a:xfrm>
        </p:spPr>
        <p:txBody>
          <a:bodyPr>
            <a:normAutofit/>
          </a:bodyPr>
          <a:lstStyle/>
          <a:p>
            <a:pPr algn="ctr"/>
            <a:r>
              <a:rPr lang="en-US" sz="1200" dirty="0"/>
              <a:t>Figure 23.18</a:t>
            </a:r>
          </a:p>
        </p:txBody>
      </p:sp>
      <p:sp>
        <p:nvSpPr>
          <p:cNvPr id="6" name="Text Placeholder 4">
            <a:extLst>
              <a:ext uri="{FF2B5EF4-FFF2-40B4-BE49-F238E27FC236}">
                <a16:creationId xmlns:a16="http://schemas.microsoft.com/office/drawing/2014/main" id="{905A73CA-9A2D-4250-AB80-AF4672E2BE7E}"/>
              </a:ext>
            </a:extLst>
          </p:cNvPr>
          <p:cNvSpPr>
            <a:spLocks noGrp="1"/>
          </p:cNvSpPr>
          <p:nvPr>
            <p:ph type="body" sz="quarter" idx="19"/>
          </p:nvPr>
        </p:nvSpPr>
        <p:spPr>
          <a:xfrm>
            <a:off x="2921233" y="6507919"/>
            <a:ext cx="3300412" cy="314325"/>
          </a:xfrm>
        </p:spPr>
        <p:txBody>
          <a:bodyPr>
            <a:normAutofit/>
          </a:bodyPr>
          <a:lstStyle/>
          <a:p>
            <a:pPr algn="ctr"/>
            <a:r>
              <a:rPr lang="en-US" sz="1200" dirty="0">
                <a:latin typeface="+mn-lt"/>
                <a:hlinkClick r:id="rId4" action="ppaction://hlinksldjump"/>
              </a:rPr>
              <a:t>Access the text alternative for slide images.</a:t>
            </a:r>
            <a:endParaRPr lang="en-US" sz="1200" dirty="0">
              <a:latin typeface="+mn-lt"/>
            </a:endParaRPr>
          </a:p>
        </p:txBody>
      </p:sp>
      <p:sp>
        <p:nvSpPr>
          <p:cNvPr id="5" name="Slide Number Placeholder 5">
            <a:extLst>
              <a:ext uri="{FF2B5EF4-FFF2-40B4-BE49-F238E27FC236}">
                <a16:creationId xmlns:a16="http://schemas.microsoft.com/office/drawing/2014/main" id="{D1B92705-FA0A-4067-8AEA-B3AA83EBD5B3}"/>
              </a:ext>
            </a:extLst>
          </p:cNvPr>
          <p:cNvSpPr>
            <a:spLocks noGrp="1"/>
          </p:cNvSpPr>
          <p:nvPr>
            <p:ph type="sldNum" sz="quarter" idx="4"/>
          </p:nvPr>
        </p:nvSpPr>
        <p:spPr/>
        <p:txBody>
          <a:bodyPr/>
          <a:lstStyle/>
          <a:p>
            <a:fld id="{08F9AD23-695F-4808-8E99-6281554D0F77}" type="slidenum">
              <a:rPr lang="en-IN" smtClean="0"/>
              <a:t>67</a:t>
            </a:fld>
            <a:endParaRPr lang="en-IN"/>
          </a:p>
        </p:txBody>
      </p:sp>
    </p:spTree>
    <p:extLst>
      <p:ext uri="{BB962C8B-B14F-4D97-AF65-F5344CB8AC3E}">
        <p14:creationId xmlns:p14="http://schemas.microsoft.com/office/powerpoint/2010/main" val="692701614"/>
      </p:ext>
    </p:extLst>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tle 1"/>
          <p:cNvSpPr>
            <a:spLocks noGrp="1" noChangeArrowheads="1"/>
          </p:cNvSpPr>
          <p:nvPr>
            <p:ph type="title"/>
          </p:nvPr>
        </p:nvSpPr>
        <p:spPr/>
        <p:txBody>
          <a:bodyPr/>
          <a:lstStyle/>
          <a:p>
            <a:r>
              <a:rPr lang="en-US" altLang="en-US" dirty="0"/>
              <a:t>Pine Life Cycle </a:t>
            </a:r>
            <a:r>
              <a:rPr lang="en-US" altLang="en-US" sz="1600" dirty="0"/>
              <a:t>9</a:t>
            </a:r>
          </a:p>
        </p:txBody>
      </p:sp>
      <p:pic>
        <p:nvPicPr>
          <p:cNvPr id="9" name="Picture 2" descr="Details of a typical conifer life cycle include pollen and seed cone formation, pollination, and sporophyte formation.">
            <a:extLst>
              <a:ext uri="{FF2B5EF4-FFF2-40B4-BE49-F238E27FC236}">
                <a16:creationId xmlns:a16="http://schemas.microsoft.com/office/drawing/2014/main" id="{ED268DE4-521D-4724-9B93-EEE864EBE992}"/>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4201"/>
          <a:stretch/>
        </p:blipFill>
        <p:spPr>
          <a:xfrm>
            <a:off x="1181950" y="715565"/>
            <a:ext cx="6780100" cy="5426870"/>
          </a:xfrm>
          <a:prstGeom prst="rect">
            <a:avLst/>
          </a:prstGeom>
        </p:spPr>
      </p:pic>
      <p:sp>
        <p:nvSpPr>
          <p:cNvPr id="3" name="Text Placeholder 3">
            <a:extLst>
              <a:ext uri="{FF2B5EF4-FFF2-40B4-BE49-F238E27FC236}">
                <a16:creationId xmlns:a16="http://schemas.microsoft.com/office/drawing/2014/main" id="{D145A385-7771-4F48-BBED-1EA5E51CB5D8}"/>
              </a:ext>
            </a:extLst>
          </p:cNvPr>
          <p:cNvSpPr>
            <a:spLocks noGrp="1"/>
          </p:cNvSpPr>
          <p:nvPr>
            <p:ph type="body" sz="quarter" idx="18"/>
          </p:nvPr>
        </p:nvSpPr>
        <p:spPr>
          <a:xfrm>
            <a:off x="3931956" y="6193594"/>
            <a:ext cx="1278966" cy="314325"/>
          </a:xfrm>
        </p:spPr>
        <p:txBody>
          <a:bodyPr>
            <a:normAutofit/>
          </a:bodyPr>
          <a:lstStyle/>
          <a:p>
            <a:pPr algn="ctr"/>
            <a:r>
              <a:rPr lang="en-US" sz="1200" dirty="0"/>
              <a:t>Figure 23.18</a:t>
            </a:r>
          </a:p>
        </p:txBody>
      </p:sp>
      <p:sp>
        <p:nvSpPr>
          <p:cNvPr id="6" name="Text Placeholder 4">
            <a:extLst>
              <a:ext uri="{FF2B5EF4-FFF2-40B4-BE49-F238E27FC236}">
                <a16:creationId xmlns:a16="http://schemas.microsoft.com/office/drawing/2014/main" id="{905A73CA-9A2D-4250-AB80-AF4672E2BE7E}"/>
              </a:ext>
            </a:extLst>
          </p:cNvPr>
          <p:cNvSpPr>
            <a:spLocks noGrp="1"/>
          </p:cNvSpPr>
          <p:nvPr>
            <p:ph type="body" sz="quarter" idx="19"/>
          </p:nvPr>
        </p:nvSpPr>
        <p:spPr>
          <a:xfrm>
            <a:off x="2921233" y="6507919"/>
            <a:ext cx="3300412" cy="314325"/>
          </a:xfrm>
        </p:spPr>
        <p:txBody>
          <a:bodyPr>
            <a:normAutofit/>
          </a:bodyPr>
          <a:lstStyle/>
          <a:p>
            <a:pPr algn="ctr"/>
            <a:r>
              <a:rPr lang="en-US" sz="1200" dirty="0">
                <a:latin typeface="+mn-lt"/>
                <a:hlinkClick r:id="rId4" action="ppaction://hlinksldjump"/>
              </a:rPr>
              <a:t>Access the text alternative for slide images.</a:t>
            </a:r>
            <a:endParaRPr lang="en-US" sz="1200" dirty="0">
              <a:latin typeface="+mn-lt"/>
            </a:endParaRPr>
          </a:p>
        </p:txBody>
      </p:sp>
      <p:sp>
        <p:nvSpPr>
          <p:cNvPr id="5" name="Slide Number Placeholder 5">
            <a:extLst>
              <a:ext uri="{FF2B5EF4-FFF2-40B4-BE49-F238E27FC236}">
                <a16:creationId xmlns:a16="http://schemas.microsoft.com/office/drawing/2014/main" id="{D1B92705-FA0A-4067-8AEA-B3AA83EBD5B3}"/>
              </a:ext>
            </a:extLst>
          </p:cNvPr>
          <p:cNvSpPr>
            <a:spLocks noGrp="1"/>
          </p:cNvSpPr>
          <p:nvPr>
            <p:ph type="sldNum" sz="quarter" idx="4"/>
          </p:nvPr>
        </p:nvSpPr>
        <p:spPr/>
        <p:txBody>
          <a:bodyPr/>
          <a:lstStyle/>
          <a:p>
            <a:fld id="{08F9AD23-695F-4808-8E99-6281554D0F77}" type="slidenum">
              <a:rPr lang="en-IN" smtClean="0"/>
              <a:t>68</a:t>
            </a:fld>
            <a:endParaRPr lang="en-IN"/>
          </a:p>
        </p:txBody>
      </p:sp>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itle 1"/>
          <p:cNvSpPr>
            <a:spLocks noGrp="1" noChangeArrowheads="1"/>
          </p:cNvSpPr>
          <p:nvPr>
            <p:ph type="title"/>
          </p:nvPr>
        </p:nvSpPr>
        <p:spPr>
          <a:xfrm>
            <a:off x="1716258" y="227447"/>
            <a:ext cx="6203853" cy="688107"/>
          </a:xfrm>
        </p:spPr>
        <p:txBody>
          <a:bodyPr/>
          <a:lstStyle/>
          <a:p>
            <a:r>
              <a:rPr lang="en-US" altLang="en-US" dirty="0"/>
              <a:t>Uses of Conifers</a:t>
            </a:r>
          </a:p>
        </p:txBody>
      </p:sp>
      <p:sp>
        <p:nvSpPr>
          <p:cNvPr id="3" name="Content Placeholder 2">
            <a:extLst>
              <a:ext uri="{FF2B5EF4-FFF2-40B4-BE49-F238E27FC236}">
                <a16:creationId xmlns:a16="http://schemas.microsoft.com/office/drawing/2014/main" id="{9D4662D5-A67D-4B78-A385-51873294BB9C}"/>
              </a:ext>
            </a:extLst>
          </p:cNvPr>
          <p:cNvSpPr>
            <a:spLocks noGrp="1"/>
          </p:cNvSpPr>
          <p:nvPr>
            <p:ph sz="quarter" idx="10"/>
          </p:nvPr>
        </p:nvSpPr>
        <p:spPr>
          <a:xfrm>
            <a:off x="457200" y="1188150"/>
            <a:ext cx="7772400" cy="4963569"/>
          </a:xfrm>
        </p:spPr>
        <p:txBody>
          <a:bodyPr/>
          <a:lstStyle/>
          <a:p>
            <a:r>
              <a:rPr lang="en-US" sz="2400" b="0" i="0" u="none" strike="noStrike" baseline="0" dirty="0"/>
              <a:t>Pines are known for their beauty and pleasant smell</a:t>
            </a:r>
          </a:p>
          <a:p>
            <a:pPr lvl="1">
              <a:buFont typeface="Arial" panose="020B0604020202020204" pitchFamily="34" charset="0"/>
              <a:buChar char="•"/>
            </a:pPr>
            <a:r>
              <a:rPr lang="en-US" sz="2200" dirty="0"/>
              <a:t>M</a:t>
            </a:r>
            <a:r>
              <a:rPr lang="en-US" sz="2200" b="0" i="0" u="none" strike="noStrike" baseline="0" dirty="0"/>
              <a:t>ake attractive additions to parks and gardens</a:t>
            </a:r>
          </a:p>
          <a:p>
            <a:pPr lvl="1">
              <a:buFont typeface="Arial" panose="020B0604020202020204" pitchFamily="34" charset="0"/>
              <a:buChar char="•"/>
            </a:pPr>
            <a:r>
              <a:rPr lang="en-US" sz="2200" dirty="0"/>
              <a:t>H</a:t>
            </a:r>
            <a:r>
              <a:rPr lang="en-US" sz="2200" b="0" i="0" u="none" strike="noStrike" baseline="0" dirty="0"/>
              <a:t>ave medicinal value</a:t>
            </a:r>
          </a:p>
          <a:p>
            <a:pPr marL="625475" lvl="2" indent="-266700">
              <a:buFont typeface="Arial" panose="020B0604020202020204" pitchFamily="34" charset="0"/>
              <a:buChar char="•"/>
            </a:pPr>
            <a:r>
              <a:rPr lang="en-US" sz="2000" b="0" i="0" u="none" strike="noStrike" baseline="0" dirty="0"/>
              <a:t>Needles and bark are rich in vitamins A and C</a:t>
            </a:r>
          </a:p>
          <a:p>
            <a:pPr marL="890588" lvl="3" indent="-265113">
              <a:buFont typeface="Arial" panose="020B0604020202020204" pitchFamily="34" charset="0"/>
              <a:buChar char="•"/>
            </a:pPr>
            <a:r>
              <a:rPr lang="en-US" sz="2000" dirty="0"/>
              <a:t>C</a:t>
            </a:r>
            <a:r>
              <a:rPr lang="en-US" sz="2000" b="0" i="0" u="none" strike="noStrike" baseline="0" dirty="0"/>
              <a:t>an be used to create teas that ease symptoms of a cold or cough</a:t>
            </a:r>
          </a:p>
          <a:p>
            <a:pPr lvl="1">
              <a:buFont typeface="Arial" panose="020B0604020202020204" pitchFamily="34" charset="0"/>
              <a:buChar char="•"/>
            </a:pPr>
            <a:r>
              <a:rPr lang="en-US" sz="2200" b="0" i="0" u="none" strike="noStrike" baseline="0" dirty="0"/>
              <a:t>Large pine seeds, called pine nuts, are sometimes harvested for use in cooking</a:t>
            </a:r>
          </a:p>
          <a:p>
            <a:pPr lvl="1">
              <a:buFont typeface="Arial" panose="020B0604020202020204" pitchFamily="34" charset="0"/>
              <a:buChar char="•"/>
            </a:pPr>
            <a:r>
              <a:rPr lang="en-US" sz="2200" b="0" i="0" u="none" strike="noStrike" baseline="0" dirty="0"/>
              <a:t>Pine oil is used to scent a number of household and personal care products, such as room sprays and deodorant</a:t>
            </a:r>
            <a:endParaRPr lang="en-US" sz="2200" dirty="0"/>
          </a:p>
        </p:txBody>
      </p:sp>
      <p:sp>
        <p:nvSpPr>
          <p:cNvPr id="4" name="Slide Number Placeholder 3">
            <a:extLst>
              <a:ext uri="{FF2B5EF4-FFF2-40B4-BE49-F238E27FC236}">
                <a16:creationId xmlns:a16="http://schemas.microsoft.com/office/drawing/2014/main" id="{C00C323C-C2CD-4DD5-856E-DBE0FE37220F}"/>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69</a:t>
            </a:fld>
            <a:endParaRPr lang="en-IN"/>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Title 1"/>
          <p:cNvSpPr>
            <a:spLocks noGrp="1" noChangeArrowheads="1"/>
          </p:cNvSpPr>
          <p:nvPr>
            <p:ph type="title"/>
          </p:nvPr>
        </p:nvSpPr>
        <p:spPr>
          <a:xfrm>
            <a:off x="369277" y="12030"/>
            <a:ext cx="8229600" cy="917023"/>
          </a:xfrm>
        </p:spPr>
        <p:txBody>
          <a:bodyPr/>
          <a:lstStyle/>
          <a:p>
            <a:r>
              <a:rPr lang="en-US" altLang="en-US" sz="3800" dirty="0"/>
              <a:t>Cycads</a:t>
            </a:r>
          </a:p>
        </p:txBody>
      </p:sp>
      <p:sp>
        <p:nvSpPr>
          <p:cNvPr id="43011" name="Content Placeholder 2"/>
          <p:cNvSpPr>
            <a:spLocks noGrp="1" noChangeArrowheads="1"/>
          </p:cNvSpPr>
          <p:nvPr>
            <p:ph idx="1"/>
          </p:nvPr>
        </p:nvSpPr>
        <p:spPr>
          <a:xfrm>
            <a:off x="172122" y="839231"/>
            <a:ext cx="8602601" cy="5714414"/>
          </a:xfrm>
        </p:spPr>
        <p:txBody>
          <a:bodyPr>
            <a:noAutofit/>
          </a:bodyPr>
          <a:lstStyle/>
          <a:p>
            <a:pPr marL="338328" lvl="2" indent="0">
              <a:spcBef>
                <a:spcPts val="0"/>
              </a:spcBef>
              <a:spcAft>
                <a:spcPts val="0"/>
              </a:spcAft>
              <a:buNone/>
            </a:pPr>
            <a:r>
              <a:rPr lang="en-US" sz="2400" dirty="0"/>
              <a:t>Include 10 genera and 300 species of distinctive gymnosperms</a:t>
            </a:r>
          </a:p>
          <a:p>
            <a:pPr marL="338328" lvl="2" indent="0">
              <a:spcBef>
                <a:spcPts val="1200"/>
              </a:spcBef>
              <a:spcAft>
                <a:spcPts val="0"/>
              </a:spcAft>
              <a:buNone/>
            </a:pPr>
            <a:r>
              <a:rPr lang="en-US" sz="2400" dirty="0"/>
              <a:t>Large, finely divided leaves that grow in clusters at the top of the stem</a:t>
            </a:r>
          </a:p>
          <a:p>
            <a:pPr marL="338328" lvl="2" indent="0">
              <a:spcBef>
                <a:spcPts val="1200"/>
              </a:spcBef>
              <a:spcAft>
                <a:spcPts val="0"/>
              </a:spcAft>
              <a:buNone/>
            </a:pPr>
            <a:r>
              <a:rPr lang="en-US" sz="2400" dirty="0"/>
              <a:t>Cones can be more than 1 m long</a:t>
            </a:r>
          </a:p>
          <a:p>
            <a:pPr marL="338328" lvl="2" indent="0">
              <a:spcBef>
                <a:spcPts val="1200"/>
              </a:spcBef>
              <a:spcAft>
                <a:spcPts val="0"/>
              </a:spcAft>
              <a:buNone/>
            </a:pPr>
            <a:r>
              <a:rPr lang="en-US" sz="2400" dirty="0"/>
              <a:t>Pollen and seed cones are on separate plants</a:t>
            </a:r>
          </a:p>
          <a:p>
            <a:pPr marL="338328" lvl="2" indent="0">
              <a:spcBef>
                <a:spcPts val="1200"/>
              </a:spcBef>
              <a:spcAft>
                <a:spcPts val="0"/>
              </a:spcAft>
              <a:buNone/>
            </a:pPr>
            <a:r>
              <a:rPr lang="en-US" sz="2400" dirty="0"/>
              <a:t>Pollinated by insects rather than wind</a:t>
            </a:r>
          </a:p>
          <a:p>
            <a:pPr marL="717550" lvl="3" indent="-358775">
              <a:spcBef>
                <a:spcPts val="1200"/>
              </a:spcBef>
              <a:buFont typeface="Arial" panose="020B0604020202020204" pitchFamily="34" charset="0"/>
              <a:buChar char="•"/>
              <a:tabLst>
                <a:tab pos="717550" algn="l"/>
              </a:tabLst>
            </a:pPr>
            <a:r>
              <a:rPr lang="en-US" sz="2200" dirty="0"/>
              <a:t>Pollen tube bursts near egg and </a:t>
            </a:r>
            <a:r>
              <a:rPr lang="en-US" sz="2200" dirty="0" err="1"/>
              <a:t>multiflagellated</a:t>
            </a:r>
            <a:r>
              <a:rPr lang="en-US" sz="2200" dirty="0"/>
              <a:t> sperm swim to reach an egg</a:t>
            </a:r>
          </a:p>
          <a:p>
            <a:pPr marL="338328" lvl="2" indent="0">
              <a:spcBef>
                <a:spcPts val="1200"/>
              </a:spcBef>
              <a:buNone/>
            </a:pPr>
            <a:r>
              <a:rPr lang="en-US" sz="2400" dirty="0"/>
              <a:t>Plentiful in Mesozoic era at the time of the dinosaurs</a:t>
            </a:r>
          </a:p>
          <a:p>
            <a:pPr marL="717550" lvl="3" indent="-358775">
              <a:spcBef>
                <a:spcPts val="1200"/>
              </a:spcBef>
              <a:buFont typeface="Arial" panose="020B0604020202020204" pitchFamily="34" charset="0"/>
              <a:buChar char="•"/>
              <a:tabLst>
                <a:tab pos="717550" algn="l"/>
              </a:tabLst>
            </a:pPr>
            <a:r>
              <a:rPr lang="en-US" sz="2200" dirty="0"/>
              <a:t>Dinosaurs fed on cycad seeds</a:t>
            </a:r>
          </a:p>
        </p:txBody>
      </p:sp>
      <p:sp>
        <p:nvSpPr>
          <p:cNvPr id="4" name="Slide Number Placeholder 3">
            <a:extLst>
              <a:ext uri="{FF2B5EF4-FFF2-40B4-BE49-F238E27FC236}">
                <a16:creationId xmlns:a16="http://schemas.microsoft.com/office/drawing/2014/main" id="{A13BF0D9-102C-4F87-94DA-E88D1C2D5E5D}"/>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70</a:t>
            </a:fld>
            <a:endParaRPr lang="en-IN"/>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altLang="en-US" dirty="0"/>
              <a:t>African Cycad</a:t>
            </a:r>
          </a:p>
        </p:txBody>
      </p:sp>
      <p:pic>
        <p:nvPicPr>
          <p:cNvPr id="5" name="Picture 2" descr="A cycad exhibits trunk, leaves, with an inset on top-right depicting presence of cones on separate plants. "/>
          <p:cNvPicPr>
            <a:picLocks noChangeAspect="1" noChangeArrowheads="1"/>
          </p:cNvPicPr>
          <p:nvPr/>
        </p:nvPicPr>
        <p:blipFill rotWithShape="1">
          <a:blip r:embed="rId3">
            <a:extLst>
              <a:ext uri="{28A0092B-C50C-407E-A947-70E740481C1C}">
                <a14:useLocalDpi xmlns:a14="http://schemas.microsoft.com/office/drawing/2010/main" val="0"/>
              </a:ext>
            </a:extLst>
          </a:blip>
          <a:srcRect t="2443" b="8310"/>
          <a:stretch/>
        </p:blipFill>
        <p:spPr bwMode="auto">
          <a:xfrm>
            <a:off x="2182553" y="701717"/>
            <a:ext cx="4777772" cy="5024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Content Placeholder 3">
            <a:extLst>
              <a:ext uri="{FF2B5EF4-FFF2-40B4-BE49-F238E27FC236}">
                <a16:creationId xmlns:a16="http://schemas.microsoft.com/office/drawing/2014/main" id="{305AAE9A-C476-4140-A51D-ADDE7A2519C3}"/>
              </a:ext>
            </a:extLst>
          </p:cNvPr>
          <p:cNvSpPr>
            <a:spLocks noGrp="1"/>
          </p:cNvSpPr>
          <p:nvPr>
            <p:ph type="body" sz="quarter" idx="19"/>
          </p:nvPr>
        </p:nvSpPr>
        <p:spPr>
          <a:xfrm>
            <a:off x="2381206" y="5739646"/>
            <a:ext cx="1267848" cy="246075"/>
          </a:xfrm>
        </p:spPr>
        <p:txBody>
          <a:bodyPr/>
          <a:lstStyle/>
          <a:p>
            <a:pPr marL="179388" indent="-179388">
              <a:buFont typeface="+mj-lt"/>
              <a:buAutoNum type="alphaLcPeriod"/>
            </a:pPr>
            <a:r>
              <a:rPr lang="en-US" sz="800" dirty="0"/>
              <a:t>An African cycad</a:t>
            </a:r>
          </a:p>
        </p:txBody>
      </p:sp>
      <p:sp>
        <p:nvSpPr>
          <p:cNvPr id="17" name="Content Placeholder 4">
            <a:extLst>
              <a:ext uri="{FF2B5EF4-FFF2-40B4-BE49-F238E27FC236}">
                <a16:creationId xmlns:a16="http://schemas.microsoft.com/office/drawing/2014/main" id="{764B57F0-68FC-4DA0-9EE9-F56428425BA7}"/>
              </a:ext>
            </a:extLst>
          </p:cNvPr>
          <p:cNvSpPr>
            <a:spLocks noGrp="1"/>
          </p:cNvSpPr>
          <p:nvPr>
            <p:ph type="body" sz="quarter" idx="18"/>
          </p:nvPr>
        </p:nvSpPr>
        <p:spPr>
          <a:xfrm>
            <a:off x="520699" y="6018331"/>
            <a:ext cx="8101481" cy="314325"/>
          </a:xfrm>
        </p:spPr>
        <p:txBody>
          <a:bodyPr>
            <a:noAutofit/>
          </a:bodyPr>
          <a:lstStyle/>
          <a:p>
            <a:r>
              <a:rPr lang="en-US" sz="1200" dirty="0"/>
              <a:t>Figure 23.19</a:t>
            </a:r>
          </a:p>
        </p:txBody>
      </p:sp>
      <p:sp>
        <p:nvSpPr>
          <p:cNvPr id="3" name="Text Placeholder 5">
            <a:extLst>
              <a:ext uri="{FF2B5EF4-FFF2-40B4-BE49-F238E27FC236}">
                <a16:creationId xmlns:a16="http://schemas.microsoft.com/office/drawing/2014/main" id="{44E949D6-366B-40E2-9553-4D3B593BE6DE}"/>
              </a:ext>
            </a:extLst>
          </p:cNvPr>
          <p:cNvSpPr>
            <a:spLocks noGrp="1"/>
          </p:cNvSpPr>
          <p:nvPr>
            <p:ph type="body" sz="quarter" idx="21"/>
          </p:nvPr>
        </p:nvSpPr>
        <p:spPr/>
        <p:txBody>
          <a:bodyPr/>
          <a:lstStyle/>
          <a:p>
            <a:r>
              <a:rPr lang="en-US" sz="800" dirty="0"/>
              <a:t>(a): (cycad): Hoberman Collection/</a:t>
            </a:r>
            <a:r>
              <a:rPr lang="en-US" sz="800" dirty="0" err="1"/>
              <a:t>Alamy</a:t>
            </a:r>
            <a:r>
              <a:rPr lang="en-US" sz="800" dirty="0"/>
              <a:t> Stock Photo; (cycad cone): </a:t>
            </a:r>
            <a:r>
              <a:rPr lang="en-US" sz="800" dirty="0" err="1"/>
              <a:t>PlazaCameraman</a:t>
            </a:r>
            <a:r>
              <a:rPr lang="en-US" sz="800" dirty="0"/>
              <a:t>/Getty Images</a:t>
            </a:r>
          </a:p>
        </p:txBody>
      </p:sp>
      <p:sp>
        <p:nvSpPr>
          <p:cNvPr id="7" name="Slide Number Placeholder 6">
            <a:extLst>
              <a:ext uri="{FF2B5EF4-FFF2-40B4-BE49-F238E27FC236}">
                <a16:creationId xmlns:a16="http://schemas.microsoft.com/office/drawing/2014/main" id="{CA3CF4F9-2C58-4F5F-8EDB-73BEA1F17040}"/>
              </a:ext>
            </a:extLst>
          </p:cNvPr>
          <p:cNvSpPr>
            <a:spLocks noGrp="1"/>
          </p:cNvSpPr>
          <p:nvPr>
            <p:ph type="sldNum" sz="quarter" idx="4"/>
          </p:nvPr>
        </p:nvSpPr>
        <p:spPr/>
        <p:txBody>
          <a:bodyPr/>
          <a:lstStyle/>
          <a:p>
            <a:fld id="{08F9AD23-695F-4808-8E99-6281554D0F77}" type="slidenum">
              <a:rPr lang="en-IN" smtClean="0"/>
              <a:t>71</a:t>
            </a:fld>
            <a:endParaRPr lang="en-IN"/>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itle 1"/>
          <p:cNvSpPr>
            <a:spLocks noGrp="1" noChangeArrowheads="1"/>
          </p:cNvSpPr>
          <p:nvPr>
            <p:ph type="title"/>
          </p:nvPr>
        </p:nvSpPr>
        <p:spPr>
          <a:xfrm>
            <a:off x="457200" y="-1"/>
            <a:ext cx="8229600" cy="997327"/>
          </a:xfrm>
        </p:spPr>
        <p:txBody>
          <a:bodyPr/>
          <a:lstStyle/>
          <a:p>
            <a:r>
              <a:rPr lang="en-US" altLang="en-US" sz="3600" dirty="0"/>
              <a:t>Ginkgoes</a:t>
            </a:r>
          </a:p>
        </p:txBody>
      </p:sp>
      <p:sp>
        <p:nvSpPr>
          <p:cNvPr id="45059" name="Content Placeholder 2"/>
          <p:cNvSpPr>
            <a:spLocks noGrp="1" noChangeArrowheads="1"/>
          </p:cNvSpPr>
          <p:nvPr>
            <p:ph idx="1"/>
          </p:nvPr>
        </p:nvSpPr>
        <p:spPr>
          <a:xfrm>
            <a:off x="377190" y="997327"/>
            <a:ext cx="8229600" cy="4980704"/>
          </a:xfrm>
        </p:spPr>
        <p:txBody>
          <a:bodyPr/>
          <a:lstStyle/>
          <a:p>
            <a:pPr>
              <a:spcBef>
                <a:spcPts val="1200"/>
              </a:spcBef>
              <a:spcAft>
                <a:spcPts val="0"/>
              </a:spcAft>
            </a:pPr>
            <a:r>
              <a:rPr lang="en-US" sz="2400" dirty="0"/>
              <a:t>One surviving species is</a:t>
            </a:r>
            <a:r>
              <a:rPr lang="en-US" sz="2400" i="1" dirty="0"/>
              <a:t> Gingko biloba</a:t>
            </a:r>
            <a:endParaRPr lang="en-US" sz="2400" dirty="0"/>
          </a:p>
          <a:p>
            <a:pPr lvl="1">
              <a:spcBef>
                <a:spcPts val="1200"/>
              </a:spcBef>
              <a:spcAft>
                <a:spcPts val="0"/>
              </a:spcAft>
              <a:buFont typeface="Arial" panose="020B0604020202020204" pitchFamily="34" charset="0"/>
              <a:buChar char="•"/>
            </a:pPr>
            <a:r>
              <a:rPr lang="en-US" sz="2200" b="1" dirty="0">
                <a:solidFill>
                  <a:srgbClr val="D90000"/>
                </a:solidFill>
              </a:rPr>
              <a:t>Dioecious</a:t>
            </a:r>
          </a:p>
          <a:p>
            <a:pPr marL="628650" lvl="2" indent="-274638">
              <a:spcBef>
                <a:spcPts val="1200"/>
              </a:spcBef>
              <a:spcAft>
                <a:spcPts val="0"/>
              </a:spcAft>
              <a:buFont typeface="Arial" panose="020B0604020202020204" pitchFamily="34" charset="0"/>
              <a:buChar char="•"/>
            </a:pPr>
            <a:r>
              <a:rPr lang="en-US" sz="2000" dirty="0"/>
              <a:t>Some trees produce seeds</a:t>
            </a:r>
          </a:p>
          <a:p>
            <a:pPr marL="628650" lvl="2" indent="-274638">
              <a:spcBef>
                <a:spcPts val="1200"/>
              </a:spcBef>
              <a:spcAft>
                <a:spcPts val="0"/>
              </a:spcAft>
              <a:buFont typeface="Arial" panose="020B0604020202020204" pitchFamily="34" charset="0"/>
              <a:buChar char="•"/>
            </a:pPr>
            <a:r>
              <a:rPr lang="en-US" sz="2000" dirty="0"/>
              <a:t>Other trees produce pollen</a:t>
            </a:r>
          </a:p>
          <a:p>
            <a:pPr lvl="1">
              <a:spcBef>
                <a:spcPts val="1200"/>
              </a:spcBef>
              <a:spcAft>
                <a:spcPts val="0"/>
              </a:spcAft>
              <a:buFont typeface="Arial" panose="020B0604020202020204" pitchFamily="34" charset="0"/>
              <a:buChar char="•"/>
            </a:pPr>
            <a:r>
              <a:rPr lang="en-US" sz="2200" dirty="0"/>
              <a:t>Trees </a:t>
            </a:r>
            <a:r>
              <a:rPr lang="en-US" sz="2200" b="0" i="0" u="none" strike="noStrike" baseline="0" dirty="0"/>
              <a:t>are resistant to pollution and do well along city streets and in city parks</a:t>
            </a:r>
          </a:p>
          <a:p>
            <a:pPr lvl="1">
              <a:spcBef>
                <a:spcPts val="1200"/>
              </a:spcBef>
              <a:spcAft>
                <a:spcPts val="0"/>
              </a:spcAft>
              <a:buFont typeface="Arial" panose="020B0604020202020204" pitchFamily="34" charset="0"/>
              <a:buChar char="•"/>
            </a:pPr>
            <a:r>
              <a:rPr lang="en-US" sz="2200" dirty="0"/>
              <a:t>N</a:t>
            </a:r>
            <a:r>
              <a:rPr lang="en-US" sz="2200" b="0" i="0" u="none" strike="noStrike" baseline="0" dirty="0"/>
              <a:t>ative to China, and in Asia, ginkgo seeds are considered a delicacy</a:t>
            </a:r>
          </a:p>
          <a:p>
            <a:pPr lvl="1">
              <a:spcBef>
                <a:spcPts val="1200"/>
              </a:spcBef>
              <a:spcAft>
                <a:spcPts val="0"/>
              </a:spcAft>
              <a:buFont typeface="Arial" panose="020B0604020202020204" pitchFamily="34" charset="0"/>
              <a:buChar char="•"/>
            </a:pPr>
            <a:r>
              <a:rPr lang="en-US" sz="2200" b="0" i="0" u="none" strike="noStrike" baseline="0" dirty="0"/>
              <a:t>Extracts have been used to improve blood circulation</a:t>
            </a:r>
          </a:p>
          <a:p>
            <a:pPr lvl="1">
              <a:spcBef>
                <a:spcPts val="1200"/>
              </a:spcBef>
              <a:spcAft>
                <a:spcPts val="0"/>
              </a:spcAft>
              <a:buFont typeface="Arial" panose="020B0604020202020204" pitchFamily="34" charset="0"/>
              <a:buChar char="•"/>
            </a:pPr>
            <a:r>
              <a:rPr lang="en-US" sz="2200" b="0" i="0" u="none" strike="noStrike" baseline="0" dirty="0"/>
              <a:t>Like cycads, the pollen tube of ginkgo bursts to release </a:t>
            </a:r>
            <a:r>
              <a:rPr lang="en-US" sz="2200" b="0" i="0" u="none" strike="noStrike" baseline="0" dirty="0" err="1"/>
              <a:t>multiflagellated</a:t>
            </a:r>
            <a:r>
              <a:rPr lang="en-US" sz="2200" b="0" i="0" u="none" strike="noStrike" baseline="0" dirty="0"/>
              <a:t> sperm that swim to the egg</a:t>
            </a:r>
            <a:endParaRPr lang="en-US" sz="2200" dirty="0"/>
          </a:p>
        </p:txBody>
      </p:sp>
      <p:sp>
        <p:nvSpPr>
          <p:cNvPr id="4" name="Slide Number Placeholder 3">
            <a:extLst>
              <a:ext uri="{FF2B5EF4-FFF2-40B4-BE49-F238E27FC236}">
                <a16:creationId xmlns:a16="http://schemas.microsoft.com/office/drawing/2014/main" id="{F68A0FD4-77F6-4808-8E96-881E4599EC10}"/>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72</a:t>
            </a:fld>
            <a:endParaRPr lang="en-IN"/>
          </a:p>
        </p:txBody>
      </p:sp>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itle 1"/>
          <p:cNvSpPr>
            <a:spLocks noGrp="1" noChangeArrowheads="1"/>
          </p:cNvSpPr>
          <p:nvPr>
            <p:ph type="title"/>
          </p:nvPr>
        </p:nvSpPr>
        <p:spPr>
          <a:xfrm>
            <a:off x="457200" y="272187"/>
            <a:ext cx="8229600" cy="598627"/>
          </a:xfrm>
        </p:spPr>
        <p:txBody>
          <a:bodyPr>
            <a:normAutofit fontScale="90000"/>
          </a:bodyPr>
          <a:lstStyle/>
          <a:p>
            <a:r>
              <a:rPr lang="en-US" altLang="en-US" i="1" dirty="0"/>
              <a:t>Ginkgo biloba</a:t>
            </a:r>
            <a:r>
              <a:rPr lang="en-US" altLang="en-US" dirty="0"/>
              <a:t>, a Native of China</a:t>
            </a:r>
          </a:p>
        </p:txBody>
      </p:sp>
      <p:pic>
        <p:nvPicPr>
          <p:cNvPr id="5" name="Picture 2" descr="A ginkgo tree has broad leaves and fleshy seeds borne at the end of stalk like megasporophylls."/>
          <p:cNvPicPr>
            <a:picLocks noChangeAspect="1" noChangeArrowheads="1"/>
          </p:cNvPicPr>
          <p:nvPr/>
        </p:nvPicPr>
        <p:blipFill rotWithShape="1">
          <a:blip r:embed="rId3">
            <a:extLst>
              <a:ext uri="{28A0092B-C50C-407E-A947-70E740481C1C}">
                <a14:useLocalDpi xmlns:a14="http://schemas.microsoft.com/office/drawing/2010/main" val="0"/>
              </a:ext>
            </a:extLst>
          </a:blip>
          <a:srcRect t="3387" b="11371"/>
          <a:stretch/>
        </p:blipFill>
        <p:spPr bwMode="auto">
          <a:xfrm>
            <a:off x="855661" y="870814"/>
            <a:ext cx="7432675" cy="42856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Content Placeholder 3">
            <a:extLst>
              <a:ext uri="{FF2B5EF4-FFF2-40B4-BE49-F238E27FC236}">
                <a16:creationId xmlns:a16="http://schemas.microsoft.com/office/drawing/2014/main" id="{78835E7A-4B37-46B5-9508-C8B5912A41FA}"/>
              </a:ext>
            </a:extLst>
          </p:cNvPr>
          <p:cNvSpPr>
            <a:spLocks noGrp="1"/>
          </p:cNvSpPr>
          <p:nvPr>
            <p:ph sz="quarter" idx="19"/>
          </p:nvPr>
        </p:nvSpPr>
        <p:spPr>
          <a:xfrm>
            <a:off x="1033402" y="5133557"/>
            <a:ext cx="2569194" cy="346529"/>
          </a:xfrm>
        </p:spPr>
        <p:txBody>
          <a:bodyPr>
            <a:normAutofit/>
          </a:bodyPr>
          <a:lstStyle/>
          <a:p>
            <a:pPr marL="168275" indent="-168275">
              <a:buFont typeface="+mj-lt"/>
              <a:buAutoNum type="alphaLcPeriod" startAt="2"/>
            </a:pPr>
            <a:r>
              <a:rPr lang="en-US" sz="1200" dirty="0"/>
              <a:t> </a:t>
            </a:r>
            <a:r>
              <a:rPr lang="en-US" sz="1200" i="1" dirty="0"/>
              <a:t>Ginkgo biloba</a:t>
            </a:r>
            <a:r>
              <a:rPr lang="en-US" sz="1200" dirty="0"/>
              <a:t>, a native of China</a:t>
            </a:r>
          </a:p>
        </p:txBody>
      </p:sp>
      <p:sp>
        <p:nvSpPr>
          <p:cNvPr id="7" name="TextBox 4">
            <a:extLst>
              <a:ext uri="{FF2B5EF4-FFF2-40B4-BE49-F238E27FC236}">
                <a16:creationId xmlns:a16="http://schemas.microsoft.com/office/drawing/2014/main" id="{64398028-0C09-4584-A535-EAE0D4942945}"/>
              </a:ext>
            </a:extLst>
          </p:cNvPr>
          <p:cNvSpPr txBox="1"/>
          <p:nvPr/>
        </p:nvSpPr>
        <p:spPr>
          <a:xfrm>
            <a:off x="3843863" y="5616555"/>
            <a:ext cx="1456267" cy="276999"/>
          </a:xfrm>
          <a:prstGeom prst="rect">
            <a:avLst/>
          </a:prstGeom>
          <a:noFill/>
        </p:spPr>
        <p:txBody>
          <a:bodyPr wrap="square" rtlCol="0">
            <a:spAutoFit/>
          </a:bodyPr>
          <a:lstStyle/>
          <a:p>
            <a:pPr algn="ctr"/>
            <a:r>
              <a:rPr lang="en-US" sz="1200" dirty="0"/>
              <a:t>Figure 23.19</a:t>
            </a:r>
          </a:p>
        </p:txBody>
      </p:sp>
      <p:sp>
        <p:nvSpPr>
          <p:cNvPr id="15" name="Content Placeholder 5">
            <a:extLst>
              <a:ext uri="{FF2B5EF4-FFF2-40B4-BE49-F238E27FC236}">
                <a16:creationId xmlns:a16="http://schemas.microsoft.com/office/drawing/2014/main" id="{B6CCC63F-BB6D-41CA-A5D8-20B6194C5888}"/>
              </a:ext>
            </a:extLst>
          </p:cNvPr>
          <p:cNvSpPr>
            <a:spLocks noGrp="1"/>
          </p:cNvSpPr>
          <p:nvPr>
            <p:ph sz="quarter" idx="4294967295"/>
          </p:nvPr>
        </p:nvSpPr>
        <p:spPr>
          <a:xfrm>
            <a:off x="3425494" y="6536195"/>
            <a:ext cx="5054087" cy="257774"/>
          </a:xfrm>
        </p:spPr>
        <p:txBody>
          <a:bodyPr/>
          <a:lstStyle/>
          <a:p>
            <a:pPr marL="0" indent="0" algn="ctr">
              <a:buNone/>
            </a:pPr>
            <a:r>
              <a:rPr lang="en-US" sz="800" dirty="0"/>
              <a:t>(b): (</a:t>
            </a:r>
            <a:r>
              <a:rPr lang="en-US" sz="800" i="1" dirty="0"/>
              <a:t>Gingko</a:t>
            </a:r>
            <a:r>
              <a:rPr lang="en-US" sz="800" dirty="0"/>
              <a:t> leaves): </a:t>
            </a:r>
            <a:r>
              <a:rPr lang="en-US" sz="800" dirty="0" err="1"/>
              <a:t>blickwinkel</a:t>
            </a:r>
            <a:r>
              <a:rPr lang="en-US" sz="800" dirty="0"/>
              <a:t>/Koenig/</a:t>
            </a:r>
            <a:r>
              <a:rPr lang="en-US" sz="800" dirty="0" err="1"/>
              <a:t>Alamy</a:t>
            </a:r>
            <a:r>
              <a:rPr lang="en-US" sz="800" dirty="0"/>
              <a:t> Stock Photo, (ovule): Ken Robertson, University of Illinois/INHS</a:t>
            </a:r>
          </a:p>
        </p:txBody>
      </p:sp>
      <p:sp>
        <p:nvSpPr>
          <p:cNvPr id="8" name="Slide Number Placeholder 6">
            <a:extLst>
              <a:ext uri="{FF2B5EF4-FFF2-40B4-BE49-F238E27FC236}">
                <a16:creationId xmlns:a16="http://schemas.microsoft.com/office/drawing/2014/main" id="{F0EF2836-BD45-4DF7-944F-C12E16BA215C}"/>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73</a:t>
            </a:fld>
            <a:endParaRPr lang="en-IN"/>
          </a:p>
        </p:txBody>
      </p:sp>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itle 1"/>
          <p:cNvSpPr>
            <a:spLocks noGrp="1" noChangeArrowheads="1"/>
          </p:cNvSpPr>
          <p:nvPr>
            <p:ph type="title"/>
          </p:nvPr>
        </p:nvSpPr>
        <p:spPr>
          <a:xfrm>
            <a:off x="407967" y="-1"/>
            <a:ext cx="8229600" cy="1070903"/>
          </a:xfrm>
        </p:spPr>
        <p:txBody>
          <a:bodyPr/>
          <a:lstStyle/>
          <a:p>
            <a:r>
              <a:rPr lang="en-US" altLang="en-US" sz="3600" dirty="0" err="1"/>
              <a:t>Gnetophytes</a:t>
            </a:r>
            <a:endParaRPr lang="en-US" altLang="en-US" sz="3600" dirty="0"/>
          </a:p>
        </p:txBody>
      </p:sp>
      <p:sp>
        <p:nvSpPr>
          <p:cNvPr id="45059" name="Content Placeholder 2"/>
          <p:cNvSpPr>
            <a:spLocks noGrp="1" noChangeArrowheads="1"/>
          </p:cNvSpPr>
          <p:nvPr>
            <p:ph idx="1"/>
          </p:nvPr>
        </p:nvSpPr>
        <p:spPr>
          <a:xfrm>
            <a:off x="650631" y="1070903"/>
            <a:ext cx="7842738" cy="4804117"/>
          </a:xfrm>
        </p:spPr>
        <p:txBody>
          <a:bodyPr>
            <a:normAutofit/>
          </a:bodyPr>
          <a:lstStyle/>
          <a:p>
            <a:pPr marL="0" lvl="1" indent="0">
              <a:spcBef>
                <a:spcPts val="1200"/>
              </a:spcBef>
              <a:spcAft>
                <a:spcPts val="0"/>
              </a:spcAft>
              <a:buNone/>
            </a:pPr>
            <a:r>
              <a:rPr lang="en-US" sz="2400" dirty="0"/>
              <a:t>Three living genera with 65 diverse species</a:t>
            </a:r>
          </a:p>
          <a:p>
            <a:pPr marL="0" lvl="1" indent="0">
              <a:spcBef>
                <a:spcPts val="1200"/>
              </a:spcBef>
              <a:spcAft>
                <a:spcPts val="0"/>
              </a:spcAft>
              <a:buNone/>
            </a:pPr>
            <a:r>
              <a:rPr lang="en-US" sz="2400" dirty="0"/>
              <a:t>They have similarly structured xylem</a:t>
            </a:r>
          </a:p>
          <a:p>
            <a:pPr marL="0" lvl="1" indent="0">
              <a:spcBef>
                <a:spcPts val="1200"/>
              </a:spcBef>
              <a:spcAft>
                <a:spcPts val="0"/>
              </a:spcAft>
              <a:buNone/>
            </a:pPr>
            <a:r>
              <a:rPr lang="en-US" sz="2400" dirty="0"/>
              <a:t>None have archegonia</a:t>
            </a:r>
          </a:p>
          <a:p>
            <a:pPr marL="0" lvl="1" indent="0">
              <a:spcBef>
                <a:spcPts val="1200"/>
              </a:spcBef>
              <a:spcAft>
                <a:spcPts val="0"/>
              </a:spcAft>
              <a:buNone/>
            </a:pPr>
            <a:r>
              <a:rPr lang="en-US" sz="2400" dirty="0"/>
              <a:t>Strobili have similar construction</a:t>
            </a:r>
          </a:p>
          <a:p>
            <a:pPr marL="358775" lvl="2" indent="-358775">
              <a:spcAft>
                <a:spcPts val="0"/>
              </a:spcAft>
              <a:buFont typeface="Arial" panose="020B0604020202020204" pitchFamily="34" charset="0"/>
              <a:buChar char="•"/>
            </a:pPr>
            <a:r>
              <a:rPr lang="en-US" sz="2200" i="1" dirty="0"/>
              <a:t>Gnetum</a:t>
            </a:r>
            <a:r>
              <a:rPr lang="en-US" sz="2200" dirty="0"/>
              <a:t> consists of trees or climbing vines with broad, leathery leaves arranged in pairs</a:t>
            </a:r>
          </a:p>
          <a:p>
            <a:pPr marL="358775" lvl="2" indent="-358775">
              <a:spcAft>
                <a:spcPts val="0"/>
              </a:spcAft>
              <a:buFont typeface="Arial" panose="020B0604020202020204" pitchFamily="34" charset="0"/>
              <a:buChar char="•"/>
            </a:pPr>
            <a:r>
              <a:rPr lang="en-US" sz="2200" dirty="0"/>
              <a:t>Ephedrine, a medicine with serious side effects, is extracted from </a:t>
            </a:r>
            <a:r>
              <a:rPr lang="en-US" sz="2200" i="1" dirty="0"/>
              <a:t>Ephedra</a:t>
            </a:r>
          </a:p>
          <a:p>
            <a:pPr marL="358775" lvl="2" indent="-358775">
              <a:spcAft>
                <a:spcPts val="0"/>
              </a:spcAft>
              <a:buFont typeface="Arial" panose="020B0604020202020204" pitchFamily="34" charset="0"/>
              <a:buChar char="•"/>
            </a:pPr>
            <a:r>
              <a:rPr lang="en-US" sz="2200" b="0" i="1" u="none" strike="noStrike" baseline="0" dirty="0"/>
              <a:t>Welwitschia, </a:t>
            </a:r>
            <a:r>
              <a:rPr lang="en-US" sz="2200" b="0" i="0" u="none" strike="noStrike" baseline="0" dirty="0"/>
              <a:t>found in southwestern Africa, has only two enormous, straplike leaves that fray as it gets older </a:t>
            </a:r>
            <a:endParaRPr lang="en-US" sz="2200" dirty="0"/>
          </a:p>
        </p:txBody>
      </p:sp>
      <p:sp>
        <p:nvSpPr>
          <p:cNvPr id="4" name="Slide Number Placeholder 3">
            <a:extLst>
              <a:ext uri="{FF2B5EF4-FFF2-40B4-BE49-F238E27FC236}">
                <a16:creationId xmlns:a16="http://schemas.microsoft.com/office/drawing/2014/main" id="{1CAD3EBA-C26A-49C5-97E9-1F64BFFBD976}"/>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74</a:t>
            </a:fld>
            <a:endParaRPr lang="en-IN"/>
          </a:p>
        </p:txBody>
      </p:sp>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itle 1"/>
          <p:cNvSpPr>
            <a:spLocks noGrp="1" noChangeArrowheads="1"/>
          </p:cNvSpPr>
          <p:nvPr>
            <p:ph type="title"/>
          </p:nvPr>
        </p:nvSpPr>
        <p:spPr>
          <a:xfrm>
            <a:off x="457200" y="195215"/>
            <a:ext cx="8229600" cy="752571"/>
          </a:xfrm>
        </p:spPr>
        <p:txBody>
          <a:bodyPr/>
          <a:lstStyle/>
          <a:p>
            <a:r>
              <a:rPr lang="en-US" altLang="en-US" i="1" dirty="0"/>
              <a:t>Ephedra</a:t>
            </a:r>
            <a:r>
              <a:rPr lang="en-US" altLang="en-US" dirty="0"/>
              <a:t>, a Type of Gnetophyte</a:t>
            </a:r>
          </a:p>
        </p:txBody>
      </p:sp>
      <p:pic>
        <p:nvPicPr>
          <p:cNvPr id="5" name="Picture 2" descr="This example is a branched shrub with small, scale-like leaves. Pollen is produced in microsporangia."/>
          <p:cNvPicPr>
            <a:picLocks noChangeAspect="1" noChangeArrowheads="1"/>
          </p:cNvPicPr>
          <p:nvPr/>
        </p:nvPicPr>
        <p:blipFill rotWithShape="1">
          <a:blip r:embed="rId3">
            <a:extLst>
              <a:ext uri="{28A0092B-C50C-407E-A947-70E740481C1C}">
                <a14:useLocalDpi xmlns:a14="http://schemas.microsoft.com/office/drawing/2010/main" val="0"/>
              </a:ext>
            </a:extLst>
          </a:blip>
          <a:srcRect t="4832" b="10826"/>
          <a:stretch/>
        </p:blipFill>
        <p:spPr bwMode="auto">
          <a:xfrm>
            <a:off x="492125" y="933270"/>
            <a:ext cx="8159750" cy="4177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Content Placeholder 3">
            <a:extLst>
              <a:ext uri="{FF2B5EF4-FFF2-40B4-BE49-F238E27FC236}">
                <a16:creationId xmlns:a16="http://schemas.microsoft.com/office/drawing/2014/main" id="{5C28473F-F446-429F-B431-9A6D8FF4D0B2}"/>
              </a:ext>
            </a:extLst>
          </p:cNvPr>
          <p:cNvSpPr>
            <a:spLocks noGrp="1"/>
          </p:cNvSpPr>
          <p:nvPr>
            <p:ph sz="quarter" idx="4294967295"/>
          </p:nvPr>
        </p:nvSpPr>
        <p:spPr>
          <a:xfrm>
            <a:off x="615130" y="5143447"/>
            <a:ext cx="2482400" cy="257775"/>
          </a:xfrm>
        </p:spPr>
        <p:txBody>
          <a:bodyPr>
            <a:normAutofit lnSpcReduction="10000"/>
          </a:bodyPr>
          <a:lstStyle/>
          <a:p>
            <a:pPr marL="228600" indent="-228600">
              <a:buFont typeface="+mj-lt"/>
              <a:buAutoNum type="alphaLcPeriod" startAt="3"/>
            </a:pPr>
            <a:r>
              <a:rPr lang="en-US" sz="1200" i="1" dirty="0">
                <a:latin typeface="+mn-lt"/>
              </a:rPr>
              <a:t>Ephedra</a:t>
            </a:r>
            <a:r>
              <a:rPr lang="en-US" sz="1200" dirty="0">
                <a:latin typeface="+mn-lt"/>
              </a:rPr>
              <a:t>, a type of gnetophyte</a:t>
            </a:r>
          </a:p>
        </p:txBody>
      </p:sp>
      <p:sp>
        <p:nvSpPr>
          <p:cNvPr id="7" name="TextBox 4">
            <a:extLst>
              <a:ext uri="{FF2B5EF4-FFF2-40B4-BE49-F238E27FC236}">
                <a16:creationId xmlns:a16="http://schemas.microsoft.com/office/drawing/2014/main" id="{C640FC02-F135-46A8-A026-1502F985D84D}"/>
              </a:ext>
            </a:extLst>
          </p:cNvPr>
          <p:cNvSpPr txBox="1"/>
          <p:nvPr/>
        </p:nvSpPr>
        <p:spPr>
          <a:xfrm>
            <a:off x="3843865" y="5645094"/>
            <a:ext cx="1456267" cy="261610"/>
          </a:xfrm>
          <a:prstGeom prst="rect">
            <a:avLst/>
          </a:prstGeom>
          <a:noFill/>
        </p:spPr>
        <p:txBody>
          <a:bodyPr wrap="square" rtlCol="0">
            <a:spAutoFit/>
          </a:bodyPr>
          <a:lstStyle/>
          <a:p>
            <a:pPr algn="ctr"/>
            <a:r>
              <a:rPr lang="en-US" sz="1100" dirty="0"/>
              <a:t>Figure 23.19</a:t>
            </a:r>
          </a:p>
        </p:txBody>
      </p:sp>
      <p:sp>
        <p:nvSpPr>
          <p:cNvPr id="3" name="Content Placeholder 5">
            <a:extLst>
              <a:ext uri="{FF2B5EF4-FFF2-40B4-BE49-F238E27FC236}">
                <a16:creationId xmlns:a16="http://schemas.microsoft.com/office/drawing/2014/main" id="{1DC11586-6851-4F72-8BF8-46C9C34C8981}"/>
              </a:ext>
            </a:extLst>
          </p:cNvPr>
          <p:cNvSpPr>
            <a:spLocks noGrp="1"/>
          </p:cNvSpPr>
          <p:nvPr>
            <p:ph sz="quarter" idx="4294967295"/>
          </p:nvPr>
        </p:nvSpPr>
        <p:spPr>
          <a:xfrm>
            <a:off x="4865198" y="6553467"/>
            <a:ext cx="3784636" cy="212130"/>
          </a:xfrm>
        </p:spPr>
        <p:txBody>
          <a:bodyPr>
            <a:noAutofit/>
          </a:bodyPr>
          <a:lstStyle/>
          <a:p>
            <a:pPr marL="0" indent="0" algn="r">
              <a:buNone/>
            </a:pPr>
            <a:r>
              <a:rPr lang="en-US" sz="800" dirty="0">
                <a:latin typeface="+mn-lt"/>
              </a:rPr>
              <a:t>(c): (plant): Evelyn Jo Johnson/McGraw-Hill; (microsporangia): Karl J. Niklas</a:t>
            </a:r>
          </a:p>
        </p:txBody>
      </p:sp>
      <p:sp>
        <p:nvSpPr>
          <p:cNvPr id="8" name="Slide Number Placeholder 6">
            <a:extLst>
              <a:ext uri="{FF2B5EF4-FFF2-40B4-BE49-F238E27FC236}">
                <a16:creationId xmlns:a16="http://schemas.microsoft.com/office/drawing/2014/main" id="{3C1FB59E-C92F-452B-ADC6-18AC59AFDCD6}"/>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75</a:t>
            </a:fld>
            <a:endParaRPr lang="en-IN"/>
          </a:p>
        </p:txBody>
      </p:sp>
    </p:spTree>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Title 1"/>
          <p:cNvSpPr>
            <a:spLocks noGrp="1" noChangeArrowheads="1"/>
          </p:cNvSpPr>
          <p:nvPr>
            <p:ph type="title"/>
          </p:nvPr>
        </p:nvSpPr>
        <p:spPr>
          <a:xfrm>
            <a:off x="342894" y="16406"/>
            <a:ext cx="8458200" cy="1116726"/>
          </a:xfrm>
        </p:spPr>
        <p:txBody>
          <a:bodyPr>
            <a:noAutofit/>
          </a:bodyPr>
          <a:lstStyle/>
          <a:p>
            <a:r>
              <a:rPr lang="en-US" altLang="en-US" i="1" dirty="0"/>
              <a:t>Welwitschia</a:t>
            </a:r>
            <a:r>
              <a:rPr lang="en-US" altLang="en-US" dirty="0"/>
              <a:t>, a Type of Gnetophyte</a:t>
            </a:r>
          </a:p>
        </p:txBody>
      </p:sp>
      <p:pic>
        <p:nvPicPr>
          <p:cNvPr id="5" name="Picture 2" descr="This example produces 2 straplike leaves that fray and split."/>
          <p:cNvPicPr>
            <a:picLocks noChangeAspect="1" noChangeArrowheads="1"/>
          </p:cNvPicPr>
          <p:nvPr/>
        </p:nvPicPr>
        <p:blipFill rotWithShape="1">
          <a:blip r:embed="rId3">
            <a:extLst>
              <a:ext uri="{28A0092B-C50C-407E-A947-70E740481C1C}">
                <a14:useLocalDpi xmlns:a14="http://schemas.microsoft.com/office/drawing/2010/main" val="0"/>
              </a:ext>
            </a:extLst>
          </a:blip>
          <a:srcRect t="4666" b="10431"/>
          <a:stretch/>
        </p:blipFill>
        <p:spPr bwMode="auto">
          <a:xfrm>
            <a:off x="1173157" y="1251645"/>
            <a:ext cx="6797675" cy="41297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Content Placeholder 3">
            <a:extLst>
              <a:ext uri="{FF2B5EF4-FFF2-40B4-BE49-F238E27FC236}">
                <a16:creationId xmlns:a16="http://schemas.microsoft.com/office/drawing/2014/main" id="{BFC02D3A-7972-4989-B51E-366362050851}"/>
              </a:ext>
            </a:extLst>
          </p:cNvPr>
          <p:cNvSpPr>
            <a:spLocks noGrp="1"/>
          </p:cNvSpPr>
          <p:nvPr>
            <p:ph sz="quarter" idx="4294967295"/>
          </p:nvPr>
        </p:nvSpPr>
        <p:spPr>
          <a:xfrm>
            <a:off x="1382573" y="5446297"/>
            <a:ext cx="3677540" cy="278365"/>
          </a:xfrm>
        </p:spPr>
        <p:txBody>
          <a:bodyPr>
            <a:normAutofit fontScale="85000" lnSpcReduction="20000"/>
          </a:bodyPr>
          <a:lstStyle/>
          <a:p>
            <a:pPr marL="168275" indent="-168275">
              <a:buFont typeface="+mj-lt"/>
              <a:buAutoNum type="alphaLcPeriod" startAt="4"/>
            </a:pPr>
            <a:r>
              <a:rPr lang="en-US" sz="1620" dirty="0">
                <a:latin typeface="+mn-lt"/>
              </a:rPr>
              <a:t> </a:t>
            </a:r>
            <a:r>
              <a:rPr lang="en-US" sz="1620" i="1" dirty="0">
                <a:latin typeface="+mn-lt"/>
              </a:rPr>
              <a:t>Welwitschia</a:t>
            </a:r>
            <a:r>
              <a:rPr lang="en-US" sz="1620" dirty="0">
                <a:latin typeface="+mn-lt"/>
              </a:rPr>
              <a:t>, a type of gnetophyte</a:t>
            </a:r>
          </a:p>
        </p:txBody>
      </p:sp>
      <p:sp>
        <p:nvSpPr>
          <p:cNvPr id="7" name="TextBox 4">
            <a:extLst>
              <a:ext uri="{FF2B5EF4-FFF2-40B4-BE49-F238E27FC236}">
                <a16:creationId xmlns:a16="http://schemas.microsoft.com/office/drawing/2014/main" id="{A6D69722-17D6-426A-84E9-6C4782AD48FA}"/>
              </a:ext>
            </a:extLst>
          </p:cNvPr>
          <p:cNvSpPr txBox="1"/>
          <p:nvPr/>
        </p:nvSpPr>
        <p:spPr>
          <a:xfrm>
            <a:off x="3843862" y="5910268"/>
            <a:ext cx="1456267" cy="276999"/>
          </a:xfrm>
          <a:prstGeom prst="rect">
            <a:avLst/>
          </a:prstGeom>
          <a:noFill/>
        </p:spPr>
        <p:txBody>
          <a:bodyPr wrap="square" rtlCol="0">
            <a:spAutoFit/>
          </a:bodyPr>
          <a:lstStyle/>
          <a:p>
            <a:pPr algn="ctr"/>
            <a:r>
              <a:rPr lang="en-US" sz="1200" dirty="0"/>
              <a:t>Figure 23.19</a:t>
            </a:r>
          </a:p>
        </p:txBody>
      </p:sp>
      <p:sp>
        <p:nvSpPr>
          <p:cNvPr id="3" name="Content Placeholder 5">
            <a:extLst>
              <a:ext uri="{FF2B5EF4-FFF2-40B4-BE49-F238E27FC236}">
                <a16:creationId xmlns:a16="http://schemas.microsoft.com/office/drawing/2014/main" id="{93E6AC83-2224-40B0-902C-7EEBDF12C754}"/>
              </a:ext>
            </a:extLst>
          </p:cNvPr>
          <p:cNvSpPr>
            <a:spLocks noGrp="1"/>
          </p:cNvSpPr>
          <p:nvPr>
            <p:ph sz="quarter" idx="4294967295"/>
          </p:nvPr>
        </p:nvSpPr>
        <p:spPr>
          <a:xfrm>
            <a:off x="6283321" y="6563554"/>
            <a:ext cx="2196260" cy="203056"/>
          </a:xfrm>
        </p:spPr>
        <p:txBody>
          <a:bodyPr anchor="ctr">
            <a:normAutofit lnSpcReduction="10000"/>
          </a:bodyPr>
          <a:lstStyle/>
          <a:p>
            <a:pPr marL="0" indent="0" algn="r">
              <a:buNone/>
            </a:pPr>
            <a:r>
              <a:rPr lang="en-US" sz="800" dirty="0">
                <a:latin typeface="+mn-lt"/>
              </a:rPr>
              <a:t>(d): </a:t>
            </a:r>
            <a:r>
              <a:rPr lang="en-US" sz="800" dirty="0" err="1">
                <a:latin typeface="+mn-lt"/>
              </a:rPr>
              <a:t>TravelMuse</a:t>
            </a:r>
            <a:r>
              <a:rPr lang="en-US" sz="800" dirty="0">
                <a:latin typeface="+mn-lt"/>
              </a:rPr>
              <a:t>/</a:t>
            </a:r>
            <a:r>
              <a:rPr lang="en-US" sz="800" dirty="0" err="1">
                <a:latin typeface="+mn-lt"/>
              </a:rPr>
              <a:t>Alamy</a:t>
            </a:r>
            <a:r>
              <a:rPr lang="en-US" sz="800" dirty="0">
                <a:latin typeface="+mn-lt"/>
              </a:rPr>
              <a:t> Stock Photo</a:t>
            </a:r>
          </a:p>
        </p:txBody>
      </p:sp>
      <p:sp>
        <p:nvSpPr>
          <p:cNvPr id="8" name="Slide Number Placeholder 6">
            <a:extLst>
              <a:ext uri="{FF2B5EF4-FFF2-40B4-BE49-F238E27FC236}">
                <a16:creationId xmlns:a16="http://schemas.microsoft.com/office/drawing/2014/main" id="{967A31E9-2721-4668-A0D8-009038B57C4B}"/>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76</a:t>
            </a:fld>
            <a:endParaRPr lang="en-IN"/>
          </a:p>
        </p:txBody>
      </p:sp>
    </p:spTree>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Title 1"/>
          <p:cNvSpPr>
            <a:spLocks noGrp="1" noChangeArrowheads="1"/>
          </p:cNvSpPr>
          <p:nvPr>
            <p:ph type="title"/>
          </p:nvPr>
        </p:nvSpPr>
        <p:spPr>
          <a:xfrm>
            <a:off x="342900" y="0"/>
            <a:ext cx="8458200" cy="822057"/>
          </a:xfrm>
        </p:spPr>
        <p:txBody>
          <a:bodyPr/>
          <a:lstStyle/>
          <a:p>
            <a:r>
              <a:rPr lang="en-US" altLang="en-US" dirty="0"/>
              <a:t>Angiosperms</a:t>
            </a:r>
          </a:p>
        </p:txBody>
      </p:sp>
      <p:sp>
        <p:nvSpPr>
          <p:cNvPr id="50179" name="Content Placeholder 2"/>
          <p:cNvSpPr>
            <a:spLocks noGrp="1" noChangeArrowheads="1"/>
          </p:cNvSpPr>
          <p:nvPr>
            <p:ph idx="1"/>
          </p:nvPr>
        </p:nvSpPr>
        <p:spPr>
          <a:xfrm>
            <a:off x="1" y="1139101"/>
            <a:ext cx="8864300" cy="5434028"/>
          </a:xfrm>
        </p:spPr>
        <p:txBody>
          <a:bodyPr>
            <a:noAutofit/>
          </a:bodyPr>
          <a:lstStyle/>
          <a:p>
            <a:pPr marL="400050" lvl="2" indent="0">
              <a:spcBef>
                <a:spcPts val="0"/>
              </a:spcBef>
              <a:spcAft>
                <a:spcPts val="1200"/>
              </a:spcAft>
              <a:buNone/>
            </a:pPr>
            <a:r>
              <a:rPr lang="en-US" sz="2400" dirty="0"/>
              <a:t>Flowering plants</a:t>
            </a:r>
          </a:p>
          <a:p>
            <a:pPr marL="400050" lvl="2" indent="0">
              <a:spcBef>
                <a:spcPts val="0"/>
              </a:spcBef>
              <a:spcAft>
                <a:spcPts val="1200"/>
              </a:spcAft>
              <a:buNone/>
            </a:pPr>
            <a:r>
              <a:rPr lang="en-US" sz="2400" b="0" i="0" u="none" strike="noStrike" baseline="0" dirty="0"/>
              <a:t>Called angiosperms because their ovules are always enclosed within diploid tissues</a:t>
            </a:r>
            <a:endParaRPr lang="en-US" sz="2400" dirty="0"/>
          </a:p>
          <a:p>
            <a:pPr marL="400050" lvl="2" indent="0">
              <a:spcBef>
                <a:spcPts val="0"/>
              </a:spcBef>
              <a:spcAft>
                <a:spcPts val="1200"/>
              </a:spcAft>
              <a:buNone/>
            </a:pPr>
            <a:r>
              <a:rPr lang="en-US" sz="2400" dirty="0"/>
              <a:t>Exceptionally large and successful group of plants</a:t>
            </a:r>
          </a:p>
          <a:p>
            <a:pPr marL="717550" lvl="3" indent="-266700">
              <a:spcBef>
                <a:spcPts val="0"/>
              </a:spcBef>
              <a:spcAft>
                <a:spcPts val="1200"/>
              </a:spcAft>
              <a:buFont typeface="Arial" panose="020B0604020202020204" pitchFamily="34" charset="0"/>
              <a:buChar char="•"/>
            </a:pPr>
            <a:r>
              <a:rPr lang="en-US" sz="2200" dirty="0"/>
              <a:t>352,000 known species</a:t>
            </a:r>
          </a:p>
          <a:p>
            <a:pPr marL="400050" lvl="2" indent="0">
              <a:spcBef>
                <a:spcPts val="0"/>
              </a:spcBef>
              <a:spcAft>
                <a:spcPts val="1200"/>
              </a:spcAft>
              <a:buNone/>
            </a:pPr>
            <a:r>
              <a:rPr lang="en-US" sz="2400" dirty="0"/>
              <a:t>Range in size from tiny duckweed to </a:t>
            </a:r>
            <a:r>
              <a:rPr lang="en-US" sz="2400" i="1" dirty="0"/>
              <a:t>Eucalyptus</a:t>
            </a:r>
            <a:r>
              <a:rPr lang="en-US" sz="2400" dirty="0"/>
              <a:t>, over   100 m tall</a:t>
            </a:r>
          </a:p>
          <a:p>
            <a:pPr marL="400050" lvl="2" indent="0">
              <a:spcBef>
                <a:spcPts val="0"/>
              </a:spcBef>
              <a:spcAft>
                <a:spcPts val="1200"/>
              </a:spcAft>
              <a:buNone/>
            </a:pPr>
            <a:r>
              <a:rPr lang="en-US" sz="2400" b="0" i="0" u="none" strike="noStrike" baseline="0" dirty="0"/>
              <a:t>All fruits, vegetables, nuts, herbs, and grains, which are the staples of the human diet, are angiosperms </a:t>
            </a:r>
          </a:p>
          <a:p>
            <a:pPr marL="400050" lvl="2" indent="0">
              <a:spcBef>
                <a:spcPts val="0"/>
              </a:spcBef>
              <a:spcAft>
                <a:spcPts val="1200"/>
              </a:spcAft>
              <a:buNone/>
            </a:pPr>
            <a:r>
              <a:rPr lang="en-US" sz="2400" dirty="0"/>
              <a:t>P</a:t>
            </a:r>
            <a:r>
              <a:rPr lang="en-US" sz="2400" b="0" i="0" u="none" strike="noStrike" baseline="0" dirty="0"/>
              <a:t>rovide us with clothing, food, medicines, and other commercially valuable products</a:t>
            </a:r>
            <a:endParaRPr lang="en-US" sz="2400" dirty="0"/>
          </a:p>
        </p:txBody>
      </p:sp>
      <p:sp>
        <p:nvSpPr>
          <p:cNvPr id="4" name="Slide Number Placeholder 3">
            <a:extLst>
              <a:ext uri="{FF2B5EF4-FFF2-40B4-BE49-F238E27FC236}">
                <a16:creationId xmlns:a16="http://schemas.microsoft.com/office/drawing/2014/main" id="{9299EC97-7DB7-4770-B21B-BA17D2E2C9C9}"/>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77</a:t>
            </a:fld>
            <a:endParaRPr lang="en-IN"/>
          </a:p>
        </p:txBody>
      </p:sp>
    </p:spTree>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Title 1"/>
          <p:cNvSpPr>
            <a:spLocks noGrp="1" noChangeArrowheads="1"/>
          </p:cNvSpPr>
          <p:nvPr>
            <p:ph type="title"/>
          </p:nvPr>
        </p:nvSpPr>
        <p:spPr>
          <a:xfrm>
            <a:off x="295422" y="0"/>
            <a:ext cx="8391378" cy="818147"/>
          </a:xfrm>
        </p:spPr>
        <p:txBody>
          <a:bodyPr/>
          <a:lstStyle/>
          <a:p>
            <a:r>
              <a:rPr lang="en-US" altLang="en-US" sz="3600" dirty="0"/>
              <a:t>Origin and Radiation of Angiosperms</a:t>
            </a:r>
          </a:p>
        </p:txBody>
      </p:sp>
      <p:sp>
        <p:nvSpPr>
          <p:cNvPr id="50179" name="Content Placeholder 2"/>
          <p:cNvSpPr>
            <a:spLocks noGrp="1" noChangeArrowheads="1"/>
          </p:cNvSpPr>
          <p:nvPr>
            <p:ph idx="1"/>
          </p:nvPr>
        </p:nvSpPr>
        <p:spPr>
          <a:xfrm>
            <a:off x="158262" y="818147"/>
            <a:ext cx="8665698" cy="5666048"/>
          </a:xfrm>
        </p:spPr>
        <p:txBody>
          <a:bodyPr>
            <a:noAutofit/>
          </a:bodyPr>
          <a:lstStyle/>
          <a:p>
            <a:pPr algn="l">
              <a:spcBef>
                <a:spcPts val="600"/>
              </a:spcBef>
            </a:pPr>
            <a:r>
              <a:rPr lang="en-US" sz="2400" b="0" i="0" u="none" strike="noStrike" baseline="0" dirty="0"/>
              <a:t>Until recently, the earliest known angiosperm fossil was </a:t>
            </a:r>
            <a:r>
              <a:rPr lang="en-US" sz="2400" b="0" i="1" u="none" strike="noStrike" baseline="0" dirty="0" err="1"/>
              <a:t>Archaefructus</a:t>
            </a:r>
            <a:r>
              <a:rPr lang="en-US" sz="2400" b="0" i="1" u="none" strike="noStrike" baseline="0" dirty="0"/>
              <a:t> </a:t>
            </a:r>
            <a:r>
              <a:rPr lang="en-US" sz="2400" b="0" i="1" u="none" strike="noStrike" baseline="0" dirty="0" err="1"/>
              <a:t>liaoningensis</a:t>
            </a:r>
            <a:endParaRPr lang="en-US" sz="2400" i="1" dirty="0"/>
          </a:p>
          <a:p>
            <a:pPr lvl="1">
              <a:spcBef>
                <a:spcPts val="600"/>
              </a:spcBef>
              <a:spcAft>
                <a:spcPts val="0"/>
              </a:spcAft>
              <a:buFont typeface="Arial" panose="020B0604020202020204" pitchFamily="34" charset="0"/>
              <a:buChar char="•"/>
            </a:pPr>
            <a:r>
              <a:rPr lang="en-US" sz="2200" dirty="0"/>
              <a:t>D</a:t>
            </a:r>
            <a:r>
              <a:rPr lang="en-US" sz="2200" b="0" i="0" u="none" strike="noStrike" baseline="0" dirty="0"/>
              <a:t>ates back 135 million years to the Jurassic</a:t>
            </a:r>
          </a:p>
          <a:p>
            <a:pPr lvl="1">
              <a:spcBef>
                <a:spcPts val="600"/>
              </a:spcBef>
              <a:spcAft>
                <a:spcPts val="0"/>
              </a:spcAft>
              <a:buFont typeface="Arial" panose="020B0604020202020204" pitchFamily="34" charset="0"/>
              <a:buChar char="•"/>
            </a:pPr>
            <a:r>
              <a:rPr lang="en-US" sz="2200" b="0" i="1" u="none" strike="noStrike" baseline="0" dirty="0" err="1"/>
              <a:t>Archaefructus</a:t>
            </a:r>
            <a:r>
              <a:rPr lang="en-US" sz="2200" b="0" i="0" u="none" strike="noStrike" baseline="0" dirty="0"/>
              <a:t> fossil has fruit and flowers</a:t>
            </a:r>
          </a:p>
          <a:p>
            <a:pPr>
              <a:spcBef>
                <a:spcPts val="600"/>
              </a:spcBef>
            </a:pPr>
            <a:r>
              <a:rPr lang="en-US" sz="2400" dirty="0"/>
              <a:t>P</a:t>
            </a:r>
            <a:r>
              <a:rPr lang="en-US" sz="2400" b="0" i="0" u="none" strike="noStrike" baseline="0" dirty="0"/>
              <a:t>ollen can be used to date the appearance of a seed plant in an area</a:t>
            </a:r>
          </a:p>
          <a:p>
            <a:pPr lvl="1">
              <a:spcBef>
                <a:spcPts val="600"/>
              </a:spcBef>
              <a:buFont typeface="Arial" panose="020B0604020202020204" pitchFamily="34" charset="0"/>
              <a:buChar char="•"/>
            </a:pPr>
            <a:r>
              <a:rPr lang="en-US" sz="2200" b="0" i="0" u="none" strike="noStrike" baseline="0" dirty="0"/>
              <a:t>Paleobotanists working in Switzerland discovered 240-million-year-old fossilized pollen from the Triassic</a:t>
            </a:r>
            <a:endParaRPr lang="en-US" sz="2200" dirty="0"/>
          </a:p>
          <a:p>
            <a:pPr>
              <a:spcBef>
                <a:spcPts val="600"/>
              </a:spcBef>
            </a:pPr>
            <a:r>
              <a:rPr lang="en-US" sz="2400" dirty="0"/>
              <a:t>L</a:t>
            </a:r>
            <a:r>
              <a:rPr lang="en-US" sz="2400" b="0" i="0" u="none" strike="noStrike" baseline="0" dirty="0"/>
              <a:t>iving angiosperm of today that might be most closely related to the first angiosperms is </a:t>
            </a:r>
            <a:r>
              <a:rPr lang="en-US" sz="2400" b="0" i="1" u="none" strike="noStrike" baseline="0" dirty="0" err="1"/>
              <a:t>Amborella</a:t>
            </a:r>
            <a:r>
              <a:rPr lang="en-US" sz="2400" b="0" i="1" u="none" strike="noStrike" baseline="0" dirty="0"/>
              <a:t> </a:t>
            </a:r>
          </a:p>
          <a:p>
            <a:pPr lvl="1">
              <a:spcBef>
                <a:spcPts val="600"/>
              </a:spcBef>
              <a:spcAft>
                <a:spcPts val="0"/>
              </a:spcAft>
              <a:buFont typeface="Arial" panose="020B0604020202020204" pitchFamily="34" charset="0"/>
              <a:buChar char="•"/>
            </a:pPr>
            <a:r>
              <a:rPr lang="en-US" sz="2200" dirty="0"/>
              <a:t>L</a:t>
            </a:r>
            <a:r>
              <a:rPr lang="en-US" sz="2200" b="0" i="0" u="none" strike="noStrike" baseline="0" dirty="0"/>
              <a:t>ives only on the island of New Caledonia in the South Pacific</a:t>
            </a:r>
          </a:p>
          <a:p>
            <a:pPr lvl="1">
              <a:spcBef>
                <a:spcPts val="600"/>
              </a:spcBef>
              <a:spcAft>
                <a:spcPts val="0"/>
              </a:spcAft>
              <a:buFont typeface="Arial" panose="020B0604020202020204" pitchFamily="34" charset="0"/>
              <a:buChar char="•"/>
            </a:pPr>
            <a:r>
              <a:rPr lang="en-US" sz="2200" dirty="0"/>
              <a:t>Botanists hope that </a:t>
            </a:r>
            <a:r>
              <a:rPr lang="en-US" sz="2200" b="0" i="0" u="none" strike="noStrike" baseline="0" dirty="0"/>
              <a:t>much may be learned about the early adaptive radiation of angiosperms during the Tertiary period</a:t>
            </a:r>
            <a:endParaRPr lang="en-US" sz="2200" b="0" i="0" u="none" strike="noStrike" baseline="0" dirty="0">
              <a:solidFill>
                <a:srgbClr val="000000"/>
              </a:solidFill>
            </a:endParaRPr>
          </a:p>
        </p:txBody>
      </p:sp>
      <p:sp>
        <p:nvSpPr>
          <p:cNvPr id="4" name="Slide Number Placeholder 3">
            <a:extLst>
              <a:ext uri="{FF2B5EF4-FFF2-40B4-BE49-F238E27FC236}">
                <a16:creationId xmlns:a16="http://schemas.microsoft.com/office/drawing/2014/main" id="{349B1D7A-F0FD-430A-9668-3C06DEB17564}"/>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78</a:t>
            </a:fld>
            <a:endParaRPr lang="en-IN"/>
          </a:p>
        </p:txBody>
      </p:sp>
    </p:spTree>
    <p:extLst>
      <p:ext uri="{BB962C8B-B14F-4D97-AF65-F5344CB8AC3E}">
        <p14:creationId xmlns:p14="http://schemas.microsoft.com/office/powerpoint/2010/main" val="1048956245"/>
      </p:ext>
    </p:extLst>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Title 1"/>
          <p:cNvSpPr>
            <a:spLocks noGrp="1" noChangeArrowheads="1"/>
          </p:cNvSpPr>
          <p:nvPr>
            <p:ph type="title"/>
          </p:nvPr>
        </p:nvSpPr>
        <p:spPr>
          <a:xfrm>
            <a:off x="342900" y="0"/>
            <a:ext cx="8458200" cy="935604"/>
          </a:xfrm>
        </p:spPr>
        <p:txBody>
          <a:bodyPr>
            <a:normAutofit fontScale="90000"/>
          </a:bodyPr>
          <a:lstStyle/>
          <a:p>
            <a:r>
              <a:rPr lang="en-US" altLang="en-US" dirty="0"/>
              <a:t>Evolution of Flowering Plants: </a:t>
            </a:r>
            <a:r>
              <a:rPr lang="en-US" altLang="en-US" i="1" dirty="0"/>
              <a:t>Amborella trichopoda</a:t>
            </a:r>
          </a:p>
        </p:txBody>
      </p:sp>
      <p:pic>
        <p:nvPicPr>
          <p:cNvPr id="5" name="Picture 2" descr="Close-up of a plant shows small, creamy white flowers arranged in inflorescence borne in the axils of foliage leaves."/>
          <p:cNvPicPr>
            <a:picLocks noChangeAspect="1" noChangeArrowheads="1"/>
          </p:cNvPicPr>
          <p:nvPr/>
        </p:nvPicPr>
        <p:blipFill rotWithShape="1">
          <a:blip r:embed="rId3">
            <a:extLst>
              <a:ext uri="{28A0092B-C50C-407E-A947-70E740481C1C}">
                <a14:useLocalDpi xmlns:a14="http://schemas.microsoft.com/office/drawing/2010/main" val="0"/>
              </a:ext>
            </a:extLst>
          </a:blip>
          <a:srcRect t="3261" b="8136"/>
          <a:stretch/>
        </p:blipFill>
        <p:spPr bwMode="auto">
          <a:xfrm>
            <a:off x="1761536" y="1008181"/>
            <a:ext cx="5622925" cy="4347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Content Placeholder 3">
            <a:extLst>
              <a:ext uri="{FF2B5EF4-FFF2-40B4-BE49-F238E27FC236}">
                <a16:creationId xmlns:a16="http://schemas.microsoft.com/office/drawing/2014/main" id="{E95B46F1-6D4B-42C7-92F1-3B440931DFA3}"/>
              </a:ext>
            </a:extLst>
          </p:cNvPr>
          <p:cNvSpPr>
            <a:spLocks noGrp="1"/>
          </p:cNvSpPr>
          <p:nvPr>
            <p:ph sz="quarter" idx="4294967295"/>
          </p:nvPr>
        </p:nvSpPr>
        <p:spPr>
          <a:xfrm>
            <a:off x="1952591" y="5428456"/>
            <a:ext cx="2360781" cy="264374"/>
          </a:xfrm>
        </p:spPr>
        <p:txBody>
          <a:bodyPr anchor="ctr">
            <a:normAutofit fontScale="92500" lnSpcReduction="10000"/>
          </a:bodyPr>
          <a:lstStyle/>
          <a:p>
            <a:pPr marL="0" indent="0">
              <a:buFont typeface="+mj-lt"/>
              <a:buAutoNum type="alphaLcPeriod" startAt="2"/>
            </a:pPr>
            <a:r>
              <a:rPr lang="en-US" sz="1340" dirty="0">
                <a:latin typeface="+mn-lt"/>
              </a:rPr>
              <a:t> </a:t>
            </a:r>
            <a:r>
              <a:rPr lang="en-US" sz="1340" i="1" dirty="0">
                <a:latin typeface="+mn-lt"/>
              </a:rPr>
              <a:t>Amborella trichopoda</a:t>
            </a:r>
          </a:p>
        </p:txBody>
      </p:sp>
      <p:sp>
        <p:nvSpPr>
          <p:cNvPr id="7" name="TextBox 4">
            <a:extLst>
              <a:ext uri="{FF2B5EF4-FFF2-40B4-BE49-F238E27FC236}">
                <a16:creationId xmlns:a16="http://schemas.microsoft.com/office/drawing/2014/main" id="{9E6BDEE9-E572-4277-B588-7F860C434A49}"/>
              </a:ext>
            </a:extLst>
          </p:cNvPr>
          <p:cNvSpPr txBox="1"/>
          <p:nvPr/>
        </p:nvSpPr>
        <p:spPr>
          <a:xfrm>
            <a:off x="3843866" y="5829422"/>
            <a:ext cx="1456267" cy="276999"/>
          </a:xfrm>
          <a:prstGeom prst="rect">
            <a:avLst/>
          </a:prstGeom>
          <a:noFill/>
        </p:spPr>
        <p:txBody>
          <a:bodyPr wrap="square" rtlCol="0">
            <a:spAutoFit/>
          </a:bodyPr>
          <a:lstStyle/>
          <a:p>
            <a:pPr algn="ctr"/>
            <a:r>
              <a:rPr lang="en-US" sz="1200" dirty="0"/>
              <a:t>Figure 23.20</a:t>
            </a:r>
          </a:p>
        </p:txBody>
      </p:sp>
      <p:sp>
        <p:nvSpPr>
          <p:cNvPr id="3" name="Content Placeholder 6">
            <a:extLst>
              <a:ext uri="{FF2B5EF4-FFF2-40B4-BE49-F238E27FC236}">
                <a16:creationId xmlns:a16="http://schemas.microsoft.com/office/drawing/2014/main" id="{06D00E71-53D9-413E-A931-7674C51428F0}"/>
              </a:ext>
            </a:extLst>
          </p:cNvPr>
          <p:cNvSpPr>
            <a:spLocks noGrp="1"/>
          </p:cNvSpPr>
          <p:nvPr>
            <p:ph sz="quarter" idx="4294967295"/>
          </p:nvPr>
        </p:nvSpPr>
        <p:spPr>
          <a:xfrm>
            <a:off x="6805881" y="6534766"/>
            <a:ext cx="1673700" cy="257774"/>
          </a:xfrm>
        </p:spPr>
        <p:txBody>
          <a:bodyPr anchor="ctr">
            <a:noAutofit/>
          </a:bodyPr>
          <a:lstStyle/>
          <a:p>
            <a:pPr marL="0" indent="0" algn="r">
              <a:buNone/>
            </a:pPr>
            <a:r>
              <a:rPr lang="en-US" sz="800" dirty="0">
                <a:latin typeface="+mn-lt"/>
              </a:rPr>
              <a:t>(b): Stephen McCabe</a:t>
            </a:r>
          </a:p>
        </p:txBody>
      </p:sp>
      <p:sp>
        <p:nvSpPr>
          <p:cNvPr id="8" name="Slide Number Placeholder 7">
            <a:extLst>
              <a:ext uri="{FF2B5EF4-FFF2-40B4-BE49-F238E27FC236}">
                <a16:creationId xmlns:a16="http://schemas.microsoft.com/office/drawing/2014/main" id="{01B1953F-B22D-4ABF-91FE-3E0AD8B294BF}"/>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79</a:t>
            </a:fld>
            <a:endParaRPr lang="en-IN"/>
          </a:p>
        </p:txBody>
      </p:sp>
    </p:spTree>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Title 1"/>
          <p:cNvSpPr>
            <a:spLocks noGrp="1" noChangeArrowheads="1"/>
          </p:cNvSpPr>
          <p:nvPr>
            <p:ph type="title"/>
          </p:nvPr>
        </p:nvSpPr>
        <p:spPr/>
        <p:txBody>
          <a:bodyPr/>
          <a:lstStyle/>
          <a:p>
            <a:r>
              <a:rPr lang="en-US" altLang="en-US" sz="3600" dirty="0"/>
              <a:t>Monocots and Eudicots</a:t>
            </a:r>
          </a:p>
        </p:txBody>
      </p:sp>
      <p:sp>
        <p:nvSpPr>
          <p:cNvPr id="52227" name="Content Plaveholder 2"/>
          <p:cNvSpPr>
            <a:spLocks noGrp="1" noChangeArrowheads="1"/>
          </p:cNvSpPr>
          <p:nvPr>
            <p:ph idx="1"/>
          </p:nvPr>
        </p:nvSpPr>
        <p:spPr>
          <a:xfrm>
            <a:off x="620976" y="1143000"/>
            <a:ext cx="7902048" cy="5332583"/>
          </a:xfrm>
        </p:spPr>
        <p:txBody>
          <a:bodyPr>
            <a:normAutofit/>
          </a:bodyPr>
          <a:lstStyle/>
          <a:p>
            <a:pPr algn="just">
              <a:spcAft>
                <a:spcPts val="0"/>
              </a:spcAft>
            </a:pPr>
            <a:r>
              <a:rPr lang="en-US" sz="2400" b="0" i="0" u="none" strike="noStrike" baseline="0" dirty="0"/>
              <a:t>Most flowering plants belong to one of two classes: </a:t>
            </a:r>
          </a:p>
          <a:p>
            <a:pPr lvl="1" algn="just">
              <a:spcAft>
                <a:spcPts val="0"/>
              </a:spcAft>
              <a:buFont typeface="Arial" panose="020B0604020202020204" pitchFamily="34" charset="0"/>
              <a:buChar char="•"/>
            </a:pPr>
            <a:r>
              <a:rPr lang="en-US" sz="2200" b="0" i="1" u="none" strike="noStrike" baseline="0" dirty="0" err="1"/>
              <a:t>Monocotyledones</a:t>
            </a:r>
            <a:r>
              <a:rPr lang="en-US" sz="2200" b="0" i="1" u="none" strike="noStrike" baseline="0" dirty="0"/>
              <a:t> </a:t>
            </a:r>
            <a:r>
              <a:rPr lang="en-US" sz="2200" b="0" u="none" strike="noStrike" baseline="0" dirty="0"/>
              <a:t>(</a:t>
            </a:r>
            <a:r>
              <a:rPr lang="en-US" sz="2200" b="1" i="0" u="none" strike="noStrike" baseline="0" dirty="0">
                <a:solidFill>
                  <a:srgbClr val="D90000"/>
                </a:solidFill>
              </a:rPr>
              <a:t>monocots</a:t>
            </a:r>
            <a:r>
              <a:rPr lang="en-US" sz="2200" i="0" u="none" strike="noStrike" baseline="0" dirty="0"/>
              <a:t>)</a:t>
            </a:r>
          </a:p>
          <a:p>
            <a:pPr marL="625475" lvl="2" algn="just">
              <a:buFont typeface="Arial" panose="020B0604020202020204" pitchFamily="34" charset="0"/>
              <a:buChar char="•"/>
            </a:pPr>
            <a:r>
              <a:rPr lang="en-US" sz="2000" b="0" i="0" u="none" strike="noStrike" baseline="0" dirty="0"/>
              <a:t>Examples include corn, tulips, pineapples, and sugarcane </a:t>
            </a:r>
            <a:endParaRPr lang="en-US" sz="2000" b="1" i="0" u="none" strike="noStrike" baseline="0" dirty="0"/>
          </a:p>
          <a:p>
            <a:pPr lvl="1" algn="just">
              <a:spcAft>
                <a:spcPts val="0"/>
              </a:spcAft>
              <a:buFont typeface="Arial" panose="020B0604020202020204" pitchFamily="34" charset="0"/>
              <a:buChar char="•"/>
            </a:pPr>
            <a:r>
              <a:rPr lang="en-US" sz="2200" b="0" i="1" u="none" strike="noStrike" baseline="0" dirty="0" err="1"/>
              <a:t>Eudicotyledones</a:t>
            </a:r>
            <a:r>
              <a:rPr lang="en-US" sz="2200" b="0" i="1" u="none" strike="noStrike" baseline="0" dirty="0"/>
              <a:t> </a:t>
            </a:r>
            <a:r>
              <a:rPr lang="en-US" sz="2200" b="0" u="none" strike="noStrike" baseline="0" dirty="0"/>
              <a:t>(</a:t>
            </a:r>
            <a:r>
              <a:rPr lang="en-US" sz="2200" b="1" i="0" u="none" strike="noStrike" baseline="0" dirty="0">
                <a:solidFill>
                  <a:srgbClr val="D90000"/>
                </a:solidFill>
              </a:rPr>
              <a:t>eudicots</a:t>
            </a:r>
            <a:r>
              <a:rPr lang="en-US" sz="2200" i="0" u="none" strike="noStrike" baseline="0" dirty="0"/>
              <a:t>)</a:t>
            </a:r>
            <a:r>
              <a:rPr lang="en-US" sz="2200" b="1" i="0" u="none" strike="noStrike" baseline="0" dirty="0"/>
              <a:t> </a:t>
            </a:r>
          </a:p>
          <a:p>
            <a:pPr marL="625475" lvl="2" algn="just">
              <a:spcAft>
                <a:spcPts val="0"/>
              </a:spcAft>
              <a:buFont typeface="Arial" panose="020B0604020202020204" pitchFamily="34" charset="0"/>
              <a:buChar char="•"/>
            </a:pPr>
            <a:r>
              <a:rPr lang="en-US" sz="2000" b="0" i="0" u="none" strike="noStrike" baseline="0" dirty="0"/>
              <a:t>Examples include cacti, strawberries, dandelions, poplars, and beans </a:t>
            </a:r>
            <a:endParaRPr lang="en-US" sz="2000" b="1" i="0" u="none" strike="noStrike" baseline="0" dirty="0"/>
          </a:p>
          <a:p>
            <a:pPr algn="just"/>
            <a:r>
              <a:rPr lang="en-US" sz="2400" dirty="0"/>
              <a:t>Cotyledons are the seed leaves containing nutrients that nourish the embryo</a:t>
            </a:r>
          </a:p>
          <a:p>
            <a:pPr lvl="1" algn="just">
              <a:spcAft>
                <a:spcPts val="0"/>
              </a:spcAft>
              <a:buFont typeface="Arial" panose="020B0604020202020204" pitchFamily="34" charset="0"/>
              <a:buChar char="•"/>
            </a:pPr>
            <a:r>
              <a:rPr lang="en-US" sz="2200" dirty="0"/>
              <a:t>Monocots: One cotyledon in seed</a:t>
            </a:r>
          </a:p>
          <a:p>
            <a:pPr lvl="1" algn="just">
              <a:spcAft>
                <a:spcPts val="0"/>
              </a:spcAft>
              <a:buFont typeface="Arial" panose="020B0604020202020204" pitchFamily="34" charset="0"/>
              <a:buChar char="•"/>
            </a:pPr>
            <a:r>
              <a:rPr lang="en-US" sz="2200" dirty="0"/>
              <a:t>Eudicots: Two cotyledons in seed</a:t>
            </a:r>
          </a:p>
        </p:txBody>
      </p:sp>
      <p:sp>
        <p:nvSpPr>
          <p:cNvPr id="4" name="Slide Number Placeholder 3">
            <a:extLst>
              <a:ext uri="{FF2B5EF4-FFF2-40B4-BE49-F238E27FC236}">
                <a16:creationId xmlns:a16="http://schemas.microsoft.com/office/drawing/2014/main" id="{21E44F10-DB0B-4C30-B017-ED66CA562F11}"/>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80</a:t>
            </a:fld>
            <a:endParaRPr lang="en-IN"/>
          </a:p>
        </p:txBody>
      </p:sp>
    </p:spTree>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4580AA-9BE9-4061-A8E8-9E6C0FE6A9F0}"/>
              </a:ext>
            </a:extLst>
          </p:cNvPr>
          <p:cNvSpPr>
            <a:spLocks noGrp="1"/>
          </p:cNvSpPr>
          <p:nvPr>
            <p:ph type="title"/>
          </p:nvPr>
        </p:nvSpPr>
        <p:spPr>
          <a:xfrm>
            <a:off x="0" y="1"/>
            <a:ext cx="9144000" cy="1093861"/>
          </a:xfrm>
        </p:spPr>
        <p:txBody>
          <a:bodyPr>
            <a:noAutofit/>
          </a:bodyPr>
          <a:lstStyle/>
          <a:p>
            <a:r>
              <a:rPr lang="en-US" dirty="0"/>
              <a:t>Key Features of Monocots and Eudicots</a:t>
            </a:r>
          </a:p>
        </p:txBody>
      </p:sp>
      <p:sp>
        <p:nvSpPr>
          <p:cNvPr id="3" name="Text Placeholder 2">
            <a:extLst>
              <a:ext uri="{FF2B5EF4-FFF2-40B4-BE49-F238E27FC236}">
                <a16:creationId xmlns:a16="http://schemas.microsoft.com/office/drawing/2014/main" id="{78C0F844-1E0C-47F5-9BC6-CF7C18CFD88D}"/>
              </a:ext>
            </a:extLst>
          </p:cNvPr>
          <p:cNvSpPr>
            <a:spLocks noGrp="1"/>
          </p:cNvSpPr>
          <p:nvPr>
            <p:ph type="body" sz="quarter" idx="19"/>
          </p:nvPr>
        </p:nvSpPr>
        <p:spPr>
          <a:xfrm>
            <a:off x="1524000" y="1189281"/>
            <a:ext cx="6096000" cy="349959"/>
          </a:xfrm>
        </p:spPr>
        <p:txBody>
          <a:bodyPr>
            <a:noAutofit/>
          </a:bodyPr>
          <a:lstStyle/>
          <a:p>
            <a:r>
              <a:rPr lang="en-US" sz="1800" b="1" dirty="0">
                <a:solidFill>
                  <a:srgbClr val="0070C0"/>
                </a:solidFill>
              </a:rPr>
              <a:t>Table 23.2 </a:t>
            </a:r>
            <a:r>
              <a:rPr lang="en-US" sz="1800" dirty="0"/>
              <a:t>Key Features of Monocots and Eudicots</a:t>
            </a:r>
          </a:p>
        </p:txBody>
      </p:sp>
      <p:sp>
        <p:nvSpPr>
          <p:cNvPr id="9" name="Table summary 4" hidden="1">
            <a:extLst>
              <a:ext uri="{FF2B5EF4-FFF2-40B4-BE49-F238E27FC236}">
                <a16:creationId xmlns:a16="http://schemas.microsoft.com/office/drawing/2014/main" id="{3D43B3BF-41D3-4689-8CEF-F4FA6582487E}"/>
              </a:ext>
            </a:extLst>
          </p:cNvPr>
          <p:cNvSpPr>
            <a:spLocks noGrp="1"/>
          </p:cNvSpPr>
          <p:nvPr>
            <p:ph type="body" sz="quarter" idx="20"/>
          </p:nvPr>
        </p:nvSpPr>
        <p:spPr>
          <a:xfrm>
            <a:off x="2419828" y="2971800"/>
            <a:ext cx="4304343" cy="914400"/>
          </a:xfrm>
        </p:spPr>
        <p:txBody>
          <a:bodyPr>
            <a:normAutofit fontScale="77500" lnSpcReduction="20000"/>
          </a:bodyPr>
          <a:lstStyle/>
          <a:p>
            <a:r>
              <a:rPr lang="en-US" dirty="0"/>
              <a:t>Table divided into two columns summarizes key features of monocots and eudicots. The column headers are: Monocots and eudicots.</a:t>
            </a:r>
            <a:endParaRPr lang="en-IN" dirty="0"/>
          </a:p>
        </p:txBody>
      </p:sp>
      <p:graphicFrame>
        <p:nvGraphicFramePr>
          <p:cNvPr id="13" name="Table 2">
            <a:extLst>
              <a:ext uri="{FF2B5EF4-FFF2-40B4-BE49-F238E27FC236}">
                <a16:creationId xmlns:a16="http://schemas.microsoft.com/office/drawing/2014/main" id="{D95960BF-C50D-40E4-A776-A6EA1A6E303E}"/>
              </a:ext>
            </a:extLst>
          </p:cNvPr>
          <p:cNvGraphicFramePr>
            <a:graphicFrameLocks noGrp="1"/>
          </p:cNvGraphicFramePr>
          <p:nvPr>
            <p:extLst>
              <p:ext uri="{D42A27DB-BD31-4B8C-83A1-F6EECF244321}">
                <p14:modId xmlns:p14="http://schemas.microsoft.com/office/powerpoint/2010/main" val="2215311"/>
              </p:ext>
            </p:extLst>
          </p:nvPr>
        </p:nvGraphicFramePr>
        <p:xfrm>
          <a:off x="1524000" y="1539240"/>
          <a:ext cx="6096000" cy="3779520"/>
        </p:xfrm>
        <a:graphic>
          <a:graphicData uri="http://schemas.openxmlformats.org/drawingml/2006/table">
            <a:tbl>
              <a:tblPr firstRow="1" bandRow="1">
                <a:tableStyleId>{5940675A-B579-460E-94D1-54222C63F5DA}</a:tableStyleId>
              </a:tblPr>
              <a:tblGrid>
                <a:gridCol w="3048000">
                  <a:extLst>
                    <a:ext uri="{9D8B030D-6E8A-4147-A177-3AD203B41FA5}">
                      <a16:colId xmlns:a16="http://schemas.microsoft.com/office/drawing/2014/main" val="2725883614"/>
                    </a:ext>
                  </a:extLst>
                </a:gridCol>
                <a:gridCol w="3048000">
                  <a:extLst>
                    <a:ext uri="{9D8B030D-6E8A-4147-A177-3AD203B41FA5}">
                      <a16:colId xmlns:a16="http://schemas.microsoft.com/office/drawing/2014/main" val="1773018107"/>
                    </a:ext>
                  </a:extLst>
                </a:gridCol>
              </a:tblGrid>
              <a:tr h="370840">
                <a:tc>
                  <a:txBody>
                    <a:bodyPr/>
                    <a:lstStyle/>
                    <a:p>
                      <a:r>
                        <a:rPr lang="en-IN" b="1" dirty="0"/>
                        <a:t>Monocots</a:t>
                      </a:r>
                    </a:p>
                  </a:txBody>
                  <a:tcPr/>
                </a:tc>
                <a:tc>
                  <a:txBody>
                    <a:bodyPr/>
                    <a:lstStyle/>
                    <a:p>
                      <a:r>
                        <a:rPr lang="en-IN" b="1" dirty="0"/>
                        <a:t>Eudicots</a:t>
                      </a:r>
                    </a:p>
                  </a:txBody>
                  <a:tcPr/>
                </a:tc>
                <a:extLst>
                  <a:ext uri="{0D108BD9-81ED-4DB2-BD59-A6C34878D82A}">
                    <a16:rowId xmlns:a16="http://schemas.microsoft.com/office/drawing/2014/main" val="3122802304"/>
                  </a:ext>
                </a:extLst>
              </a:tr>
              <a:tr h="370840">
                <a:tc>
                  <a:txBody>
                    <a:bodyPr/>
                    <a:lstStyle/>
                    <a:p>
                      <a:r>
                        <a:rPr lang="en-IN" dirty="0"/>
                        <a:t>One cotyledon</a:t>
                      </a:r>
                    </a:p>
                  </a:txBody>
                  <a:tcPr/>
                </a:tc>
                <a:tc>
                  <a:txBody>
                    <a:bodyPr/>
                    <a:lstStyle/>
                    <a:p>
                      <a:r>
                        <a:rPr lang="en-IN" dirty="0"/>
                        <a:t>Two cotyledons</a:t>
                      </a:r>
                    </a:p>
                  </a:txBody>
                  <a:tcPr/>
                </a:tc>
                <a:extLst>
                  <a:ext uri="{0D108BD9-81ED-4DB2-BD59-A6C34878D82A}">
                    <a16:rowId xmlns:a16="http://schemas.microsoft.com/office/drawing/2014/main" val="1472733600"/>
                  </a:ext>
                </a:extLst>
              </a:tr>
              <a:tr h="370840">
                <a:tc>
                  <a:txBody>
                    <a:bodyPr/>
                    <a:lstStyle/>
                    <a:p>
                      <a:r>
                        <a:rPr lang="en-US" dirty="0"/>
                        <a:t>Flower parts In threes or multiples of three</a:t>
                      </a:r>
                      <a:endParaRPr lang="en-IN" dirty="0"/>
                    </a:p>
                  </a:txBody>
                  <a:tcPr/>
                </a:tc>
                <a:tc>
                  <a:txBody>
                    <a:bodyPr/>
                    <a:lstStyle/>
                    <a:p>
                      <a:r>
                        <a:rPr lang="en-US" dirty="0"/>
                        <a:t>Flower parts In fours or fives or multiples of four or five</a:t>
                      </a:r>
                      <a:endParaRPr lang="en-IN" dirty="0"/>
                    </a:p>
                  </a:txBody>
                  <a:tcPr/>
                </a:tc>
                <a:extLst>
                  <a:ext uri="{0D108BD9-81ED-4DB2-BD59-A6C34878D82A}">
                    <a16:rowId xmlns:a16="http://schemas.microsoft.com/office/drawing/2014/main" val="483335180"/>
                  </a:ext>
                </a:extLst>
              </a:tr>
              <a:tr h="370840">
                <a:tc>
                  <a:txBody>
                    <a:bodyPr/>
                    <a:lstStyle/>
                    <a:p>
                      <a:r>
                        <a:rPr lang="en-US" dirty="0"/>
                        <a:t>Pollen grain with one pore</a:t>
                      </a:r>
                      <a:endParaRPr lang="en-IN" dirty="0"/>
                    </a:p>
                  </a:txBody>
                  <a:tcPr/>
                </a:tc>
                <a:tc>
                  <a:txBody>
                    <a:bodyPr/>
                    <a:lstStyle/>
                    <a:p>
                      <a:r>
                        <a:rPr lang="en-US" dirty="0"/>
                        <a:t>Pollen grain with three pores</a:t>
                      </a:r>
                      <a:endParaRPr lang="en-IN" dirty="0"/>
                    </a:p>
                  </a:txBody>
                  <a:tcPr/>
                </a:tc>
                <a:extLst>
                  <a:ext uri="{0D108BD9-81ED-4DB2-BD59-A6C34878D82A}">
                    <a16:rowId xmlns:a16="http://schemas.microsoft.com/office/drawing/2014/main" val="247661394"/>
                  </a:ext>
                </a:extLst>
              </a:tr>
              <a:tr h="370840">
                <a:tc>
                  <a:txBody>
                    <a:bodyPr/>
                    <a:lstStyle/>
                    <a:p>
                      <a:r>
                        <a:rPr lang="en-IN" dirty="0"/>
                        <a:t>Usually herbaceous</a:t>
                      </a:r>
                    </a:p>
                  </a:txBody>
                  <a:tcPr/>
                </a:tc>
                <a:tc>
                  <a:txBody>
                    <a:bodyPr/>
                    <a:lstStyle/>
                    <a:p>
                      <a:r>
                        <a:rPr lang="en-IN" dirty="0"/>
                        <a:t>Woody or herbaceous</a:t>
                      </a:r>
                    </a:p>
                  </a:txBody>
                  <a:tcPr/>
                </a:tc>
                <a:extLst>
                  <a:ext uri="{0D108BD9-81ED-4DB2-BD59-A6C34878D82A}">
                    <a16:rowId xmlns:a16="http://schemas.microsoft.com/office/drawing/2014/main" val="422726303"/>
                  </a:ext>
                </a:extLst>
              </a:tr>
              <a:tr h="370840">
                <a:tc>
                  <a:txBody>
                    <a:bodyPr/>
                    <a:lstStyle/>
                    <a:p>
                      <a:r>
                        <a:rPr lang="en-IN" dirty="0"/>
                        <a:t>Usually parallel venation</a:t>
                      </a:r>
                    </a:p>
                  </a:txBody>
                  <a:tcPr/>
                </a:tc>
                <a:tc>
                  <a:txBody>
                    <a:bodyPr/>
                    <a:lstStyle/>
                    <a:p>
                      <a:r>
                        <a:rPr lang="en-IN" dirty="0"/>
                        <a:t>Usually net venation</a:t>
                      </a:r>
                    </a:p>
                  </a:txBody>
                  <a:tcPr/>
                </a:tc>
                <a:extLst>
                  <a:ext uri="{0D108BD9-81ED-4DB2-BD59-A6C34878D82A}">
                    <a16:rowId xmlns:a16="http://schemas.microsoft.com/office/drawing/2014/main" val="42642740"/>
                  </a:ext>
                </a:extLst>
              </a:tr>
              <a:tr h="370840">
                <a:tc>
                  <a:txBody>
                    <a:bodyPr/>
                    <a:lstStyle/>
                    <a:p>
                      <a:r>
                        <a:rPr lang="en-IN" dirty="0"/>
                        <a:t>Scattered bundles In stem</a:t>
                      </a:r>
                    </a:p>
                  </a:txBody>
                  <a:tcPr/>
                </a:tc>
                <a:tc>
                  <a:txBody>
                    <a:bodyPr/>
                    <a:lstStyle/>
                    <a:p>
                      <a:r>
                        <a:rPr lang="en-US" dirty="0"/>
                        <a:t>Vascular bundles in a ring</a:t>
                      </a:r>
                      <a:endParaRPr lang="en-IN" dirty="0"/>
                    </a:p>
                  </a:txBody>
                  <a:tcPr/>
                </a:tc>
                <a:extLst>
                  <a:ext uri="{0D108BD9-81ED-4DB2-BD59-A6C34878D82A}">
                    <a16:rowId xmlns:a16="http://schemas.microsoft.com/office/drawing/2014/main" val="496884887"/>
                  </a:ext>
                </a:extLst>
              </a:tr>
              <a:tr h="370840">
                <a:tc>
                  <a:txBody>
                    <a:bodyPr/>
                    <a:lstStyle/>
                    <a:p>
                      <a:r>
                        <a:rPr lang="en-IN" dirty="0"/>
                        <a:t>Fibrous root system</a:t>
                      </a:r>
                    </a:p>
                  </a:txBody>
                  <a:tcPr/>
                </a:tc>
                <a:tc>
                  <a:txBody>
                    <a:bodyPr/>
                    <a:lstStyle/>
                    <a:p>
                      <a:r>
                        <a:rPr lang="en-IN" dirty="0"/>
                        <a:t>Taproot system</a:t>
                      </a:r>
                    </a:p>
                  </a:txBody>
                  <a:tcPr/>
                </a:tc>
                <a:extLst>
                  <a:ext uri="{0D108BD9-81ED-4DB2-BD59-A6C34878D82A}">
                    <a16:rowId xmlns:a16="http://schemas.microsoft.com/office/drawing/2014/main" val="1482973485"/>
                  </a:ext>
                </a:extLst>
              </a:tr>
            </a:tbl>
          </a:graphicData>
        </a:graphic>
      </p:graphicFrame>
      <p:sp>
        <p:nvSpPr>
          <p:cNvPr id="4" name="Slide Number Placeholder 5">
            <a:extLst>
              <a:ext uri="{FF2B5EF4-FFF2-40B4-BE49-F238E27FC236}">
                <a16:creationId xmlns:a16="http://schemas.microsoft.com/office/drawing/2014/main" id="{EC435CD7-8516-4FB4-A5DC-660AB6FA8C98}"/>
              </a:ext>
            </a:extLst>
          </p:cNvPr>
          <p:cNvSpPr>
            <a:spLocks noGrp="1"/>
          </p:cNvSpPr>
          <p:nvPr>
            <p:ph type="sldNum" sz="quarter" idx="4"/>
          </p:nvPr>
        </p:nvSpPr>
        <p:spPr/>
        <p:txBody>
          <a:bodyPr/>
          <a:lstStyle/>
          <a:p>
            <a:fld id="{08F9AD23-695F-4808-8E99-6281554D0F77}" type="slidenum">
              <a:rPr lang="en-IN" smtClean="0"/>
              <a:t>81</a:t>
            </a:fld>
            <a:endParaRPr lang="en-IN"/>
          </a:p>
        </p:txBody>
      </p:sp>
    </p:spTree>
    <p:extLst>
      <p:ext uri="{BB962C8B-B14F-4D97-AF65-F5344CB8AC3E}">
        <p14:creationId xmlns:p14="http://schemas.microsoft.com/office/powerpoint/2010/main" val="412396121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Title 1"/>
          <p:cNvSpPr>
            <a:spLocks noGrp="1" noChangeArrowheads="1"/>
          </p:cNvSpPr>
          <p:nvPr>
            <p:ph type="title"/>
          </p:nvPr>
        </p:nvSpPr>
        <p:spPr/>
        <p:txBody>
          <a:bodyPr>
            <a:normAutofit/>
          </a:bodyPr>
          <a:lstStyle/>
          <a:p>
            <a:r>
              <a:rPr lang="en-US" altLang="en-US" dirty="0"/>
              <a:t>Flower Diversity</a:t>
            </a:r>
          </a:p>
        </p:txBody>
      </p:sp>
      <p:pic>
        <p:nvPicPr>
          <p:cNvPr id="10" name="Picture 2" descr="A) Three white colored petals (monocots). B) Five petals flower in white with stripes of pink (eudicot).">
            <a:extLst>
              <a:ext uri="{FF2B5EF4-FFF2-40B4-BE49-F238E27FC236}">
                <a16:creationId xmlns:a16="http://schemas.microsoft.com/office/drawing/2014/main" id="{C01D86AB-C3B3-49D6-9D2C-5A71BB2374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20608" y="817445"/>
            <a:ext cx="2302784" cy="4857638"/>
          </a:xfrm>
          <a:prstGeom prst="rect">
            <a:avLst/>
          </a:prstGeom>
        </p:spPr>
      </p:pic>
      <p:sp>
        <p:nvSpPr>
          <p:cNvPr id="6" name="Content Placeholder 3"/>
          <p:cNvSpPr>
            <a:spLocks noGrp="1"/>
          </p:cNvSpPr>
          <p:nvPr>
            <p:ph type="body" sz="quarter" idx="18"/>
          </p:nvPr>
        </p:nvSpPr>
        <p:spPr>
          <a:xfrm>
            <a:off x="520699" y="5971806"/>
            <a:ext cx="8101481" cy="314325"/>
          </a:xfrm>
        </p:spPr>
        <p:txBody>
          <a:bodyPr>
            <a:normAutofit/>
          </a:bodyPr>
          <a:lstStyle/>
          <a:p>
            <a:r>
              <a:rPr lang="en-US" sz="1200" dirty="0"/>
              <a:t>Figure 23.21</a:t>
            </a:r>
          </a:p>
        </p:txBody>
      </p:sp>
      <p:sp>
        <p:nvSpPr>
          <p:cNvPr id="12" name="Text Placeholder 5">
            <a:extLst>
              <a:ext uri="{FF2B5EF4-FFF2-40B4-BE49-F238E27FC236}">
                <a16:creationId xmlns:a16="http://schemas.microsoft.com/office/drawing/2014/main" id="{95B933A6-DFA1-4FE1-BCB5-D33D7512040B}"/>
              </a:ext>
            </a:extLst>
          </p:cNvPr>
          <p:cNvSpPr>
            <a:spLocks noGrp="1"/>
          </p:cNvSpPr>
          <p:nvPr>
            <p:ph type="body" sz="quarter" idx="21"/>
          </p:nvPr>
        </p:nvSpPr>
        <p:spPr/>
        <p:txBody>
          <a:bodyPr/>
          <a:lstStyle/>
          <a:p>
            <a:r>
              <a:rPr lang="en-US" sz="800" dirty="0"/>
              <a:t>(a): Ed Reschke/Stone/Getty Images; (b) Steven P. Lynch</a:t>
            </a:r>
          </a:p>
        </p:txBody>
      </p:sp>
      <p:sp>
        <p:nvSpPr>
          <p:cNvPr id="9" name="Slide Number Placeholder 6">
            <a:extLst>
              <a:ext uri="{FF2B5EF4-FFF2-40B4-BE49-F238E27FC236}">
                <a16:creationId xmlns:a16="http://schemas.microsoft.com/office/drawing/2014/main" id="{E4963147-2513-4906-A70D-3EB5CF45BEBB}"/>
              </a:ext>
            </a:extLst>
          </p:cNvPr>
          <p:cNvSpPr>
            <a:spLocks noGrp="1"/>
          </p:cNvSpPr>
          <p:nvPr>
            <p:ph type="sldNum" sz="quarter" idx="4"/>
          </p:nvPr>
        </p:nvSpPr>
        <p:spPr/>
        <p:txBody>
          <a:bodyPr/>
          <a:lstStyle/>
          <a:p>
            <a:fld id="{08F9AD23-695F-4808-8E99-6281554D0F77}" type="slidenum">
              <a:rPr lang="en-IN" smtClean="0"/>
              <a:t>82</a:t>
            </a:fld>
            <a:endParaRPr lang="en-IN"/>
          </a:p>
        </p:txBody>
      </p:sp>
    </p:spTree>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itle 1"/>
          <p:cNvSpPr>
            <a:spLocks noGrp="1" noChangeArrowheads="1"/>
          </p:cNvSpPr>
          <p:nvPr>
            <p:ph type="title"/>
          </p:nvPr>
        </p:nvSpPr>
        <p:spPr/>
        <p:txBody>
          <a:bodyPr/>
          <a:lstStyle/>
          <a:p>
            <a:r>
              <a:rPr lang="en-US" altLang="en-US" sz="3600" dirty="0"/>
              <a:t>The Flower</a:t>
            </a:r>
          </a:p>
        </p:txBody>
      </p:sp>
      <p:sp>
        <p:nvSpPr>
          <p:cNvPr id="50179" name="Content Placeholder 2"/>
          <p:cNvSpPr>
            <a:spLocks noGrp="1" noChangeArrowheads="1"/>
          </p:cNvSpPr>
          <p:nvPr>
            <p:ph idx="1"/>
          </p:nvPr>
        </p:nvSpPr>
        <p:spPr>
          <a:xfrm>
            <a:off x="296247" y="987068"/>
            <a:ext cx="8229599" cy="5245290"/>
          </a:xfrm>
        </p:spPr>
        <p:txBody>
          <a:bodyPr>
            <a:noAutofit/>
          </a:bodyPr>
          <a:lstStyle/>
          <a:p>
            <a:pPr algn="just">
              <a:spcAft>
                <a:spcPts val="0"/>
              </a:spcAft>
            </a:pPr>
            <a:r>
              <a:rPr lang="en-US" sz="2400" b="0" i="0" u="none" strike="noStrike" baseline="0" dirty="0"/>
              <a:t>Although </a:t>
            </a:r>
            <a:r>
              <a:rPr lang="en-US" sz="2400" b="1" i="0" u="none" strike="noStrike" baseline="0" dirty="0">
                <a:solidFill>
                  <a:srgbClr val="D90000"/>
                </a:solidFill>
              </a:rPr>
              <a:t>flowers</a:t>
            </a:r>
            <a:r>
              <a:rPr lang="en-US" sz="2400" b="1" i="0" u="none" strike="noStrike" baseline="0" dirty="0"/>
              <a:t> </a:t>
            </a:r>
            <a:r>
              <a:rPr lang="en-US" sz="2400" b="0" i="0" u="none" strike="noStrike" baseline="0" dirty="0"/>
              <a:t>vary widely in appearance, most have certain structures in common:</a:t>
            </a:r>
          </a:p>
          <a:p>
            <a:pPr marL="266700" lvl="1" indent="-266700" algn="just">
              <a:spcAft>
                <a:spcPts val="0"/>
              </a:spcAft>
              <a:buFont typeface="Arial" panose="020B0604020202020204" pitchFamily="34" charset="0"/>
              <a:buChar char="•"/>
            </a:pPr>
            <a:r>
              <a:rPr lang="en-US" sz="2200" b="0" i="0" u="none" strike="noStrike" baseline="0" dirty="0"/>
              <a:t> </a:t>
            </a:r>
            <a:r>
              <a:rPr lang="en-US" sz="2200" b="1" i="0" u="none" strike="noStrike" baseline="0" dirty="0">
                <a:solidFill>
                  <a:srgbClr val="D90000"/>
                </a:solidFill>
              </a:rPr>
              <a:t>Sepals</a:t>
            </a:r>
            <a:r>
              <a:rPr lang="en-US" sz="2200" i="0" u="none" strike="noStrike" baseline="0" dirty="0"/>
              <a:t> are </a:t>
            </a:r>
            <a:r>
              <a:rPr lang="en-US" sz="2200" b="0" i="0" u="none" strike="noStrike" baseline="0" dirty="0"/>
              <a:t>collectively called the calyx</a:t>
            </a:r>
          </a:p>
          <a:p>
            <a:pPr marL="717550" lvl="2" indent="-358775" algn="just">
              <a:spcAft>
                <a:spcPts val="0"/>
              </a:spcAft>
              <a:buFont typeface="Arial" panose="020B0604020202020204" pitchFamily="34" charset="0"/>
              <a:buChar char="•"/>
            </a:pPr>
            <a:r>
              <a:rPr lang="en-US" sz="2000" dirty="0"/>
              <a:t>P</a:t>
            </a:r>
            <a:r>
              <a:rPr lang="en-US" sz="2000" b="0" i="0" u="none" strike="noStrike" baseline="0" dirty="0"/>
              <a:t>rotect the flower bud before it opens</a:t>
            </a:r>
          </a:p>
          <a:p>
            <a:pPr marL="717550" lvl="2" indent="-358775" algn="just">
              <a:spcAft>
                <a:spcPts val="0"/>
              </a:spcAft>
              <a:buFont typeface="Arial" panose="020B0604020202020204" pitchFamily="34" charset="0"/>
              <a:buChar char="•"/>
            </a:pPr>
            <a:r>
              <a:rPr lang="en-US" sz="2000" dirty="0"/>
              <a:t>S</a:t>
            </a:r>
            <a:r>
              <a:rPr lang="en-US" sz="2000" b="0" i="0" u="none" strike="noStrike" baseline="0" dirty="0"/>
              <a:t>epals may drop off or may be colored like the petals</a:t>
            </a:r>
          </a:p>
          <a:p>
            <a:pPr marL="717550" lvl="2" indent="-358775" algn="just">
              <a:spcAft>
                <a:spcPts val="0"/>
              </a:spcAft>
              <a:buFont typeface="Arial" panose="020B0604020202020204" pitchFamily="34" charset="0"/>
              <a:buChar char="•"/>
            </a:pPr>
            <a:r>
              <a:rPr lang="en-US" sz="2000" b="0" i="0" u="none" strike="noStrike" baseline="0" dirty="0"/>
              <a:t>Usually, however, sepals are green and remain attached to the flower stalk. </a:t>
            </a:r>
          </a:p>
          <a:p>
            <a:pPr marL="358775" lvl="1">
              <a:spcAft>
                <a:spcPts val="0"/>
              </a:spcAft>
              <a:buFont typeface="Arial" panose="020B0604020202020204" pitchFamily="34" charset="0"/>
              <a:buChar char="•"/>
            </a:pPr>
            <a:r>
              <a:rPr lang="en-US" sz="2200" b="1" dirty="0">
                <a:solidFill>
                  <a:srgbClr val="D90000"/>
                </a:solidFill>
              </a:rPr>
              <a:t>P</a:t>
            </a:r>
            <a:r>
              <a:rPr lang="en-US" sz="2200" b="1" i="0" u="none" strike="noStrike" baseline="0" dirty="0">
                <a:solidFill>
                  <a:srgbClr val="D90000"/>
                </a:solidFill>
              </a:rPr>
              <a:t>etals</a:t>
            </a:r>
            <a:r>
              <a:rPr lang="en-US" sz="2200" b="1" i="0" u="none" strike="noStrike" baseline="0" dirty="0"/>
              <a:t> </a:t>
            </a:r>
            <a:r>
              <a:rPr lang="en-US" sz="2200" i="0" u="none" strike="noStrike" baseline="0" dirty="0"/>
              <a:t>are</a:t>
            </a:r>
            <a:r>
              <a:rPr lang="en-US" sz="2200" b="1" i="0" u="none" strike="noStrike" baseline="0" dirty="0"/>
              <a:t> </a:t>
            </a:r>
            <a:r>
              <a:rPr lang="en-US" sz="2200" b="0" i="0" u="none" strike="noStrike" baseline="0" dirty="0"/>
              <a:t>collectively called the corolla</a:t>
            </a:r>
          </a:p>
          <a:p>
            <a:pPr marL="717550" lvl="2" indent="-358775">
              <a:spcAft>
                <a:spcPts val="0"/>
              </a:spcAft>
              <a:buFont typeface="Arial" panose="020B0604020202020204" pitchFamily="34" charset="0"/>
              <a:buChar char="•"/>
            </a:pPr>
            <a:r>
              <a:rPr lang="en-US" sz="2000" b="0" i="0" u="none" strike="noStrike" baseline="0" dirty="0"/>
              <a:t>Very diverse in size, shape, and color</a:t>
            </a:r>
          </a:p>
          <a:p>
            <a:pPr marL="717550" lvl="2" indent="-358775">
              <a:spcAft>
                <a:spcPts val="0"/>
              </a:spcAft>
              <a:buFont typeface="Arial" panose="020B0604020202020204" pitchFamily="34" charset="0"/>
              <a:buChar char="•"/>
            </a:pPr>
            <a:r>
              <a:rPr lang="en-US" sz="2000" dirty="0"/>
              <a:t>P</a:t>
            </a:r>
            <a:r>
              <a:rPr lang="en-US" sz="2000" b="0" i="0" u="none" strike="noStrike" baseline="0" dirty="0"/>
              <a:t>etals are often used to attract a particular pollinator </a:t>
            </a:r>
          </a:p>
        </p:txBody>
      </p:sp>
      <p:sp>
        <p:nvSpPr>
          <p:cNvPr id="4" name="Slide Number Placeholder 3">
            <a:extLst>
              <a:ext uri="{FF2B5EF4-FFF2-40B4-BE49-F238E27FC236}">
                <a16:creationId xmlns:a16="http://schemas.microsoft.com/office/drawing/2014/main" id="{8577082B-6925-45EF-BC1F-4D7448F270C7}"/>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83</a:t>
            </a:fld>
            <a:endParaRPr lang="en-IN"/>
          </a:p>
        </p:txBody>
      </p:sp>
    </p:spTree>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itle 1"/>
          <p:cNvSpPr>
            <a:spLocks noGrp="1" noChangeArrowheads="1"/>
          </p:cNvSpPr>
          <p:nvPr>
            <p:ph type="title"/>
          </p:nvPr>
        </p:nvSpPr>
        <p:spPr>
          <a:xfrm>
            <a:off x="342900" y="12031"/>
            <a:ext cx="8458200" cy="685800"/>
          </a:xfrm>
        </p:spPr>
        <p:txBody>
          <a:bodyPr/>
          <a:lstStyle/>
          <a:p>
            <a:r>
              <a:rPr lang="en-US" altLang="en-US" sz="3600" dirty="0"/>
              <a:t>Parts of Flower</a:t>
            </a:r>
          </a:p>
        </p:txBody>
      </p:sp>
      <p:sp>
        <p:nvSpPr>
          <p:cNvPr id="50179" name="Content Placeholder 2"/>
          <p:cNvSpPr>
            <a:spLocks noGrp="1" noChangeArrowheads="1"/>
          </p:cNvSpPr>
          <p:nvPr>
            <p:ph idx="1"/>
          </p:nvPr>
        </p:nvSpPr>
        <p:spPr>
          <a:xfrm>
            <a:off x="102198" y="794150"/>
            <a:ext cx="8939604" cy="5870932"/>
          </a:xfrm>
        </p:spPr>
        <p:txBody>
          <a:bodyPr>
            <a:noAutofit/>
          </a:bodyPr>
          <a:lstStyle/>
          <a:p>
            <a:pPr marL="1588" lvl="1" indent="0">
              <a:buNone/>
            </a:pPr>
            <a:r>
              <a:rPr lang="en-US" sz="2400" b="1" i="0" u="none" strike="noStrike" baseline="0" dirty="0">
                <a:solidFill>
                  <a:srgbClr val="D90000"/>
                </a:solidFill>
              </a:rPr>
              <a:t>Stamens</a:t>
            </a:r>
            <a:r>
              <a:rPr lang="en-US" sz="2400" b="0" i="0" u="none" strike="noStrike" baseline="0" dirty="0"/>
              <a:t> are the male structures </a:t>
            </a:r>
            <a:r>
              <a:rPr lang="en-US" sz="2400" dirty="0"/>
              <a:t>and consist </a:t>
            </a:r>
            <a:r>
              <a:rPr lang="en-US" sz="2400" b="0" i="0" u="none" strike="noStrike" baseline="0" dirty="0"/>
              <a:t>of two parts: </a:t>
            </a:r>
          </a:p>
          <a:p>
            <a:pPr marL="358775" lvl="2" indent="-358775">
              <a:spcAft>
                <a:spcPts val="0"/>
              </a:spcAft>
              <a:buFont typeface="Arial" panose="020B0604020202020204" pitchFamily="34" charset="0"/>
              <a:buChar char="•"/>
            </a:pPr>
            <a:r>
              <a:rPr lang="en-US" sz="2200" b="0" i="0" u="none" strike="noStrike" baseline="0" dirty="0"/>
              <a:t>Filament: a slender stalk that holds up the anther</a:t>
            </a:r>
          </a:p>
          <a:p>
            <a:pPr marL="358775" lvl="2" indent="-358775">
              <a:spcAft>
                <a:spcPts val="0"/>
              </a:spcAft>
              <a:buFont typeface="Arial" panose="020B0604020202020204" pitchFamily="34" charset="0"/>
              <a:buChar char="•"/>
            </a:pPr>
            <a:r>
              <a:rPr lang="en-US" sz="2200" dirty="0"/>
              <a:t>Anther: saclike container that produces pollen</a:t>
            </a:r>
          </a:p>
          <a:p>
            <a:pPr marL="1588" lvl="1" indent="0">
              <a:spcAft>
                <a:spcPts val="0"/>
              </a:spcAft>
              <a:buNone/>
            </a:pPr>
            <a:r>
              <a:rPr lang="en-US" sz="2400" b="1" i="0" u="none" strike="noStrike" baseline="0" dirty="0">
                <a:solidFill>
                  <a:srgbClr val="D90000"/>
                </a:solidFill>
              </a:rPr>
              <a:t>Carpels</a:t>
            </a:r>
            <a:r>
              <a:rPr lang="en-US" sz="2400" b="1" i="0" u="none" strike="noStrike" baseline="0" dirty="0"/>
              <a:t> </a:t>
            </a:r>
            <a:r>
              <a:rPr lang="en-US" sz="2400" i="0" u="none" strike="noStrike" baseline="0" dirty="0"/>
              <a:t>are the female structure and are comprised of</a:t>
            </a:r>
            <a:r>
              <a:rPr lang="en-US" sz="2400" b="1" i="0" u="none" strike="noStrike" baseline="0" dirty="0"/>
              <a:t> </a:t>
            </a:r>
            <a:r>
              <a:rPr lang="en-US" sz="2400" b="0" i="0" u="none" strike="noStrike" baseline="0" dirty="0"/>
              <a:t>three major regions: </a:t>
            </a:r>
          </a:p>
          <a:p>
            <a:pPr marL="358775" lvl="2" indent="-358775">
              <a:spcAft>
                <a:spcPts val="0"/>
              </a:spcAft>
              <a:buFont typeface="Arial" panose="020B0604020202020204" pitchFamily="34" charset="0"/>
              <a:buChar char="•"/>
            </a:pPr>
            <a:r>
              <a:rPr lang="en-US" sz="2200" dirty="0"/>
              <a:t>S</a:t>
            </a:r>
            <a:r>
              <a:rPr lang="en-US" sz="2200" b="0" i="0" u="none" strike="noStrike" baseline="0" dirty="0"/>
              <a:t>tigma, an enlarged, sticky knob</a:t>
            </a:r>
          </a:p>
          <a:p>
            <a:pPr marL="358775" lvl="2" indent="-358775">
              <a:spcAft>
                <a:spcPts val="0"/>
              </a:spcAft>
              <a:buFont typeface="Arial" panose="020B0604020202020204" pitchFamily="34" charset="0"/>
              <a:buChar char="•"/>
            </a:pPr>
            <a:r>
              <a:rPr lang="en-US" sz="2200" b="0" i="0" u="none" strike="noStrike" baseline="0" dirty="0"/>
              <a:t>Style, a slender stalk</a:t>
            </a:r>
          </a:p>
          <a:p>
            <a:pPr marL="358775" lvl="2" indent="-358775">
              <a:spcAft>
                <a:spcPts val="0"/>
              </a:spcAft>
              <a:buFont typeface="Arial" panose="020B0604020202020204" pitchFamily="34" charset="0"/>
              <a:buChar char="•"/>
            </a:pPr>
            <a:r>
              <a:rPr lang="en-US" sz="2200" b="1" dirty="0">
                <a:solidFill>
                  <a:srgbClr val="D90000"/>
                </a:solidFill>
              </a:rPr>
              <a:t>O</a:t>
            </a:r>
            <a:r>
              <a:rPr lang="en-US" sz="2200" b="1" i="0" u="none" strike="noStrike" baseline="0" dirty="0">
                <a:solidFill>
                  <a:srgbClr val="D90000"/>
                </a:solidFill>
              </a:rPr>
              <a:t>vary</a:t>
            </a:r>
            <a:r>
              <a:rPr lang="en-US" sz="2200" i="0" u="none" strike="noStrike" baseline="0" dirty="0"/>
              <a:t>,</a:t>
            </a:r>
            <a:r>
              <a:rPr lang="en-US" sz="2200" b="1" i="0" u="none" strike="noStrike" baseline="0" dirty="0"/>
              <a:t> </a:t>
            </a:r>
            <a:r>
              <a:rPr lang="en-US" sz="2200" b="0" i="0" u="none" strike="noStrike" baseline="0" dirty="0"/>
              <a:t>an enlarged base that encloses one or more ovules</a:t>
            </a:r>
          </a:p>
          <a:p>
            <a:pPr marL="625475" lvl="3" indent="-266700">
              <a:buFont typeface="Arial" panose="020B0604020202020204" pitchFamily="34" charset="0"/>
              <a:buChar char="•"/>
            </a:pPr>
            <a:r>
              <a:rPr lang="en-US" sz="2000" dirty="0"/>
              <a:t>O</a:t>
            </a:r>
            <a:r>
              <a:rPr lang="en-US" sz="2000" b="0" i="0" u="none" strike="noStrike" baseline="0" dirty="0"/>
              <a:t>vule becomes the seed, and the ovary becomes the fruit. Fruit is often instrumental in the distribution of seeds.</a:t>
            </a:r>
          </a:p>
        </p:txBody>
      </p:sp>
      <p:sp>
        <p:nvSpPr>
          <p:cNvPr id="4" name="Slide Number Placeholder 3">
            <a:extLst>
              <a:ext uri="{FF2B5EF4-FFF2-40B4-BE49-F238E27FC236}">
                <a16:creationId xmlns:a16="http://schemas.microsoft.com/office/drawing/2014/main" id="{59872DB1-4E70-46E2-AFFB-EE1CBEF47D8D}"/>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84</a:t>
            </a:fld>
            <a:endParaRPr lang="en-IN"/>
          </a:p>
        </p:txBody>
      </p:sp>
    </p:spTree>
    <p:extLst>
      <p:ext uri="{BB962C8B-B14F-4D97-AF65-F5344CB8AC3E}">
        <p14:creationId xmlns:p14="http://schemas.microsoft.com/office/powerpoint/2010/main" val="4196175431"/>
      </p:ext>
    </p:extLst>
  </p:cSld>
  <p:clrMapOvr>
    <a:masterClrMapping/>
  </p:clrMapOv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Title 1"/>
          <p:cNvSpPr>
            <a:spLocks noGrp="1" noChangeArrowheads="1"/>
          </p:cNvSpPr>
          <p:nvPr>
            <p:ph type="title"/>
          </p:nvPr>
        </p:nvSpPr>
        <p:spPr/>
        <p:txBody>
          <a:bodyPr>
            <a:noAutofit/>
          </a:bodyPr>
          <a:lstStyle/>
          <a:p>
            <a:r>
              <a:rPr lang="en-US" altLang="en-US" dirty="0"/>
              <a:t>Generalized Flower</a:t>
            </a:r>
          </a:p>
        </p:txBody>
      </p:sp>
      <p:pic>
        <p:nvPicPr>
          <p:cNvPr id="98308" name="Picture 2" descr="A flower has 4 main parts: sepals, petals, stamens (anther and filament), and carpels (stigma, style, ovule, pollen tube, and ovary)."/>
          <p:cNvPicPr>
            <a:picLocks noChangeAspect="1" noChangeArrowheads="1"/>
          </p:cNvPicPr>
          <p:nvPr/>
        </p:nvPicPr>
        <p:blipFill rotWithShape="1">
          <a:blip r:embed="rId3">
            <a:extLst>
              <a:ext uri="{28A0092B-C50C-407E-A947-70E740481C1C}">
                <a14:useLocalDpi xmlns:a14="http://schemas.microsoft.com/office/drawing/2010/main" val="0"/>
              </a:ext>
            </a:extLst>
          </a:blip>
          <a:srcRect t="1908"/>
          <a:stretch/>
        </p:blipFill>
        <p:spPr bwMode="auto">
          <a:xfrm>
            <a:off x="2245965" y="821313"/>
            <a:ext cx="4650947" cy="4836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Content Placeholder 3"/>
          <p:cNvSpPr>
            <a:spLocks noGrp="1"/>
          </p:cNvSpPr>
          <p:nvPr>
            <p:ph type="body" sz="quarter" idx="18"/>
          </p:nvPr>
        </p:nvSpPr>
        <p:spPr>
          <a:xfrm>
            <a:off x="520699" y="5814817"/>
            <a:ext cx="8101481" cy="314325"/>
          </a:xfrm>
        </p:spPr>
        <p:txBody>
          <a:bodyPr>
            <a:normAutofit/>
          </a:bodyPr>
          <a:lstStyle/>
          <a:p>
            <a:r>
              <a:rPr lang="en-US" sz="1200" dirty="0"/>
              <a:t>Figure 23.22</a:t>
            </a:r>
          </a:p>
        </p:txBody>
      </p:sp>
      <p:sp>
        <p:nvSpPr>
          <p:cNvPr id="6" name="Slide Number Placeholder 4">
            <a:extLst>
              <a:ext uri="{FF2B5EF4-FFF2-40B4-BE49-F238E27FC236}">
                <a16:creationId xmlns:a16="http://schemas.microsoft.com/office/drawing/2014/main" id="{A1C9255A-5DC3-4AAD-A700-590C54EB592D}"/>
              </a:ext>
            </a:extLst>
          </p:cNvPr>
          <p:cNvSpPr>
            <a:spLocks noGrp="1"/>
          </p:cNvSpPr>
          <p:nvPr>
            <p:ph type="sldNum" sz="quarter" idx="4"/>
          </p:nvPr>
        </p:nvSpPr>
        <p:spPr/>
        <p:txBody>
          <a:bodyPr/>
          <a:lstStyle/>
          <a:p>
            <a:fld id="{08F9AD23-695F-4808-8E99-6281554D0F77}" type="slidenum">
              <a:rPr lang="en-IN" smtClean="0"/>
              <a:t>85</a:t>
            </a:fld>
            <a:endParaRPr lang="en-IN"/>
          </a:p>
        </p:txBody>
      </p:sp>
    </p:spTree>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itle 1"/>
          <p:cNvSpPr>
            <a:spLocks noGrp="1" noChangeArrowheads="1"/>
          </p:cNvSpPr>
          <p:nvPr>
            <p:ph type="title"/>
          </p:nvPr>
        </p:nvSpPr>
        <p:spPr>
          <a:xfrm>
            <a:off x="342900" y="0"/>
            <a:ext cx="8458200" cy="1170910"/>
          </a:xfrm>
        </p:spPr>
        <p:txBody>
          <a:bodyPr/>
          <a:lstStyle/>
          <a:p>
            <a:r>
              <a:rPr lang="en-US" altLang="en-US" dirty="0"/>
              <a:t>Flowering Plant Life Cycle</a:t>
            </a:r>
            <a:r>
              <a:rPr lang="en-US" altLang="en-US" sz="3600" dirty="0"/>
              <a:t> </a:t>
            </a:r>
            <a:r>
              <a:rPr lang="en-US" altLang="en-US" sz="1600" dirty="0"/>
              <a:t>1</a:t>
            </a:r>
          </a:p>
        </p:txBody>
      </p:sp>
      <p:sp>
        <p:nvSpPr>
          <p:cNvPr id="50179" name="Content Placeholder 2"/>
          <p:cNvSpPr>
            <a:spLocks noGrp="1" noChangeArrowheads="1"/>
          </p:cNvSpPr>
          <p:nvPr>
            <p:ph idx="1"/>
          </p:nvPr>
        </p:nvSpPr>
        <p:spPr>
          <a:xfrm>
            <a:off x="457200" y="1170910"/>
            <a:ext cx="7640053" cy="5443339"/>
          </a:xfrm>
        </p:spPr>
        <p:txBody>
          <a:bodyPr>
            <a:noAutofit/>
          </a:bodyPr>
          <a:lstStyle/>
          <a:p>
            <a:pPr>
              <a:spcAft>
                <a:spcPts val="600"/>
              </a:spcAft>
            </a:pPr>
            <a:r>
              <a:rPr lang="en-US" sz="2600" dirty="0">
                <a:solidFill>
                  <a:srgbClr val="000000"/>
                </a:solidFill>
              </a:rPr>
              <a:t>F</a:t>
            </a:r>
            <a:r>
              <a:rPr lang="en-US" sz="2600" b="0" i="0" u="none" strike="noStrike" baseline="0" dirty="0"/>
              <a:t>lowering plants are heterosporous, producing two types of spores:</a:t>
            </a:r>
          </a:p>
          <a:p>
            <a:pPr lvl="1">
              <a:spcAft>
                <a:spcPts val="600"/>
              </a:spcAft>
              <a:buFont typeface="Arial" panose="020B0604020202020204" pitchFamily="34" charset="0"/>
              <a:buChar char="•"/>
            </a:pPr>
            <a:r>
              <a:rPr lang="en-US" sz="2000" b="0" i="0" u="none" strike="noStrike" baseline="0" dirty="0"/>
              <a:t> </a:t>
            </a:r>
            <a:r>
              <a:rPr lang="en-US" sz="2400" dirty="0"/>
              <a:t>M</a:t>
            </a:r>
            <a:r>
              <a:rPr lang="en-US" sz="2400" b="0" i="0" u="none" strike="noStrike" baseline="0" dirty="0"/>
              <a:t>egaspore</a:t>
            </a:r>
            <a:r>
              <a:rPr lang="en-US" sz="2000" b="0" i="0" u="none" strike="noStrike" baseline="0" dirty="0"/>
              <a:t> </a:t>
            </a:r>
          </a:p>
          <a:p>
            <a:pPr marL="722313" lvl="2" indent="-361950">
              <a:spcAft>
                <a:spcPts val="0"/>
              </a:spcAft>
              <a:buFont typeface="Arial" panose="020B0604020202020204" pitchFamily="34" charset="0"/>
              <a:buChar char="•"/>
            </a:pPr>
            <a:r>
              <a:rPr lang="en-US" sz="2200" b="0" i="0" u="none" strike="noStrike" baseline="0" dirty="0"/>
              <a:t>Located in an ovule within an ovary of a carpel </a:t>
            </a:r>
          </a:p>
          <a:p>
            <a:pPr marL="722313" lvl="2" indent="-361950">
              <a:spcAft>
                <a:spcPts val="0"/>
              </a:spcAft>
              <a:buFont typeface="Arial" panose="020B0604020202020204" pitchFamily="34" charset="0"/>
              <a:buChar char="•"/>
            </a:pPr>
            <a:r>
              <a:rPr lang="en-US" sz="2200" b="0" i="0" u="none" strike="noStrike" baseline="0" dirty="0"/>
              <a:t>Develops into an egg-bearing female gametophyte, called the embryo sac</a:t>
            </a:r>
          </a:p>
          <a:p>
            <a:pPr marL="1071563" lvl="3" indent="-349250">
              <a:spcAft>
                <a:spcPts val="600"/>
              </a:spcAft>
              <a:buFont typeface="Arial" panose="020B0604020202020204" pitchFamily="34" charset="0"/>
              <a:buChar char="•"/>
            </a:pPr>
            <a:r>
              <a:rPr lang="en-US" sz="2000" b="0" i="0" u="none" strike="noStrike" baseline="0" dirty="0"/>
              <a:t>Usually has seven cells, two have special functions:</a:t>
            </a:r>
          </a:p>
          <a:p>
            <a:pPr marL="1431925" lvl="4" indent="-360363">
              <a:spcBef>
                <a:spcPts val="600"/>
              </a:spcBef>
              <a:spcAft>
                <a:spcPts val="600"/>
              </a:spcAft>
              <a:buFont typeface="Arial" panose="020B0604020202020204" pitchFamily="34" charset="0"/>
              <a:buChar char="•"/>
            </a:pPr>
            <a:r>
              <a:rPr lang="en-US" sz="1800" b="0" i="0" u="none" strike="noStrike" baseline="0" dirty="0"/>
              <a:t>One is an egg </a:t>
            </a:r>
          </a:p>
          <a:p>
            <a:pPr marL="1431925" lvl="4" indent="-360363">
              <a:spcBef>
                <a:spcPts val="600"/>
              </a:spcBef>
              <a:spcAft>
                <a:spcPts val="600"/>
              </a:spcAft>
              <a:buFont typeface="Arial" panose="020B0604020202020204" pitchFamily="34" charset="0"/>
              <a:buChar char="•"/>
            </a:pPr>
            <a:r>
              <a:rPr lang="en-US" sz="1800" b="0" i="0" u="none" strike="noStrike" baseline="0" dirty="0"/>
              <a:t>One contains two polar nuclei	</a:t>
            </a:r>
          </a:p>
          <a:p>
            <a:pPr marL="1708150" lvl="5" indent="-276225">
              <a:spcAft>
                <a:spcPts val="600"/>
              </a:spcAft>
              <a:buFont typeface="Arial" panose="020B0604020202020204" pitchFamily="34" charset="0"/>
              <a:buChar char="•"/>
            </a:pPr>
            <a:r>
              <a:rPr lang="en-US" sz="1600" b="0" i="0" u="none" strike="noStrike" baseline="0" dirty="0"/>
              <a:t>“</a:t>
            </a:r>
            <a:r>
              <a:rPr lang="en-US" sz="1600" dirty="0"/>
              <a:t>P</a:t>
            </a:r>
            <a:r>
              <a:rPr lang="en-US" sz="1600" b="0" i="0" u="none" strike="noStrike" baseline="0" dirty="0"/>
              <a:t>olar” </a:t>
            </a:r>
            <a:r>
              <a:rPr lang="en-US" sz="1600" dirty="0"/>
              <a:t>because they come </a:t>
            </a:r>
            <a:r>
              <a:rPr lang="en-US" sz="1600" b="0" i="0" u="none" strike="noStrike" baseline="0" dirty="0"/>
              <a:t>from opposite ends of the embryo sac</a:t>
            </a:r>
          </a:p>
        </p:txBody>
      </p:sp>
      <p:sp>
        <p:nvSpPr>
          <p:cNvPr id="4" name="Slide Number Placeholder 3">
            <a:extLst>
              <a:ext uri="{FF2B5EF4-FFF2-40B4-BE49-F238E27FC236}">
                <a16:creationId xmlns:a16="http://schemas.microsoft.com/office/drawing/2014/main" id="{756F2603-A67A-420A-B4B4-DD46A00948E0}"/>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86</a:t>
            </a:fld>
            <a:endParaRPr lang="en-IN"/>
          </a:p>
        </p:txBody>
      </p:sp>
    </p:spTree>
    <p:extLst>
      <p:ext uri="{BB962C8B-B14F-4D97-AF65-F5344CB8AC3E}">
        <p14:creationId xmlns:p14="http://schemas.microsoft.com/office/powerpoint/2010/main" val="3288479405"/>
      </p:ext>
    </p:extLst>
  </p:cSld>
  <p:clrMapOvr>
    <a:masterClrMapping/>
  </p:clrMapOv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itle 1"/>
          <p:cNvSpPr>
            <a:spLocks noGrp="1" noChangeArrowheads="1"/>
          </p:cNvSpPr>
          <p:nvPr>
            <p:ph type="title"/>
          </p:nvPr>
        </p:nvSpPr>
        <p:spPr>
          <a:xfrm>
            <a:off x="342900" y="0"/>
            <a:ext cx="8458200" cy="822057"/>
          </a:xfrm>
        </p:spPr>
        <p:txBody>
          <a:bodyPr/>
          <a:lstStyle/>
          <a:p>
            <a:r>
              <a:rPr lang="en-US" altLang="en-US" sz="3600" dirty="0"/>
              <a:t>Flowering Plant Life Cycle </a:t>
            </a:r>
            <a:r>
              <a:rPr lang="en-US" altLang="en-US" sz="1600" dirty="0"/>
              <a:t>2</a:t>
            </a:r>
          </a:p>
        </p:txBody>
      </p:sp>
      <p:sp>
        <p:nvSpPr>
          <p:cNvPr id="50179" name="Content Placeholder 2"/>
          <p:cNvSpPr>
            <a:spLocks noGrp="1" noChangeArrowheads="1"/>
          </p:cNvSpPr>
          <p:nvPr>
            <p:ph idx="1"/>
          </p:nvPr>
        </p:nvSpPr>
        <p:spPr>
          <a:xfrm>
            <a:off x="733926" y="794150"/>
            <a:ext cx="7676147" cy="5690045"/>
          </a:xfrm>
        </p:spPr>
        <p:txBody>
          <a:bodyPr>
            <a:noAutofit/>
          </a:bodyPr>
          <a:lstStyle/>
          <a:p>
            <a:pPr marL="1588" lvl="1" indent="0">
              <a:buNone/>
            </a:pPr>
            <a:r>
              <a:rPr lang="en-US" sz="2200" b="0" i="0" u="none" strike="noStrike" baseline="0" dirty="0"/>
              <a:t>Microspores</a:t>
            </a:r>
          </a:p>
          <a:p>
            <a:pPr marL="358775" lvl="2" indent="-358775">
              <a:spcAft>
                <a:spcPts val="0"/>
              </a:spcAft>
              <a:buFont typeface="Arial" panose="020B0604020202020204" pitchFamily="34" charset="0"/>
              <a:buChar char="•"/>
            </a:pPr>
            <a:r>
              <a:rPr lang="en-US" sz="2000" b="0" i="0" u="none" strike="noStrike" baseline="0" dirty="0"/>
              <a:t>Produced within anthers</a:t>
            </a:r>
          </a:p>
          <a:p>
            <a:pPr marL="358775" lvl="2" indent="-358775">
              <a:spcAft>
                <a:spcPts val="0"/>
              </a:spcAft>
              <a:buFont typeface="Arial" panose="020B0604020202020204" pitchFamily="34" charset="0"/>
              <a:buChar char="•"/>
            </a:pPr>
            <a:r>
              <a:rPr lang="en-US" sz="2000" b="0" i="0" u="none" strike="noStrike" baseline="0" dirty="0"/>
              <a:t>Become pollen grains that, when mature, are male gametophytes with sperm </a:t>
            </a:r>
          </a:p>
          <a:p>
            <a:pPr marL="358775" lvl="2" indent="-358775">
              <a:spcAft>
                <a:spcPts val="0"/>
              </a:spcAft>
              <a:buFont typeface="Arial" panose="020B0604020202020204" pitchFamily="34" charset="0"/>
              <a:buChar char="•"/>
            </a:pPr>
            <a:r>
              <a:rPr lang="en-US" sz="2000" dirty="0"/>
              <a:t>M</a:t>
            </a:r>
            <a:r>
              <a:rPr lang="en-US" sz="2000" b="0" i="0" u="none" strike="noStrike" baseline="0" dirty="0"/>
              <a:t>ature male gametophyte consists of only three cells: the tube cell and two sperm cells</a:t>
            </a:r>
          </a:p>
          <a:p>
            <a:r>
              <a:rPr lang="en-US" sz="2400" b="0" i="0" u="none" strike="noStrike" baseline="0" dirty="0"/>
              <a:t>During pollination, pollen is transported from the anther to the stigma of a carpel</a:t>
            </a:r>
          </a:p>
          <a:p>
            <a:pPr lvl="1">
              <a:buFont typeface="Arial" panose="020B0604020202020204" pitchFamily="34" charset="0"/>
              <a:buChar char="•"/>
            </a:pPr>
            <a:r>
              <a:rPr lang="en-US" sz="2200" dirty="0"/>
              <a:t>T</a:t>
            </a:r>
            <a:r>
              <a:rPr lang="en-US" sz="2200" b="0" i="0" u="none" strike="noStrike" baseline="0" dirty="0"/>
              <a:t>ube cell produces a pollen tube</a:t>
            </a:r>
          </a:p>
          <a:p>
            <a:pPr lvl="1">
              <a:buFont typeface="Arial" panose="020B0604020202020204" pitchFamily="34" charset="0"/>
              <a:buChar char="•"/>
            </a:pPr>
            <a:r>
              <a:rPr lang="en-US" sz="2200" b="0" i="0" u="none" strike="noStrike" baseline="0" dirty="0"/>
              <a:t>Two sperm travel through the tube to the micropyle (small opening) of an ovule </a:t>
            </a:r>
            <a:endParaRPr lang="en-US" sz="2200" dirty="0"/>
          </a:p>
        </p:txBody>
      </p:sp>
      <p:sp>
        <p:nvSpPr>
          <p:cNvPr id="4" name="Slide Number Placeholder 3">
            <a:extLst>
              <a:ext uri="{FF2B5EF4-FFF2-40B4-BE49-F238E27FC236}">
                <a16:creationId xmlns:a16="http://schemas.microsoft.com/office/drawing/2014/main" id="{A21E01CA-8E51-4C55-B72E-72BE78E22BA2}"/>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87</a:t>
            </a:fld>
            <a:endParaRPr lang="en-IN"/>
          </a:p>
        </p:txBody>
      </p:sp>
    </p:spTree>
    <p:extLst>
      <p:ext uri="{BB962C8B-B14F-4D97-AF65-F5344CB8AC3E}">
        <p14:creationId xmlns:p14="http://schemas.microsoft.com/office/powerpoint/2010/main" val="607246388"/>
      </p:ext>
    </p:extLst>
  </p:cSld>
  <p:clrMapOvr>
    <a:masterClrMapping/>
  </p:clrMapOv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itle 1"/>
          <p:cNvSpPr>
            <a:spLocks noGrp="1" noChangeArrowheads="1"/>
          </p:cNvSpPr>
          <p:nvPr>
            <p:ph type="title"/>
          </p:nvPr>
        </p:nvSpPr>
        <p:spPr>
          <a:xfrm>
            <a:off x="457199" y="0"/>
            <a:ext cx="8229600" cy="801858"/>
          </a:xfrm>
        </p:spPr>
        <p:txBody>
          <a:bodyPr/>
          <a:lstStyle/>
          <a:p>
            <a:r>
              <a:rPr lang="en-US" altLang="en-US" sz="3600" dirty="0"/>
              <a:t>Flowering Plant Life Cycle </a:t>
            </a:r>
            <a:r>
              <a:rPr lang="en-US" altLang="en-US" sz="1600" dirty="0"/>
              <a:t>3</a:t>
            </a:r>
          </a:p>
        </p:txBody>
      </p:sp>
      <p:sp>
        <p:nvSpPr>
          <p:cNvPr id="50179" name="Content Placeholder 2"/>
          <p:cNvSpPr>
            <a:spLocks noGrp="1" noChangeArrowheads="1"/>
          </p:cNvSpPr>
          <p:nvPr>
            <p:ph idx="1"/>
          </p:nvPr>
        </p:nvSpPr>
        <p:spPr>
          <a:xfrm>
            <a:off x="311973" y="818255"/>
            <a:ext cx="8638390" cy="5870932"/>
          </a:xfrm>
        </p:spPr>
        <p:txBody>
          <a:bodyPr>
            <a:noAutofit/>
          </a:bodyPr>
          <a:lstStyle/>
          <a:p>
            <a:pPr>
              <a:spcBef>
                <a:spcPts val="600"/>
              </a:spcBef>
              <a:spcAft>
                <a:spcPts val="600"/>
              </a:spcAft>
            </a:pPr>
            <a:r>
              <a:rPr lang="en-US" sz="2400" b="0" i="0" u="none" strike="noStrike" baseline="0" dirty="0"/>
              <a:t>Flowering plants undergo </a:t>
            </a:r>
            <a:r>
              <a:rPr lang="en-US" sz="2400" b="1" i="0" u="none" strike="noStrike" baseline="0" dirty="0">
                <a:solidFill>
                  <a:srgbClr val="D90000"/>
                </a:solidFill>
              </a:rPr>
              <a:t>double fertilization</a:t>
            </a:r>
          </a:p>
          <a:p>
            <a:pPr marL="342900" lvl="1">
              <a:spcBef>
                <a:spcPts val="600"/>
              </a:spcBef>
              <a:spcAft>
                <a:spcPts val="600"/>
              </a:spcAft>
              <a:buFont typeface="Arial" panose="020B0604020202020204" pitchFamily="34" charset="0"/>
              <a:buChar char="•"/>
            </a:pPr>
            <a:r>
              <a:rPr lang="en-US" sz="2200" b="0" i="0" u="none" strike="noStrike" baseline="0" dirty="0"/>
              <a:t>One sperm unites with an egg</a:t>
            </a:r>
          </a:p>
          <a:p>
            <a:pPr marL="722313" lvl="2" indent="-361950">
              <a:spcBef>
                <a:spcPts val="600"/>
              </a:spcBef>
              <a:spcAft>
                <a:spcPts val="600"/>
              </a:spcAft>
              <a:buFont typeface="Arial" panose="020B0604020202020204" pitchFamily="34" charset="0"/>
              <a:buChar char="•"/>
            </a:pPr>
            <a:r>
              <a:rPr lang="en-US" sz="2000" dirty="0"/>
              <a:t>Forms</a:t>
            </a:r>
            <a:r>
              <a:rPr lang="en-US" sz="2000" b="0" i="0" u="none" strike="noStrike" baseline="0" dirty="0"/>
              <a:t> a diploid zygote </a:t>
            </a:r>
          </a:p>
          <a:p>
            <a:pPr lvl="1">
              <a:spcBef>
                <a:spcPts val="600"/>
              </a:spcBef>
              <a:spcAft>
                <a:spcPts val="600"/>
              </a:spcAft>
              <a:buFont typeface="Arial" panose="020B0604020202020204" pitchFamily="34" charset="0"/>
              <a:buChar char="•"/>
            </a:pPr>
            <a:r>
              <a:rPr lang="en-US" sz="2200" dirty="0"/>
              <a:t>O</a:t>
            </a:r>
            <a:r>
              <a:rPr lang="en-US" sz="2200" b="0" i="0" u="none" strike="noStrike" baseline="0" dirty="0"/>
              <a:t>ther sperm unites with polar nuclei</a:t>
            </a:r>
          </a:p>
          <a:p>
            <a:pPr marL="722313" lvl="2" indent="-361950">
              <a:spcBef>
                <a:spcPts val="600"/>
              </a:spcBef>
              <a:spcAft>
                <a:spcPts val="600"/>
              </a:spcAft>
              <a:buFont typeface="Arial" panose="020B0604020202020204" pitchFamily="34" charset="0"/>
              <a:buChar char="•"/>
            </a:pPr>
            <a:r>
              <a:rPr lang="en-US" sz="2000" dirty="0"/>
              <a:t>F</a:t>
            </a:r>
            <a:r>
              <a:rPr lang="en-US" sz="2000" b="0" i="0" u="none" strike="noStrike" baseline="0" dirty="0"/>
              <a:t>orms a triploid endosperm nucleus </a:t>
            </a:r>
          </a:p>
          <a:p>
            <a:pPr>
              <a:spcBef>
                <a:spcPts val="600"/>
              </a:spcBef>
              <a:spcAft>
                <a:spcPts val="600"/>
              </a:spcAft>
            </a:pPr>
            <a:r>
              <a:rPr lang="en-US" sz="2400" b="0" i="0" u="none" strike="noStrike" baseline="0" dirty="0"/>
              <a:t>Ovule becomes a seed </a:t>
            </a:r>
            <a:endParaRPr lang="en-US" sz="2400" dirty="0"/>
          </a:p>
          <a:p>
            <a:pPr lvl="1">
              <a:spcBef>
                <a:spcPts val="600"/>
              </a:spcBef>
              <a:spcAft>
                <a:spcPts val="600"/>
              </a:spcAft>
              <a:buFont typeface="Arial" panose="020B0604020202020204" pitchFamily="34" charset="0"/>
              <a:buChar char="•"/>
            </a:pPr>
            <a:r>
              <a:rPr lang="en-US" sz="2200" b="0" i="0" u="none" strike="noStrike" baseline="0" dirty="0"/>
              <a:t>Contains the embryo (the sporophyte of the next generation) </a:t>
            </a:r>
          </a:p>
          <a:p>
            <a:pPr lvl="1">
              <a:spcBef>
                <a:spcPts val="600"/>
              </a:spcBef>
              <a:spcAft>
                <a:spcPts val="600"/>
              </a:spcAft>
              <a:buFont typeface="Arial" panose="020B0604020202020204" pitchFamily="34" charset="0"/>
              <a:buChar char="•"/>
            </a:pPr>
            <a:r>
              <a:rPr lang="en-US" sz="2200" b="0" i="0" u="none" strike="noStrike" baseline="0" dirty="0"/>
              <a:t>Stores food (endosperm) enclosed within a seed coat  </a:t>
            </a:r>
          </a:p>
          <a:p>
            <a:pPr>
              <a:spcBef>
                <a:spcPts val="600"/>
              </a:spcBef>
              <a:spcAft>
                <a:spcPts val="600"/>
              </a:spcAft>
            </a:pPr>
            <a:r>
              <a:rPr lang="en-US" sz="2400" b="1" i="0" u="none" strike="noStrike" baseline="0" dirty="0">
                <a:solidFill>
                  <a:srgbClr val="D90000"/>
                </a:solidFill>
              </a:rPr>
              <a:t>Fruit</a:t>
            </a:r>
            <a:r>
              <a:rPr lang="en-US" sz="2400" b="1" i="0" u="none" strike="noStrike" baseline="0" dirty="0"/>
              <a:t> </a:t>
            </a:r>
            <a:r>
              <a:rPr lang="en-US" sz="2400" b="0" i="0" u="none" strike="noStrike" baseline="0" dirty="0"/>
              <a:t>is derived from an ovary</a:t>
            </a:r>
          </a:p>
          <a:p>
            <a:pPr lvl="1">
              <a:spcBef>
                <a:spcPts val="600"/>
              </a:spcBef>
              <a:spcAft>
                <a:spcPts val="600"/>
              </a:spcAft>
              <a:buFont typeface="Arial" panose="020B0604020202020204" pitchFamily="34" charset="0"/>
              <a:buChar char="•"/>
            </a:pPr>
            <a:r>
              <a:rPr lang="en-US" sz="2200" b="0" i="0" u="none" strike="noStrike" baseline="0" dirty="0"/>
              <a:t>Some fruits, such as apples provide a moist, fleshy covering</a:t>
            </a:r>
          </a:p>
          <a:p>
            <a:pPr lvl="1">
              <a:spcBef>
                <a:spcPts val="600"/>
              </a:spcBef>
              <a:spcAft>
                <a:spcPts val="600"/>
              </a:spcAft>
              <a:buFont typeface="Arial" panose="020B0604020202020204" pitchFamily="34" charset="0"/>
              <a:buChar char="•"/>
            </a:pPr>
            <a:r>
              <a:rPr lang="en-US" sz="2200" b="0" i="0" u="none" strike="noStrike" baseline="0" dirty="0"/>
              <a:t>Other fruits, such acorns, provide a dry covering for seeds</a:t>
            </a:r>
            <a:endParaRPr lang="en-US" sz="2200" dirty="0"/>
          </a:p>
        </p:txBody>
      </p:sp>
      <p:sp>
        <p:nvSpPr>
          <p:cNvPr id="4" name="Slide Number Placeholder 3">
            <a:extLst>
              <a:ext uri="{FF2B5EF4-FFF2-40B4-BE49-F238E27FC236}">
                <a16:creationId xmlns:a16="http://schemas.microsoft.com/office/drawing/2014/main" id="{46F78C96-92C6-4595-83D1-89B72E6B75BE}"/>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88</a:t>
            </a:fld>
            <a:endParaRPr lang="en-IN"/>
          </a:p>
        </p:txBody>
      </p:sp>
    </p:spTree>
    <p:extLst>
      <p:ext uri="{BB962C8B-B14F-4D97-AF65-F5344CB8AC3E}">
        <p14:creationId xmlns:p14="http://schemas.microsoft.com/office/powerpoint/2010/main" val="560797966"/>
      </p:ext>
    </p:extLst>
  </p:cSld>
  <p:clrMapOvr>
    <a:masterClrMapping/>
  </p:clrMapOv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Title 1"/>
          <p:cNvSpPr>
            <a:spLocks noGrp="1" noChangeArrowheads="1"/>
          </p:cNvSpPr>
          <p:nvPr>
            <p:ph type="title"/>
          </p:nvPr>
        </p:nvSpPr>
        <p:spPr>
          <a:xfrm>
            <a:off x="0" y="2"/>
            <a:ext cx="9144000" cy="810410"/>
          </a:xfrm>
        </p:spPr>
        <p:txBody>
          <a:bodyPr>
            <a:normAutofit/>
          </a:bodyPr>
          <a:lstStyle/>
          <a:p>
            <a:r>
              <a:rPr lang="en-US" altLang="en-US" dirty="0"/>
              <a:t>Life Cycle of Flowering Plant</a:t>
            </a:r>
          </a:p>
        </p:txBody>
      </p:sp>
      <p:pic>
        <p:nvPicPr>
          <p:cNvPr id="3" name="Picture 2" descr="Details of a typical flowering plant life cycle include gametophyte formation, meiosis and spore formation, and double fertilization.">
            <a:extLst>
              <a:ext uri="{FF2B5EF4-FFF2-40B4-BE49-F238E27FC236}">
                <a16:creationId xmlns:a16="http://schemas.microsoft.com/office/drawing/2014/main" id="{41E177DE-AE8D-4D5E-82C9-6E47A01C9F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02087" y="898001"/>
            <a:ext cx="4139826" cy="5061997"/>
          </a:xfrm>
          <a:prstGeom prst="rect">
            <a:avLst/>
          </a:prstGeom>
        </p:spPr>
      </p:pic>
      <p:sp>
        <p:nvSpPr>
          <p:cNvPr id="12" name="Content Placeholder 3"/>
          <p:cNvSpPr>
            <a:spLocks noGrp="1"/>
          </p:cNvSpPr>
          <p:nvPr>
            <p:ph type="body" sz="quarter" idx="19"/>
          </p:nvPr>
        </p:nvSpPr>
        <p:spPr>
          <a:xfrm>
            <a:off x="4040625" y="6047588"/>
            <a:ext cx="1062749" cy="275605"/>
          </a:xfrm>
        </p:spPr>
        <p:txBody>
          <a:bodyPr>
            <a:noAutofit/>
          </a:bodyPr>
          <a:lstStyle/>
          <a:p>
            <a:pPr algn="ctr"/>
            <a:r>
              <a:rPr lang="en-US" sz="1200" dirty="0"/>
              <a:t>Figure 23.23</a:t>
            </a:r>
          </a:p>
        </p:txBody>
      </p:sp>
      <p:sp>
        <p:nvSpPr>
          <p:cNvPr id="4" name="Text Placeholder 4">
            <a:extLst>
              <a:ext uri="{FF2B5EF4-FFF2-40B4-BE49-F238E27FC236}">
                <a16:creationId xmlns:a16="http://schemas.microsoft.com/office/drawing/2014/main" id="{E4775D58-A90A-4A16-A358-C7B02590B763}"/>
              </a:ext>
            </a:extLst>
          </p:cNvPr>
          <p:cNvSpPr>
            <a:spLocks noGrp="1"/>
          </p:cNvSpPr>
          <p:nvPr>
            <p:ph type="body" sz="quarter" idx="20"/>
          </p:nvPr>
        </p:nvSpPr>
        <p:spPr>
          <a:xfrm>
            <a:off x="2970827" y="6272980"/>
            <a:ext cx="3202343" cy="275605"/>
          </a:xfrm>
        </p:spPr>
        <p:txBody>
          <a:bodyPr>
            <a:normAutofit/>
          </a:bodyPr>
          <a:lstStyle/>
          <a:p>
            <a:pPr algn="ctr"/>
            <a:r>
              <a:rPr lang="en-US" sz="1200" dirty="0">
                <a:hlinkClick r:id="rId4" action="ppaction://hlinksldjump"/>
              </a:rPr>
              <a:t>Access the text alternative for slide images.</a:t>
            </a:r>
            <a:endParaRPr lang="en-US" sz="1200" dirty="0"/>
          </a:p>
        </p:txBody>
      </p:sp>
      <p:sp>
        <p:nvSpPr>
          <p:cNvPr id="5" name="Slide Number Placeholder 5">
            <a:extLst>
              <a:ext uri="{FF2B5EF4-FFF2-40B4-BE49-F238E27FC236}">
                <a16:creationId xmlns:a16="http://schemas.microsoft.com/office/drawing/2014/main" id="{16019258-E903-4E06-9596-B87FAC9EDCDF}"/>
              </a:ext>
            </a:extLst>
          </p:cNvPr>
          <p:cNvSpPr>
            <a:spLocks noGrp="1"/>
          </p:cNvSpPr>
          <p:nvPr>
            <p:ph type="sldNum" sz="quarter" idx="4"/>
          </p:nvPr>
        </p:nvSpPr>
        <p:spPr/>
        <p:txBody>
          <a:bodyPr/>
          <a:lstStyle/>
          <a:p>
            <a:fld id="{08F9AD23-695F-4808-8E99-6281554D0F77}" type="slidenum">
              <a:rPr lang="en-IN" smtClean="0"/>
              <a:t>89</a:t>
            </a:fld>
            <a:endParaRPr lang="en-IN"/>
          </a:p>
        </p:txBody>
      </p:sp>
    </p:spTree>
  </p:cSld>
  <p:clrMapOvr>
    <a:masterClrMapping/>
  </p:clrMapOv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itle 1"/>
          <p:cNvSpPr>
            <a:spLocks noGrp="1" noChangeArrowheads="1"/>
          </p:cNvSpPr>
          <p:nvPr>
            <p:ph type="title"/>
          </p:nvPr>
        </p:nvSpPr>
        <p:spPr>
          <a:xfrm>
            <a:off x="342900" y="12031"/>
            <a:ext cx="8458200" cy="810026"/>
          </a:xfrm>
        </p:spPr>
        <p:txBody>
          <a:bodyPr/>
          <a:lstStyle/>
          <a:p>
            <a:r>
              <a:rPr lang="en-US" altLang="en-US" dirty="0"/>
              <a:t>Flowers and Diversification</a:t>
            </a:r>
          </a:p>
        </p:txBody>
      </p:sp>
      <p:sp>
        <p:nvSpPr>
          <p:cNvPr id="100355" name="Content Placeholder 2"/>
          <p:cNvSpPr>
            <a:spLocks noGrp="1" noChangeArrowheads="1"/>
          </p:cNvSpPr>
          <p:nvPr>
            <p:ph idx="1"/>
          </p:nvPr>
        </p:nvSpPr>
        <p:spPr>
          <a:xfrm>
            <a:off x="457200" y="1202788"/>
            <a:ext cx="8229600" cy="5063197"/>
          </a:xfrm>
        </p:spPr>
        <p:txBody>
          <a:bodyPr>
            <a:normAutofit fontScale="92500" lnSpcReduction="20000"/>
          </a:bodyPr>
          <a:lstStyle/>
          <a:p>
            <a:r>
              <a:rPr lang="en-US" sz="2600" dirty="0"/>
              <a:t>V</a:t>
            </a:r>
            <a:r>
              <a:rPr lang="en-US" sz="2600" b="0" i="0" u="none" strike="noStrike" baseline="0" dirty="0"/>
              <a:t>arious ways pollen and seeds can be dispersed have resulted in many different types of flowers:</a:t>
            </a:r>
          </a:p>
          <a:p>
            <a:pPr lvl="1">
              <a:buFont typeface="Arial" panose="020B0604020202020204" pitchFamily="34" charset="0"/>
              <a:buChar char="•"/>
            </a:pPr>
            <a:r>
              <a:rPr lang="en-US" altLang="en-US" sz="2400" dirty="0"/>
              <a:t>Wind-pollinated flowers are usually not showy</a:t>
            </a:r>
          </a:p>
          <a:p>
            <a:pPr lvl="1">
              <a:buFont typeface="Arial" panose="020B0604020202020204" pitchFamily="34" charset="0"/>
              <a:buChar char="•"/>
            </a:pPr>
            <a:r>
              <a:rPr lang="en-US" altLang="en-US" sz="2400" dirty="0"/>
              <a:t>Bird-pollinated and insect-pollinated flowers are often colorful</a:t>
            </a:r>
          </a:p>
          <a:p>
            <a:pPr lvl="1">
              <a:buFont typeface="Arial" panose="020B0604020202020204" pitchFamily="34" charset="0"/>
              <a:buChar char="•"/>
            </a:pPr>
            <a:r>
              <a:rPr lang="en-US" altLang="en-US" sz="2400" dirty="0"/>
              <a:t>Night-blooming flowers attract nocturnal mammals or insects</a:t>
            </a:r>
          </a:p>
          <a:p>
            <a:pPr marL="625475" lvl="3" indent="-265113">
              <a:buFont typeface="Arial" panose="020B0604020202020204" pitchFamily="34" charset="0"/>
              <a:buChar char="•"/>
            </a:pPr>
            <a:r>
              <a:rPr lang="en-US" altLang="en-US" sz="2100" dirty="0"/>
              <a:t>Usually white or cream-colored and aromatic</a:t>
            </a:r>
          </a:p>
          <a:p>
            <a:pPr marL="0" lvl="1" indent="0">
              <a:buNone/>
            </a:pPr>
            <a:r>
              <a:rPr lang="en-US" altLang="en-US" sz="2600" dirty="0"/>
              <a:t>Many flowers are adapted to a specific pollinator</a:t>
            </a:r>
          </a:p>
          <a:p>
            <a:pPr marL="0" lvl="1" indent="0">
              <a:buNone/>
            </a:pPr>
            <a:r>
              <a:rPr lang="en-US" altLang="en-US" sz="2600" dirty="0"/>
              <a:t>Fruits of flowers protect and aid in seed dispersal</a:t>
            </a:r>
          </a:p>
          <a:p>
            <a:pPr marL="358775" lvl="2" indent="-358775">
              <a:buFont typeface="Arial" panose="020B0604020202020204" pitchFamily="34" charset="0"/>
              <a:buChar char="•"/>
            </a:pPr>
            <a:r>
              <a:rPr lang="en-US" altLang="en-US" sz="2400" dirty="0"/>
              <a:t>Utilize wind, gravity, water, and animals for dispersal</a:t>
            </a:r>
          </a:p>
        </p:txBody>
      </p:sp>
      <p:sp>
        <p:nvSpPr>
          <p:cNvPr id="4" name="Slide Number Placeholder 3">
            <a:extLst>
              <a:ext uri="{FF2B5EF4-FFF2-40B4-BE49-F238E27FC236}">
                <a16:creationId xmlns:a16="http://schemas.microsoft.com/office/drawing/2014/main" id="{8E89CCD1-B97E-4AF7-ACFE-C930620F1A3B}"/>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90</a:t>
            </a:fld>
            <a:endParaRPr lang="en-IN"/>
          </a:p>
        </p:txBody>
      </p:sp>
    </p:spTree>
  </p:cSld>
  <p:clrMapOvr>
    <a:masterClrMapping/>
  </p:clrMapOv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Other Flower Terminology</a:t>
            </a:r>
            <a:endParaRPr lang="en-US" dirty="0"/>
          </a:p>
        </p:txBody>
      </p:sp>
      <p:sp>
        <p:nvSpPr>
          <p:cNvPr id="3" name="Content Placeholder 2"/>
          <p:cNvSpPr>
            <a:spLocks noGrp="1"/>
          </p:cNvSpPr>
          <p:nvPr>
            <p:ph type="body" sz="quarter" idx="19"/>
          </p:nvPr>
        </p:nvSpPr>
        <p:spPr>
          <a:xfrm>
            <a:off x="953739" y="1330489"/>
            <a:ext cx="5301782" cy="438490"/>
          </a:xfrm>
        </p:spPr>
        <p:txBody>
          <a:bodyPr>
            <a:noAutofit/>
          </a:bodyPr>
          <a:lstStyle/>
          <a:p>
            <a:pPr marL="0" indent="0">
              <a:buNone/>
              <a:tabLst>
                <a:tab pos="1714500" algn="l"/>
              </a:tabLst>
            </a:pPr>
            <a:r>
              <a:rPr lang="en-US" sz="2400" b="1" dirty="0">
                <a:solidFill>
                  <a:srgbClr val="0070C0"/>
                </a:solidFill>
                <a:latin typeface="Arial" panose="020B0604020202020204" pitchFamily="34" charset="0"/>
                <a:cs typeface="Arial" panose="020B0604020202020204" pitchFamily="34" charset="0"/>
              </a:rPr>
              <a:t>Table 23.3 </a:t>
            </a:r>
            <a:r>
              <a:rPr lang="en-US" sz="2400" dirty="0">
                <a:latin typeface="Arial" panose="020B0604020202020204" pitchFamily="34" charset="0"/>
                <a:cs typeface="Arial" panose="020B0604020202020204" pitchFamily="34" charset="0"/>
              </a:rPr>
              <a:t>Other Flower Terminology</a:t>
            </a:r>
          </a:p>
        </p:txBody>
      </p:sp>
      <p:sp>
        <p:nvSpPr>
          <p:cNvPr id="7" name="Text Placeholder 4" hidden="1">
            <a:extLst>
              <a:ext uri="{FF2B5EF4-FFF2-40B4-BE49-F238E27FC236}">
                <a16:creationId xmlns:a16="http://schemas.microsoft.com/office/drawing/2014/main" id="{5D3BC76C-DA86-4954-886D-C8756785000D}"/>
              </a:ext>
            </a:extLst>
          </p:cNvPr>
          <p:cNvSpPr>
            <a:spLocks noGrp="1"/>
          </p:cNvSpPr>
          <p:nvPr>
            <p:ph type="body" sz="quarter" idx="20"/>
          </p:nvPr>
        </p:nvSpPr>
        <p:spPr>
          <a:xfrm>
            <a:off x="2376893" y="2928149"/>
            <a:ext cx="4390208" cy="914400"/>
          </a:xfrm>
        </p:spPr>
        <p:txBody>
          <a:bodyPr>
            <a:normAutofit fontScale="85000" lnSpcReduction="10000"/>
          </a:bodyPr>
          <a:lstStyle/>
          <a:p>
            <a:r>
              <a:rPr lang="en-US" dirty="0"/>
              <a:t>Table divided into two columns summarizes other flower terminology. The column headers are: Term and description of flower.</a:t>
            </a:r>
            <a:endParaRPr lang="en-IN" dirty="0"/>
          </a:p>
        </p:txBody>
      </p:sp>
      <p:graphicFrame>
        <p:nvGraphicFramePr>
          <p:cNvPr id="5" name="Table">
            <a:extLst>
              <a:ext uri="{FF2B5EF4-FFF2-40B4-BE49-F238E27FC236}">
                <a16:creationId xmlns:a16="http://schemas.microsoft.com/office/drawing/2014/main" id="{586161BF-8211-456A-AECF-5FD543423167}"/>
              </a:ext>
            </a:extLst>
          </p:cNvPr>
          <p:cNvGraphicFramePr>
            <a:graphicFrameLocks/>
          </p:cNvGraphicFramePr>
          <p:nvPr>
            <p:extLst>
              <p:ext uri="{D42A27DB-BD31-4B8C-83A1-F6EECF244321}">
                <p14:modId xmlns:p14="http://schemas.microsoft.com/office/powerpoint/2010/main" val="946661585"/>
              </p:ext>
            </p:extLst>
          </p:nvPr>
        </p:nvGraphicFramePr>
        <p:xfrm>
          <a:off x="953739" y="1838199"/>
          <a:ext cx="7236515" cy="3334911"/>
        </p:xfrm>
        <a:graphic>
          <a:graphicData uri="http://schemas.openxmlformats.org/drawingml/2006/table">
            <a:tbl>
              <a:tblPr firstRow="1" bandRow="1">
                <a:tableStyleId>{5940675A-B579-460E-94D1-54222C63F5DA}</a:tableStyleId>
              </a:tblPr>
              <a:tblGrid>
                <a:gridCol w="2566543">
                  <a:extLst>
                    <a:ext uri="{9D8B030D-6E8A-4147-A177-3AD203B41FA5}">
                      <a16:colId xmlns:a16="http://schemas.microsoft.com/office/drawing/2014/main" val="2179079888"/>
                    </a:ext>
                  </a:extLst>
                </a:gridCol>
                <a:gridCol w="4669972">
                  <a:extLst>
                    <a:ext uri="{9D8B030D-6E8A-4147-A177-3AD203B41FA5}">
                      <a16:colId xmlns:a16="http://schemas.microsoft.com/office/drawing/2014/main" val="80926123"/>
                    </a:ext>
                  </a:extLst>
                </a:gridCol>
              </a:tblGrid>
              <a:tr h="487227">
                <a:tc>
                  <a:txBody>
                    <a:bodyPr/>
                    <a:lstStyle/>
                    <a:p>
                      <a:pPr marL="0" indent="114300"/>
                      <a:r>
                        <a:rPr lang="en-US" b="1" dirty="0"/>
                        <a:t>Term</a:t>
                      </a:r>
                      <a:endParaRPr lang="en-US" b="1" dirty="0">
                        <a:solidFill>
                          <a:schemeClr val="tx1"/>
                        </a:solidFill>
                      </a:endParaRPr>
                    </a:p>
                  </a:txBody>
                  <a:tcPr/>
                </a:tc>
                <a:tc>
                  <a:txBody>
                    <a:bodyPr/>
                    <a:lstStyle/>
                    <a:p>
                      <a:r>
                        <a:rPr lang="en-US" b="1" baseline="0" dirty="0"/>
                        <a:t>Description of Flower</a:t>
                      </a:r>
                      <a:endParaRPr lang="en-US" b="1" dirty="0">
                        <a:solidFill>
                          <a:schemeClr val="tx1"/>
                        </a:solidFill>
                      </a:endParaRPr>
                    </a:p>
                  </a:txBody>
                  <a:tcPr/>
                </a:tc>
                <a:extLst>
                  <a:ext uri="{0D108BD9-81ED-4DB2-BD59-A6C34878D82A}">
                    <a16:rowId xmlns:a16="http://schemas.microsoft.com/office/drawing/2014/main" val="365504491"/>
                  </a:ext>
                </a:extLst>
              </a:tr>
              <a:tr h="636814">
                <a:tc>
                  <a:txBody>
                    <a:bodyPr/>
                    <a:lstStyle/>
                    <a:p>
                      <a:pPr marL="0" indent="114300" algn="l"/>
                      <a:r>
                        <a:rPr lang="en-US" sz="1750" dirty="0"/>
                        <a:t>Complete</a:t>
                      </a:r>
                      <a:endParaRPr lang="en-US" sz="1750" dirty="0">
                        <a:solidFill>
                          <a:schemeClr val="tx1"/>
                        </a:solidFill>
                      </a:endParaRPr>
                    </a:p>
                  </a:txBody>
                  <a:tcPr/>
                </a:tc>
                <a:tc>
                  <a:txBody>
                    <a:bodyPr/>
                    <a:lstStyle/>
                    <a:p>
                      <a:pPr marL="179388" indent="-179388"/>
                      <a:r>
                        <a:rPr lang="en-US" sz="1750" dirty="0"/>
                        <a:t>All four parts (sepals, petals, stamens, and carpels)</a:t>
                      </a:r>
                      <a:r>
                        <a:rPr lang="en-US" sz="1750" baseline="0" dirty="0"/>
                        <a:t> present</a:t>
                      </a:r>
                      <a:endParaRPr lang="en-US" sz="1750" dirty="0"/>
                    </a:p>
                  </a:txBody>
                  <a:tcPr/>
                </a:tc>
                <a:extLst>
                  <a:ext uri="{0D108BD9-81ED-4DB2-BD59-A6C34878D82A}">
                    <a16:rowId xmlns:a16="http://schemas.microsoft.com/office/drawing/2014/main" val="3886519196"/>
                  </a:ext>
                </a:extLst>
              </a:tr>
              <a:tr h="410911">
                <a:tc>
                  <a:txBody>
                    <a:bodyPr/>
                    <a:lstStyle/>
                    <a:p>
                      <a:pPr marL="0" indent="114300"/>
                      <a:r>
                        <a:rPr lang="en-US" sz="1750" dirty="0"/>
                        <a:t>Incomplete</a:t>
                      </a:r>
                    </a:p>
                  </a:txBody>
                  <a:tcPr/>
                </a:tc>
                <a:tc>
                  <a:txBody>
                    <a:bodyPr/>
                    <a:lstStyle/>
                    <a:p>
                      <a:r>
                        <a:rPr lang="en-US" sz="1750" dirty="0"/>
                        <a:t>Lacks one or more of the four parts</a:t>
                      </a:r>
                    </a:p>
                  </a:txBody>
                  <a:tcPr/>
                </a:tc>
                <a:extLst>
                  <a:ext uri="{0D108BD9-81ED-4DB2-BD59-A6C34878D82A}">
                    <a16:rowId xmlns:a16="http://schemas.microsoft.com/office/drawing/2014/main" val="2802801297"/>
                  </a:ext>
                </a:extLst>
              </a:tr>
              <a:tr h="374435">
                <a:tc>
                  <a:txBody>
                    <a:bodyPr/>
                    <a:lstStyle/>
                    <a:p>
                      <a:pPr marL="0" indent="114300"/>
                      <a:r>
                        <a:rPr lang="en-US" sz="1750" dirty="0"/>
                        <a:t>Perfect</a:t>
                      </a:r>
                    </a:p>
                  </a:txBody>
                  <a:tcPr/>
                </a:tc>
                <a:tc>
                  <a:txBody>
                    <a:bodyPr/>
                    <a:lstStyle/>
                    <a:p>
                      <a:r>
                        <a:rPr lang="en-US" sz="1750" dirty="0"/>
                        <a:t>Has both stamens and (a) carpel(s)</a:t>
                      </a:r>
                    </a:p>
                  </a:txBody>
                  <a:tcPr/>
                </a:tc>
                <a:extLst>
                  <a:ext uri="{0D108BD9-81ED-4DB2-BD59-A6C34878D82A}">
                    <a16:rowId xmlns:a16="http://schemas.microsoft.com/office/drawing/2014/main" val="3113238912"/>
                  </a:ext>
                </a:extLst>
              </a:tr>
              <a:tr h="306424">
                <a:tc>
                  <a:txBody>
                    <a:bodyPr/>
                    <a:lstStyle/>
                    <a:p>
                      <a:pPr marL="0" indent="114300"/>
                      <a:r>
                        <a:rPr lang="en-US" sz="1750" dirty="0"/>
                        <a:t>Imperfect</a:t>
                      </a:r>
                    </a:p>
                  </a:txBody>
                  <a:tcPr/>
                </a:tc>
                <a:tc>
                  <a:txBody>
                    <a:bodyPr/>
                    <a:lstStyle/>
                    <a:p>
                      <a:r>
                        <a:rPr lang="en-US" sz="1750" dirty="0"/>
                        <a:t>Has stamens or (a) carpel(s),</a:t>
                      </a:r>
                      <a:r>
                        <a:rPr lang="en-US" sz="1750" baseline="0" dirty="0"/>
                        <a:t> but not both</a:t>
                      </a:r>
                      <a:endParaRPr lang="en-US" sz="1750" dirty="0"/>
                    </a:p>
                  </a:txBody>
                  <a:tcPr/>
                </a:tc>
                <a:extLst>
                  <a:ext uri="{0D108BD9-81ED-4DB2-BD59-A6C34878D82A}">
                    <a16:rowId xmlns:a16="http://schemas.microsoft.com/office/drawing/2014/main" val="3200630276"/>
                  </a:ext>
                </a:extLst>
              </a:tr>
              <a:tr h="222084">
                <a:tc>
                  <a:txBody>
                    <a:bodyPr/>
                    <a:lstStyle/>
                    <a:p>
                      <a:pPr marL="0" indent="114300"/>
                      <a:r>
                        <a:rPr lang="en-US" sz="1750" dirty="0"/>
                        <a:t>Inflorescence</a:t>
                      </a:r>
                    </a:p>
                  </a:txBody>
                  <a:tcPr/>
                </a:tc>
                <a:tc>
                  <a:txBody>
                    <a:bodyPr/>
                    <a:lstStyle/>
                    <a:p>
                      <a:r>
                        <a:rPr lang="en-US" sz="1750" dirty="0"/>
                        <a:t>A cluster</a:t>
                      </a:r>
                      <a:r>
                        <a:rPr lang="en-US" sz="1750" baseline="0" dirty="0"/>
                        <a:t> of flowers</a:t>
                      </a:r>
                      <a:endParaRPr lang="en-US" sz="1750" dirty="0"/>
                    </a:p>
                  </a:txBody>
                  <a:tcPr/>
                </a:tc>
                <a:extLst>
                  <a:ext uri="{0D108BD9-81ED-4DB2-BD59-A6C34878D82A}">
                    <a16:rowId xmlns:a16="http://schemas.microsoft.com/office/drawing/2014/main" val="342888273"/>
                  </a:ext>
                </a:extLst>
              </a:tr>
              <a:tr h="709244">
                <a:tc>
                  <a:txBody>
                    <a:bodyPr/>
                    <a:lstStyle/>
                    <a:p>
                      <a:pPr marL="0" indent="114300"/>
                      <a:r>
                        <a:rPr lang="en-US" sz="1750" dirty="0"/>
                        <a:t>Composite</a:t>
                      </a:r>
                    </a:p>
                  </a:txBody>
                  <a:tcPr/>
                </a:tc>
                <a:tc>
                  <a:txBody>
                    <a:bodyPr/>
                    <a:lstStyle/>
                    <a:p>
                      <a:r>
                        <a:rPr lang="en-US" sz="1750" dirty="0"/>
                        <a:t>Appears to be a single flower but consists</a:t>
                      </a:r>
                    </a:p>
                    <a:p>
                      <a:pPr marL="0" indent="179388"/>
                      <a:r>
                        <a:rPr lang="en-US" sz="1750" dirty="0"/>
                        <a:t>of a group of tiny flowers</a:t>
                      </a:r>
                    </a:p>
                  </a:txBody>
                  <a:tcPr/>
                </a:tc>
                <a:extLst>
                  <a:ext uri="{0D108BD9-81ED-4DB2-BD59-A6C34878D82A}">
                    <a16:rowId xmlns:a16="http://schemas.microsoft.com/office/drawing/2014/main" val="1636744969"/>
                  </a:ext>
                </a:extLst>
              </a:tr>
            </a:tbl>
          </a:graphicData>
        </a:graphic>
      </p:graphicFrame>
      <p:sp>
        <p:nvSpPr>
          <p:cNvPr id="4" name="Slide Number Placeholder 5">
            <a:extLst>
              <a:ext uri="{FF2B5EF4-FFF2-40B4-BE49-F238E27FC236}">
                <a16:creationId xmlns:a16="http://schemas.microsoft.com/office/drawing/2014/main" id="{F9FF21C1-38D1-4171-BBDB-FD6378D8601C}"/>
              </a:ext>
            </a:extLst>
          </p:cNvPr>
          <p:cNvSpPr>
            <a:spLocks noGrp="1"/>
          </p:cNvSpPr>
          <p:nvPr>
            <p:ph type="sldNum" sz="quarter" idx="4"/>
          </p:nvPr>
        </p:nvSpPr>
        <p:spPr/>
        <p:txBody>
          <a:bodyPr/>
          <a:lstStyle/>
          <a:p>
            <a:fld id="{08F9AD23-695F-4808-8E99-6281554D0F77}" type="slidenum">
              <a:rPr lang="en-IN" smtClean="0"/>
              <a:t>91</a:t>
            </a:fld>
            <a:endParaRPr lang="en-IN"/>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hidden="1">
            <a:extLst>
              <a:ext uri="{FF2B5EF4-FFF2-40B4-BE49-F238E27FC236}">
                <a16:creationId xmlns:a16="http://schemas.microsoft.com/office/drawing/2014/main" id="{2DB381F5-A910-4EE2-B9E1-BF7DADBC82F5}"/>
              </a:ext>
            </a:extLst>
          </p:cNvPr>
          <p:cNvSpPr>
            <a:spLocks noGrp="1"/>
          </p:cNvSpPr>
          <p:nvPr>
            <p:ph type="title"/>
          </p:nvPr>
        </p:nvSpPr>
        <p:spPr/>
        <p:txBody>
          <a:bodyPr/>
          <a:lstStyle/>
          <a:p>
            <a:r>
              <a:rPr lang="en-IN" dirty="0"/>
              <a:t>End of main content</a:t>
            </a:r>
          </a:p>
        </p:txBody>
      </p:sp>
      <p:sp>
        <p:nvSpPr>
          <p:cNvPr id="3" name="Content Placeholder 8">
            <a:extLst>
              <a:ext uri="{FF2B5EF4-FFF2-40B4-BE49-F238E27FC236}">
                <a16:creationId xmlns:a16="http://schemas.microsoft.com/office/drawing/2014/main" id="{9BA4D7B8-9871-47C4-84B8-1C640B62E918}"/>
              </a:ext>
            </a:extLst>
          </p:cNvPr>
          <p:cNvSpPr txBox="1">
            <a:spLocks/>
          </p:cNvSpPr>
          <p:nvPr/>
        </p:nvSpPr>
        <p:spPr>
          <a:xfrm>
            <a:off x="0" y="6383045"/>
            <a:ext cx="9144000" cy="47495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800" dirty="0">
                <a:solidFill>
                  <a:srgbClr val="222222"/>
                </a:solidFill>
                <a:latin typeface="Arial" panose="020B0604020202020204" pitchFamily="34" charset="0"/>
              </a:rPr>
              <a:t>Copyright 2022 © McGraw Hill LLC. All rights reserved. No reproduction or distribution without the prior written consent of McGraw Hill LLC.</a:t>
            </a:r>
            <a:endParaRPr lang="en-US" sz="800" dirty="0"/>
          </a:p>
        </p:txBody>
      </p:sp>
    </p:spTree>
    <p:extLst>
      <p:ext uri="{BB962C8B-B14F-4D97-AF65-F5344CB8AC3E}">
        <p14:creationId xmlns:p14="http://schemas.microsoft.com/office/powerpoint/2010/main" val="315038952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737D552-265F-4B72-AC96-158D0C5E1A32}"/>
              </a:ext>
            </a:extLst>
          </p:cNvPr>
          <p:cNvSpPr>
            <a:spLocks noGrp="1"/>
          </p:cNvSpPr>
          <p:nvPr>
            <p:ph type="title"/>
          </p:nvPr>
        </p:nvSpPr>
        <p:spPr/>
        <p:txBody>
          <a:bodyPr/>
          <a:lstStyle/>
          <a:p>
            <a:r>
              <a:rPr lang="en-US" noProof="0"/>
              <a:t>Accessibility Content: Text Alternatives for Images</a:t>
            </a:r>
            <a:endParaRPr lang="en-IN" dirty="0"/>
          </a:p>
        </p:txBody>
      </p:sp>
    </p:spTree>
    <p:extLst>
      <p:ext uri="{BB962C8B-B14F-4D97-AF65-F5344CB8AC3E}">
        <p14:creationId xmlns:p14="http://schemas.microsoft.com/office/powerpoint/2010/main" val="24751155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44C2933-9AB3-4B95-A07A-9B3AC82FF331}"/>
              </a:ext>
            </a:extLst>
          </p:cNvPr>
          <p:cNvSpPr>
            <a:spLocks noGrp="1"/>
          </p:cNvSpPr>
          <p:nvPr>
            <p:ph type="title"/>
          </p:nvPr>
        </p:nvSpPr>
        <p:spPr/>
        <p:txBody>
          <a:bodyPr/>
          <a:lstStyle/>
          <a:p>
            <a:r>
              <a:rPr lang="en-US" altLang="en-US" dirty="0">
                <a:solidFill>
                  <a:schemeClr val="accent3">
                    <a:lumMod val="50000"/>
                  </a:schemeClr>
                </a:solidFill>
                <a:latin typeface="+mj-lt"/>
              </a:rPr>
              <a:t> Evolutionary History of Plants</a:t>
            </a:r>
            <a:r>
              <a:rPr lang="en-US" noProof="0" dirty="0"/>
              <a:t> - Text Alternative</a:t>
            </a:r>
            <a:endParaRPr lang="en-IN" dirty="0"/>
          </a:p>
        </p:txBody>
      </p:sp>
      <p:sp>
        <p:nvSpPr>
          <p:cNvPr id="5" name="Text Placeholder 2">
            <a:extLst>
              <a:ext uri="{FF2B5EF4-FFF2-40B4-BE49-F238E27FC236}">
                <a16:creationId xmlns:a16="http://schemas.microsoft.com/office/drawing/2014/main" id="{180637A7-959C-46FA-8053-AB4BA177A1EA}"/>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6" name="Content Placeholder 3">
            <a:extLst>
              <a:ext uri="{FF2B5EF4-FFF2-40B4-BE49-F238E27FC236}">
                <a16:creationId xmlns:a16="http://schemas.microsoft.com/office/drawing/2014/main" id="{EB74C14A-55D6-4118-8DF9-A182DABB7080}"/>
              </a:ext>
            </a:extLst>
          </p:cNvPr>
          <p:cNvSpPr>
            <a:spLocks noGrp="1"/>
          </p:cNvSpPr>
          <p:nvPr>
            <p:ph sz="quarter" idx="21"/>
          </p:nvPr>
        </p:nvSpPr>
        <p:spPr/>
        <p:txBody>
          <a:bodyPr/>
          <a:lstStyle/>
          <a:p>
            <a:r>
              <a:rPr lang="en-IN" dirty="0"/>
              <a:t>Common green algal ancestor leads to vascular (seed) through flowering plants and gymnosperms.</a:t>
            </a:r>
          </a:p>
          <a:p>
            <a:r>
              <a:rPr lang="en-IN" dirty="0"/>
              <a:t>Common green algal ancestor leads to vascular (seedless) through ferns and allies and lycophytes.</a:t>
            </a:r>
          </a:p>
          <a:p>
            <a:r>
              <a:rPr lang="en-IN" dirty="0"/>
              <a:t>Common green algal ancestor leads to nonvascular (bryophytes) through hornworts, mosses and liverworts. </a:t>
            </a:r>
          </a:p>
          <a:p>
            <a:r>
              <a:rPr lang="en-IN" dirty="0"/>
              <a:t>Common green algal ancestor leads to charophytes.</a:t>
            </a:r>
          </a:p>
        </p:txBody>
      </p:sp>
      <p:sp>
        <p:nvSpPr>
          <p:cNvPr id="7" name="Text Placeholder 4">
            <a:extLst>
              <a:ext uri="{FF2B5EF4-FFF2-40B4-BE49-F238E27FC236}">
                <a16:creationId xmlns:a16="http://schemas.microsoft.com/office/drawing/2014/main" id="{19F13CA7-A55A-49B3-9604-348B81AE2D88}"/>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3" name="Slide Number Placeholder 5">
            <a:extLst>
              <a:ext uri="{FF2B5EF4-FFF2-40B4-BE49-F238E27FC236}">
                <a16:creationId xmlns:a16="http://schemas.microsoft.com/office/drawing/2014/main" id="{CC239667-E29E-4838-9BC8-1A87FE42C43A}"/>
              </a:ext>
            </a:extLst>
          </p:cNvPr>
          <p:cNvSpPr>
            <a:spLocks noGrp="1"/>
          </p:cNvSpPr>
          <p:nvPr>
            <p:ph type="sldNum" sz="quarter" idx="10"/>
          </p:nvPr>
        </p:nvSpPr>
        <p:spPr/>
        <p:txBody>
          <a:bodyPr/>
          <a:lstStyle/>
          <a:p>
            <a:fld id="{68151E55-6873-49E2-B8D5-2F265E6F1973}" type="slidenum">
              <a:rPr lang="en-US" smtClean="0"/>
              <a:pPr/>
              <a:t>94</a:t>
            </a:fld>
            <a:endParaRPr lang="en-US" dirty="0"/>
          </a:p>
        </p:txBody>
      </p:sp>
    </p:spTree>
    <p:extLst>
      <p:ext uri="{BB962C8B-B14F-4D97-AF65-F5344CB8AC3E}">
        <p14:creationId xmlns:p14="http://schemas.microsoft.com/office/powerpoint/2010/main" val="65191541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3F09C-938B-4A6B-BB8A-501BE5E9136B}"/>
              </a:ext>
            </a:extLst>
          </p:cNvPr>
          <p:cNvSpPr>
            <a:spLocks noGrp="1"/>
          </p:cNvSpPr>
          <p:nvPr>
            <p:ph type="title"/>
          </p:nvPr>
        </p:nvSpPr>
        <p:spPr/>
        <p:txBody>
          <a:bodyPr/>
          <a:lstStyle/>
          <a:p>
            <a:r>
              <a:rPr lang="en-US" sz="3600" dirty="0">
                <a:solidFill>
                  <a:schemeClr val="accent3">
                    <a:lumMod val="50000"/>
                  </a:schemeClr>
                </a:solidFill>
                <a:latin typeface="+mn-lt"/>
              </a:rPr>
              <a:t>Embryo Difference in Green Algae and Land Plants</a:t>
            </a:r>
            <a:r>
              <a:rPr lang="en-US" noProof="0" dirty="0"/>
              <a:t> - Text Alternative</a:t>
            </a:r>
            <a:endParaRPr lang="en-IN" dirty="0"/>
          </a:p>
        </p:txBody>
      </p:sp>
      <p:sp>
        <p:nvSpPr>
          <p:cNvPr id="3" name="Text Placeholder 2">
            <a:extLst>
              <a:ext uri="{FF2B5EF4-FFF2-40B4-BE49-F238E27FC236}">
                <a16:creationId xmlns:a16="http://schemas.microsoft.com/office/drawing/2014/main" id="{81E5C9E4-C48F-4E8A-8825-B5D750DAAEEF}"/>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EA3D7A5F-082B-4D67-AB44-5D78750D73E4}"/>
              </a:ext>
            </a:extLst>
          </p:cNvPr>
          <p:cNvSpPr>
            <a:spLocks noGrp="1"/>
          </p:cNvSpPr>
          <p:nvPr>
            <p:ph sz="quarter" idx="21"/>
          </p:nvPr>
        </p:nvSpPr>
        <p:spPr/>
        <p:txBody>
          <a:bodyPr/>
          <a:lstStyle/>
          <a:p>
            <a:r>
              <a:rPr lang="en-US" sz="1400" dirty="0"/>
              <a:t>A) Microscopic view of embryo of Oedogonium is depicted a tube-like alga with unprotected embryo. B) Microscopic view shows a nourished and protected embryo of </a:t>
            </a:r>
            <a:r>
              <a:rPr lang="en-US" sz="1400" dirty="0" err="1"/>
              <a:t>Capsella</a:t>
            </a:r>
            <a:r>
              <a:rPr lang="en-US" sz="1400" dirty="0"/>
              <a:t> encapsulated in seed.</a:t>
            </a:r>
            <a:endParaRPr lang="en-GB" sz="1400" dirty="0"/>
          </a:p>
        </p:txBody>
      </p:sp>
      <p:sp>
        <p:nvSpPr>
          <p:cNvPr id="5" name="Text Placeholder 4">
            <a:extLst>
              <a:ext uri="{FF2B5EF4-FFF2-40B4-BE49-F238E27FC236}">
                <a16:creationId xmlns:a16="http://schemas.microsoft.com/office/drawing/2014/main" id="{41DF71E9-74F6-4DB5-A5BB-81C3D000168A}"/>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3A5028F7-49E9-4823-9DF9-F28FBA830ED5}"/>
              </a:ext>
            </a:extLst>
          </p:cNvPr>
          <p:cNvSpPr>
            <a:spLocks noGrp="1"/>
          </p:cNvSpPr>
          <p:nvPr>
            <p:ph type="sldNum" sz="quarter" idx="10"/>
          </p:nvPr>
        </p:nvSpPr>
        <p:spPr/>
        <p:txBody>
          <a:bodyPr/>
          <a:lstStyle/>
          <a:p>
            <a:fld id="{68151E55-6873-49E2-B8D5-2F265E6F1973}" type="slidenum">
              <a:rPr lang="en-US" smtClean="0"/>
              <a:t>95</a:t>
            </a:fld>
            <a:endParaRPr lang="en-US" dirty="0"/>
          </a:p>
        </p:txBody>
      </p:sp>
    </p:spTree>
    <p:extLst>
      <p:ext uri="{BB962C8B-B14F-4D97-AF65-F5344CB8AC3E}">
        <p14:creationId xmlns:p14="http://schemas.microsoft.com/office/powerpoint/2010/main" val="107829586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3F09C-938B-4A6B-BB8A-501BE5E9136B}"/>
              </a:ext>
            </a:extLst>
          </p:cNvPr>
          <p:cNvSpPr>
            <a:spLocks noGrp="1"/>
          </p:cNvSpPr>
          <p:nvPr>
            <p:ph type="title"/>
          </p:nvPr>
        </p:nvSpPr>
        <p:spPr/>
        <p:txBody>
          <a:bodyPr/>
          <a:lstStyle/>
          <a:p>
            <a:r>
              <a:rPr lang="en-US" altLang="en-US" dirty="0">
                <a:solidFill>
                  <a:schemeClr val="accent3">
                    <a:lumMod val="50000"/>
                  </a:schemeClr>
                </a:solidFill>
                <a:latin typeface="+mn-lt"/>
              </a:rPr>
              <a:t>Leaf Adaptation to Prevent Desiccation </a:t>
            </a:r>
            <a:br>
              <a:rPr lang="en-US" altLang="en-US" dirty="0">
                <a:solidFill>
                  <a:schemeClr val="accent3">
                    <a:lumMod val="50000"/>
                  </a:schemeClr>
                </a:solidFill>
                <a:latin typeface="+mn-lt"/>
              </a:rPr>
            </a:br>
            <a:r>
              <a:rPr lang="en-US" noProof="0" dirty="0"/>
              <a:t>- Text Alternative</a:t>
            </a:r>
            <a:endParaRPr lang="en-IN" dirty="0"/>
          </a:p>
        </p:txBody>
      </p:sp>
      <p:sp>
        <p:nvSpPr>
          <p:cNvPr id="3" name="Text Placeholder 2">
            <a:extLst>
              <a:ext uri="{FF2B5EF4-FFF2-40B4-BE49-F238E27FC236}">
                <a16:creationId xmlns:a16="http://schemas.microsoft.com/office/drawing/2014/main" id="{81E5C9E4-C48F-4E8A-8825-B5D750DAAEEF}"/>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EA3D7A5F-082B-4D67-AB44-5D78750D73E4}"/>
              </a:ext>
            </a:extLst>
          </p:cNvPr>
          <p:cNvSpPr>
            <a:spLocks noGrp="1"/>
          </p:cNvSpPr>
          <p:nvPr>
            <p:ph sz="quarter" idx="21"/>
          </p:nvPr>
        </p:nvSpPr>
        <p:spPr/>
        <p:txBody>
          <a:bodyPr/>
          <a:lstStyle/>
          <a:p>
            <a:r>
              <a:rPr lang="en-US" sz="1400" dirty="0"/>
              <a:t>A) Leaves have a waterproof cuticle: </a:t>
            </a:r>
          </a:p>
          <a:p>
            <a:r>
              <a:rPr lang="en-US" sz="1400" dirty="0"/>
              <a:t>Enlarged diagram shows the presence of white cuticle. </a:t>
            </a:r>
          </a:p>
          <a:p>
            <a:r>
              <a:rPr lang="en-US" sz="1400" dirty="0"/>
              <a:t>B) Falsely colored scanning electron micrograph of leaf surface: </a:t>
            </a:r>
          </a:p>
          <a:p>
            <a:r>
              <a:rPr lang="en-US" sz="1400" dirty="0"/>
              <a:t>Micrograph (enlarged 214 times) shows presence of eye shaped stomata across the surface of leaf. </a:t>
            </a:r>
            <a:endParaRPr lang="en-GB" sz="1400" dirty="0"/>
          </a:p>
        </p:txBody>
      </p:sp>
      <p:sp>
        <p:nvSpPr>
          <p:cNvPr id="5" name="Text Placeholder 4">
            <a:extLst>
              <a:ext uri="{FF2B5EF4-FFF2-40B4-BE49-F238E27FC236}">
                <a16:creationId xmlns:a16="http://schemas.microsoft.com/office/drawing/2014/main" id="{41DF71E9-74F6-4DB5-A5BB-81C3D000168A}"/>
              </a:ext>
            </a:extLst>
          </p:cNvPr>
          <p:cNvSpPr>
            <a:spLocks noGrp="1"/>
          </p:cNvSpPr>
          <p:nvPr>
            <p:ph type="body" sz="quarter" idx="22"/>
          </p:nvPr>
        </p:nvSpPr>
        <p:spPr>
          <a:xfrm>
            <a:off x="703545" y="5742807"/>
            <a:ext cx="7736911" cy="385194"/>
          </a:xfrm>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3A5028F7-49E9-4823-9DF9-F28FBA830ED5}"/>
              </a:ext>
            </a:extLst>
          </p:cNvPr>
          <p:cNvSpPr>
            <a:spLocks noGrp="1"/>
          </p:cNvSpPr>
          <p:nvPr>
            <p:ph type="sldNum" sz="quarter" idx="10"/>
          </p:nvPr>
        </p:nvSpPr>
        <p:spPr/>
        <p:txBody>
          <a:bodyPr/>
          <a:lstStyle/>
          <a:p>
            <a:fld id="{68151E55-6873-49E2-B8D5-2F265E6F1973}" type="slidenum">
              <a:rPr lang="en-US" smtClean="0"/>
              <a:t>96</a:t>
            </a:fld>
            <a:endParaRPr lang="en-US" dirty="0"/>
          </a:p>
        </p:txBody>
      </p:sp>
    </p:spTree>
    <p:extLst>
      <p:ext uri="{BB962C8B-B14F-4D97-AF65-F5344CB8AC3E}">
        <p14:creationId xmlns:p14="http://schemas.microsoft.com/office/powerpoint/2010/main" val="276609019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3F09C-938B-4A6B-BB8A-501BE5E9136B}"/>
              </a:ext>
            </a:extLst>
          </p:cNvPr>
          <p:cNvSpPr>
            <a:spLocks noGrp="1"/>
          </p:cNvSpPr>
          <p:nvPr>
            <p:ph type="title"/>
          </p:nvPr>
        </p:nvSpPr>
        <p:spPr/>
        <p:txBody>
          <a:bodyPr/>
          <a:lstStyle/>
          <a:p>
            <a:r>
              <a:rPr lang="en-US" altLang="en-US" dirty="0">
                <a:solidFill>
                  <a:schemeClr val="accent3">
                    <a:lumMod val="50000"/>
                  </a:schemeClr>
                </a:solidFill>
                <a:latin typeface="+mn-lt"/>
              </a:rPr>
              <a:t>Alternation of Generations in Land Plants </a:t>
            </a:r>
            <a:br>
              <a:rPr lang="en-US" altLang="en-US" dirty="0">
                <a:solidFill>
                  <a:schemeClr val="accent3">
                    <a:lumMod val="50000"/>
                  </a:schemeClr>
                </a:solidFill>
                <a:latin typeface="+mn-lt"/>
              </a:rPr>
            </a:br>
            <a:r>
              <a:rPr lang="en-US" noProof="0" dirty="0"/>
              <a:t>- Text Alternative</a:t>
            </a:r>
            <a:endParaRPr lang="en-IN" dirty="0"/>
          </a:p>
        </p:txBody>
      </p:sp>
      <p:sp>
        <p:nvSpPr>
          <p:cNvPr id="3" name="Text Placeholder 2">
            <a:extLst>
              <a:ext uri="{FF2B5EF4-FFF2-40B4-BE49-F238E27FC236}">
                <a16:creationId xmlns:a16="http://schemas.microsoft.com/office/drawing/2014/main" id="{81E5C9E4-C48F-4E8A-8825-B5D750DAAEEF}"/>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EA3D7A5F-082B-4D67-AB44-5D78750D73E4}"/>
              </a:ext>
            </a:extLst>
          </p:cNvPr>
          <p:cNvSpPr>
            <a:spLocks noGrp="1"/>
          </p:cNvSpPr>
          <p:nvPr>
            <p:ph sz="quarter" idx="21"/>
          </p:nvPr>
        </p:nvSpPr>
        <p:spPr>
          <a:xfrm>
            <a:off x="703545" y="1824957"/>
            <a:ext cx="7736911" cy="3773228"/>
          </a:xfrm>
        </p:spPr>
        <p:txBody>
          <a:bodyPr/>
          <a:lstStyle/>
          <a:p>
            <a:r>
              <a:rPr lang="en-GB" sz="1400" dirty="0"/>
              <a:t>In diploid phase, zygote(2n) on mitosis leads to sporophyte (2n), which further leads to sporangium (2).</a:t>
            </a:r>
          </a:p>
          <a:p>
            <a:r>
              <a:rPr lang="en-GB" sz="1400" dirty="0"/>
              <a:t>In haploid phase (n), meiosis leads to spores (n), which on mitosis leads to gametophyte (n). Further, on mitosis, gametes (n) are formed which on fertilization leads to formation of zygote in diploid phase.</a:t>
            </a:r>
          </a:p>
        </p:txBody>
      </p:sp>
      <p:sp>
        <p:nvSpPr>
          <p:cNvPr id="5" name="Text Placeholder 4">
            <a:extLst>
              <a:ext uri="{FF2B5EF4-FFF2-40B4-BE49-F238E27FC236}">
                <a16:creationId xmlns:a16="http://schemas.microsoft.com/office/drawing/2014/main" id="{41DF71E9-74F6-4DB5-A5BB-81C3D000168A}"/>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3A5028F7-49E9-4823-9DF9-F28FBA830ED5}"/>
              </a:ext>
            </a:extLst>
          </p:cNvPr>
          <p:cNvSpPr>
            <a:spLocks noGrp="1"/>
          </p:cNvSpPr>
          <p:nvPr>
            <p:ph type="sldNum" sz="quarter" idx="10"/>
          </p:nvPr>
        </p:nvSpPr>
        <p:spPr/>
        <p:txBody>
          <a:bodyPr/>
          <a:lstStyle/>
          <a:p>
            <a:fld id="{68151E55-6873-49E2-B8D5-2F265E6F1973}" type="slidenum">
              <a:rPr lang="en-US" smtClean="0"/>
              <a:t>97</a:t>
            </a:fld>
            <a:endParaRPr lang="en-US" dirty="0"/>
          </a:p>
        </p:txBody>
      </p:sp>
    </p:spTree>
    <p:extLst>
      <p:ext uri="{BB962C8B-B14F-4D97-AF65-F5344CB8AC3E}">
        <p14:creationId xmlns:p14="http://schemas.microsoft.com/office/powerpoint/2010/main" val="292294017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3F09C-938B-4A6B-BB8A-501BE5E9136B}"/>
              </a:ext>
            </a:extLst>
          </p:cNvPr>
          <p:cNvSpPr>
            <a:spLocks noGrp="1"/>
          </p:cNvSpPr>
          <p:nvPr>
            <p:ph type="title"/>
          </p:nvPr>
        </p:nvSpPr>
        <p:spPr/>
        <p:txBody>
          <a:bodyPr/>
          <a:lstStyle/>
          <a:p>
            <a:r>
              <a:rPr lang="en-US" altLang="en-US" dirty="0">
                <a:solidFill>
                  <a:schemeClr val="accent3">
                    <a:lumMod val="50000"/>
                  </a:schemeClr>
                </a:solidFill>
                <a:latin typeface="+mj-lt"/>
              </a:rPr>
              <a:t>Reduction in the Size of the Gametophyte </a:t>
            </a:r>
            <a:br>
              <a:rPr lang="en-US" altLang="en-US" dirty="0">
                <a:solidFill>
                  <a:schemeClr val="accent3">
                    <a:lumMod val="50000"/>
                  </a:schemeClr>
                </a:solidFill>
                <a:latin typeface="+mj-lt"/>
              </a:rPr>
            </a:br>
            <a:r>
              <a:rPr lang="en-US" noProof="0" dirty="0"/>
              <a:t>- Text Alternative</a:t>
            </a:r>
            <a:endParaRPr lang="en-IN" dirty="0"/>
          </a:p>
        </p:txBody>
      </p:sp>
      <p:sp>
        <p:nvSpPr>
          <p:cNvPr id="3" name="Text Placeholder 2">
            <a:extLst>
              <a:ext uri="{FF2B5EF4-FFF2-40B4-BE49-F238E27FC236}">
                <a16:creationId xmlns:a16="http://schemas.microsoft.com/office/drawing/2014/main" id="{81E5C9E4-C48F-4E8A-8825-B5D750DAAEEF}"/>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EA3D7A5F-082B-4D67-AB44-5D78750D73E4}"/>
              </a:ext>
            </a:extLst>
          </p:cNvPr>
          <p:cNvSpPr>
            <a:spLocks noGrp="1"/>
          </p:cNvSpPr>
          <p:nvPr>
            <p:ph sz="quarter" idx="21"/>
          </p:nvPr>
        </p:nvSpPr>
        <p:spPr/>
        <p:txBody>
          <a:bodyPr/>
          <a:lstStyle/>
          <a:p>
            <a:r>
              <a:rPr lang="en-GB" sz="1400" dirty="0"/>
              <a:t>The data is as follows:  </a:t>
            </a:r>
          </a:p>
          <a:p>
            <a:r>
              <a:rPr lang="en-GB" sz="1400" dirty="0"/>
              <a:t>Gametophyte (n): </a:t>
            </a:r>
          </a:p>
          <a:p>
            <a:r>
              <a:rPr lang="en-GB" sz="1400" dirty="0"/>
              <a:t>Moss: rhizoids.</a:t>
            </a:r>
          </a:p>
          <a:p>
            <a:r>
              <a:rPr lang="en-GB" sz="1400" dirty="0"/>
              <a:t>Fern: rhizoids</a:t>
            </a:r>
          </a:p>
          <a:p>
            <a:r>
              <a:rPr lang="en-GB" sz="1400" dirty="0"/>
              <a:t>Gymnosperm: blank</a:t>
            </a:r>
          </a:p>
          <a:p>
            <a:r>
              <a:rPr lang="en-GB" sz="1400" dirty="0"/>
              <a:t>Angiosperm: blank</a:t>
            </a:r>
          </a:p>
          <a:p>
            <a:r>
              <a:rPr lang="en-GB" sz="1400" dirty="0"/>
              <a:t>Sporophytes (2n): </a:t>
            </a:r>
          </a:p>
          <a:p>
            <a:r>
              <a:rPr lang="en-GB" sz="1400" dirty="0"/>
              <a:t>Moss: spores</a:t>
            </a:r>
          </a:p>
          <a:p>
            <a:r>
              <a:rPr lang="en-GB" sz="1400" dirty="0"/>
              <a:t>Fern: spores and roots</a:t>
            </a:r>
          </a:p>
          <a:p>
            <a:r>
              <a:rPr lang="en-GB" sz="1400" dirty="0"/>
              <a:t>Gymnosperm: seed and roots </a:t>
            </a:r>
          </a:p>
          <a:p>
            <a:r>
              <a:rPr lang="en-GB" sz="1400" dirty="0"/>
              <a:t>Angiosperm: seed and roots. </a:t>
            </a:r>
          </a:p>
        </p:txBody>
      </p:sp>
      <p:sp>
        <p:nvSpPr>
          <p:cNvPr id="5" name="Text Placeholder 4">
            <a:extLst>
              <a:ext uri="{FF2B5EF4-FFF2-40B4-BE49-F238E27FC236}">
                <a16:creationId xmlns:a16="http://schemas.microsoft.com/office/drawing/2014/main" id="{41DF71E9-74F6-4DB5-A5BB-81C3D000168A}"/>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3A5028F7-49E9-4823-9DF9-F28FBA830ED5}"/>
              </a:ext>
            </a:extLst>
          </p:cNvPr>
          <p:cNvSpPr>
            <a:spLocks noGrp="1"/>
          </p:cNvSpPr>
          <p:nvPr>
            <p:ph type="sldNum" sz="quarter" idx="10"/>
          </p:nvPr>
        </p:nvSpPr>
        <p:spPr/>
        <p:txBody>
          <a:bodyPr/>
          <a:lstStyle/>
          <a:p>
            <a:fld id="{68151E55-6873-49E2-B8D5-2F265E6F1973}" type="slidenum">
              <a:rPr lang="en-US" smtClean="0"/>
              <a:t>98</a:t>
            </a:fld>
            <a:endParaRPr lang="en-US" dirty="0"/>
          </a:p>
        </p:txBody>
      </p:sp>
    </p:spTree>
    <p:extLst>
      <p:ext uri="{BB962C8B-B14F-4D97-AF65-F5344CB8AC3E}">
        <p14:creationId xmlns:p14="http://schemas.microsoft.com/office/powerpoint/2010/main" val="191021618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3F09C-938B-4A6B-BB8A-501BE5E9136B}"/>
              </a:ext>
            </a:extLst>
          </p:cNvPr>
          <p:cNvSpPr>
            <a:spLocks noGrp="1"/>
          </p:cNvSpPr>
          <p:nvPr>
            <p:ph type="title"/>
          </p:nvPr>
        </p:nvSpPr>
        <p:spPr/>
        <p:txBody>
          <a:bodyPr/>
          <a:lstStyle/>
          <a:p>
            <a:r>
              <a:rPr lang="en-US" altLang="en-US" dirty="0">
                <a:solidFill>
                  <a:schemeClr val="accent3">
                    <a:lumMod val="50000"/>
                  </a:schemeClr>
                </a:solidFill>
                <a:latin typeface="+mn-lt"/>
              </a:rPr>
              <a:t>Liverwort, </a:t>
            </a:r>
            <a:r>
              <a:rPr lang="en-US" altLang="en-US" i="1" dirty="0">
                <a:solidFill>
                  <a:schemeClr val="accent3">
                    <a:lumMod val="50000"/>
                  </a:schemeClr>
                </a:solidFill>
                <a:latin typeface="+mn-lt"/>
              </a:rPr>
              <a:t>Marchantia </a:t>
            </a:r>
            <a:r>
              <a:rPr lang="en-US" noProof="0" dirty="0"/>
              <a:t>- Text Alternative</a:t>
            </a:r>
            <a:endParaRPr lang="en-IN" dirty="0"/>
          </a:p>
        </p:txBody>
      </p:sp>
      <p:sp>
        <p:nvSpPr>
          <p:cNvPr id="3" name="Text Placeholder 2">
            <a:extLst>
              <a:ext uri="{FF2B5EF4-FFF2-40B4-BE49-F238E27FC236}">
                <a16:creationId xmlns:a16="http://schemas.microsoft.com/office/drawing/2014/main" id="{81E5C9E4-C48F-4E8A-8825-B5D750DAAEEF}"/>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EA3D7A5F-082B-4D67-AB44-5D78750D73E4}"/>
              </a:ext>
            </a:extLst>
          </p:cNvPr>
          <p:cNvSpPr>
            <a:spLocks noGrp="1"/>
          </p:cNvSpPr>
          <p:nvPr>
            <p:ph sz="quarter" idx="21"/>
          </p:nvPr>
        </p:nvSpPr>
        <p:spPr/>
        <p:txBody>
          <a:bodyPr/>
          <a:lstStyle/>
          <a:p>
            <a:r>
              <a:rPr lang="en-GB" sz="1400" dirty="0"/>
              <a:t>a) Microscopic view shows thallus present between </a:t>
            </a:r>
            <a:r>
              <a:rPr lang="en-GB" sz="1400" dirty="0" err="1"/>
              <a:t>gemma</a:t>
            </a:r>
            <a:r>
              <a:rPr lang="en-GB" sz="1400" dirty="0"/>
              <a:t> cup and rhizoids.</a:t>
            </a:r>
          </a:p>
          <a:p>
            <a:r>
              <a:rPr lang="en-GB" sz="1400" dirty="0"/>
              <a:t>b) Male gametophytes bearing antheridia is depicted as sac-like structure of sterile cells.</a:t>
            </a:r>
          </a:p>
          <a:p>
            <a:r>
              <a:rPr lang="en-GB" sz="1400" dirty="0"/>
              <a:t>c) Female gametophyte bearing archegonia is depicted as umbrella shaped  structure on top of a stalk.</a:t>
            </a:r>
          </a:p>
        </p:txBody>
      </p:sp>
      <p:sp>
        <p:nvSpPr>
          <p:cNvPr id="5" name="Text Placeholder 4">
            <a:extLst>
              <a:ext uri="{FF2B5EF4-FFF2-40B4-BE49-F238E27FC236}">
                <a16:creationId xmlns:a16="http://schemas.microsoft.com/office/drawing/2014/main" id="{41DF71E9-74F6-4DB5-A5BB-81C3D000168A}"/>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3A5028F7-49E9-4823-9DF9-F28FBA830ED5}"/>
              </a:ext>
            </a:extLst>
          </p:cNvPr>
          <p:cNvSpPr>
            <a:spLocks noGrp="1"/>
          </p:cNvSpPr>
          <p:nvPr>
            <p:ph type="sldNum" sz="quarter" idx="10"/>
          </p:nvPr>
        </p:nvSpPr>
        <p:spPr/>
        <p:txBody>
          <a:bodyPr/>
          <a:lstStyle/>
          <a:p>
            <a:fld id="{68151E55-6873-49E2-B8D5-2F265E6F1973}" type="slidenum">
              <a:rPr lang="en-US" smtClean="0"/>
              <a:t>99</a:t>
            </a:fld>
            <a:endParaRPr lang="en-US" dirty="0"/>
          </a:p>
        </p:txBody>
      </p:sp>
    </p:spTree>
    <p:extLst>
      <p:ext uri="{BB962C8B-B14F-4D97-AF65-F5344CB8AC3E}">
        <p14:creationId xmlns:p14="http://schemas.microsoft.com/office/powerpoint/2010/main" val="323246238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3F09C-938B-4A6B-BB8A-501BE5E9136B}"/>
              </a:ext>
            </a:extLst>
          </p:cNvPr>
          <p:cNvSpPr>
            <a:spLocks noGrp="1"/>
          </p:cNvSpPr>
          <p:nvPr>
            <p:ph type="title"/>
          </p:nvPr>
        </p:nvSpPr>
        <p:spPr/>
        <p:txBody>
          <a:bodyPr/>
          <a:lstStyle/>
          <a:p>
            <a:r>
              <a:rPr lang="en-US" altLang="en-US" dirty="0"/>
              <a:t>Moss Life Cycle </a:t>
            </a:r>
            <a:r>
              <a:rPr lang="en-US" altLang="en-US" sz="1400" dirty="0"/>
              <a:t>4 </a:t>
            </a:r>
            <a:r>
              <a:rPr lang="en-US" noProof="0" dirty="0"/>
              <a:t>- Text Alternative</a:t>
            </a:r>
            <a:endParaRPr lang="en-IN" dirty="0"/>
          </a:p>
        </p:txBody>
      </p:sp>
      <p:sp>
        <p:nvSpPr>
          <p:cNvPr id="3" name="Text Placeholder 2">
            <a:extLst>
              <a:ext uri="{FF2B5EF4-FFF2-40B4-BE49-F238E27FC236}">
                <a16:creationId xmlns:a16="http://schemas.microsoft.com/office/drawing/2014/main" id="{81E5C9E4-C48F-4E8A-8825-B5D750DAAEEF}"/>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EA3D7A5F-082B-4D67-AB44-5D78750D73E4}"/>
              </a:ext>
            </a:extLst>
          </p:cNvPr>
          <p:cNvSpPr>
            <a:spLocks noGrp="1"/>
          </p:cNvSpPr>
          <p:nvPr>
            <p:ph sz="quarter" idx="21"/>
          </p:nvPr>
        </p:nvSpPr>
        <p:spPr/>
        <p:txBody>
          <a:bodyPr>
            <a:normAutofit/>
          </a:bodyPr>
          <a:lstStyle/>
          <a:p>
            <a:r>
              <a:rPr lang="en-US" b="0" i="0" u="none" strike="noStrike" dirty="0">
                <a:solidFill>
                  <a:srgbClr val="000000"/>
                </a:solidFill>
                <a:effectLst/>
                <a:latin typeface="+mn-lt"/>
              </a:rPr>
              <a:t> The mature sporophyte has a foot buried in female gametophyte tissue, a stalk, and an upper capsule (the sporangium), where meiosis occurs and spores are produced.</a:t>
            </a:r>
            <a:endParaRPr lang="en-US" sz="1100" dirty="0">
              <a:latin typeface="+mn-lt"/>
            </a:endParaRPr>
          </a:p>
        </p:txBody>
      </p:sp>
      <p:sp>
        <p:nvSpPr>
          <p:cNvPr id="5" name="Text Placeholder 4">
            <a:extLst>
              <a:ext uri="{FF2B5EF4-FFF2-40B4-BE49-F238E27FC236}">
                <a16:creationId xmlns:a16="http://schemas.microsoft.com/office/drawing/2014/main" id="{41DF71E9-74F6-4DB5-A5BB-81C3D000168A}"/>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3A5028F7-49E9-4823-9DF9-F28FBA830ED5}"/>
              </a:ext>
            </a:extLst>
          </p:cNvPr>
          <p:cNvSpPr>
            <a:spLocks noGrp="1"/>
          </p:cNvSpPr>
          <p:nvPr>
            <p:ph type="sldNum" sz="quarter" idx="10"/>
          </p:nvPr>
        </p:nvSpPr>
        <p:spPr/>
        <p:txBody>
          <a:bodyPr/>
          <a:lstStyle/>
          <a:p>
            <a:fld id="{68151E55-6873-49E2-B8D5-2F265E6F1973}" type="slidenum">
              <a:rPr lang="en-US" smtClean="0"/>
              <a:t>100</a:t>
            </a:fld>
            <a:endParaRPr lang="en-US" dirty="0"/>
          </a:p>
        </p:txBody>
      </p:sp>
    </p:spTree>
    <p:extLst>
      <p:ext uri="{BB962C8B-B14F-4D97-AF65-F5344CB8AC3E}">
        <p14:creationId xmlns:p14="http://schemas.microsoft.com/office/powerpoint/2010/main" val="138438377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3F09C-938B-4A6B-BB8A-501BE5E9136B}"/>
              </a:ext>
            </a:extLst>
          </p:cNvPr>
          <p:cNvSpPr>
            <a:spLocks noGrp="1"/>
          </p:cNvSpPr>
          <p:nvPr>
            <p:ph type="title"/>
          </p:nvPr>
        </p:nvSpPr>
        <p:spPr/>
        <p:txBody>
          <a:bodyPr/>
          <a:lstStyle/>
          <a:p>
            <a:r>
              <a:rPr lang="en-US" altLang="en-US" dirty="0"/>
              <a:t>Moss Life Cycle </a:t>
            </a:r>
            <a:r>
              <a:rPr lang="en-US" altLang="en-US" sz="1400" dirty="0"/>
              <a:t>5 </a:t>
            </a:r>
            <a:r>
              <a:rPr lang="en-US" noProof="0" dirty="0"/>
              <a:t>- Text Alternative</a:t>
            </a:r>
            <a:endParaRPr lang="en-IN" dirty="0"/>
          </a:p>
        </p:txBody>
      </p:sp>
      <p:sp>
        <p:nvSpPr>
          <p:cNvPr id="3" name="Text Placeholder 2">
            <a:extLst>
              <a:ext uri="{FF2B5EF4-FFF2-40B4-BE49-F238E27FC236}">
                <a16:creationId xmlns:a16="http://schemas.microsoft.com/office/drawing/2014/main" id="{81E5C9E4-C48F-4E8A-8825-B5D750DAAEEF}"/>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EA3D7A5F-082B-4D67-AB44-5D78750D73E4}"/>
              </a:ext>
            </a:extLst>
          </p:cNvPr>
          <p:cNvSpPr>
            <a:spLocks noGrp="1"/>
          </p:cNvSpPr>
          <p:nvPr>
            <p:ph sz="quarter" idx="21"/>
          </p:nvPr>
        </p:nvSpPr>
        <p:spPr/>
        <p:txBody>
          <a:bodyPr>
            <a:normAutofit/>
          </a:bodyPr>
          <a:lstStyle/>
          <a:p>
            <a:r>
              <a:rPr lang="en-US" b="0" i="0" u="none" strike="noStrike" dirty="0">
                <a:solidFill>
                  <a:srgbClr val="000000"/>
                </a:solidFill>
                <a:effectLst/>
                <a:latin typeface="+mj-lt"/>
              </a:rPr>
              <a:t>When the lid (operculum) of a capsule falls of, the spores are mature. One or two rings of teeth project inward from the margin of the capsule. The teeth close the opening, except when the weather is dry.</a:t>
            </a:r>
            <a:endParaRPr lang="en-US" sz="1000" dirty="0">
              <a:latin typeface="+mj-lt"/>
            </a:endParaRPr>
          </a:p>
        </p:txBody>
      </p:sp>
      <p:sp>
        <p:nvSpPr>
          <p:cNvPr id="5" name="Text Placeholder 4">
            <a:extLst>
              <a:ext uri="{FF2B5EF4-FFF2-40B4-BE49-F238E27FC236}">
                <a16:creationId xmlns:a16="http://schemas.microsoft.com/office/drawing/2014/main" id="{41DF71E9-74F6-4DB5-A5BB-81C3D000168A}"/>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3A5028F7-49E9-4823-9DF9-F28FBA830ED5}"/>
              </a:ext>
            </a:extLst>
          </p:cNvPr>
          <p:cNvSpPr>
            <a:spLocks noGrp="1"/>
          </p:cNvSpPr>
          <p:nvPr>
            <p:ph type="sldNum" sz="quarter" idx="10"/>
          </p:nvPr>
        </p:nvSpPr>
        <p:spPr/>
        <p:txBody>
          <a:bodyPr/>
          <a:lstStyle/>
          <a:p>
            <a:fld id="{68151E55-6873-49E2-B8D5-2F265E6F1973}" type="slidenum">
              <a:rPr lang="en-US" smtClean="0"/>
              <a:t>101</a:t>
            </a:fld>
            <a:endParaRPr lang="en-US" dirty="0"/>
          </a:p>
        </p:txBody>
      </p:sp>
    </p:spTree>
    <p:extLst>
      <p:ext uri="{BB962C8B-B14F-4D97-AF65-F5344CB8AC3E}">
        <p14:creationId xmlns:p14="http://schemas.microsoft.com/office/powerpoint/2010/main" val="497822432"/>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3F09C-938B-4A6B-BB8A-501BE5E9136B}"/>
              </a:ext>
            </a:extLst>
          </p:cNvPr>
          <p:cNvSpPr>
            <a:spLocks noGrp="1"/>
          </p:cNvSpPr>
          <p:nvPr>
            <p:ph type="title"/>
          </p:nvPr>
        </p:nvSpPr>
        <p:spPr/>
        <p:txBody>
          <a:bodyPr/>
          <a:lstStyle/>
          <a:p>
            <a:r>
              <a:rPr lang="en-US" altLang="en-US" dirty="0"/>
              <a:t>Moss Life Cycle </a:t>
            </a:r>
            <a:r>
              <a:rPr lang="en-US" altLang="en-US" sz="1400" dirty="0"/>
              <a:t>8 </a:t>
            </a:r>
            <a:r>
              <a:rPr lang="en-US" noProof="0" dirty="0"/>
              <a:t>- Text Alternative</a:t>
            </a:r>
            <a:endParaRPr lang="en-IN" dirty="0"/>
          </a:p>
        </p:txBody>
      </p:sp>
      <p:sp>
        <p:nvSpPr>
          <p:cNvPr id="3" name="Text Placeholder 2">
            <a:extLst>
              <a:ext uri="{FF2B5EF4-FFF2-40B4-BE49-F238E27FC236}">
                <a16:creationId xmlns:a16="http://schemas.microsoft.com/office/drawing/2014/main" id="{81E5C9E4-C48F-4E8A-8825-B5D750DAAEEF}"/>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EA3D7A5F-082B-4D67-AB44-5D78750D73E4}"/>
              </a:ext>
            </a:extLst>
          </p:cNvPr>
          <p:cNvSpPr>
            <a:spLocks noGrp="1"/>
          </p:cNvSpPr>
          <p:nvPr>
            <p:ph sz="quarter" idx="21"/>
          </p:nvPr>
        </p:nvSpPr>
        <p:spPr/>
        <p:txBody>
          <a:bodyPr>
            <a:normAutofit fontScale="70000" lnSpcReduction="20000"/>
          </a:bodyPr>
          <a:lstStyle/>
          <a:p>
            <a:r>
              <a:rPr lang="en-US" sz="1400" dirty="0"/>
              <a:t>The details of the moss life cycle between fertilization and meiosis are as follows: </a:t>
            </a:r>
          </a:p>
          <a:p>
            <a:r>
              <a:rPr lang="en-US" sz="1400" dirty="0"/>
              <a:t>1. The mature gametophytes: </a:t>
            </a:r>
          </a:p>
          <a:p>
            <a:r>
              <a:rPr lang="en-US" sz="1400" dirty="0"/>
              <a:t>In mosses, the leafy gametophyte shoots bear either antheridia or archegonia, where gametes are produced by mitosis. </a:t>
            </a:r>
          </a:p>
          <a:p>
            <a:r>
              <a:rPr lang="en-US" sz="1400" dirty="0"/>
              <a:t>2. Fertilization: </a:t>
            </a:r>
          </a:p>
          <a:p>
            <a:r>
              <a:rPr lang="en-US" sz="1400" dirty="0"/>
              <a:t>Flagellate sperm produced in antheridia swim in external water to archegonia, each bearing a single egg. </a:t>
            </a:r>
          </a:p>
          <a:p>
            <a:r>
              <a:rPr lang="en-US" sz="1400" dirty="0"/>
              <a:t>3. The zygote: </a:t>
            </a:r>
          </a:p>
          <a:p>
            <a:r>
              <a:rPr lang="en-US" sz="1400" dirty="0"/>
              <a:t>The zygote and developing sporophyte are retained within the archegonium. </a:t>
            </a:r>
          </a:p>
          <a:p>
            <a:r>
              <a:rPr lang="en-US" sz="1400" dirty="0"/>
              <a:t>4. The sporophyte: </a:t>
            </a:r>
          </a:p>
          <a:p>
            <a:r>
              <a:rPr lang="en-US" sz="1400" dirty="0"/>
              <a:t>The mature sporophyte has a foot buried in female gametophyte tissue, a stalk, and an upper capsule (the sporangium), where meiosis occurs and spores are produced.</a:t>
            </a:r>
          </a:p>
          <a:p>
            <a:r>
              <a:rPr lang="en-US" sz="1400" dirty="0"/>
              <a:t>5. The spores: </a:t>
            </a:r>
          </a:p>
          <a:p>
            <a:r>
              <a:rPr lang="en-US" sz="1400" dirty="0"/>
              <a:t>When the lid (operculum) of a capsule falls of, the spores are mature. One or two rings of teeth project inward from the margin of the capsule. The teeth close the opening, except when the weather is dry.</a:t>
            </a:r>
          </a:p>
          <a:p>
            <a:r>
              <a:rPr lang="en-US" sz="1400" dirty="0"/>
              <a:t>6. Spore dispersal:</a:t>
            </a:r>
          </a:p>
          <a:p>
            <a:r>
              <a:rPr lang="en-US" sz="1400" dirty="0"/>
              <a:t>Spores are released when they are most likely to be dispersed by air currents.</a:t>
            </a:r>
          </a:p>
          <a:p>
            <a:r>
              <a:rPr lang="en-US" sz="1400" dirty="0"/>
              <a:t>7. The immature gametophyte:</a:t>
            </a:r>
          </a:p>
          <a:p>
            <a:r>
              <a:rPr lang="en-US" sz="1400" dirty="0"/>
              <a:t>A spore germinates into a male or female protonema, the first stage of the male and the female gametophytes.</a:t>
            </a:r>
          </a:p>
        </p:txBody>
      </p:sp>
      <p:sp>
        <p:nvSpPr>
          <p:cNvPr id="5" name="Text Placeholder 4">
            <a:extLst>
              <a:ext uri="{FF2B5EF4-FFF2-40B4-BE49-F238E27FC236}">
                <a16:creationId xmlns:a16="http://schemas.microsoft.com/office/drawing/2014/main" id="{41DF71E9-74F6-4DB5-A5BB-81C3D000168A}"/>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3A5028F7-49E9-4823-9DF9-F28FBA830ED5}"/>
              </a:ext>
            </a:extLst>
          </p:cNvPr>
          <p:cNvSpPr>
            <a:spLocks noGrp="1"/>
          </p:cNvSpPr>
          <p:nvPr>
            <p:ph type="sldNum" sz="quarter" idx="10"/>
          </p:nvPr>
        </p:nvSpPr>
        <p:spPr/>
        <p:txBody>
          <a:bodyPr/>
          <a:lstStyle/>
          <a:p>
            <a:fld id="{68151E55-6873-49E2-B8D5-2F265E6F1973}" type="slidenum">
              <a:rPr lang="en-US" smtClean="0"/>
              <a:t>102</a:t>
            </a:fld>
            <a:endParaRPr lang="en-US" dirty="0"/>
          </a:p>
        </p:txBody>
      </p:sp>
    </p:spTree>
    <p:extLst>
      <p:ext uri="{BB962C8B-B14F-4D97-AF65-F5344CB8AC3E}">
        <p14:creationId xmlns:p14="http://schemas.microsoft.com/office/powerpoint/2010/main" val="11145816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3F09C-938B-4A6B-BB8A-501BE5E9136B}"/>
              </a:ext>
            </a:extLst>
          </p:cNvPr>
          <p:cNvSpPr>
            <a:spLocks noGrp="1"/>
          </p:cNvSpPr>
          <p:nvPr>
            <p:ph type="title"/>
          </p:nvPr>
        </p:nvSpPr>
        <p:spPr/>
        <p:txBody>
          <a:bodyPr/>
          <a:lstStyle/>
          <a:p>
            <a:r>
              <a:rPr lang="en-US" altLang="en-US" dirty="0"/>
              <a:t>Lycophytes Example </a:t>
            </a:r>
            <a:r>
              <a:rPr lang="en-US" noProof="0" dirty="0"/>
              <a:t>- Text Alternative</a:t>
            </a:r>
            <a:endParaRPr lang="en-IN" dirty="0"/>
          </a:p>
        </p:txBody>
      </p:sp>
      <p:sp>
        <p:nvSpPr>
          <p:cNvPr id="3" name="Text Placeholder 2">
            <a:extLst>
              <a:ext uri="{FF2B5EF4-FFF2-40B4-BE49-F238E27FC236}">
                <a16:creationId xmlns:a16="http://schemas.microsoft.com/office/drawing/2014/main" id="{81E5C9E4-C48F-4E8A-8825-B5D750DAAEEF}"/>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EA3D7A5F-082B-4D67-AB44-5D78750D73E4}"/>
              </a:ext>
            </a:extLst>
          </p:cNvPr>
          <p:cNvSpPr>
            <a:spLocks noGrp="1"/>
          </p:cNvSpPr>
          <p:nvPr>
            <p:ph sz="quarter" idx="21"/>
          </p:nvPr>
        </p:nvSpPr>
        <p:spPr/>
        <p:txBody>
          <a:bodyPr/>
          <a:lstStyle/>
          <a:p>
            <a:r>
              <a:rPr lang="en-US" sz="1400" dirty="0"/>
              <a:t>A) A spike moss, Selaginella.</a:t>
            </a:r>
          </a:p>
          <a:p>
            <a:r>
              <a:rPr lang="en-US" sz="1400" dirty="0"/>
              <a:t>B) The upper part of club moss consists of strobili (which further consists of sporangia units) and leaves (microphylls), the middle parts consists of branches and the lower part consists of aerial stem, lateral rhizome and root.</a:t>
            </a:r>
            <a:endParaRPr lang="en-GB" sz="1400" dirty="0"/>
          </a:p>
        </p:txBody>
      </p:sp>
      <p:sp>
        <p:nvSpPr>
          <p:cNvPr id="5" name="Text Placeholder 4">
            <a:extLst>
              <a:ext uri="{FF2B5EF4-FFF2-40B4-BE49-F238E27FC236}">
                <a16:creationId xmlns:a16="http://schemas.microsoft.com/office/drawing/2014/main" id="{41DF71E9-74F6-4DB5-A5BB-81C3D000168A}"/>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3A5028F7-49E9-4823-9DF9-F28FBA830ED5}"/>
              </a:ext>
            </a:extLst>
          </p:cNvPr>
          <p:cNvSpPr>
            <a:spLocks noGrp="1"/>
          </p:cNvSpPr>
          <p:nvPr>
            <p:ph type="sldNum" sz="quarter" idx="10"/>
          </p:nvPr>
        </p:nvSpPr>
        <p:spPr/>
        <p:txBody>
          <a:bodyPr/>
          <a:lstStyle/>
          <a:p>
            <a:fld id="{68151E55-6873-49E2-B8D5-2F265E6F1973}" type="slidenum">
              <a:rPr lang="en-US" smtClean="0"/>
              <a:t>103</a:t>
            </a:fld>
            <a:endParaRPr lang="en-US" dirty="0"/>
          </a:p>
        </p:txBody>
      </p:sp>
    </p:spTree>
    <p:extLst>
      <p:ext uri="{BB962C8B-B14F-4D97-AF65-F5344CB8AC3E}">
        <p14:creationId xmlns:p14="http://schemas.microsoft.com/office/powerpoint/2010/main" val="3884438333"/>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3F09C-938B-4A6B-BB8A-501BE5E9136B}"/>
              </a:ext>
            </a:extLst>
          </p:cNvPr>
          <p:cNvSpPr>
            <a:spLocks noGrp="1"/>
          </p:cNvSpPr>
          <p:nvPr>
            <p:ph type="title"/>
          </p:nvPr>
        </p:nvSpPr>
        <p:spPr/>
        <p:txBody>
          <a:bodyPr/>
          <a:lstStyle/>
          <a:p>
            <a:r>
              <a:rPr lang="en-US" altLang="en-US" dirty="0"/>
              <a:t>Microphylls and Megaphylls </a:t>
            </a:r>
            <a:r>
              <a:rPr lang="en-US" noProof="0" dirty="0"/>
              <a:t>- Text Alternative</a:t>
            </a:r>
            <a:endParaRPr lang="en-IN" dirty="0"/>
          </a:p>
        </p:txBody>
      </p:sp>
      <p:sp>
        <p:nvSpPr>
          <p:cNvPr id="3" name="Text Placeholder 2">
            <a:extLst>
              <a:ext uri="{FF2B5EF4-FFF2-40B4-BE49-F238E27FC236}">
                <a16:creationId xmlns:a16="http://schemas.microsoft.com/office/drawing/2014/main" id="{81E5C9E4-C48F-4E8A-8825-B5D750DAAEEF}"/>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EA3D7A5F-082B-4D67-AB44-5D78750D73E4}"/>
              </a:ext>
            </a:extLst>
          </p:cNvPr>
          <p:cNvSpPr>
            <a:spLocks noGrp="1"/>
          </p:cNvSpPr>
          <p:nvPr>
            <p:ph sz="quarter" idx="21"/>
          </p:nvPr>
        </p:nvSpPr>
        <p:spPr/>
        <p:txBody>
          <a:bodyPr/>
          <a:lstStyle/>
          <a:p>
            <a:r>
              <a:rPr lang="en-US" sz="1400" dirty="0"/>
              <a:t>A) Microphyll: </a:t>
            </a:r>
          </a:p>
          <a:p>
            <a:r>
              <a:rPr lang="en-US" sz="1400" dirty="0"/>
              <a:t>It consists of a single strand of vascular tissue. </a:t>
            </a:r>
          </a:p>
          <a:p>
            <a:r>
              <a:rPr lang="en-US" sz="1400" dirty="0"/>
              <a:t>Megaphyll:  </a:t>
            </a:r>
          </a:p>
          <a:p>
            <a:r>
              <a:rPr lang="en-US" sz="1400" dirty="0"/>
              <a:t>It consists of branched vascular tissue. </a:t>
            </a:r>
          </a:p>
          <a:p>
            <a:r>
              <a:rPr lang="en-US" sz="1400" dirty="0"/>
              <a:t>B) Megaphyll evolution process: </a:t>
            </a:r>
          </a:p>
          <a:p>
            <a:r>
              <a:rPr lang="en-US" sz="1400" dirty="0"/>
              <a:t>The branched stem system leads to one branch began to dominate the stem system, leading to the side branches flattened into a single plane which further leads to tissue filled in the spaces between the side branches and megaphyll leaf. </a:t>
            </a:r>
            <a:endParaRPr lang="en-GB" sz="1400" dirty="0"/>
          </a:p>
        </p:txBody>
      </p:sp>
      <p:sp>
        <p:nvSpPr>
          <p:cNvPr id="5" name="Text Placeholder 4">
            <a:extLst>
              <a:ext uri="{FF2B5EF4-FFF2-40B4-BE49-F238E27FC236}">
                <a16:creationId xmlns:a16="http://schemas.microsoft.com/office/drawing/2014/main" id="{41DF71E9-74F6-4DB5-A5BB-81C3D000168A}"/>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3A5028F7-49E9-4823-9DF9-F28FBA830ED5}"/>
              </a:ext>
            </a:extLst>
          </p:cNvPr>
          <p:cNvSpPr>
            <a:spLocks noGrp="1"/>
          </p:cNvSpPr>
          <p:nvPr>
            <p:ph type="sldNum" sz="quarter" idx="10"/>
          </p:nvPr>
        </p:nvSpPr>
        <p:spPr/>
        <p:txBody>
          <a:bodyPr/>
          <a:lstStyle/>
          <a:p>
            <a:fld id="{68151E55-6873-49E2-B8D5-2F265E6F1973}" type="slidenum">
              <a:rPr lang="en-US" smtClean="0"/>
              <a:t>104</a:t>
            </a:fld>
            <a:endParaRPr lang="en-US" dirty="0"/>
          </a:p>
        </p:txBody>
      </p:sp>
    </p:spTree>
    <p:extLst>
      <p:ext uri="{BB962C8B-B14F-4D97-AF65-F5344CB8AC3E}">
        <p14:creationId xmlns:p14="http://schemas.microsoft.com/office/powerpoint/2010/main" val="407310785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3F09C-938B-4A6B-BB8A-501BE5E9136B}"/>
              </a:ext>
            </a:extLst>
          </p:cNvPr>
          <p:cNvSpPr>
            <a:spLocks noGrp="1"/>
          </p:cNvSpPr>
          <p:nvPr>
            <p:ph type="title"/>
          </p:nvPr>
        </p:nvSpPr>
        <p:spPr/>
        <p:txBody>
          <a:bodyPr/>
          <a:lstStyle/>
          <a:p>
            <a:r>
              <a:rPr lang="en-US" altLang="en-US" dirty="0"/>
              <a:t>Fern Life Cycle </a:t>
            </a:r>
            <a:r>
              <a:rPr lang="en-US" altLang="en-US" sz="1400" dirty="0"/>
              <a:t>6 </a:t>
            </a:r>
            <a:r>
              <a:rPr lang="en-US" noProof="0" dirty="0"/>
              <a:t>- Text Alternative</a:t>
            </a:r>
            <a:endParaRPr lang="en-IN" dirty="0"/>
          </a:p>
        </p:txBody>
      </p:sp>
      <p:sp>
        <p:nvSpPr>
          <p:cNvPr id="3" name="Text Placeholder 2">
            <a:extLst>
              <a:ext uri="{FF2B5EF4-FFF2-40B4-BE49-F238E27FC236}">
                <a16:creationId xmlns:a16="http://schemas.microsoft.com/office/drawing/2014/main" id="{81E5C9E4-C48F-4E8A-8825-B5D750DAAEEF}"/>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EA3D7A5F-082B-4D67-AB44-5D78750D73E4}"/>
              </a:ext>
            </a:extLst>
          </p:cNvPr>
          <p:cNvSpPr>
            <a:spLocks noGrp="1"/>
          </p:cNvSpPr>
          <p:nvPr>
            <p:ph sz="quarter" idx="21"/>
          </p:nvPr>
        </p:nvSpPr>
        <p:spPr/>
        <p:txBody>
          <a:bodyPr>
            <a:normAutofit/>
          </a:bodyPr>
          <a:lstStyle/>
          <a:p>
            <a:r>
              <a:rPr lang="en-US" b="0" i="0" u="none" strike="noStrike" dirty="0">
                <a:solidFill>
                  <a:srgbClr val="000000"/>
                </a:solidFill>
                <a:effectLst/>
                <a:latin typeface="+mj-lt"/>
              </a:rPr>
              <a:t>Fertilization takes place when moisture is present, because the flagellated sperm must swim in a film of water from the antheridia to the egg within the archegonium.</a:t>
            </a:r>
            <a:endParaRPr lang="en-GB" sz="1100" dirty="0">
              <a:latin typeface="+mj-lt"/>
            </a:endParaRPr>
          </a:p>
        </p:txBody>
      </p:sp>
      <p:sp>
        <p:nvSpPr>
          <p:cNvPr id="5" name="Text Placeholder 4">
            <a:extLst>
              <a:ext uri="{FF2B5EF4-FFF2-40B4-BE49-F238E27FC236}">
                <a16:creationId xmlns:a16="http://schemas.microsoft.com/office/drawing/2014/main" id="{41DF71E9-74F6-4DB5-A5BB-81C3D000168A}"/>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3A5028F7-49E9-4823-9DF9-F28FBA830ED5}"/>
              </a:ext>
            </a:extLst>
          </p:cNvPr>
          <p:cNvSpPr>
            <a:spLocks noGrp="1"/>
          </p:cNvSpPr>
          <p:nvPr>
            <p:ph type="sldNum" sz="quarter" idx="10"/>
          </p:nvPr>
        </p:nvSpPr>
        <p:spPr/>
        <p:txBody>
          <a:bodyPr/>
          <a:lstStyle/>
          <a:p>
            <a:fld id="{68151E55-6873-49E2-B8D5-2F265E6F1973}" type="slidenum">
              <a:rPr lang="en-US" smtClean="0"/>
              <a:t>105</a:t>
            </a:fld>
            <a:endParaRPr lang="en-US" dirty="0"/>
          </a:p>
        </p:txBody>
      </p:sp>
    </p:spTree>
    <p:extLst>
      <p:ext uri="{BB962C8B-B14F-4D97-AF65-F5344CB8AC3E}">
        <p14:creationId xmlns:p14="http://schemas.microsoft.com/office/powerpoint/2010/main" val="1952035030"/>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3F09C-938B-4A6B-BB8A-501BE5E9136B}"/>
              </a:ext>
            </a:extLst>
          </p:cNvPr>
          <p:cNvSpPr>
            <a:spLocks noGrp="1"/>
          </p:cNvSpPr>
          <p:nvPr>
            <p:ph type="title"/>
          </p:nvPr>
        </p:nvSpPr>
        <p:spPr/>
        <p:txBody>
          <a:bodyPr/>
          <a:lstStyle/>
          <a:p>
            <a:r>
              <a:rPr lang="en-US" altLang="en-US" dirty="0"/>
              <a:t>Fern Life Cycle </a:t>
            </a:r>
            <a:r>
              <a:rPr lang="en-US" altLang="en-US" sz="1400" dirty="0"/>
              <a:t>7 </a:t>
            </a:r>
            <a:r>
              <a:rPr lang="en-US" noProof="0" dirty="0"/>
              <a:t>- Text Alternative</a:t>
            </a:r>
            <a:endParaRPr lang="en-IN" dirty="0"/>
          </a:p>
        </p:txBody>
      </p:sp>
      <p:sp>
        <p:nvSpPr>
          <p:cNvPr id="3" name="Text Placeholder 2">
            <a:extLst>
              <a:ext uri="{FF2B5EF4-FFF2-40B4-BE49-F238E27FC236}">
                <a16:creationId xmlns:a16="http://schemas.microsoft.com/office/drawing/2014/main" id="{81E5C9E4-C48F-4E8A-8825-B5D750DAAEEF}"/>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EA3D7A5F-082B-4D67-AB44-5D78750D73E4}"/>
              </a:ext>
            </a:extLst>
          </p:cNvPr>
          <p:cNvSpPr>
            <a:spLocks noGrp="1"/>
          </p:cNvSpPr>
          <p:nvPr>
            <p:ph sz="quarter" idx="21"/>
          </p:nvPr>
        </p:nvSpPr>
        <p:spPr/>
        <p:txBody>
          <a:bodyPr>
            <a:normAutofit/>
          </a:bodyPr>
          <a:lstStyle/>
          <a:p>
            <a:r>
              <a:rPr lang="en-US" b="0" i="0" u="none" strike="noStrike" dirty="0">
                <a:solidFill>
                  <a:srgbClr val="000000"/>
                </a:solidFill>
                <a:effectLst/>
                <a:latin typeface="+mj-lt"/>
              </a:rPr>
              <a:t>The resulting sporophyte zygote begins its development inside an archegonium. As the distinctive first leaf appears above the prothallus, and the roots develop below it, the sporophyte becomes visible.</a:t>
            </a:r>
            <a:endParaRPr lang="en-GB" sz="1000" dirty="0">
              <a:latin typeface="+mj-lt"/>
            </a:endParaRPr>
          </a:p>
        </p:txBody>
      </p:sp>
      <p:sp>
        <p:nvSpPr>
          <p:cNvPr id="5" name="Text Placeholder 4">
            <a:extLst>
              <a:ext uri="{FF2B5EF4-FFF2-40B4-BE49-F238E27FC236}">
                <a16:creationId xmlns:a16="http://schemas.microsoft.com/office/drawing/2014/main" id="{41DF71E9-74F6-4DB5-A5BB-81C3D000168A}"/>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3A5028F7-49E9-4823-9DF9-F28FBA830ED5}"/>
              </a:ext>
            </a:extLst>
          </p:cNvPr>
          <p:cNvSpPr>
            <a:spLocks noGrp="1"/>
          </p:cNvSpPr>
          <p:nvPr>
            <p:ph type="sldNum" sz="quarter" idx="10"/>
          </p:nvPr>
        </p:nvSpPr>
        <p:spPr/>
        <p:txBody>
          <a:bodyPr/>
          <a:lstStyle/>
          <a:p>
            <a:fld id="{68151E55-6873-49E2-B8D5-2F265E6F1973}" type="slidenum">
              <a:rPr lang="en-US" smtClean="0"/>
              <a:t>106</a:t>
            </a:fld>
            <a:endParaRPr lang="en-US" dirty="0"/>
          </a:p>
        </p:txBody>
      </p:sp>
    </p:spTree>
    <p:extLst>
      <p:ext uri="{BB962C8B-B14F-4D97-AF65-F5344CB8AC3E}">
        <p14:creationId xmlns:p14="http://schemas.microsoft.com/office/powerpoint/2010/main" val="3723115471"/>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3F09C-938B-4A6B-BB8A-501BE5E9136B}"/>
              </a:ext>
            </a:extLst>
          </p:cNvPr>
          <p:cNvSpPr>
            <a:spLocks noGrp="1"/>
          </p:cNvSpPr>
          <p:nvPr>
            <p:ph type="title"/>
          </p:nvPr>
        </p:nvSpPr>
        <p:spPr/>
        <p:txBody>
          <a:bodyPr/>
          <a:lstStyle/>
          <a:p>
            <a:r>
              <a:rPr lang="en-US" altLang="en-US" dirty="0"/>
              <a:t>Fern Life Cycle </a:t>
            </a:r>
            <a:r>
              <a:rPr lang="en-US" altLang="en-US" sz="1400" dirty="0"/>
              <a:t>8 </a:t>
            </a:r>
            <a:r>
              <a:rPr lang="en-US" noProof="0" dirty="0"/>
              <a:t>- Text Alternative</a:t>
            </a:r>
            <a:endParaRPr lang="en-IN" dirty="0"/>
          </a:p>
        </p:txBody>
      </p:sp>
      <p:sp>
        <p:nvSpPr>
          <p:cNvPr id="3" name="Text Placeholder 2">
            <a:extLst>
              <a:ext uri="{FF2B5EF4-FFF2-40B4-BE49-F238E27FC236}">
                <a16:creationId xmlns:a16="http://schemas.microsoft.com/office/drawing/2014/main" id="{81E5C9E4-C48F-4E8A-8825-B5D750DAAEEF}"/>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EA3D7A5F-082B-4D67-AB44-5D78750D73E4}"/>
              </a:ext>
            </a:extLst>
          </p:cNvPr>
          <p:cNvSpPr>
            <a:spLocks noGrp="1"/>
          </p:cNvSpPr>
          <p:nvPr>
            <p:ph sz="quarter" idx="21"/>
          </p:nvPr>
        </p:nvSpPr>
        <p:spPr/>
        <p:txBody>
          <a:bodyPr/>
          <a:lstStyle/>
          <a:p>
            <a:r>
              <a:rPr lang="en-US" sz="1400" dirty="0"/>
              <a:t>Details of the fern life cycle are shown. 1. The sporophyte: The sporophyte portion of the life cycle is dominant in ferns. 2. The sporangia: In this fern, the sporangia are located within sori, on the underside of the leaflets, and protected by the indusium. 3. The spores: Within a sporangium, meiosis occurs and spores are produced. When a sporangium opens, the spores are released. 4. The gametophyte: A spore germinates into a prothallus (the gametophyte), which typically bears archegonia at the notch and antheridia at the tip between the rhizoids. 5. Fertilization: Fertilization takes place when moisture is present, because the flagellated sperm must swim in a film of water from the antheridia to the egg within the archegonium. 6. The zygote: The resulting sporophyte zygote begins its development inside an archegonium. As the distinctive first leaf appears above the prothallus, and the roots develop below it, the sporophyte becomes visible. 7. The fronds: The sporophyte develops a root-bearing rhizome from which the aerial fronds project.</a:t>
            </a:r>
            <a:endParaRPr lang="en-GB" sz="1400" dirty="0"/>
          </a:p>
        </p:txBody>
      </p:sp>
      <p:sp>
        <p:nvSpPr>
          <p:cNvPr id="5" name="Text Placeholder 4">
            <a:extLst>
              <a:ext uri="{FF2B5EF4-FFF2-40B4-BE49-F238E27FC236}">
                <a16:creationId xmlns:a16="http://schemas.microsoft.com/office/drawing/2014/main" id="{41DF71E9-74F6-4DB5-A5BB-81C3D000168A}"/>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3A5028F7-49E9-4823-9DF9-F28FBA830ED5}"/>
              </a:ext>
            </a:extLst>
          </p:cNvPr>
          <p:cNvSpPr>
            <a:spLocks noGrp="1"/>
          </p:cNvSpPr>
          <p:nvPr>
            <p:ph type="sldNum" sz="quarter" idx="10"/>
          </p:nvPr>
        </p:nvSpPr>
        <p:spPr/>
        <p:txBody>
          <a:bodyPr/>
          <a:lstStyle/>
          <a:p>
            <a:fld id="{68151E55-6873-49E2-B8D5-2F265E6F1973}" type="slidenum">
              <a:rPr lang="en-US" smtClean="0"/>
              <a:t>107</a:t>
            </a:fld>
            <a:endParaRPr lang="en-US" dirty="0"/>
          </a:p>
        </p:txBody>
      </p:sp>
    </p:spTree>
    <p:extLst>
      <p:ext uri="{BB962C8B-B14F-4D97-AF65-F5344CB8AC3E}">
        <p14:creationId xmlns:p14="http://schemas.microsoft.com/office/powerpoint/2010/main" val="2918153708"/>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3F09C-938B-4A6B-BB8A-501BE5E9136B}"/>
              </a:ext>
            </a:extLst>
          </p:cNvPr>
          <p:cNvSpPr>
            <a:spLocks noGrp="1"/>
          </p:cNvSpPr>
          <p:nvPr>
            <p:ph type="title"/>
          </p:nvPr>
        </p:nvSpPr>
        <p:spPr/>
        <p:txBody>
          <a:bodyPr/>
          <a:lstStyle/>
          <a:p>
            <a:r>
              <a:rPr lang="en-US" altLang="en-US" dirty="0"/>
              <a:t>Pine Life Cycle </a:t>
            </a:r>
            <a:r>
              <a:rPr lang="en-US" altLang="en-US" sz="1400" dirty="0"/>
              <a:t>3 </a:t>
            </a:r>
            <a:r>
              <a:rPr lang="en-US" noProof="0" dirty="0"/>
              <a:t>- Text Alternative</a:t>
            </a:r>
            <a:endParaRPr lang="en-IN" dirty="0"/>
          </a:p>
        </p:txBody>
      </p:sp>
      <p:sp>
        <p:nvSpPr>
          <p:cNvPr id="3" name="Text Placeholder 2">
            <a:extLst>
              <a:ext uri="{FF2B5EF4-FFF2-40B4-BE49-F238E27FC236}">
                <a16:creationId xmlns:a16="http://schemas.microsoft.com/office/drawing/2014/main" id="{81E5C9E4-C48F-4E8A-8825-B5D750DAAEEF}"/>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EA3D7A5F-082B-4D67-AB44-5D78750D73E4}"/>
              </a:ext>
            </a:extLst>
          </p:cNvPr>
          <p:cNvSpPr>
            <a:spLocks noGrp="1"/>
          </p:cNvSpPr>
          <p:nvPr>
            <p:ph sz="quarter" idx="21"/>
          </p:nvPr>
        </p:nvSpPr>
        <p:spPr/>
        <p:txBody>
          <a:bodyPr>
            <a:normAutofit/>
          </a:bodyPr>
          <a:lstStyle/>
          <a:p>
            <a:r>
              <a:rPr lang="en-US" b="0" i="0" u="none" strike="noStrike" dirty="0">
                <a:solidFill>
                  <a:srgbClr val="000000"/>
                </a:solidFill>
                <a:effectLst/>
                <a:latin typeface="+mj-lt"/>
              </a:rPr>
              <a:t>The pollen sac: A pollen cone has two pollen sacs (microsporangia) that lie on the underside of each scale. The ovules: The seed cone has two ovules (megasporangia) that lie on the upper surface of each scale.</a:t>
            </a:r>
            <a:endParaRPr lang="en-GB" sz="1100" dirty="0">
              <a:latin typeface="+mj-lt"/>
            </a:endParaRPr>
          </a:p>
        </p:txBody>
      </p:sp>
      <p:sp>
        <p:nvSpPr>
          <p:cNvPr id="5" name="Text Placeholder 4">
            <a:extLst>
              <a:ext uri="{FF2B5EF4-FFF2-40B4-BE49-F238E27FC236}">
                <a16:creationId xmlns:a16="http://schemas.microsoft.com/office/drawing/2014/main" id="{41DF71E9-74F6-4DB5-A5BB-81C3D000168A}"/>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3A5028F7-49E9-4823-9DF9-F28FBA830ED5}"/>
              </a:ext>
            </a:extLst>
          </p:cNvPr>
          <p:cNvSpPr>
            <a:spLocks noGrp="1"/>
          </p:cNvSpPr>
          <p:nvPr>
            <p:ph type="sldNum" sz="quarter" idx="10"/>
          </p:nvPr>
        </p:nvSpPr>
        <p:spPr/>
        <p:txBody>
          <a:bodyPr/>
          <a:lstStyle/>
          <a:p>
            <a:fld id="{68151E55-6873-49E2-B8D5-2F265E6F1973}" type="slidenum">
              <a:rPr lang="en-US" smtClean="0"/>
              <a:t>108</a:t>
            </a:fld>
            <a:endParaRPr lang="en-US" dirty="0"/>
          </a:p>
        </p:txBody>
      </p:sp>
    </p:spTree>
    <p:extLst>
      <p:ext uri="{BB962C8B-B14F-4D97-AF65-F5344CB8AC3E}">
        <p14:creationId xmlns:p14="http://schemas.microsoft.com/office/powerpoint/2010/main" val="2066217463"/>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3F09C-938B-4A6B-BB8A-501BE5E9136B}"/>
              </a:ext>
            </a:extLst>
          </p:cNvPr>
          <p:cNvSpPr>
            <a:spLocks noGrp="1"/>
          </p:cNvSpPr>
          <p:nvPr>
            <p:ph type="title"/>
          </p:nvPr>
        </p:nvSpPr>
        <p:spPr/>
        <p:txBody>
          <a:bodyPr/>
          <a:lstStyle/>
          <a:p>
            <a:r>
              <a:rPr lang="en-US" altLang="en-US" dirty="0"/>
              <a:t>Pine Life Cycle </a:t>
            </a:r>
            <a:r>
              <a:rPr lang="en-US" altLang="en-US" sz="1400" dirty="0"/>
              <a:t>6 </a:t>
            </a:r>
            <a:r>
              <a:rPr lang="en-US" noProof="0" dirty="0"/>
              <a:t>- Text Alternative</a:t>
            </a:r>
            <a:endParaRPr lang="en-IN" dirty="0"/>
          </a:p>
        </p:txBody>
      </p:sp>
      <p:sp>
        <p:nvSpPr>
          <p:cNvPr id="3" name="Text Placeholder 2">
            <a:extLst>
              <a:ext uri="{FF2B5EF4-FFF2-40B4-BE49-F238E27FC236}">
                <a16:creationId xmlns:a16="http://schemas.microsoft.com/office/drawing/2014/main" id="{81E5C9E4-C48F-4E8A-8825-B5D750DAAEEF}"/>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EA3D7A5F-082B-4D67-AB44-5D78750D73E4}"/>
              </a:ext>
            </a:extLst>
          </p:cNvPr>
          <p:cNvSpPr>
            <a:spLocks noGrp="1"/>
          </p:cNvSpPr>
          <p:nvPr>
            <p:ph sz="quarter" idx="21"/>
          </p:nvPr>
        </p:nvSpPr>
        <p:spPr/>
        <p:txBody>
          <a:bodyPr>
            <a:normAutofit/>
          </a:bodyPr>
          <a:lstStyle/>
          <a:p>
            <a:r>
              <a:rPr lang="en-US" b="0" i="0" u="none" strike="noStrike" dirty="0">
                <a:solidFill>
                  <a:srgbClr val="000000"/>
                </a:solidFill>
                <a:effectLst/>
                <a:latin typeface="+mj-lt"/>
              </a:rPr>
              <a:t>The mature female gametophyte: Only one of the megaspores undergoes mitosis and develops into a mature female gametophyte, having 2 to 6 archegonia. Each archegonium contains a single large egg lying near the ovule.</a:t>
            </a:r>
            <a:endParaRPr lang="en-GB" sz="1000" dirty="0">
              <a:latin typeface="+mj-lt"/>
            </a:endParaRPr>
          </a:p>
        </p:txBody>
      </p:sp>
      <p:sp>
        <p:nvSpPr>
          <p:cNvPr id="5" name="Text Placeholder 4">
            <a:extLst>
              <a:ext uri="{FF2B5EF4-FFF2-40B4-BE49-F238E27FC236}">
                <a16:creationId xmlns:a16="http://schemas.microsoft.com/office/drawing/2014/main" id="{41DF71E9-74F6-4DB5-A5BB-81C3D000168A}"/>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3A5028F7-49E9-4823-9DF9-F28FBA830ED5}"/>
              </a:ext>
            </a:extLst>
          </p:cNvPr>
          <p:cNvSpPr>
            <a:spLocks noGrp="1"/>
          </p:cNvSpPr>
          <p:nvPr>
            <p:ph type="sldNum" sz="quarter" idx="10"/>
          </p:nvPr>
        </p:nvSpPr>
        <p:spPr/>
        <p:txBody>
          <a:bodyPr/>
          <a:lstStyle/>
          <a:p>
            <a:fld id="{68151E55-6873-49E2-B8D5-2F265E6F1973}" type="slidenum">
              <a:rPr lang="en-US" smtClean="0"/>
              <a:t>109</a:t>
            </a:fld>
            <a:endParaRPr lang="en-US" dirty="0"/>
          </a:p>
        </p:txBody>
      </p:sp>
    </p:spTree>
    <p:extLst>
      <p:ext uri="{BB962C8B-B14F-4D97-AF65-F5344CB8AC3E}">
        <p14:creationId xmlns:p14="http://schemas.microsoft.com/office/powerpoint/2010/main" val="3430037185"/>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3F09C-938B-4A6B-BB8A-501BE5E9136B}"/>
              </a:ext>
            </a:extLst>
          </p:cNvPr>
          <p:cNvSpPr>
            <a:spLocks noGrp="1"/>
          </p:cNvSpPr>
          <p:nvPr>
            <p:ph type="title"/>
          </p:nvPr>
        </p:nvSpPr>
        <p:spPr/>
        <p:txBody>
          <a:bodyPr/>
          <a:lstStyle/>
          <a:p>
            <a:r>
              <a:rPr lang="en-US" altLang="en-US" dirty="0"/>
              <a:t>Pine Life Cycle </a:t>
            </a:r>
            <a:r>
              <a:rPr lang="en-US" altLang="en-US" sz="1400" dirty="0"/>
              <a:t>7 </a:t>
            </a:r>
            <a:r>
              <a:rPr lang="en-US" noProof="0" dirty="0"/>
              <a:t>- Text Alternative</a:t>
            </a:r>
            <a:endParaRPr lang="en-IN" dirty="0"/>
          </a:p>
        </p:txBody>
      </p:sp>
      <p:sp>
        <p:nvSpPr>
          <p:cNvPr id="3" name="Text Placeholder 2">
            <a:extLst>
              <a:ext uri="{FF2B5EF4-FFF2-40B4-BE49-F238E27FC236}">
                <a16:creationId xmlns:a16="http://schemas.microsoft.com/office/drawing/2014/main" id="{81E5C9E4-C48F-4E8A-8825-B5D750DAAEEF}"/>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EA3D7A5F-082B-4D67-AB44-5D78750D73E4}"/>
              </a:ext>
            </a:extLst>
          </p:cNvPr>
          <p:cNvSpPr>
            <a:spLocks noGrp="1"/>
          </p:cNvSpPr>
          <p:nvPr>
            <p:ph sz="quarter" idx="21"/>
          </p:nvPr>
        </p:nvSpPr>
        <p:spPr/>
        <p:txBody>
          <a:bodyPr>
            <a:normAutofit/>
          </a:bodyPr>
          <a:lstStyle/>
          <a:p>
            <a:r>
              <a:rPr lang="en-US" b="0" i="0" u="none" strike="noStrike" dirty="0">
                <a:solidFill>
                  <a:srgbClr val="000000"/>
                </a:solidFill>
                <a:effectLst/>
                <a:latin typeface="+mj-lt"/>
              </a:rPr>
              <a:t>The zygote: Once a pollen grain reaches a seed cone, it becomes a mature male gametophyte. A pollen tube digests its way slowly toward a female gametophyte and discharges two </a:t>
            </a:r>
            <a:r>
              <a:rPr lang="en-US" b="0" i="0" u="none" strike="noStrike" dirty="0" err="1">
                <a:solidFill>
                  <a:srgbClr val="000000"/>
                </a:solidFill>
                <a:effectLst/>
                <a:latin typeface="+mj-lt"/>
              </a:rPr>
              <a:t>nonflagellated</a:t>
            </a:r>
            <a:r>
              <a:rPr lang="en-US" b="0" i="0" u="none" strike="noStrike" dirty="0">
                <a:solidFill>
                  <a:srgbClr val="000000"/>
                </a:solidFill>
                <a:effectLst/>
                <a:latin typeface="+mj-lt"/>
              </a:rPr>
              <a:t> sperm. One of these fertilizes an egg in an archegonium, and a zygote results.</a:t>
            </a:r>
            <a:endParaRPr lang="en-GB" sz="800" dirty="0">
              <a:latin typeface="+mj-lt"/>
            </a:endParaRPr>
          </a:p>
        </p:txBody>
      </p:sp>
      <p:sp>
        <p:nvSpPr>
          <p:cNvPr id="5" name="Text Placeholder 4">
            <a:extLst>
              <a:ext uri="{FF2B5EF4-FFF2-40B4-BE49-F238E27FC236}">
                <a16:creationId xmlns:a16="http://schemas.microsoft.com/office/drawing/2014/main" id="{41DF71E9-74F6-4DB5-A5BB-81C3D000168A}"/>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3A5028F7-49E9-4823-9DF9-F28FBA830ED5}"/>
              </a:ext>
            </a:extLst>
          </p:cNvPr>
          <p:cNvSpPr>
            <a:spLocks noGrp="1"/>
          </p:cNvSpPr>
          <p:nvPr>
            <p:ph type="sldNum" sz="quarter" idx="10"/>
          </p:nvPr>
        </p:nvSpPr>
        <p:spPr/>
        <p:txBody>
          <a:bodyPr/>
          <a:lstStyle/>
          <a:p>
            <a:fld id="{68151E55-6873-49E2-B8D5-2F265E6F1973}" type="slidenum">
              <a:rPr lang="en-US" smtClean="0"/>
              <a:t>110</a:t>
            </a:fld>
            <a:endParaRPr lang="en-US" dirty="0"/>
          </a:p>
        </p:txBody>
      </p:sp>
    </p:spTree>
    <p:extLst>
      <p:ext uri="{BB962C8B-B14F-4D97-AF65-F5344CB8AC3E}">
        <p14:creationId xmlns:p14="http://schemas.microsoft.com/office/powerpoint/2010/main" val="2049243582"/>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3F09C-938B-4A6B-BB8A-501BE5E9136B}"/>
              </a:ext>
            </a:extLst>
          </p:cNvPr>
          <p:cNvSpPr>
            <a:spLocks noGrp="1"/>
          </p:cNvSpPr>
          <p:nvPr>
            <p:ph type="title"/>
          </p:nvPr>
        </p:nvSpPr>
        <p:spPr/>
        <p:txBody>
          <a:bodyPr/>
          <a:lstStyle/>
          <a:p>
            <a:r>
              <a:rPr lang="en-US" altLang="en-US" dirty="0"/>
              <a:t>Pine Life Cycle </a:t>
            </a:r>
            <a:r>
              <a:rPr lang="en-US" altLang="en-US" sz="1400" dirty="0"/>
              <a:t>8 </a:t>
            </a:r>
            <a:r>
              <a:rPr lang="en-US" noProof="0" dirty="0"/>
              <a:t>- Text Alternative</a:t>
            </a:r>
            <a:endParaRPr lang="en-IN" dirty="0"/>
          </a:p>
        </p:txBody>
      </p:sp>
      <p:sp>
        <p:nvSpPr>
          <p:cNvPr id="3" name="Text Placeholder 2">
            <a:extLst>
              <a:ext uri="{FF2B5EF4-FFF2-40B4-BE49-F238E27FC236}">
                <a16:creationId xmlns:a16="http://schemas.microsoft.com/office/drawing/2014/main" id="{81E5C9E4-C48F-4E8A-8825-B5D750DAAEEF}"/>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EA3D7A5F-082B-4D67-AB44-5D78750D73E4}"/>
              </a:ext>
            </a:extLst>
          </p:cNvPr>
          <p:cNvSpPr>
            <a:spLocks noGrp="1"/>
          </p:cNvSpPr>
          <p:nvPr>
            <p:ph sz="quarter" idx="21"/>
          </p:nvPr>
        </p:nvSpPr>
        <p:spPr/>
        <p:txBody>
          <a:bodyPr>
            <a:normAutofit/>
          </a:bodyPr>
          <a:lstStyle/>
          <a:p>
            <a:r>
              <a:rPr lang="en-US" b="0" i="0" u="none" strike="noStrike" dirty="0">
                <a:solidFill>
                  <a:srgbClr val="000000"/>
                </a:solidFill>
                <a:effectLst/>
                <a:latin typeface="+mj-lt"/>
              </a:rPr>
              <a:t>The sporophyte: After fertilization, the ovule matures and becomes the seed composed of the embryo, reserve food, and a seed coat. Finally, in the fall of the second season, the seed cone, by now woody and hard, opens to release winged seeds. When a seed germinates, the sporophyte embryo develops into a new pine tree, and the cycle is complete.</a:t>
            </a:r>
            <a:endParaRPr lang="en-GB" sz="600" dirty="0">
              <a:latin typeface="+mj-lt"/>
            </a:endParaRPr>
          </a:p>
        </p:txBody>
      </p:sp>
      <p:sp>
        <p:nvSpPr>
          <p:cNvPr id="5" name="Text Placeholder 4">
            <a:extLst>
              <a:ext uri="{FF2B5EF4-FFF2-40B4-BE49-F238E27FC236}">
                <a16:creationId xmlns:a16="http://schemas.microsoft.com/office/drawing/2014/main" id="{41DF71E9-74F6-4DB5-A5BB-81C3D000168A}"/>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3A5028F7-49E9-4823-9DF9-F28FBA830ED5}"/>
              </a:ext>
            </a:extLst>
          </p:cNvPr>
          <p:cNvSpPr>
            <a:spLocks noGrp="1"/>
          </p:cNvSpPr>
          <p:nvPr>
            <p:ph type="sldNum" sz="quarter" idx="10"/>
          </p:nvPr>
        </p:nvSpPr>
        <p:spPr/>
        <p:txBody>
          <a:bodyPr/>
          <a:lstStyle/>
          <a:p>
            <a:fld id="{68151E55-6873-49E2-B8D5-2F265E6F1973}" type="slidenum">
              <a:rPr lang="en-US" smtClean="0"/>
              <a:t>111</a:t>
            </a:fld>
            <a:endParaRPr lang="en-US" dirty="0"/>
          </a:p>
        </p:txBody>
      </p:sp>
    </p:spTree>
    <p:extLst>
      <p:ext uri="{BB962C8B-B14F-4D97-AF65-F5344CB8AC3E}">
        <p14:creationId xmlns:p14="http://schemas.microsoft.com/office/powerpoint/2010/main" val="3733871495"/>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3F09C-938B-4A6B-BB8A-501BE5E9136B}"/>
              </a:ext>
            </a:extLst>
          </p:cNvPr>
          <p:cNvSpPr>
            <a:spLocks noGrp="1"/>
          </p:cNvSpPr>
          <p:nvPr>
            <p:ph type="title"/>
          </p:nvPr>
        </p:nvSpPr>
        <p:spPr/>
        <p:txBody>
          <a:bodyPr/>
          <a:lstStyle/>
          <a:p>
            <a:r>
              <a:rPr lang="en-US" altLang="en-US" dirty="0"/>
              <a:t>Pine Life Cycle </a:t>
            </a:r>
            <a:r>
              <a:rPr lang="en-US" altLang="en-US" sz="1400" dirty="0"/>
              <a:t>9 </a:t>
            </a:r>
            <a:r>
              <a:rPr lang="en-US" noProof="0" dirty="0"/>
              <a:t>- Text Alternative</a:t>
            </a:r>
            <a:endParaRPr lang="en-IN" dirty="0"/>
          </a:p>
        </p:txBody>
      </p:sp>
      <p:sp>
        <p:nvSpPr>
          <p:cNvPr id="3" name="Text Placeholder 2">
            <a:extLst>
              <a:ext uri="{FF2B5EF4-FFF2-40B4-BE49-F238E27FC236}">
                <a16:creationId xmlns:a16="http://schemas.microsoft.com/office/drawing/2014/main" id="{81E5C9E4-C48F-4E8A-8825-B5D750DAAEEF}"/>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EA3D7A5F-082B-4D67-AB44-5D78750D73E4}"/>
              </a:ext>
            </a:extLst>
          </p:cNvPr>
          <p:cNvSpPr>
            <a:spLocks noGrp="1"/>
          </p:cNvSpPr>
          <p:nvPr>
            <p:ph sz="quarter" idx="21"/>
          </p:nvPr>
        </p:nvSpPr>
        <p:spPr/>
        <p:txBody>
          <a:bodyPr>
            <a:normAutofit lnSpcReduction="10000"/>
          </a:bodyPr>
          <a:lstStyle/>
          <a:p>
            <a:r>
              <a:rPr lang="en-US" sz="1400" dirty="0"/>
              <a:t>Details of a typical conifer life cycle are shown. 1. The pollen cones: Typically, the pollen cones are quite small and develop near the tips of lower branches. The seed cones: The seed cones are larger than the pollen cones and are located near the tips of higher branches. 2. The pollen sac: A pollen cone has two pollen sacs (microsporangia) that lie on the underside of each scale. The ovules: The seed cone has two ovules (megasporangia) that lie on the upper surface of each scale. 3. The microspores: Within the pollen sacs, meiosis produces four microspores. The megaspore: Within an ovule, meiosis produces four megaspores; only one survives. 4. The pollen grains: Each microspore becomes a pollen grain, which has two wings and is carried by the wind to the seed cone during pollination. 5. The mature female gametophyte: Only one of the megaspores undergoes mitosis and develops into a mature female gametophyte, having two to six archegonia. Each archegonium contains a single large egg lying near the ovule. 6. The zygote: Once a pollen grain reaches a seed cone, it becomes a mature male gametophyte. A pollen tube digests its way slowly toward a female gametophyte and discharges two </a:t>
            </a:r>
            <a:r>
              <a:rPr lang="en-US" sz="1400" dirty="0" err="1"/>
              <a:t>nonflagellated</a:t>
            </a:r>
            <a:r>
              <a:rPr lang="en-US" sz="1400" dirty="0"/>
              <a:t> sperm. One of these fertilizes an egg in an archegonium, and a zygote results. 7. The sporophyte: After fertilization, the ovule matures and becomes the seed composed of the embryo, reserve food, and a seed coat. Finally, in the fall of the second season, the seed cone, by now woody and hard, opens to release winged seeds. When a seed germinates, the sporophyte embryo develops into a new pine tree, and the cycle is complete.</a:t>
            </a:r>
            <a:endParaRPr lang="en-GB" sz="1400" dirty="0"/>
          </a:p>
        </p:txBody>
      </p:sp>
      <p:sp>
        <p:nvSpPr>
          <p:cNvPr id="5" name="Text Placeholder 4">
            <a:extLst>
              <a:ext uri="{FF2B5EF4-FFF2-40B4-BE49-F238E27FC236}">
                <a16:creationId xmlns:a16="http://schemas.microsoft.com/office/drawing/2014/main" id="{41DF71E9-74F6-4DB5-A5BB-81C3D000168A}"/>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3A5028F7-49E9-4823-9DF9-F28FBA830ED5}"/>
              </a:ext>
            </a:extLst>
          </p:cNvPr>
          <p:cNvSpPr>
            <a:spLocks noGrp="1"/>
          </p:cNvSpPr>
          <p:nvPr>
            <p:ph type="sldNum" sz="quarter" idx="10"/>
          </p:nvPr>
        </p:nvSpPr>
        <p:spPr/>
        <p:txBody>
          <a:bodyPr/>
          <a:lstStyle/>
          <a:p>
            <a:fld id="{68151E55-6873-49E2-B8D5-2F265E6F1973}" type="slidenum">
              <a:rPr lang="en-US" smtClean="0"/>
              <a:t>112</a:t>
            </a:fld>
            <a:endParaRPr lang="en-US" dirty="0"/>
          </a:p>
        </p:txBody>
      </p:sp>
    </p:spTree>
    <p:extLst>
      <p:ext uri="{BB962C8B-B14F-4D97-AF65-F5344CB8AC3E}">
        <p14:creationId xmlns:p14="http://schemas.microsoft.com/office/powerpoint/2010/main" val="4158476151"/>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3F09C-938B-4A6B-BB8A-501BE5E9136B}"/>
              </a:ext>
            </a:extLst>
          </p:cNvPr>
          <p:cNvSpPr>
            <a:spLocks noGrp="1"/>
          </p:cNvSpPr>
          <p:nvPr>
            <p:ph type="title"/>
          </p:nvPr>
        </p:nvSpPr>
        <p:spPr/>
        <p:txBody>
          <a:bodyPr/>
          <a:lstStyle/>
          <a:p>
            <a:r>
              <a:rPr lang="en-US" altLang="en-US" dirty="0"/>
              <a:t>Flower Diversity </a:t>
            </a:r>
            <a:r>
              <a:rPr lang="en-US" noProof="0" dirty="0"/>
              <a:t>- Text Alternative</a:t>
            </a:r>
            <a:endParaRPr lang="en-IN" dirty="0"/>
          </a:p>
        </p:txBody>
      </p:sp>
      <p:sp>
        <p:nvSpPr>
          <p:cNvPr id="3" name="Text Placeholder 2">
            <a:extLst>
              <a:ext uri="{FF2B5EF4-FFF2-40B4-BE49-F238E27FC236}">
                <a16:creationId xmlns:a16="http://schemas.microsoft.com/office/drawing/2014/main" id="{81E5C9E4-C48F-4E8A-8825-B5D750DAAEEF}"/>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EA3D7A5F-082B-4D67-AB44-5D78750D73E4}"/>
              </a:ext>
            </a:extLst>
          </p:cNvPr>
          <p:cNvSpPr>
            <a:spLocks noGrp="1"/>
          </p:cNvSpPr>
          <p:nvPr>
            <p:ph sz="quarter" idx="21"/>
          </p:nvPr>
        </p:nvSpPr>
        <p:spPr/>
        <p:txBody>
          <a:bodyPr/>
          <a:lstStyle/>
          <a:p>
            <a:pPr marL="0" indent="0">
              <a:buNone/>
            </a:pPr>
            <a:r>
              <a:rPr lang="en-GB" sz="1400" dirty="0"/>
              <a:t>Regardless of size and shape, flowers, such as this </a:t>
            </a:r>
          </a:p>
          <a:p>
            <a:pPr>
              <a:buAutoNum type="alphaLcParenBoth"/>
            </a:pPr>
            <a:r>
              <a:rPr lang="en-GB" sz="1400" dirty="0"/>
              <a:t>monocot, and </a:t>
            </a:r>
          </a:p>
          <a:p>
            <a:pPr>
              <a:buAutoNum type="alphaLcParenBoth"/>
            </a:pPr>
            <a:r>
              <a:rPr lang="en-GB" sz="1400" dirty="0"/>
              <a:t>eudicot, share certain features.</a:t>
            </a:r>
          </a:p>
        </p:txBody>
      </p:sp>
      <p:sp>
        <p:nvSpPr>
          <p:cNvPr id="5" name="Text Placeholder 4">
            <a:extLst>
              <a:ext uri="{FF2B5EF4-FFF2-40B4-BE49-F238E27FC236}">
                <a16:creationId xmlns:a16="http://schemas.microsoft.com/office/drawing/2014/main" id="{41DF71E9-74F6-4DB5-A5BB-81C3D000168A}"/>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3A5028F7-49E9-4823-9DF9-F28FBA830ED5}"/>
              </a:ext>
            </a:extLst>
          </p:cNvPr>
          <p:cNvSpPr>
            <a:spLocks noGrp="1"/>
          </p:cNvSpPr>
          <p:nvPr>
            <p:ph type="sldNum" sz="quarter" idx="10"/>
          </p:nvPr>
        </p:nvSpPr>
        <p:spPr/>
        <p:txBody>
          <a:bodyPr/>
          <a:lstStyle/>
          <a:p>
            <a:fld id="{68151E55-6873-49E2-B8D5-2F265E6F1973}" type="slidenum">
              <a:rPr lang="en-US" smtClean="0"/>
              <a:t>113</a:t>
            </a:fld>
            <a:endParaRPr lang="en-US" dirty="0"/>
          </a:p>
        </p:txBody>
      </p:sp>
    </p:spTree>
    <p:extLst>
      <p:ext uri="{BB962C8B-B14F-4D97-AF65-F5344CB8AC3E}">
        <p14:creationId xmlns:p14="http://schemas.microsoft.com/office/powerpoint/2010/main" val="2456048353"/>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3F09C-938B-4A6B-BB8A-501BE5E9136B}"/>
              </a:ext>
            </a:extLst>
          </p:cNvPr>
          <p:cNvSpPr>
            <a:spLocks noGrp="1"/>
          </p:cNvSpPr>
          <p:nvPr>
            <p:ph type="title"/>
          </p:nvPr>
        </p:nvSpPr>
        <p:spPr/>
        <p:txBody>
          <a:bodyPr/>
          <a:lstStyle/>
          <a:p>
            <a:r>
              <a:rPr lang="en-US" altLang="en-US" dirty="0"/>
              <a:t>Life Cycle of Flowering Plant </a:t>
            </a:r>
            <a:r>
              <a:rPr lang="en-US" noProof="0" dirty="0"/>
              <a:t>- Text Alternative</a:t>
            </a:r>
            <a:endParaRPr lang="en-IN" dirty="0"/>
          </a:p>
        </p:txBody>
      </p:sp>
      <p:sp>
        <p:nvSpPr>
          <p:cNvPr id="3" name="Text Placeholder 2">
            <a:extLst>
              <a:ext uri="{FF2B5EF4-FFF2-40B4-BE49-F238E27FC236}">
                <a16:creationId xmlns:a16="http://schemas.microsoft.com/office/drawing/2014/main" id="{81E5C9E4-C48F-4E8A-8825-B5D750DAAEEF}"/>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EA3D7A5F-082B-4D67-AB44-5D78750D73E4}"/>
              </a:ext>
            </a:extLst>
          </p:cNvPr>
          <p:cNvSpPr>
            <a:spLocks noGrp="1"/>
          </p:cNvSpPr>
          <p:nvPr>
            <p:ph sz="quarter" idx="21"/>
          </p:nvPr>
        </p:nvSpPr>
        <p:spPr/>
        <p:txBody>
          <a:bodyPr>
            <a:normAutofit fontScale="85000" lnSpcReduction="10000"/>
          </a:bodyPr>
          <a:lstStyle/>
          <a:p>
            <a:r>
              <a:rPr lang="en-US" sz="1400" dirty="0"/>
              <a:t>Details of a typical flowering plant cycle are shown.1. The stamen: An anther at the top of a stamen has four pollen sacs. Pollen grains are produced in pollen sacs. The carpel: The ovary at the base of a carpel contains one or more ovules. The contents of an ovule change during the flowering plant lifecycle. 2. The pollen sacs: In pollen sacs (microsporangia) of the anther, meiosis produces microspores. The ovules: In an ovule (megasporangium) within an ovary, meiosis produces four megaspores. 3. The microspores: Each microspore in a pollen sac undergoes mitosis to become an immature pollen grain with two cells: the tube cell and the generative cell. The pollen sacs open, and the pollen grains are windblown or transported by an animal carrier, usually to other flowers. This is known as pollination. The megaspores: Inside the ovules of an ovary, three megaspores disintegrate, and only the remaining one undergoes mitosis to become a female gametophyte. 4. The mature male gametophyte: A pollen grain that lands on the carpel of the same type of plant germinates and produces a pollen tube, which grows within the style until it reaches an ovule in the ovary. Inside the pollen tube, the generative cell nucleus divides and produces two </a:t>
            </a:r>
            <a:r>
              <a:rPr lang="en-US" sz="1400" dirty="0" err="1"/>
              <a:t>nonflagellated</a:t>
            </a:r>
            <a:r>
              <a:rPr lang="en-US" sz="1400" dirty="0"/>
              <a:t> sperm. A fully germinated pollen grain is the mature male gametophyte. The mature female gametophyte: The ovule now contains the mature female gametophyte (embryo sac), which typically consists of eight haploid nuclei embedded in a mass of cytoplasm. The cytoplasm differentiates into cells, one of which is an egg and another that contains two polar nuclei. 5. Double fertilization: On reaching the ovule, the pollen tube discharges the sperm. One of the two sperm migrates to and fertilizes the egg, forming a zygote; the other unites with the two polar nuclei, producing a 3n (triploid) endosperm nucleus. The endosperm nucleus divides to form endosperm, food for the developing embryo. 6. The seed: The ovule now develops into the seed, which contains an embryo and food enclosed by a protective seed coat. The wall of the ovary and sometimes adjacent parts develop into a fruit that surrounds the seed(s). 7. The sporophyte: The embryo within a seed is the immature sporophyte. When a seed germinates, growth and differentiation produce the mature sporophyte of a flowering plant.</a:t>
            </a:r>
            <a:endParaRPr lang="en-GB" sz="1400" dirty="0"/>
          </a:p>
        </p:txBody>
      </p:sp>
      <p:sp>
        <p:nvSpPr>
          <p:cNvPr id="5" name="Text Placeholder 4">
            <a:extLst>
              <a:ext uri="{FF2B5EF4-FFF2-40B4-BE49-F238E27FC236}">
                <a16:creationId xmlns:a16="http://schemas.microsoft.com/office/drawing/2014/main" id="{41DF71E9-74F6-4DB5-A5BB-81C3D000168A}"/>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3A5028F7-49E9-4823-9DF9-F28FBA830ED5}"/>
              </a:ext>
            </a:extLst>
          </p:cNvPr>
          <p:cNvSpPr>
            <a:spLocks noGrp="1"/>
          </p:cNvSpPr>
          <p:nvPr>
            <p:ph type="sldNum" sz="quarter" idx="10"/>
          </p:nvPr>
        </p:nvSpPr>
        <p:spPr/>
        <p:txBody>
          <a:bodyPr/>
          <a:lstStyle/>
          <a:p>
            <a:fld id="{68151E55-6873-49E2-B8D5-2F265E6F1973}" type="slidenum">
              <a:rPr lang="en-US" smtClean="0"/>
              <a:t>114</a:t>
            </a:fld>
            <a:endParaRPr lang="en-US" dirty="0"/>
          </a:p>
        </p:txBody>
      </p:sp>
    </p:spTree>
    <p:extLst>
      <p:ext uri="{BB962C8B-B14F-4D97-AF65-F5344CB8AC3E}">
        <p14:creationId xmlns:p14="http://schemas.microsoft.com/office/powerpoint/2010/main" val="2417609838"/>
      </p:ext>
    </p:extLst>
  </p:cSld>
  <p:clrMapOvr>
    <a:masterClrMapping/>
  </p:clrMapOvr>
</p:sld>
</file>

<file path=ppt/theme/theme1.xml><?xml version="1.0" encoding="utf-8"?>
<a:theme xmlns:a="http://schemas.openxmlformats.org/drawingml/2006/main" name="CHAPTER OPEN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E7BC6287-1E57-46F8-B46D-CC0ECE7CEE8E}"/>
    </a:ext>
  </a:extLst>
</a:theme>
</file>

<file path=ppt/theme/theme2.xml><?xml version="1.0" encoding="utf-8"?>
<a:theme xmlns:a="http://schemas.openxmlformats.org/drawingml/2006/main" name="Body_Slide">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B9FDA032-B3B1-4FDF-8A44-9303BC60C76A}"/>
    </a:ext>
  </a:extLst>
</a:theme>
</file>

<file path=ppt/theme/theme3.xml><?xml version="1.0" encoding="utf-8"?>
<a:theme xmlns:a="http://schemas.openxmlformats.org/drawingml/2006/main" name="CHAPTER CLOSING">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AD8FA8EE-38E3-45B4-B8A8-91E7376F22D2}"/>
    </a:ext>
  </a:extLst>
</a:theme>
</file>

<file path=ppt/theme/theme4.xml><?xml version="1.0" encoding="utf-8"?>
<a:theme xmlns:a="http://schemas.openxmlformats.org/drawingml/2006/main" name="GLOSSARY OPEN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B9FDA032-B3B1-4FDF-8A44-9303BC60C76A}"/>
    </a:ext>
  </a:extLst>
</a:theme>
</file>

<file path=ppt/theme/theme5.xml><?xml version="1.0" encoding="utf-8"?>
<a:theme xmlns:a="http://schemas.openxmlformats.org/drawingml/2006/main" name="GLOSSARY CONTENT">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B9FDA032-B3B1-4FDF-8A44-9303BC60C76A}"/>
    </a:ext>
  </a:extLst>
</a:theme>
</file>

<file path=ppt/theme/theme6.xml><?xml version="1.0" encoding="utf-8"?>
<a:theme xmlns:a="http://schemas.openxmlformats.org/drawingml/2006/main" name="APPENDIX OPEN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B9FDA032-B3B1-4FDF-8A44-9303BC60C76A}"/>
    </a:ext>
  </a:extLst>
</a:theme>
</file>

<file path=ppt/theme/theme7.xml><?xml version="1.0" encoding="utf-8"?>
<a:theme xmlns:a="http://schemas.openxmlformats.org/drawingml/2006/main" name="APPENDIX CONTENT">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B9FDA032-B3B1-4FDF-8A44-9303BC60C76A}"/>
    </a:ext>
  </a:extLst>
</a:theme>
</file>

<file path=ppt/theme/theme8.xml><?xml version="1.0" encoding="utf-8"?>
<a:theme xmlns:a="http://schemas.openxmlformats.org/drawingml/2006/main" name="APPENDIX TITLE SUBTITLE">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B9FDA032-B3B1-4FDF-8A44-9303BC60C76A}"/>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855</TotalTime>
  <Words>6947</Words>
  <Application>Microsoft Office PowerPoint</Application>
  <PresentationFormat>On-screen Show (4:3)</PresentationFormat>
  <Paragraphs>853</Paragraphs>
  <Slides>114</Slides>
  <Notes>88</Notes>
  <HiddenSlides>22</HiddenSlides>
  <MMClips>0</MMClips>
  <ScaleCrop>false</ScaleCrop>
  <HeadingPairs>
    <vt:vector size="6" baseType="variant">
      <vt:variant>
        <vt:lpstr>Fonts Used</vt:lpstr>
      </vt:variant>
      <vt:variant>
        <vt:i4>7</vt:i4>
      </vt:variant>
      <vt:variant>
        <vt:lpstr>Theme</vt:lpstr>
      </vt:variant>
      <vt:variant>
        <vt:i4>8</vt:i4>
      </vt:variant>
      <vt:variant>
        <vt:lpstr>Slide Titles</vt:lpstr>
      </vt:variant>
      <vt:variant>
        <vt:i4>114</vt:i4>
      </vt:variant>
    </vt:vector>
  </HeadingPairs>
  <TitlesOfParts>
    <vt:vector size="129" baseType="lpstr">
      <vt:lpstr>Arial</vt:lpstr>
      <vt:lpstr>Arial (Body)</vt:lpstr>
      <vt:lpstr>Arial (Headings)</vt:lpstr>
      <vt:lpstr>Calibri</vt:lpstr>
      <vt:lpstr>Calibri (Body)</vt:lpstr>
      <vt:lpstr>Calibri (Headings)</vt:lpstr>
      <vt:lpstr>Symbol</vt:lpstr>
      <vt:lpstr>CHAPTER OPENER</vt:lpstr>
      <vt:lpstr>Body_Slide</vt:lpstr>
      <vt:lpstr>CHAPTER CLOSING</vt:lpstr>
      <vt:lpstr>GLOSSARY OPENER</vt:lpstr>
      <vt:lpstr>GLOSSARY CONTENT</vt:lpstr>
      <vt:lpstr>APPENDIX OPENER</vt:lpstr>
      <vt:lpstr>APPENDIX CONTENT</vt:lpstr>
      <vt:lpstr>APPENDIX TITLE SUBTITLE</vt:lpstr>
      <vt:lpstr>Biology</vt:lpstr>
      <vt:lpstr>Outline</vt:lpstr>
      <vt:lpstr>23.1 Ancestry and Features of Land Plants</vt:lpstr>
      <vt:lpstr>Characteristics of Plants</vt:lpstr>
      <vt:lpstr>The Ancestry of Land Plants</vt:lpstr>
      <vt:lpstr> Evolutionary History of Plants</vt:lpstr>
      <vt:lpstr>Embryo Difference in Green Algae and Land Plants</vt:lpstr>
      <vt:lpstr>Charophytes</vt:lpstr>
      <vt:lpstr>Adaptation to Land</vt:lpstr>
      <vt:lpstr>Leaf Adaptation to Prevent Desiccation</vt:lpstr>
      <vt:lpstr>Land Plants</vt:lpstr>
      <vt:lpstr>Alternation of Generations</vt:lpstr>
      <vt:lpstr> Alternation of Generations in Land Plants</vt:lpstr>
      <vt:lpstr>Dominant Generation</vt:lpstr>
      <vt:lpstr> Reduction in the Size of the Gametophyte</vt:lpstr>
      <vt:lpstr>23.2 Evolution of Bryophytes: Colonization of Land</vt:lpstr>
      <vt:lpstr>Liverworts</vt:lpstr>
      <vt:lpstr>Liverwort, Marchantia</vt:lpstr>
      <vt:lpstr>Hornworts</vt:lpstr>
      <vt:lpstr>Hornwort, Anthoceros sp.</vt:lpstr>
      <vt:lpstr>Mosses</vt:lpstr>
      <vt:lpstr>Life Cycle of Moss</vt:lpstr>
      <vt:lpstr>Moss Life Cycle 1</vt:lpstr>
      <vt:lpstr>Moss Life Cycle 2</vt:lpstr>
      <vt:lpstr>Moss Life Cycle 3</vt:lpstr>
      <vt:lpstr>Moss Life Cycle 4</vt:lpstr>
      <vt:lpstr>Moss Life Cycle 5</vt:lpstr>
      <vt:lpstr>Moss Life Cycle 6</vt:lpstr>
      <vt:lpstr>Moss Life Cycle 7</vt:lpstr>
      <vt:lpstr>Moss Life Cycle 8</vt:lpstr>
      <vt:lpstr>23.3 Evolution of Lycophytes: Vascular Tissue</vt:lpstr>
      <vt:lpstr>The Origin of Vascular Plants</vt:lpstr>
      <vt:lpstr>A Cooksonia Fossil</vt:lpstr>
      <vt:lpstr>Lycophytes</vt:lpstr>
      <vt:lpstr>Lycophytes Example</vt:lpstr>
      <vt:lpstr>23.4 Evolution of Pteridophytes: Megaphylls</vt:lpstr>
      <vt:lpstr>Microphylls and Megaphylls</vt:lpstr>
      <vt:lpstr>Horsetails</vt:lpstr>
      <vt:lpstr> Horsetail, Equisetum</vt:lpstr>
      <vt:lpstr>Whisk Ferns</vt:lpstr>
      <vt:lpstr> Whisk Fern, Psilotum</vt:lpstr>
      <vt:lpstr>Ferns</vt:lpstr>
      <vt:lpstr>Fern Life Cycle</vt:lpstr>
      <vt:lpstr>Diversity of Ferns</vt:lpstr>
      <vt:lpstr>Fern Life Cycle 1</vt:lpstr>
      <vt:lpstr>Fern Life Cycle 2</vt:lpstr>
      <vt:lpstr>Fern Life Cycle 3</vt:lpstr>
      <vt:lpstr>Fern Life Cycle 4</vt:lpstr>
      <vt:lpstr>Fern Life Cycle 5</vt:lpstr>
      <vt:lpstr>Fern Life Cycle 6</vt:lpstr>
      <vt:lpstr>Fern Life Cycle 7</vt:lpstr>
      <vt:lpstr>Fern Life Cycle 8</vt:lpstr>
      <vt:lpstr>The Uses of Ferns</vt:lpstr>
      <vt:lpstr>23.5 Evolution of Seed Plants: Full Adaptation to Land</vt:lpstr>
      <vt:lpstr>Seed Plants</vt:lpstr>
      <vt:lpstr>Gymnosperms and Angiosperms</vt:lpstr>
      <vt:lpstr>Gymnosperms</vt:lpstr>
      <vt:lpstr>Conifers</vt:lpstr>
      <vt:lpstr>Conifer Examples</vt:lpstr>
      <vt:lpstr>Pine Life Cycle 1</vt:lpstr>
      <vt:lpstr>Pine Life Cycle 2</vt:lpstr>
      <vt:lpstr>Pine Life Cycle 3</vt:lpstr>
      <vt:lpstr>Pine Life Cycle 4</vt:lpstr>
      <vt:lpstr>Pine Life Cycle 5</vt:lpstr>
      <vt:lpstr>Pine Life Cycle 6</vt:lpstr>
      <vt:lpstr>Pine Life Cycle 7</vt:lpstr>
      <vt:lpstr>Pine Life Cycle 8</vt:lpstr>
      <vt:lpstr>Pine Life Cycle 9</vt:lpstr>
      <vt:lpstr>Uses of Conifers</vt:lpstr>
      <vt:lpstr>Cycads</vt:lpstr>
      <vt:lpstr>African Cycad</vt:lpstr>
      <vt:lpstr>Ginkgoes</vt:lpstr>
      <vt:lpstr>Ginkgo biloba, a Native of China</vt:lpstr>
      <vt:lpstr>Gnetophytes</vt:lpstr>
      <vt:lpstr>Ephedra, a Type of Gnetophyte</vt:lpstr>
      <vt:lpstr>Welwitschia, a Type of Gnetophyte</vt:lpstr>
      <vt:lpstr>Angiosperms</vt:lpstr>
      <vt:lpstr>Origin and Radiation of Angiosperms</vt:lpstr>
      <vt:lpstr>Evolution of Flowering Plants: Amborella trichopoda</vt:lpstr>
      <vt:lpstr>Monocots and Eudicots</vt:lpstr>
      <vt:lpstr>Key Features of Monocots and Eudicots</vt:lpstr>
      <vt:lpstr>Flower Diversity</vt:lpstr>
      <vt:lpstr>The Flower</vt:lpstr>
      <vt:lpstr>Parts of Flower</vt:lpstr>
      <vt:lpstr>Generalized Flower</vt:lpstr>
      <vt:lpstr>Flowering Plant Life Cycle 1</vt:lpstr>
      <vt:lpstr>Flowering Plant Life Cycle 2</vt:lpstr>
      <vt:lpstr>Flowering Plant Life Cycle 3</vt:lpstr>
      <vt:lpstr>Life Cycle of Flowering Plant</vt:lpstr>
      <vt:lpstr>Flowers and Diversification</vt:lpstr>
      <vt:lpstr>Other Flower Terminology</vt:lpstr>
      <vt:lpstr>End of main content</vt:lpstr>
      <vt:lpstr>Accessibility Content: Text Alternatives for Images</vt:lpstr>
      <vt:lpstr> Evolutionary History of Plants - Text Alternative</vt:lpstr>
      <vt:lpstr>Embryo Difference in Green Algae and Land Plants - Text Alternative</vt:lpstr>
      <vt:lpstr>Leaf Adaptation to Prevent Desiccation  - Text Alternative</vt:lpstr>
      <vt:lpstr>Alternation of Generations in Land Plants  - Text Alternative</vt:lpstr>
      <vt:lpstr>Reduction in the Size of the Gametophyte  - Text Alternative</vt:lpstr>
      <vt:lpstr>Liverwort, Marchantia - Text Alternative</vt:lpstr>
      <vt:lpstr>Moss Life Cycle 4 - Text Alternative</vt:lpstr>
      <vt:lpstr>Moss Life Cycle 5 - Text Alternative</vt:lpstr>
      <vt:lpstr>Moss Life Cycle 8 - Text Alternative</vt:lpstr>
      <vt:lpstr>Lycophytes Example - Text Alternative</vt:lpstr>
      <vt:lpstr>Microphylls and Megaphylls - Text Alternative</vt:lpstr>
      <vt:lpstr>Fern Life Cycle 6 - Text Alternative</vt:lpstr>
      <vt:lpstr>Fern Life Cycle 7 - Text Alternative</vt:lpstr>
      <vt:lpstr>Fern Life Cycle 8 - Text Alternative</vt:lpstr>
      <vt:lpstr>Pine Life Cycle 3 - Text Alternative</vt:lpstr>
      <vt:lpstr>Pine Life Cycle 6 - Text Alternative</vt:lpstr>
      <vt:lpstr>Pine Life Cycle 7 - Text Alternative</vt:lpstr>
      <vt:lpstr>Pine Life Cycle 8 - Text Alternative</vt:lpstr>
      <vt:lpstr>Pine Life Cycle 9 - Text Alternative</vt:lpstr>
      <vt:lpstr>Flower Diversity - Text Alternative</vt:lpstr>
      <vt:lpstr>Life Cycle of Flowering Plant - Text Alternative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23: Plant Evolution and Diversity Lecture Outline</dc:title>
  <dc:creator>Aman Chaudhary</dc:creator>
  <cp:lastModifiedBy>Ritik Singh</cp:lastModifiedBy>
  <cp:revision>571</cp:revision>
  <dcterms:created xsi:type="dcterms:W3CDTF">2021-02-05T09:33:46Z</dcterms:created>
  <dcterms:modified xsi:type="dcterms:W3CDTF">2021-03-30T10:33:31Z</dcterms:modified>
</cp:coreProperties>
</file>